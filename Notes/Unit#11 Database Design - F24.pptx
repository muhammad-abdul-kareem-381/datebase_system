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 id="2147483662" r:id="rId2"/>
  </p:sldMasterIdLst>
  <p:notesMasterIdLst>
    <p:notesMasterId r:id="rId39"/>
  </p:notesMasterIdLst>
  <p:handoutMasterIdLst>
    <p:handoutMasterId r:id="rId40"/>
  </p:handoutMasterIdLst>
  <p:sldIdLst>
    <p:sldId id="398" r:id="rId3"/>
    <p:sldId id="347" r:id="rId4"/>
    <p:sldId id="348" r:id="rId5"/>
    <p:sldId id="350" r:id="rId6"/>
    <p:sldId id="351" r:id="rId7"/>
    <p:sldId id="352" r:id="rId8"/>
    <p:sldId id="409" r:id="rId9"/>
    <p:sldId id="353" r:id="rId10"/>
    <p:sldId id="410" r:id="rId11"/>
    <p:sldId id="354" r:id="rId12"/>
    <p:sldId id="355" r:id="rId13"/>
    <p:sldId id="356" r:id="rId14"/>
    <p:sldId id="358" r:id="rId15"/>
    <p:sldId id="360" r:id="rId16"/>
    <p:sldId id="483" r:id="rId17"/>
    <p:sldId id="484" r:id="rId18"/>
    <p:sldId id="485" r:id="rId19"/>
    <p:sldId id="550" r:id="rId20"/>
    <p:sldId id="551" r:id="rId21"/>
    <p:sldId id="549" r:id="rId22"/>
    <p:sldId id="552" r:id="rId23"/>
    <p:sldId id="361" r:id="rId24"/>
    <p:sldId id="402" r:id="rId25"/>
    <p:sldId id="553" r:id="rId26"/>
    <p:sldId id="371" r:id="rId27"/>
    <p:sldId id="403" r:id="rId28"/>
    <p:sldId id="404" r:id="rId29"/>
    <p:sldId id="481" r:id="rId30"/>
    <p:sldId id="406" r:id="rId31"/>
    <p:sldId id="407" r:id="rId32"/>
    <p:sldId id="408" r:id="rId33"/>
    <p:sldId id="372" r:id="rId34"/>
    <p:sldId id="373" r:id="rId35"/>
    <p:sldId id="555" r:id="rId36"/>
    <p:sldId id="401" r:id="rId37"/>
    <p:sldId id="548" r:id="rId38"/>
  </p:sldIdLst>
  <p:sldSz cx="9144000" cy="6858000" type="screen4x3"/>
  <p:notesSz cx="6577013" cy="9753600"/>
  <p:defaultTextStyle>
    <a:defPPr>
      <a:defRPr lang="de-AT"/>
    </a:defPPr>
    <a:lvl1pPr algn="l"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006600"/>
    <a:srgbClr val="FFFF66"/>
    <a:srgbClr val="FF0000"/>
    <a:srgbClr val="00FF00"/>
    <a:srgbClr val="FFFFCC"/>
    <a:srgbClr val="99CCFF"/>
    <a:srgbClr val="3399FF"/>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78849" autoAdjust="0"/>
  </p:normalViewPr>
  <p:slideViewPr>
    <p:cSldViewPr>
      <p:cViewPr varScale="1">
        <p:scale>
          <a:sx n="83" d="100"/>
          <a:sy n="83" d="100"/>
        </p:scale>
        <p:origin x="1406"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60AAD0ED-A781-1E0C-08F1-838DAA4F9E37}"/>
              </a:ext>
            </a:extLst>
          </p:cNvPr>
          <p:cNvSpPr>
            <a:spLocks noGrp="1" noChangeArrowheads="1"/>
          </p:cNvSpPr>
          <p:nvPr>
            <p:ph type="hdr" sz="quarter"/>
          </p:nvPr>
        </p:nvSpPr>
        <p:spPr bwMode="auto">
          <a:xfrm>
            <a:off x="0"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a:defRPr sz="1200">
                <a:latin typeface="Arial" charset="0"/>
              </a:defRPr>
            </a:lvl1pPr>
          </a:lstStyle>
          <a:p>
            <a:pPr>
              <a:defRPr/>
            </a:pPr>
            <a:endParaRPr lang="en-GB"/>
          </a:p>
        </p:txBody>
      </p:sp>
      <p:sp>
        <p:nvSpPr>
          <p:cNvPr id="159747" name="Rectangle 3">
            <a:extLst>
              <a:ext uri="{FF2B5EF4-FFF2-40B4-BE49-F238E27FC236}">
                <a16:creationId xmlns:a16="http://schemas.microsoft.com/office/drawing/2014/main" id="{294607BC-E288-86CE-7F56-042E1BEA9AFC}"/>
              </a:ext>
            </a:extLst>
          </p:cNvPr>
          <p:cNvSpPr>
            <a:spLocks noGrp="1" noChangeArrowheads="1"/>
          </p:cNvSpPr>
          <p:nvPr>
            <p:ph type="dt" sz="quarter" idx="1"/>
          </p:nvPr>
        </p:nvSpPr>
        <p:spPr bwMode="auto">
          <a:xfrm>
            <a:off x="3725863"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a:defRPr sz="1200">
                <a:latin typeface="Arial" charset="0"/>
              </a:defRPr>
            </a:lvl1pPr>
          </a:lstStyle>
          <a:p>
            <a:pPr>
              <a:defRPr/>
            </a:pPr>
            <a:endParaRPr lang="en-GB"/>
          </a:p>
        </p:txBody>
      </p:sp>
      <p:sp>
        <p:nvSpPr>
          <p:cNvPr id="159748" name="Rectangle 4">
            <a:extLst>
              <a:ext uri="{FF2B5EF4-FFF2-40B4-BE49-F238E27FC236}">
                <a16:creationId xmlns:a16="http://schemas.microsoft.com/office/drawing/2014/main" id="{A1CA6DAC-FE18-CF2A-C5A2-598AC9A91ECE}"/>
              </a:ext>
            </a:extLst>
          </p:cNvPr>
          <p:cNvSpPr>
            <a:spLocks noGrp="1" noChangeArrowheads="1"/>
          </p:cNvSpPr>
          <p:nvPr>
            <p:ph type="ftr" sz="quarter" idx="2"/>
          </p:nvPr>
        </p:nvSpPr>
        <p:spPr bwMode="auto">
          <a:xfrm>
            <a:off x="0" y="9266238"/>
            <a:ext cx="2851150" cy="487362"/>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a:defRPr sz="1200">
                <a:latin typeface="Arial" charset="0"/>
              </a:defRPr>
            </a:lvl1pPr>
          </a:lstStyle>
          <a:p>
            <a:pPr>
              <a:defRPr/>
            </a:pPr>
            <a:endParaRPr lang="en-GB"/>
          </a:p>
        </p:txBody>
      </p:sp>
      <p:sp>
        <p:nvSpPr>
          <p:cNvPr id="159749" name="Rectangle 5">
            <a:extLst>
              <a:ext uri="{FF2B5EF4-FFF2-40B4-BE49-F238E27FC236}">
                <a16:creationId xmlns:a16="http://schemas.microsoft.com/office/drawing/2014/main" id="{BA5A53CB-93CB-DA29-A770-C8923EBBCBEB}"/>
              </a:ext>
            </a:extLst>
          </p:cNvPr>
          <p:cNvSpPr>
            <a:spLocks noGrp="1" noChangeArrowheads="1"/>
          </p:cNvSpPr>
          <p:nvPr>
            <p:ph type="sldNum" sz="quarter" idx="3"/>
          </p:nvPr>
        </p:nvSpPr>
        <p:spPr bwMode="auto">
          <a:xfrm>
            <a:off x="3725863" y="9266238"/>
            <a:ext cx="2851150" cy="487362"/>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a:defRPr sz="1200"/>
            </a:lvl1pPr>
          </a:lstStyle>
          <a:p>
            <a:fld id="{C275FB0B-5628-44E7-867F-F8BC95E7D545}"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FF5D56C3-C91A-6BB0-F1BE-CB95DD32BF4F}"/>
              </a:ext>
            </a:extLst>
          </p:cNvPr>
          <p:cNvSpPr>
            <a:spLocks noGrp="1" noChangeArrowheads="1"/>
          </p:cNvSpPr>
          <p:nvPr>
            <p:ph type="hdr" sz="quarter"/>
          </p:nvPr>
        </p:nvSpPr>
        <p:spPr bwMode="auto">
          <a:xfrm>
            <a:off x="0"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defTabSz="892175">
              <a:defRPr sz="1200">
                <a:latin typeface="Arial" charset="0"/>
              </a:defRPr>
            </a:lvl1pPr>
          </a:lstStyle>
          <a:p>
            <a:pPr>
              <a:defRPr/>
            </a:pPr>
            <a:endParaRPr lang="de-AT"/>
          </a:p>
        </p:txBody>
      </p:sp>
      <p:sp>
        <p:nvSpPr>
          <p:cNvPr id="6147" name="Rectangle 3">
            <a:extLst>
              <a:ext uri="{FF2B5EF4-FFF2-40B4-BE49-F238E27FC236}">
                <a16:creationId xmlns:a16="http://schemas.microsoft.com/office/drawing/2014/main" id="{A8B9983E-63E2-2018-6929-5A8E25D38E8C}"/>
              </a:ext>
            </a:extLst>
          </p:cNvPr>
          <p:cNvSpPr>
            <a:spLocks noGrp="1" noChangeArrowheads="1"/>
          </p:cNvSpPr>
          <p:nvPr>
            <p:ph type="dt" idx="1"/>
          </p:nvPr>
        </p:nvSpPr>
        <p:spPr bwMode="auto">
          <a:xfrm>
            <a:off x="3724275" y="0"/>
            <a:ext cx="2851150" cy="487363"/>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lvl1pPr algn="r" defTabSz="892175">
              <a:defRPr sz="1200">
                <a:latin typeface="Arial" charset="0"/>
              </a:defRPr>
            </a:lvl1pPr>
          </a:lstStyle>
          <a:p>
            <a:pPr>
              <a:defRPr/>
            </a:pPr>
            <a:endParaRPr lang="de-AT"/>
          </a:p>
        </p:txBody>
      </p:sp>
      <p:sp>
        <p:nvSpPr>
          <p:cNvPr id="32772" name="Rectangle 4">
            <a:extLst>
              <a:ext uri="{FF2B5EF4-FFF2-40B4-BE49-F238E27FC236}">
                <a16:creationId xmlns:a16="http://schemas.microsoft.com/office/drawing/2014/main" id="{A306130C-EEF0-22FD-A7BF-AE2EF5731423}"/>
              </a:ext>
            </a:extLst>
          </p:cNvPr>
          <p:cNvSpPr>
            <a:spLocks noGrp="1" noRot="1" noChangeAspect="1" noChangeArrowheads="1" noTextEdit="1"/>
          </p:cNvSpPr>
          <p:nvPr>
            <p:ph type="sldImg" idx="2"/>
          </p:nvPr>
        </p:nvSpPr>
        <p:spPr bwMode="auto">
          <a:xfrm>
            <a:off x="850900" y="731838"/>
            <a:ext cx="4876800" cy="36576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7E027B0A-2A97-0D46-3BA7-AC87060B7971}"/>
              </a:ext>
            </a:extLst>
          </p:cNvPr>
          <p:cNvSpPr>
            <a:spLocks noGrp="1" noChangeArrowheads="1"/>
          </p:cNvSpPr>
          <p:nvPr>
            <p:ph type="body" sz="quarter" idx="3"/>
          </p:nvPr>
        </p:nvSpPr>
        <p:spPr bwMode="auto">
          <a:xfrm>
            <a:off x="657225" y="4633913"/>
            <a:ext cx="5262563" cy="4387850"/>
          </a:xfrm>
          <a:prstGeom prst="rect">
            <a:avLst/>
          </a:prstGeom>
          <a:noFill/>
          <a:ln w="9525">
            <a:noFill/>
            <a:miter lim="800000"/>
            <a:headEnd/>
            <a:tailEnd/>
          </a:ln>
          <a:effectLst/>
        </p:spPr>
        <p:txBody>
          <a:bodyPr vert="horz" wrap="square" lIns="89273" tIns="44636" rIns="89273" bIns="44636" numCol="1" anchor="t" anchorCtr="0" compatLnSpc="1">
            <a:prstTxWarp prst="textNoShape">
              <a:avLst/>
            </a:prstTxWarp>
          </a:bodyPr>
          <a:lstStyle/>
          <a:p>
            <a:pPr lvl="0"/>
            <a:r>
              <a:rPr lang="de-AT" noProof="0"/>
              <a:t>Click to edit Master text styles</a:t>
            </a:r>
          </a:p>
          <a:p>
            <a:pPr lvl="1"/>
            <a:r>
              <a:rPr lang="de-AT" noProof="0"/>
              <a:t>Second level</a:t>
            </a:r>
          </a:p>
          <a:p>
            <a:pPr lvl="2"/>
            <a:r>
              <a:rPr lang="de-AT" noProof="0"/>
              <a:t>Third level</a:t>
            </a:r>
          </a:p>
          <a:p>
            <a:pPr lvl="3"/>
            <a:r>
              <a:rPr lang="de-AT" noProof="0"/>
              <a:t>Fourth level</a:t>
            </a:r>
          </a:p>
          <a:p>
            <a:pPr lvl="4"/>
            <a:r>
              <a:rPr lang="de-AT" noProof="0"/>
              <a:t>Fifth level</a:t>
            </a:r>
          </a:p>
        </p:txBody>
      </p:sp>
      <p:sp>
        <p:nvSpPr>
          <p:cNvPr id="6150" name="Rectangle 6">
            <a:extLst>
              <a:ext uri="{FF2B5EF4-FFF2-40B4-BE49-F238E27FC236}">
                <a16:creationId xmlns:a16="http://schemas.microsoft.com/office/drawing/2014/main" id="{DCDC7CA5-905F-F218-7DE9-641F57B98FEB}"/>
              </a:ext>
            </a:extLst>
          </p:cNvPr>
          <p:cNvSpPr>
            <a:spLocks noGrp="1" noChangeArrowheads="1"/>
          </p:cNvSpPr>
          <p:nvPr>
            <p:ph type="ftr" sz="quarter" idx="4"/>
          </p:nvPr>
        </p:nvSpPr>
        <p:spPr bwMode="auto">
          <a:xfrm>
            <a:off x="0" y="9264650"/>
            <a:ext cx="2851150" cy="487363"/>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defTabSz="892175">
              <a:defRPr sz="1200">
                <a:latin typeface="Arial" charset="0"/>
              </a:defRPr>
            </a:lvl1pPr>
          </a:lstStyle>
          <a:p>
            <a:pPr>
              <a:defRPr/>
            </a:pPr>
            <a:endParaRPr lang="de-AT"/>
          </a:p>
        </p:txBody>
      </p:sp>
      <p:sp>
        <p:nvSpPr>
          <p:cNvPr id="6151" name="Rectangle 7">
            <a:extLst>
              <a:ext uri="{FF2B5EF4-FFF2-40B4-BE49-F238E27FC236}">
                <a16:creationId xmlns:a16="http://schemas.microsoft.com/office/drawing/2014/main" id="{B739C1CD-2B70-FF34-BD69-FC866304E166}"/>
              </a:ext>
            </a:extLst>
          </p:cNvPr>
          <p:cNvSpPr>
            <a:spLocks noGrp="1" noChangeArrowheads="1"/>
          </p:cNvSpPr>
          <p:nvPr>
            <p:ph type="sldNum" sz="quarter" idx="5"/>
          </p:nvPr>
        </p:nvSpPr>
        <p:spPr bwMode="auto">
          <a:xfrm>
            <a:off x="3724275" y="9264650"/>
            <a:ext cx="2851150" cy="487363"/>
          </a:xfrm>
          <a:prstGeom prst="rect">
            <a:avLst/>
          </a:prstGeom>
          <a:noFill/>
          <a:ln w="9525">
            <a:noFill/>
            <a:miter lim="800000"/>
            <a:headEnd/>
            <a:tailEnd/>
          </a:ln>
          <a:effectLst/>
        </p:spPr>
        <p:txBody>
          <a:bodyPr vert="horz" wrap="square" lIns="89273" tIns="44636" rIns="89273" bIns="44636" numCol="1" anchor="b" anchorCtr="0" compatLnSpc="1">
            <a:prstTxWarp prst="textNoShape">
              <a:avLst/>
            </a:prstTxWarp>
          </a:bodyPr>
          <a:lstStyle>
            <a:lvl1pPr algn="r" defTabSz="892175">
              <a:defRPr sz="1200"/>
            </a:lvl1pPr>
          </a:lstStyle>
          <a:p>
            <a:fld id="{B3E0791F-E87D-4AFA-933B-38C34A0552AD}" type="slidenum">
              <a:rPr lang="de-AT" altLang="en-US"/>
              <a:pPr/>
              <a:t>‹#›</a:t>
            </a:fld>
            <a:endParaRPr lang="de-AT"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7AD16C5B-DCB1-A812-822C-BFFE2AAA82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eaLnBrk="0" hangingPunct="0">
              <a:defRPr sz="2400">
                <a:solidFill>
                  <a:schemeClr val="tx1"/>
                </a:solidFill>
                <a:latin typeface="Arial" panose="020B0604020202020204" pitchFamily="34" charset="0"/>
              </a:defRPr>
            </a:lvl1pPr>
            <a:lvl2pPr marL="742950" indent="-285750" defTabSz="892175" eaLnBrk="0" hangingPunct="0">
              <a:defRPr sz="2400">
                <a:solidFill>
                  <a:schemeClr val="tx1"/>
                </a:solidFill>
                <a:latin typeface="Arial" panose="020B0604020202020204" pitchFamily="34" charset="0"/>
              </a:defRPr>
            </a:lvl2pPr>
            <a:lvl3pPr marL="1143000" indent="-228600" defTabSz="892175" eaLnBrk="0" hangingPunct="0">
              <a:defRPr sz="2400">
                <a:solidFill>
                  <a:schemeClr val="tx1"/>
                </a:solidFill>
                <a:latin typeface="Arial" panose="020B0604020202020204" pitchFamily="34" charset="0"/>
              </a:defRPr>
            </a:lvl3pPr>
            <a:lvl4pPr marL="1600200" indent="-228600" defTabSz="892175" eaLnBrk="0" hangingPunct="0">
              <a:defRPr sz="2400">
                <a:solidFill>
                  <a:schemeClr val="tx1"/>
                </a:solidFill>
                <a:latin typeface="Arial" panose="020B0604020202020204" pitchFamily="34" charset="0"/>
              </a:defRPr>
            </a:lvl4pPr>
            <a:lvl5pPr marL="2057400" indent="-228600" defTabSz="892175" eaLnBrk="0" hangingPunct="0">
              <a:defRPr sz="2400">
                <a:solidFill>
                  <a:schemeClr val="tx1"/>
                </a:solidFill>
                <a:latin typeface="Arial" panose="020B0604020202020204" pitchFamily="34" charset="0"/>
              </a:defRPr>
            </a:lvl5pPr>
            <a:lvl6pPr marL="2514600" indent="-228600" defTabSz="892175"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892175"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892175"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892175"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A4816300-9D39-419A-9928-6533EB60743E}" type="slidenum">
              <a:rPr lang="de-AT" altLang="en-US" sz="1200"/>
              <a:pPr eaLnBrk="1" hangingPunct="1"/>
              <a:t>1</a:t>
            </a:fld>
            <a:endParaRPr lang="de-AT" altLang="en-US" sz="1200"/>
          </a:p>
        </p:txBody>
      </p:sp>
      <p:sp>
        <p:nvSpPr>
          <p:cNvPr id="33795" name="Rectangle 2">
            <a:extLst>
              <a:ext uri="{FF2B5EF4-FFF2-40B4-BE49-F238E27FC236}">
                <a16:creationId xmlns:a16="http://schemas.microsoft.com/office/drawing/2014/main" id="{F7354CDD-DC39-78E6-E493-5E50CB1F8A36}"/>
              </a:ext>
            </a:extLst>
          </p:cNvPr>
          <p:cNvSpPr>
            <a:spLocks noGrp="1" noRot="1" noChangeAspect="1" noChangeArrowheads="1" noTextEdit="1"/>
          </p:cNvSpPr>
          <p:nvPr>
            <p:ph type="sldImg"/>
          </p:nvPr>
        </p:nvSpPr>
        <p:spPr>
          <a:ln/>
        </p:spPr>
      </p:sp>
      <p:sp>
        <p:nvSpPr>
          <p:cNvPr id="33796" name="Rectangle 3">
            <a:extLst>
              <a:ext uri="{FF2B5EF4-FFF2-40B4-BE49-F238E27FC236}">
                <a16:creationId xmlns:a16="http://schemas.microsoft.com/office/drawing/2014/main" id="{3DB64364-8B17-B8D2-D345-24C8EDC617B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380180EF-35B3-7862-9262-C154C2E01785}"/>
              </a:ext>
            </a:extLst>
          </p:cNvPr>
          <p:cNvSpPr>
            <a:spLocks noGrp="1" noRot="1" noChangeAspect="1" noTextEdit="1"/>
          </p:cNvSpPr>
          <p:nvPr>
            <p:ph type="sldImg"/>
          </p:nvPr>
        </p:nvSpPr>
        <p:spPr>
          <a:ln/>
        </p:spPr>
      </p:sp>
      <p:sp>
        <p:nvSpPr>
          <p:cNvPr id="34819" name="Notes Placeholder 2">
            <a:extLst>
              <a:ext uri="{FF2B5EF4-FFF2-40B4-BE49-F238E27FC236}">
                <a16:creationId xmlns:a16="http://schemas.microsoft.com/office/drawing/2014/main" id="{DFF8B568-2925-B47C-1AE3-0B57428CAA1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Arial" panose="020B0604020202020204" pitchFamily="34" charset="0"/>
              </a:rPr>
              <a:t>Chapter 16 – 18 (Connolly)</a:t>
            </a:r>
          </a:p>
        </p:txBody>
      </p:sp>
      <p:sp>
        <p:nvSpPr>
          <p:cNvPr id="34820" name="Slide Number Placeholder 3">
            <a:extLst>
              <a:ext uri="{FF2B5EF4-FFF2-40B4-BE49-F238E27FC236}">
                <a16:creationId xmlns:a16="http://schemas.microsoft.com/office/drawing/2014/main" id="{18DA127B-9DD8-5286-A724-F7FEE5C4041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eaLnBrk="0" hangingPunct="0">
              <a:defRPr sz="2400">
                <a:solidFill>
                  <a:schemeClr val="tx1"/>
                </a:solidFill>
                <a:latin typeface="Arial" panose="020B0604020202020204" pitchFamily="34" charset="0"/>
              </a:defRPr>
            </a:lvl1pPr>
            <a:lvl2pPr marL="742950" indent="-285750" defTabSz="892175" eaLnBrk="0" hangingPunct="0">
              <a:defRPr sz="2400">
                <a:solidFill>
                  <a:schemeClr val="tx1"/>
                </a:solidFill>
                <a:latin typeface="Arial" panose="020B0604020202020204" pitchFamily="34" charset="0"/>
              </a:defRPr>
            </a:lvl2pPr>
            <a:lvl3pPr marL="1143000" indent="-228600" defTabSz="892175" eaLnBrk="0" hangingPunct="0">
              <a:defRPr sz="2400">
                <a:solidFill>
                  <a:schemeClr val="tx1"/>
                </a:solidFill>
                <a:latin typeface="Arial" panose="020B0604020202020204" pitchFamily="34" charset="0"/>
              </a:defRPr>
            </a:lvl3pPr>
            <a:lvl4pPr marL="1600200" indent="-228600" defTabSz="892175" eaLnBrk="0" hangingPunct="0">
              <a:defRPr sz="2400">
                <a:solidFill>
                  <a:schemeClr val="tx1"/>
                </a:solidFill>
                <a:latin typeface="Arial" panose="020B0604020202020204" pitchFamily="34" charset="0"/>
              </a:defRPr>
            </a:lvl4pPr>
            <a:lvl5pPr marL="2057400" indent="-228600" defTabSz="892175" eaLnBrk="0" hangingPunct="0">
              <a:defRPr sz="2400">
                <a:solidFill>
                  <a:schemeClr val="tx1"/>
                </a:solidFill>
                <a:latin typeface="Arial" panose="020B0604020202020204" pitchFamily="34" charset="0"/>
              </a:defRPr>
            </a:lvl5pPr>
            <a:lvl6pPr marL="2514600" indent="-228600" defTabSz="892175"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892175"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892175"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892175"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2DFDFF27-73F4-4D08-8AB2-F126878C8E03}" type="slidenum">
              <a:rPr lang="de-AT" altLang="en-US" sz="1200"/>
              <a:pPr eaLnBrk="1" hangingPunct="1"/>
              <a:t>5</a:t>
            </a:fld>
            <a:endParaRPr lang="de-AT"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A7C3F2DF-511D-1391-DAEA-0EF61DE3F1B4}"/>
              </a:ext>
            </a:extLst>
          </p:cNvPr>
          <p:cNvSpPr>
            <a:spLocks noGrp="1" noRot="1" noChangeAspect="1" noTextEdit="1"/>
          </p:cNvSpPr>
          <p:nvPr>
            <p:ph type="sldImg"/>
          </p:nvPr>
        </p:nvSpPr>
        <p:spPr>
          <a:ln/>
        </p:spPr>
      </p:sp>
      <p:sp>
        <p:nvSpPr>
          <p:cNvPr id="35843" name="Notes Placeholder 2">
            <a:extLst>
              <a:ext uri="{FF2B5EF4-FFF2-40B4-BE49-F238E27FC236}">
                <a16:creationId xmlns:a16="http://schemas.microsoft.com/office/drawing/2014/main" id="{DE2E8D4A-3CDD-9EE9-1A47-EB8212EB269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Calibri" panose="020F0502020204030204" pitchFamily="34" charset="0"/>
                <a:cs typeface="Calibri" panose="020F0502020204030204" pitchFamily="34" charset="0"/>
              </a:rPr>
              <a:t>Check model for redundancy</a:t>
            </a:r>
          </a:p>
          <a:p>
            <a:r>
              <a:rPr lang="en-US" altLang="en-US">
                <a:latin typeface="Arial" panose="020B0604020202020204" pitchFamily="34" charset="0"/>
              </a:rPr>
              <a:t>(1) re-examine one-to-one (1:1) relationships; (for entity merging)</a:t>
            </a:r>
          </a:p>
          <a:p>
            <a:r>
              <a:rPr lang="en-US" altLang="en-US">
                <a:latin typeface="Arial" panose="020B0604020202020204" pitchFamily="34" charset="0"/>
              </a:rPr>
              <a:t>(2) remove redundant relationships;</a:t>
            </a:r>
          </a:p>
          <a:p>
            <a:r>
              <a:rPr lang="en-US" altLang="en-US">
                <a:latin typeface="Arial" panose="020B0604020202020204" pitchFamily="34" charset="0"/>
              </a:rPr>
              <a:t>(3) consider time dimension.</a:t>
            </a:r>
          </a:p>
        </p:txBody>
      </p:sp>
      <p:sp>
        <p:nvSpPr>
          <p:cNvPr id="35844" name="Slide Number Placeholder 3">
            <a:extLst>
              <a:ext uri="{FF2B5EF4-FFF2-40B4-BE49-F238E27FC236}">
                <a16:creationId xmlns:a16="http://schemas.microsoft.com/office/drawing/2014/main" id="{ADE25293-640F-8869-D782-CC5F902E57B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eaLnBrk="0" hangingPunct="0">
              <a:defRPr sz="2400">
                <a:solidFill>
                  <a:schemeClr val="tx1"/>
                </a:solidFill>
                <a:latin typeface="Arial" panose="020B0604020202020204" pitchFamily="34" charset="0"/>
              </a:defRPr>
            </a:lvl1pPr>
            <a:lvl2pPr marL="742950" indent="-285750" defTabSz="892175" eaLnBrk="0" hangingPunct="0">
              <a:defRPr sz="2400">
                <a:solidFill>
                  <a:schemeClr val="tx1"/>
                </a:solidFill>
                <a:latin typeface="Arial" panose="020B0604020202020204" pitchFamily="34" charset="0"/>
              </a:defRPr>
            </a:lvl2pPr>
            <a:lvl3pPr marL="1143000" indent="-228600" defTabSz="892175" eaLnBrk="0" hangingPunct="0">
              <a:defRPr sz="2400">
                <a:solidFill>
                  <a:schemeClr val="tx1"/>
                </a:solidFill>
                <a:latin typeface="Arial" panose="020B0604020202020204" pitchFamily="34" charset="0"/>
              </a:defRPr>
            </a:lvl3pPr>
            <a:lvl4pPr marL="1600200" indent="-228600" defTabSz="892175" eaLnBrk="0" hangingPunct="0">
              <a:defRPr sz="2400">
                <a:solidFill>
                  <a:schemeClr val="tx1"/>
                </a:solidFill>
                <a:latin typeface="Arial" panose="020B0604020202020204" pitchFamily="34" charset="0"/>
              </a:defRPr>
            </a:lvl4pPr>
            <a:lvl5pPr marL="2057400" indent="-228600" defTabSz="892175" eaLnBrk="0" hangingPunct="0">
              <a:defRPr sz="2400">
                <a:solidFill>
                  <a:schemeClr val="tx1"/>
                </a:solidFill>
                <a:latin typeface="Arial" panose="020B0604020202020204" pitchFamily="34" charset="0"/>
              </a:defRPr>
            </a:lvl5pPr>
            <a:lvl6pPr marL="2514600" indent="-228600" defTabSz="892175" eaLnBrk="0" fontAlgn="base" hangingPunct="0">
              <a:spcBef>
                <a:spcPct val="0"/>
              </a:spcBef>
              <a:spcAft>
                <a:spcPct val="0"/>
              </a:spcAft>
              <a:defRPr sz="2400">
                <a:solidFill>
                  <a:schemeClr val="tx1"/>
                </a:solidFill>
                <a:latin typeface="Arial" panose="020B0604020202020204" pitchFamily="34" charset="0"/>
              </a:defRPr>
            </a:lvl6pPr>
            <a:lvl7pPr marL="2971800" indent="-228600" defTabSz="892175" eaLnBrk="0" fontAlgn="base" hangingPunct="0">
              <a:spcBef>
                <a:spcPct val="0"/>
              </a:spcBef>
              <a:spcAft>
                <a:spcPct val="0"/>
              </a:spcAft>
              <a:defRPr sz="2400">
                <a:solidFill>
                  <a:schemeClr val="tx1"/>
                </a:solidFill>
                <a:latin typeface="Arial" panose="020B0604020202020204" pitchFamily="34" charset="0"/>
              </a:defRPr>
            </a:lvl7pPr>
            <a:lvl8pPr marL="3429000" indent="-228600" defTabSz="892175" eaLnBrk="0" fontAlgn="base" hangingPunct="0">
              <a:spcBef>
                <a:spcPct val="0"/>
              </a:spcBef>
              <a:spcAft>
                <a:spcPct val="0"/>
              </a:spcAft>
              <a:defRPr sz="2400">
                <a:solidFill>
                  <a:schemeClr val="tx1"/>
                </a:solidFill>
                <a:latin typeface="Arial" panose="020B0604020202020204" pitchFamily="34" charset="0"/>
              </a:defRPr>
            </a:lvl8pPr>
            <a:lvl9pPr marL="3886200" indent="-228600" defTabSz="892175"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75CB38A4-2F00-4815-882C-E5B43D9D4409}" type="slidenum">
              <a:rPr lang="de-AT" altLang="en-US" sz="1200"/>
              <a:pPr eaLnBrk="1" hangingPunct="1"/>
              <a:t>7</a:t>
            </a:fld>
            <a:endParaRPr lang="de-AT" alt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064A5BE5-565B-EA8F-1C81-0F20A5CCD527}"/>
              </a:ext>
            </a:extLst>
          </p:cNvPr>
          <p:cNvSpPr>
            <a:spLocks noGrp="1" noChangeArrowheads="1"/>
          </p:cNvSpPr>
          <p:nvPr>
            <p:ph type="body" idx="1"/>
          </p:nvPr>
        </p:nvSpPr>
        <p:spPr>
          <a:xfrm>
            <a:off x="395288" y="5091113"/>
            <a:ext cx="5783262" cy="40084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When Not to Create an Index</a:t>
            </a:r>
          </a:p>
          <a:p>
            <a:pPr marL="450850" lvl="2" indent="-217488" defTabSz="401638"/>
            <a:r>
              <a:rPr lang="en-US" altLang="en-US">
                <a:latin typeface="Arial" panose="020B0604020202020204" pitchFamily="34" charset="0"/>
              </a:rPr>
              <a:t>The table is small.</a:t>
            </a:r>
          </a:p>
          <a:p>
            <a:pPr marL="450850" lvl="2" indent="-217488" defTabSz="401638"/>
            <a:r>
              <a:rPr lang="en-US" altLang="en-US">
                <a:latin typeface="Arial" panose="020B0604020202020204" pitchFamily="34" charset="0"/>
              </a:rPr>
              <a:t>The columns are not often used as a condition in the query.</a:t>
            </a:r>
          </a:p>
          <a:p>
            <a:pPr marL="450850" lvl="2" indent="-217488" defTabSz="401638"/>
            <a:r>
              <a:rPr lang="en-US" altLang="en-US">
                <a:latin typeface="Arial" panose="020B0604020202020204" pitchFamily="34" charset="0"/>
              </a:rPr>
              <a:t>Most queries are expected to retrieve more than 2–4% of the rows.</a:t>
            </a:r>
          </a:p>
          <a:p>
            <a:pPr marL="450850" lvl="2" indent="-217488" defTabSz="401638"/>
            <a:r>
              <a:rPr lang="en-US" altLang="en-US">
                <a:latin typeface="Arial" panose="020B0604020202020204" pitchFamily="34" charset="0"/>
              </a:rPr>
              <a:t>The table is updated frequently. If you have one or more indexes on a table, the DML statements that access the table take more time. </a:t>
            </a:r>
            <a:endParaRPr lang="en-US" altLang="en-US">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r>
              <a:rPr lang="en-US" altLang="en-US">
                <a:solidFill>
                  <a:schemeClr val="accent2"/>
                </a:solidFill>
                <a:latin typeface="Arial" panose="020B0604020202020204" pitchFamily="34" charset="0"/>
              </a:rPr>
              <a:t>Class Management Note</a:t>
            </a:r>
            <a:endParaRPr lang="en-US" altLang="en-US" b="1">
              <a:latin typeface="Times" panose="02020603050405020304" pitchFamily="18" charset="0"/>
            </a:endParaRPr>
          </a:p>
          <a:p>
            <a:pPr marL="114300" lvl="1" defTabSz="401638"/>
            <a:r>
              <a:rPr lang="en-US" altLang="en-US">
                <a:solidFill>
                  <a:schemeClr val="accent2"/>
                </a:solidFill>
                <a:latin typeface="Arial" panose="020B0604020202020204" pitchFamily="34" charset="0"/>
              </a:rPr>
              <a:t>Null values are not included in the index.</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To optimize joins, you can create an index on the FOREIGN KEY column, which will speed up the search to match rows to the PRIMARY KEY column.</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The optimizer does not use an index if the WHERE clause contains the IS NULL expression.</a:t>
            </a:r>
          </a:p>
        </p:txBody>
      </p:sp>
      <p:sp>
        <p:nvSpPr>
          <p:cNvPr id="37891" name="Rectangle 3">
            <a:extLst>
              <a:ext uri="{FF2B5EF4-FFF2-40B4-BE49-F238E27FC236}">
                <a16:creationId xmlns:a16="http://schemas.microsoft.com/office/drawing/2014/main" id="{CA24D59F-3EB0-C368-7F01-54DB50C46733}"/>
              </a:ext>
            </a:extLst>
          </p:cNvPr>
          <p:cNvSpPr>
            <a:spLocks noGrp="1" noRot="1" noChangeAspect="1" noChangeArrowheads="1" noTextEdit="1"/>
          </p:cNvSpPr>
          <p:nvPr>
            <p:ph type="sldImg"/>
          </p:nvPr>
        </p:nvSpPr>
        <p:spPr>
          <a:xfrm>
            <a:off x="150813" y="168275"/>
            <a:ext cx="6270625" cy="4703763"/>
          </a:xfrm>
          <a:ln w="12700" cap="flat">
            <a:solidFill>
              <a:schemeClr val="tx1"/>
            </a:solidFill>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1FD2BB0B-553C-72DC-6EFE-8243CC433E59}"/>
              </a:ext>
            </a:extLst>
          </p:cNvPr>
          <p:cNvSpPr>
            <a:spLocks noGrp="1" noChangeArrowheads="1"/>
          </p:cNvSpPr>
          <p:nvPr>
            <p:ph type="body" idx="1"/>
          </p:nvPr>
        </p:nvSpPr>
        <p:spPr>
          <a:xfrm>
            <a:off x="395288" y="5091113"/>
            <a:ext cx="5783262" cy="40084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When Not to Create an Index</a:t>
            </a:r>
          </a:p>
          <a:p>
            <a:pPr marL="450850" lvl="2" indent="-217488" defTabSz="401638"/>
            <a:r>
              <a:rPr lang="en-US" altLang="en-US">
                <a:latin typeface="Arial" panose="020B0604020202020204" pitchFamily="34" charset="0"/>
              </a:rPr>
              <a:t>The table is small.</a:t>
            </a:r>
          </a:p>
          <a:p>
            <a:pPr marL="450850" lvl="2" indent="-217488" defTabSz="401638"/>
            <a:r>
              <a:rPr lang="en-US" altLang="en-US">
                <a:latin typeface="Arial" panose="020B0604020202020204" pitchFamily="34" charset="0"/>
              </a:rPr>
              <a:t>The columns are not often used as a condition in the query.</a:t>
            </a:r>
          </a:p>
          <a:p>
            <a:pPr marL="450850" lvl="2" indent="-217488" defTabSz="401638"/>
            <a:r>
              <a:rPr lang="en-US" altLang="en-US">
                <a:latin typeface="Arial" panose="020B0604020202020204" pitchFamily="34" charset="0"/>
              </a:rPr>
              <a:t>Most queries are expected to retrieve more than 2–4% of the rows.</a:t>
            </a:r>
          </a:p>
          <a:p>
            <a:pPr marL="450850" lvl="2" indent="-217488" defTabSz="401638"/>
            <a:r>
              <a:rPr lang="en-US" altLang="en-US">
                <a:latin typeface="Arial" panose="020B0604020202020204" pitchFamily="34" charset="0"/>
              </a:rPr>
              <a:t>The table is updated frequently. If you have one or more indexes on a table, the DML statements that access the table take more time. </a:t>
            </a:r>
            <a:endParaRPr lang="en-US" altLang="en-US">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r>
              <a:rPr lang="en-US" altLang="en-US">
                <a:solidFill>
                  <a:schemeClr val="accent2"/>
                </a:solidFill>
                <a:latin typeface="Arial" panose="020B0604020202020204" pitchFamily="34" charset="0"/>
              </a:rPr>
              <a:t>Class Management Note</a:t>
            </a:r>
            <a:endParaRPr lang="en-US" altLang="en-US" b="1">
              <a:latin typeface="Times" panose="02020603050405020304" pitchFamily="18" charset="0"/>
            </a:endParaRPr>
          </a:p>
          <a:p>
            <a:pPr marL="114300" lvl="1" defTabSz="401638"/>
            <a:r>
              <a:rPr lang="en-US" altLang="en-US">
                <a:solidFill>
                  <a:schemeClr val="accent2"/>
                </a:solidFill>
                <a:latin typeface="Arial" panose="020B0604020202020204" pitchFamily="34" charset="0"/>
              </a:rPr>
              <a:t>Null values are not included in the index.</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To optimize joins, you can create an index on the FOREIGN KEY column, which will speed up the search to match rows to the PRIMARY KEY column.</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The optimizer does not use an index if the WHERE clause contains the IS NULL expression.</a:t>
            </a:r>
          </a:p>
        </p:txBody>
      </p:sp>
      <p:sp>
        <p:nvSpPr>
          <p:cNvPr id="38915" name="Rectangle 3">
            <a:extLst>
              <a:ext uri="{FF2B5EF4-FFF2-40B4-BE49-F238E27FC236}">
                <a16:creationId xmlns:a16="http://schemas.microsoft.com/office/drawing/2014/main" id="{D20BA0ED-1786-46D3-C738-5FD7F62A13D2}"/>
              </a:ext>
            </a:extLst>
          </p:cNvPr>
          <p:cNvSpPr>
            <a:spLocks noGrp="1" noRot="1" noChangeAspect="1" noChangeArrowheads="1" noTextEdit="1"/>
          </p:cNvSpPr>
          <p:nvPr>
            <p:ph type="sldImg"/>
          </p:nvPr>
        </p:nvSpPr>
        <p:spPr>
          <a:xfrm>
            <a:off x="150813" y="168275"/>
            <a:ext cx="6270625" cy="4703763"/>
          </a:xfrm>
          <a:ln w="12700" cap="flat">
            <a:solidFill>
              <a:schemeClr val="tx1"/>
            </a:solidFill>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2D0D3A05-7EBF-0C2E-E135-5A431F737B64}"/>
              </a:ext>
            </a:extLst>
          </p:cNvPr>
          <p:cNvSpPr>
            <a:spLocks noGrp="1" noChangeArrowheads="1"/>
          </p:cNvSpPr>
          <p:nvPr>
            <p:ph type="body" idx="1"/>
          </p:nvPr>
        </p:nvSpPr>
        <p:spPr>
          <a:xfrm>
            <a:off x="395288" y="5091113"/>
            <a:ext cx="5783262" cy="40084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When Not to Create an Index</a:t>
            </a:r>
          </a:p>
          <a:p>
            <a:pPr marL="450850" lvl="2" indent="-217488" defTabSz="401638"/>
            <a:r>
              <a:rPr lang="en-US" altLang="en-US">
                <a:latin typeface="Arial" panose="020B0604020202020204" pitchFamily="34" charset="0"/>
              </a:rPr>
              <a:t>The table is small.</a:t>
            </a:r>
          </a:p>
          <a:p>
            <a:pPr marL="450850" lvl="2" indent="-217488" defTabSz="401638"/>
            <a:r>
              <a:rPr lang="en-US" altLang="en-US">
                <a:latin typeface="Arial" panose="020B0604020202020204" pitchFamily="34" charset="0"/>
              </a:rPr>
              <a:t>The columns are not often used as a condition in the query.</a:t>
            </a:r>
          </a:p>
          <a:p>
            <a:pPr marL="450850" lvl="2" indent="-217488" defTabSz="401638"/>
            <a:r>
              <a:rPr lang="en-US" altLang="en-US">
                <a:latin typeface="Arial" panose="020B0604020202020204" pitchFamily="34" charset="0"/>
              </a:rPr>
              <a:t>Most queries are expected to retrieve more than 2–4% of the rows.</a:t>
            </a:r>
          </a:p>
          <a:p>
            <a:pPr marL="450850" lvl="2" indent="-217488" defTabSz="401638"/>
            <a:r>
              <a:rPr lang="en-US" altLang="en-US">
                <a:latin typeface="Arial" panose="020B0604020202020204" pitchFamily="34" charset="0"/>
              </a:rPr>
              <a:t>The table is updated frequently. If you have one or more indexes on a table, the DML statements that access the table take more time. </a:t>
            </a:r>
            <a:endParaRPr lang="en-US" altLang="en-US">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r>
              <a:rPr lang="en-US" altLang="en-US">
                <a:solidFill>
                  <a:schemeClr val="accent2"/>
                </a:solidFill>
                <a:latin typeface="Arial" panose="020B0604020202020204" pitchFamily="34" charset="0"/>
              </a:rPr>
              <a:t>Class Management Note</a:t>
            </a:r>
            <a:endParaRPr lang="en-US" altLang="en-US" b="1">
              <a:latin typeface="Times" panose="02020603050405020304" pitchFamily="18" charset="0"/>
            </a:endParaRPr>
          </a:p>
          <a:p>
            <a:pPr marL="114300" lvl="1" defTabSz="401638"/>
            <a:r>
              <a:rPr lang="en-US" altLang="en-US">
                <a:solidFill>
                  <a:schemeClr val="accent2"/>
                </a:solidFill>
                <a:latin typeface="Arial" panose="020B0604020202020204" pitchFamily="34" charset="0"/>
              </a:rPr>
              <a:t>Null values are not included in the index.</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To optimize joins, you can create an index on the FOREIGN KEY column, which will speed up the search to match rows to the PRIMARY KEY column.</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The optimizer does not use an index if the WHERE clause contains the IS NULL expression.</a:t>
            </a:r>
          </a:p>
        </p:txBody>
      </p:sp>
      <p:sp>
        <p:nvSpPr>
          <p:cNvPr id="40963" name="Rectangle 3">
            <a:extLst>
              <a:ext uri="{FF2B5EF4-FFF2-40B4-BE49-F238E27FC236}">
                <a16:creationId xmlns:a16="http://schemas.microsoft.com/office/drawing/2014/main" id="{3B2F07C3-2668-3ABE-3077-90BB9B8B9E63}"/>
              </a:ext>
            </a:extLst>
          </p:cNvPr>
          <p:cNvSpPr>
            <a:spLocks noGrp="1" noRot="1" noChangeAspect="1" noChangeArrowheads="1" noTextEdit="1"/>
          </p:cNvSpPr>
          <p:nvPr>
            <p:ph type="sldImg"/>
          </p:nvPr>
        </p:nvSpPr>
        <p:spPr>
          <a:xfrm>
            <a:off x="150813" y="168275"/>
            <a:ext cx="6270625" cy="4703763"/>
          </a:xfrm>
          <a:ln w="12700" cap="flat">
            <a:solidFill>
              <a:schemeClr val="tx1"/>
            </a:solidFill>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A38EE914-B2F5-1D27-2AEC-04825442D11D}"/>
              </a:ext>
            </a:extLst>
          </p:cNvPr>
          <p:cNvSpPr>
            <a:spLocks noGrp="1" noChangeArrowheads="1"/>
          </p:cNvSpPr>
          <p:nvPr>
            <p:ph type="body" idx="1"/>
          </p:nvPr>
        </p:nvSpPr>
        <p:spPr>
          <a:xfrm>
            <a:off x="395288" y="5091113"/>
            <a:ext cx="5783262" cy="40084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When Not to Create an Index</a:t>
            </a:r>
          </a:p>
          <a:p>
            <a:pPr marL="450850" lvl="2" indent="-217488" defTabSz="401638"/>
            <a:r>
              <a:rPr lang="en-US" altLang="en-US">
                <a:latin typeface="Arial" panose="020B0604020202020204" pitchFamily="34" charset="0"/>
              </a:rPr>
              <a:t>The table is small.</a:t>
            </a:r>
          </a:p>
          <a:p>
            <a:pPr marL="450850" lvl="2" indent="-217488" defTabSz="401638"/>
            <a:r>
              <a:rPr lang="en-US" altLang="en-US">
                <a:latin typeface="Arial" panose="020B0604020202020204" pitchFamily="34" charset="0"/>
              </a:rPr>
              <a:t>The columns are not often used as a condition in the query.</a:t>
            </a:r>
          </a:p>
          <a:p>
            <a:pPr marL="450850" lvl="2" indent="-217488" defTabSz="401638"/>
            <a:r>
              <a:rPr lang="en-US" altLang="en-US">
                <a:latin typeface="Arial" panose="020B0604020202020204" pitchFamily="34" charset="0"/>
              </a:rPr>
              <a:t>Most queries are expected to retrieve more than 2–4% of the rows.</a:t>
            </a:r>
          </a:p>
          <a:p>
            <a:pPr marL="450850" lvl="2" indent="-217488" defTabSz="401638"/>
            <a:r>
              <a:rPr lang="en-US" altLang="en-US">
                <a:latin typeface="Arial" panose="020B0604020202020204" pitchFamily="34" charset="0"/>
              </a:rPr>
              <a:t>The table is updated frequently. If you have one or more indexes on a table, the DML statements that access the table take more time. </a:t>
            </a:r>
            <a:endParaRPr lang="en-US" altLang="en-US">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r>
              <a:rPr lang="en-US" altLang="en-US">
                <a:solidFill>
                  <a:schemeClr val="accent2"/>
                </a:solidFill>
                <a:latin typeface="Arial" panose="020B0604020202020204" pitchFamily="34" charset="0"/>
              </a:rPr>
              <a:t>Class Management Note</a:t>
            </a:r>
            <a:endParaRPr lang="en-US" altLang="en-US" b="1">
              <a:latin typeface="Times" panose="02020603050405020304" pitchFamily="18" charset="0"/>
            </a:endParaRPr>
          </a:p>
          <a:p>
            <a:pPr marL="114300" lvl="1" defTabSz="401638"/>
            <a:r>
              <a:rPr lang="en-US" altLang="en-US">
                <a:solidFill>
                  <a:schemeClr val="accent2"/>
                </a:solidFill>
                <a:latin typeface="Arial" panose="020B0604020202020204" pitchFamily="34" charset="0"/>
              </a:rPr>
              <a:t>Null values are not included in the index.</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To optimize joins, you can create an index on the FOREIGN KEY column, which will speed up the search to match rows to the PRIMARY KEY column.</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The optimizer does not use an index if the WHERE clause contains the IS NULL expression.</a:t>
            </a:r>
          </a:p>
        </p:txBody>
      </p:sp>
      <p:sp>
        <p:nvSpPr>
          <p:cNvPr id="41987" name="Rectangle 3">
            <a:extLst>
              <a:ext uri="{FF2B5EF4-FFF2-40B4-BE49-F238E27FC236}">
                <a16:creationId xmlns:a16="http://schemas.microsoft.com/office/drawing/2014/main" id="{AF19C80F-F0DD-D745-0830-EDBA2CEAF7D7}"/>
              </a:ext>
            </a:extLst>
          </p:cNvPr>
          <p:cNvSpPr>
            <a:spLocks noGrp="1" noRot="1" noChangeAspect="1" noChangeArrowheads="1" noTextEdit="1"/>
          </p:cNvSpPr>
          <p:nvPr>
            <p:ph type="sldImg"/>
          </p:nvPr>
        </p:nvSpPr>
        <p:spPr>
          <a:xfrm>
            <a:off x="150813" y="168275"/>
            <a:ext cx="6270625" cy="4703763"/>
          </a:xfrm>
          <a:ln w="12700" cap="flat">
            <a:solidFill>
              <a:schemeClr val="tx1"/>
            </a:solid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F3158DAA-B723-D06B-958C-2E8F279001BD}"/>
              </a:ext>
            </a:extLst>
          </p:cNvPr>
          <p:cNvSpPr>
            <a:spLocks noGrp="1" noChangeArrowheads="1"/>
          </p:cNvSpPr>
          <p:nvPr>
            <p:ph type="body" idx="1"/>
          </p:nvPr>
        </p:nvSpPr>
        <p:spPr>
          <a:xfrm>
            <a:off x="395288" y="5091113"/>
            <a:ext cx="5783262" cy="40084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When Not to Create an Index</a:t>
            </a:r>
          </a:p>
          <a:p>
            <a:pPr marL="450850" lvl="2" indent="-217488" defTabSz="401638"/>
            <a:r>
              <a:rPr lang="en-US" altLang="en-US">
                <a:latin typeface="Arial" panose="020B0604020202020204" pitchFamily="34" charset="0"/>
              </a:rPr>
              <a:t>The table is small.</a:t>
            </a:r>
          </a:p>
          <a:p>
            <a:pPr marL="450850" lvl="2" indent="-217488" defTabSz="401638"/>
            <a:r>
              <a:rPr lang="en-US" altLang="en-US">
                <a:latin typeface="Arial" panose="020B0604020202020204" pitchFamily="34" charset="0"/>
              </a:rPr>
              <a:t>The columns are not often used as a condition in the query.</a:t>
            </a:r>
          </a:p>
          <a:p>
            <a:pPr marL="450850" lvl="2" indent="-217488" defTabSz="401638"/>
            <a:r>
              <a:rPr lang="en-US" altLang="en-US">
                <a:latin typeface="Arial" panose="020B0604020202020204" pitchFamily="34" charset="0"/>
              </a:rPr>
              <a:t>Most queries are expected to retrieve more than 2–4% of the rows.</a:t>
            </a:r>
          </a:p>
          <a:p>
            <a:pPr marL="450850" lvl="2" indent="-217488" defTabSz="401638"/>
            <a:r>
              <a:rPr lang="en-US" altLang="en-US">
                <a:latin typeface="Arial" panose="020B0604020202020204" pitchFamily="34" charset="0"/>
              </a:rPr>
              <a:t>The table is updated frequently. If you have one or more indexes on a table, the DML statements that access the table take more time. </a:t>
            </a:r>
            <a:endParaRPr lang="en-US" altLang="en-US">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r>
              <a:rPr lang="en-US" altLang="en-US">
                <a:solidFill>
                  <a:schemeClr val="accent2"/>
                </a:solidFill>
                <a:latin typeface="Arial" panose="020B0604020202020204" pitchFamily="34" charset="0"/>
              </a:rPr>
              <a:t>Class Management Note</a:t>
            </a:r>
            <a:endParaRPr lang="en-US" altLang="en-US" b="1">
              <a:latin typeface="Times" panose="02020603050405020304" pitchFamily="18" charset="0"/>
            </a:endParaRPr>
          </a:p>
          <a:p>
            <a:pPr marL="114300" lvl="1" defTabSz="401638"/>
            <a:r>
              <a:rPr lang="en-US" altLang="en-US">
                <a:solidFill>
                  <a:schemeClr val="accent2"/>
                </a:solidFill>
                <a:latin typeface="Arial" panose="020B0604020202020204" pitchFamily="34" charset="0"/>
              </a:rPr>
              <a:t>Null values are not included in the index.</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To optimize joins, you can create an index on the FOREIGN KEY column, which will speed up the search to match rows to the PRIMARY KEY column.</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The optimizer does not use an index if the WHERE clause contains the IS NULL expression.</a:t>
            </a:r>
          </a:p>
        </p:txBody>
      </p:sp>
      <p:sp>
        <p:nvSpPr>
          <p:cNvPr id="43011" name="Rectangle 3">
            <a:extLst>
              <a:ext uri="{FF2B5EF4-FFF2-40B4-BE49-F238E27FC236}">
                <a16:creationId xmlns:a16="http://schemas.microsoft.com/office/drawing/2014/main" id="{A8BD7117-B90F-65C2-2162-652E8D1EE7D8}"/>
              </a:ext>
            </a:extLst>
          </p:cNvPr>
          <p:cNvSpPr>
            <a:spLocks noGrp="1" noRot="1" noChangeAspect="1" noChangeArrowheads="1" noTextEdit="1"/>
          </p:cNvSpPr>
          <p:nvPr>
            <p:ph type="sldImg"/>
          </p:nvPr>
        </p:nvSpPr>
        <p:spPr>
          <a:xfrm>
            <a:off x="150813" y="168275"/>
            <a:ext cx="6270625" cy="4703763"/>
          </a:xfrm>
          <a:ln w="12700" cap="flat">
            <a:solidFill>
              <a:schemeClr val="tx1"/>
            </a:solidFill>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B20934C8-2E0A-2EB8-8CF7-16CC856FC762}"/>
              </a:ext>
            </a:extLst>
          </p:cNvPr>
          <p:cNvSpPr>
            <a:spLocks noGrp="1" noChangeArrowheads="1"/>
          </p:cNvSpPr>
          <p:nvPr>
            <p:ph type="body" idx="1"/>
          </p:nvPr>
        </p:nvSpPr>
        <p:spPr>
          <a:xfrm>
            <a:off x="395288" y="5091113"/>
            <a:ext cx="5783262" cy="40084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When Not to Create an Index</a:t>
            </a:r>
          </a:p>
          <a:p>
            <a:pPr marL="450850" lvl="2" indent="-217488" defTabSz="401638"/>
            <a:r>
              <a:rPr lang="en-US" altLang="en-US">
                <a:latin typeface="Arial" panose="020B0604020202020204" pitchFamily="34" charset="0"/>
              </a:rPr>
              <a:t>The table is small.</a:t>
            </a:r>
          </a:p>
          <a:p>
            <a:pPr marL="450850" lvl="2" indent="-217488" defTabSz="401638"/>
            <a:r>
              <a:rPr lang="en-US" altLang="en-US">
                <a:latin typeface="Arial" panose="020B0604020202020204" pitchFamily="34" charset="0"/>
              </a:rPr>
              <a:t>The columns are not often used as a condition in the query.</a:t>
            </a:r>
          </a:p>
          <a:p>
            <a:pPr marL="450850" lvl="2" indent="-217488" defTabSz="401638"/>
            <a:r>
              <a:rPr lang="en-US" altLang="en-US">
                <a:latin typeface="Arial" panose="020B0604020202020204" pitchFamily="34" charset="0"/>
              </a:rPr>
              <a:t>Most queries are expected to retrieve more than 2–4% of the rows.</a:t>
            </a:r>
          </a:p>
          <a:p>
            <a:pPr marL="450850" lvl="2" indent="-217488" defTabSz="401638"/>
            <a:r>
              <a:rPr lang="en-US" altLang="en-US">
                <a:latin typeface="Arial" panose="020B0604020202020204" pitchFamily="34" charset="0"/>
              </a:rPr>
              <a:t>The table is updated frequently. If you have one or more indexes on a table, the DML statements that access the table take more time. </a:t>
            </a:r>
            <a:endParaRPr lang="en-US" altLang="en-US">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r>
              <a:rPr lang="en-US" altLang="en-US">
                <a:solidFill>
                  <a:schemeClr val="accent2"/>
                </a:solidFill>
                <a:latin typeface="Arial" panose="020B0604020202020204" pitchFamily="34" charset="0"/>
              </a:rPr>
              <a:t>Class Management Note</a:t>
            </a:r>
            <a:endParaRPr lang="en-US" altLang="en-US" b="1">
              <a:latin typeface="Times" panose="02020603050405020304" pitchFamily="18" charset="0"/>
            </a:endParaRPr>
          </a:p>
          <a:p>
            <a:pPr marL="114300" lvl="1" defTabSz="401638"/>
            <a:r>
              <a:rPr lang="en-US" altLang="en-US">
                <a:solidFill>
                  <a:schemeClr val="accent2"/>
                </a:solidFill>
                <a:latin typeface="Arial" panose="020B0604020202020204" pitchFamily="34" charset="0"/>
              </a:rPr>
              <a:t>Null values are not included in the index.</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To optimize joins, you can create an index on the FOREIGN KEY column, which will speed up the search to match rows to the PRIMARY KEY column.</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The optimizer does not use an index if the WHERE clause contains the IS NULL expression.</a:t>
            </a:r>
          </a:p>
        </p:txBody>
      </p:sp>
      <p:sp>
        <p:nvSpPr>
          <p:cNvPr id="44035" name="Rectangle 3">
            <a:extLst>
              <a:ext uri="{FF2B5EF4-FFF2-40B4-BE49-F238E27FC236}">
                <a16:creationId xmlns:a16="http://schemas.microsoft.com/office/drawing/2014/main" id="{FCEF7D66-0E27-DA48-9EAF-740284F51850}"/>
              </a:ext>
            </a:extLst>
          </p:cNvPr>
          <p:cNvSpPr>
            <a:spLocks noGrp="1" noRot="1" noChangeAspect="1" noChangeArrowheads="1" noTextEdit="1"/>
          </p:cNvSpPr>
          <p:nvPr>
            <p:ph type="sldImg"/>
          </p:nvPr>
        </p:nvSpPr>
        <p:spPr>
          <a:xfrm>
            <a:off x="150813" y="168275"/>
            <a:ext cx="6270625" cy="4703763"/>
          </a:xfrm>
          <a:ln w="12700" cap="flat">
            <a:solidFill>
              <a:schemeClr val="tx1"/>
            </a:solid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0F44D4E4-567D-0CDB-7DAE-45C03CD1E73C}"/>
              </a:ext>
            </a:extLst>
          </p:cNvPr>
          <p:cNvSpPr>
            <a:spLocks noGrp="1" noChangeArrowheads="1"/>
          </p:cNvSpPr>
          <p:nvPr>
            <p:ph type="body" idx="1"/>
          </p:nvPr>
        </p:nvSpPr>
        <p:spPr>
          <a:xfrm>
            <a:off x="395288" y="5091113"/>
            <a:ext cx="5783262" cy="40084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When Not to Create an Index</a:t>
            </a:r>
          </a:p>
          <a:p>
            <a:pPr marL="450850" lvl="2" indent="-217488" defTabSz="401638"/>
            <a:r>
              <a:rPr lang="en-US" altLang="en-US">
                <a:latin typeface="Arial" panose="020B0604020202020204" pitchFamily="34" charset="0"/>
              </a:rPr>
              <a:t>The table is small.</a:t>
            </a:r>
          </a:p>
          <a:p>
            <a:pPr marL="450850" lvl="2" indent="-217488" defTabSz="401638"/>
            <a:r>
              <a:rPr lang="en-US" altLang="en-US">
                <a:latin typeface="Arial" panose="020B0604020202020204" pitchFamily="34" charset="0"/>
              </a:rPr>
              <a:t>The columns are not often used as a condition in the query.</a:t>
            </a:r>
          </a:p>
          <a:p>
            <a:pPr marL="450850" lvl="2" indent="-217488" defTabSz="401638"/>
            <a:r>
              <a:rPr lang="en-US" altLang="en-US">
                <a:latin typeface="Arial" panose="020B0604020202020204" pitchFamily="34" charset="0"/>
              </a:rPr>
              <a:t>Most queries are expected to retrieve more than 2–4% of the rows.</a:t>
            </a:r>
          </a:p>
          <a:p>
            <a:pPr marL="450850" lvl="2" indent="-217488" defTabSz="401638"/>
            <a:r>
              <a:rPr lang="en-US" altLang="en-US">
                <a:latin typeface="Arial" panose="020B0604020202020204" pitchFamily="34" charset="0"/>
              </a:rPr>
              <a:t>The table is updated frequently. If you have one or more indexes on a table, the DML statements that access the table take more time. </a:t>
            </a:r>
            <a:endParaRPr lang="en-US" altLang="en-US">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r>
              <a:rPr lang="en-US" altLang="en-US">
                <a:solidFill>
                  <a:schemeClr val="accent2"/>
                </a:solidFill>
                <a:latin typeface="Arial" panose="020B0604020202020204" pitchFamily="34" charset="0"/>
              </a:rPr>
              <a:t>Class Management Note</a:t>
            </a:r>
            <a:endParaRPr lang="en-US" altLang="en-US" b="1">
              <a:latin typeface="Times" panose="02020603050405020304" pitchFamily="18" charset="0"/>
            </a:endParaRPr>
          </a:p>
          <a:p>
            <a:pPr marL="114300" lvl="1" defTabSz="401638"/>
            <a:r>
              <a:rPr lang="en-US" altLang="en-US">
                <a:solidFill>
                  <a:schemeClr val="accent2"/>
                </a:solidFill>
                <a:latin typeface="Arial" panose="020B0604020202020204" pitchFamily="34" charset="0"/>
              </a:rPr>
              <a:t>Null values are not included in the index.</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To optimize joins, you can create an index on the FOREIGN KEY column, which will speed up the search to match rows to the PRIMARY KEY column.</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The optimizer does not use an index if the WHERE clause contains the IS NULL expression.</a:t>
            </a:r>
          </a:p>
        </p:txBody>
      </p:sp>
      <p:sp>
        <p:nvSpPr>
          <p:cNvPr id="45059" name="Rectangle 3">
            <a:extLst>
              <a:ext uri="{FF2B5EF4-FFF2-40B4-BE49-F238E27FC236}">
                <a16:creationId xmlns:a16="http://schemas.microsoft.com/office/drawing/2014/main" id="{6CDF5D44-5D39-3DC6-4741-ED9C5E3FC8B6}"/>
              </a:ext>
            </a:extLst>
          </p:cNvPr>
          <p:cNvSpPr>
            <a:spLocks noGrp="1" noRot="1" noChangeAspect="1" noChangeArrowheads="1" noTextEdit="1"/>
          </p:cNvSpPr>
          <p:nvPr>
            <p:ph type="sldImg"/>
          </p:nvPr>
        </p:nvSpPr>
        <p:spPr>
          <a:xfrm>
            <a:off x="150813" y="168275"/>
            <a:ext cx="6270625" cy="4703763"/>
          </a:xfrm>
          <a:ln w="12700" cap="flat">
            <a:solidFill>
              <a:schemeClr val="tx1"/>
            </a:solid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91F2F572-419D-4E3B-F57A-D58990E1FFF5}"/>
              </a:ext>
            </a:extLst>
          </p:cNvPr>
          <p:cNvSpPr>
            <a:spLocks noGrp="1" noChangeArrowheads="1"/>
          </p:cNvSpPr>
          <p:nvPr>
            <p:ph type="body" idx="1"/>
          </p:nvPr>
        </p:nvSpPr>
        <p:spPr>
          <a:xfrm>
            <a:off x="395288" y="5091113"/>
            <a:ext cx="5783262" cy="40084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272" tIns="46636" rIns="93272" bIns="46636"/>
          <a:lstStyle/>
          <a:p>
            <a:pPr defTabSz="401638"/>
            <a:r>
              <a:rPr lang="en-US" altLang="en-US">
                <a:latin typeface="Arial" panose="020B0604020202020204" pitchFamily="34" charset="0"/>
              </a:rPr>
              <a:t>When Not to Create an Index</a:t>
            </a:r>
          </a:p>
          <a:p>
            <a:pPr marL="450850" lvl="2" indent="-217488" defTabSz="401638"/>
            <a:r>
              <a:rPr lang="en-US" altLang="en-US">
                <a:latin typeface="Arial" panose="020B0604020202020204" pitchFamily="34" charset="0"/>
              </a:rPr>
              <a:t>The table is small.</a:t>
            </a:r>
          </a:p>
          <a:p>
            <a:pPr marL="450850" lvl="2" indent="-217488" defTabSz="401638"/>
            <a:r>
              <a:rPr lang="en-US" altLang="en-US">
                <a:latin typeface="Arial" panose="020B0604020202020204" pitchFamily="34" charset="0"/>
              </a:rPr>
              <a:t>The columns are not often used as a condition in the query.</a:t>
            </a:r>
          </a:p>
          <a:p>
            <a:pPr marL="450850" lvl="2" indent="-217488" defTabSz="401638"/>
            <a:r>
              <a:rPr lang="en-US" altLang="en-US">
                <a:latin typeface="Arial" panose="020B0604020202020204" pitchFamily="34" charset="0"/>
              </a:rPr>
              <a:t>Most queries are expected to retrieve more than 2–4% of the rows.</a:t>
            </a:r>
          </a:p>
          <a:p>
            <a:pPr marL="450850" lvl="2" indent="-217488" defTabSz="401638"/>
            <a:r>
              <a:rPr lang="en-US" altLang="en-US">
                <a:latin typeface="Arial" panose="020B0604020202020204" pitchFamily="34" charset="0"/>
              </a:rPr>
              <a:t>The table is updated frequently. If you have one or more indexes on a table, the DML statements that access the table take more time. </a:t>
            </a:r>
            <a:endParaRPr lang="en-US" altLang="en-US">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endParaRPr lang="en-US" altLang="en-US" b="1">
              <a:latin typeface="Times" panose="02020603050405020304" pitchFamily="18" charset="0"/>
            </a:endParaRPr>
          </a:p>
          <a:p>
            <a:pPr defTabSz="401638">
              <a:lnSpc>
                <a:spcPct val="112000"/>
              </a:lnSpc>
              <a:spcBef>
                <a:spcPct val="48000"/>
              </a:spcBef>
            </a:pPr>
            <a:r>
              <a:rPr lang="en-US" altLang="en-US">
                <a:solidFill>
                  <a:schemeClr val="accent2"/>
                </a:solidFill>
                <a:latin typeface="Arial" panose="020B0604020202020204" pitchFamily="34" charset="0"/>
              </a:rPr>
              <a:t>Class Management Note</a:t>
            </a:r>
            <a:endParaRPr lang="en-US" altLang="en-US" b="1">
              <a:latin typeface="Times" panose="02020603050405020304" pitchFamily="18" charset="0"/>
            </a:endParaRPr>
          </a:p>
          <a:p>
            <a:pPr marL="114300" lvl="1" defTabSz="401638"/>
            <a:r>
              <a:rPr lang="en-US" altLang="en-US">
                <a:solidFill>
                  <a:schemeClr val="accent2"/>
                </a:solidFill>
                <a:latin typeface="Arial" panose="020B0604020202020204" pitchFamily="34" charset="0"/>
              </a:rPr>
              <a:t>Null values are not included in the index.</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To optimize joins, you can create an index on the FOREIGN KEY column, which will speed up the search to match rows to the PRIMARY KEY column.</a:t>
            </a:r>
            <a:br>
              <a:rPr lang="en-US" altLang="en-US">
                <a:solidFill>
                  <a:schemeClr val="accent2"/>
                </a:solidFill>
                <a:latin typeface="Arial" panose="020B0604020202020204" pitchFamily="34" charset="0"/>
              </a:rPr>
            </a:br>
            <a:r>
              <a:rPr lang="en-US" altLang="en-US">
                <a:solidFill>
                  <a:schemeClr val="accent2"/>
                </a:solidFill>
                <a:latin typeface="Arial" panose="020B0604020202020204" pitchFamily="34" charset="0"/>
              </a:rPr>
              <a:t>The optimizer does not use an index if the WHERE clause contains the IS NULL expression.</a:t>
            </a:r>
          </a:p>
        </p:txBody>
      </p:sp>
      <p:sp>
        <p:nvSpPr>
          <p:cNvPr id="48131" name="Rectangle 3">
            <a:extLst>
              <a:ext uri="{FF2B5EF4-FFF2-40B4-BE49-F238E27FC236}">
                <a16:creationId xmlns:a16="http://schemas.microsoft.com/office/drawing/2014/main" id="{79926C92-4E2D-BD83-C6D7-0DAB4D34E488}"/>
              </a:ext>
            </a:extLst>
          </p:cNvPr>
          <p:cNvSpPr>
            <a:spLocks noGrp="1" noRot="1" noChangeAspect="1" noChangeArrowheads="1" noTextEdit="1"/>
          </p:cNvSpPr>
          <p:nvPr>
            <p:ph type="sldImg"/>
          </p:nvPr>
        </p:nvSpPr>
        <p:spPr>
          <a:xfrm>
            <a:off x="150813" y="168275"/>
            <a:ext cx="6270625" cy="4703763"/>
          </a:xfrm>
          <a:ln w="12700" cap="flat">
            <a:solidFill>
              <a:schemeClr val="tx1"/>
            </a:solid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E35D723C-C9C7-A568-FCF7-4EB6D646C92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92175">
              <a:spcBef>
                <a:spcPct val="30000"/>
              </a:spcBef>
              <a:defRPr sz="1200">
                <a:solidFill>
                  <a:schemeClr val="tx1"/>
                </a:solidFill>
                <a:latin typeface="Arial" panose="020B0604020202020204" pitchFamily="34" charset="0"/>
              </a:defRPr>
            </a:lvl1pPr>
            <a:lvl2pPr marL="742950" indent="-285750" defTabSz="892175">
              <a:spcBef>
                <a:spcPct val="30000"/>
              </a:spcBef>
              <a:defRPr sz="1200">
                <a:solidFill>
                  <a:schemeClr val="tx1"/>
                </a:solidFill>
                <a:latin typeface="Arial" panose="020B0604020202020204" pitchFamily="34" charset="0"/>
              </a:defRPr>
            </a:lvl2pPr>
            <a:lvl3pPr marL="1143000" indent="-228600" defTabSz="892175">
              <a:spcBef>
                <a:spcPct val="30000"/>
              </a:spcBef>
              <a:defRPr sz="1200">
                <a:solidFill>
                  <a:schemeClr val="tx1"/>
                </a:solidFill>
                <a:latin typeface="Arial" panose="020B0604020202020204" pitchFamily="34" charset="0"/>
              </a:defRPr>
            </a:lvl3pPr>
            <a:lvl4pPr marL="1600200" indent="-228600" defTabSz="892175">
              <a:spcBef>
                <a:spcPct val="30000"/>
              </a:spcBef>
              <a:defRPr sz="1200">
                <a:solidFill>
                  <a:schemeClr val="tx1"/>
                </a:solidFill>
                <a:latin typeface="Arial" panose="020B0604020202020204" pitchFamily="34" charset="0"/>
              </a:defRPr>
            </a:lvl4pPr>
            <a:lvl5pPr marL="2057400" indent="-228600" defTabSz="892175">
              <a:spcBef>
                <a:spcPct val="30000"/>
              </a:spcBef>
              <a:defRPr sz="1200">
                <a:solidFill>
                  <a:schemeClr val="tx1"/>
                </a:solidFill>
                <a:latin typeface="Arial" panose="020B0604020202020204" pitchFamily="34" charset="0"/>
              </a:defRPr>
            </a:lvl5pPr>
            <a:lvl6pPr marL="2514600" indent="-228600" defTabSz="892175" eaLnBrk="0" fontAlgn="base" hangingPunct="0">
              <a:spcBef>
                <a:spcPct val="30000"/>
              </a:spcBef>
              <a:spcAft>
                <a:spcPct val="0"/>
              </a:spcAft>
              <a:defRPr sz="1200">
                <a:solidFill>
                  <a:schemeClr val="tx1"/>
                </a:solidFill>
                <a:latin typeface="Arial" panose="020B0604020202020204" pitchFamily="34" charset="0"/>
              </a:defRPr>
            </a:lvl6pPr>
            <a:lvl7pPr marL="2971800" indent="-228600" defTabSz="892175" eaLnBrk="0" fontAlgn="base" hangingPunct="0">
              <a:spcBef>
                <a:spcPct val="30000"/>
              </a:spcBef>
              <a:spcAft>
                <a:spcPct val="0"/>
              </a:spcAft>
              <a:defRPr sz="1200">
                <a:solidFill>
                  <a:schemeClr val="tx1"/>
                </a:solidFill>
                <a:latin typeface="Arial" panose="020B0604020202020204" pitchFamily="34" charset="0"/>
              </a:defRPr>
            </a:lvl7pPr>
            <a:lvl8pPr marL="3429000" indent="-228600" defTabSz="892175" eaLnBrk="0" fontAlgn="base" hangingPunct="0">
              <a:spcBef>
                <a:spcPct val="30000"/>
              </a:spcBef>
              <a:spcAft>
                <a:spcPct val="0"/>
              </a:spcAft>
              <a:defRPr sz="1200">
                <a:solidFill>
                  <a:schemeClr val="tx1"/>
                </a:solidFill>
                <a:latin typeface="Arial" panose="020B0604020202020204" pitchFamily="34" charset="0"/>
              </a:defRPr>
            </a:lvl8pPr>
            <a:lvl9pPr marL="3886200" indent="-228600" defTabSz="892175"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AD7620E5-E56A-49FA-9155-1FDAD0A7E276}" type="slidenum">
              <a:rPr lang="de-AT" altLang="en-US" smtClean="0">
                <a:solidFill>
                  <a:srgbClr val="000000"/>
                </a:solidFill>
              </a:rPr>
              <a:pPr>
                <a:spcBef>
                  <a:spcPct val="0"/>
                </a:spcBef>
              </a:pPr>
              <a:t>36</a:t>
            </a:fld>
            <a:endParaRPr lang="de-AT" altLang="en-US">
              <a:solidFill>
                <a:srgbClr val="000000"/>
              </a:solidFill>
            </a:endParaRPr>
          </a:p>
        </p:txBody>
      </p:sp>
      <p:sp>
        <p:nvSpPr>
          <p:cNvPr id="98307" name="Rectangle 2">
            <a:extLst>
              <a:ext uri="{FF2B5EF4-FFF2-40B4-BE49-F238E27FC236}">
                <a16:creationId xmlns:a16="http://schemas.microsoft.com/office/drawing/2014/main" id="{C6836BE6-20E4-351B-BC60-248E1316EE70}"/>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FC398F3C-1D53-AF59-20A3-2AC1A709E7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ACD5C35F-C7F6-40F5-2D84-B34CCA267931}"/>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2290580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9FB6AA4-9F43-C6EC-4455-C1A43A9552AA}"/>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597192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DA41EF08-2830-5BA6-1FAC-254BF42939A5}"/>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370850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33388" y="1524000"/>
            <a:ext cx="4062412"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9BE475E-803F-E3C8-8806-B7E9FBD98C1C}"/>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84827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EE24C786-B827-A505-5421-B50C79E10642}"/>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689526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E0BA0220-F56E-8D2B-0C83-A3033D1E298E}"/>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4201234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EFBBD2B1-874E-6BE0-0AE1-1230DC2D46CB}"/>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2969162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1C164DBF-637B-21E2-E432-E502B60B658F}"/>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3964822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A412991-EBBE-B3DD-A126-35F17F7FA286}"/>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965238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A76D4AA-A58A-AB1E-8FC6-A6F754D18E16}"/>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516303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2100" y="228600"/>
            <a:ext cx="2068513"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33388" y="228600"/>
            <a:ext cx="6056312"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0A78E4A-98C8-8351-4A21-981EF6E9C92A}"/>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17674902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ext Placeholder 2"/>
          <p:cNvSpPr>
            <a:spLocks noGrp="1"/>
          </p:cNvSpPr>
          <p:nvPr>
            <p:ph type="body" sz="half" idx="1"/>
          </p:nvPr>
        </p:nvSpPr>
        <p:spPr>
          <a:xfrm>
            <a:off x="433388" y="1524000"/>
            <a:ext cx="4062412"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524000"/>
            <a:ext cx="4062413" cy="46418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AE8AF3E9-FC3A-56CF-289D-1B3FDE655624}"/>
              </a:ext>
            </a:extLst>
          </p:cNvPr>
          <p:cNvSpPr>
            <a:spLocks noGrp="1" noChangeArrowheads="1"/>
          </p:cNvSpPr>
          <p:nvPr>
            <p:ph type="dt" sz="half" idx="10"/>
          </p:nvPr>
        </p:nvSpPr>
        <p:spPr>
          <a:ln/>
        </p:spPr>
        <p:txBody>
          <a:bodyPr/>
          <a:lstStyle>
            <a:lvl1pPr>
              <a:defRPr/>
            </a:lvl1pPr>
          </a:lstStyle>
          <a:p>
            <a:pPr>
              <a:defRPr/>
            </a:pPr>
            <a:endParaRPr lang="de-DE"/>
          </a:p>
        </p:txBody>
      </p:sp>
    </p:spTree>
    <p:extLst>
      <p:ext uri="{BB962C8B-B14F-4D97-AF65-F5344CB8AC3E}">
        <p14:creationId xmlns:p14="http://schemas.microsoft.com/office/powerpoint/2010/main" val="42164547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39066C-DF9C-6154-623E-4D25B5B52A53}"/>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3" name="Rounded Rectangle 4">
            <a:extLst>
              <a:ext uri="{FF2B5EF4-FFF2-40B4-BE49-F238E27FC236}">
                <a16:creationId xmlns:a16="http://schemas.microsoft.com/office/drawing/2014/main" id="{18D222C8-BBB8-DC40-CF3C-CD3AC346EA7C}"/>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71C78B3C-1801-37D9-1221-8203B8C03770}"/>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7E18224C-0FB0-6B6C-36DF-472BEAAFBA1D}"/>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0C55B2B4-247C-EA5F-5632-4932003653ED}"/>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7" name="Date Placeholder 27">
            <a:extLst>
              <a:ext uri="{FF2B5EF4-FFF2-40B4-BE49-F238E27FC236}">
                <a16:creationId xmlns:a16="http://schemas.microsoft.com/office/drawing/2014/main" id="{7F564B8B-4E0C-7CB4-9998-C3F6C2F8FB96}"/>
              </a:ext>
            </a:extLst>
          </p:cNvPr>
          <p:cNvSpPr>
            <a:spLocks noGrp="1"/>
          </p:cNvSpPr>
          <p:nvPr>
            <p:ph type="dt" sz="half" idx="10"/>
          </p:nvPr>
        </p:nvSpPr>
        <p:spPr/>
        <p:txBody>
          <a:bodyPr/>
          <a:lstStyle>
            <a:lvl1pPr>
              <a:defRPr/>
            </a:lvl1pPr>
          </a:lstStyle>
          <a:p>
            <a:pPr>
              <a:defRPr/>
            </a:pPr>
            <a:fld id="{79CF1446-C9F6-4443-9286-D689B1A0244F}" type="datetime1">
              <a:rPr lang="en-US"/>
              <a:pPr>
                <a:defRPr/>
              </a:pPr>
              <a:t>12/29/2024</a:t>
            </a:fld>
            <a:endParaRPr lang="en-US"/>
          </a:p>
        </p:txBody>
      </p:sp>
      <p:sp>
        <p:nvSpPr>
          <p:cNvPr id="10" name="Footer Placeholder 16">
            <a:extLst>
              <a:ext uri="{FF2B5EF4-FFF2-40B4-BE49-F238E27FC236}">
                <a16:creationId xmlns:a16="http://schemas.microsoft.com/office/drawing/2014/main" id="{5E0D5E70-3B0E-7AD2-9229-A7D9431E7D63}"/>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11" name="Slide Number Placeholder 28">
            <a:extLst>
              <a:ext uri="{FF2B5EF4-FFF2-40B4-BE49-F238E27FC236}">
                <a16:creationId xmlns:a16="http://schemas.microsoft.com/office/drawing/2014/main" id="{CA2A5AF8-A3EC-51E9-D4E2-AD060A79F00B}"/>
              </a:ext>
            </a:extLst>
          </p:cNvPr>
          <p:cNvSpPr>
            <a:spLocks noGrp="1"/>
          </p:cNvSpPr>
          <p:nvPr>
            <p:ph type="sldNum" sz="quarter" idx="12"/>
          </p:nvPr>
        </p:nvSpPr>
        <p:spPr/>
        <p:txBody>
          <a:bodyPr/>
          <a:lstStyle>
            <a:lvl1pPr>
              <a:defRPr sz="1400">
                <a:solidFill>
                  <a:srgbClr val="FFFFFF"/>
                </a:solidFill>
              </a:defRPr>
            </a:lvl1pPr>
          </a:lstStyle>
          <a:p>
            <a:pPr>
              <a:defRPr/>
            </a:pPr>
            <a:fld id="{CFD065E4-1B66-4917-94CF-DDC2DE6B16AA}" type="slidenum">
              <a:rPr lang="en-US"/>
              <a:pPr>
                <a:defRPr/>
              </a:pPr>
              <a:t>‹#›</a:t>
            </a:fld>
            <a:endParaRPr lang="en-US" dirty="0"/>
          </a:p>
        </p:txBody>
      </p:sp>
    </p:spTree>
    <p:extLst>
      <p:ext uri="{BB962C8B-B14F-4D97-AF65-F5344CB8AC3E}">
        <p14:creationId xmlns:p14="http://schemas.microsoft.com/office/powerpoint/2010/main" val="256066630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B396DFE6-B4E8-DD83-A0D8-5DC5CA58994F}"/>
              </a:ext>
            </a:extLst>
          </p:cNvPr>
          <p:cNvSpPr>
            <a:spLocks noGrp="1"/>
          </p:cNvSpPr>
          <p:nvPr>
            <p:ph type="dt" sz="half" idx="10"/>
          </p:nvPr>
        </p:nvSpPr>
        <p:spPr/>
        <p:txBody>
          <a:bodyPr/>
          <a:lstStyle>
            <a:lvl1pPr>
              <a:defRPr/>
            </a:lvl1pPr>
          </a:lstStyle>
          <a:p>
            <a:pPr>
              <a:defRPr/>
            </a:pPr>
            <a:fld id="{33892016-38A5-45A2-8FCF-B28DE5A26B0B}" type="datetime1">
              <a:rPr lang="en-US"/>
              <a:pPr>
                <a:defRPr/>
              </a:pPr>
              <a:t>12/29/2024</a:t>
            </a:fld>
            <a:endParaRPr lang="en-US" dirty="0"/>
          </a:p>
        </p:txBody>
      </p:sp>
      <p:sp>
        <p:nvSpPr>
          <p:cNvPr id="4" name="Footer Placeholder 2">
            <a:extLst>
              <a:ext uri="{FF2B5EF4-FFF2-40B4-BE49-F238E27FC236}">
                <a16:creationId xmlns:a16="http://schemas.microsoft.com/office/drawing/2014/main" id="{9E056B4E-95ED-4A33-07D3-06B5D61210D0}"/>
              </a:ext>
            </a:extLst>
          </p:cNvPr>
          <p:cNvSpPr>
            <a:spLocks noGrp="1"/>
          </p:cNvSpPr>
          <p:nvPr>
            <p:ph type="ftr" sz="quarter" idx="11"/>
          </p:nvPr>
        </p:nvSpPr>
        <p:spPr/>
        <p:txBody>
          <a:bodyPr/>
          <a:lstStyle>
            <a:lvl1pPr>
              <a:defRPr/>
            </a:lvl1pPr>
          </a:lstStyle>
          <a:p>
            <a:pPr>
              <a:defRPr/>
            </a:pPr>
            <a:r>
              <a:rPr lang="en-US"/>
              <a:t>Autonomous Robots -- Dr. Zawar Qayyum, 2010</a:t>
            </a:r>
            <a:endParaRPr lang="en-US" dirty="0"/>
          </a:p>
        </p:txBody>
      </p:sp>
      <p:sp>
        <p:nvSpPr>
          <p:cNvPr id="5" name="Slide Number Placeholder 22">
            <a:extLst>
              <a:ext uri="{FF2B5EF4-FFF2-40B4-BE49-F238E27FC236}">
                <a16:creationId xmlns:a16="http://schemas.microsoft.com/office/drawing/2014/main" id="{DDD96BDC-2AFF-94B5-A87D-2D535D5C1D33}"/>
              </a:ext>
            </a:extLst>
          </p:cNvPr>
          <p:cNvSpPr>
            <a:spLocks noGrp="1"/>
          </p:cNvSpPr>
          <p:nvPr>
            <p:ph type="sldNum" sz="quarter" idx="12"/>
          </p:nvPr>
        </p:nvSpPr>
        <p:spPr/>
        <p:txBody>
          <a:bodyPr/>
          <a:lstStyle>
            <a:lvl1pPr>
              <a:defRPr/>
            </a:lvl1pPr>
          </a:lstStyle>
          <a:p>
            <a:pPr>
              <a:defRPr/>
            </a:pPr>
            <a:fld id="{E80619C9-1708-4C3B-BCE0-77AC977914F4}" type="slidenum">
              <a:rPr lang="en-US"/>
              <a:pPr>
                <a:defRPr/>
              </a:pPr>
              <a:t>‹#›</a:t>
            </a:fld>
            <a:endParaRPr lang="en-US" dirty="0"/>
          </a:p>
        </p:txBody>
      </p:sp>
    </p:spTree>
    <p:extLst>
      <p:ext uri="{BB962C8B-B14F-4D97-AF65-F5344CB8AC3E}">
        <p14:creationId xmlns:p14="http://schemas.microsoft.com/office/powerpoint/2010/main" val="23790157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6545B2F-9509-7C7F-2E6C-93BD0685E0BC}"/>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4">
            <a:extLst>
              <a:ext uri="{FF2B5EF4-FFF2-40B4-BE49-F238E27FC236}">
                <a16:creationId xmlns:a16="http://schemas.microsoft.com/office/drawing/2014/main" id="{37A60FA7-8EFB-B9C1-4374-08BA5C9E9FF7}"/>
              </a:ext>
            </a:extLst>
          </p:cNvPr>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C999A1CA-F453-0C0B-D422-61A9CA672A49}"/>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94D8863D-3C91-3A32-4D13-7542ADE59049}"/>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22BDF143-C8D8-529C-FA65-3154819F2E1E}"/>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9" name="Date Placeholder 3">
            <a:extLst>
              <a:ext uri="{FF2B5EF4-FFF2-40B4-BE49-F238E27FC236}">
                <a16:creationId xmlns:a16="http://schemas.microsoft.com/office/drawing/2014/main" id="{F3FBCE05-B246-59A9-7BF9-745DCB197852}"/>
              </a:ext>
            </a:extLst>
          </p:cNvPr>
          <p:cNvSpPr>
            <a:spLocks noGrp="1"/>
          </p:cNvSpPr>
          <p:nvPr>
            <p:ph type="dt" sz="half" idx="10"/>
          </p:nvPr>
        </p:nvSpPr>
        <p:spPr/>
        <p:txBody>
          <a:bodyPr/>
          <a:lstStyle>
            <a:lvl1pPr>
              <a:defRPr/>
            </a:lvl1pPr>
          </a:lstStyle>
          <a:p>
            <a:pPr>
              <a:defRPr/>
            </a:pPr>
            <a:fld id="{85C89F16-0ED0-47D8-9BF6-DB8802875382}" type="datetime1">
              <a:rPr lang="en-US"/>
              <a:pPr>
                <a:defRPr/>
              </a:pPr>
              <a:t>12/29/2024</a:t>
            </a:fld>
            <a:endParaRPr lang="en-US"/>
          </a:p>
        </p:txBody>
      </p:sp>
      <p:sp>
        <p:nvSpPr>
          <p:cNvPr id="10" name="Footer Placeholder 4">
            <a:extLst>
              <a:ext uri="{FF2B5EF4-FFF2-40B4-BE49-F238E27FC236}">
                <a16:creationId xmlns:a16="http://schemas.microsoft.com/office/drawing/2014/main" id="{FDB8DC83-A110-3838-E66B-31388C5C25F7}"/>
              </a:ext>
            </a:extLst>
          </p:cNvPr>
          <p:cNvSpPr>
            <a:spLocks noGrp="1"/>
          </p:cNvSpPr>
          <p:nvPr>
            <p:ph type="ftr" sz="quarter" idx="11"/>
          </p:nvPr>
        </p:nvSpPr>
        <p:spPr>
          <a:xfrm>
            <a:off x="800100" y="6172200"/>
            <a:ext cx="4000500" cy="457200"/>
          </a:xfrm>
        </p:spPr>
        <p:txBody>
          <a:bodyPr/>
          <a:lstStyle>
            <a:lvl1pPr>
              <a:defRPr/>
            </a:lvl1pPr>
          </a:lstStyle>
          <a:p>
            <a:pPr>
              <a:defRPr/>
            </a:pPr>
            <a:r>
              <a:rPr lang="en-US"/>
              <a:t>Autonomous Robots -- Dr. Zawar Qayyum, 2010</a:t>
            </a:r>
          </a:p>
        </p:txBody>
      </p:sp>
      <p:sp>
        <p:nvSpPr>
          <p:cNvPr id="11" name="Slide Number Placeholder 5">
            <a:extLst>
              <a:ext uri="{FF2B5EF4-FFF2-40B4-BE49-F238E27FC236}">
                <a16:creationId xmlns:a16="http://schemas.microsoft.com/office/drawing/2014/main" id="{45B66283-2DCC-0003-4426-D31020707A56}"/>
              </a:ext>
            </a:extLst>
          </p:cNvPr>
          <p:cNvSpPr>
            <a:spLocks noGrp="1"/>
          </p:cNvSpPr>
          <p:nvPr>
            <p:ph type="sldNum" sz="quarter" idx="12"/>
          </p:nvPr>
        </p:nvSpPr>
        <p:spPr>
          <a:xfrm>
            <a:off x="146050" y="6208713"/>
            <a:ext cx="457200" cy="457200"/>
          </a:xfrm>
        </p:spPr>
        <p:txBody>
          <a:bodyPr/>
          <a:lstStyle>
            <a:lvl1pPr>
              <a:defRPr/>
            </a:lvl1pPr>
          </a:lstStyle>
          <a:p>
            <a:pPr>
              <a:defRPr/>
            </a:pPr>
            <a:fld id="{D18B2ED8-7408-4240-8676-622D3E75AC59}" type="slidenum">
              <a:rPr lang="en-US"/>
              <a:pPr>
                <a:defRPr/>
              </a:pPr>
              <a:t>‹#›</a:t>
            </a:fld>
            <a:endParaRPr lang="en-US" dirty="0"/>
          </a:p>
        </p:txBody>
      </p:sp>
    </p:spTree>
    <p:extLst>
      <p:ext uri="{BB962C8B-B14F-4D97-AF65-F5344CB8AC3E}">
        <p14:creationId xmlns:p14="http://schemas.microsoft.com/office/powerpoint/2010/main" val="3197377776"/>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80CDADDF-04BF-2D1D-9C98-ECAB4971517E}"/>
              </a:ext>
            </a:extLst>
          </p:cNvPr>
          <p:cNvSpPr>
            <a:spLocks noGrp="1"/>
          </p:cNvSpPr>
          <p:nvPr>
            <p:ph type="dt" sz="half" idx="10"/>
          </p:nvPr>
        </p:nvSpPr>
        <p:spPr/>
        <p:txBody>
          <a:bodyPr/>
          <a:lstStyle>
            <a:lvl1pPr>
              <a:defRPr/>
            </a:lvl1pPr>
          </a:lstStyle>
          <a:p>
            <a:pPr>
              <a:defRPr/>
            </a:pPr>
            <a:fld id="{7A89DDBE-D9C2-4699-8FC6-A81193FF0F87}" type="datetime1">
              <a:rPr lang="en-US"/>
              <a:pPr>
                <a:defRPr/>
              </a:pPr>
              <a:t>12/29/2024</a:t>
            </a:fld>
            <a:endParaRPr lang="en-US" dirty="0"/>
          </a:p>
        </p:txBody>
      </p:sp>
      <p:sp>
        <p:nvSpPr>
          <p:cNvPr id="4" name="Footer Placeholder 2">
            <a:extLst>
              <a:ext uri="{FF2B5EF4-FFF2-40B4-BE49-F238E27FC236}">
                <a16:creationId xmlns:a16="http://schemas.microsoft.com/office/drawing/2014/main" id="{EA7C873F-1BB3-5513-9803-0A21ECBDF8D2}"/>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5" name="Slide Number Placeholder 22">
            <a:extLst>
              <a:ext uri="{FF2B5EF4-FFF2-40B4-BE49-F238E27FC236}">
                <a16:creationId xmlns:a16="http://schemas.microsoft.com/office/drawing/2014/main" id="{561A1D7E-1AAD-8F49-E349-5153EC543E82}"/>
              </a:ext>
            </a:extLst>
          </p:cNvPr>
          <p:cNvSpPr>
            <a:spLocks noGrp="1"/>
          </p:cNvSpPr>
          <p:nvPr>
            <p:ph type="sldNum" sz="quarter" idx="12"/>
          </p:nvPr>
        </p:nvSpPr>
        <p:spPr/>
        <p:txBody>
          <a:bodyPr/>
          <a:lstStyle>
            <a:lvl1pPr>
              <a:defRPr/>
            </a:lvl1pPr>
          </a:lstStyle>
          <a:p>
            <a:pPr>
              <a:defRPr/>
            </a:pPr>
            <a:fld id="{90243F15-6DC5-4AA3-8CE8-BCF1B672ACEB}" type="slidenum">
              <a:rPr lang="en-US"/>
              <a:pPr>
                <a:defRPr/>
              </a:pPr>
              <a:t>‹#›</a:t>
            </a:fld>
            <a:endParaRPr lang="en-US" dirty="0"/>
          </a:p>
        </p:txBody>
      </p:sp>
    </p:spTree>
    <p:extLst>
      <p:ext uri="{BB962C8B-B14F-4D97-AF65-F5344CB8AC3E}">
        <p14:creationId xmlns:p14="http://schemas.microsoft.com/office/powerpoint/2010/main" val="10181910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6EBF8CA8-3AC2-09F7-1BBB-0FA6AED36F1B}"/>
              </a:ext>
            </a:extLst>
          </p:cNvPr>
          <p:cNvSpPr>
            <a:spLocks noGrp="1"/>
          </p:cNvSpPr>
          <p:nvPr>
            <p:ph type="dt" sz="half" idx="10"/>
          </p:nvPr>
        </p:nvSpPr>
        <p:spPr/>
        <p:txBody>
          <a:bodyPr/>
          <a:lstStyle>
            <a:lvl1pPr>
              <a:defRPr/>
            </a:lvl1pPr>
          </a:lstStyle>
          <a:p>
            <a:pPr>
              <a:defRPr/>
            </a:pPr>
            <a:fld id="{E067741A-6475-428B-A8E4-F77833D97E78}" type="datetime1">
              <a:rPr lang="en-US"/>
              <a:pPr>
                <a:defRPr/>
              </a:pPr>
              <a:t>12/29/2024</a:t>
            </a:fld>
            <a:endParaRPr lang="en-US" dirty="0"/>
          </a:p>
        </p:txBody>
      </p:sp>
      <p:sp>
        <p:nvSpPr>
          <p:cNvPr id="6" name="Footer Placeholder 2">
            <a:extLst>
              <a:ext uri="{FF2B5EF4-FFF2-40B4-BE49-F238E27FC236}">
                <a16:creationId xmlns:a16="http://schemas.microsoft.com/office/drawing/2014/main" id="{221316CF-09DD-77DC-96BC-31FCEFF43613}"/>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7" name="Slide Number Placeholder 22">
            <a:extLst>
              <a:ext uri="{FF2B5EF4-FFF2-40B4-BE49-F238E27FC236}">
                <a16:creationId xmlns:a16="http://schemas.microsoft.com/office/drawing/2014/main" id="{BB2491B1-A99D-3D1D-6260-33F3900E911D}"/>
              </a:ext>
            </a:extLst>
          </p:cNvPr>
          <p:cNvSpPr>
            <a:spLocks noGrp="1"/>
          </p:cNvSpPr>
          <p:nvPr>
            <p:ph type="sldNum" sz="quarter" idx="12"/>
          </p:nvPr>
        </p:nvSpPr>
        <p:spPr/>
        <p:txBody>
          <a:bodyPr/>
          <a:lstStyle>
            <a:lvl1pPr>
              <a:defRPr/>
            </a:lvl1pPr>
          </a:lstStyle>
          <a:p>
            <a:pPr>
              <a:defRPr/>
            </a:pPr>
            <a:fld id="{95E3B942-8215-4833-AC83-10CEBF624210}" type="slidenum">
              <a:rPr lang="en-US"/>
              <a:pPr>
                <a:defRPr/>
              </a:pPr>
              <a:t>‹#›</a:t>
            </a:fld>
            <a:endParaRPr lang="en-US" dirty="0"/>
          </a:p>
        </p:txBody>
      </p:sp>
    </p:spTree>
    <p:extLst>
      <p:ext uri="{BB962C8B-B14F-4D97-AF65-F5344CB8AC3E}">
        <p14:creationId xmlns:p14="http://schemas.microsoft.com/office/powerpoint/2010/main" val="16364100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885919E0-21DC-087F-A752-3845402B905B}"/>
              </a:ext>
            </a:extLst>
          </p:cNvPr>
          <p:cNvSpPr>
            <a:spLocks noGrp="1"/>
          </p:cNvSpPr>
          <p:nvPr>
            <p:ph type="dt" sz="half" idx="10"/>
          </p:nvPr>
        </p:nvSpPr>
        <p:spPr/>
        <p:txBody>
          <a:bodyPr/>
          <a:lstStyle>
            <a:lvl1pPr>
              <a:defRPr/>
            </a:lvl1pPr>
          </a:lstStyle>
          <a:p>
            <a:pPr>
              <a:defRPr/>
            </a:pPr>
            <a:fld id="{2C0D66A2-F833-4D3E-BBFD-4BA89826E4C9}" type="datetime1">
              <a:rPr lang="en-US"/>
              <a:pPr>
                <a:defRPr/>
              </a:pPr>
              <a:t>12/29/2024</a:t>
            </a:fld>
            <a:endParaRPr lang="en-US" dirty="0"/>
          </a:p>
        </p:txBody>
      </p:sp>
      <p:sp>
        <p:nvSpPr>
          <p:cNvPr id="4" name="Footer Placeholder 2">
            <a:extLst>
              <a:ext uri="{FF2B5EF4-FFF2-40B4-BE49-F238E27FC236}">
                <a16:creationId xmlns:a16="http://schemas.microsoft.com/office/drawing/2014/main" id="{D5E24651-DD45-C67A-48C2-9D6BE9B3CC64}"/>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5" name="Slide Number Placeholder 22">
            <a:extLst>
              <a:ext uri="{FF2B5EF4-FFF2-40B4-BE49-F238E27FC236}">
                <a16:creationId xmlns:a16="http://schemas.microsoft.com/office/drawing/2014/main" id="{AB2859EE-C7FE-ED7F-ED32-260F9A2897CE}"/>
              </a:ext>
            </a:extLst>
          </p:cNvPr>
          <p:cNvSpPr>
            <a:spLocks noGrp="1"/>
          </p:cNvSpPr>
          <p:nvPr>
            <p:ph type="sldNum" sz="quarter" idx="12"/>
          </p:nvPr>
        </p:nvSpPr>
        <p:spPr/>
        <p:txBody>
          <a:bodyPr/>
          <a:lstStyle>
            <a:lvl1pPr>
              <a:defRPr/>
            </a:lvl1pPr>
          </a:lstStyle>
          <a:p>
            <a:pPr>
              <a:defRPr/>
            </a:pPr>
            <a:fld id="{D1EC5F62-2A84-4195-8B72-78726C500E3E}" type="slidenum">
              <a:rPr lang="en-US"/>
              <a:pPr>
                <a:defRPr/>
              </a:pPr>
              <a:t>‹#›</a:t>
            </a:fld>
            <a:endParaRPr lang="en-US" dirty="0"/>
          </a:p>
        </p:txBody>
      </p:sp>
    </p:spTree>
    <p:extLst>
      <p:ext uri="{BB962C8B-B14F-4D97-AF65-F5344CB8AC3E}">
        <p14:creationId xmlns:p14="http://schemas.microsoft.com/office/powerpoint/2010/main" val="27291079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4250D812-A68E-B72D-CCCE-F029E25007D0}"/>
              </a:ext>
            </a:extLst>
          </p:cNvPr>
          <p:cNvSpPr>
            <a:spLocks noGrp="1"/>
          </p:cNvSpPr>
          <p:nvPr>
            <p:ph type="dt" sz="half" idx="10"/>
          </p:nvPr>
        </p:nvSpPr>
        <p:spPr/>
        <p:txBody>
          <a:bodyPr/>
          <a:lstStyle>
            <a:lvl1pPr>
              <a:defRPr/>
            </a:lvl1pPr>
          </a:lstStyle>
          <a:p>
            <a:pPr>
              <a:defRPr/>
            </a:pPr>
            <a:fld id="{06DFCD9B-6A02-440D-883A-790572724131}" type="datetime1">
              <a:rPr lang="en-US"/>
              <a:pPr>
                <a:defRPr/>
              </a:pPr>
              <a:t>12/29/2024</a:t>
            </a:fld>
            <a:endParaRPr lang="en-US" dirty="0"/>
          </a:p>
        </p:txBody>
      </p:sp>
      <p:sp>
        <p:nvSpPr>
          <p:cNvPr id="3" name="Footer Placeholder 2">
            <a:extLst>
              <a:ext uri="{FF2B5EF4-FFF2-40B4-BE49-F238E27FC236}">
                <a16:creationId xmlns:a16="http://schemas.microsoft.com/office/drawing/2014/main" id="{BF8396E7-E023-25E3-AE0A-3B95D71607AB}"/>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4" name="Slide Number Placeholder 22">
            <a:extLst>
              <a:ext uri="{FF2B5EF4-FFF2-40B4-BE49-F238E27FC236}">
                <a16:creationId xmlns:a16="http://schemas.microsoft.com/office/drawing/2014/main" id="{EDE1120C-A435-5F9E-0A10-5116D774BAE8}"/>
              </a:ext>
            </a:extLst>
          </p:cNvPr>
          <p:cNvSpPr>
            <a:spLocks noGrp="1"/>
          </p:cNvSpPr>
          <p:nvPr>
            <p:ph type="sldNum" sz="quarter" idx="12"/>
          </p:nvPr>
        </p:nvSpPr>
        <p:spPr/>
        <p:txBody>
          <a:bodyPr/>
          <a:lstStyle>
            <a:lvl1pPr>
              <a:defRPr/>
            </a:lvl1pPr>
          </a:lstStyle>
          <a:p>
            <a:pPr>
              <a:defRPr/>
            </a:pPr>
            <a:fld id="{A5EAE7F8-F456-46EF-98C9-E75D54E6CEE0}" type="slidenum">
              <a:rPr lang="en-US"/>
              <a:pPr>
                <a:defRPr/>
              </a:pPr>
              <a:t>‹#›</a:t>
            </a:fld>
            <a:endParaRPr lang="en-US" dirty="0"/>
          </a:p>
        </p:txBody>
      </p:sp>
    </p:spTree>
    <p:extLst>
      <p:ext uri="{BB962C8B-B14F-4D97-AF65-F5344CB8AC3E}">
        <p14:creationId xmlns:p14="http://schemas.microsoft.com/office/powerpoint/2010/main" val="31082022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0A37AFF-B187-B8B9-49C4-692A9E414BB9}"/>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5" name="Rounded Rectangle 5">
            <a:extLst>
              <a:ext uri="{FF2B5EF4-FFF2-40B4-BE49-F238E27FC236}">
                <a16:creationId xmlns:a16="http://schemas.microsoft.com/office/drawing/2014/main" id="{BEA249C2-7AA4-FBAC-CD84-B31208E12A8F}"/>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CA5B1817-A2A9-3036-5219-5CC18411ECC1}"/>
              </a:ext>
            </a:extLst>
          </p:cNvPr>
          <p:cNvSpPr>
            <a:spLocks noGrp="1"/>
          </p:cNvSpPr>
          <p:nvPr>
            <p:ph type="dt" sz="half" idx="10"/>
          </p:nvPr>
        </p:nvSpPr>
        <p:spPr/>
        <p:txBody>
          <a:bodyPr/>
          <a:lstStyle>
            <a:lvl1pPr>
              <a:defRPr/>
            </a:lvl1pPr>
          </a:lstStyle>
          <a:p>
            <a:pPr>
              <a:defRPr/>
            </a:pPr>
            <a:fld id="{627C16B8-22B0-479A-B212-C924D35CBC22}" type="datetime1">
              <a:rPr lang="en-US"/>
              <a:pPr>
                <a:defRPr/>
              </a:pPr>
              <a:t>12/29/2024</a:t>
            </a:fld>
            <a:endParaRPr lang="en-US"/>
          </a:p>
        </p:txBody>
      </p:sp>
      <p:sp>
        <p:nvSpPr>
          <p:cNvPr id="7" name="Footer Placeholder 5">
            <a:extLst>
              <a:ext uri="{FF2B5EF4-FFF2-40B4-BE49-F238E27FC236}">
                <a16:creationId xmlns:a16="http://schemas.microsoft.com/office/drawing/2014/main" id="{AB4908A0-C03A-042C-F5FA-AB2DB42AE792}"/>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8" name="Slide Number Placeholder 6">
            <a:extLst>
              <a:ext uri="{FF2B5EF4-FFF2-40B4-BE49-F238E27FC236}">
                <a16:creationId xmlns:a16="http://schemas.microsoft.com/office/drawing/2014/main" id="{50B415EB-A043-C051-8198-9C2C3C85A018}"/>
              </a:ext>
            </a:extLst>
          </p:cNvPr>
          <p:cNvSpPr>
            <a:spLocks noGrp="1"/>
          </p:cNvSpPr>
          <p:nvPr>
            <p:ph type="sldNum" sz="quarter" idx="12"/>
          </p:nvPr>
        </p:nvSpPr>
        <p:spPr/>
        <p:txBody>
          <a:bodyPr/>
          <a:lstStyle>
            <a:lvl1pPr>
              <a:defRPr/>
            </a:lvl1pPr>
          </a:lstStyle>
          <a:p>
            <a:pPr>
              <a:defRPr/>
            </a:pPr>
            <a:fld id="{18499E09-BCAF-4C79-9ED7-85587F328C31}" type="slidenum">
              <a:rPr lang="en-US"/>
              <a:pPr>
                <a:defRPr/>
              </a:pPr>
              <a:t>‹#›</a:t>
            </a:fld>
            <a:endParaRPr lang="en-US"/>
          </a:p>
        </p:txBody>
      </p:sp>
    </p:spTree>
    <p:extLst>
      <p:ext uri="{BB962C8B-B14F-4D97-AF65-F5344CB8AC3E}">
        <p14:creationId xmlns:p14="http://schemas.microsoft.com/office/powerpoint/2010/main" val="35534805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39AC405-2C75-A219-0834-108F13DAB45C}"/>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2BC3D419-2231-EEF1-CEB7-0EE523B48EB9}"/>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E064155D-D463-FCBF-1733-09AFB952B7F7}"/>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85591B9E-C084-D7AF-CC45-0BC62473DA65}"/>
              </a:ext>
            </a:extLst>
          </p:cNvPr>
          <p:cNvSpPr>
            <a:spLocks noGrp="1"/>
          </p:cNvSpPr>
          <p:nvPr>
            <p:ph type="dt" sz="half" idx="10"/>
          </p:nvPr>
        </p:nvSpPr>
        <p:spPr/>
        <p:txBody>
          <a:bodyPr/>
          <a:lstStyle>
            <a:lvl1pPr>
              <a:defRPr/>
            </a:lvl1pPr>
          </a:lstStyle>
          <a:p>
            <a:pPr>
              <a:defRPr/>
            </a:pPr>
            <a:fld id="{A9439A8E-E74E-4073-A72F-B411CA495669}" type="datetime1">
              <a:rPr lang="en-US"/>
              <a:pPr>
                <a:defRPr/>
              </a:pPr>
              <a:t>12/29/2024</a:t>
            </a:fld>
            <a:endParaRPr lang="en-US"/>
          </a:p>
        </p:txBody>
      </p:sp>
      <p:sp>
        <p:nvSpPr>
          <p:cNvPr id="9" name="Footer Placeholder 5">
            <a:extLst>
              <a:ext uri="{FF2B5EF4-FFF2-40B4-BE49-F238E27FC236}">
                <a16:creationId xmlns:a16="http://schemas.microsoft.com/office/drawing/2014/main" id="{0E8B5B52-C901-9CDC-908D-5320492CB6DD}"/>
              </a:ext>
            </a:extLst>
          </p:cNvPr>
          <p:cNvSpPr>
            <a:spLocks noGrp="1"/>
          </p:cNvSpPr>
          <p:nvPr>
            <p:ph type="ftr" sz="quarter" idx="11"/>
          </p:nvPr>
        </p:nvSpPr>
        <p:spPr>
          <a:xfrm>
            <a:off x="914400" y="6172200"/>
            <a:ext cx="3886200" cy="457200"/>
          </a:xfrm>
        </p:spPr>
        <p:txBody>
          <a:bodyPr/>
          <a:lstStyle>
            <a:lvl1pPr>
              <a:defRPr/>
            </a:lvl1pPr>
          </a:lstStyle>
          <a:p>
            <a:pPr>
              <a:defRPr/>
            </a:pPr>
            <a:r>
              <a:rPr lang="en-US"/>
              <a:t>Autonomous Robots -- Dr. Zawar Qayyum, 2010</a:t>
            </a:r>
          </a:p>
        </p:txBody>
      </p:sp>
      <p:sp>
        <p:nvSpPr>
          <p:cNvPr id="10" name="Slide Number Placeholder 6">
            <a:extLst>
              <a:ext uri="{FF2B5EF4-FFF2-40B4-BE49-F238E27FC236}">
                <a16:creationId xmlns:a16="http://schemas.microsoft.com/office/drawing/2014/main" id="{596CD343-8346-E066-8958-650AD84E89AB}"/>
              </a:ext>
            </a:extLst>
          </p:cNvPr>
          <p:cNvSpPr>
            <a:spLocks noGrp="1"/>
          </p:cNvSpPr>
          <p:nvPr>
            <p:ph type="sldNum" sz="quarter" idx="12"/>
          </p:nvPr>
        </p:nvSpPr>
        <p:spPr>
          <a:xfrm>
            <a:off x="146050" y="6208713"/>
            <a:ext cx="457200" cy="457200"/>
          </a:xfrm>
        </p:spPr>
        <p:txBody>
          <a:bodyPr/>
          <a:lstStyle>
            <a:lvl1pPr>
              <a:defRPr/>
            </a:lvl1pPr>
          </a:lstStyle>
          <a:p>
            <a:pPr>
              <a:defRPr/>
            </a:pPr>
            <a:fld id="{E0E47019-EA52-4855-A446-C270BFC7F95E}" type="slidenum">
              <a:rPr lang="en-US"/>
              <a:pPr>
                <a:defRPr/>
              </a:pPr>
              <a:t>‹#›</a:t>
            </a:fld>
            <a:endParaRPr lang="en-US" dirty="0"/>
          </a:p>
        </p:txBody>
      </p:sp>
    </p:spTree>
    <p:extLst>
      <p:ext uri="{BB962C8B-B14F-4D97-AF65-F5344CB8AC3E}">
        <p14:creationId xmlns:p14="http://schemas.microsoft.com/office/powerpoint/2010/main" val="38625740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4216D75B-E7B6-7280-37DB-BF4B47BB0C6D}"/>
              </a:ext>
            </a:extLst>
          </p:cNvPr>
          <p:cNvSpPr>
            <a:spLocks noGrp="1"/>
          </p:cNvSpPr>
          <p:nvPr>
            <p:ph type="dt" sz="half" idx="10"/>
          </p:nvPr>
        </p:nvSpPr>
        <p:spPr/>
        <p:txBody>
          <a:bodyPr/>
          <a:lstStyle>
            <a:lvl1pPr>
              <a:defRPr/>
            </a:lvl1pPr>
          </a:lstStyle>
          <a:p>
            <a:pPr>
              <a:defRPr/>
            </a:pPr>
            <a:fld id="{869FE76C-FF8F-43AF-BD8C-E192B2C2B4EE}" type="datetime1">
              <a:rPr lang="en-US"/>
              <a:pPr>
                <a:defRPr/>
              </a:pPr>
              <a:t>12/29/2024</a:t>
            </a:fld>
            <a:endParaRPr lang="en-US" dirty="0"/>
          </a:p>
        </p:txBody>
      </p:sp>
      <p:sp>
        <p:nvSpPr>
          <p:cNvPr id="5" name="Footer Placeholder 2">
            <a:extLst>
              <a:ext uri="{FF2B5EF4-FFF2-40B4-BE49-F238E27FC236}">
                <a16:creationId xmlns:a16="http://schemas.microsoft.com/office/drawing/2014/main" id="{4E144CE4-E7C5-0F00-67B8-690C439CE51A}"/>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6" name="Slide Number Placeholder 22">
            <a:extLst>
              <a:ext uri="{FF2B5EF4-FFF2-40B4-BE49-F238E27FC236}">
                <a16:creationId xmlns:a16="http://schemas.microsoft.com/office/drawing/2014/main" id="{73889489-04F5-935E-D643-BFB345CBAF54}"/>
              </a:ext>
            </a:extLst>
          </p:cNvPr>
          <p:cNvSpPr>
            <a:spLocks noGrp="1"/>
          </p:cNvSpPr>
          <p:nvPr>
            <p:ph type="sldNum" sz="quarter" idx="12"/>
          </p:nvPr>
        </p:nvSpPr>
        <p:spPr/>
        <p:txBody>
          <a:bodyPr/>
          <a:lstStyle>
            <a:lvl1pPr>
              <a:defRPr/>
            </a:lvl1pPr>
          </a:lstStyle>
          <a:p>
            <a:pPr>
              <a:defRPr/>
            </a:pPr>
            <a:fld id="{445BA751-F2BD-4C20-90CF-2539005ABB34}" type="slidenum">
              <a:rPr lang="en-US"/>
              <a:pPr>
                <a:defRPr/>
              </a:pPr>
              <a:t>‹#›</a:t>
            </a:fld>
            <a:endParaRPr lang="en-US" dirty="0"/>
          </a:p>
        </p:txBody>
      </p:sp>
    </p:spTree>
    <p:extLst>
      <p:ext uri="{BB962C8B-B14F-4D97-AF65-F5344CB8AC3E}">
        <p14:creationId xmlns:p14="http://schemas.microsoft.com/office/powerpoint/2010/main" val="18575840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F01D196A-0A33-B379-3A18-9C00F90A647E}"/>
              </a:ext>
            </a:extLst>
          </p:cNvPr>
          <p:cNvSpPr>
            <a:spLocks noGrp="1"/>
          </p:cNvSpPr>
          <p:nvPr>
            <p:ph type="dt" sz="half" idx="10"/>
          </p:nvPr>
        </p:nvSpPr>
        <p:spPr/>
        <p:txBody>
          <a:bodyPr/>
          <a:lstStyle>
            <a:lvl1pPr>
              <a:defRPr/>
            </a:lvl1pPr>
          </a:lstStyle>
          <a:p>
            <a:pPr>
              <a:defRPr/>
            </a:pPr>
            <a:fld id="{E2AF3674-77A2-4FBC-A50E-EDF0D2B59C76}" type="datetime1">
              <a:rPr lang="en-US"/>
              <a:pPr>
                <a:defRPr/>
              </a:pPr>
              <a:t>12/29/2024</a:t>
            </a:fld>
            <a:endParaRPr lang="en-US" dirty="0"/>
          </a:p>
        </p:txBody>
      </p:sp>
      <p:sp>
        <p:nvSpPr>
          <p:cNvPr id="5" name="Footer Placeholder 2">
            <a:extLst>
              <a:ext uri="{FF2B5EF4-FFF2-40B4-BE49-F238E27FC236}">
                <a16:creationId xmlns:a16="http://schemas.microsoft.com/office/drawing/2014/main" id="{3D58D851-CE57-B65F-03BE-4563F617529B}"/>
              </a:ext>
            </a:extLst>
          </p:cNvPr>
          <p:cNvSpPr>
            <a:spLocks noGrp="1"/>
          </p:cNvSpPr>
          <p:nvPr>
            <p:ph type="ftr" sz="quarter" idx="11"/>
          </p:nvPr>
        </p:nvSpPr>
        <p:spPr/>
        <p:txBody>
          <a:bodyPr/>
          <a:lstStyle>
            <a:lvl1pPr>
              <a:defRPr/>
            </a:lvl1pPr>
          </a:lstStyle>
          <a:p>
            <a:pPr>
              <a:defRPr/>
            </a:pPr>
            <a:r>
              <a:rPr lang="en-US"/>
              <a:t>Autonomous Robots -- Dr. Zawar Qayyum, 2010</a:t>
            </a:r>
          </a:p>
        </p:txBody>
      </p:sp>
      <p:sp>
        <p:nvSpPr>
          <p:cNvPr id="6" name="Slide Number Placeholder 22">
            <a:extLst>
              <a:ext uri="{FF2B5EF4-FFF2-40B4-BE49-F238E27FC236}">
                <a16:creationId xmlns:a16="http://schemas.microsoft.com/office/drawing/2014/main" id="{D1F8DA9E-89F2-D90B-44D9-A9A06A7C0FC8}"/>
              </a:ext>
            </a:extLst>
          </p:cNvPr>
          <p:cNvSpPr>
            <a:spLocks noGrp="1"/>
          </p:cNvSpPr>
          <p:nvPr>
            <p:ph type="sldNum" sz="quarter" idx="12"/>
          </p:nvPr>
        </p:nvSpPr>
        <p:spPr/>
        <p:txBody>
          <a:bodyPr/>
          <a:lstStyle>
            <a:lvl1pPr>
              <a:defRPr/>
            </a:lvl1pPr>
          </a:lstStyle>
          <a:p>
            <a:pPr>
              <a:defRPr/>
            </a:pPr>
            <a:fld id="{D298D8AC-5990-4364-BE6A-AB6FF07654B6}" type="slidenum">
              <a:rPr lang="en-US"/>
              <a:pPr>
                <a:defRPr/>
              </a:pPr>
              <a:t>‹#›</a:t>
            </a:fld>
            <a:endParaRPr lang="en-US" dirty="0"/>
          </a:p>
        </p:txBody>
      </p:sp>
    </p:spTree>
    <p:extLst>
      <p:ext uri="{BB962C8B-B14F-4D97-AF65-F5344CB8AC3E}">
        <p14:creationId xmlns:p14="http://schemas.microsoft.com/office/powerpoint/2010/main" val="18908723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33388" y="228600"/>
            <a:ext cx="8277225" cy="1219200"/>
          </a:xfrm>
        </p:spPr>
        <p:txBody>
          <a:bodyPr/>
          <a:lstStyle/>
          <a:p>
            <a:r>
              <a:rPr lang="en-US"/>
              <a:t>Click to edit Master title style</a:t>
            </a:r>
          </a:p>
        </p:txBody>
      </p:sp>
      <p:sp>
        <p:nvSpPr>
          <p:cNvPr id="3" name="Table Placeholder 2"/>
          <p:cNvSpPr>
            <a:spLocks noGrp="1"/>
          </p:cNvSpPr>
          <p:nvPr>
            <p:ph type="tbl" idx="1"/>
          </p:nvPr>
        </p:nvSpPr>
        <p:spPr>
          <a:xfrm>
            <a:off x="433388" y="1524000"/>
            <a:ext cx="8277225" cy="4641850"/>
          </a:xfrm>
        </p:spPr>
        <p:txBody>
          <a:bodyPr/>
          <a:lstStyle/>
          <a:p>
            <a:pPr lvl="0"/>
            <a:endParaRPr lang="en-US" noProof="0"/>
          </a:p>
        </p:txBody>
      </p:sp>
      <p:sp>
        <p:nvSpPr>
          <p:cNvPr id="4" name="Rectangle 4">
            <a:extLst>
              <a:ext uri="{FF2B5EF4-FFF2-40B4-BE49-F238E27FC236}">
                <a16:creationId xmlns:a16="http://schemas.microsoft.com/office/drawing/2014/main" id="{C0916A30-B4DB-6572-32E5-123305D25E17}"/>
              </a:ext>
            </a:extLst>
          </p:cNvPr>
          <p:cNvSpPr>
            <a:spLocks noGrp="1" noChangeArrowheads="1"/>
          </p:cNvSpPr>
          <p:nvPr>
            <p:ph type="dt" sz="half" idx="10"/>
          </p:nvPr>
        </p:nvSpPr>
        <p:spPr/>
        <p:txBody>
          <a:bodyPr/>
          <a:lstStyle>
            <a:lvl1pPr>
              <a:defRPr/>
            </a:lvl1pPr>
          </a:lstStyle>
          <a:p>
            <a:pPr>
              <a:defRPr/>
            </a:pPr>
            <a:endParaRPr lang="de-DE"/>
          </a:p>
        </p:txBody>
      </p:sp>
    </p:spTree>
    <p:extLst>
      <p:ext uri="{BB962C8B-B14F-4D97-AF65-F5344CB8AC3E}">
        <p14:creationId xmlns:p14="http://schemas.microsoft.com/office/powerpoint/2010/main" val="1126403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C1A416D-9E4B-E6AC-F112-4F799DB4A9BF}"/>
              </a:ext>
            </a:extLst>
          </p:cNvPr>
          <p:cNvSpPr>
            <a:spLocks noGrp="1" noChangeArrowheads="1"/>
          </p:cNvSpPr>
          <p:nvPr>
            <p:ph type="title"/>
          </p:nvPr>
        </p:nvSpPr>
        <p:spPr bwMode="auto">
          <a:xfrm>
            <a:off x="433388" y="228600"/>
            <a:ext cx="82772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de-DE" altLang="en-US"/>
              <a:t>Titel bearbeiten</a:t>
            </a:r>
          </a:p>
        </p:txBody>
      </p:sp>
      <p:sp>
        <p:nvSpPr>
          <p:cNvPr id="1027" name="Rectangle 3">
            <a:extLst>
              <a:ext uri="{FF2B5EF4-FFF2-40B4-BE49-F238E27FC236}">
                <a16:creationId xmlns:a16="http://schemas.microsoft.com/office/drawing/2014/main" id="{289F570C-B828-BB3E-F7F0-959BF89300FD}"/>
              </a:ext>
            </a:extLst>
          </p:cNvPr>
          <p:cNvSpPr>
            <a:spLocks noGrp="1" noChangeArrowheads="1"/>
          </p:cNvSpPr>
          <p:nvPr>
            <p:ph type="body" idx="1"/>
          </p:nvPr>
        </p:nvSpPr>
        <p:spPr bwMode="auto">
          <a:xfrm>
            <a:off x="433388" y="1524000"/>
            <a:ext cx="8277225" cy="46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de-DE" altLang="en-US"/>
              <a:t>Erste Ebene</a:t>
            </a:r>
          </a:p>
          <a:p>
            <a:pPr lvl="1"/>
            <a:r>
              <a:rPr lang="de-DE" altLang="en-US"/>
              <a:t>Zweite Ebene</a:t>
            </a:r>
          </a:p>
          <a:p>
            <a:pPr lvl="2"/>
            <a:r>
              <a:rPr lang="de-DE" altLang="en-US"/>
              <a:t>Dritte Ebene</a:t>
            </a:r>
          </a:p>
          <a:p>
            <a:pPr lvl="3"/>
            <a:r>
              <a:rPr lang="de-DE" altLang="en-US"/>
              <a:t>Vierte Ebene</a:t>
            </a:r>
          </a:p>
          <a:p>
            <a:pPr lvl="4"/>
            <a:r>
              <a:rPr lang="de-DE" altLang="en-US"/>
              <a:t>Fünfte Ebene</a:t>
            </a:r>
          </a:p>
        </p:txBody>
      </p:sp>
      <p:sp>
        <p:nvSpPr>
          <p:cNvPr id="4100" name="Rectangle 4">
            <a:extLst>
              <a:ext uri="{FF2B5EF4-FFF2-40B4-BE49-F238E27FC236}">
                <a16:creationId xmlns:a16="http://schemas.microsoft.com/office/drawing/2014/main" id="{C359501D-8EBF-C697-9AD4-716F573CFAE4}"/>
              </a:ext>
            </a:extLst>
          </p:cNvPr>
          <p:cNvSpPr>
            <a:spLocks noGrp="1" noChangeArrowheads="1"/>
          </p:cNvSpPr>
          <p:nvPr>
            <p:ph type="dt" sz="half" idx="2"/>
          </p:nvPr>
        </p:nvSpPr>
        <p:spPr bwMode="auto">
          <a:xfrm>
            <a:off x="0" y="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endParaRPr lang="de-DE"/>
          </a:p>
        </p:txBody>
      </p:sp>
      <p:sp>
        <p:nvSpPr>
          <p:cNvPr id="1029" name="Rectangle 14">
            <a:extLst>
              <a:ext uri="{FF2B5EF4-FFF2-40B4-BE49-F238E27FC236}">
                <a16:creationId xmlns:a16="http://schemas.microsoft.com/office/drawing/2014/main" id="{EE708334-7603-D637-525F-84FA20B89F32}"/>
              </a:ext>
            </a:extLst>
          </p:cNvPr>
          <p:cNvSpPr>
            <a:spLocks noChangeArrowheads="1"/>
          </p:cNvSpPr>
          <p:nvPr userDrawn="1"/>
        </p:nvSpPr>
        <p:spPr bwMode="auto">
          <a:xfrm>
            <a:off x="395288" y="1125538"/>
            <a:ext cx="8748712" cy="73025"/>
          </a:xfrm>
          <a:prstGeom prst="rect">
            <a:avLst/>
          </a:prstGeom>
          <a:gradFill rotWithShape="1">
            <a:gsLst>
              <a:gs pos="0">
                <a:srgbClr val="800000"/>
              </a:gs>
              <a:gs pos="100000">
                <a:srgbClr val="FF8585">
                  <a:alpha val="0"/>
                </a:srgbClr>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1030" name="Rectangle 10">
            <a:extLst>
              <a:ext uri="{FF2B5EF4-FFF2-40B4-BE49-F238E27FC236}">
                <a16:creationId xmlns:a16="http://schemas.microsoft.com/office/drawing/2014/main" id="{7F0B65A5-0597-1B68-1488-10774139D224}"/>
              </a:ext>
            </a:extLst>
          </p:cNvPr>
          <p:cNvSpPr>
            <a:spLocks noChangeArrowheads="1"/>
          </p:cNvSpPr>
          <p:nvPr userDrawn="1"/>
        </p:nvSpPr>
        <p:spPr bwMode="auto">
          <a:xfrm>
            <a:off x="0" y="6569075"/>
            <a:ext cx="9167813" cy="315913"/>
          </a:xfrm>
          <a:prstGeom prst="rect">
            <a:avLst/>
          </a:prstGeom>
          <a:gradFill rotWithShape="1">
            <a:gsLst>
              <a:gs pos="0">
                <a:srgbClr val="800000"/>
              </a:gs>
              <a:gs pos="100000">
                <a:srgbClr val="FF8585">
                  <a:alpha val="0"/>
                </a:srgbClr>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endParaRPr lang="en-US" altLang="en-US"/>
          </a:p>
        </p:txBody>
      </p:sp>
      <p:sp>
        <p:nvSpPr>
          <p:cNvPr id="1031" name="Text Box 11">
            <a:extLst>
              <a:ext uri="{FF2B5EF4-FFF2-40B4-BE49-F238E27FC236}">
                <a16:creationId xmlns:a16="http://schemas.microsoft.com/office/drawing/2014/main" id="{BB6E9FFB-A7C7-EEF3-0651-2E1FDC42EE8B}"/>
              </a:ext>
            </a:extLst>
          </p:cNvPr>
          <p:cNvSpPr txBox="1">
            <a:spLocks noChangeArrowheads="1"/>
          </p:cNvSpPr>
          <p:nvPr userDrawn="1"/>
        </p:nvSpPr>
        <p:spPr bwMode="auto">
          <a:xfrm>
            <a:off x="-36513" y="6583363"/>
            <a:ext cx="5905501"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defRPr>
            </a:lvl1pPr>
            <a:lvl2pPr marL="742950" indent="-285750" eaLnBrk="0" hangingPunct="0">
              <a:defRPr sz="2400">
                <a:solidFill>
                  <a:schemeClr val="tx1"/>
                </a:solidFill>
                <a:latin typeface="Arial" pitchFamily="34" charset="0"/>
              </a:defRPr>
            </a:lvl2pPr>
            <a:lvl3pPr marL="1143000" indent="-228600" eaLnBrk="0" hangingPunct="0">
              <a:defRPr sz="2400">
                <a:solidFill>
                  <a:schemeClr val="tx1"/>
                </a:solidFill>
                <a:latin typeface="Arial" pitchFamily="34" charset="0"/>
              </a:defRPr>
            </a:lvl3pPr>
            <a:lvl4pPr marL="1600200" indent="-228600" eaLnBrk="0" hangingPunct="0">
              <a:defRPr sz="2400">
                <a:solidFill>
                  <a:schemeClr val="tx1"/>
                </a:solidFill>
                <a:latin typeface="Arial" pitchFamily="34" charset="0"/>
              </a:defRPr>
            </a:lvl4pPr>
            <a:lvl5pPr marL="2057400" indent="-228600" eaLnBrk="0" hangingPunct="0">
              <a:defRPr sz="2400">
                <a:solidFill>
                  <a:schemeClr val="tx1"/>
                </a:solidFill>
                <a:latin typeface="Arial" pitchFamily="34" charset="0"/>
              </a:defRPr>
            </a:lvl5pPr>
            <a:lvl6pPr marL="2514600" indent="-228600" eaLnBrk="0" fontAlgn="base" hangingPunct="0">
              <a:spcBef>
                <a:spcPct val="0"/>
              </a:spcBef>
              <a:spcAft>
                <a:spcPct val="0"/>
              </a:spcAft>
              <a:defRPr sz="2400">
                <a:solidFill>
                  <a:schemeClr val="tx1"/>
                </a:solidFill>
                <a:latin typeface="Arial" pitchFamily="34" charset="0"/>
              </a:defRPr>
            </a:lvl6pPr>
            <a:lvl7pPr marL="2971800" indent="-228600" eaLnBrk="0" fontAlgn="base" hangingPunct="0">
              <a:spcBef>
                <a:spcPct val="0"/>
              </a:spcBef>
              <a:spcAft>
                <a:spcPct val="0"/>
              </a:spcAft>
              <a:defRPr sz="2400">
                <a:solidFill>
                  <a:schemeClr val="tx1"/>
                </a:solidFill>
                <a:latin typeface="Arial" pitchFamily="34" charset="0"/>
              </a:defRPr>
            </a:lvl7pPr>
            <a:lvl8pPr marL="3429000" indent="-228600" eaLnBrk="0" fontAlgn="base" hangingPunct="0">
              <a:spcBef>
                <a:spcPct val="0"/>
              </a:spcBef>
              <a:spcAft>
                <a:spcPct val="0"/>
              </a:spcAft>
              <a:defRPr sz="2400">
                <a:solidFill>
                  <a:schemeClr val="tx1"/>
                </a:solidFill>
                <a:latin typeface="Arial" pitchFamily="34" charset="0"/>
              </a:defRPr>
            </a:lvl8pPr>
            <a:lvl9pPr marL="3886200" indent="-228600" eaLnBrk="0" fontAlgn="base" hangingPunct="0">
              <a:spcBef>
                <a:spcPct val="0"/>
              </a:spcBef>
              <a:spcAft>
                <a:spcPct val="0"/>
              </a:spcAft>
              <a:defRPr sz="2400">
                <a:solidFill>
                  <a:schemeClr val="tx1"/>
                </a:solidFill>
                <a:latin typeface="Arial" pitchFamily="34" charset="0"/>
              </a:defRPr>
            </a:lvl9pPr>
          </a:lstStyle>
          <a:p>
            <a:pPr eaLnBrk="1" hangingPunct="1">
              <a:spcBef>
                <a:spcPct val="50000"/>
              </a:spcBef>
              <a:defRPr/>
            </a:pPr>
            <a:r>
              <a:rPr lang="de-DE" sz="1600">
                <a:solidFill>
                  <a:srgbClr val="FFFF66"/>
                </a:solidFill>
                <a:cs typeface="Arial" pitchFamily="34" charset="0"/>
              </a:rPr>
              <a:t>Database Systems </a:t>
            </a:r>
            <a:endParaRPr lang="de-DE" sz="1600">
              <a:solidFill>
                <a:srgbClr val="FFFF66"/>
              </a:solidFill>
            </a:endParaRPr>
          </a:p>
        </p:txBody>
      </p:sp>
      <p:sp>
        <p:nvSpPr>
          <p:cNvPr id="1032" name="Rectangle 12">
            <a:extLst>
              <a:ext uri="{FF2B5EF4-FFF2-40B4-BE49-F238E27FC236}">
                <a16:creationId xmlns:a16="http://schemas.microsoft.com/office/drawing/2014/main" id="{0513C63B-FE6D-E3DF-25CA-DEB2D7A2F7AC}"/>
              </a:ext>
            </a:extLst>
          </p:cNvPr>
          <p:cNvSpPr>
            <a:spLocks noChangeArrowheads="1"/>
          </p:cNvSpPr>
          <p:nvPr userDrawn="1"/>
        </p:nvSpPr>
        <p:spPr bwMode="auto">
          <a:xfrm>
            <a:off x="7596188" y="6640513"/>
            <a:ext cx="1905000"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r>
              <a:rPr lang="de-DE" altLang="en-US" sz="1000"/>
              <a:t>Slide </a:t>
            </a:r>
            <a:fld id="{3FBAF471-8467-49E3-B35C-BB4CAE2E1B27}" type="slidenum">
              <a:rPr lang="de-DE" altLang="en-US" sz="1000"/>
              <a:pPr algn="ctr" eaLnBrk="1" hangingPunct="1"/>
              <a:t>‹#›</a:t>
            </a:fld>
            <a:endParaRPr lang="de-DE" altLang="en-US" sz="100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Arial" charset="0"/>
        </a:defRPr>
      </a:lvl2pPr>
      <a:lvl3pPr algn="l" rtl="0" eaLnBrk="0" fontAlgn="base" hangingPunct="0">
        <a:spcBef>
          <a:spcPct val="0"/>
        </a:spcBef>
        <a:spcAft>
          <a:spcPct val="0"/>
        </a:spcAft>
        <a:defRPr sz="4000">
          <a:solidFill>
            <a:schemeClr val="tx2"/>
          </a:solidFill>
          <a:latin typeface="Arial" charset="0"/>
        </a:defRPr>
      </a:lvl3pPr>
      <a:lvl4pPr algn="l" rtl="0" eaLnBrk="0" fontAlgn="base" hangingPunct="0">
        <a:spcBef>
          <a:spcPct val="0"/>
        </a:spcBef>
        <a:spcAft>
          <a:spcPct val="0"/>
        </a:spcAft>
        <a:defRPr sz="4000">
          <a:solidFill>
            <a:schemeClr val="tx2"/>
          </a:solidFill>
          <a:latin typeface="Arial" charset="0"/>
        </a:defRPr>
      </a:lvl4pPr>
      <a:lvl5pPr algn="l" rtl="0" eaLnBrk="0" fontAlgn="base" hangingPunct="0">
        <a:spcBef>
          <a:spcPct val="0"/>
        </a:spcBef>
        <a:spcAft>
          <a:spcPct val="0"/>
        </a:spcAft>
        <a:defRPr sz="4000">
          <a:solidFill>
            <a:schemeClr val="tx2"/>
          </a:solidFill>
          <a:latin typeface="Arial" charset="0"/>
        </a:defRPr>
      </a:lvl5pPr>
      <a:lvl6pPr marL="457200" algn="l" rtl="0" fontAlgn="base">
        <a:spcBef>
          <a:spcPct val="0"/>
        </a:spcBef>
        <a:spcAft>
          <a:spcPct val="0"/>
        </a:spcAft>
        <a:defRPr sz="4000">
          <a:solidFill>
            <a:schemeClr val="tx2"/>
          </a:solidFill>
          <a:latin typeface="Arial" charset="0"/>
        </a:defRPr>
      </a:lvl6pPr>
      <a:lvl7pPr marL="914400" algn="l" rtl="0" fontAlgn="base">
        <a:spcBef>
          <a:spcPct val="0"/>
        </a:spcBef>
        <a:spcAft>
          <a:spcPct val="0"/>
        </a:spcAft>
        <a:defRPr sz="4000">
          <a:solidFill>
            <a:schemeClr val="tx2"/>
          </a:solidFill>
          <a:latin typeface="Arial" charset="0"/>
        </a:defRPr>
      </a:lvl7pPr>
      <a:lvl8pPr marL="1371600" algn="l" rtl="0" fontAlgn="base">
        <a:spcBef>
          <a:spcPct val="0"/>
        </a:spcBef>
        <a:spcAft>
          <a:spcPct val="0"/>
        </a:spcAft>
        <a:defRPr sz="4000">
          <a:solidFill>
            <a:schemeClr val="tx2"/>
          </a:solidFill>
          <a:latin typeface="Arial" charset="0"/>
        </a:defRPr>
      </a:lvl8pPr>
      <a:lvl9pPr marL="1828800" algn="l"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a:solidFill>
            <a:schemeClr val="tx1"/>
          </a:solidFill>
          <a:latin typeface="+mn-lt"/>
        </a:defRPr>
      </a:lvl6pPr>
      <a:lvl7pPr marL="2971800" indent="-228600" algn="l" rtl="0" fontAlgn="base">
        <a:spcBef>
          <a:spcPct val="20000"/>
        </a:spcBef>
        <a:spcAft>
          <a:spcPct val="0"/>
        </a:spcAft>
        <a:buChar char="»"/>
        <a:defRPr>
          <a:solidFill>
            <a:schemeClr val="tx1"/>
          </a:solidFill>
          <a:latin typeface="+mn-lt"/>
        </a:defRPr>
      </a:lvl7pPr>
      <a:lvl8pPr marL="3429000" indent="-228600" algn="l" rtl="0" fontAlgn="base">
        <a:spcBef>
          <a:spcPct val="20000"/>
        </a:spcBef>
        <a:spcAft>
          <a:spcPct val="0"/>
        </a:spcAft>
        <a:buChar char="»"/>
        <a:defRPr>
          <a:solidFill>
            <a:schemeClr val="tx1"/>
          </a:solidFill>
          <a:latin typeface="+mn-lt"/>
        </a:defRPr>
      </a:lvl8pPr>
      <a:lvl9pPr marL="3886200" indent="-228600" algn="l" rtl="0" fontAlgn="base">
        <a:spcBef>
          <a:spcPct val="20000"/>
        </a:spcBef>
        <a:spcAft>
          <a:spcPct val="0"/>
        </a:spcAft>
        <a:buChar char="»"/>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B9325AD-63AC-7191-3EA4-502BB93C6616}"/>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useBgFill="1">
        <p:nvSpPr>
          <p:cNvPr id="8" name="Rounded Rectangle 7">
            <a:extLst>
              <a:ext uri="{FF2B5EF4-FFF2-40B4-BE49-F238E27FC236}">
                <a16:creationId xmlns:a16="http://schemas.microsoft.com/office/drawing/2014/main" id="{134A59EF-318D-F794-085F-76DDB08FF809}"/>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076" name="Title Placeholder 21">
            <a:extLst>
              <a:ext uri="{FF2B5EF4-FFF2-40B4-BE49-F238E27FC236}">
                <a16:creationId xmlns:a16="http://schemas.microsoft.com/office/drawing/2014/main" id="{92180755-DED9-5C5E-3E74-58D9AB09F394}"/>
              </a:ext>
            </a:extLst>
          </p:cNvPr>
          <p:cNvSpPr>
            <a:spLocks noGrp="1" noChangeArrowheads="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US"/>
              <a:t>Click to edit Master title style</a:t>
            </a:r>
          </a:p>
        </p:txBody>
      </p:sp>
      <p:sp>
        <p:nvSpPr>
          <p:cNvPr id="3077" name="Text Placeholder 12">
            <a:extLst>
              <a:ext uri="{FF2B5EF4-FFF2-40B4-BE49-F238E27FC236}">
                <a16:creationId xmlns:a16="http://schemas.microsoft.com/office/drawing/2014/main" id="{ACEEDB54-C0EC-E656-65BA-77A3B3137C70}"/>
              </a:ext>
            </a:extLst>
          </p:cNvPr>
          <p:cNvSpPr>
            <a:spLocks noGrp="1" noChangeArrowheads="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C30A4B39-D45E-6E87-AB9B-C3D136C9182D}"/>
              </a:ext>
            </a:extLst>
          </p:cNvPr>
          <p:cNvSpPr>
            <a:spLocks noGrp="1"/>
          </p:cNvSpPr>
          <p:nvPr>
            <p:ph type="dt" sz="half" idx="2"/>
          </p:nvPr>
        </p:nvSpPr>
        <p:spPr>
          <a:xfrm>
            <a:off x="6172200" y="6191250"/>
            <a:ext cx="2476500" cy="476250"/>
          </a:xfrm>
          <a:prstGeom prst="rect">
            <a:avLst/>
          </a:prstGeom>
        </p:spPr>
        <p:txBody>
          <a:bodyPr anchor="ctr" anchorCtr="0"/>
          <a:lstStyle>
            <a:lvl1pPr algn="r" eaLnBrk="1" fontAlgn="auto" latinLnBrk="0" hangingPunct="1">
              <a:spcBef>
                <a:spcPts val="0"/>
              </a:spcBef>
              <a:spcAft>
                <a:spcPts val="0"/>
              </a:spcAft>
              <a:defRPr kumimoji="0" sz="1400">
                <a:solidFill>
                  <a:schemeClr val="tx2"/>
                </a:solidFill>
                <a:latin typeface="+mn-lt"/>
                <a:cs typeface="+mn-cs"/>
              </a:defRPr>
            </a:lvl1pPr>
          </a:lstStyle>
          <a:p>
            <a:pPr>
              <a:defRPr/>
            </a:pPr>
            <a:fld id="{99F46A9E-D93A-4070-8EC6-4ADC3D98B195}" type="datetime1">
              <a:rPr lang="en-US"/>
              <a:pPr>
                <a:defRPr/>
              </a:pPr>
              <a:t>12/29/2024</a:t>
            </a:fld>
            <a:endParaRPr lang="en-US" dirty="0"/>
          </a:p>
        </p:txBody>
      </p:sp>
      <p:sp>
        <p:nvSpPr>
          <p:cNvPr id="3" name="Footer Placeholder 2">
            <a:extLst>
              <a:ext uri="{FF2B5EF4-FFF2-40B4-BE49-F238E27FC236}">
                <a16:creationId xmlns:a16="http://schemas.microsoft.com/office/drawing/2014/main" id="{10E22853-FCCC-34E7-6A1B-4DBAEBA4AED0}"/>
              </a:ext>
            </a:extLst>
          </p:cNvPr>
          <p:cNvSpPr>
            <a:spLocks noGrp="1"/>
          </p:cNvSpPr>
          <p:nvPr>
            <p:ph type="ftr" sz="quarter" idx="3"/>
          </p:nvPr>
        </p:nvSpPr>
        <p:spPr>
          <a:xfrm>
            <a:off x="914400" y="6172200"/>
            <a:ext cx="4876800" cy="457200"/>
          </a:xfrm>
          <a:prstGeom prst="rect">
            <a:avLst/>
          </a:prstGeom>
        </p:spPr>
        <p:txBody>
          <a:bodyPr anchor="ctr" anchorCtr="0"/>
          <a:lstStyle>
            <a:lvl1pPr eaLnBrk="1" fontAlgn="auto" latinLnBrk="0" hangingPunct="1">
              <a:spcBef>
                <a:spcPts val="0"/>
              </a:spcBef>
              <a:spcAft>
                <a:spcPts val="0"/>
              </a:spcAft>
              <a:defRPr kumimoji="0" sz="1400">
                <a:solidFill>
                  <a:schemeClr val="tx2"/>
                </a:solidFill>
                <a:latin typeface="+mn-lt"/>
                <a:cs typeface="+mn-cs"/>
              </a:defRPr>
            </a:lvl1pPr>
          </a:lstStyle>
          <a:p>
            <a:pPr>
              <a:defRPr/>
            </a:pPr>
            <a:r>
              <a:rPr lang="en-US"/>
              <a:t>Autonomous Robots -- Dr. Zawar Qayyum, 2010</a:t>
            </a:r>
          </a:p>
        </p:txBody>
      </p:sp>
      <p:sp>
        <p:nvSpPr>
          <p:cNvPr id="23" name="Slide Number Placeholder 22">
            <a:extLst>
              <a:ext uri="{FF2B5EF4-FFF2-40B4-BE49-F238E27FC236}">
                <a16:creationId xmlns:a16="http://schemas.microsoft.com/office/drawing/2014/main" id="{401B6903-5E70-8998-5728-5AE139D7032B}"/>
              </a:ext>
            </a:extLst>
          </p:cNvPr>
          <p:cNvSpPr>
            <a:spLocks noGrp="1"/>
          </p:cNvSpPr>
          <p:nvPr>
            <p:ph type="sldNum" sz="quarter" idx="4"/>
          </p:nvPr>
        </p:nvSpPr>
        <p:spPr>
          <a:xfrm>
            <a:off x="146050" y="6210300"/>
            <a:ext cx="457200" cy="457200"/>
          </a:xfrm>
          <a:prstGeom prst="ellipse">
            <a:avLst/>
          </a:prstGeom>
          <a:solidFill>
            <a:schemeClr val="accent1"/>
          </a:solidFill>
        </p:spPr>
        <p:txBody>
          <a:bodyPr wrap="none" lIns="0" tIns="0" rIns="0" bIns="0" anchor="ctr" anchorCtr="1">
            <a:noAutofit/>
          </a:bodyPr>
          <a:lstStyle>
            <a:lvl1pPr algn="ctr" eaLnBrk="1" fontAlgn="auto" latinLnBrk="0" hangingPunct="1">
              <a:spcBef>
                <a:spcPts val="0"/>
              </a:spcBef>
              <a:spcAft>
                <a:spcPts val="0"/>
              </a:spcAft>
              <a:defRPr kumimoji="0" sz="1400">
                <a:solidFill>
                  <a:srgbClr val="FFFFFF"/>
                </a:solidFill>
                <a:latin typeface="+mj-lt"/>
                <a:ea typeface="+mj-ea"/>
                <a:cs typeface="+mj-cs"/>
              </a:defRPr>
            </a:lvl1pPr>
          </a:lstStyle>
          <a:p>
            <a:pPr>
              <a:defRPr/>
            </a:pPr>
            <a:fld id="{EA6BAC30-25F7-4B4D-96C6-5B82F2D855D3}" type="slidenum">
              <a:rPr lang="en-US"/>
              <a:pPr>
                <a:defRPr/>
              </a:pPr>
              <a:t>‹#›</a:t>
            </a:fld>
            <a:endParaRPr lang="en-US" dirty="0"/>
          </a:p>
        </p:txBody>
      </p:sp>
    </p:spTree>
    <p:extLst>
      <p:ext uri="{BB962C8B-B14F-4D97-AF65-F5344CB8AC3E}">
        <p14:creationId xmlns:p14="http://schemas.microsoft.com/office/powerpoint/2010/main" val="103738223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hdr="0" dt="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a:defRPr>
      </a:lvl2pPr>
      <a:lvl3pPr algn="l" rtl="0" eaLnBrk="0" fontAlgn="base" hangingPunct="0">
        <a:spcBef>
          <a:spcPct val="0"/>
        </a:spcBef>
        <a:spcAft>
          <a:spcPct val="0"/>
        </a:spcAft>
        <a:defRPr sz="4000">
          <a:solidFill>
            <a:schemeClr val="tx2"/>
          </a:solidFill>
          <a:latin typeface="Franklin Gothic Book"/>
        </a:defRPr>
      </a:lvl3pPr>
      <a:lvl4pPr algn="l" rtl="0" eaLnBrk="0" fontAlgn="base" hangingPunct="0">
        <a:spcBef>
          <a:spcPct val="0"/>
        </a:spcBef>
        <a:spcAft>
          <a:spcPct val="0"/>
        </a:spcAft>
        <a:defRPr sz="4000">
          <a:solidFill>
            <a:schemeClr val="tx2"/>
          </a:solidFill>
          <a:latin typeface="Franklin Gothic Book"/>
        </a:defRPr>
      </a:lvl4pPr>
      <a:lvl5pPr algn="l" rtl="0" eaLnBrk="0" fontAlgn="base" hangingPunct="0">
        <a:spcBef>
          <a:spcPct val="0"/>
        </a:spcBef>
        <a:spcAft>
          <a:spcPct val="0"/>
        </a:spcAft>
        <a:defRPr sz="4000">
          <a:solidFill>
            <a:schemeClr val="tx2"/>
          </a:solidFill>
          <a:latin typeface="Franklin Gothic Book"/>
        </a:defRPr>
      </a:lvl5pPr>
      <a:lvl6pPr marL="457200" algn="l" rtl="0" fontAlgn="base">
        <a:spcBef>
          <a:spcPct val="0"/>
        </a:spcBef>
        <a:spcAft>
          <a:spcPct val="0"/>
        </a:spcAft>
        <a:defRPr sz="4000">
          <a:solidFill>
            <a:schemeClr val="tx2"/>
          </a:solidFill>
          <a:latin typeface="Franklin Gothic Book"/>
        </a:defRPr>
      </a:lvl6pPr>
      <a:lvl7pPr marL="914400" algn="l" rtl="0" fontAlgn="base">
        <a:spcBef>
          <a:spcPct val="0"/>
        </a:spcBef>
        <a:spcAft>
          <a:spcPct val="0"/>
        </a:spcAft>
        <a:defRPr sz="4000">
          <a:solidFill>
            <a:schemeClr val="tx2"/>
          </a:solidFill>
          <a:latin typeface="Franklin Gothic Book"/>
        </a:defRPr>
      </a:lvl7pPr>
      <a:lvl8pPr marL="1371600" algn="l" rtl="0" fontAlgn="base">
        <a:spcBef>
          <a:spcPct val="0"/>
        </a:spcBef>
        <a:spcAft>
          <a:spcPct val="0"/>
        </a:spcAft>
        <a:defRPr sz="4000">
          <a:solidFill>
            <a:schemeClr val="tx2"/>
          </a:solidFill>
          <a:latin typeface="Franklin Gothic Book"/>
        </a:defRPr>
      </a:lvl8pPr>
      <a:lvl9pPr marL="1828800" algn="l" rtl="0" fontAlgn="base">
        <a:spcBef>
          <a:spcPct val="0"/>
        </a:spcBef>
        <a:spcAft>
          <a:spcPct val="0"/>
        </a:spcAft>
        <a:defRPr sz="4000">
          <a:solidFill>
            <a:schemeClr val="tx2"/>
          </a:solidFill>
          <a:latin typeface="Franklin Gothic Book"/>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w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8DA6EFB7-48B9-EB4B-B792-C60846BDE28D}"/>
              </a:ext>
            </a:extLst>
          </p:cNvPr>
          <p:cNvSpPr>
            <a:spLocks noGrp="1" noChangeArrowheads="1"/>
          </p:cNvSpPr>
          <p:nvPr>
            <p:ph type="ctrTitle"/>
          </p:nvPr>
        </p:nvSpPr>
        <p:spPr>
          <a:xfrm>
            <a:off x="790575" y="1557338"/>
            <a:ext cx="7669213" cy="2087562"/>
          </a:xfrm>
          <a:solidFill>
            <a:srgbClr val="FFFFCC">
              <a:alpha val="20000"/>
            </a:srgbClr>
          </a:solidFill>
          <a:ln w="38100">
            <a:solidFill>
              <a:srgbClr val="800000"/>
            </a:solidFill>
            <a:miter lim="800000"/>
            <a:headEnd/>
            <a:tailEnd/>
          </a:ln>
        </p:spPr>
        <p:txBody>
          <a:bodyPr/>
          <a:lstStyle/>
          <a:p>
            <a:pPr algn="ctr" eaLnBrk="1" hangingPunct="1">
              <a:lnSpc>
                <a:spcPct val="150000"/>
              </a:lnSpc>
            </a:pPr>
            <a:r>
              <a:rPr lang="en-US" altLang="en-US" sz="3200" b="1" u="sng" dirty="0">
                <a:solidFill>
                  <a:srgbClr val="800000"/>
                </a:solidFill>
              </a:rPr>
              <a:t>Unit - 11</a:t>
            </a:r>
            <a:br>
              <a:rPr lang="en-US" altLang="en-US" sz="3200" b="1" dirty="0">
                <a:solidFill>
                  <a:srgbClr val="800000"/>
                </a:solidFill>
              </a:rPr>
            </a:br>
            <a:r>
              <a:rPr lang="en-US" altLang="en-US" sz="3200" b="1" dirty="0">
                <a:solidFill>
                  <a:schemeClr val="accent6"/>
                </a:solidFill>
              </a:rPr>
              <a:t>Database Design</a:t>
            </a:r>
            <a:endParaRPr lang="de-AT" altLang="en-US" sz="1400" dirty="0">
              <a:solidFill>
                <a:schemeClr val="accent2"/>
              </a:solidFill>
            </a:endParaRPr>
          </a:p>
        </p:txBody>
      </p:sp>
      <p:pic>
        <p:nvPicPr>
          <p:cNvPr id="2052" name="Picture 9">
            <a:extLst>
              <a:ext uri="{FF2B5EF4-FFF2-40B4-BE49-F238E27FC236}">
                <a16:creationId xmlns:a16="http://schemas.microsoft.com/office/drawing/2014/main" id="{8B7B5804-ACF1-7756-86E1-11CE795E98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Picture 11">
            <a:extLst>
              <a:ext uri="{FF2B5EF4-FFF2-40B4-BE49-F238E27FC236}">
                <a16:creationId xmlns:a16="http://schemas.microsoft.com/office/drawing/2014/main" id="{5BC0A8DD-0785-E955-EF0C-0FFED0551F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038" y="0"/>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286A1C24-1095-B28A-1DD7-A4FDB23D0394}"/>
              </a:ext>
            </a:extLst>
          </p:cNvPr>
          <p:cNvSpPr txBox="1">
            <a:spLocks noChangeArrowheads="1"/>
          </p:cNvSpPr>
          <p:nvPr/>
        </p:nvSpPr>
        <p:spPr bwMode="auto">
          <a:xfrm>
            <a:off x="790575" y="3860899"/>
            <a:ext cx="7669213" cy="1584325"/>
          </a:xfrm>
          <a:prstGeom prst="rect">
            <a:avLst/>
          </a:prstGeom>
          <a:solidFill>
            <a:srgbClr val="FFFFCC">
              <a:alpha val="20000"/>
            </a:srgbClr>
          </a:solidFill>
          <a:ln w="38100" cap="flat" algn="ctr">
            <a:solidFill>
              <a:srgbClr val="800000"/>
            </a:solidFill>
            <a:miter lim="800000"/>
            <a:headEnd/>
            <a:tailEnd/>
          </a:ln>
        </p:spPr>
        <p:txBody>
          <a:bodyPr anchor="ctr"/>
          <a:lstStyle>
            <a:lvl1pPr marL="0" indent="0" algn="ctr" rtl="0" eaLnBrk="0" fontAlgn="base" hangingPunct="0">
              <a:spcBef>
                <a:spcPct val="20000"/>
              </a:spcBef>
              <a:spcAft>
                <a:spcPct val="0"/>
              </a:spcAft>
              <a:buNone/>
              <a:defRPr sz="2800">
                <a:solidFill>
                  <a:schemeClr val="tx1"/>
                </a:solidFill>
                <a:latin typeface="+mn-lt"/>
                <a:ea typeface="+mn-ea"/>
                <a:cs typeface="+mn-cs"/>
              </a:defRPr>
            </a:lvl1pPr>
            <a:lvl2pPr marL="457200" indent="0" algn="ctr" rtl="0" eaLnBrk="0" fontAlgn="base" hangingPunct="0">
              <a:spcBef>
                <a:spcPct val="20000"/>
              </a:spcBef>
              <a:spcAft>
                <a:spcPct val="0"/>
              </a:spcAft>
              <a:buNone/>
              <a:defRPr sz="2400">
                <a:solidFill>
                  <a:schemeClr val="tx1"/>
                </a:solidFill>
                <a:latin typeface="+mn-lt"/>
              </a:defRPr>
            </a:lvl2pPr>
            <a:lvl3pPr marL="914400" indent="0" algn="ctr" rtl="0" eaLnBrk="0" fontAlgn="base" hangingPunct="0">
              <a:spcBef>
                <a:spcPct val="20000"/>
              </a:spcBef>
              <a:spcAft>
                <a:spcPct val="0"/>
              </a:spcAft>
              <a:buNone/>
              <a:defRPr sz="2000">
                <a:solidFill>
                  <a:schemeClr val="tx1"/>
                </a:solidFill>
                <a:latin typeface="+mn-lt"/>
              </a:defRPr>
            </a:lvl3pPr>
            <a:lvl4pPr marL="1371600" indent="0" algn="ctr" rtl="0" eaLnBrk="0" fontAlgn="base" hangingPunct="0">
              <a:spcBef>
                <a:spcPct val="20000"/>
              </a:spcBef>
              <a:spcAft>
                <a:spcPct val="0"/>
              </a:spcAft>
              <a:buNone/>
              <a:defRPr sz="2000">
                <a:solidFill>
                  <a:schemeClr val="tx1"/>
                </a:solidFill>
                <a:latin typeface="+mn-lt"/>
              </a:defRPr>
            </a:lvl4pPr>
            <a:lvl5pPr marL="1828800" indent="0" algn="ctr" rtl="0" eaLnBrk="0" fontAlgn="base" hangingPunct="0">
              <a:spcBef>
                <a:spcPct val="20000"/>
              </a:spcBef>
              <a:spcAft>
                <a:spcPct val="0"/>
              </a:spcAft>
              <a:buNone/>
              <a:defRPr sz="2000">
                <a:solidFill>
                  <a:schemeClr val="tx1"/>
                </a:solidFill>
                <a:latin typeface="+mn-lt"/>
              </a:defRPr>
            </a:lvl5pPr>
            <a:lvl6pPr marL="2286000" indent="0" algn="ctr" rtl="0" fontAlgn="base">
              <a:spcBef>
                <a:spcPct val="20000"/>
              </a:spcBef>
              <a:spcAft>
                <a:spcPct val="0"/>
              </a:spcAft>
              <a:buNone/>
              <a:defRPr>
                <a:solidFill>
                  <a:schemeClr val="tx1"/>
                </a:solidFill>
                <a:latin typeface="+mn-lt"/>
              </a:defRPr>
            </a:lvl6pPr>
            <a:lvl7pPr marL="2743200" indent="0" algn="ctr" rtl="0" fontAlgn="base">
              <a:spcBef>
                <a:spcPct val="20000"/>
              </a:spcBef>
              <a:spcAft>
                <a:spcPct val="0"/>
              </a:spcAft>
              <a:buNone/>
              <a:defRPr>
                <a:solidFill>
                  <a:schemeClr val="tx1"/>
                </a:solidFill>
                <a:latin typeface="+mn-lt"/>
              </a:defRPr>
            </a:lvl7pPr>
            <a:lvl8pPr marL="3200400" indent="0" algn="ctr" rtl="0" fontAlgn="base">
              <a:spcBef>
                <a:spcPct val="20000"/>
              </a:spcBef>
              <a:spcAft>
                <a:spcPct val="0"/>
              </a:spcAft>
              <a:buNone/>
              <a:defRPr>
                <a:solidFill>
                  <a:schemeClr val="tx1"/>
                </a:solidFill>
                <a:latin typeface="+mn-lt"/>
              </a:defRPr>
            </a:lvl8pPr>
            <a:lvl9pPr marL="3657600" indent="0" algn="ctr" rtl="0" fontAlgn="base">
              <a:spcBef>
                <a:spcPct val="20000"/>
              </a:spcBef>
              <a:spcAft>
                <a:spcPct val="0"/>
              </a:spcAft>
              <a:buNone/>
              <a:defRPr>
                <a:solidFill>
                  <a:schemeClr val="tx1"/>
                </a:solidFill>
                <a:latin typeface="+mn-lt"/>
              </a:defRPr>
            </a:lvl9pPr>
          </a:lstStyle>
          <a:p>
            <a:pPr eaLnBrk="1" hangingPunct="1">
              <a:lnSpc>
                <a:spcPct val="80000"/>
              </a:lnSpc>
              <a:spcBef>
                <a:spcPct val="0"/>
              </a:spcBef>
              <a:defRPr/>
            </a:pPr>
            <a:endParaRPr lang="en-US" altLang="en-US" sz="2400" b="1" kern="0" dirty="0">
              <a:solidFill>
                <a:schemeClr val="accent2"/>
              </a:solidFill>
            </a:endParaRPr>
          </a:p>
          <a:p>
            <a:pPr eaLnBrk="1" hangingPunct="1">
              <a:lnSpc>
                <a:spcPct val="80000"/>
              </a:lnSpc>
              <a:spcBef>
                <a:spcPct val="0"/>
              </a:spcBef>
              <a:defRPr/>
            </a:pPr>
            <a:r>
              <a:rPr lang="en-US" altLang="en-US" sz="3200" kern="0" dirty="0">
                <a:solidFill>
                  <a:srgbClr val="800000"/>
                </a:solidFill>
              </a:rPr>
              <a:t>Dr. Asif Sohail</a:t>
            </a:r>
            <a:r>
              <a:rPr lang="en-US" altLang="en-US" sz="3200" kern="0" dirty="0">
                <a:solidFill>
                  <a:schemeClr val="folHlink"/>
                </a:solidFill>
              </a:rPr>
              <a:t> </a:t>
            </a:r>
            <a:br>
              <a:rPr lang="en-US" altLang="en-US" sz="3200" b="1" kern="0" dirty="0">
                <a:solidFill>
                  <a:schemeClr val="folHlink"/>
                </a:solidFill>
              </a:rPr>
            </a:br>
            <a:br>
              <a:rPr lang="en-US" altLang="en-US" sz="3200" b="1" kern="0" dirty="0"/>
            </a:br>
            <a:r>
              <a:rPr lang="en-US" altLang="en-US" sz="1800" b="1" kern="0" dirty="0"/>
              <a:t>University of the Punjab</a:t>
            </a:r>
          </a:p>
          <a:p>
            <a:pPr eaLnBrk="1" hangingPunct="1">
              <a:lnSpc>
                <a:spcPct val="80000"/>
              </a:lnSpc>
              <a:spcBef>
                <a:spcPct val="0"/>
              </a:spcBef>
              <a:defRPr/>
            </a:pPr>
            <a:r>
              <a:rPr lang="en-US" altLang="en-US" sz="1800" b="1" kern="0" dirty="0">
                <a:solidFill>
                  <a:schemeClr val="accent2"/>
                </a:solidFill>
              </a:rPr>
              <a:t>Department of Information Technology, FCIT</a:t>
            </a:r>
            <a:endParaRPr lang="de-AT" altLang="en-US" sz="1800" b="1" kern="0" dirty="0">
              <a:solidFill>
                <a:schemeClr val="accen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A2BF5783-8DD9-B7BC-9E4F-594F6EAC093B}"/>
              </a:ext>
            </a:extLst>
          </p:cNvPr>
          <p:cNvSpPr>
            <a:spLocks noGrp="1" noChangeArrowheads="1"/>
          </p:cNvSpPr>
          <p:nvPr>
            <p:ph type="title"/>
          </p:nvPr>
        </p:nvSpPr>
        <p:spPr>
          <a:xfrm>
            <a:off x="417513" y="692150"/>
            <a:ext cx="3290887" cy="381000"/>
          </a:xfrm>
        </p:spPr>
        <p:txBody>
          <a:bodyPr/>
          <a:lstStyle/>
          <a:p>
            <a:r>
              <a:rPr lang="en-US" altLang="en-US" sz="2800" b="1">
                <a:solidFill>
                  <a:srgbClr val="800000"/>
                </a:solidFill>
              </a:rPr>
              <a:t>Database Design</a:t>
            </a:r>
          </a:p>
        </p:txBody>
      </p:sp>
      <p:sp>
        <p:nvSpPr>
          <p:cNvPr id="3075" name="Rectangle 3">
            <a:extLst>
              <a:ext uri="{FF2B5EF4-FFF2-40B4-BE49-F238E27FC236}">
                <a16:creationId xmlns:a16="http://schemas.microsoft.com/office/drawing/2014/main" id="{ED2C8469-2CFE-71BC-19D2-FCA0F66C1BE3}"/>
              </a:ext>
            </a:extLst>
          </p:cNvPr>
          <p:cNvSpPr>
            <a:spLocks noGrp="1" noChangeArrowheads="1"/>
          </p:cNvSpPr>
          <p:nvPr>
            <p:ph type="body" idx="1"/>
          </p:nvPr>
        </p:nvSpPr>
        <p:spPr>
          <a:xfrm>
            <a:off x="334963" y="1196975"/>
            <a:ext cx="8413750" cy="5024438"/>
          </a:xfrm>
        </p:spPr>
        <p:txBody>
          <a:bodyPr/>
          <a:lstStyle/>
          <a:p>
            <a:pPr marL="341313" indent="-341313" algn="just"/>
            <a:r>
              <a:rPr lang="en-US" altLang="en-US" sz="3600">
                <a:latin typeface="Calibri" panose="020F0502020204030204" pitchFamily="34" charset="0"/>
              </a:rPr>
              <a:t>It is a process of creating a design that will support the organization’s objectives for the required database system.</a:t>
            </a:r>
          </a:p>
          <a:p>
            <a:pPr marL="341313" indent="-341313" algn="just"/>
            <a:r>
              <a:rPr lang="en-US" altLang="en-US" sz="3600">
                <a:latin typeface="Calibri" panose="020F0502020204030204" pitchFamily="34" charset="0"/>
              </a:rPr>
              <a:t>There are two main approaches to database design:</a:t>
            </a:r>
          </a:p>
          <a:p>
            <a:pPr marL="804863" lvl="1" indent="-404813" algn="just">
              <a:buFontTx/>
              <a:buAutoNum type="alphaLcParenR"/>
            </a:pPr>
            <a:r>
              <a:rPr lang="en-US" altLang="en-US" sz="3200">
                <a:solidFill>
                  <a:schemeClr val="accent2"/>
                </a:solidFill>
                <a:latin typeface="Calibri" panose="020F0502020204030204" pitchFamily="34" charset="0"/>
              </a:rPr>
              <a:t>Bottom-up Approach</a:t>
            </a:r>
          </a:p>
          <a:p>
            <a:pPr marL="804863" lvl="1" indent="-404813" algn="just">
              <a:buFontTx/>
              <a:buAutoNum type="alphaLcParenR"/>
            </a:pPr>
            <a:r>
              <a:rPr lang="en-US" altLang="en-US" sz="3200">
                <a:solidFill>
                  <a:schemeClr val="accent2"/>
                </a:solidFill>
                <a:latin typeface="Calibri" panose="020F0502020204030204" pitchFamily="34" charset="0"/>
              </a:rPr>
              <a:t>Top-down Approach</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8F4CC38D-9B17-261C-65BF-2F823AF239F6}"/>
              </a:ext>
            </a:extLst>
          </p:cNvPr>
          <p:cNvSpPr>
            <a:spLocks noGrp="1" noChangeArrowheads="1"/>
          </p:cNvSpPr>
          <p:nvPr>
            <p:ph type="title"/>
          </p:nvPr>
        </p:nvSpPr>
        <p:spPr>
          <a:xfrm>
            <a:off x="417513" y="692150"/>
            <a:ext cx="6962775" cy="381000"/>
          </a:xfrm>
        </p:spPr>
        <p:txBody>
          <a:bodyPr/>
          <a:lstStyle/>
          <a:p>
            <a:r>
              <a:rPr lang="en-US" altLang="en-US" sz="2800" b="1">
                <a:solidFill>
                  <a:srgbClr val="800000"/>
                </a:solidFill>
              </a:rPr>
              <a:t>Bottom-up Approach </a:t>
            </a:r>
            <a:r>
              <a:rPr lang="en-US" altLang="en-US" sz="2800">
                <a:solidFill>
                  <a:schemeClr val="accent2"/>
                </a:solidFill>
                <a:latin typeface="Calibri" panose="020F0502020204030204" pitchFamily="34" charset="0"/>
              </a:rPr>
              <a:t>(design by synthesis)</a:t>
            </a:r>
            <a:endParaRPr lang="en-US" altLang="en-US" sz="2800" b="1">
              <a:solidFill>
                <a:srgbClr val="800000"/>
              </a:solidFill>
            </a:endParaRPr>
          </a:p>
        </p:txBody>
      </p:sp>
      <p:sp>
        <p:nvSpPr>
          <p:cNvPr id="4099" name="Rectangle 3">
            <a:extLst>
              <a:ext uri="{FF2B5EF4-FFF2-40B4-BE49-F238E27FC236}">
                <a16:creationId xmlns:a16="http://schemas.microsoft.com/office/drawing/2014/main" id="{FAA9FD3D-2B52-F1A5-FCBD-462188D1101D}"/>
              </a:ext>
            </a:extLst>
          </p:cNvPr>
          <p:cNvSpPr>
            <a:spLocks noGrp="1" noChangeArrowheads="1"/>
          </p:cNvSpPr>
          <p:nvPr>
            <p:ph type="body" idx="1"/>
          </p:nvPr>
        </p:nvSpPr>
        <p:spPr>
          <a:xfrm>
            <a:off x="395288" y="1196975"/>
            <a:ext cx="8424862" cy="5024438"/>
          </a:xfrm>
        </p:spPr>
        <p:txBody>
          <a:bodyPr/>
          <a:lstStyle/>
          <a:p>
            <a:pPr marL="341313" indent="-341313" algn="just">
              <a:defRPr/>
            </a:pPr>
            <a:r>
              <a:rPr lang="en-US" sz="2400" dirty="0">
                <a:latin typeface="Calibri" pitchFamily="34" charset="0"/>
              </a:rPr>
              <a:t>It begins with the fundamental level of attributes, which through analysis of the associations between attributes, are grouped into relations.</a:t>
            </a:r>
          </a:p>
          <a:p>
            <a:pPr marL="341313" indent="-341313" algn="just">
              <a:defRPr/>
            </a:pPr>
            <a:r>
              <a:rPr lang="en-US" sz="2400" dirty="0">
                <a:latin typeface="Calibri" pitchFamily="34" charset="0"/>
              </a:rPr>
              <a:t>The process of Normalization is used to find the normalized relations based on functional dependencies between the attributes.</a:t>
            </a:r>
          </a:p>
          <a:p>
            <a:pPr marL="341313" indent="-341313" algn="just">
              <a:lnSpc>
                <a:spcPct val="90000"/>
              </a:lnSpc>
              <a:defRPr/>
            </a:pPr>
            <a:r>
              <a:rPr lang="en-US" sz="2400" dirty="0">
                <a:latin typeface="Calibri" pitchFamily="34" charset="0"/>
              </a:rPr>
              <a:t>The bottom-up approach is appropriate for the design of simple databases with relatively small number of attributes.</a:t>
            </a:r>
          </a:p>
          <a:p>
            <a:pPr marL="341313" indent="-341313" algn="just">
              <a:lnSpc>
                <a:spcPct val="90000"/>
              </a:lnSpc>
              <a:defRPr/>
            </a:pPr>
            <a:r>
              <a:rPr lang="en-US" sz="2400" dirty="0">
                <a:latin typeface="Calibri" pitchFamily="34" charset="0"/>
              </a:rPr>
              <a:t>This approach becomes difficult to use with a larger number of attributes, where it is difficult to establish all the functional dependencies between the attributes. </a:t>
            </a:r>
            <a:endParaRPr lang="en-US" sz="2400" dirty="0">
              <a:solidFill>
                <a:schemeClr val="accent2"/>
              </a:solidFill>
              <a:latin typeface="Calibri" pitchFamily="34" charset="0"/>
            </a:endParaRPr>
          </a:p>
          <a:p>
            <a:pPr marL="609600" indent="-609600" algn="just">
              <a:defRPr/>
            </a:pPr>
            <a:endParaRPr lang="en-US" sz="2400" dirty="0">
              <a:solidFill>
                <a:schemeClr val="accent2"/>
              </a:solidFill>
              <a:latin typeface="Calibri" pitchFamily="34" charset="0"/>
            </a:endParaRPr>
          </a:p>
        </p:txBody>
      </p:sp>
      <p:sp>
        <p:nvSpPr>
          <p:cNvPr id="4100" name="Rectangle 4">
            <a:extLst>
              <a:ext uri="{FF2B5EF4-FFF2-40B4-BE49-F238E27FC236}">
                <a16:creationId xmlns:a16="http://schemas.microsoft.com/office/drawing/2014/main" id="{36E4C780-BFCF-A0CD-5BE8-A919078536CB}"/>
              </a:ext>
            </a:extLst>
          </p:cNvPr>
          <p:cNvSpPr>
            <a:spLocks noChangeArrowheads="1"/>
          </p:cNvSpPr>
          <p:nvPr/>
        </p:nvSpPr>
        <p:spPr bwMode="auto">
          <a:xfrm>
            <a:off x="6156325" y="188913"/>
            <a:ext cx="26638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b="1">
                <a:solidFill>
                  <a:schemeClr val="accent2"/>
                </a:solidFill>
              </a:rPr>
              <a:t>Database Design</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528577F-8FB4-6403-6358-3184EB22EDAD}"/>
              </a:ext>
            </a:extLst>
          </p:cNvPr>
          <p:cNvSpPr>
            <a:spLocks noGrp="1" noChangeArrowheads="1"/>
          </p:cNvSpPr>
          <p:nvPr>
            <p:ph type="title"/>
          </p:nvPr>
        </p:nvSpPr>
        <p:spPr>
          <a:xfrm>
            <a:off x="417513" y="692150"/>
            <a:ext cx="7070725" cy="381000"/>
          </a:xfrm>
        </p:spPr>
        <p:txBody>
          <a:bodyPr/>
          <a:lstStyle/>
          <a:p>
            <a:r>
              <a:rPr lang="en-US" altLang="en-US" sz="2800" b="1">
                <a:solidFill>
                  <a:srgbClr val="800000"/>
                </a:solidFill>
                <a:latin typeface="Calibri" panose="020F0502020204030204" pitchFamily="34" charset="0"/>
                <a:cs typeface="Calibri" panose="020F0502020204030204" pitchFamily="34" charset="0"/>
              </a:rPr>
              <a:t>Top-down Approach </a:t>
            </a:r>
            <a:r>
              <a:rPr lang="en-US" altLang="en-US" sz="2800">
                <a:solidFill>
                  <a:schemeClr val="accent2"/>
                </a:solidFill>
                <a:latin typeface="Calibri" panose="020F0502020204030204" pitchFamily="34" charset="0"/>
                <a:cs typeface="Calibri" panose="020F0502020204030204" pitchFamily="34" charset="0"/>
              </a:rPr>
              <a:t>(design by analysis)</a:t>
            </a:r>
            <a:endParaRPr lang="en-US" altLang="en-US" sz="2800" b="1">
              <a:solidFill>
                <a:srgbClr val="800000"/>
              </a:solidFill>
              <a:latin typeface="Calibri" panose="020F0502020204030204" pitchFamily="34" charset="0"/>
              <a:cs typeface="Calibri" panose="020F0502020204030204" pitchFamily="34" charset="0"/>
            </a:endParaRPr>
          </a:p>
        </p:txBody>
      </p:sp>
      <p:sp>
        <p:nvSpPr>
          <p:cNvPr id="5123" name="Rectangle 3">
            <a:extLst>
              <a:ext uri="{FF2B5EF4-FFF2-40B4-BE49-F238E27FC236}">
                <a16:creationId xmlns:a16="http://schemas.microsoft.com/office/drawing/2014/main" id="{3888D140-BE1C-43FC-639F-7AF881BF1B2A}"/>
              </a:ext>
            </a:extLst>
          </p:cNvPr>
          <p:cNvSpPr>
            <a:spLocks noGrp="1" noChangeArrowheads="1"/>
          </p:cNvSpPr>
          <p:nvPr>
            <p:ph type="body" idx="1"/>
          </p:nvPr>
        </p:nvSpPr>
        <p:spPr>
          <a:xfrm>
            <a:off x="395288" y="1196975"/>
            <a:ext cx="8424862" cy="5024438"/>
          </a:xfrm>
        </p:spPr>
        <p:txBody>
          <a:bodyPr/>
          <a:lstStyle/>
          <a:p>
            <a:pPr marL="341313" indent="-341313" algn="just">
              <a:spcBef>
                <a:spcPct val="0"/>
              </a:spcBef>
            </a:pPr>
            <a:r>
              <a:rPr lang="en-US" altLang="en-US">
                <a:latin typeface="Calibri" panose="020F0502020204030204" pitchFamily="34" charset="0"/>
              </a:rPr>
              <a:t>It starts with a number of groupings of attributes into relations that exist together naturally, for example, an invoice.</a:t>
            </a:r>
          </a:p>
          <a:p>
            <a:pPr marL="341313" indent="-341313" algn="just">
              <a:spcBef>
                <a:spcPct val="0"/>
              </a:spcBef>
            </a:pPr>
            <a:r>
              <a:rPr lang="en-US" altLang="en-US">
                <a:latin typeface="Calibri" panose="020F0502020204030204" pitchFamily="34" charset="0"/>
              </a:rPr>
              <a:t>The relations are then analyzed through normalization.</a:t>
            </a:r>
          </a:p>
          <a:p>
            <a:pPr marL="341313" indent="-341313" algn="just">
              <a:spcBef>
                <a:spcPct val="0"/>
              </a:spcBef>
            </a:pPr>
            <a:r>
              <a:rPr lang="en-US" altLang="en-US">
                <a:latin typeface="Calibri" panose="020F0502020204030204" pitchFamily="34" charset="0"/>
              </a:rPr>
              <a:t>One may start with the development of ER model, beginning with the identification of entities and relationships between the entities, which are of interest to the organization.</a:t>
            </a:r>
          </a:p>
          <a:p>
            <a:pPr marL="341313" indent="-341313" algn="just">
              <a:spcBef>
                <a:spcPct val="0"/>
              </a:spcBef>
            </a:pPr>
            <a:r>
              <a:rPr lang="en-US" altLang="en-US">
                <a:latin typeface="Calibri" panose="020F0502020204030204" pitchFamily="34" charset="0"/>
              </a:rPr>
              <a:t>The ER model is then transformed into a set of relations using the appropriate rules for conversion. </a:t>
            </a:r>
            <a:endParaRPr lang="en-US" altLang="en-US">
              <a:solidFill>
                <a:schemeClr val="accent2"/>
              </a:solidFill>
              <a:latin typeface="Calibri" panose="020F0502020204030204" pitchFamily="34" charset="0"/>
            </a:endParaRPr>
          </a:p>
        </p:txBody>
      </p:sp>
      <p:sp>
        <p:nvSpPr>
          <p:cNvPr id="5124" name="Rectangle 4">
            <a:extLst>
              <a:ext uri="{FF2B5EF4-FFF2-40B4-BE49-F238E27FC236}">
                <a16:creationId xmlns:a16="http://schemas.microsoft.com/office/drawing/2014/main" id="{C5BC5531-B17E-67B0-ECC8-CE712E06CD38}"/>
              </a:ext>
            </a:extLst>
          </p:cNvPr>
          <p:cNvSpPr>
            <a:spLocks noChangeArrowheads="1"/>
          </p:cNvSpPr>
          <p:nvPr/>
        </p:nvSpPr>
        <p:spPr bwMode="auto">
          <a:xfrm>
            <a:off x="6156325" y="188913"/>
            <a:ext cx="26638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altLang="en-US" b="1">
                <a:solidFill>
                  <a:schemeClr val="accent2"/>
                </a:solidFill>
              </a:rPr>
              <a:t>Database Design</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1E39FDB-FE8B-827C-50DC-BCD9F44BBB89}"/>
              </a:ext>
            </a:extLst>
          </p:cNvPr>
          <p:cNvSpPr>
            <a:spLocks noGrp="1" noChangeArrowheads="1"/>
          </p:cNvSpPr>
          <p:nvPr>
            <p:ph type="title"/>
          </p:nvPr>
        </p:nvSpPr>
        <p:spPr>
          <a:xfrm>
            <a:off x="417513" y="692150"/>
            <a:ext cx="4946650" cy="381000"/>
          </a:xfrm>
        </p:spPr>
        <p:txBody>
          <a:bodyPr/>
          <a:lstStyle/>
          <a:p>
            <a:r>
              <a:rPr lang="en-US" altLang="en-US" sz="2800" b="1">
                <a:solidFill>
                  <a:srgbClr val="800000"/>
                </a:solidFill>
              </a:rPr>
              <a:t>Phases of Database Design</a:t>
            </a:r>
          </a:p>
        </p:txBody>
      </p:sp>
      <p:sp>
        <p:nvSpPr>
          <p:cNvPr id="6147" name="Rectangle 3">
            <a:extLst>
              <a:ext uri="{FF2B5EF4-FFF2-40B4-BE49-F238E27FC236}">
                <a16:creationId xmlns:a16="http://schemas.microsoft.com/office/drawing/2014/main" id="{4DB2EEB1-4100-848B-4584-BD6C1FB9CD23}"/>
              </a:ext>
            </a:extLst>
          </p:cNvPr>
          <p:cNvSpPr>
            <a:spLocks noGrp="1" noChangeArrowheads="1"/>
          </p:cNvSpPr>
          <p:nvPr>
            <p:ph type="body" idx="1"/>
          </p:nvPr>
        </p:nvSpPr>
        <p:spPr>
          <a:xfrm>
            <a:off x="395288" y="1196975"/>
            <a:ext cx="8280400" cy="5024438"/>
          </a:xfrm>
        </p:spPr>
        <p:txBody>
          <a:bodyPr/>
          <a:lstStyle/>
          <a:p>
            <a:pPr marL="341313" indent="-341313" algn="just"/>
            <a:r>
              <a:rPr lang="en-US" altLang="en-US" sz="3600">
                <a:latin typeface="Calibri" panose="020F0502020204030204" pitchFamily="34" charset="0"/>
              </a:rPr>
              <a:t>Database design is an iterative process.</a:t>
            </a:r>
          </a:p>
          <a:p>
            <a:pPr marL="341313" indent="-341313" algn="just"/>
            <a:r>
              <a:rPr lang="en-US" altLang="en-US" sz="3600">
                <a:latin typeface="Calibri" panose="020F0502020204030204" pitchFamily="34" charset="0"/>
              </a:rPr>
              <a:t>Database design is made up of three main phases:</a:t>
            </a:r>
          </a:p>
          <a:p>
            <a:pPr marL="341313" indent="-341313">
              <a:buFontTx/>
              <a:buAutoNum type="arabicPeriod"/>
            </a:pPr>
            <a:r>
              <a:rPr lang="en-US" altLang="en-US" sz="3600">
                <a:solidFill>
                  <a:schemeClr val="accent2"/>
                </a:solidFill>
                <a:latin typeface="Calibri" panose="020F0502020204030204" pitchFamily="34" charset="0"/>
              </a:rPr>
              <a:t>Conceptual database design</a:t>
            </a:r>
          </a:p>
          <a:p>
            <a:pPr marL="341313" indent="-341313">
              <a:buFontTx/>
              <a:buAutoNum type="arabicPeriod"/>
            </a:pPr>
            <a:r>
              <a:rPr lang="en-US" altLang="en-US" sz="3600">
                <a:solidFill>
                  <a:schemeClr val="accent2"/>
                </a:solidFill>
                <a:latin typeface="Calibri" panose="020F0502020204030204" pitchFamily="34" charset="0"/>
              </a:rPr>
              <a:t>Logical database design</a:t>
            </a:r>
          </a:p>
          <a:p>
            <a:pPr marL="341313" indent="-341313">
              <a:buFontTx/>
              <a:buAutoNum type="arabicPeriod"/>
            </a:pPr>
            <a:r>
              <a:rPr lang="en-US" altLang="en-US" sz="3600">
                <a:solidFill>
                  <a:schemeClr val="accent2"/>
                </a:solidFill>
                <a:latin typeface="Calibri" panose="020F0502020204030204" pitchFamily="34" charset="0"/>
              </a:rPr>
              <a:t>Physical database design</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BC2B85C4-F152-A90B-725E-253676B30E3A}"/>
              </a:ext>
            </a:extLst>
          </p:cNvPr>
          <p:cNvSpPr>
            <a:spLocks noGrp="1" noChangeArrowheads="1"/>
          </p:cNvSpPr>
          <p:nvPr>
            <p:ph type="title"/>
          </p:nvPr>
        </p:nvSpPr>
        <p:spPr>
          <a:xfrm>
            <a:off x="323850" y="692150"/>
            <a:ext cx="5091113" cy="381000"/>
          </a:xfrm>
        </p:spPr>
        <p:txBody>
          <a:bodyPr/>
          <a:lstStyle/>
          <a:p>
            <a:pPr marL="685800" indent="-685800"/>
            <a:r>
              <a:rPr lang="en-US" altLang="en-US" sz="2800" b="1">
                <a:solidFill>
                  <a:srgbClr val="800000"/>
                </a:solidFill>
              </a:rPr>
              <a:t>Conceptual database design</a:t>
            </a:r>
          </a:p>
        </p:txBody>
      </p:sp>
      <p:sp>
        <p:nvSpPr>
          <p:cNvPr id="7171" name="Rectangle 3">
            <a:extLst>
              <a:ext uri="{FF2B5EF4-FFF2-40B4-BE49-F238E27FC236}">
                <a16:creationId xmlns:a16="http://schemas.microsoft.com/office/drawing/2014/main" id="{44179D7E-5474-3004-FFD4-9D7B978E0EEF}"/>
              </a:ext>
            </a:extLst>
          </p:cNvPr>
          <p:cNvSpPr>
            <a:spLocks noGrp="1" noChangeArrowheads="1"/>
          </p:cNvSpPr>
          <p:nvPr>
            <p:ph type="body" idx="1"/>
          </p:nvPr>
        </p:nvSpPr>
        <p:spPr>
          <a:xfrm>
            <a:off x="395288" y="1196975"/>
            <a:ext cx="8424862" cy="5024438"/>
          </a:xfrm>
        </p:spPr>
        <p:txBody>
          <a:bodyPr/>
          <a:lstStyle/>
          <a:p>
            <a:pPr marL="341313" indent="-341313" algn="just"/>
            <a:r>
              <a:rPr lang="en-US" altLang="en-US" sz="3200">
                <a:latin typeface="Calibri" panose="020F0502020204030204" pitchFamily="34" charset="0"/>
              </a:rPr>
              <a:t>The process of constructing a model of the data used in an enterprise, independent of all physical considerations, such as the target DBMS software, application programs, programming language, hardware platform etc.</a:t>
            </a:r>
          </a:p>
          <a:p>
            <a:pPr marL="341313" indent="-341313" algn="just"/>
            <a:r>
              <a:rPr lang="en-US" altLang="en-US" sz="3200">
                <a:latin typeface="Calibri" panose="020F0502020204030204" pitchFamily="34" charset="0"/>
              </a:rPr>
              <a:t>The data model is built using the user’s requirements specification document.</a:t>
            </a:r>
          </a:p>
        </p:txBody>
      </p:sp>
      <p:sp>
        <p:nvSpPr>
          <p:cNvPr id="7172" name="Rectangle 4">
            <a:extLst>
              <a:ext uri="{FF2B5EF4-FFF2-40B4-BE49-F238E27FC236}">
                <a16:creationId xmlns:a16="http://schemas.microsoft.com/office/drawing/2014/main" id="{061963C3-8344-E1B6-090C-0CB3C56F45CA}"/>
              </a:ext>
            </a:extLst>
          </p:cNvPr>
          <p:cNvSpPr>
            <a:spLocks noChangeArrowheads="1"/>
          </p:cNvSpPr>
          <p:nvPr/>
        </p:nvSpPr>
        <p:spPr bwMode="auto">
          <a:xfrm>
            <a:off x="4787900" y="188913"/>
            <a:ext cx="41767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a:r>
              <a:rPr lang="en-US" altLang="en-US" b="1">
                <a:solidFill>
                  <a:schemeClr val="accent2"/>
                </a:solidFill>
              </a:rPr>
              <a:t>Phases of Database Design</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58A460AE-CA83-73B8-FD28-A76DEA49DFF2}"/>
              </a:ext>
            </a:extLst>
          </p:cNvPr>
          <p:cNvSpPr>
            <a:spLocks noGrp="1" noChangeArrowheads="1"/>
          </p:cNvSpPr>
          <p:nvPr>
            <p:ph type="title"/>
          </p:nvPr>
        </p:nvSpPr>
        <p:spPr>
          <a:xfrm>
            <a:off x="323850" y="692150"/>
            <a:ext cx="6551613" cy="381000"/>
          </a:xfrm>
        </p:spPr>
        <p:txBody>
          <a:bodyPr/>
          <a:lstStyle/>
          <a:p>
            <a:pPr marL="685800" indent="-685800"/>
            <a:r>
              <a:rPr lang="en-US" altLang="en-US" sz="2800" b="1">
                <a:solidFill>
                  <a:srgbClr val="800000"/>
                </a:solidFill>
              </a:rPr>
              <a:t>Steps of Conceptual database design</a:t>
            </a:r>
          </a:p>
        </p:txBody>
      </p:sp>
      <p:sp>
        <p:nvSpPr>
          <p:cNvPr id="8195" name="Rectangle 3">
            <a:extLst>
              <a:ext uri="{FF2B5EF4-FFF2-40B4-BE49-F238E27FC236}">
                <a16:creationId xmlns:a16="http://schemas.microsoft.com/office/drawing/2014/main" id="{B98EB81C-2009-6AF9-6D3D-50020176816E}"/>
              </a:ext>
            </a:extLst>
          </p:cNvPr>
          <p:cNvSpPr>
            <a:spLocks noGrp="1" noChangeArrowheads="1"/>
          </p:cNvSpPr>
          <p:nvPr>
            <p:ph type="body" idx="1"/>
          </p:nvPr>
        </p:nvSpPr>
        <p:spPr>
          <a:xfrm>
            <a:off x="395288" y="1196975"/>
            <a:ext cx="8424862" cy="5024438"/>
          </a:xfrm>
        </p:spPr>
        <p:txBody>
          <a:bodyPr/>
          <a:lstStyle/>
          <a:p>
            <a:pPr marL="457200" indent="-457200">
              <a:buFontTx/>
              <a:buAutoNum type="arabicPeriod"/>
            </a:pPr>
            <a:r>
              <a:rPr lang="en-US" altLang="en-US" sz="2400">
                <a:latin typeface="Calibri" panose="020F0502020204030204" pitchFamily="34" charset="0"/>
                <a:cs typeface="Calibri" panose="020F0502020204030204" pitchFamily="34" charset="0"/>
              </a:rPr>
              <a:t>Identify entity types</a:t>
            </a:r>
          </a:p>
          <a:p>
            <a:pPr marL="457200" indent="-457200">
              <a:buFontTx/>
              <a:buAutoNum type="arabicPeriod"/>
            </a:pPr>
            <a:r>
              <a:rPr lang="en-US" altLang="en-US" sz="2400">
                <a:latin typeface="Calibri" panose="020F0502020204030204" pitchFamily="34" charset="0"/>
                <a:cs typeface="Calibri" panose="020F0502020204030204" pitchFamily="34" charset="0"/>
              </a:rPr>
              <a:t>Identify relationship types</a:t>
            </a:r>
          </a:p>
          <a:p>
            <a:pPr marL="457200" indent="-457200">
              <a:buFontTx/>
              <a:buAutoNum type="arabicPeriod"/>
            </a:pPr>
            <a:r>
              <a:rPr lang="en-US" altLang="en-US" sz="2400">
                <a:latin typeface="Calibri" panose="020F0502020204030204" pitchFamily="34" charset="0"/>
                <a:cs typeface="Calibri" panose="020F0502020204030204" pitchFamily="34" charset="0"/>
              </a:rPr>
              <a:t>Identify and associate attributes with entity or relationship types</a:t>
            </a:r>
          </a:p>
          <a:p>
            <a:pPr marL="457200" indent="-457200">
              <a:buFontTx/>
              <a:buAutoNum type="arabicPeriod"/>
            </a:pPr>
            <a:r>
              <a:rPr lang="en-US" altLang="en-US" sz="2400">
                <a:latin typeface="Calibri" panose="020F0502020204030204" pitchFamily="34" charset="0"/>
                <a:cs typeface="Calibri" panose="020F0502020204030204" pitchFamily="34" charset="0"/>
              </a:rPr>
              <a:t>Determine attribute domains</a:t>
            </a:r>
          </a:p>
          <a:p>
            <a:pPr marL="457200" indent="-457200">
              <a:buFontTx/>
              <a:buAutoNum type="arabicPeriod"/>
            </a:pPr>
            <a:r>
              <a:rPr lang="en-US" altLang="en-US" sz="2400">
                <a:latin typeface="Calibri" panose="020F0502020204030204" pitchFamily="34" charset="0"/>
                <a:cs typeface="Calibri" panose="020F0502020204030204" pitchFamily="34" charset="0"/>
              </a:rPr>
              <a:t>Determine candidate, primary, and alternate key attributes</a:t>
            </a:r>
          </a:p>
          <a:p>
            <a:pPr marL="457200" indent="-457200">
              <a:buFontTx/>
              <a:buAutoNum type="arabicPeriod"/>
            </a:pPr>
            <a:r>
              <a:rPr lang="en-US" altLang="en-US" sz="2400">
                <a:latin typeface="Calibri" panose="020F0502020204030204" pitchFamily="34" charset="0"/>
                <a:cs typeface="Calibri" panose="020F0502020204030204" pitchFamily="34" charset="0"/>
              </a:rPr>
              <a:t>Consider use of enhanced modeling concepts (optional step)</a:t>
            </a:r>
          </a:p>
          <a:p>
            <a:pPr marL="457200" indent="-457200">
              <a:buFontTx/>
              <a:buAutoNum type="arabicPeriod"/>
            </a:pPr>
            <a:r>
              <a:rPr lang="en-US" altLang="en-US" sz="2400">
                <a:latin typeface="Calibri" panose="020F0502020204030204" pitchFamily="34" charset="0"/>
                <a:cs typeface="Calibri" panose="020F0502020204030204" pitchFamily="34" charset="0"/>
              </a:rPr>
              <a:t>Check model for redundancy</a:t>
            </a:r>
          </a:p>
          <a:p>
            <a:pPr marL="457200" indent="-457200">
              <a:buFontTx/>
              <a:buAutoNum type="arabicPeriod"/>
            </a:pPr>
            <a:r>
              <a:rPr lang="en-US" altLang="en-US" sz="2400">
                <a:latin typeface="Calibri" panose="020F0502020204030204" pitchFamily="34" charset="0"/>
                <a:cs typeface="Calibri" panose="020F0502020204030204" pitchFamily="34" charset="0"/>
              </a:rPr>
              <a:t>Validate conceptual data model against user transactions</a:t>
            </a:r>
          </a:p>
          <a:p>
            <a:pPr marL="457200" indent="-457200">
              <a:buFontTx/>
              <a:buAutoNum type="arabicPeriod"/>
            </a:pPr>
            <a:r>
              <a:rPr lang="en-US" altLang="en-US" sz="2400">
                <a:latin typeface="Calibri" panose="020F0502020204030204" pitchFamily="34" charset="0"/>
                <a:cs typeface="Calibri" panose="020F0502020204030204" pitchFamily="34" charset="0"/>
              </a:rPr>
              <a:t>Review conceptual data model with user</a:t>
            </a:r>
          </a:p>
        </p:txBody>
      </p:sp>
      <p:sp>
        <p:nvSpPr>
          <p:cNvPr id="8196" name="Rectangle 4">
            <a:extLst>
              <a:ext uri="{FF2B5EF4-FFF2-40B4-BE49-F238E27FC236}">
                <a16:creationId xmlns:a16="http://schemas.microsoft.com/office/drawing/2014/main" id="{8FC48247-87BD-D0BB-3BEA-FF052A2C92B6}"/>
              </a:ext>
            </a:extLst>
          </p:cNvPr>
          <p:cNvSpPr>
            <a:spLocks noChangeArrowheads="1"/>
          </p:cNvSpPr>
          <p:nvPr/>
        </p:nvSpPr>
        <p:spPr bwMode="auto">
          <a:xfrm>
            <a:off x="4787900" y="188913"/>
            <a:ext cx="41767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a:r>
              <a:rPr lang="en-US" altLang="en-US" b="1">
                <a:solidFill>
                  <a:srgbClr val="3333CC"/>
                </a:solidFill>
              </a:rPr>
              <a:t>Phases of Database Design</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DA018FFC-925A-029E-A76F-6D0B4C31518F}"/>
              </a:ext>
            </a:extLst>
          </p:cNvPr>
          <p:cNvSpPr>
            <a:spLocks noGrp="1" noChangeArrowheads="1"/>
          </p:cNvSpPr>
          <p:nvPr>
            <p:ph type="title"/>
          </p:nvPr>
        </p:nvSpPr>
        <p:spPr>
          <a:xfrm>
            <a:off x="323850" y="692150"/>
            <a:ext cx="5256213" cy="381000"/>
          </a:xfrm>
          <a:noFill/>
        </p:spPr>
        <p:txBody>
          <a:bodyPr/>
          <a:lstStyle/>
          <a:p>
            <a:pPr marL="685800" indent="-685800"/>
            <a:r>
              <a:rPr lang="en-US" altLang="en-US" sz="2800" b="1">
                <a:solidFill>
                  <a:srgbClr val="800000"/>
                </a:solidFill>
              </a:rPr>
              <a:t>Logical database design</a:t>
            </a:r>
          </a:p>
        </p:txBody>
      </p:sp>
      <p:sp>
        <p:nvSpPr>
          <p:cNvPr id="9219" name="Rectangle 3">
            <a:extLst>
              <a:ext uri="{FF2B5EF4-FFF2-40B4-BE49-F238E27FC236}">
                <a16:creationId xmlns:a16="http://schemas.microsoft.com/office/drawing/2014/main" id="{37875234-EDD7-7DBA-92C9-A3B4ABFD4E38}"/>
              </a:ext>
            </a:extLst>
          </p:cNvPr>
          <p:cNvSpPr>
            <a:spLocks noGrp="1" noChangeArrowheads="1"/>
          </p:cNvSpPr>
          <p:nvPr>
            <p:ph type="body" idx="1"/>
          </p:nvPr>
        </p:nvSpPr>
        <p:spPr>
          <a:xfrm>
            <a:off x="269875" y="1212850"/>
            <a:ext cx="8478838" cy="5024438"/>
          </a:xfrm>
        </p:spPr>
        <p:txBody>
          <a:bodyPr/>
          <a:lstStyle/>
          <a:p>
            <a:pPr marL="341313" indent="-341313" algn="just">
              <a:lnSpc>
                <a:spcPct val="90000"/>
              </a:lnSpc>
            </a:pPr>
            <a:r>
              <a:rPr lang="en-US" altLang="en-US" sz="3200">
                <a:latin typeface="Calibri" panose="020F0502020204030204" pitchFamily="34" charset="0"/>
              </a:rPr>
              <a:t>The process of constructing a model of the data used in an enterprise based on a specific data model. </a:t>
            </a:r>
          </a:p>
          <a:p>
            <a:pPr marL="341313" indent="-341313" algn="just">
              <a:lnSpc>
                <a:spcPct val="90000"/>
              </a:lnSpc>
            </a:pPr>
            <a:r>
              <a:rPr lang="en-US" altLang="en-US" sz="3200">
                <a:latin typeface="Calibri" panose="020F0502020204030204" pitchFamily="34" charset="0"/>
              </a:rPr>
              <a:t>The logical data model is based on the target model for the database, such as the relational data model.</a:t>
            </a:r>
          </a:p>
          <a:p>
            <a:pPr marL="341313" indent="-341313" algn="just">
              <a:lnSpc>
                <a:spcPct val="90000"/>
              </a:lnSpc>
            </a:pPr>
            <a:r>
              <a:rPr lang="en-US" altLang="en-US" sz="3200">
                <a:latin typeface="Calibri" panose="020F0502020204030204" pitchFamily="34" charset="0"/>
              </a:rPr>
              <a:t>The technique of normalization is used to test the correctness of the logical data model.</a:t>
            </a:r>
          </a:p>
        </p:txBody>
      </p:sp>
      <p:sp>
        <p:nvSpPr>
          <p:cNvPr id="9220" name="Rectangle 4">
            <a:extLst>
              <a:ext uri="{FF2B5EF4-FFF2-40B4-BE49-F238E27FC236}">
                <a16:creationId xmlns:a16="http://schemas.microsoft.com/office/drawing/2014/main" id="{B3EEA5FB-45B0-7FB7-3753-6325F69FEDF8}"/>
              </a:ext>
            </a:extLst>
          </p:cNvPr>
          <p:cNvSpPr>
            <a:spLocks noChangeArrowheads="1"/>
          </p:cNvSpPr>
          <p:nvPr/>
        </p:nvSpPr>
        <p:spPr bwMode="auto">
          <a:xfrm>
            <a:off x="4787900" y="188913"/>
            <a:ext cx="41767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a:r>
              <a:rPr lang="en-US" altLang="en-US" b="1">
                <a:solidFill>
                  <a:schemeClr val="accent2"/>
                </a:solidFill>
              </a:rPr>
              <a:t>Phases of Database Design</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3E2C6DE-D396-7769-8A3D-463CF27FC0F3}"/>
              </a:ext>
            </a:extLst>
          </p:cNvPr>
          <p:cNvSpPr>
            <a:spLocks noGrp="1" noChangeArrowheads="1"/>
          </p:cNvSpPr>
          <p:nvPr>
            <p:ph type="title"/>
          </p:nvPr>
        </p:nvSpPr>
        <p:spPr>
          <a:xfrm>
            <a:off x="323850" y="692150"/>
            <a:ext cx="6048375" cy="381000"/>
          </a:xfrm>
          <a:noFill/>
        </p:spPr>
        <p:txBody>
          <a:bodyPr/>
          <a:lstStyle/>
          <a:p>
            <a:pPr marL="685800" indent="-685800"/>
            <a:r>
              <a:rPr lang="en-US" altLang="en-US" sz="2800" b="1">
                <a:solidFill>
                  <a:srgbClr val="800000"/>
                </a:solidFill>
              </a:rPr>
              <a:t>Steps of Logical database design</a:t>
            </a:r>
          </a:p>
        </p:txBody>
      </p:sp>
      <p:sp>
        <p:nvSpPr>
          <p:cNvPr id="10243" name="Rectangle 3">
            <a:extLst>
              <a:ext uri="{FF2B5EF4-FFF2-40B4-BE49-F238E27FC236}">
                <a16:creationId xmlns:a16="http://schemas.microsoft.com/office/drawing/2014/main" id="{7B9995EA-D8A9-2F68-2136-9CF3418AD612}"/>
              </a:ext>
            </a:extLst>
          </p:cNvPr>
          <p:cNvSpPr>
            <a:spLocks noGrp="1" noChangeArrowheads="1"/>
          </p:cNvSpPr>
          <p:nvPr>
            <p:ph type="body" idx="1"/>
          </p:nvPr>
        </p:nvSpPr>
        <p:spPr>
          <a:xfrm>
            <a:off x="414338" y="1212850"/>
            <a:ext cx="8478837" cy="5024438"/>
          </a:xfrm>
        </p:spPr>
        <p:txBody>
          <a:bodyPr/>
          <a:lstStyle/>
          <a:p>
            <a:pPr marL="457200" indent="-457200">
              <a:buFontTx/>
              <a:buAutoNum type="arabicPeriod"/>
            </a:pPr>
            <a:r>
              <a:rPr lang="en-US" altLang="en-US" sz="2400">
                <a:latin typeface="Calibri" panose="020F0502020204030204" pitchFamily="34" charset="0"/>
                <a:cs typeface="Calibri" panose="020F0502020204030204" pitchFamily="34" charset="0"/>
              </a:rPr>
              <a:t>Derive relations for logical data model</a:t>
            </a:r>
          </a:p>
          <a:p>
            <a:pPr marL="457200" indent="-457200">
              <a:buFontTx/>
              <a:buAutoNum type="arabicPeriod"/>
            </a:pPr>
            <a:r>
              <a:rPr lang="en-US" altLang="en-US" sz="2400">
                <a:latin typeface="Calibri" panose="020F0502020204030204" pitchFamily="34" charset="0"/>
                <a:cs typeface="Calibri" panose="020F0502020204030204" pitchFamily="34" charset="0"/>
              </a:rPr>
              <a:t>Validate relations using normalization</a:t>
            </a:r>
          </a:p>
          <a:p>
            <a:pPr marL="457200" indent="-457200">
              <a:buFontTx/>
              <a:buAutoNum type="arabicPeriod"/>
            </a:pPr>
            <a:r>
              <a:rPr lang="en-US" altLang="en-US" sz="2400">
                <a:latin typeface="Calibri" panose="020F0502020204030204" pitchFamily="34" charset="0"/>
                <a:cs typeface="Calibri" panose="020F0502020204030204" pitchFamily="34" charset="0"/>
              </a:rPr>
              <a:t>Validate relations against user transactions</a:t>
            </a:r>
          </a:p>
          <a:p>
            <a:pPr marL="457200" indent="-457200">
              <a:buFontTx/>
              <a:buAutoNum type="arabicPeriod"/>
            </a:pPr>
            <a:r>
              <a:rPr lang="en-US" altLang="en-US" sz="2400">
                <a:latin typeface="Calibri" panose="020F0502020204030204" pitchFamily="34" charset="0"/>
                <a:cs typeface="Calibri" panose="020F0502020204030204" pitchFamily="34" charset="0"/>
              </a:rPr>
              <a:t>Check integrity constraints</a:t>
            </a:r>
          </a:p>
          <a:p>
            <a:pPr marL="457200" indent="-457200">
              <a:buFontTx/>
              <a:buAutoNum type="arabicPeriod"/>
            </a:pPr>
            <a:r>
              <a:rPr lang="en-US" altLang="en-US" sz="2400">
                <a:latin typeface="Calibri" panose="020F0502020204030204" pitchFamily="34" charset="0"/>
                <a:cs typeface="Calibri" panose="020F0502020204030204" pitchFamily="34" charset="0"/>
              </a:rPr>
              <a:t>Review logical data model with user</a:t>
            </a:r>
          </a:p>
          <a:p>
            <a:pPr marL="457200" indent="-457200">
              <a:buFontTx/>
              <a:buAutoNum type="arabicPeriod"/>
            </a:pPr>
            <a:r>
              <a:rPr lang="en-US" altLang="en-US" sz="2400">
                <a:latin typeface="Calibri" panose="020F0502020204030204" pitchFamily="34" charset="0"/>
                <a:cs typeface="Calibri" panose="020F0502020204030204" pitchFamily="34" charset="0"/>
              </a:rPr>
              <a:t>Merge logical data models into global model (optional step)</a:t>
            </a:r>
          </a:p>
          <a:p>
            <a:pPr marL="457200" indent="-457200">
              <a:buFontTx/>
              <a:buAutoNum type="arabicPeriod"/>
            </a:pPr>
            <a:r>
              <a:rPr lang="en-US" altLang="en-US" sz="2400">
                <a:latin typeface="Calibri" panose="020F0502020204030204" pitchFamily="34" charset="0"/>
                <a:cs typeface="Calibri" panose="020F0502020204030204" pitchFamily="34" charset="0"/>
              </a:rPr>
              <a:t>Check for future growth</a:t>
            </a:r>
          </a:p>
        </p:txBody>
      </p:sp>
      <p:sp>
        <p:nvSpPr>
          <p:cNvPr id="10244" name="Rectangle 4">
            <a:extLst>
              <a:ext uri="{FF2B5EF4-FFF2-40B4-BE49-F238E27FC236}">
                <a16:creationId xmlns:a16="http://schemas.microsoft.com/office/drawing/2014/main" id="{75BB91CF-4830-79D1-9A0F-BA70F5292FA8}"/>
              </a:ext>
            </a:extLst>
          </p:cNvPr>
          <p:cNvSpPr>
            <a:spLocks noChangeArrowheads="1"/>
          </p:cNvSpPr>
          <p:nvPr/>
        </p:nvSpPr>
        <p:spPr bwMode="auto">
          <a:xfrm>
            <a:off x="4787900" y="188913"/>
            <a:ext cx="41767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a:r>
              <a:rPr lang="en-US" altLang="en-US" b="1">
                <a:solidFill>
                  <a:srgbClr val="3333CC"/>
                </a:solidFill>
              </a:rPr>
              <a:t>Phases of Database Design</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3DE27D70-E7B2-780F-D8F8-647DBA7C286F}"/>
              </a:ext>
            </a:extLst>
          </p:cNvPr>
          <p:cNvSpPr>
            <a:spLocks noGrp="1" noChangeArrowheads="1"/>
          </p:cNvSpPr>
          <p:nvPr>
            <p:ph type="title"/>
          </p:nvPr>
        </p:nvSpPr>
        <p:spPr>
          <a:xfrm>
            <a:off x="323850" y="692150"/>
            <a:ext cx="5256213" cy="381000"/>
          </a:xfrm>
          <a:noFill/>
        </p:spPr>
        <p:txBody>
          <a:bodyPr/>
          <a:lstStyle/>
          <a:p>
            <a:pPr marL="685800" indent="-685800"/>
            <a:r>
              <a:rPr lang="en-US" altLang="en-US" sz="2800" b="1">
                <a:solidFill>
                  <a:srgbClr val="800000"/>
                </a:solidFill>
              </a:rPr>
              <a:t>Physical database design</a:t>
            </a:r>
          </a:p>
        </p:txBody>
      </p:sp>
      <p:sp>
        <p:nvSpPr>
          <p:cNvPr id="11267" name="Rectangle 3">
            <a:extLst>
              <a:ext uri="{FF2B5EF4-FFF2-40B4-BE49-F238E27FC236}">
                <a16:creationId xmlns:a16="http://schemas.microsoft.com/office/drawing/2014/main" id="{7F7E50AD-E3D1-0246-705A-CDED98146EBE}"/>
              </a:ext>
            </a:extLst>
          </p:cNvPr>
          <p:cNvSpPr>
            <a:spLocks noGrp="1" noChangeArrowheads="1"/>
          </p:cNvSpPr>
          <p:nvPr>
            <p:ph type="body" idx="1"/>
          </p:nvPr>
        </p:nvSpPr>
        <p:spPr>
          <a:xfrm>
            <a:off x="341313" y="1212850"/>
            <a:ext cx="8407400" cy="5240338"/>
          </a:xfrm>
        </p:spPr>
        <p:txBody>
          <a:bodyPr/>
          <a:lstStyle/>
          <a:p>
            <a:pPr marL="341313" indent="-341313" algn="just"/>
            <a:r>
              <a:rPr lang="en-US" altLang="en-US" sz="3200">
                <a:latin typeface="Calibri" panose="020F0502020204030204" pitchFamily="34" charset="0"/>
              </a:rPr>
              <a:t>The process of producing the description of the database on the secondary storage; it describes the base relations, file organizations, and indexes used to achieve efficient access to the data. </a:t>
            </a:r>
          </a:p>
          <a:p>
            <a:pPr marL="341313" indent="-341313" algn="just"/>
            <a:r>
              <a:rPr lang="en-US" altLang="en-US" sz="3200">
                <a:latin typeface="Calibri" panose="020F0502020204030204" pitchFamily="34" charset="0"/>
              </a:rPr>
              <a:t>Physical database design is tailored to a specific DBMS.</a:t>
            </a:r>
          </a:p>
          <a:p>
            <a:pPr marL="341313" indent="-341313" algn="just"/>
            <a:r>
              <a:rPr lang="en-US" altLang="en-US" sz="3200">
                <a:latin typeface="Calibri" panose="020F0502020204030204" pitchFamily="34" charset="0"/>
              </a:rPr>
              <a:t>Logical database design is concerned with </a:t>
            </a:r>
            <a:r>
              <a:rPr lang="en-US" altLang="en-US" sz="3200">
                <a:solidFill>
                  <a:schemeClr val="accent2"/>
                </a:solidFill>
                <a:latin typeface="Calibri" panose="020F0502020204030204" pitchFamily="34" charset="0"/>
              </a:rPr>
              <a:t>what</a:t>
            </a:r>
            <a:r>
              <a:rPr lang="en-US" altLang="en-US" sz="3200">
                <a:latin typeface="Calibri" panose="020F0502020204030204" pitchFamily="34" charset="0"/>
              </a:rPr>
              <a:t>, physical database design is concerned with </a:t>
            </a:r>
            <a:r>
              <a:rPr lang="en-US" altLang="en-US" sz="3200">
                <a:solidFill>
                  <a:schemeClr val="accent2"/>
                </a:solidFill>
                <a:latin typeface="Calibri" panose="020F0502020204030204" pitchFamily="34" charset="0"/>
              </a:rPr>
              <a:t>how</a:t>
            </a:r>
            <a:r>
              <a:rPr lang="en-US" altLang="en-US" sz="3200">
                <a:latin typeface="Calibri" panose="020F0502020204030204" pitchFamily="34" charset="0"/>
              </a:rPr>
              <a:t>.</a:t>
            </a:r>
          </a:p>
        </p:txBody>
      </p:sp>
      <p:sp>
        <p:nvSpPr>
          <p:cNvPr id="11268" name="Rectangle 4">
            <a:extLst>
              <a:ext uri="{FF2B5EF4-FFF2-40B4-BE49-F238E27FC236}">
                <a16:creationId xmlns:a16="http://schemas.microsoft.com/office/drawing/2014/main" id="{787092F8-FE07-0FFB-8412-82A32054243D}"/>
              </a:ext>
            </a:extLst>
          </p:cNvPr>
          <p:cNvSpPr>
            <a:spLocks noChangeArrowheads="1"/>
          </p:cNvSpPr>
          <p:nvPr/>
        </p:nvSpPr>
        <p:spPr bwMode="auto">
          <a:xfrm>
            <a:off x="4787900" y="188913"/>
            <a:ext cx="41767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a:r>
              <a:rPr lang="en-US" altLang="en-US" b="1">
                <a:solidFill>
                  <a:schemeClr val="accent2"/>
                </a:solidFill>
              </a:rPr>
              <a:t>Phases of Database Design</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6EDCC679-AC4A-E5AD-D2C5-6769A272E6C0}"/>
              </a:ext>
            </a:extLst>
          </p:cNvPr>
          <p:cNvSpPr>
            <a:spLocks noGrp="1" noChangeArrowheads="1"/>
          </p:cNvSpPr>
          <p:nvPr>
            <p:ph type="title"/>
          </p:nvPr>
        </p:nvSpPr>
        <p:spPr>
          <a:xfrm>
            <a:off x="323850" y="692150"/>
            <a:ext cx="6048375" cy="381000"/>
          </a:xfrm>
          <a:noFill/>
        </p:spPr>
        <p:txBody>
          <a:bodyPr/>
          <a:lstStyle/>
          <a:p>
            <a:pPr marL="685800" indent="-685800"/>
            <a:r>
              <a:rPr lang="en-US" altLang="en-US" sz="2800" b="1">
                <a:solidFill>
                  <a:srgbClr val="800000"/>
                </a:solidFill>
              </a:rPr>
              <a:t>Steps of Physical database design</a:t>
            </a:r>
          </a:p>
        </p:txBody>
      </p:sp>
      <p:sp>
        <p:nvSpPr>
          <p:cNvPr id="12291" name="Rectangle 3">
            <a:extLst>
              <a:ext uri="{FF2B5EF4-FFF2-40B4-BE49-F238E27FC236}">
                <a16:creationId xmlns:a16="http://schemas.microsoft.com/office/drawing/2014/main" id="{4F209D75-0BDC-CF50-226D-A625DCD6C70F}"/>
              </a:ext>
            </a:extLst>
          </p:cNvPr>
          <p:cNvSpPr>
            <a:spLocks noGrp="1" noChangeArrowheads="1"/>
          </p:cNvSpPr>
          <p:nvPr>
            <p:ph type="body" idx="1"/>
          </p:nvPr>
        </p:nvSpPr>
        <p:spPr>
          <a:xfrm>
            <a:off x="412750" y="1212850"/>
            <a:ext cx="6823075" cy="5240338"/>
          </a:xfrm>
        </p:spPr>
        <p:txBody>
          <a:bodyPr/>
          <a:lstStyle/>
          <a:p>
            <a:pPr marL="514350" indent="-514350">
              <a:lnSpc>
                <a:spcPct val="90000"/>
              </a:lnSpc>
              <a:buFontTx/>
              <a:buAutoNum type="arabicPeriod"/>
            </a:pPr>
            <a:r>
              <a:rPr lang="en-US" altLang="en-US">
                <a:latin typeface="Calibri" panose="020F0502020204030204" pitchFamily="34" charset="0"/>
              </a:rPr>
              <a:t>Design base relations</a:t>
            </a:r>
          </a:p>
          <a:p>
            <a:pPr marL="514350" indent="-514350">
              <a:lnSpc>
                <a:spcPct val="90000"/>
              </a:lnSpc>
              <a:buFontTx/>
              <a:buAutoNum type="arabicPeriod"/>
            </a:pPr>
            <a:r>
              <a:rPr lang="en-US" altLang="en-US">
                <a:latin typeface="Calibri" panose="020F0502020204030204" pitchFamily="34" charset="0"/>
              </a:rPr>
              <a:t>Design representation of derived data</a:t>
            </a:r>
          </a:p>
          <a:p>
            <a:pPr marL="514350" indent="-514350">
              <a:lnSpc>
                <a:spcPct val="90000"/>
              </a:lnSpc>
              <a:buFontTx/>
              <a:buAutoNum type="arabicPeriod"/>
            </a:pPr>
            <a:r>
              <a:rPr lang="en-US" altLang="en-US">
                <a:latin typeface="Calibri" panose="020F0502020204030204" pitchFamily="34" charset="0"/>
              </a:rPr>
              <a:t>Design general constraints</a:t>
            </a:r>
          </a:p>
          <a:p>
            <a:pPr marL="514350" indent="-514350">
              <a:lnSpc>
                <a:spcPct val="90000"/>
              </a:lnSpc>
              <a:buFontTx/>
              <a:buAutoNum type="arabicPeriod"/>
            </a:pPr>
            <a:r>
              <a:rPr lang="en-US" altLang="en-US">
                <a:latin typeface="Calibri" panose="020F0502020204030204" pitchFamily="34" charset="0"/>
              </a:rPr>
              <a:t>Design file organization and indexes</a:t>
            </a:r>
          </a:p>
          <a:p>
            <a:pPr marL="514350" indent="-514350">
              <a:lnSpc>
                <a:spcPct val="90000"/>
              </a:lnSpc>
              <a:buFontTx/>
              <a:buAutoNum type="arabicPeriod"/>
            </a:pPr>
            <a:r>
              <a:rPr lang="en-US" altLang="en-US">
                <a:latin typeface="Calibri" panose="020F0502020204030204" pitchFamily="34" charset="0"/>
              </a:rPr>
              <a:t>Coding and Compression Techniques</a:t>
            </a:r>
          </a:p>
          <a:p>
            <a:pPr marL="514350" indent="-514350">
              <a:lnSpc>
                <a:spcPct val="90000"/>
              </a:lnSpc>
              <a:buFontTx/>
              <a:buAutoNum type="arabicPeriod"/>
            </a:pPr>
            <a:r>
              <a:rPr lang="en-US" altLang="en-US">
                <a:latin typeface="Calibri" panose="020F0502020204030204" pitchFamily="34" charset="0"/>
              </a:rPr>
              <a:t>Analyze transactions</a:t>
            </a:r>
          </a:p>
          <a:p>
            <a:pPr marL="514350" indent="-514350">
              <a:lnSpc>
                <a:spcPct val="90000"/>
              </a:lnSpc>
              <a:buFontTx/>
              <a:buAutoNum type="arabicPeriod"/>
            </a:pPr>
            <a:r>
              <a:rPr lang="en-US" altLang="en-US">
                <a:latin typeface="Calibri" panose="020F0502020204030204" pitchFamily="34" charset="0"/>
              </a:rPr>
              <a:t>De-normalization</a:t>
            </a:r>
          </a:p>
          <a:p>
            <a:pPr marL="514350" indent="-514350">
              <a:lnSpc>
                <a:spcPct val="90000"/>
              </a:lnSpc>
              <a:buFontTx/>
              <a:buAutoNum type="arabicPeriod"/>
            </a:pPr>
            <a:r>
              <a:rPr lang="en-US" altLang="en-US">
                <a:latin typeface="Calibri" panose="020F0502020204030204" pitchFamily="34" charset="0"/>
              </a:rPr>
              <a:t>Partitioning</a:t>
            </a:r>
          </a:p>
          <a:p>
            <a:pPr marL="514350" indent="-514350">
              <a:lnSpc>
                <a:spcPct val="90000"/>
              </a:lnSpc>
              <a:buFontTx/>
              <a:buAutoNum type="arabicPeriod"/>
            </a:pPr>
            <a:r>
              <a:rPr lang="en-US" altLang="en-US">
                <a:latin typeface="Calibri" panose="020F0502020204030204" pitchFamily="34" charset="0"/>
              </a:rPr>
              <a:t>Estimate disk space requirements</a:t>
            </a:r>
          </a:p>
          <a:p>
            <a:pPr marL="514350" indent="-514350">
              <a:lnSpc>
                <a:spcPct val="90000"/>
              </a:lnSpc>
              <a:buFontTx/>
              <a:buAutoNum type="arabicPeriod"/>
            </a:pPr>
            <a:r>
              <a:rPr lang="en-US" altLang="en-US">
                <a:latin typeface="Calibri" panose="020F0502020204030204" pitchFamily="34" charset="0"/>
              </a:rPr>
              <a:t>Design user views</a:t>
            </a:r>
          </a:p>
          <a:p>
            <a:pPr marL="514350" indent="-514350">
              <a:lnSpc>
                <a:spcPct val="90000"/>
              </a:lnSpc>
              <a:buFontTx/>
              <a:buAutoNum type="arabicPeriod"/>
            </a:pPr>
            <a:r>
              <a:rPr lang="en-US" altLang="en-US">
                <a:latin typeface="Calibri" panose="020F0502020204030204" pitchFamily="34" charset="0"/>
              </a:rPr>
              <a:t>Design security mechanism</a:t>
            </a:r>
          </a:p>
        </p:txBody>
      </p:sp>
      <p:sp>
        <p:nvSpPr>
          <p:cNvPr id="12292" name="Rectangle 4">
            <a:extLst>
              <a:ext uri="{FF2B5EF4-FFF2-40B4-BE49-F238E27FC236}">
                <a16:creationId xmlns:a16="http://schemas.microsoft.com/office/drawing/2014/main" id="{45416AC3-1B94-7EFC-1F69-E5703A1A5792}"/>
              </a:ext>
            </a:extLst>
          </p:cNvPr>
          <p:cNvSpPr>
            <a:spLocks noChangeArrowheads="1"/>
          </p:cNvSpPr>
          <p:nvPr/>
        </p:nvSpPr>
        <p:spPr bwMode="auto">
          <a:xfrm>
            <a:off x="4787900" y="188913"/>
            <a:ext cx="41767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a:r>
              <a:rPr lang="en-US" altLang="en-US" b="1">
                <a:solidFill>
                  <a:schemeClr val="accent2"/>
                </a:solidFill>
              </a:rPr>
              <a:t>Phases of Database Design</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297E7B86-E524-38BA-EB80-4FA849028350}"/>
              </a:ext>
            </a:extLst>
          </p:cNvPr>
          <p:cNvSpPr>
            <a:spLocks noGrp="1" noChangeArrowheads="1"/>
          </p:cNvSpPr>
          <p:nvPr>
            <p:ph type="title"/>
          </p:nvPr>
        </p:nvSpPr>
        <p:spPr>
          <a:xfrm>
            <a:off x="323850" y="692150"/>
            <a:ext cx="3960813" cy="381000"/>
          </a:xfrm>
          <a:noFill/>
        </p:spPr>
        <p:txBody>
          <a:bodyPr/>
          <a:lstStyle/>
          <a:p>
            <a:pPr marL="685800" indent="-685800"/>
            <a:r>
              <a:rPr lang="en-US" altLang="en-US" sz="2800" b="1">
                <a:solidFill>
                  <a:srgbClr val="800000"/>
                </a:solidFill>
              </a:rPr>
              <a:t>Design base relations</a:t>
            </a:r>
          </a:p>
        </p:txBody>
      </p:sp>
      <p:sp>
        <p:nvSpPr>
          <p:cNvPr id="13315" name="Rectangle 3">
            <a:extLst>
              <a:ext uri="{FF2B5EF4-FFF2-40B4-BE49-F238E27FC236}">
                <a16:creationId xmlns:a16="http://schemas.microsoft.com/office/drawing/2014/main" id="{80DA0E82-2998-ADA5-3B3D-50B2702D57F6}"/>
              </a:ext>
            </a:extLst>
          </p:cNvPr>
          <p:cNvSpPr>
            <a:spLocks noGrp="1" noChangeArrowheads="1"/>
          </p:cNvSpPr>
          <p:nvPr>
            <p:ph type="body" idx="1"/>
          </p:nvPr>
        </p:nvSpPr>
        <p:spPr>
          <a:xfrm>
            <a:off x="412750" y="1196975"/>
            <a:ext cx="8839200" cy="5240338"/>
          </a:xfrm>
        </p:spPr>
        <p:txBody>
          <a:bodyPr/>
          <a:lstStyle/>
          <a:p>
            <a:pPr marL="341313" indent="-341313"/>
            <a:r>
              <a:rPr lang="en-US" altLang="en-US" sz="2400">
                <a:latin typeface="Calibri" panose="020F0502020204030204" pitchFamily="34" charset="0"/>
              </a:rPr>
              <a:t>For each relation defined in the logical data model, we have a definition consisting of: </a:t>
            </a:r>
          </a:p>
          <a:p>
            <a:pPr marL="990600" lvl="1" indent="-533400"/>
            <a:r>
              <a:rPr lang="en-US" altLang="en-US">
                <a:solidFill>
                  <a:schemeClr val="accent2"/>
                </a:solidFill>
                <a:latin typeface="Calibri" panose="020F0502020204030204" pitchFamily="34" charset="0"/>
              </a:rPr>
              <a:t>The name of the relation and its attributes</a:t>
            </a:r>
          </a:p>
          <a:p>
            <a:pPr marL="990600" lvl="1" indent="-533400"/>
            <a:r>
              <a:rPr lang="en-US" altLang="en-US">
                <a:solidFill>
                  <a:schemeClr val="accent2"/>
                </a:solidFill>
                <a:latin typeface="Calibri" panose="020F0502020204030204" pitchFamily="34" charset="0"/>
              </a:rPr>
              <a:t>Key attributes</a:t>
            </a:r>
          </a:p>
          <a:p>
            <a:pPr marL="990600" lvl="1" indent="-533400"/>
            <a:r>
              <a:rPr lang="en-US" altLang="en-US">
                <a:solidFill>
                  <a:schemeClr val="accent2"/>
                </a:solidFill>
                <a:latin typeface="Calibri" panose="020F0502020204030204" pitchFamily="34" charset="0"/>
              </a:rPr>
              <a:t>Integrity constraints</a:t>
            </a:r>
          </a:p>
          <a:p>
            <a:pPr marL="341313" indent="-341313"/>
            <a:r>
              <a:rPr lang="en-US" altLang="en-US" sz="2400">
                <a:latin typeface="Calibri" panose="020F0502020204030204" pitchFamily="34" charset="0"/>
              </a:rPr>
              <a:t>For each attribute, we have:</a:t>
            </a:r>
          </a:p>
          <a:p>
            <a:pPr marL="990600" lvl="1" indent="-533400"/>
            <a:r>
              <a:rPr lang="en-US" altLang="en-US">
                <a:solidFill>
                  <a:schemeClr val="accent2"/>
                </a:solidFill>
                <a:latin typeface="Calibri" panose="020F0502020204030204" pitchFamily="34" charset="0"/>
              </a:rPr>
              <a:t>Its domain, consisting of its data type, length, and any constraint on the domain</a:t>
            </a:r>
          </a:p>
          <a:p>
            <a:pPr marL="990600" lvl="1" indent="-533400"/>
            <a:r>
              <a:rPr lang="en-US" altLang="en-US">
                <a:solidFill>
                  <a:schemeClr val="accent2"/>
                </a:solidFill>
                <a:latin typeface="Calibri" panose="020F0502020204030204" pitchFamily="34" charset="0"/>
              </a:rPr>
              <a:t>An optional default value for the attribute</a:t>
            </a:r>
          </a:p>
          <a:p>
            <a:pPr marL="990600" lvl="1" indent="-533400"/>
            <a:r>
              <a:rPr lang="en-US" altLang="en-US">
                <a:solidFill>
                  <a:schemeClr val="accent2"/>
                </a:solidFill>
                <a:latin typeface="Calibri" panose="020F0502020204030204" pitchFamily="34" charset="0"/>
              </a:rPr>
              <a:t>Whether the attribute can hold nulls</a:t>
            </a:r>
          </a:p>
          <a:p>
            <a:pPr marL="990600" lvl="1" indent="-533400"/>
            <a:r>
              <a:rPr lang="en-US" altLang="en-US">
                <a:solidFill>
                  <a:schemeClr val="accent2"/>
                </a:solidFill>
                <a:latin typeface="Calibri" panose="020F0502020204030204" pitchFamily="34" charset="0"/>
              </a:rPr>
              <a:t>Whether the attribute is derived and, if so, how it should be computed?</a:t>
            </a:r>
          </a:p>
          <a:p>
            <a:pPr marL="990600" lvl="1" indent="-533400"/>
            <a:endParaRPr lang="en-US" altLang="en-US">
              <a:solidFill>
                <a:schemeClr val="accent2"/>
              </a:solidFill>
              <a:latin typeface="Calibri" panose="020F0502020204030204" pitchFamily="34" charset="0"/>
            </a:endParaRPr>
          </a:p>
        </p:txBody>
      </p:sp>
      <p:sp>
        <p:nvSpPr>
          <p:cNvPr id="13316" name="Rectangle 4">
            <a:extLst>
              <a:ext uri="{FF2B5EF4-FFF2-40B4-BE49-F238E27FC236}">
                <a16:creationId xmlns:a16="http://schemas.microsoft.com/office/drawing/2014/main" id="{B8F3F4EF-9B64-ECFA-8495-CCD53D13ABA1}"/>
              </a:ext>
            </a:extLst>
          </p:cNvPr>
          <p:cNvSpPr>
            <a:spLocks noChangeArrowheads="1"/>
          </p:cNvSpPr>
          <p:nvPr/>
        </p:nvSpPr>
        <p:spPr bwMode="auto">
          <a:xfrm>
            <a:off x="4787900" y="188913"/>
            <a:ext cx="41767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a:r>
              <a:rPr lang="en-US" altLang="en-US" b="1">
                <a:solidFill>
                  <a:schemeClr val="accent2"/>
                </a:solidFill>
              </a:rPr>
              <a:t>Physical Database Design</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84748C96-9B12-0550-C99E-C35B11B60350}"/>
              </a:ext>
            </a:extLst>
          </p:cNvPr>
          <p:cNvSpPr>
            <a:spLocks noGrp="1" noChangeArrowheads="1"/>
          </p:cNvSpPr>
          <p:nvPr>
            <p:ph type="title"/>
          </p:nvPr>
        </p:nvSpPr>
        <p:spPr>
          <a:xfrm>
            <a:off x="323850" y="692150"/>
            <a:ext cx="3960813" cy="381000"/>
          </a:xfrm>
          <a:noFill/>
        </p:spPr>
        <p:txBody>
          <a:bodyPr/>
          <a:lstStyle/>
          <a:p>
            <a:pPr marL="685800" indent="-685800"/>
            <a:r>
              <a:rPr lang="en-US" altLang="en-US" sz="2800" b="1">
                <a:solidFill>
                  <a:srgbClr val="800000"/>
                </a:solidFill>
              </a:rPr>
              <a:t>Derived data</a:t>
            </a:r>
          </a:p>
        </p:txBody>
      </p:sp>
      <p:sp>
        <p:nvSpPr>
          <p:cNvPr id="12291" name="Rectangle 3">
            <a:extLst>
              <a:ext uri="{FF2B5EF4-FFF2-40B4-BE49-F238E27FC236}">
                <a16:creationId xmlns:a16="http://schemas.microsoft.com/office/drawing/2014/main" id="{F551F8A6-A8F6-9050-26C1-DC41AF9A57FF}"/>
              </a:ext>
            </a:extLst>
          </p:cNvPr>
          <p:cNvSpPr>
            <a:spLocks noGrp="1" noChangeArrowheads="1"/>
          </p:cNvSpPr>
          <p:nvPr>
            <p:ph type="body" idx="1"/>
          </p:nvPr>
        </p:nvSpPr>
        <p:spPr>
          <a:xfrm>
            <a:off x="323850" y="1196975"/>
            <a:ext cx="8424863" cy="5240338"/>
          </a:xfrm>
        </p:spPr>
        <p:txBody>
          <a:bodyPr/>
          <a:lstStyle/>
          <a:p>
            <a:pPr marL="341313" indent="-341313" algn="just">
              <a:defRPr/>
            </a:pPr>
            <a:r>
              <a:rPr lang="en-US" sz="2400" dirty="0">
                <a:latin typeface="Calibri" pitchFamily="34" charset="0"/>
              </a:rPr>
              <a:t>Whether a derived attribute is stored in the database or calculated every time it is needed is a tradeoff. The designer should calculate:</a:t>
            </a:r>
          </a:p>
          <a:p>
            <a:pPr marL="990600" lvl="1" indent="-533400" algn="just">
              <a:defRPr/>
            </a:pPr>
            <a:r>
              <a:rPr lang="en-US" dirty="0">
                <a:solidFill>
                  <a:schemeClr val="accent2"/>
                </a:solidFill>
                <a:latin typeface="Calibri" pitchFamily="34" charset="0"/>
              </a:rPr>
              <a:t>The additional cost to store the derived data and keep it consistent with operational data.</a:t>
            </a:r>
          </a:p>
          <a:p>
            <a:pPr marL="990600" lvl="1" indent="-533400" algn="just">
              <a:defRPr/>
            </a:pPr>
            <a:r>
              <a:rPr lang="en-US" dirty="0">
                <a:solidFill>
                  <a:schemeClr val="accent2"/>
                </a:solidFill>
                <a:latin typeface="Calibri" pitchFamily="34" charset="0"/>
              </a:rPr>
              <a:t>The cost to calculate each time it is required.</a:t>
            </a:r>
          </a:p>
          <a:p>
            <a:pPr marL="341313" indent="-341313" algn="just">
              <a:defRPr/>
            </a:pPr>
            <a:r>
              <a:rPr lang="en-US" sz="2400" dirty="0">
                <a:latin typeface="Calibri" pitchFamily="34" charset="0"/>
              </a:rPr>
              <a:t>The less expensive option is chosen subject to performance constraints. </a:t>
            </a:r>
          </a:p>
          <a:p>
            <a:pPr marL="341313" indent="-341313" algn="just">
              <a:defRPr/>
            </a:pPr>
            <a:r>
              <a:rPr lang="en-US" sz="2400" dirty="0">
                <a:latin typeface="Calibri" pitchFamily="34" charset="0"/>
              </a:rPr>
              <a:t>Derived attribute should be stored when: </a:t>
            </a:r>
          </a:p>
          <a:p>
            <a:pPr marL="990600" lvl="1" indent="-533400" algn="just">
              <a:defRPr/>
            </a:pPr>
            <a:r>
              <a:rPr lang="en-US" dirty="0">
                <a:solidFill>
                  <a:schemeClr val="accent2"/>
                </a:solidFill>
                <a:latin typeface="Calibri" pitchFamily="34" charset="0"/>
              </a:rPr>
              <a:t>A frequent query is made against it.</a:t>
            </a:r>
          </a:p>
          <a:p>
            <a:pPr marL="990600" lvl="1" indent="-533400" algn="just">
              <a:defRPr/>
            </a:pPr>
            <a:r>
              <a:rPr lang="en-US" dirty="0">
                <a:solidFill>
                  <a:schemeClr val="accent2"/>
                </a:solidFill>
                <a:latin typeface="Calibri" pitchFamily="34" charset="0"/>
              </a:rPr>
              <a:t>The DBMS’s query language cannot easily calculate the derived attribute. </a:t>
            </a:r>
            <a:endParaRPr lang="en-US" dirty="0">
              <a:latin typeface="Calibri" pitchFamily="34" charset="0"/>
            </a:endParaRPr>
          </a:p>
          <a:p>
            <a:pPr marL="609600" indent="-609600" algn="just">
              <a:defRPr/>
            </a:pPr>
            <a:endParaRPr lang="en-US" sz="2400" dirty="0">
              <a:latin typeface="Calibri" pitchFamily="34" charset="0"/>
            </a:endParaRPr>
          </a:p>
        </p:txBody>
      </p:sp>
      <p:sp>
        <p:nvSpPr>
          <p:cNvPr id="14340" name="Rectangle 4">
            <a:extLst>
              <a:ext uri="{FF2B5EF4-FFF2-40B4-BE49-F238E27FC236}">
                <a16:creationId xmlns:a16="http://schemas.microsoft.com/office/drawing/2014/main" id="{1ED0CFAF-9FDC-278C-16EA-5494DFC28C49}"/>
              </a:ext>
            </a:extLst>
          </p:cNvPr>
          <p:cNvSpPr>
            <a:spLocks noChangeArrowheads="1"/>
          </p:cNvSpPr>
          <p:nvPr/>
        </p:nvSpPr>
        <p:spPr bwMode="auto">
          <a:xfrm>
            <a:off x="4787900" y="188913"/>
            <a:ext cx="41767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a:r>
              <a:rPr lang="en-US" altLang="en-US" b="1">
                <a:solidFill>
                  <a:schemeClr val="accent2"/>
                </a:solidFill>
              </a:rPr>
              <a:t>Physical Database Design</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9D421A7-2044-5733-AA0F-504CF8DA3CFC}"/>
              </a:ext>
            </a:extLst>
          </p:cNvPr>
          <p:cNvSpPr>
            <a:spLocks noGrp="1" noChangeArrowheads="1"/>
          </p:cNvSpPr>
          <p:nvPr>
            <p:ph type="title"/>
          </p:nvPr>
        </p:nvSpPr>
        <p:spPr>
          <a:xfrm>
            <a:off x="323850" y="692150"/>
            <a:ext cx="4968875" cy="381000"/>
          </a:xfrm>
          <a:noFill/>
        </p:spPr>
        <p:txBody>
          <a:bodyPr/>
          <a:lstStyle/>
          <a:p>
            <a:pPr marL="685800" indent="-685800"/>
            <a:r>
              <a:rPr lang="en-US" altLang="en-US" sz="2800" b="1">
                <a:solidFill>
                  <a:srgbClr val="800000"/>
                </a:solidFill>
              </a:rPr>
              <a:t>Design general constraints</a:t>
            </a:r>
          </a:p>
        </p:txBody>
      </p:sp>
      <p:sp>
        <p:nvSpPr>
          <p:cNvPr id="15363" name="Rectangle 3">
            <a:extLst>
              <a:ext uri="{FF2B5EF4-FFF2-40B4-BE49-F238E27FC236}">
                <a16:creationId xmlns:a16="http://schemas.microsoft.com/office/drawing/2014/main" id="{FDEF680F-EA24-63E6-9991-1632D62D90A0}"/>
              </a:ext>
            </a:extLst>
          </p:cNvPr>
          <p:cNvSpPr>
            <a:spLocks noGrp="1" noChangeArrowheads="1"/>
          </p:cNvSpPr>
          <p:nvPr>
            <p:ph type="body" idx="1"/>
          </p:nvPr>
        </p:nvSpPr>
        <p:spPr>
          <a:xfrm>
            <a:off x="368300" y="1196975"/>
            <a:ext cx="8451850" cy="5240338"/>
          </a:xfrm>
        </p:spPr>
        <p:txBody>
          <a:bodyPr/>
          <a:lstStyle/>
          <a:p>
            <a:pPr marL="341313" indent="-341313" algn="just"/>
            <a:r>
              <a:rPr lang="en-US" altLang="en-US" sz="3200" dirty="0">
                <a:latin typeface="Calibri" panose="020F0502020204030204" pitchFamily="34" charset="0"/>
              </a:rPr>
              <a:t>Constraints are designed to enforce business rules and the correctness of data.</a:t>
            </a:r>
          </a:p>
          <a:p>
            <a:pPr marL="341313" indent="-341313" algn="just"/>
            <a:r>
              <a:rPr lang="en-US" altLang="en-US" sz="3200" dirty="0">
                <a:latin typeface="Calibri" panose="020F0502020204030204" pitchFamily="34" charset="0"/>
              </a:rPr>
              <a:t>The constraints defined at physical database design can greatly reduce the programming effort at the application level. </a:t>
            </a:r>
          </a:p>
          <a:p>
            <a:pPr marL="341313" indent="-341313" algn="just"/>
            <a:r>
              <a:rPr lang="en-US" altLang="en-US" sz="3200" dirty="0">
                <a:latin typeface="Calibri" panose="020F0502020204030204" pitchFamily="34" charset="0"/>
              </a:rPr>
              <a:t>We can introduce constraints such as DEFAULT value, CHECK constraint, Referential Integrity, database triggers etc.</a:t>
            </a:r>
          </a:p>
        </p:txBody>
      </p:sp>
      <p:sp>
        <p:nvSpPr>
          <p:cNvPr id="15364" name="Rectangle 4">
            <a:extLst>
              <a:ext uri="{FF2B5EF4-FFF2-40B4-BE49-F238E27FC236}">
                <a16:creationId xmlns:a16="http://schemas.microsoft.com/office/drawing/2014/main" id="{B3B934D2-D7B7-D752-CF40-AEB31ED9D720}"/>
              </a:ext>
            </a:extLst>
          </p:cNvPr>
          <p:cNvSpPr>
            <a:spLocks noChangeArrowheads="1"/>
          </p:cNvSpPr>
          <p:nvPr/>
        </p:nvSpPr>
        <p:spPr bwMode="auto">
          <a:xfrm>
            <a:off x="4787900" y="188913"/>
            <a:ext cx="41767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a:r>
              <a:rPr lang="en-US" altLang="en-US" b="1" dirty="0">
                <a:solidFill>
                  <a:schemeClr val="accent2"/>
                </a:solidFill>
              </a:rPr>
              <a:t>Physical Database Design</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3DEAA-90EF-3613-E6EB-708BA2097D0C}"/>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23BB7219-F312-730F-BA41-37C22404216F}"/>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libri" panose="020F0502020204030204" pitchFamily="34" charset="0"/>
              </a:rPr>
              <a:t>File organization</a:t>
            </a:r>
          </a:p>
        </p:txBody>
      </p:sp>
      <p:sp>
        <p:nvSpPr>
          <p:cNvPr id="2" name="Content Placeholder 1">
            <a:extLst>
              <a:ext uri="{FF2B5EF4-FFF2-40B4-BE49-F238E27FC236}">
                <a16:creationId xmlns:a16="http://schemas.microsoft.com/office/drawing/2014/main" id="{D34E0FE1-2119-AB17-147A-0999F50FD9F5}"/>
              </a:ext>
            </a:extLst>
          </p:cNvPr>
          <p:cNvSpPr>
            <a:spLocks noGrp="1"/>
          </p:cNvSpPr>
          <p:nvPr>
            <p:ph sz="quarter" idx="1"/>
          </p:nvPr>
        </p:nvSpPr>
        <p:spPr>
          <a:xfrm>
            <a:off x="400050" y="649734"/>
            <a:ext cx="8492430" cy="6091634"/>
          </a:xfrm>
        </p:spPr>
        <p:txBody>
          <a:bodyPr/>
          <a:lstStyle/>
          <a:p>
            <a:pPr algn="just">
              <a:spcBef>
                <a:spcPts val="300"/>
              </a:spcBef>
              <a:defRPr/>
            </a:pPr>
            <a:r>
              <a:rPr lang="en-US" sz="2400" dirty="0">
                <a:latin typeface="Calibri" pitchFamily="34" charset="0"/>
              </a:rPr>
              <a:t>A database is mapped into a number of different files that are maintained by the underlying operating system.</a:t>
            </a:r>
          </a:p>
          <a:p>
            <a:pPr algn="just">
              <a:spcBef>
                <a:spcPts val="300"/>
              </a:spcBef>
              <a:defRPr/>
            </a:pPr>
            <a:r>
              <a:rPr lang="en-US" sz="2400" dirty="0">
                <a:latin typeface="Calibri" pitchFamily="34" charset="0"/>
              </a:rPr>
              <a:t>A file is organized logically as a sequence of records that are mapped onto disk blocks.</a:t>
            </a:r>
          </a:p>
          <a:p>
            <a:pPr algn="just">
              <a:spcBef>
                <a:spcPts val="300"/>
              </a:spcBef>
              <a:defRPr/>
            </a:pPr>
            <a:r>
              <a:rPr lang="en-US" sz="2400" dirty="0">
                <a:latin typeface="Calibri" pitchFamily="34" charset="0"/>
              </a:rPr>
              <a:t>Fixed length records</a:t>
            </a:r>
          </a:p>
          <a:p>
            <a:pPr algn="just">
              <a:spcBef>
                <a:spcPts val="300"/>
              </a:spcBef>
              <a:defRPr/>
            </a:pPr>
            <a:r>
              <a:rPr lang="en-US" sz="2400" dirty="0">
                <a:latin typeface="Calibri" pitchFamily="34" charset="0"/>
              </a:rPr>
              <a:t>Variable length records</a:t>
            </a:r>
          </a:p>
          <a:p>
            <a:pPr algn="just">
              <a:spcBef>
                <a:spcPts val="300"/>
              </a:spcBef>
              <a:defRPr/>
            </a:pPr>
            <a:r>
              <a:rPr lang="en-US" sz="2400" dirty="0">
                <a:latin typeface="Calibri" pitchFamily="34" charset="0"/>
              </a:rPr>
              <a:t>The simplest file organization is to store the records as per the sequence of insert operations. </a:t>
            </a:r>
          </a:p>
          <a:p>
            <a:pPr algn="just">
              <a:spcBef>
                <a:spcPts val="300"/>
              </a:spcBef>
              <a:defRPr/>
            </a:pPr>
            <a:r>
              <a:rPr lang="en-US" sz="2400" dirty="0">
                <a:latin typeface="Calibri" pitchFamily="34" charset="0"/>
              </a:rPr>
              <a:t>Possible actions in response to a delete operation?</a:t>
            </a:r>
          </a:p>
          <a:p>
            <a:pPr lvl="1" algn="just">
              <a:spcBef>
                <a:spcPts val="300"/>
              </a:spcBef>
              <a:buSzPct val="100000"/>
              <a:buFontTx/>
              <a:buChar char="-"/>
              <a:defRPr/>
            </a:pPr>
            <a:r>
              <a:rPr lang="en-US" sz="2200" dirty="0">
                <a:latin typeface="Calibri" pitchFamily="34" charset="0"/>
              </a:rPr>
              <a:t>Move the record that comes after it into the space formerly occupied by the deleted record, and so on, until every record following the deleted record has been moved ahead.</a:t>
            </a:r>
          </a:p>
          <a:p>
            <a:pPr lvl="1" algn="just">
              <a:spcBef>
                <a:spcPts val="300"/>
              </a:spcBef>
              <a:buFontTx/>
              <a:buChar char="-"/>
              <a:defRPr/>
            </a:pPr>
            <a:r>
              <a:rPr lang="en-US" sz="2200" dirty="0">
                <a:latin typeface="Calibri" pitchFamily="34" charset="0"/>
              </a:rPr>
              <a:t>Move the final record of the file into the space occupied by the deleted record</a:t>
            </a:r>
          </a:p>
          <a:p>
            <a:pPr lvl="1" algn="just">
              <a:spcBef>
                <a:spcPts val="300"/>
              </a:spcBef>
              <a:buFontTx/>
              <a:buChar char="-"/>
              <a:defRPr/>
            </a:pPr>
            <a:r>
              <a:rPr lang="en-US" sz="2200" dirty="0">
                <a:latin typeface="Calibri" pitchFamily="34" charset="0"/>
              </a:rPr>
              <a:t>Wait for a subsequent insertion to utilize the space occupied by the deleted record. This requires additional structure (file header). </a:t>
            </a:r>
            <a:endParaRPr lang="en-US" sz="2400" dirty="0"/>
          </a:p>
        </p:txBody>
      </p:sp>
    </p:spTree>
    <p:extLst>
      <p:ext uri="{BB962C8B-B14F-4D97-AF65-F5344CB8AC3E}">
        <p14:creationId xmlns:p14="http://schemas.microsoft.com/office/powerpoint/2010/main" val="4953729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anim calcmode="lin" valueType="num">
                                      <p:cBhvr additive="base">
                                        <p:cTn id="7"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7" end="7"/>
                                            </p:txEl>
                                          </p:spTgt>
                                        </p:tgtEl>
                                        <p:attrNameLst>
                                          <p:attrName>style.visibility</p:attrName>
                                        </p:attrNameLst>
                                      </p:cBhvr>
                                      <p:to>
                                        <p:strVal val="visible"/>
                                      </p:to>
                                    </p:set>
                                    <p:anim calcmode="lin" valueType="num">
                                      <p:cBhvr additive="base">
                                        <p:cTn id="11"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anim calcmode="lin" valueType="num">
                                      <p:cBhvr additive="base">
                                        <p:cTn id="15"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49069-73E9-F4A6-C673-516E7816D997}"/>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5392F0A6-8BA6-94A9-6096-79819AF48792}"/>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libri" panose="020F0502020204030204" pitchFamily="34" charset="0"/>
              </a:rPr>
              <a:t>File organization</a:t>
            </a:r>
          </a:p>
        </p:txBody>
      </p:sp>
      <p:pic>
        <p:nvPicPr>
          <p:cNvPr id="4" name="Picture 3">
            <a:extLst>
              <a:ext uri="{FF2B5EF4-FFF2-40B4-BE49-F238E27FC236}">
                <a16:creationId xmlns:a16="http://schemas.microsoft.com/office/drawing/2014/main" id="{992F88B6-D90C-A5BD-D713-FBE40CC24977}"/>
              </a:ext>
            </a:extLst>
          </p:cNvPr>
          <p:cNvPicPr>
            <a:picLocks noChangeAspect="1"/>
          </p:cNvPicPr>
          <p:nvPr/>
        </p:nvPicPr>
        <p:blipFill>
          <a:blip r:embed="rId2"/>
          <a:stretch>
            <a:fillRect/>
          </a:stretch>
        </p:blipFill>
        <p:spPr>
          <a:xfrm>
            <a:off x="467544" y="2348880"/>
            <a:ext cx="8351732" cy="3520214"/>
          </a:xfrm>
          <a:prstGeom prst="rect">
            <a:avLst/>
          </a:prstGeom>
        </p:spPr>
      </p:pic>
      <p:sp>
        <p:nvSpPr>
          <p:cNvPr id="2" name="Content Placeholder 1">
            <a:extLst>
              <a:ext uri="{FF2B5EF4-FFF2-40B4-BE49-F238E27FC236}">
                <a16:creationId xmlns:a16="http://schemas.microsoft.com/office/drawing/2014/main" id="{F9BFB244-5741-D083-ECB3-D4A1BCDD3C0C}"/>
              </a:ext>
            </a:extLst>
          </p:cNvPr>
          <p:cNvSpPr>
            <a:spLocks noGrp="1"/>
          </p:cNvSpPr>
          <p:nvPr>
            <p:ph sz="quarter" idx="1"/>
          </p:nvPr>
        </p:nvSpPr>
        <p:spPr>
          <a:xfrm>
            <a:off x="400050" y="692696"/>
            <a:ext cx="8492430" cy="6091634"/>
          </a:xfrm>
        </p:spPr>
        <p:txBody>
          <a:bodyPr/>
          <a:lstStyle/>
          <a:p>
            <a:pPr algn="just">
              <a:spcBef>
                <a:spcPts val="300"/>
              </a:spcBef>
              <a:defRPr/>
            </a:pPr>
            <a:r>
              <a:rPr lang="en-US" sz="2200" b="1" dirty="0">
                <a:solidFill>
                  <a:srgbClr val="0000CC"/>
                </a:solidFill>
                <a:latin typeface="Calibri" pitchFamily="34" charset="0"/>
              </a:rPr>
              <a:t>File header</a:t>
            </a:r>
            <a:r>
              <a:rPr lang="en-US" sz="2200" dirty="0">
                <a:latin typeface="Calibri" pitchFamily="34" charset="0"/>
              </a:rPr>
              <a:t> or </a:t>
            </a:r>
            <a:r>
              <a:rPr lang="en-US" sz="2200" b="1" dirty="0">
                <a:solidFill>
                  <a:srgbClr val="0000CC"/>
                </a:solidFill>
                <a:latin typeface="Calibri" pitchFamily="34" charset="0"/>
              </a:rPr>
              <a:t>file descriptor</a:t>
            </a:r>
            <a:r>
              <a:rPr lang="en-US" sz="2200" dirty="0">
                <a:latin typeface="Calibri" pitchFamily="34" charset="0"/>
              </a:rPr>
              <a:t> contains metadata of a file plus the address of the first deleted record. </a:t>
            </a:r>
          </a:p>
          <a:p>
            <a:pPr algn="just">
              <a:spcBef>
                <a:spcPts val="300"/>
              </a:spcBef>
              <a:defRPr/>
            </a:pPr>
            <a:r>
              <a:rPr lang="en-US" sz="2200" dirty="0">
                <a:latin typeface="Calibri" pitchFamily="34" charset="0"/>
              </a:rPr>
              <a:t>The addresses of the deleted records are maintained in </a:t>
            </a:r>
            <a:r>
              <a:rPr lang="en-US" sz="2200" dirty="0">
                <a:solidFill>
                  <a:srgbClr val="FF0000"/>
                </a:solidFill>
                <a:latin typeface="Calibri" pitchFamily="34" charset="0"/>
              </a:rPr>
              <a:t>link list</a:t>
            </a:r>
            <a:r>
              <a:rPr lang="en-US" sz="2200" dirty="0">
                <a:latin typeface="Calibri" pitchFamily="34" charset="0"/>
              </a:rPr>
              <a:t> as shown in the figure below. </a:t>
            </a:r>
          </a:p>
        </p:txBody>
      </p:sp>
    </p:spTree>
    <p:extLst>
      <p:ext uri="{BB962C8B-B14F-4D97-AF65-F5344CB8AC3E}">
        <p14:creationId xmlns:p14="http://schemas.microsoft.com/office/powerpoint/2010/main" val="38612539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E9C46-697C-9F71-D08E-E1D64D72089F}"/>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52278C1F-28AC-929E-E1FE-AFFF7EC0F94F}"/>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libri" panose="020F0502020204030204" pitchFamily="34" charset="0"/>
              </a:rPr>
              <a:t>File organization</a:t>
            </a:r>
          </a:p>
        </p:txBody>
      </p:sp>
      <p:sp>
        <p:nvSpPr>
          <p:cNvPr id="2" name="Content Placeholder 1">
            <a:extLst>
              <a:ext uri="{FF2B5EF4-FFF2-40B4-BE49-F238E27FC236}">
                <a16:creationId xmlns:a16="http://schemas.microsoft.com/office/drawing/2014/main" id="{FB9BE3D9-7C62-8F21-D440-619D9123E376}"/>
              </a:ext>
            </a:extLst>
          </p:cNvPr>
          <p:cNvSpPr>
            <a:spLocks noGrp="1"/>
          </p:cNvSpPr>
          <p:nvPr>
            <p:ph sz="quarter" idx="1"/>
          </p:nvPr>
        </p:nvSpPr>
        <p:spPr>
          <a:xfrm>
            <a:off x="323528" y="217686"/>
            <a:ext cx="8492430" cy="6091634"/>
          </a:xfrm>
        </p:spPr>
        <p:txBody>
          <a:bodyPr/>
          <a:lstStyle/>
          <a:p>
            <a:pPr marL="0" indent="0" algn="just">
              <a:spcBef>
                <a:spcPts val="300"/>
              </a:spcBef>
              <a:buNone/>
              <a:defRPr/>
            </a:pPr>
            <a:r>
              <a:rPr lang="en-US" sz="2400" b="1" dirty="0">
                <a:solidFill>
                  <a:srgbClr val="0000CC"/>
                </a:solidFill>
                <a:latin typeface="Calibri" pitchFamily="34" charset="0"/>
              </a:rPr>
              <a:t>					          </a:t>
            </a:r>
          </a:p>
          <a:p>
            <a:pPr marL="0" indent="0" algn="just">
              <a:spcBef>
                <a:spcPts val="300"/>
              </a:spcBef>
              <a:buNone/>
              <a:defRPr/>
            </a:pPr>
            <a:r>
              <a:rPr lang="en-US" sz="2400" b="1" dirty="0">
                <a:solidFill>
                  <a:srgbClr val="0000CC"/>
                </a:solidFill>
                <a:latin typeface="Calibri" pitchFamily="34" charset="0"/>
              </a:rPr>
              <a:t>Variable length Records</a:t>
            </a:r>
          </a:p>
          <a:p>
            <a:pPr algn="just">
              <a:spcBef>
                <a:spcPts val="300"/>
              </a:spcBef>
              <a:defRPr/>
            </a:pPr>
            <a:r>
              <a:rPr lang="en-US" sz="2200" dirty="0">
                <a:latin typeface="Calibri" pitchFamily="34" charset="0"/>
              </a:rPr>
              <a:t>The representation typically has two parts: an initial part with fixed-length information, whose structure is the same for all records of the same relation, followed by the contents of variable-length attributes. </a:t>
            </a:r>
          </a:p>
          <a:p>
            <a:pPr algn="just">
              <a:spcBef>
                <a:spcPts val="300"/>
              </a:spcBef>
              <a:defRPr/>
            </a:pPr>
            <a:r>
              <a:rPr lang="en-US" sz="2200" dirty="0">
                <a:latin typeface="Calibri" pitchFamily="34" charset="0"/>
              </a:rPr>
              <a:t>Variable-length attributes are represented by a pair </a:t>
            </a:r>
            <a:r>
              <a:rPr lang="en-US" sz="2200" dirty="0">
                <a:solidFill>
                  <a:srgbClr val="FF0000"/>
                </a:solidFill>
                <a:latin typeface="Calibri" pitchFamily="34" charset="0"/>
              </a:rPr>
              <a:t>(offset, length),</a:t>
            </a:r>
            <a:r>
              <a:rPr lang="en-US" sz="2200" dirty="0">
                <a:latin typeface="Calibri" pitchFamily="34" charset="0"/>
              </a:rPr>
              <a:t> where offset denotes where the data for that attribute begins within the record, and length is the length (in bytes) of the attribute.</a:t>
            </a:r>
          </a:p>
          <a:p>
            <a:pPr algn="just">
              <a:spcBef>
                <a:spcPts val="300"/>
              </a:spcBef>
              <a:defRPr/>
            </a:pPr>
            <a:r>
              <a:rPr lang="en-US" sz="2200" dirty="0">
                <a:latin typeface="Calibri" pitchFamily="34" charset="0"/>
              </a:rPr>
              <a:t>Consider a relation</a:t>
            </a:r>
            <a:r>
              <a:rPr lang="en-US" sz="2200" dirty="0">
                <a:solidFill>
                  <a:srgbClr val="0000CC"/>
                </a:solidFill>
                <a:latin typeface="Calibri" panose="020F0502020204030204" pitchFamily="34" charset="0"/>
              </a:rPr>
              <a:t> EMP (ID, </a:t>
            </a:r>
            <a:r>
              <a:rPr lang="en-US" sz="2200" dirty="0" err="1">
                <a:solidFill>
                  <a:srgbClr val="0000CC"/>
                </a:solidFill>
                <a:latin typeface="Calibri" panose="020F0502020204030204" pitchFamily="34" charset="0"/>
              </a:rPr>
              <a:t>eName</a:t>
            </a:r>
            <a:r>
              <a:rPr lang="en-US" sz="2200" dirty="0">
                <a:solidFill>
                  <a:srgbClr val="0000CC"/>
                </a:solidFill>
                <a:latin typeface="Calibri" panose="020F0502020204030204" pitchFamily="34" charset="0"/>
              </a:rPr>
              <a:t>, job, </a:t>
            </a:r>
            <a:r>
              <a:rPr lang="en-US" sz="2200" dirty="0" err="1">
                <a:solidFill>
                  <a:srgbClr val="0000CC"/>
                </a:solidFill>
                <a:latin typeface="Calibri" panose="020F0502020204030204" pitchFamily="34" charset="0"/>
              </a:rPr>
              <a:t>sal</a:t>
            </a:r>
            <a:r>
              <a:rPr lang="en-US" sz="2200" dirty="0">
                <a:solidFill>
                  <a:srgbClr val="0000CC"/>
                </a:solidFill>
                <a:latin typeface="Calibri" panose="020F0502020204030204" pitchFamily="34" charset="0"/>
              </a:rPr>
              <a:t>)</a:t>
            </a:r>
          </a:p>
          <a:p>
            <a:pPr algn="just">
              <a:spcBef>
                <a:spcPts val="300"/>
              </a:spcBef>
              <a:defRPr/>
            </a:pPr>
            <a:r>
              <a:rPr lang="en-US" sz="2200" dirty="0">
                <a:latin typeface="Calibri" pitchFamily="34" charset="0"/>
              </a:rPr>
              <a:t>The attributes are </a:t>
            </a:r>
            <a:r>
              <a:rPr lang="en-US" sz="2200" dirty="0">
                <a:solidFill>
                  <a:srgbClr val="0000CC"/>
                </a:solidFill>
                <a:latin typeface="Calibri" panose="020F0502020204030204" pitchFamily="34" charset="0"/>
              </a:rPr>
              <a:t>ID, </a:t>
            </a:r>
            <a:r>
              <a:rPr lang="en-US" sz="2200" dirty="0" err="1">
                <a:solidFill>
                  <a:srgbClr val="0000CC"/>
                </a:solidFill>
                <a:latin typeface="Calibri" panose="020F0502020204030204" pitchFamily="34" charset="0"/>
              </a:rPr>
              <a:t>eName</a:t>
            </a:r>
            <a:r>
              <a:rPr lang="en-US" sz="2200" dirty="0">
                <a:solidFill>
                  <a:srgbClr val="0000CC"/>
                </a:solidFill>
                <a:latin typeface="Calibri" panose="020F0502020204030204" pitchFamily="34" charset="0"/>
              </a:rPr>
              <a:t>, job</a:t>
            </a:r>
            <a:r>
              <a:rPr lang="en-US" sz="2200" dirty="0">
                <a:latin typeface="Calibri" panose="020F0502020204030204" pitchFamily="34" charset="0"/>
              </a:rPr>
              <a:t> are variable-length attributes, and </a:t>
            </a:r>
            <a:r>
              <a:rPr lang="en-US" sz="2200" dirty="0" err="1">
                <a:latin typeface="Calibri" panose="020F0502020204030204" pitchFamily="34" charset="0"/>
              </a:rPr>
              <a:t>sal</a:t>
            </a:r>
            <a:r>
              <a:rPr lang="en-US" sz="2200" dirty="0">
                <a:latin typeface="Calibri" panose="020F0502020204030204" pitchFamily="34" charset="0"/>
              </a:rPr>
              <a:t> is fixed length attribute of 8 bytes. </a:t>
            </a:r>
          </a:p>
          <a:p>
            <a:pPr algn="just">
              <a:spcBef>
                <a:spcPts val="300"/>
              </a:spcBef>
              <a:defRPr/>
            </a:pPr>
            <a:r>
              <a:rPr lang="en-US" sz="2200" dirty="0">
                <a:latin typeface="Calibri" panose="020F0502020204030204" pitchFamily="34" charset="0"/>
              </a:rPr>
              <a:t>Assuming that the offset and length use 2 bytes each, representation of a variable length record of EMP is shown below. </a:t>
            </a:r>
          </a:p>
          <a:p>
            <a:pPr algn="just">
              <a:spcBef>
                <a:spcPts val="300"/>
              </a:spcBef>
              <a:defRPr/>
            </a:pPr>
            <a:r>
              <a:rPr lang="en-US" sz="2200" dirty="0">
                <a:latin typeface="Calibri" panose="020F0502020204030204" pitchFamily="34" charset="0"/>
              </a:rPr>
              <a:t>Bit 1 in </a:t>
            </a:r>
            <a:r>
              <a:rPr lang="en-US" sz="2200" dirty="0">
                <a:solidFill>
                  <a:srgbClr val="FF0000"/>
                </a:solidFill>
                <a:latin typeface="Calibri" panose="020F0502020204030204" pitchFamily="34" charset="0"/>
              </a:rPr>
              <a:t>NULL bitmap </a:t>
            </a:r>
            <a:r>
              <a:rPr lang="en-US" sz="2200" dirty="0">
                <a:latin typeface="Calibri" panose="020F0502020204030204" pitchFamily="34" charset="0"/>
              </a:rPr>
              <a:t>at a certain position indicates NULL value of an attribute. </a:t>
            </a:r>
            <a:endParaRPr lang="en-US" sz="2200" dirty="0"/>
          </a:p>
        </p:txBody>
      </p:sp>
      <p:pic>
        <p:nvPicPr>
          <p:cNvPr id="4" name="Picture 3">
            <a:extLst>
              <a:ext uri="{FF2B5EF4-FFF2-40B4-BE49-F238E27FC236}">
                <a16:creationId xmlns:a16="http://schemas.microsoft.com/office/drawing/2014/main" id="{3500F23E-836F-3B83-7B91-EF1EE59FE427}"/>
              </a:ext>
            </a:extLst>
          </p:cNvPr>
          <p:cNvPicPr>
            <a:picLocks noChangeAspect="1"/>
          </p:cNvPicPr>
          <p:nvPr/>
        </p:nvPicPr>
        <p:blipFill>
          <a:blip r:embed="rId2"/>
          <a:stretch>
            <a:fillRect/>
          </a:stretch>
        </p:blipFill>
        <p:spPr>
          <a:xfrm>
            <a:off x="2157192" y="5444926"/>
            <a:ext cx="6663280" cy="1224434"/>
          </a:xfrm>
          <a:prstGeom prst="rect">
            <a:avLst/>
          </a:prstGeom>
        </p:spPr>
      </p:pic>
    </p:spTree>
    <p:extLst>
      <p:ext uri="{BB962C8B-B14F-4D97-AF65-F5344CB8AC3E}">
        <p14:creationId xmlns:p14="http://schemas.microsoft.com/office/powerpoint/2010/main" val="114309798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6FC8E-2AAF-DBA6-FE87-3D492B520FA0}"/>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ED40AD76-9E86-9F6D-6C13-441867866E90}"/>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libri" panose="020F0502020204030204" pitchFamily="34" charset="0"/>
              </a:rPr>
              <a:t>Record Blocking</a:t>
            </a: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48EFA49-ABFD-6691-A417-543A24EED2F4}"/>
                  </a:ext>
                </a:extLst>
              </p:cNvPr>
              <p:cNvSpPr>
                <a:spLocks noGrp="1"/>
              </p:cNvSpPr>
              <p:nvPr>
                <p:ph sz="quarter" idx="1"/>
              </p:nvPr>
            </p:nvSpPr>
            <p:spPr>
              <a:xfrm>
                <a:off x="400050" y="649734"/>
                <a:ext cx="8492430" cy="6091634"/>
              </a:xfrm>
            </p:spPr>
            <p:txBody>
              <a:bodyPr/>
              <a:lstStyle/>
              <a:p>
                <a:pPr algn="just">
                  <a:spcBef>
                    <a:spcPts val="300"/>
                  </a:spcBef>
                  <a:defRPr/>
                </a:pPr>
                <a:r>
                  <a:rPr lang="en-US" sz="2200" dirty="0">
                    <a:latin typeface="Calibri" pitchFamily="34" charset="0"/>
                  </a:rPr>
                  <a:t>The records of a file must be allocated to disk blocks because a block is the unit of data transfer between disk and memory.</a:t>
                </a:r>
              </a:p>
              <a:p>
                <a:pPr algn="just">
                  <a:spcBef>
                    <a:spcPts val="300"/>
                  </a:spcBef>
                  <a:defRPr/>
                </a:pPr>
                <a:r>
                  <a:rPr lang="en-US" sz="2200" dirty="0">
                    <a:latin typeface="Calibri" pitchFamily="34" charset="0"/>
                  </a:rPr>
                  <a:t>When the block size is larger than the record size, each block will contain numerous records, although some files may have unusually large records that cannot fit in one block.</a:t>
                </a:r>
              </a:p>
              <a:p>
                <a:pPr algn="just">
                  <a:spcBef>
                    <a:spcPts val="300"/>
                  </a:spcBef>
                  <a:defRPr/>
                </a:pPr>
                <a:r>
                  <a:rPr lang="en-US" sz="2200" b="1" dirty="0">
                    <a:solidFill>
                      <a:srgbClr val="0000CC"/>
                    </a:solidFill>
                    <a:latin typeface="Calibri" pitchFamily="34" charset="0"/>
                  </a:rPr>
                  <a:t>Blocking Factor (</a:t>
                </a:r>
                <a:r>
                  <a:rPr lang="en-US" sz="2200" b="1" dirty="0" err="1">
                    <a:solidFill>
                      <a:srgbClr val="0000CC"/>
                    </a:solidFill>
                    <a:latin typeface="Calibri" pitchFamily="34" charset="0"/>
                  </a:rPr>
                  <a:t>bfr</a:t>
                </a:r>
                <a:r>
                  <a:rPr lang="en-US" sz="2200" b="1" dirty="0">
                    <a:solidFill>
                      <a:srgbClr val="0000CC"/>
                    </a:solidFill>
                    <a:latin typeface="Calibri" pitchFamily="34" charset="0"/>
                  </a:rPr>
                  <a:t>):</a:t>
                </a:r>
                <a:r>
                  <a:rPr lang="en-US" sz="2200" dirty="0">
                    <a:latin typeface="Calibri" pitchFamily="34" charset="0"/>
                  </a:rPr>
                  <a:t> Suppose that the block size is </a:t>
                </a:r>
                <a:r>
                  <a:rPr lang="en-US" sz="2200" i="1" dirty="0">
                    <a:solidFill>
                      <a:srgbClr val="FF0000"/>
                    </a:solidFill>
                    <a:latin typeface="Calibri" pitchFamily="34" charset="0"/>
                  </a:rPr>
                  <a:t>B</a:t>
                </a:r>
                <a:r>
                  <a:rPr lang="en-US" sz="2200" dirty="0">
                    <a:latin typeface="Calibri" pitchFamily="34" charset="0"/>
                  </a:rPr>
                  <a:t> bytes. For a file of fixed-length records of size </a:t>
                </a:r>
                <a:r>
                  <a:rPr lang="en-US" sz="2200" i="1" dirty="0">
                    <a:solidFill>
                      <a:srgbClr val="FF0000"/>
                    </a:solidFill>
                    <a:latin typeface="Calibri" pitchFamily="34" charset="0"/>
                  </a:rPr>
                  <a:t>R</a:t>
                </a:r>
                <a:r>
                  <a:rPr lang="en-US" sz="2200" dirty="0">
                    <a:latin typeface="Calibri" pitchFamily="34" charset="0"/>
                  </a:rPr>
                  <a:t> bytes, with </a:t>
                </a:r>
                <a14:m>
                  <m:oMath xmlns:m="http://schemas.openxmlformats.org/officeDocument/2006/math">
                    <m:r>
                      <a:rPr lang="en-US" sz="2200" i="1" dirty="0" smtClean="0">
                        <a:solidFill>
                          <a:srgbClr val="FF0000"/>
                        </a:solidFill>
                        <a:latin typeface="Cambria Math" panose="02040503050406030204" pitchFamily="18" charset="0"/>
                      </a:rPr>
                      <m:t>𝐵</m:t>
                    </m:r>
                    <m:r>
                      <a:rPr lang="en-US" sz="2200" i="1" dirty="0" smtClean="0">
                        <a:solidFill>
                          <a:srgbClr val="FF0000"/>
                        </a:solidFill>
                        <a:latin typeface="Cambria Math" panose="02040503050406030204" pitchFamily="18" charset="0"/>
                      </a:rPr>
                      <m:t> ≥ </m:t>
                    </m:r>
                    <m:r>
                      <a:rPr lang="en-US" sz="2200" i="1" dirty="0" smtClean="0">
                        <a:solidFill>
                          <a:srgbClr val="FF0000"/>
                        </a:solidFill>
                        <a:latin typeface="Cambria Math" panose="02040503050406030204" pitchFamily="18" charset="0"/>
                      </a:rPr>
                      <m:t>𝑅</m:t>
                    </m:r>
                  </m:oMath>
                </a14:m>
                <a:r>
                  <a:rPr lang="en-US" sz="2200" dirty="0">
                    <a:solidFill>
                      <a:srgbClr val="FF0000"/>
                    </a:solidFill>
                    <a:latin typeface="Calibri" pitchFamily="34" charset="0"/>
                  </a:rPr>
                  <a:t>,</a:t>
                </a:r>
                <a:r>
                  <a:rPr lang="en-US" sz="2200" dirty="0">
                    <a:latin typeface="Calibri" pitchFamily="34" charset="0"/>
                  </a:rPr>
                  <a:t> we can fit </a:t>
                </a:r>
                <a14:m>
                  <m:oMath xmlns:m="http://schemas.openxmlformats.org/officeDocument/2006/math">
                    <m:r>
                      <a:rPr lang="en-US" sz="2200" i="1" dirty="0" smtClean="0">
                        <a:solidFill>
                          <a:srgbClr val="FF0000"/>
                        </a:solidFill>
                        <a:latin typeface="Cambria Math" panose="02040503050406030204" pitchFamily="18" charset="0"/>
                      </a:rPr>
                      <m:t>𝑏𝑓𝑟</m:t>
                    </m:r>
                    <m:r>
                      <a:rPr lang="en-US" sz="2200" i="1" dirty="0" smtClean="0">
                        <a:solidFill>
                          <a:srgbClr val="FF0000"/>
                        </a:solidFill>
                        <a:latin typeface="Cambria Math" panose="02040503050406030204" pitchFamily="18" charset="0"/>
                      </a:rPr>
                      <m:t> = ⎣</m:t>
                    </m:r>
                    <m:r>
                      <a:rPr lang="en-US" sz="2200" i="1" dirty="0" smtClean="0">
                        <a:solidFill>
                          <a:srgbClr val="FF0000"/>
                        </a:solidFill>
                        <a:latin typeface="Cambria Math" panose="02040503050406030204" pitchFamily="18" charset="0"/>
                      </a:rPr>
                      <m:t>𝐵</m:t>
                    </m:r>
                    <m:r>
                      <a:rPr lang="en-US" sz="2200" i="1" dirty="0" smtClean="0">
                        <a:solidFill>
                          <a:srgbClr val="FF0000"/>
                        </a:solidFill>
                        <a:latin typeface="Cambria Math" panose="02040503050406030204" pitchFamily="18" charset="0"/>
                      </a:rPr>
                      <m:t>/</m:t>
                    </m:r>
                    <m:r>
                      <a:rPr lang="en-US" sz="2200" i="1" dirty="0" smtClean="0">
                        <a:solidFill>
                          <a:srgbClr val="FF0000"/>
                        </a:solidFill>
                        <a:latin typeface="Cambria Math" panose="02040503050406030204" pitchFamily="18" charset="0"/>
                      </a:rPr>
                      <m:t>𝑅</m:t>
                    </m:r>
                    <m:r>
                      <a:rPr lang="en-US" sz="2200" i="1" dirty="0" smtClean="0">
                        <a:solidFill>
                          <a:srgbClr val="FF0000"/>
                        </a:solidFill>
                        <a:latin typeface="Cambria Math" panose="02040503050406030204" pitchFamily="18" charset="0"/>
                      </a:rPr>
                      <m:t>⎦</m:t>
                    </m:r>
                  </m:oMath>
                </a14:m>
                <a:r>
                  <a:rPr lang="en-US" sz="2200" dirty="0">
                    <a:latin typeface="Calibri" pitchFamily="34" charset="0"/>
                  </a:rPr>
                  <a:t> records per block.</a:t>
                </a:r>
              </a:p>
              <a:p>
                <a:pPr algn="just">
                  <a:spcBef>
                    <a:spcPts val="300"/>
                  </a:spcBef>
                  <a:defRPr/>
                </a:pPr>
                <a:r>
                  <a:rPr lang="en-US" sz="2200" dirty="0">
                    <a:latin typeface="Calibri" pitchFamily="34" charset="0"/>
                  </a:rPr>
                  <a:t>In general, </a:t>
                </a:r>
                <a:r>
                  <a:rPr lang="en-US" sz="2200" i="1" dirty="0">
                    <a:solidFill>
                      <a:srgbClr val="FF0000"/>
                    </a:solidFill>
                    <a:latin typeface="Calibri" pitchFamily="34" charset="0"/>
                  </a:rPr>
                  <a:t>R</a:t>
                </a:r>
                <a:r>
                  <a:rPr lang="en-US" sz="2200" dirty="0">
                    <a:latin typeface="Calibri" pitchFamily="34" charset="0"/>
                  </a:rPr>
                  <a:t> may not divide B exactly, so we have some unused space in each block equal to </a:t>
                </a:r>
                <a14:m>
                  <m:oMath xmlns:m="http://schemas.openxmlformats.org/officeDocument/2006/math">
                    <m:r>
                      <a:rPr lang="en-US" sz="2200" i="1" dirty="0" smtClean="0">
                        <a:solidFill>
                          <a:srgbClr val="FF0000"/>
                        </a:solidFill>
                        <a:latin typeface="Cambria Math" panose="02040503050406030204" pitchFamily="18" charset="0"/>
                      </a:rPr>
                      <m:t>𝐵</m:t>
                    </m:r>
                    <m:r>
                      <a:rPr lang="en-US" sz="2200" i="1" dirty="0" smtClean="0">
                        <a:solidFill>
                          <a:srgbClr val="FF0000"/>
                        </a:solidFill>
                        <a:latin typeface="Cambria Math" panose="02040503050406030204" pitchFamily="18" charset="0"/>
                      </a:rPr>
                      <m:t> − (</m:t>
                    </m:r>
                    <m:r>
                      <a:rPr lang="en-US" sz="2200" i="1" dirty="0" err="1" smtClean="0">
                        <a:solidFill>
                          <a:srgbClr val="FF0000"/>
                        </a:solidFill>
                        <a:latin typeface="Cambria Math" panose="02040503050406030204" pitchFamily="18" charset="0"/>
                      </a:rPr>
                      <m:t>𝑏𝑓𝑟</m:t>
                    </m:r>
                    <m:r>
                      <a:rPr lang="en-US" sz="2200" i="1" dirty="0" smtClean="0">
                        <a:solidFill>
                          <a:srgbClr val="FF0000"/>
                        </a:solidFill>
                        <a:latin typeface="Cambria Math" panose="02040503050406030204" pitchFamily="18" charset="0"/>
                      </a:rPr>
                      <m:t> ∗ </m:t>
                    </m:r>
                    <m:r>
                      <a:rPr lang="en-US" sz="2200" i="1" dirty="0" smtClean="0">
                        <a:solidFill>
                          <a:srgbClr val="FF0000"/>
                        </a:solidFill>
                        <a:latin typeface="Cambria Math" panose="02040503050406030204" pitchFamily="18" charset="0"/>
                      </a:rPr>
                      <m:t>𝑅</m:t>
                    </m:r>
                    <m:r>
                      <a:rPr lang="en-US" sz="2200" i="1" dirty="0" smtClean="0">
                        <a:solidFill>
                          <a:srgbClr val="FF0000"/>
                        </a:solidFill>
                        <a:latin typeface="Cambria Math" panose="02040503050406030204" pitchFamily="18" charset="0"/>
                      </a:rPr>
                      <m:t>)</m:t>
                    </m:r>
                  </m:oMath>
                </a14:m>
                <a:r>
                  <a:rPr lang="en-US" sz="2200" dirty="0">
                    <a:latin typeface="Calibri" pitchFamily="34" charset="0"/>
                  </a:rPr>
                  <a:t> bytes.</a:t>
                </a:r>
              </a:p>
              <a:p>
                <a:pPr marL="0" indent="0" algn="just">
                  <a:spcBef>
                    <a:spcPts val="300"/>
                  </a:spcBef>
                  <a:buNone/>
                  <a:defRPr/>
                </a:pPr>
                <a:endParaRPr lang="en-US" sz="1000" b="1" dirty="0">
                  <a:solidFill>
                    <a:srgbClr val="0000CC"/>
                  </a:solidFill>
                  <a:latin typeface="Calibri" pitchFamily="34" charset="0"/>
                </a:endParaRPr>
              </a:p>
              <a:p>
                <a:pPr algn="just">
                  <a:spcBef>
                    <a:spcPts val="300"/>
                  </a:spcBef>
                  <a:defRPr/>
                </a:pPr>
                <a:r>
                  <a:rPr lang="en-US" sz="2000" b="1" dirty="0">
                    <a:solidFill>
                      <a:srgbClr val="0000CC"/>
                    </a:solidFill>
                    <a:latin typeface="Calibri" pitchFamily="34" charset="0"/>
                  </a:rPr>
                  <a:t>Spanned organization:</a:t>
                </a:r>
                <a:r>
                  <a:rPr lang="en-US" sz="2000" dirty="0">
                    <a:latin typeface="Calibri" pitchFamily="34" charset="0"/>
                  </a:rPr>
                  <a:t> </a:t>
                </a:r>
              </a:p>
              <a:p>
                <a:pPr algn="just">
                  <a:spcBef>
                    <a:spcPts val="300"/>
                  </a:spcBef>
                  <a:defRPr/>
                </a:pPr>
                <a:r>
                  <a:rPr lang="en-US" sz="2000" dirty="0">
                    <a:latin typeface="Calibri" pitchFamily="34" charset="0"/>
                  </a:rPr>
                  <a:t>A record can be stored </a:t>
                </a:r>
              </a:p>
              <a:p>
                <a:pPr marL="0" indent="0" algn="just">
                  <a:spcBef>
                    <a:spcPts val="300"/>
                  </a:spcBef>
                  <a:buNone/>
                  <a:defRPr/>
                </a:pPr>
                <a:r>
                  <a:rPr lang="en-US" sz="2000" dirty="0">
                    <a:latin typeface="Calibri" pitchFamily="34" charset="0"/>
                  </a:rPr>
                  <a:t>    at multiple block.</a:t>
                </a:r>
              </a:p>
              <a:p>
                <a:pPr algn="just">
                  <a:spcBef>
                    <a:spcPts val="300"/>
                  </a:spcBef>
                  <a:defRPr/>
                </a:pPr>
                <a:r>
                  <a:rPr lang="en-US" sz="2000" b="1" dirty="0">
                    <a:solidFill>
                      <a:srgbClr val="0000CC"/>
                    </a:solidFill>
                    <a:latin typeface="Calibri" pitchFamily="34" charset="0"/>
                  </a:rPr>
                  <a:t>Un spanned organization:</a:t>
                </a:r>
              </a:p>
              <a:p>
                <a:pPr algn="just">
                  <a:spcBef>
                    <a:spcPts val="300"/>
                  </a:spcBef>
                  <a:defRPr/>
                </a:pPr>
                <a:r>
                  <a:rPr lang="en-US" sz="2000" dirty="0">
                    <a:latin typeface="Calibri" pitchFamily="34" charset="0"/>
                  </a:rPr>
                  <a:t>A record is not allowed </a:t>
                </a:r>
              </a:p>
              <a:p>
                <a:pPr marL="0" indent="0" algn="just">
                  <a:spcBef>
                    <a:spcPts val="300"/>
                  </a:spcBef>
                  <a:buNone/>
                  <a:defRPr/>
                </a:pPr>
                <a:r>
                  <a:rPr lang="en-US" sz="2000" dirty="0">
                    <a:latin typeface="Calibri" pitchFamily="34" charset="0"/>
                  </a:rPr>
                  <a:t>    to cross block boundaries. </a:t>
                </a:r>
              </a:p>
              <a:p>
                <a:pPr algn="just">
                  <a:spcBef>
                    <a:spcPts val="300"/>
                  </a:spcBef>
                  <a:defRPr/>
                </a:pPr>
                <a:endParaRPr lang="en-US" sz="2200" dirty="0">
                  <a:latin typeface="Calibri" pitchFamily="34" charset="0"/>
                </a:endParaRPr>
              </a:p>
              <a:p>
                <a:pPr algn="just">
                  <a:spcBef>
                    <a:spcPts val="300"/>
                  </a:spcBef>
                  <a:defRPr/>
                </a:pPr>
                <a:endParaRPr lang="en-US" sz="2200" dirty="0">
                  <a:latin typeface="Calibri" pitchFamily="34" charset="0"/>
                </a:endParaRPr>
              </a:p>
            </p:txBody>
          </p:sp>
        </mc:Choice>
        <mc:Fallback xmlns="">
          <p:sp>
            <p:nvSpPr>
              <p:cNvPr id="2" name="Content Placeholder 1">
                <a:extLst>
                  <a:ext uri="{FF2B5EF4-FFF2-40B4-BE49-F238E27FC236}">
                    <a16:creationId xmlns:a16="http://schemas.microsoft.com/office/drawing/2014/main" id="{748EFA49-ABFD-6691-A417-543A24EED2F4}"/>
                  </a:ext>
                </a:extLst>
              </p:cNvPr>
              <p:cNvSpPr>
                <a:spLocks noGrp="1" noRot="1" noChangeAspect="1" noMove="1" noResize="1" noEditPoints="1" noAdjustHandles="1" noChangeArrowheads="1" noChangeShapeType="1" noTextEdit="1"/>
              </p:cNvSpPr>
              <p:nvPr>
                <p:ph sz="quarter" idx="1"/>
              </p:nvPr>
            </p:nvSpPr>
            <p:spPr>
              <a:xfrm>
                <a:off x="400050" y="649734"/>
                <a:ext cx="8492430" cy="6091634"/>
              </a:xfrm>
              <a:blipFill>
                <a:blip r:embed="rId2"/>
                <a:stretch>
                  <a:fillRect l="-431" t="-701" r="-933"/>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EF27EA23-BEDD-DE72-7A1A-07073D3CA6F1}"/>
              </a:ext>
            </a:extLst>
          </p:cNvPr>
          <p:cNvPicPr>
            <a:picLocks noChangeAspect="1"/>
          </p:cNvPicPr>
          <p:nvPr/>
        </p:nvPicPr>
        <p:blipFill>
          <a:blip r:embed="rId3"/>
          <a:stretch>
            <a:fillRect/>
          </a:stretch>
        </p:blipFill>
        <p:spPr>
          <a:xfrm>
            <a:off x="3779912" y="4437112"/>
            <a:ext cx="5254580" cy="1952017"/>
          </a:xfrm>
          <a:prstGeom prst="rect">
            <a:avLst/>
          </a:prstGeom>
        </p:spPr>
      </p:pic>
    </p:spTree>
    <p:extLst>
      <p:ext uri="{BB962C8B-B14F-4D97-AF65-F5344CB8AC3E}">
        <p14:creationId xmlns:p14="http://schemas.microsoft.com/office/powerpoint/2010/main" val="274297646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F2EFF-C6BE-A2A3-D4C2-27E82B93A6E0}"/>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F830FD20-1178-939B-6161-060F576A421E}"/>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libri" panose="020F0502020204030204" pitchFamily="34" charset="0"/>
              </a:rPr>
              <a:t>Record Blocking</a:t>
            </a:r>
          </a:p>
        </p:txBody>
      </p:sp>
      <p:sp>
        <p:nvSpPr>
          <p:cNvPr id="2" name="Content Placeholder 1">
            <a:extLst>
              <a:ext uri="{FF2B5EF4-FFF2-40B4-BE49-F238E27FC236}">
                <a16:creationId xmlns:a16="http://schemas.microsoft.com/office/drawing/2014/main" id="{1B0F7490-223A-60E4-71FB-D022D84BE3FC}"/>
              </a:ext>
            </a:extLst>
          </p:cNvPr>
          <p:cNvSpPr>
            <a:spLocks noGrp="1"/>
          </p:cNvSpPr>
          <p:nvPr>
            <p:ph sz="quarter" idx="1"/>
          </p:nvPr>
        </p:nvSpPr>
        <p:spPr>
          <a:xfrm>
            <a:off x="400050" y="649734"/>
            <a:ext cx="8492430" cy="6091634"/>
          </a:xfrm>
        </p:spPr>
        <p:txBody>
          <a:bodyPr/>
          <a:lstStyle/>
          <a:p>
            <a:pPr algn="just">
              <a:spcBef>
                <a:spcPts val="300"/>
              </a:spcBef>
              <a:defRPr/>
            </a:pPr>
            <a:r>
              <a:rPr lang="en-US" sz="2200" dirty="0">
                <a:latin typeface="Calibri" pitchFamily="34" charset="0"/>
              </a:rPr>
              <a:t>The blocks of a file can be allocated on the disk in the following ways:</a:t>
            </a:r>
            <a:endParaRPr lang="en-US" sz="2200" b="1" dirty="0">
              <a:solidFill>
                <a:srgbClr val="0000CC"/>
              </a:solidFill>
              <a:latin typeface="Calibri" pitchFamily="34" charset="0"/>
            </a:endParaRPr>
          </a:p>
          <a:p>
            <a:pPr marL="0" indent="0" algn="just">
              <a:spcBef>
                <a:spcPts val="300"/>
              </a:spcBef>
              <a:buNone/>
              <a:defRPr/>
            </a:pPr>
            <a:r>
              <a:rPr lang="en-US" sz="2400" b="1" dirty="0">
                <a:solidFill>
                  <a:srgbClr val="0000CC"/>
                </a:solidFill>
                <a:latin typeface="Calibri" pitchFamily="34" charset="0"/>
              </a:rPr>
              <a:t>a) Contiguous Allocation: </a:t>
            </a:r>
            <a:r>
              <a:rPr lang="en-US" sz="2400" dirty="0">
                <a:latin typeface="Calibri" pitchFamily="34" charset="0"/>
              </a:rPr>
              <a:t>The file blocks are allocated to consecutive disk blocks. This makes reading the whole file very fast, but it makes expanding the file difficult. </a:t>
            </a:r>
          </a:p>
          <a:p>
            <a:pPr marL="0" indent="0" algn="just">
              <a:spcBef>
                <a:spcPts val="300"/>
              </a:spcBef>
              <a:buNone/>
              <a:defRPr/>
            </a:pPr>
            <a:r>
              <a:rPr lang="en-US" sz="2400" b="1" dirty="0">
                <a:solidFill>
                  <a:srgbClr val="0000CC"/>
                </a:solidFill>
                <a:latin typeface="Calibri" pitchFamily="34" charset="0"/>
              </a:rPr>
              <a:t>b) Linked Allocation: </a:t>
            </a:r>
            <a:r>
              <a:rPr lang="en-US" sz="2400" dirty="0">
                <a:latin typeface="Calibri" pitchFamily="34" charset="0"/>
              </a:rPr>
              <a:t>Each file block contains a pointer to the next file block. This makes it easy to expand the file but makes it slow to read the whole file.</a:t>
            </a:r>
          </a:p>
          <a:p>
            <a:pPr marL="0" indent="0" algn="just">
              <a:spcBef>
                <a:spcPts val="300"/>
              </a:spcBef>
              <a:buNone/>
              <a:defRPr/>
            </a:pPr>
            <a:r>
              <a:rPr lang="en-US" sz="2400" b="1" dirty="0">
                <a:solidFill>
                  <a:srgbClr val="0000CC"/>
                </a:solidFill>
                <a:latin typeface="Calibri" pitchFamily="34" charset="0"/>
              </a:rPr>
              <a:t>c) Cluster Allocation: </a:t>
            </a:r>
            <a:r>
              <a:rPr lang="en-US" sz="2400" dirty="0">
                <a:latin typeface="Calibri" pitchFamily="34" charset="0"/>
              </a:rPr>
              <a:t>It is a combination (a) and (b). It allocates clusters of consecutive disk blocks, and the clusters are linked. Clusters are sometimes called </a:t>
            </a:r>
            <a:r>
              <a:rPr lang="en-US" sz="2400" dirty="0">
                <a:solidFill>
                  <a:srgbClr val="FF0000"/>
                </a:solidFill>
                <a:latin typeface="Calibri" pitchFamily="34" charset="0"/>
              </a:rPr>
              <a:t>file segments</a:t>
            </a:r>
            <a:r>
              <a:rPr lang="en-US" sz="2400" dirty="0">
                <a:latin typeface="Calibri" pitchFamily="34" charset="0"/>
              </a:rPr>
              <a:t> or </a:t>
            </a:r>
            <a:r>
              <a:rPr lang="en-US" sz="2400" dirty="0">
                <a:solidFill>
                  <a:srgbClr val="FF0000"/>
                </a:solidFill>
                <a:latin typeface="Calibri" pitchFamily="34" charset="0"/>
              </a:rPr>
              <a:t>extents.</a:t>
            </a:r>
          </a:p>
          <a:p>
            <a:pPr marL="0" indent="0" algn="just">
              <a:spcBef>
                <a:spcPts val="300"/>
              </a:spcBef>
              <a:buNone/>
              <a:defRPr/>
            </a:pPr>
            <a:r>
              <a:rPr lang="en-US" sz="2400" b="1" dirty="0">
                <a:solidFill>
                  <a:srgbClr val="0000CC"/>
                </a:solidFill>
                <a:latin typeface="Calibri" pitchFamily="34" charset="0"/>
              </a:rPr>
              <a:t>d) Indexed Allocation: </a:t>
            </a:r>
            <a:r>
              <a:rPr lang="en-US" sz="2400" dirty="0">
                <a:latin typeface="Calibri" pitchFamily="34" charset="0"/>
              </a:rPr>
              <a:t>One or more </a:t>
            </a:r>
            <a:r>
              <a:rPr lang="en-US" sz="2400" dirty="0">
                <a:solidFill>
                  <a:srgbClr val="FF0000"/>
                </a:solidFill>
                <a:latin typeface="Calibri" pitchFamily="34" charset="0"/>
              </a:rPr>
              <a:t>index blocks</a:t>
            </a:r>
            <a:r>
              <a:rPr lang="en-US" sz="2400" dirty="0">
                <a:latin typeface="Calibri" pitchFamily="34" charset="0"/>
              </a:rPr>
              <a:t> contain pointers to the actual file blocks. </a:t>
            </a:r>
          </a:p>
          <a:p>
            <a:pPr marL="0" indent="0" algn="just">
              <a:spcBef>
                <a:spcPts val="300"/>
              </a:spcBef>
              <a:buNone/>
              <a:defRPr/>
            </a:pPr>
            <a:endParaRPr lang="en-US" sz="2200" dirty="0">
              <a:latin typeface="Calibri" pitchFamily="34" charset="0"/>
            </a:endParaRPr>
          </a:p>
          <a:p>
            <a:pPr algn="just">
              <a:spcBef>
                <a:spcPts val="300"/>
              </a:spcBef>
              <a:defRPr/>
            </a:pPr>
            <a:endParaRPr lang="en-US" sz="2200" dirty="0">
              <a:latin typeface="Calibri" pitchFamily="34" charset="0"/>
            </a:endParaRPr>
          </a:p>
        </p:txBody>
      </p:sp>
    </p:spTree>
    <p:extLst>
      <p:ext uri="{BB962C8B-B14F-4D97-AF65-F5344CB8AC3E}">
        <p14:creationId xmlns:p14="http://schemas.microsoft.com/office/powerpoint/2010/main" val="166182883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885D2-32ED-6B1C-F03F-D58997207DAE}"/>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D4DE88CD-802A-43AD-6469-ECC7EE85F614}"/>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libri" panose="020F0502020204030204" pitchFamily="34" charset="0"/>
              </a:rPr>
              <a:t>Organization of Records in Files</a:t>
            </a:r>
          </a:p>
        </p:txBody>
      </p:sp>
      <p:sp>
        <p:nvSpPr>
          <p:cNvPr id="2" name="Content Placeholder 1">
            <a:extLst>
              <a:ext uri="{FF2B5EF4-FFF2-40B4-BE49-F238E27FC236}">
                <a16:creationId xmlns:a16="http://schemas.microsoft.com/office/drawing/2014/main" id="{6116327B-AD19-A057-A4F3-61B023223839}"/>
              </a:ext>
            </a:extLst>
          </p:cNvPr>
          <p:cNvSpPr>
            <a:spLocks noGrp="1"/>
          </p:cNvSpPr>
          <p:nvPr>
            <p:ph sz="quarter" idx="1"/>
          </p:nvPr>
        </p:nvSpPr>
        <p:spPr>
          <a:xfrm>
            <a:off x="400050" y="649734"/>
            <a:ext cx="8492430" cy="6091634"/>
          </a:xfrm>
        </p:spPr>
        <p:txBody>
          <a:bodyPr/>
          <a:lstStyle/>
          <a:p>
            <a:pPr marL="457200" indent="-457200" algn="just">
              <a:spcBef>
                <a:spcPts val="300"/>
              </a:spcBef>
              <a:buFont typeface="+mj-lt"/>
              <a:buAutoNum type="arabicPeriod"/>
              <a:defRPr/>
            </a:pPr>
            <a:r>
              <a:rPr lang="en-US" sz="2400" dirty="0">
                <a:solidFill>
                  <a:srgbClr val="0000CC"/>
                </a:solidFill>
                <a:latin typeface="Calibri" pitchFamily="34" charset="0"/>
              </a:rPr>
              <a:t>Heap or pile or unordered file.</a:t>
            </a:r>
            <a:r>
              <a:rPr lang="en-US" sz="2400" dirty="0">
                <a:latin typeface="Calibri" pitchFamily="34" charset="0"/>
              </a:rPr>
              <a:t> Any record can be placed anywhere in the file where there is space for the record. There is no ordering of records.</a:t>
            </a:r>
          </a:p>
          <a:p>
            <a:pPr marL="457200" indent="-457200" algn="just">
              <a:spcBef>
                <a:spcPts val="300"/>
              </a:spcBef>
              <a:buFont typeface="+mj-lt"/>
              <a:buAutoNum type="arabicPeriod"/>
              <a:defRPr/>
            </a:pPr>
            <a:r>
              <a:rPr lang="en-US" sz="2400" dirty="0">
                <a:solidFill>
                  <a:srgbClr val="0000CC"/>
                </a:solidFill>
                <a:latin typeface="Calibri" pitchFamily="34" charset="0"/>
              </a:rPr>
              <a:t>Sequential or sorted file.</a:t>
            </a:r>
            <a:r>
              <a:rPr lang="en-US" sz="2400" dirty="0">
                <a:latin typeface="Calibri" pitchFamily="34" charset="0"/>
              </a:rPr>
              <a:t> Records are stored in sequential order, according to the value of a </a:t>
            </a:r>
            <a:r>
              <a:rPr lang="en-US" sz="2400" dirty="0">
                <a:solidFill>
                  <a:srgbClr val="FF0000"/>
                </a:solidFill>
                <a:latin typeface="Calibri" pitchFamily="34" charset="0"/>
              </a:rPr>
              <a:t>"sort key"</a:t>
            </a:r>
            <a:r>
              <a:rPr lang="en-US" sz="2400" dirty="0">
                <a:latin typeface="Calibri" pitchFamily="34" charset="0"/>
              </a:rPr>
              <a:t> of each record.</a:t>
            </a:r>
          </a:p>
          <a:p>
            <a:pPr marL="457200" indent="-457200" algn="just">
              <a:spcBef>
                <a:spcPts val="300"/>
              </a:spcBef>
              <a:buFont typeface="+mj-lt"/>
              <a:buAutoNum type="arabicPeriod"/>
              <a:defRPr/>
            </a:pPr>
            <a:r>
              <a:rPr lang="en-US" sz="2400" dirty="0">
                <a:solidFill>
                  <a:srgbClr val="0000CC"/>
                </a:solidFill>
                <a:latin typeface="Calibri" pitchFamily="34" charset="0"/>
              </a:rPr>
              <a:t>Indexed Sequential file.</a:t>
            </a:r>
            <a:r>
              <a:rPr lang="en-US" sz="2400" dirty="0">
                <a:latin typeface="Calibri" pitchFamily="34" charset="0"/>
              </a:rPr>
              <a:t> </a:t>
            </a:r>
          </a:p>
          <a:p>
            <a:pPr marL="457200" indent="-457200" algn="just">
              <a:spcBef>
                <a:spcPts val="300"/>
              </a:spcBef>
              <a:buFont typeface="+mj-lt"/>
              <a:buAutoNum type="arabicPeriod"/>
              <a:defRPr/>
            </a:pPr>
            <a:r>
              <a:rPr lang="en-US" sz="2400" dirty="0">
                <a:solidFill>
                  <a:srgbClr val="0000CC"/>
                </a:solidFill>
                <a:latin typeface="Calibri" pitchFamily="34" charset="0"/>
              </a:rPr>
              <a:t>Hashed file.</a:t>
            </a:r>
            <a:r>
              <a:rPr lang="en-US" sz="2400" dirty="0">
                <a:latin typeface="Calibri" pitchFamily="34" charset="0"/>
              </a:rPr>
              <a:t> Place of a record is determined using a hash function applied to a particular field called </a:t>
            </a:r>
            <a:r>
              <a:rPr lang="en-US" sz="2400" dirty="0">
                <a:solidFill>
                  <a:srgbClr val="FF0000"/>
                </a:solidFill>
                <a:latin typeface="Calibri" pitchFamily="34" charset="0"/>
              </a:rPr>
              <a:t>hash key“.</a:t>
            </a:r>
            <a:endParaRPr lang="en-US" sz="2400" dirty="0">
              <a:latin typeface="Calibri" pitchFamily="34" charset="0"/>
            </a:endParaRPr>
          </a:p>
          <a:p>
            <a:pPr algn="just">
              <a:spcBef>
                <a:spcPts val="300"/>
              </a:spcBef>
              <a:defRPr/>
            </a:pPr>
            <a:endParaRPr lang="en-US" sz="2400" dirty="0">
              <a:latin typeface="Calibri" pitchFamily="34" charset="0"/>
            </a:endParaRPr>
          </a:p>
        </p:txBody>
      </p:sp>
    </p:spTree>
    <p:extLst>
      <p:ext uri="{BB962C8B-B14F-4D97-AF65-F5344CB8AC3E}">
        <p14:creationId xmlns:p14="http://schemas.microsoft.com/office/powerpoint/2010/main" val="4192642213"/>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3D677-5C08-92DF-7B9E-36FA351FA1B7}"/>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82485215-EE60-CD0B-B38D-8EDEC992C1E6}"/>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libri" panose="020F0502020204030204" pitchFamily="34" charset="0"/>
              </a:rPr>
              <a:t>Organization of Records in Files</a:t>
            </a:r>
          </a:p>
        </p:txBody>
      </p:sp>
      <p:sp>
        <p:nvSpPr>
          <p:cNvPr id="2" name="Content Placeholder 1">
            <a:extLst>
              <a:ext uri="{FF2B5EF4-FFF2-40B4-BE49-F238E27FC236}">
                <a16:creationId xmlns:a16="http://schemas.microsoft.com/office/drawing/2014/main" id="{2E16B334-4D07-0978-9EB0-3232A59E10C2}"/>
              </a:ext>
            </a:extLst>
          </p:cNvPr>
          <p:cNvSpPr>
            <a:spLocks noGrp="1"/>
          </p:cNvSpPr>
          <p:nvPr>
            <p:ph sz="quarter" idx="1"/>
          </p:nvPr>
        </p:nvSpPr>
        <p:spPr>
          <a:xfrm>
            <a:off x="400050" y="649734"/>
            <a:ext cx="8492430" cy="6091634"/>
          </a:xfrm>
        </p:spPr>
        <p:txBody>
          <a:bodyPr/>
          <a:lstStyle/>
          <a:p>
            <a:pPr marL="0" indent="0" algn="just">
              <a:spcBef>
                <a:spcPts val="300"/>
              </a:spcBef>
              <a:buNone/>
              <a:defRPr/>
            </a:pPr>
            <a:r>
              <a:rPr lang="en-US" sz="2400" b="1" dirty="0">
                <a:solidFill>
                  <a:srgbClr val="0000CC"/>
                </a:solidFill>
                <a:latin typeface="Calibri" pitchFamily="34" charset="0"/>
              </a:rPr>
              <a:t>Insertion in Sequential file</a:t>
            </a:r>
            <a:r>
              <a:rPr lang="en-US" sz="2400" dirty="0">
                <a:latin typeface="Calibri" pitchFamily="34" charset="0"/>
              </a:rPr>
              <a:t> </a:t>
            </a:r>
          </a:p>
          <a:p>
            <a:pPr marL="457200" indent="-457200" algn="just">
              <a:spcBef>
                <a:spcPts val="300"/>
              </a:spcBef>
              <a:buAutoNum type="arabicPeriod"/>
              <a:defRPr/>
            </a:pPr>
            <a:r>
              <a:rPr lang="en-US" sz="2400" dirty="0">
                <a:latin typeface="Calibri" pitchFamily="34" charset="0"/>
              </a:rPr>
              <a:t>Locate the record in the file that comes before the record to be inserted in search key order.</a:t>
            </a:r>
          </a:p>
          <a:p>
            <a:pPr marL="457200" indent="-457200" algn="just">
              <a:spcBef>
                <a:spcPts val="300"/>
              </a:spcBef>
              <a:buAutoNum type="arabicPeriod"/>
              <a:defRPr/>
            </a:pPr>
            <a:r>
              <a:rPr lang="en-US" sz="2400" dirty="0">
                <a:latin typeface="Calibri" pitchFamily="34" charset="0"/>
              </a:rPr>
              <a:t>If there is a free record (i.e., space left after a deletion) within the same block as this record, insert the new record there.</a:t>
            </a:r>
          </a:p>
          <a:p>
            <a:pPr marL="0" indent="0" algn="just">
              <a:spcBef>
                <a:spcPts val="300"/>
              </a:spcBef>
              <a:buNone/>
              <a:defRPr/>
            </a:pPr>
            <a:r>
              <a:rPr lang="en-US" sz="2400" dirty="0">
                <a:latin typeface="Calibri" pitchFamily="34" charset="0"/>
              </a:rPr>
              <a:t>Otherwise, insert </a:t>
            </a:r>
          </a:p>
          <a:p>
            <a:pPr marL="0" indent="0" algn="just">
              <a:spcBef>
                <a:spcPts val="300"/>
              </a:spcBef>
              <a:buNone/>
              <a:defRPr/>
            </a:pPr>
            <a:r>
              <a:rPr lang="en-US" sz="2400" dirty="0">
                <a:latin typeface="Calibri" pitchFamily="34" charset="0"/>
              </a:rPr>
              <a:t>the new record in an </a:t>
            </a:r>
          </a:p>
          <a:p>
            <a:pPr marL="0" indent="0" algn="just">
              <a:spcBef>
                <a:spcPts val="300"/>
              </a:spcBef>
              <a:buNone/>
              <a:defRPr/>
            </a:pPr>
            <a:r>
              <a:rPr lang="en-US" sz="2400" dirty="0">
                <a:solidFill>
                  <a:srgbClr val="FF0000"/>
                </a:solidFill>
                <a:latin typeface="Calibri" pitchFamily="34" charset="0"/>
              </a:rPr>
              <a:t>overflow block.</a:t>
            </a:r>
            <a:r>
              <a:rPr lang="en-US" sz="2400" dirty="0">
                <a:latin typeface="Calibri" pitchFamily="34" charset="0"/>
              </a:rPr>
              <a:t> </a:t>
            </a:r>
          </a:p>
          <a:p>
            <a:pPr algn="just">
              <a:spcBef>
                <a:spcPts val="300"/>
              </a:spcBef>
              <a:defRPr/>
            </a:pPr>
            <a:r>
              <a:rPr lang="en-US" sz="2400" dirty="0">
                <a:latin typeface="Calibri" pitchFamily="34" charset="0"/>
              </a:rPr>
              <a:t>If too many overflow </a:t>
            </a:r>
          </a:p>
          <a:p>
            <a:pPr marL="0" indent="0" algn="just">
              <a:spcBef>
                <a:spcPts val="300"/>
              </a:spcBef>
              <a:buNone/>
              <a:defRPr/>
            </a:pPr>
            <a:r>
              <a:rPr lang="en-US" sz="2400" dirty="0">
                <a:latin typeface="Calibri" pitchFamily="34" charset="0"/>
              </a:rPr>
              <a:t>blocks are generated </a:t>
            </a:r>
          </a:p>
          <a:p>
            <a:pPr marL="0" indent="0" algn="just">
              <a:spcBef>
                <a:spcPts val="300"/>
              </a:spcBef>
              <a:buNone/>
              <a:defRPr/>
            </a:pPr>
            <a:r>
              <a:rPr lang="en-US" sz="2400" dirty="0">
                <a:latin typeface="Calibri" pitchFamily="34" charset="0"/>
              </a:rPr>
              <a:t>over time, the file </a:t>
            </a:r>
          </a:p>
          <a:p>
            <a:pPr marL="0" indent="0" algn="just">
              <a:spcBef>
                <a:spcPts val="300"/>
              </a:spcBef>
              <a:buNone/>
              <a:defRPr/>
            </a:pPr>
            <a:r>
              <a:rPr lang="en-US" sz="2400" dirty="0">
                <a:latin typeface="Calibri" pitchFamily="34" charset="0"/>
              </a:rPr>
              <a:t>should be </a:t>
            </a:r>
            <a:r>
              <a:rPr lang="en-US" sz="2400" dirty="0">
                <a:solidFill>
                  <a:srgbClr val="FF0000"/>
                </a:solidFill>
                <a:latin typeface="Calibri" pitchFamily="34" charset="0"/>
              </a:rPr>
              <a:t>reorganized.</a:t>
            </a:r>
            <a:r>
              <a:rPr lang="en-US" sz="2400" dirty="0">
                <a:latin typeface="Calibri" pitchFamily="34" charset="0"/>
              </a:rPr>
              <a:t>   </a:t>
            </a:r>
          </a:p>
        </p:txBody>
      </p:sp>
      <p:pic>
        <p:nvPicPr>
          <p:cNvPr id="4" name="Picture 3">
            <a:extLst>
              <a:ext uri="{FF2B5EF4-FFF2-40B4-BE49-F238E27FC236}">
                <a16:creationId xmlns:a16="http://schemas.microsoft.com/office/drawing/2014/main" id="{3E0C2D59-FD82-EACE-4156-627862275FD7}"/>
              </a:ext>
            </a:extLst>
          </p:cNvPr>
          <p:cNvPicPr>
            <a:picLocks noChangeAspect="1"/>
          </p:cNvPicPr>
          <p:nvPr/>
        </p:nvPicPr>
        <p:blipFill>
          <a:blip r:embed="rId2"/>
          <a:stretch>
            <a:fillRect/>
          </a:stretch>
        </p:blipFill>
        <p:spPr>
          <a:xfrm>
            <a:off x="3513930" y="2536508"/>
            <a:ext cx="5522566" cy="4060844"/>
          </a:xfrm>
          <a:prstGeom prst="rect">
            <a:avLst/>
          </a:prstGeom>
        </p:spPr>
      </p:pic>
    </p:spTree>
    <p:extLst>
      <p:ext uri="{BB962C8B-B14F-4D97-AF65-F5344CB8AC3E}">
        <p14:creationId xmlns:p14="http://schemas.microsoft.com/office/powerpoint/2010/main" val="2165704604"/>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493D19ED-1E99-E306-7D52-BFA82027B0C4}"/>
              </a:ext>
            </a:extLst>
          </p:cNvPr>
          <p:cNvSpPr>
            <a:spLocks noGrp="1" noChangeArrowheads="1"/>
          </p:cNvSpPr>
          <p:nvPr>
            <p:ph type="title"/>
          </p:nvPr>
        </p:nvSpPr>
        <p:spPr>
          <a:xfrm>
            <a:off x="323850" y="692150"/>
            <a:ext cx="5688013" cy="381000"/>
          </a:xfrm>
          <a:noFill/>
        </p:spPr>
        <p:txBody>
          <a:bodyPr/>
          <a:lstStyle/>
          <a:p>
            <a:pPr marL="685800" indent="-685800"/>
            <a:r>
              <a:rPr lang="en-US" altLang="en-US" sz="2800" b="1" dirty="0">
                <a:solidFill>
                  <a:srgbClr val="800000"/>
                </a:solidFill>
              </a:rPr>
              <a:t>File organization and indexes</a:t>
            </a:r>
          </a:p>
        </p:txBody>
      </p:sp>
      <p:sp>
        <p:nvSpPr>
          <p:cNvPr id="14339" name="Rectangle 3">
            <a:extLst>
              <a:ext uri="{FF2B5EF4-FFF2-40B4-BE49-F238E27FC236}">
                <a16:creationId xmlns:a16="http://schemas.microsoft.com/office/drawing/2014/main" id="{8DE0FE3A-E9D1-60CA-C6A7-BFC1EDA5C5DF}"/>
              </a:ext>
            </a:extLst>
          </p:cNvPr>
          <p:cNvSpPr>
            <a:spLocks noGrp="1" noChangeArrowheads="1"/>
          </p:cNvSpPr>
          <p:nvPr>
            <p:ph type="body" idx="1"/>
          </p:nvPr>
        </p:nvSpPr>
        <p:spPr>
          <a:xfrm>
            <a:off x="368300" y="1196975"/>
            <a:ext cx="8380413" cy="5240338"/>
          </a:xfrm>
        </p:spPr>
        <p:txBody>
          <a:bodyPr/>
          <a:lstStyle/>
          <a:p>
            <a:pPr marL="341313" indent="-341313" algn="just">
              <a:spcBef>
                <a:spcPct val="0"/>
              </a:spcBef>
              <a:defRPr/>
            </a:pPr>
            <a:r>
              <a:rPr lang="en-US" sz="2200" dirty="0">
                <a:latin typeface="Calibri" pitchFamily="34" charset="0"/>
              </a:rPr>
              <a:t>To determine the optimal file organizations to store the base relations and the indexes that are required to achieve acceptable performance; that is the way in which relations and tuples will be held on the secondary storage.</a:t>
            </a:r>
          </a:p>
          <a:p>
            <a:pPr marL="341313" indent="-341313" algn="just">
              <a:spcBef>
                <a:spcPct val="0"/>
              </a:spcBef>
              <a:defRPr/>
            </a:pPr>
            <a:r>
              <a:rPr lang="en-US" sz="2200" dirty="0">
                <a:latin typeface="Calibri" pitchFamily="34" charset="0"/>
              </a:rPr>
              <a:t>In many cases, a RDBMS may give little or no choice for choosing file organization, although some may be established as indexes are specified.</a:t>
            </a:r>
          </a:p>
          <a:p>
            <a:pPr marL="341313" indent="-341313" algn="just">
              <a:spcBef>
                <a:spcPct val="0"/>
              </a:spcBef>
              <a:defRPr/>
            </a:pPr>
            <a:r>
              <a:rPr lang="en-US" sz="2200" dirty="0">
                <a:latin typeface="Calibri" pitchFamily="34" charset="0"/>
              </a:rPr>
              <a:t>An index should be used against an attribute:</a:t>
            </a:r>
          </a:p>
          <a:p>
            <a:pPr marL="682625" lvl="1" indent="-341313" algn="just">
              <a:spcBef>
                <a:spcPct val="0"/>
              </a:spcBef>
              <a:defRPr/>
            </a:pPr>
            <a:r>
              <a:rPr lang="en-US" sz="2200" dirty="0">
                <a:solidFill>
                  <a:schemeClr val="accent2"/>
                </a:solidFill>
                <a:latin typeface="Calibri" pitchFamily="34" charset="0"/>
              </a:rPr>
              <a:t>That is used most often for join operations. </a:t>
            </a:r>
          </a:p>
          <a:p>
            <a:pPr marL="682625" lvl="1" indent="-341313" algn="just">
              <a:spcBef>
                <a:spcPct val="0"/>
              </a:spcBef>
              <a:defRPr/>
            </a:pPr>
            <a:r>
              <a:rPr lang="en-US" sz="2200" dirty="0">
                <a:solidFill>
                  <a:schemeClr val="accent2"/>
                </a:solidFill>
                <a:latin typeface="Calibri" pitchFamily="34" charset="0"/>
              </a:rPr>
              <a:t>That is used most often to access the tuples in a relation.</a:t>
            </a:r>
          </a:p>
          <a:p>
            <a:pPr lvl="1">
              <a:defRPr/>
            </a:pPr>
            <a:r>
              <a:rPr lang="en-US" sz="2200" dirty="0">
                <a:solidFill>
                  <a:schemeClr val="accent2"/>
                </a:solidFill>
                <a:latin typeface="Calibri" pitchFamily="34" charset="0"/>
              </a:rPr>
              <a:t>The columns frequently involved in </a:t>
            </a:r>
            <a:r>
              <a:rPr lang="en-US" sz="2200" dirty="0">
                <a:latin typeface="Calibri" pitchFamily="34" charset="0"/>
              </a:rPr>
              <a:t>ORDER BY </a:t>
            </a:r>
            <a:r>
              <a:rPr lang="en-US" sz="2200" dirty="0">
                <a:solidFill>
                  <a:schemeClr val="accent2"/>
                </a:solidFill>
                <a:latin typeface="Calibri" pitchFamily="34" charset="0"/>
              </a:rPr>
              <a:t>and </a:t>
            </a:r>
            <a:r>
              <a:rPr lang="en-US" sz="2200" dirty="0">
                <a:latin typeface="Calibri" pitchFamily="34" charset="0"/>
              </a:rPr>
              <a:t>GROUP BY </a:t>
            </a:r>
            <a:r>
              <a:rPr lang="en-US" sz="2200" dirty="0">
                <a:solidFill>
                  <a:schemeClr val="accent2"/>
                </a:solidFill>
                <a:latin typeface="Calibri" pitchFamily="34" charset="0"/>
              </a:rPr>
              <a:t>clause.</a:t>
            </a:r>
          </a:p>
          <a:p>
            <a:pPr lvl="1">
              <a:defRPr/>
            </a:pPr>
            <a:r>
              <a:rPr lang="en-US" sz="2200" dirty="0">
                <a:solidFill>
                  <a:schemeClr val="accent2"/>
                </a:solidFill>
                <a:latin typeface="Calibri" pitchFamily="34" charset="0"/>
              </a:rPr>
              <a:t>The column contains a wide range of values.</a:t>
            </a:r>
          </a:p>
          <a:p>
            <a:pPr marL="282575" indent="-341313" algn="just">
              <a:spcBef>
                <a:spcPct val="0"/>
              </a:spcBef>
              <a:defRPr/>
            </a:pPr>
            <a:r>
              <a:rPr lang="en-US" sz="2200" dirty="0">
                <a:latin typeface="Calibri" pitchFamily="34" charset="0"/>
              </a:rPr>
              <a:t>An index on primary key is called </a:t>
            </a:r>
            <a:r>
              <a:rPr lang="en-US" sz="2200" dirty="0">
                <a:solidFill>
                  <a:srgbClr val="FF0000"/>
                </a:solidFill>
                <a:latin typeface="Calibri" pitchFamily="34" charset="0"/>
              </a:rPr>
              <a:t>primary index</a:t>
            </a:r>
            <a:r>
              <a:rPr lang="en-US" sz="2200" dirty="0">
                <a:latin typeface="Calibri" pitchFamily="34" charset="0"/>
              </a:rPr>
              <a:t> and an index on non key is </a:t>
            </a:r>
            <a:r>
              <a:rPr lang="en-US" sz="2200" dirty="0">
                <a:solidFill>
                  <a:srgbClr val="FF0000"/>
                </a:solidFill>
                <a:latin typeface="Calibri" pitchFamily="34" charset="0"/>
              </a:rPr>
              <a:t>secondary index. </a:t>
            </a:r>
          </a:p>
          <a:p>
            <a:pPr marL="341312" lvl="1" indent="0" algn="just">
              <a:spcBef>
                <a:spcPct val="0"/>
              </a:spcBef>
              <a:buFontTx/>
              <a:buNone/>
              <a:defRPr/>
            </a:pPr>
            <a:endParaRPr lang="en-US" sz="2200" dirty="0">
              <a:solidFill>
                <a:schemeClr val="accent2"/>
              </a:solidFill>
              <a:latin typeface="Calibri" pitchFamily="34" charset="0"/>
            </a:endParaRPr>
          </a:p>
          <a:p>
            <a:pPr marL="609600" indent="-609600" algn="just">
              <a:spcBef>
                <a:spcPct val="0"/>
              </a:spcBef>
              <a:defRPr/>
            </a:pPr>
            <a:endParaRPr lang="en-US" sz="2200" dirty="0">
              <a:latin typeface="Calibri" pitchFamily="34" charset="0"/>
            </a:endParaRPr>
          </a:p>
        </p:txBody>
      </p:sp>
      <p:sp>
        <p:nvSpPr>
          <p:cNvPr id="16388" name="Rectangle 4">
            <a:extLst>
              <a:ext uri="{FF2B5EF4-FFF2-40B4-BE49-F238E27FC236}">
                <a16:creationId xmlns:a16="http://schemas.microsoft.com/office/drawing/2014/main" id="{D64992E8-3193-2766-4F29-4A2B235ED361}"/>
              </a:ext>
            </a:extLst>
          </p:cNvPr>
          <p:cNvSpPr>
            <a:spLocks noChangeArrowheads="1"/>
          </p:cNvSpPr>
          <p:nvPr/>
        </p:nvSpPr>
        <p:spPr bwMode="auto">
          <a:xfrm>
            <a:off x="4787900" y="188913"/>
            <a:ext cx="41767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a:r>
              <a:rPr lang="en-US" altLang="en-US" b="1">
                <a:solidFill>
                  <a:schemeClr val="accent2"/>
                </a:solidFill>
              </a:rPr>
              <a:t>Physical Database Design</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3A7F8E27-B69A-CB57-0464-8E73CA8A3C8D}"/>
              </a:ext>
            </a:extLst>
          </p:cNvPr>
          <p:cNvSpPr>
            <a:spLocks noGrp="1" noChangeArrowheads="1"/>
          </p:cNvSpPr>
          <p:nvPr>
            <p:ph type="title"/>
          </p:nvPr>
        </p:nvSpPr>
        <p:spPr>
          <a:xfrm>
            <a:off x="323850" y="692150"/>
            <a:ext cx="6819900" cy="381000"/>
          </a:xfrm>
          <a:noFill/>
        </p:spPr>
        <p:txBody>
          <a:bodyPr/>
          <a:lstStyle/>
          <a:p>
            <a:pPr marL="685800" indent="-685800"/>
            <a:r>
              <a:rPr lang="en-US" altLang="en-US" sz="2800" b="1">
                <a:solidFill>
                  <a:srgbClr val="800000"/>
                </a:solidFill>
              </a:rPr>
              <a:t>Coding and Compression Techniques</a:t>
            </a:r>
          </a:p>
        </p:txBody>
      </p:sp>
      <p:sp>
        <p:nvSpPr>
          <p:cNvPr id="18435" name="Rectangle 3">
            <a:extLst>
              <a:ext uri="{FF2B5EF4-FFF2-40B4-BE49-F238E27FC236}">
                <a16:creationId xmlns:a16="http://schemas.microsoft.com/office/drawing/2014/main" id="{2F1909B3-DCA4-E382-A249-1414B8AAB4B0}"/>
              </a:ext>
            </a:extLst>
          </p:cNvPr>
          <p:cNvSpPr>
            <a:spLocks noGrp="1" noChangeArrowheads="1"/>
          </p:cNvSpPr>
          <p:nvPr>
            <p:ph type="body" idx="1"/>
          </p:nvPr>
        </p:nvSpPr>
        <p:spPr>
          <a:xfrm>
            <a:off x="323850" y="1196975"/>
            <a:ext cx="8280400" cy="5240338"/>
          </a:xfrm>
        </p:spPr>
        <p:txBody>
          <a:bodyPr/>
          <a:lstStyle/>
          <a:p>
            <a:pPr algn="just">
              <a:defRPr/>
            </a:pPr>
            <a:r>
              <a:rPr lang="en-US" sz="2400" dirty="0">
                <a:latin typeface="Calibri" pitchFamily="34" charset="0"/>
              </a:rPr>
              <a:t>Coding techniques are useful for compression of data values, by replacing those data values with the smaller sized codes.</a:t>
            </a:r>
          </a:p>
          <a:p>
            <a:pPr algn="just">
              <a:defRPr/>
            </a:pPr>
            <a:r>
              <a:rPr lang="en-US" sz="2400" dirty="0">
                <a:latin typeface="Calibri" pitchFamily="34" charset="0"/>
              </a:rPr>
              <a:t>Consider the following relation:</a:t>
            </a:r>
          </a:p>
          <a:p>
            <a:pPr algn="just">
              <a:defRPr/>
            </a:pPr>
            <a:r>
              <a:rPr lang="en-US" sz="2400" dirty="0">
                <a:latin typeface="Calibri" pitchFamily="34" charset="0"/>
              </a:rPr>
              <a:t>EMP (</a:t>
            </a:r>
            <a:r>
              <a:rPr lang="en-US" sz="2400" dirty="0" err="1">
                <a:latin typeface="Calibri" pitchFamily="34" charset="0"/>
              </a:rPr>
              <a:t>EmpNo</a:t>
            </a:r>
            <a:r>
              <a:rPr lang="en-US" sz="2400" dirty="0">
                <a:latin typeface="Calibri" pitchFamily="34" charset="0"/>
              </a:rPr>
              <a:t>, </a:t>
            </a:r>
            <a:r>
              <a:rPr lang="en-US" sz="2400" dirty="0" err="1">
                <a:latin typeface="Calibri" pitchFamily="34" charset="0"/>
              </a:rPr>
              <a:t>Ename</a:t>
            </a:r>
            <a:r>
              <a:rPr lang="en-US" sz="2400" dirty="0">
                <a:latin typeface="Calibri" pitchFamily="34" charset="0"/>
              </a:rPr>
              <a:t>, Job, City,…….)</a:t>
            </a:r>
          </a:p>
          <a:p>
            <a:pPr algn="just">
              <a:defRPr/>
            </a:pPr>
            <a:r>
              <a:rPr lang="en-US" sz="2400" dirty="0">
                <a:latin typeface="Calibri" pitchFamily="34" charset="0"/>
              </a:rPr>
              <a:t>If we have large number of records, then the wastage of small amount of space in each record can lead to loss of huge amount of data storage space.</a:t>
            </a:r>
          </a:p>
          <a:p>
            <a:pPr algn="just">
              <a:defRPr/>
            </a:pPr>
            <a:r>
              <a:rPr lang="en-US" sz="2400" dirty="0">
                <a:latin typeface="Calibri" pitchFamily="34" charset="0"/>
              </a:rPr>
              <a:t>To avoid the above problem, we can use the following relations:</a:t>
            </a:r>
          </a:p>
          <a:p>
            <a:pPr lvl="1" algn="just">
              <a:defRPr/>
            </a:pPr>
            <a:r>
              <a:rPr lang="en-US" dirty="0">
                <a:solidFill>
                  <a:schemeClr val="accent6"/>
                </a:solidFill>
                <a:latin typeface="Calibri" pitchFamily="34" charset="0"/>
              </a:rPr>
              <a:t>EMP (</a:t>
            </a:r>
            <a:r>
              <a:rPr lang="en-US" dirty="0" err="1">
                <a:solidFill>
                  <a:schemeClr val="accent6"/>
                </a:solidFill>
                <a:latin typeface="Calibri" pitchFamily="34" charset="0"/>
              </a:rPr>
              <a:t>EmpNo</a:t>
            </a:r>
            <a:r>
              <a:rPr lang="en-US" dirty="0">
                <a:solidFill>
                  <a:schemeClr val="accent6"/>
                </a:solidFill>
                <a:latin typeface="Calibri" pitchFamily="34" charset="0"/>
              </a:rPr>
              <a:t>, </a:t>
            </a:r>
            <a:r>
              <a:rPr lang="en-US" dirty="0" err="1">
                <a:solidFill>
                  <a:schemeClr val="accent6"/>
                </a:solidFill>
                <a:latin typeface="Calibri" pitchFamily="34" charset="0"/>
              </a:rPr>
              <a:t>Ename</a:t>
            </a:r>
            <a:r>
              <a:rPr lang="en-US" dirty="0">
                <a:solidFill>
                  <a:schemeClr val="accent6"/>
                </a:solidFill>
                <a:latin typeface="Calibri" pitchFamily="34" charset="0"/>
              </a:rPr>
              <a:t>, </a:t>
            </a:r>
            <a:r>
              <a:rPr lang="en-US" dirty="0" err="1">
                <a:solidFill>
                  <a:schemeClr val="accent6"/>
                </a:solidFill>
                <a:latin typeface="Calibri" pitchFamily="34" charset="0"/>
              </a:rPr>
              <a:t>JobCode</a:t>
            </a:r>
            <a:r>
              <a:rPr lang="en-US" dirty="0">
                <a:solidFill>
                  <a:schemeClr val="accent6"/>
                </a:solidFill>
                <a:latin typeface="Calibri" pitchFamily="34" charset="0"/>
              </a:rPr>
              <a:t>, </a:t>
            </a:r>
            <a:r>
              <a:rPr lang="en-US" dirty="0" err="1">
                <a:solidFill>
                  <a:schemeClr val="accent6"/>
                </a:solidFill>
                <a:latin typeface="Calibri" pitchFamily="34" charset="0"/>
              </a:rPr>
              <a:t>CityCode</a:t>
            </a:r>
            <a:r>
              <a:rPr lang="en-US" dirty="0">
                <a:solidFill>
                  <a:schemeClr val="accent6"/>
                </a:solidFill>
                <a:latin typeface="Calibri" pitchFamily="34" charset="0"/>
              </a:rPr>
              <a:t>,…….)</a:t>
            </a:r>
          </a:p>
          <a:p>
            <a:pPr lvl="1" algn="just">
              <a:defRPr/>
            </a:pPr>
            <a:r>
              <a:rPr lang="en-US" dirty="0">
                <a:solidFill>
                  <a:schemeClr val="accent6"/>
                </a:solidFill>
                <a:latin typeface="Calibri" pitchFamily="34" charset="0"/>
              </a:rPr>
              <a:t>Job (</a:t>
            </a:r>
            <a:r>
              <a:rPr lang="en-US" dirty="0" err="1">
                <a:solidFill>
                  <a:schemeClr val="accent6"/>
                </a:solidFill>
                <a:latin typeface="Calibri" pitchFamily="34" charset="0"/>
              </a:rPr>
              <a:t>JobCode</a:t>
            </a:r>
            <a:r>
              <a:rPr lang="en-US" dirty="0">
                <a:solidFill>
                  <a:schemeClr val="accent6"/>
                </a:solidFill>
                <a:latin typeface="Calibri" pitchFamily="34" charset="0"/>
              </a:rPr>
              <a:t>, </a:t>
            </a:r>
            <a:r>
              <a:rPr lang="en-US" dirty="0" err="1">
                <a:solidFill>
                  <a:schemeClr val="accent6"/>
                </a:solidFill>
                <a:latin typeface="Calibri" pitchFamily="34" charset="0"/>
              </a:rPr>
              <a:t>JobTitle</a:t>
            </a:r>
            <a:r>
              <a:rPr lang="en-US" dirty="0">
                <a:solidFill>
                  <a:schemeClr val="accent6"/>
                </a:solidFill>
                <a:latin typeface="Calibri" pitchFamily="34" charset="0"/>
              </a:rPr>
              <a:t>)</a:t>
            </a:r>
          </a:p>
          <a:p>
            <a:pPr lvl="1" algn="just">
              <a:defRPr/>
            </a:pPr>
            <a:r>
              <a:rPr lang="en-US" dirty="0">
                <a:solidFill>
                  <a:schemeClr val="accent6"/>
                </a:solidFill>
                <a:latin typeface="Calibri" pitchFamily="34" charset="0"/>
              </a:rPr>
              <a:t>City (</a:t>
            </a:r>
            <a:r>
              <a:rPr lang="en-US" dirty="0" err="1">
                <a:solidFill>
                  <a:schemeClr val="accent6"/>
                </a:solidFill>
                <a:latin typeface="Calibri" pitchFamily="34" charset="0"/>
              </a:rPr>
              <a:t>CityCode</a:t>
            </a:r>
            <a:r>
              <a:rPr lang="en-US" dirty="0">
                <a:solidFill>
                  <a:schemeClr val="accent6"/>
                </a:solidFill>
                <a:latin typeface="Calibri" pitchFamily="34" charset="0"/>
              </a:rPr>
              <a:t>, </a:t>
            </a:r>
            <a:r>
              <a:rPr lang="en-US" dirty="0" err="1">
                <a:solidFill>
                  <a:schemeClr val="accent6"/>
                </a:solidFill>
                <a:latin typeface="Calibri" pitchFamily="34" charset="0"/>
              </a:rPr>
              <a:t>CityName</a:t>
            </a:r>
            <a:r>
              <a:rPr lang="en-US" dirty="0">
                <a:solidFill>
                  <a:schemeClr val="accent6"/>
                </a:solidFill>
                <a:latin typeface="Calibri" pitchFamily="34" charset="0"/>
              </a:rPr>
              <a:t>)</a:t>
            </a:r>
            <a:endParaRPr lang="en-US" sz="2000" dirty="0">
              <a:solidFill>
                <a:schemeClr val="accent6"/>
              </a:solidFill>
              <a:latin typeface="Calibri" pitchFamily="34" charset="0"/>
            </a:endParaRPr>
          </a:p>
        </p:txBody>
      </p:sp>
      <p:sp>
        <p:nvSpPr>
          <p:cNvPr id="17412" name="Rectangle 4">
            <a:extLst>
              <a:ext uri="{FF2B5EF4-FFF2-40B4-BE49-F238E27FC236}">
                <a16:creationId xmlns:a16="http://schemas.microsoft.com/office/drawing/2014/main" id="{85AFEC29-ED9D-F774-9714-5F57413F9C4B}"/>
              </a:ext>
            </a:extLst>
          </p:cNvPr>
          <p:cNvSpPr>
            <a:spLocks noChangeArrowheads="1"/>
          </p:cNvSpPr>
          <p:nvPr/>
        </p:nvSpPr>
        <p:spPr bwMode="auto">
          <a:xfrm>
            <a:off x="4787900" y="188913"/>
            <a:ext cx="41767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a:r>
              <a:rPr lang="en-US" altLang="en-US" b="1">
                <a:solidFill>
                  <a:schemeClr val="accent2"/>
                </a:solidFill>
              </a:rPr>
              <a:t>Physical Database Design</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CB4D1-4F24-FDDB-0E86-1371D7FD6CDA}"/>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B0B25864-DD37-AAC3-10F9-6F8A12FF4D80}"/>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libri" panose="020F0502020204030204" pitchFamily="34" charset="0"/>
              </a:rPr>
              <a:t>Analyze transactions</a:t>
            </a:r>
          </a:p>
        </p:txBody>
      </p:sp>
      <p:sp>
        <p:nvSpPr>
          <p:cNvPr id="2" name="Content Placeholder 1">
            <a:extLst>
              <a:ext uri="{FF2B5EF4-FFF2-40B4-BE49-F238E27FC236}">
                <a16:creationId xmlns:a16="http://schemas.microsoft.com/office/drawing/2014/main" id="{065FBDB0-FD6B-FBA0-AC24-D86CD5FD7374}"/>
              </a:ext>
            </a:extLst>
          </p:cNvPr>
          <p:cNvSpPr>
            <a:spLocks noGrp="1"/>
          </p:cNvSpPr>
          <p:nvPr>
            <p:ph sz="quarter" idx="1"/>
          </p:nvPr>
        </p:nvSpPr>
        <p:spPr>
          <a:xfrm>
            <a:off x="323528" y="692696"/>
            <a:ext cx="8492430" cy="6091634"/>
          </a:xfrm>
        </p:spPr>
        <p:txBody>
          <a:bodyPr/>
          <a:lstStyle/>
          <a:p>
            <a:pPr algn="just">
              <a:spcBef>
                <a:spcPts val="300"/>
              </a:spcBef>
              <a:defRPr/>
            </a:pPr>
            <a:r>
              <a:rPr lang="en-US" sz="2400" dirty="0">
                <a:latin typeface="Calibri" pitchFamily="34" charset="0"/>
              </a:rPr>
              <a:t>To understand the functionality of the transactions that will run on the database and to analyze the important transactions.</a:t>
            </a:r>
          </a:p>
          <a:p>
            <a:pPr algn="just">
              <a:spcBef>
                <a:spcPts val="300"/>
              </a:spcBef>
              <a:defRPr/>
            </a:pPr>
            <a:r>
              <a:rPr lang="en-US" sz="2400" dirty="0">
                <a:latin typeface="Calibri" pitchFamily="34" charset="0"/>
              </a:rPr>
              <a:t>For efficient database design, it is necessary to have knowledge of the transactions or queries that will run on the database. It includes the identification of frequent transactions, the transactions that are critical, peak load time etc. </a:t>
            </a:r>
          </a:p>
          <a:p>
            <a:pPr algn="just">
              <a:spcBef>
                <a:spcPts val="300"/>
              </a:spcBef>
              <a:defRPr/>
            </a:pPr>
            <a:r>
              <a:rPr lang="en-US" sz="2400" dirty="0">
                <a:latin typeface="Calibri" pitchFamily="34" charset="0"/>
              </a:rPr>
              <a:t>It has been suggested that the most active 20% of user queries account for 80% of the total data access </a:t>
            </a:r>
            <a:r>
              <a:rPr lang="en-US" sz="2400" dirty="0">
                <a:solidFill>
                  <a:srgbClr val="FF0000"/>
                </a:solidFill>
                <a:latin typeface="Calibri" pitchFamily="34" charset="0"/>
              </a:rPr>
              <a:t>(80/20 Rule).</a:t>
            </a:r>
          </a:p>
          <a:p>
            <a:pPr algn="just">
              <a:spcBef>
                <a:spcPts val="300"/>
              </a:spcBef>
              <a:defRPr/>
            </a:pPr>
            <a:r>
              <a:rPr lang="en-US" sz="2400" dirty="0">
                <a:solidFill>
                  <a:srgbClr val="FF0000"/>
                </a:solidFill>
                <a:latin typeface="Calibri" pitchFamily="34" charset="0"/>
              </a:rPr>
              <a:t>Transaction relation cross-reference matrix</a:t>
            </a:r>
            <a:r>
              <a:rPr lang="en-US" sz="2400" dirty="0">
                <a:latin typeface="Calibri" pitchFamily="34" charset="0"/>
              </a:rPr>
              <a:t> shows the operation a transaction performs on a certain relation. </a:t>
            </a:r>
          </a:p>
          <a:p>
            <a:pPr algn="just">
              <a:spcBef>
                <a:spcPts val="300"/>
              </a:spcBef>
              <a:defRPr/>
            </a:pPr>
            <a:r>
              <a:rPr lang="en-US" sz="2400" dirty="0">
                <a:solidFill>
                  <a:srgbClr val="FF0000"/>
                </a:solidFill>
                <a:latin typeface="Calibri" pitchFamily="34" charset="0"/>
              </a:rPr>
              <a:t>Transaction usage map</a:t>
            </a:r>
            <a:r>
              <a:rPr lang="en-US" sz="2400" dirty="0">
                <a:latin typeface="Calibri" pitchFamily="34" charset="0"/>
              </a:rPr>
              <a:t> diagrammatically indicates which relations are potentially heavily used.</a:t>
            </a:r>
          </a:p>
          <a:p>
            <a:pPr algn="just">
              <a:spcBef>
                <a:spcPts val="300"/>
              </a:spcBef>
              <a:defRPr/>
            </a:pPr>
            <a:r>
              <a:rPr lang="en-US" sz="2400" dirty="0">
                <a:latin typeface="Calibri" pitchFamily="34" charset="0"/>
              </a:rPr>
              <a:t>The above information will be used to select appropriate file organizations and indexes.</a:t>
            </a:r>
          </a:p>
          <a:p>
            <a:pPr algn="just">
              <a:spcBef>
                <a:spcPts val="300"/>
              </a:spcBef>
              <a:defRPr/>
            </a:pPr>
            <a:endParaRPr lang="en-US" sz="2400" dirty="0">
              <a:latin typeface="Calibri" pitchFamily="34" charset="0"/>
            </a:endParaRPr>
          </a:p>
          <a:p>
            <a:pPr>
              <a:spcBef>
                <a:spcPts val="300"/>
              </a:spcBef>
            </a:pPr>
            <a:endParaRPr lang="en-US" sz="2400" dirty="0"/>
          </a:p>
        </p:txBody>
      </p:sp>
    </p:spTree>
    <p:extLst>
      <p:ext uri="{BB962C8B-B14F-4D97-AF65-F5344CB8AC3E}">
        <p14:creationId xmlns:p14="http://schemas.microsoft.com/office/powerpoint/2010/main" val="41531524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AC34107A-799A-66FA-0613-9683BFFC46B7}"/>
              </a:ext>
            </a:extLst>
          </p:cNvPr>
          <p:cNvSpPr>
            <a:spLocks noGrp="1" noChangeArrowheads="1"/>
          </p:cNvSpPr>
          <p:nvPr>
            <p:ph type="title"/>
          </p:nvPr>
        </p:nvSpPr>
        <p:spPr>
          <a:xfrm>
            <a:off x="395288" y="549275"/>
            <a:ext cx="7735887" cy="563563"/>
          </a:xfrm>
          <a:noFill/>
        </p:spPr>
        <p:txBody>
          <a:bodyPr/>
          <a:lstStyle/>
          <a:p>
            <a:r>
              <a:rPr lang="en-US" altLang="en-US" sz="3200" dirty="0">
                <a:solidFill>
                  <a:srgbClr val="800000"/>
                </a:solidFill>
                <a:latin typeface="Calibri" panose="020F0502020204030204" pitchFamily="34" charset="0"/>
              </a:rPr>
              <a:t>Transaction / relation cross-reference matrix</a:t>
            </a:r>
          </a:p>
        </p:txBody>
      </p:sp>
      <p:sp>
        <p:nvSpPr>
          <p:cNvPr id="19459" name="Rectangle 3">
            <a:extLst>
              <a:ext uri="{FF2B5EF4-FFF2-40B4-BE49-F238E27FC236}">
                <a16:creationId xmlns:a16="http://schemas.microsoft.com/office/drawing/2014/main" id="{9BE0826F-B324-458E-3682-88FCDCB1C2AA}"/>
              </a:ext>
            </a:extLst>
          </p:cNvPr>
          <p:cNvSpPr>
            <a:spLocks noGrp="1" noChangeArrowheads="1"/>
          </p:cNvSpPr>
          <p:nvPr>
            <p:ph type="body" sz="half" idx="1"/>
          </p:nvPr>
        </p:nvSpPr>
        <p:spPr/>
        <p:txBody>
          <a:bodyPr/>
          <a:lstStyle/>
          <a:p>
            <a:pPr>
              <a:buFontTx/>
              <a:buNone/>
            </a:pPr>
            <a:r>
              <a:rPr lang="en-US" altLang="en-US" sz="2400"/>
              <a:t>                         </a:t>
            </a:r>
          </a:p>
        </p:txBody>
      </p:sp>
      <p:graphicFrame>
        <p:nvGraphicFramePr>
          <p:cNvPr id="155737" name="Group 89">
            <a:extLst>
              <a:ext uri="{FF2B5EF4-FFF2-40B4-BE49-F238E27FC236}">
                <a16:creationId xmlns:a16="http://schemas.microsoft.com/office/drawing/2014/main" id="{9C41B7C7-04D2-3B7E-5360-13E1013CFEE7}"/>
              </a:ext>
            </a:extLst>
          </p:cNvPr>
          <p:cNvGraphicFramePr>
            <a:graphicFrameLocks noGrp="1"/>
          </p:cNvGraphicFramePr>
          <p:nvPr>
            <p:ph sz="half" idx="2"/>
          </p:nvPr>
        </p:nvGraphicFramePr>
        <p:xfrm>
          <a:off x="539750" y="1268413"/>
          <a:ext cx="8083550" cy="4659329"/>
        </p:xfrm>
        <a:graphic>
          <a:graphicData uri="http://schemas.openxmlformats.org/drawingml/2006/table">
            <a:tbl>
              <a:tblPr/>
              <a:tblGrid>
                <a:gridCol w="1849473">
                  <a:extLst>
                    <a:ext uri="{9D8B030D-6E8A-4147-A177-3AD203B41FA5}">
                      <a16:colId xmlns:a16="http://schemas.microsoft.com/office/drawing/2014/main" val="20000"/>
                    </a:ext>
                  </a:extLst>
                </a:gridCol>
                <a:gridCol w="1479578">
                  <a:extLst>
                    <a:ext uri="{9D8B030D-6E8A-4147-A177-3AD203B41FA5}">
                      <a16:colId xmlns:a16="http://schemas.microsoft.com/office/drawing/2014/main" val="20001"/>
                    </a:ext>
                  </a:extLst>
                </a:gridCol>
                <a:gridCol w="1666029">
                  <a:extLst>
                    <a:ext uri="{9D8B030D-6E8A-4147-A177-3AD203B41FA5}">
                      <a16:colId xmlns:a16="http://schemas.microsoft.com/office/drawing/2014/main" val="20002"/>
                    </a:ext>
                  </a:extLst>
                </a:gridCol>
                <a:gridCol w="1667534">
                  <a:extLst>
                    <a:ext uri="{9D8B030D-6E8A-4147-A177-3AD203B41FA5}">
                      <a16:colId xmlns:a16="http://schemas.microsoft.com/office/drawing/2014/main" val="20003"/>
                    </a:ext>
                  </a:extLst>
                </a:gridCol>
                <a:gridCol w="1420936">
                  <a:extLst>
                    <a:ext uri="{9D8B030D-6E8A-4147-A177-3AD203B41FA5}">
                      <a16:colId xmlns:a16="http://schemas.microsoft.com/office/drawing/2014/main" val="20004"/>
                    </a:ext>
                  </a:extLst>
                </a:gridCol>
              </a:tblGrid>
              <a:tr h="814601">
                <a:tc rowSpan="2">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Arial" pitchFamily="34" charset="0"/>
                        </a:rPr>
                        <a:t>Transaction / Relation</a:t>
                      </a:r>
                    </a:p>
                  </a:txBody>
                  <a:tcPr marL="91439" marR="91439" marT="45722" marB="45722" anchor="ctr" horzOverflow="overflow">
                    <a:lnL cap="flat">
                      <a:noFill/>
                    </a:lnL>
                    <a:lnR w="12700" cap="flat" cmpd="sng" algn="ctr">
                      <a:solidFill>
                        <a:schemeClr val="tx1"/>
                      </a:solidFill>
                      <a:prstDash val="solid"/>
                      <a:miter lim="800000"/>
                      <a:headEnd type="none" w="sm" len="sm"/>
                      <a:tailEnd type="none" w="sm" len="sm"/>
                    </a:lnR>
                    <a:lnT cap="flat">
                      <a:noFill/>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a:ln>
                            <a:noFill/>
                          </a:ln>
                          <a:solidFill>
                            <a:srgbClr val="800000"/>
                          </a:solidFill>
                          <a:effectLst/>
                          <a:latin typeface="Arial" pitchFamily="34" charset="0"/>
                        </a:rPr>
                        <a:t>T1</a:t>
                      </a:r>
                    </a:p>
                  </a:txBody>
                  <a:tcPr marL="91439" marR="91439" marT="45722" marB="45722"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a:ln>
                            <a:noFill/>
                          </a:ln>
                          <a:solidFill>
                            <a:srgbClr val="800000"/>
                          </a:solidFill>
                          <a:effectLst/>
                          <a:latin typeface="Arial" pitchFamily="34" charset="0"/>
                        </a:rPr>
                        <a:t>T2</a:t>
                      </a:r>
                    </a:p>
                  </a:txBody>
                  <a:tcPr marL="91439" marR="91439" marT="45722" marB="45722"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rgbClr val="800000"/>
                          </a:solidFill>
                          <a:effectLst/>
                          <a:latin typeface="Arial" pitchFamily="34" charset="0"/>
                        </a:rPr>
                        <a:t>. . . . . .</a:t>
                      </a:r>
                    </a:p>
                  </a:txBody>
                  <a:tcPr marL="91439" marR="91439" marT="45722" marB="45722"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28575" cap="flat" cmpd="sng" algn="ctr">
                      <a:solidFill>
                        <a:schemeClr val="tx1"/>
                      </a:solidFill>
                      <a:prstDash val="solid"/>
                      <a:miter lim="800000"/>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a:ln>
                            <a:noFill/>
                          </a:ln>
                          <a:solidFill>
                            <a:srgbClr val="800000"/>
                          </a:solidFill>
                          <a:effectLst/>
                          <a:latin typeface="Arial" pitchFamily="34" charset="0"/>
                        </a:rPr>
                        <a:t>Tm</a:t>
                      </a:r>
                    </a:p>
                  </a:txBody>
                  <a:tcPr marL="91439" marR="91439" marT="45722" marB="45722" anchor="ct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0787">
                <a:tc vMerge="1">
                  <a:txBody>
                    <a:bodyPr/>
                    <a:lstStyle/>
                    <a:p>
                      <a:endParaRPr lang="en-US"/>
                    </a:p>
                  </a:txBody>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accent2"/>
                          </a:solidFill>
                          <a:effectLst/>
                          <a:latin typeface="Arial" pitchFamily="34" charset="0"/>
                        </a:rPr>
                        <a:t>I R U D</a:t>
                      </a:r>
                    </a:p>
                  </a:txBody>
                  <a:tcPr marL="91439" marR="91439" marT="45722" marB="45722"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accent2"/>
                          </a:solidFill>
                          <a:effectLst/>
                          <a:latin typeface="Arial" pitchFamily="34" charset="0"/>
                        </a:rPr>
                        <a:t>I R U D</a:t>
                      </a:r>
                    </a:p>
                  </a:txBody>
                  <a:tcPr marL="91439" marR="91439" marT="45722" marB="45722"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accent2"/>
                          </a:solidFill>
                          <a:effectLst/>
                          <a:latin typeface="Arial" pitchFamily="34" charset="0"/>
                        </a:rPr>
                        <a:t>. . . . . .</a:t>
                      </a:r>
                    </a:p>
                  </a:txBody>
                  <a:tcPr marL="91439" marR="91439" marT="45722" marB="45722"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accent2"/>
                          </a:solidFill>
                          <a:effectLst/>
                          <a:latin typeface="Arial" pitchFamily="34" charset="0"/>
                        </a:rPr>
                        <a:t>I R U D </a:t>
                      </a:r>
                    </a:p>
                  </a:txBody>
                  <a:tcPr marL="91439" marR="91439" marT="45722" marB="45722" anchor="ct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1"/>
                  </a:ext>
                </a:extLst>
              </a:tr>
              <a:tr h="518161">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a:ln>
                            <a:noFill/>
                          </a:ln>
                          <a:solidFill>
                            <a:schemeClr val="accent2"/>
                          </a:solidFill>
                          <a:effectLst/>
                          <a:latin typeface="Arial" pitchFamily="34" charset="0"/>
                        </a:rPr>
                        <a:t>R1 </a:t>
                      </a:r>
                    </a:p>
                  </a:txBody>
                  <a:tcPr marL="91439" marR="91439" marT="45722" marB="45722" anchor="ctr" horzOverflow="overflow">
                    <a:lnL cap="flat">
                      <a:noFill/>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rPr>
                        <a:t>X X </a:t>
                      </a:r>
                    </a:p>
                  </a:txBody>
                  <a:tcPr marL="91439" marR="91439" marT="45722" marB="45722"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rPr>
                        <a:t>     X X </a:t>
                      </a:r>
                    </a:p>
                  </a:txBody>
                  <a:tcPr marL="91439" marR="91439" marT="45722" marB="45722"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ndParaRPr>
                    </a:p>
                  </a:txBody>
                  <a:tcPr marL="91439" marR="91439" marT="45722" marB="45722"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rPr>
                        <a:t>   X</a:t>
                      </a:r>
                    </a:p>
                  </a:txBody>
                  <a:tcPr marL="91439" marR="91439" marT="45722" marB="45722" anchor="ct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2"/>
                  </a:ext>
                </a:extLst>
              </a:tr>
              <a:tr h="518161">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a:ln>
                            <a:noFill/>
                          </a:ln>
                          <a:solidFill>
                            <a:schemeClr val="accent2"/>
                          </a:solidFill>
                          <a:effectLst/>
                          <a:latin typeface="Arial" pitchFamily="34" charset="0"/>
                        </a:rPr>
                        <a:t>R2</a:t>
                      </a:r>
                    </a:p>
                  </a:txBody>
                  <a:tcPr marL="91439" marR="91439" marT="45722" marB="45722" anchor="ctr" horzOverflow="overflow">
                    <a:lnL cap="flat">
                      <a:noFill/>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rPr>
                        <a:t>X</a:t>
                      </a:r>
                    </a:p>
                  </a:txBody>
                  <a:tcPr marL="91439" marR="91439" marT="45722" marB="45722"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rPr>
                        <a:t>      X    X</a:t>
                      </a:r>
                    </a:p>
                  </a:txBody>
                  <a:tcPr marL="91439" marR="91439" marT="45722" marB="45722"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ndParaRPr>
                    </a:p>
                  </a:txBody>
                  <a:tcPr marL="91439" marR="91439" marT="45722" marB="45722"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rPr>
                        <a:t>X X X</a:t>
                      </a:r>
                    </a:p>
                  </a:txBody>
                  <a:tcPr marL="91439" marR="91439" marT="45722" marB="45722"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74954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a:ln>
                            <a:noFill/>
                          </a:ln>
                          <a:solidFill>
                            <a:schemeClr val="accent2"/>
                          </a:solidFill>
                          <a:effectLst/>
                          <a:latin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a:ln>
                            <a:noFill/>
                          </a:ln>
                          <a:solidFill>
                            <a:schemeClr val="accent2"/>
                          </a:solidFill>
                          <a:effectLst/>
                          <a:latin typeface="Arial"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a:ln>
                            <a:noFill/>
                          </a:ln>
                          <a:solidFill>
                            <a:schemeClr val="accent2"/>
                          </a:solidFill>
                          <a:effectLst/>
                          <a:latin typeface="Arial" pitchFamily="34" charset="0"/>
                        </a:rPr>
                        <a:t>.</a:t>
                      </a:r>
                    </a:p>
                  </a:txBody>
                  <a:tcPr marL="91439" marR="91439" marT="45722" marB="45722" anchor="ctr" horzOverflow="overflow">
                    <a:lnL cap="flat">
                      <a:noFill/>
                    </a:lnL>
                    <a:lnR w="12700" cap="flat" cmpd="sng" algn="ctr">
                      <a:solidFill>
                        <a:schemeClr val="tx1"/>
                      </a:solidFill>
                      <a:prstDash val="solid"/>
                      <a:miter lim="800000"/>
                      <a:headEnd type="none" w="sm" len="sm"/>
                      <a:tailEnd type="none" w="sm" len="sm"/>
                    </a:lnR>
                    <a:lnT>
                      <a:noFill/>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200" b="0" i="0" u="none" strike="noStrike" cap="none" normalizeH="0" baseline="0">
                          <a:ln>
                            <a:noFill/>
                          </a:ln>
                          <a:solidFill>
                            <a:schemeClr val="tx1"/>
                          </a:solidFill>
                          <a:effectLst/>
                          <a:latin typeface="Arial" pitchFamily="34" charset="0"/>
                        </a:rPr>
                        <a:t>.</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200" b="0" i="0" u="none" strike="noStrike" cap="none" normalizeH="0" baseline="0">
                          <a:ln>
                            <a:noFill/>
                          </a:ln>
                          <a:solidFill>
                            <a:schemeClr val="tx1"/>
                          </a:solidFill>
                          <a:effectLst/>
                          <a:latin typeface="Arial" pitchFamily="34" charset="0"/>
                        </a:rPr>
                        <a:t>.</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200" b="0" i="0" u="none" strike="noStrike" cap="none" normalizeH="0" baseline="0">
                          <a:ln>
                            <a:noFill/>
                          </a:ln>
                          <a:solidFill>
                            <a:schemeClr val="tx1"/>
                          </a:solidFill>
                          <a:effectLst/>
                          <a:latin typeface="Arial" pitchFamily="34" charset="0"/>
                        </a:rPr>
                        <a:t>.</a:t>
                      </a:r>
                    </a:p>
                  </a:txBody>
                  <a:tcPr marL="91439" marR="91439" marT="45722" marB="45722"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200" b="0" i="0" u="none" strike="noStrike" cap="none" normalizeH="0" baseline="0">
                          <a:ln>
                            <a:noFill/>
                          </a:ln>
                          <a:solidFill>
                            <a:schemeClr val="tx1"/>
                          </a:solidFill>
                          <a:effectLst/>
                          <a:latin typeface="Arial" pitchFamily="34" charset="0"/>
                        </a:rPr>
                        <a:t>.</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200" b="0" i="0" u="none" strike="noStrike" cap="none" normalizeH="0" baseline="0">
                          <a:ln>
                            <a:noFill/>
                          </a:ln>
                          <a:solidFill>
                            <a:schemeClr val="tx1"/>
                          </a:solidFill>
                          <a:effectLst/>
                          <a:latin typeface="Arial" pitchFamily="34" charset="0"/>
                        </a:rPr>
                        <a:t>.</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200" b="0" i="0" u="none" strike="noStrike" cap="none" normalizeH="0" baseline="0">
                          <a:ln>
                            <a:noFill/>
                          </a:ln>
                          <a:solidFill>
                            <a:schemeClr val="tx1"/>
                          </a:solidFill>
                          <a:effectLst/>
                          <a:latin typeface="Arial" pitchFamily="34" charset="0"/>
                        </a:rPr>
                        <a:t>.</a:t>
                      </a:r>
                    </a:p>
                  </a:txBody>
                  <a:tcPr marL="91439" marR="91439" marT="45722" marB="45722"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200" b="0" i="0" u="none" strike="noStrike" cap="none" normalizeH="0" baseline="0">
                          <a:ln>
                            <a:noFill/>
                          </a:ln>
                          <a:solidFill>
                            <a:schemeClr val="tx1"/>
                          </a:solidFill>
                          <a:effectLst/>
                          <a:latin typeface="Arial" pitchFamily="34" charset="0"/>
                        </a:rPr>
                        <a:t>.</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200" b="0" i="0" u="none" strike="noStrike" cap="none" normalizeH="0" baseline="0">
                          <a:ln>
                            <a:noFill/>
                          </a:ln>
                          <a:solidFill>
                            <a:schemeClr val="tx1"/>
                          </a:solidFill>
                          <a:effectLst/>
                          <a:latin typeface="Arial" pitchFamily="34" charset="0"/>
                        </a:rPr>
                        <a:t>.</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200" b="0" i="0" u="none" strike="noStrike" cap="none" normalizeH="0" baseline="0">
                          <a:ln>
                            <a:noFill/>
                          </a:ln>
                          <a:solidFill>
                            <a:schemeClr val="tx1"/>
                          </a:solidFill>
                          <a:effectLst/>
                          <a:latin typeface="Arial" pitchFamily="34" charset="0"/>
                        </a:rPr>
                        <a:t>.</a:t>
                      </a:r>
                    </a:p>
                  </a:txBody>
                  <a:tcPr marL="91439" marR="91439" marT="45722" marB="45722"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200" b="0" i="0" u="none" strike="noStrike" cap="none" normalizeH="0" baseline="0">
                          <a:ln>
                            <a:noFill/>
                          </a:ln>
                          <a:solidFill>
                            <a:schemeClr val="tx1"/>
                          </a:solidFill>
                          <a:effectLst/>
                          <a:latin typeface="Arial" pitchFamily="34" charset="0"/>
                        </a:rPr>
                        <a:t>.</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200" b="0" i="0" u="none" strike="noStrike" cap="none" normalizeH="0" baseline="0">
                          <a:ln>
                            <a:noFill/>
                          </a:ln>
                          <a:solidFill>
                            <a:schemeClr val="tx1"/>
                          </a:solidFill>
                          <a:effectLst/>
                          <a:latin typeface="Arial" pitchFamily="34" charset="0"/>
                        </a:rPr>
                        <a:t>.</a:t>
                      </a:r>
                    </a:p>
                    <a:p>
                      <a:pPr marL="0" marR="0" lvl="0" indent="0" algn="ctr" defTabSz="914400" rtl="0" eaLnBrk="0" fontAlgn="base" latinLnBrk="0" hangingPunct="0">
                        <a:lnSpc>
                          <a:spcPct val="100000"/>
                        </a:lnSpc>
                        <a:spcBef>
                          <a:spcPct val="20000"/>
                        </a:spcBef>
                        <a:spcAft>
                          <a:spcPct val="0"/>
                        </a:spcAft>
                        <a:buClrTx/>
                        <a:buSzTx/>
                        <a:buFontTx/>
                        <a:buNone/>
                        <a:tabLst/>
                      </a:pPr>
                      <a:r>
                        <a:rPr kumimoji="0" lang="en-US" sz="3200" b="0" i="0" u="none" strike="noStrike" cap="none" normalizeH="0" baseline="0">
                          <a:ln>
                            <a:noFill/>
                          </a:ln>
                          <a:solidFill>
                            <a:schemeClr val="tx1"/>
                          </a:solidFill>
                          <a:effectLst/>
                          <a:latin typeface="Arial" pitchFamily="34" charset="0"/>
                        </a:rPr>
                        <a:t>.</a:t>
                      </a:r>
                    </a:p>
                  </a:txBody>
                  <a:tcPr marL="91439" marR="91439" marT="45722" marB="45722"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round/>
                      <a:headEnd type="none" w="med" len="med"/>
                      <a:tailEnd type="none" w="med" len="med"/>
                    </a:lnT>
                    <a:lnB w="12700"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4"/>
                  </a:ext>
                </a:extLst>
              </a:tr>
              <a:tr h="528057">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400" b="0" i="0" u="none" strike="noStrike" cap="none" normalizeH="0" baseline="0">
                          <a:ln>
                            <a:noFill/>
                          </a:ln>
                          <a:solidFill>
                            <a:schemeClr val="accent2"/>
                          </a:solidFill>
                          <a:effectLst/>
                          <a:latin typeface="Arial" pitchFamily="34" charset="0"/>
                        </a:rPr>
                        <a:t>Rn</a:t>
                      </a:r>
                    </a:p>
                  </a:txBody>
                  <a:tcPr marL="91439" marR="91439" marT="45722" marB="45722" anchor="ctr" horzOverflow="overflow">
                    <a:lnL cap="flat">
                      <a:noFill/>
                    </a:lnL>
                    <a:lnR w="12700" cap="flat" cmpd="sng" algn="ctr">
                      <a:solidFill>
                        <a:schemeClr val="tx1"/>
                      </a:solidFill>
                      <a:prstDash val="solid"/>
                      <a:miter lim="800000"/>
                      <a:headEnd type="none" w="sm" len="sm"/>
                      <a:tailEnd type="none" w="sm" len="sm"/>
                    </a:lnR>
                    <a:lnT>
                      <a:noFill/>
                    </a:lnT>
                    <a:lnB cap="flat">
                      <a:noFill/>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rPr>
                        <a:t>          X</a:t>
                      </a:r>
                    </a:p>
                  </a:txBody>
                  <a:tcPr marL="91439" marR="91439" marT="45722" marB="45722"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12700"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pitchFamily="34" charset="0"/>
                        </a:rPr>
                        <a:t>  X X</a:t>
                      </a:r>
                    </a:p>
                  </a:txBody>
                  <a:tcPr marL="91439" marR="91439" marT="45722" marB="45722"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endParaRPr kumimoji="0" lang="en-US" sz="2800" b="0" i="0" u="none" strike="noStrike" cap="none" normalizeH="0" baseline="0">
                        <a:ln>
                          <a:noFill/>
                        </a:ln>
                        <a:solidFill>
                          <a:schemeClr val="tx1"/>
                        </a:solidFill>
                        <a:effectLst/>
                        <a:latin typeface="Arial" pitchFamily="34" charset="0"/>
                      </a:endParaRPr>
                    </a:p>
                  </a:txBody>
                  <a:tcPr marL="91439" marR="91439" marT="45722" marB="45722" anchor="ctr" horzOverflow="overflow">
                    <a:lnL w="12700" cap="flat" cmpd="sng" algn="ctr">
                      <a:solidFill>
                        <a:schemeClr val="tx1"/>
                      </a:solidFill>
                      <a:prstDash val="solid"/>
                      <a:miter lim="800000"/>
                      <a:headEnd type="none" w="sm" len="sm"/>
                      <a:tailEnd type="none" w="sm" len="sm"/>
                    </a:lnL>
                    <a:lnR w="12700"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pitchFamily="34" charset="0"/>
                        </a:rPr>
                        <a:t>   X</a:t>
                      </a:r>
                    </a:p>
                  </a:txBody>
                  <a:tcPr marL="91439" marR="91439" marT="45722" marB="45722" anchor="ctr" horzOverflow="overflow">
                    <a:lnL w="12700" cap="flat" cmpd="sng" algn="ctr">
                      <a:solidFill>
                        <a:schemeClr val="tx1"/>
                      </a:solidFill>
                      <a:prstDash val="solid"/>
                      <a:miter lim="800000"/>
                      <a:headEnd type="none" w="sm" len="sm"/>
                      <a:tailEnd type="none" w="sm" len="sm"/>
                    </a:lnL>
                    <a:lnR w="28575" cap="flat" cmpd="sng" algn="ctr">
                      <a:solidFill>
                        <a:schemeClr val="tx1"/>
                      </a:solidFill>
                      <a:prstDash val="solid"/>
                      <a:miter lim="800000"/>
                      <a:headEnd type="none" w="sm" len="sm"/>
                      <a:tailEnd type="none" w="sm" len="sm"/>
                    </a:lnR>
                    <a:lnT w="12700" cap="flat" cmpd="sng" algn="ctr">
                      <a:solidFill>
                        <a:schemeClr val="tx1"/>
                      </a:solidFill>
                      <a:prstDash val="solid"/>
                      <a:miter lim="800000"/>
                      <a:headEnd type="none" w="sm" len="sm"/>
                      <a:tailEnd type="none" w="sm" len="sm"/>
                    </a:lnT>
                    <a:lnB w="28575" cap="flat" cmpd="sng" algn="ctr">
                      <a:solidFill>
                        <a:schemeClr val="tx1"/>
                      </a:solidFill>
                      <a:prstDash val="solid"/>
                      <a:miter lim="800000"/>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9507" name="TextBox 1">
            <a:extLst>
              <a:ext uri="{FF2B5EF4-FFF2-40B4-BE49-F238E27FC236}">
                <a16:creationId xmlns:a16="http://schemas.microsoft.com/office/drawing/2014/main" id="{9D30ABEE-5FB0-27DD-4874-9AD3E6C917C9}"/>
              </a:ext>
            </a:extLst>
          </p:cNvPr>
          <p:cNvSpPr txBox="1">
            <a:spLocks noChangeArrowheads="1"/>
          </p:cNvSpPr>
          <p:nvPr/>
        </p:nvSpPr>
        <p:spPr bwMode="auto">
          <a:xfrm>
            <a:off x="1331913" y="6007100"/>
            <a:ext cx="6769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r>
              <a:rPr lang="en-US" altLang="en-US">
                <a:solidFill>
                  <a:srgbClr val="C00000"/>
                </a:solidFill>
              </a:rPr>
              <a:t>I = Insert; R = Read; U = Update; D = Delete</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D5F247C0-B39E-FC79-044B-4A3811EB0211}"/>
              </a:ext>
            </a:extLst>
          </p:cNvPr>
          <p:cNvSpPr>
            <a:spLocks noGrp="1" noChangeArrowheads="1"/>
          </p:cNvSpPr>
          <p:nvPr>
            <p:ph type="title"/>
          </p:nvPr>
        </p:nvSpPr>
        <p:spPr>
          <a:xfrm>
            <a:off x="323850" y="588963"/>
            <a:ext cx="6335713" cy="608012"/>
          </a:xfrm>
          <a:noFill/>
        </p:spPr>
        <p:txBody>
          <a:bodyPr lIns="92075" tIns="46038" rIns="92075" bIns="46038" anchor="t"/>
          <a:lstStyle/>
          <a:p>
            <a:r>
              <a:rPr lang="en-US" altLang="en-US" sz="3200">
                <a:solidFill>
                  <a:srgbClr val="800000"/>
                </a:solidFill>
              </a:rPr>
              <a:t>Denormalization</a:t>
            </a:r>
          </a:p>
        </p:txBody>
      </p:sp>
      <p:sp>
        <p:nvSpPr>
          <p:cNvPr id="20483" name="Rectangle 3">
            <a:extLst>
              <a:ext uri="{FF2B5EF4-FFF2-40B4-BE49-F238E27FC236}">
                <a16:creationId xmlns:a16="http://schemas.microsoft.com/office/drawing/2014/main" id="{F314282D-C8D5-0E47-82FA-E20E49E605FC}"/>
              </a:ext>
            </a:extLst>
          </p:cNvPr>
          <p:cNvSpPr>
            <a:spLocks noGrp="1" noChangeArrowheads="1"/>
          </p:cNvSpPr>
          <p:nvPr>
            <p:ph type="body" idx="1"/>
          </p:nvPr>
        </p:nvSpPr>
        <p:spPr>
          <a:xfrm>
            <a:off x="323850" y="1196975"/>
            <a:ext cx="8497888" cy="5184775"/>
          </a:xfrm>
          <a:noFill/>
        </p:spPr>
        <p:txBody>
          <a:bodyPr/>
          <a:lstStyle/>
          <a:p>
            <a:pPr algn="just"/>
            <a:r>
              <a:rPr lang="en-US" altLang="en-US" sz="2400">
                <a:latin typeface="Calibri" panose="020F0502020204030204" pitchFamily="34" charset="0"/>
              </a:rPr>
              <a:t>Denormalization is a technique to move from higher to lower normal forms of database modeling in order to speed up database access. </a:t>
            </a:r>
          </a:p>
          <a:p>
            <a:pPr algn="just"/>
            <a:r>
              <a:rPr lang="en-US" altLang="en-US" sz="2400">
                <a:latin typeface="Calibri" panose="020F0502020204030204" pitchFamily="34" charset="0"/>
              </a:rPr>
              <a:t>A fully normalized database schema can fail to provide adequate system response time due to excessive table join operations.</a:t>
            </a:r>
          </a:p>
          <a:p>
            <a:pPr algn="just"/>
            <a:r>
              <a:rPr lang="en-US" altLang="en-US" sz="2400">
                <a:latin typeface="Calibri" panose="020F0502020204030204" pitchFamily="34" charset="0"/>
              </a:rPr>
              <a:t>Denormalization results in combining two relations into one relation. More specifically, in this step, we consider duplicating certain attributes or combining relations together to reduce the number of joins required to perform a query.</a:t>
            </a:r>
          </a:p>
          <a:p>
            <a:pPr algn="just"/>
            <a:r>
              <a:rPr lang="en-US" altLang="en-US" sz="2400">
                <a:latin typeface="Calibri" panose="020F0502020204030204" pitchFamily="34" charset="0"/>
              </a:rPr>
              <a:t>As a general rule of thumb, if performance is unsatisfactory and a relation has a low update rate and very high query rate, denormalization may be a viable option.</a:t>
            </a:r>
          </a:p>
        </p:txBody>
      </p:sp>
      <p:sp>
        <p:nvSpPr>
          <p:cNvPr id="20484" name="Rectangle 4">
            <a:extLst>
              <a:ext uri="{FF2B5EF4-FFF2-40B4-BE49-F238E27FC236}">
                <a16:creationId xmlns:a16="http://schemas.microsoft.com/office/drawing/2014/main" id="{1C7053D9-6B3B-D774-10DF-7FDAA500C3D8}"/>
              </a:ext>
            </a:extLst>
          </p:cNvPr>
          <p:cNvSpPr>
            <a:spLocks noChangeArrowheads="1"/>
          </p:cNvSpPr>
          <p:nvPr/>
        </p:nvSpPr>
        <p:spPr bwMode="auto">
          <a:xfrm>
            <a:off x="4787900" y="188913"/>
            <a:ext cx="41767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a:r>
              <a:rPr lang="en-US" altLang="en-US" b="1">
                <a:solidFill>
                  <a:schemeClr val="accent2"/>
                </a:solidFill>
              </a:rPr>
              <a:t>Physical Database Design</a:t>
            </a: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80FA0D2F-0B0B-C36C-9396-D27B129CBA07}"/>
              </a:ext>
            </a:extLst>
          </p:cNvPr>
          <p:cNvSpPr>
            <a:spLocks noGrp="1" noChangeArrowheads="1"/>
          </p:cNvSpPr>
          <p:nvPr>
            <p:ph type="title"/>
          </p:nvPr>
        </p:nvSpPr>
        <p:spPr>
          <a:xfrm>
            <a:off x="323850" y="588963"/>
            <a:ext cx="6335713" cy="608012"/>
          </a:xfrm>
          <a:noFill/>
        </p:spPr>
        <p:txBody>
          <a:bodyPr lIns="92075" tIns="46038" rIns="92075" bIns="46038" anchor="t"/>
          <a:lstStyle/>
          <a:p>
            <a:r>
              <a:rPr lang="en-US" altLang="en-US" sz="3200">
                <a:solidFill>
                  <a:srgbClr val="800000"/>
                </a:solidFill>
              </a:rPr>
              <a:t>Denormalization</a:t>
            </a:r>
          </a:p>
        </p:txBody>
      </p:sp>
      <p:sp>
        <p:nvSpPr>
          <p:cNvPr id="22531" name="Rectangle 3">
            <a:extLst>
              <a:ext uri="{FF2B5EF4-FFF2-40B4-BE49-F238E27FC236}">
                <a16:creationId xmlns:a16="http://schemas.microsoft.com/office/drawing/2014/main" id="{151D49A7-0F58-8466-F740-3E22F63D8E95}"/>
              </a:ext>
            </a:extLst>
          </p:cNvPr>
          <p:cNvSpPr>
            <a:spLocks noGrp="1" noChangeArrowheads="1"/>
          </p:cNvSpPr>
          <p:nvPr>
            <p:ph type="body" idx="1"/>
          </p:nvPr>
        </p:nvSpPr>
        <p:spPr>
          <a:xfrm>
            <a:off x="323850" y="1196975"/>
            <a:ext cx="8497888" cy="5184775"/>
          </a:xfrm>
        </p:spPr>
        <p:txBody>
          <a:bodyPr/>
          <a:lstStyle/>
          <a:p>
            <a:pPr algn="just">
              <a:defRPr/>
            </a:pPr>
            <a:r>
              <a:rPr lang="en-US" sz="2400" dirty="0">
                <a:solidFill>
                  <a:schemeClr val="accent6"/>
                </a:solidFill>
                <a:latin typeface="Calibri" pitchFamily="34" charset="0"/>
              </a:rPr>
              <a:t>Denormalization Situation 1: </a:t>
            </a:r>
          </a:p>
          <a:p>
            <a:pPr algn="just">
              <a:defRPr/>
            </a:pPr>
            <a:r>
              <a:rPr lang="en-US" sz="2400" dirty="0">
                <a:latin typeface="Calibri" pitchFamily="34" charset="0"/>
              </a:rPr>
              <a:t>Many to many binary relationships mapped to three relations. </a:t>
            </a:r>
          </a:p>
          <a:p>
            <a:pPr lvl="1" algn="just">
              <a:defRPr/>
            </a:pPr>
            <a:r>
              <a:rPr lang="en-US" dirty="0">
                <a:solidFill>
                  <a:schemeClr val="accent6"/>
                </a:solidFill>
                <a:latin typeface="Calibri" pitchFamily="34" charset="0"/>
                <a:ea typeface="+mn-ea"/>
                <a:cs typeface="+mn-cs"/>
              </a:rPr>
              <a:t>EMP (</a:t>
            </a:r>
            <a:r>
              <a:rPr lang="en-US" dirty="0" err="1">
                <a:solidFill>
                  <a:schemeClr val="accent6"/>
                </a:solidFill>
                <a:latin typeface="Calibri" pitchFamily="34" charset="0"/>
                <a:ea typeface="+mn-ea"/>
                <a:cs typeface="+mn-cs"/>
              </a:rPr>
              <a:t>empID</a:t>
            </a:r>
            <a:r>
              <a:rPr lang="en-US" dirty="0">
                <a:solidFill>
                  <a:schemeClr val="accent6"/>
                </a:solidFill>
                <a:latin typeface="Calibri" pitchFamily="34" charset="0"/>
                <a:ea typeface="+mn-ea"/>
                <a:cs typeface="+mn-cs"/>
              </a:rPr>
              <a:t>, </a:t>
            </a:r>
            <a:r>
              <a:rPr lang="en-US" dirty="0" err="1">
                <a:solidFill>
                  <a:schemeClr val="accent6"/>
                </a:solidFill>
                <a:latin typeface="Calibri" pitchFamily="34" charset="0"/>
                <a:ea typeface="+mn-ea"/>
                <a:cs typeface="+mn-cs"/>
              </a:rPr>
              <a:t>eName</a:t>
            </a:r>
            <a:r>
              <a:rPr lang="en-US" dirty="0">
                <a:solidFill>
                  <a:schemeClr val="accent6"/>
                </a:solidFill>
                <a:latin typeface="Calibri" pitchFamily="34" charset="0"/>
                <a:ea typeface="+mn-ea"/>
                <a:cs typeface="+mn-cs"/>
              </a:rPr>
              <a:t>, job, Sal)</a:t>
            </a:r>
          </a:p>
          <a:p>
            <a:pPr lvl="1" algn="just">
              <a:defRPr/>
            </a:pPr>
            <a:r>
              <a:rPr lang="en-US" dirty="0">
                <a:solidFill>
                  <a:schemeClr val="accent6"/>
                </a:solidFill>
                <a:latin typeface="Calibri" pitchFamily="34" charset="0"/>
                <a:ea typeface="+mn-ea"/>
                <a:cs typeface="+mn-cs"/>
              </a:rPr>
              <a:t>PROJ (</a:t>
            </a:r>
            <a:r>
              <a:rPr lang="en-US" dirty="0" err="1">
                <a:solidFill>
                  <a:schemeClr val="accent6"/>
                </a:solidFill>
                <a:latin typeface="Calibri" pitchFamily="34" charset="0"/>
                <a:ea typeface="+mn-ea"/>
                <a:cs typeface="+mn-cs"/>
              </a:rPr>
              <a:t>pjId</a:t>
            </a:r>
            <a:r>
              <a:rPr lang="en-US" dirty="0">
                <a:solidFill>
                  <a:schemeClr val="accent6"/>
                </a:solidFill>
                <a:latin typeface="Calibri" pitchFamily="34" charset="0"/>
                <a:ea typeface="+mn-ea"/>
                <a:cs typeface="+mn-cs"/>
              </a:rPr>
              <a:t>, </a:t>
            </a:r>
            <a:r>
              <a:rPr lang="en-US" dirty="0" err="1">
                <a:solidFill>
                  <a:schemeClr val="accent6"/>
                </a:solidFill>
                <a:latin typeface="Calibri" pitchFamily="34" charset="0"/>
                <a:ea typeface="+mn-ea"/>
                <a:cs typeface="+mn-cs"/>
              </a:rPr>
              <a:t>pjName</a:t>
            </a:r>
            <a:r>
              <a:rPr lang="en-US" dirty="0">
                <a:solidFill>
                  <a:schemeClr val="accent6"/>
                </a:solidFill>
                <a:latin typeface="Calibri" pitchFamily="34" charset="0"/>
                <a:ea typeface="+mn-ea"/>
                <a:cs typeface="+mn-cs"/>
              </a:rPr>
              <a:t>)</a:t>
            </a:r>
          </a:p>
          <a:p>
            <a:pPr lvl="1" algn="just">
              <a:defRPr/>
            </a:pPr>
            <a:r>
              <a:rPr lang="en-US" dirty="0">
                <a:solidFill>
                  <a:schemeClr val="accent6"/>
                </a:solidFill>
                <a:latin typeface="Calibri" pitchFamily="34" charset="0"/>
                <a:ea typeface="+mn-ea"/>
                <a:cs typeface="+mn-cs"/>
              </a:rPr>
              <a:t>WORK (</a:t>
            </a:r>
            <a:r>
              <a:rPr lang="en-US" dirty="0" err="1">
                <a:solidFill>
                  <a:schemeClr val="accent6"/>
                </a:solidFill>
                <a:latin typeface="Calibri" pitchFamily="34" charset="0"/>
                <a:ea typeface="+mn-ea"/>
                <a:cs typeface="+mn-cs"/>
              </a:rPr>
              <a:t>empID</a:t>
            </a:r>
            <a:r>
              <a:rPr lang="en-US" dirty="0">
                <a:solidFill>
                  <a:schemeClr val="accent6"/>
                </a:solidFill>
                <a:latin typeface="Calibri" pitchFamily="34" charset="0"/>
                <a:ea typeface="+mn-ea"/>
                <a:cs typeface="+mn-cs"/>
              </a:rPr>
              <a:t>, </a:t>
            </a:r>
            <a:r>
              <a:rPr lang="en-US" dirty="0" err="1">
                <a:solidFill>
                  <a:schemeClr val="accent6"/>
                </a:solidFill>
                <a:latin typeface="Calibri" pitchFamily="34" charset="0"/>
                <a:ea typeface="+mn-ea"/>
                <a:cs typeface="+mn-cs"/>
              </a:rPr>
              <a:t>pjId</a:t>
            </a:r>
            <a:r>
              <a:rPr lang="en-US" dirty="0">
                <a:solidFill>
                  <a:schemeClr val="accent6"/>
                </a:solidFill>
                <a:latin typeface="Calibri" pitchFamily="34" charset="0"/>
                <a:ea typeface="+mn-ea"/>
                <a:cs typeface="+mn-cs"/>
              </a:rPr>
              <a:t>, </a:t>
            </a:r>
            <a:r>
              <a:rPr lang="en-US" dirty="0" err="1">
                <a:solidFill>
                  <a:schemeClr val="accent6"/>
                </a:solidFill>
                <a:latin typeface="Calibri" pitchFamily="34" charset="0"/>
                <a:ea typeface="+mn-ea"/>
                <a:cs typeface="+mn-cs"/>
              </a:rPr>
              <a:t>dtHired</a:t>
            </a:r>
            <a:r>
              <a:rPr lang="en-US" dirty="0">
                <a:solidFill>
                  <a:schemeClr val="accent6"/>
                </a:solidFill>
                <a:latin typeface="Calibri" pitchFamily="34" charset="0"/>
                <a:ea typeface="+mn-ea"/>
                <a:cs typeface="+mn-cs"/>
              </a:rPr>
              <a:t>)</a:t>
            </a:r>
          </a:p>
          <a:p>
            <a:pPr algn="just">
              <a:defRPr/>
            </a:pPr>
            <a:r>
              <a:rPr lang="en-US" sz="2400" dirty="0">
                <a:latin typeface="Calibri" pitchFamily="34" charset="0"/>
              </a:rPr>
              <a:t>By de-normalizing these relations, we merge the WORK relation with PROJ relation. In this case it is violating 2NF and anomalies of 2NF would be there, but there would be only one join operation involved by joining two tables, which increases the efficiency.</a:t>
            </a:r>
          </a:p>
          <a:p>
            <a:pPr lvl="1" algn="just">
              <a:defRPr/>
            </a:pPr>
            <a:r>
              <a:rPr lang="en-US" dirty="0">
                <a:solidFill>
                  <a:schemeClr val="accent6"/>
                </a:solidFill>
                <a:latin typeface="Calibri" pitchFamily="34" charset="0"/>
              </a:rPr>
              <a:t>EMP (</a:t>
            </a:r>
            <a:r>
              <a:rPr lang="en-US" dirty="0" err="1">
                <a:solidFill>
                  <a:schemeClr val="accent6"/>
                </a:solidFill>
                <a:latin typeface="Calibri" pitchFamily="34" charset="0"/>
              </a:rPr>
              <a:t>empID</a:t>
            </a:r>
            <a:r>
              <a:rPr lang="en-US" dirty="0">
                <a:solidFill>
                  <a:schemeClr val="accent6"/>
                </a:solidFill>
                <a:latin typeface="Calibri" pitchFamily="34" charset="0"/>
              </a:rPr>
              <a:t>, </a:t>
            </a:r>
            <a:r>
              <a:rPr lang="en-US" dirty="0" err="1">
                <a:solidFill>
                  <a:schemeClr val="accent6"/>
                </a:solidFill>
                <a:latin typeface="Calibri" pitchFamily="34" charset="0"/>
              </a:rPr>
              <a:t>eName</a:t>
            </a:r>
            <a:r>
              <a:rPr lang="en-US" dirty="0">
                <a:solidFill>
                  <a:schemeClr val="accent6"/>
                </a:solidFill>
                <a:latin typeface="Calibri" pitchFamily="34" charset="0"/>
              </a:rPr>
              <a:t>, job, Sal)</a:t>
            </a:r>
          </a:p>
          <a:p>
            <a:pPr lvl="1" algn="just">
              <a:defRPr/>
            </a:pPr>
            <a:r>
              <a:rPr lang="en-US" dirty="0">
                <a:solidFill>
                  <a:schemeClr val="accent6"/>
                </a:solidFill>
                <a:latin typeface="Calibri" pitchFamily="34" charset="0"/>
              </a:rPr>
              <a:t>PROJ (</a:t>
            </a:r>
            <a:r>
              <a:rPr lang="en-US" dirty="0" err="1">
                <a:solidFill>
                  <a:schemeClr val="accent6"/>
                </a:solidFill>
                <a:latin typeface="Calibri" pitchFamily="34" charset="0"/>
              </a:rPr>
              <a:t>pjId</a:t>
            </a:r>
            <a:r>
              <a:rPr lang="en-US" dirty="0">
                <a:solidFill>
                  <a:schemeClr val="accent6"/>
                </a:solidFill>
                <a:latin typeface="Calibri" pitchFamily="34" charset="0"/>
              </a:rPr>
              <a:t>, </a:t>
            </a:r>
            <a:r>
              <a:rPr lang="en-US" dirty="0" err="1">
                <a:solidFill>
                  <a:schemeClr val="accent6"/>
                </a:solidFill>
                <a:latin typeface="Calibri" pitchFamily="34" charset="0"/>
              </a:rPr>
              <a:t>pjName</a:t>
            </a:r>
            <a:r>
              <a:rPr lang="en-US" dirty="0">
                <a:solidFill>
                  <a:schemeClr val="accent6"/>
                </a:solidFill>
                <a:latin typeface="Calibri" pitchFamily="34" charset="0"/>
              </a:rPr>
              <a:t>, </a:t>
            </a:r>
            <a:r>
              <a:rPr lang="en-US" dirty="0" err="1">
                <a:solidFill>
                  <a:schemeClr val="accent6"/>
                </a:solidFill>
                <a:latin typeface="Calibri" pitchFamily="34" charset="0"/>
              </a:rPr>
              <a:t>empId</a:t>
            </a:r>
            <a:r>
              <a:rPr lang="en-US" dirty="0">
                <a:solidFill>
                  <a:schemeClr val="accent6"/>
                </a:solidFill>
                <a:latin typeface="Calibri" pitchFamily="34" charset="0"/>
              </a:rPr>
              <a:t>, </a:t>
            </a:r>
            <a:r>
              <a:rPr lang="en-US" dirty="0" err="1">
                <a:solidFill>
                  <a:schemeClr val="accent6"/>
                </a:solidFill>
                <a:latin typeface="Calibri" pitchFamily="34" charset="0"/>
              </a:rPr>
              <a:t>dtHired</a:t>
            </a:r>
            <a:r>
              <a:rPr lang="en-US" dirty="0">
                <a:solidFill>
                  <a:schemeClr val="accent6"/>
                </a:solidFill>
                <a:latin typeface="Calibri" pitchFamily="34" charset="0"/>
              </a:rPr>
              <a:t>)</a:t>
            </a:r>
          </a:p>
          <a:p>
            <a:pPr lvl="1" algn="just">
              <a:defRPr/>
            </a:pPr>
            <a:endParaRPr lang="en-US" dirty="0">
              <a:solidFill>
                <a:schemeClr val="accent6"/>
              </a:solidFill>
              <a:latin typeface="Calibri" pitchFamily="34" charset="0"/>
            </a:endParaRPr>
          </a:p>
        </p:txBody>
      </p:sp>
      <p:sp>
        <p:nvSpPr>
          <p:cNvPr id="21508" name="Rectangle 4">
            <a:extLst>
              <a:ext uri="{FF2B5EF4-FFF2-40B4-BE49-F238E27FC236}">
                <a16:creationId xmlns:a16="http://schemas.microsoft.com/office/drawing/2014/main" id="{0EE488EE-ABCE-47FA-5BED-D76298873B65}"/>
              </a:ext>
            </a:extLst>
          </p:cNvPr>
          <p:cNvSpPr>
            <a:spLocks noChangeArrowheads="1"/>
          </p:cNvSpPr>
          <p:nvPr/>
        </p:nvSpPr>
        <p:spPr bwMode="auto">
          <a:xfrm>
            <a:off x="4787900" y="188913"/>
            <a:ext cx="41767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a:r>
              <a:rPr lang="en-US" altLang="en-US" b="1">
                <a:solidFill>
                  <a:schemeClr val="accent2"/>
                </a:solidFill>
              </a:rPr>
              <a:t>Physical Database Design</a:t>
            </a: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97953667-A207-285C-B9F4-8D7C969CE7CC}"/>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libri" panose="020F0502020204030204" pitchFamily="34" charset="0"/>
              </a:rPr>
              <a:t>Denormalization</a:t>
            </a:r>
          </a:p>
        </p:txBody>
      </p:sp>
      <p:sp>
        <p:nvSpPr>
          <p:cNvPr id="2" name="Content Placeholder 1">
            <a:extLst>
              <a:ext uri="{FF2B5EF4-FFF2-40B4-BE49-F238E27FC236}">
                <a16:creationId xmlns:a16="http://schemas.microsoft.com/office/drawing/2014/main" id="{BBF83A51-5766-1E7B-357D-862E3AD0B34A}"/>
              </a:ext>
            </a:extLst>
          </p:cNvPr>
          <p:cNvSpPr>
            <a:spLocks noGrp="1"/>
          </p:cNvSpPr>
          <p:nvPr>
            <p:ph sz="quarter" idx="1"/>
          </p:nvPr>
        </p:nvSpPr>
        <p:spPr>
          <a:xfrm>
            <a:off x="400050" y="649734"/>
            <a:ext cx="8492430" cy="6091634"/>
          </a:xfrm>
        </p:spPr>
        <p:txBody>
          <a:bodyPr/>
          <a:lstStyle/>
          <a:p>
            <a:pPr marL="0" indent="0" algn="just">
              <a:spcBef>
                <a:spcPts val="300"/>
              </a:spcBef>
              <a:buNone/>
              <a:defRPr/>
            </a:pPr>
            <a:r>
              <a:rPr lang="en-US" sz="2200" b="1" u="sng" dirty="0">
                <a:solidFill>
                  <a:srgbClr val="0000CC"/>
                </a:solidFill>
                <a:latin typeface="Calibri" panose="020F0502020204030204" pitchFamily="34" charset="0"/>
                <a:ea typeface="+mj-ea"/>
                <a:cs typeface="+mj-cs"/>
              </a:rPr>
              <a:t>Denormalization Situation 2: </a:t>
            </a:r>
          </a:p>
          <a:p>
            <a:pPr algn="just">
              <a:spcBef>
                <a:spcPts val="300"/>
              </a:spcBef>
              <a:defRPr/>
            </a:pPr>
            <a:r>
              <a:rPr lang="en-US" sz="2200" dirty="0">
                <a:latin typeface="Calibri" pitchFamily="34" charset="0"/>
              </a:rPr>
              <a:t>We have attributes that are almost always used together in application and they end up in different relations, then we will always have to perform a join operation when we retrieve them. </a:t>
            </a:r>
          </a:p>
          <a:p>
            <a:pPr algn="just">
              <a:spcBef>
                <a:spcPts val="300"/>
              </a:spcBef>
              <a:defRPr/>
            </a:pPr>
            <a:r>
              <a:rPr lang="en-US" sz="2200" dirty="0">
                <a:latin typeface="Calibri" pitchFamily="34" charset="0"/>
              </a:rPr>
              <a:t>Example: Consider the following relation:</a:t>
            </a:r>
          </a:p>
          <a:p>
            <a:pPr lvl="1" algn="just">
              <a:spcBef>
                <a:spcPts val="300"/>
              </a:spcBef>
              <a:defRPr/>
            </a:pPr>
            <a:r>
              <a:rPr lang="en-US" sz="2200" dirty="0">
                <a:solidFill>
                  <a:srgbClr val="0000CC"/>
                </a:solidFill>
                <a:latin typeface="Calibri" panose="020F0502020204030204" pitchFamily="34" charset="0"/>
                <a:ea typeface="+mj-ea"/>
                <a:cs typeface="+mj-cs"/>
              </a:rPr>
              <a:t>EMP (</a:t>
            </a:r>
            <a:r>
              <a:rPr lang="en-US" sz="2200" dirty="0" err="1">
                <a:solidFill>
                  <a:srgbClr val="0000CC"/>
                </a:solidFill>
                <a:latin typeface="Calibri" panose="020F0502020204030204" pitchFamily="34" charset="0"/>
                <a:ea typeface="+mj-ea"/>
                <a:cs typeface="+mj-cs"/>
              </a:rPr>
              <a:t>empID</a:t>
            </a:r>
            <a:r>
              <a:rPr lang="en-US" sz="2200" dirty="0">
                <a:solidFill>
                  <a:srgbClr val="0000CC"/>
                </a:solidFill>
                <a:latin typeface="Calibri" panose="020F0502020204030204" pitchFamily="34" charset="0"/>
                <a:ea typeface="+mj-ea"/>
                <a:cs typeface="+mj-cs"/>
              </a:rPr>
              <a:t>, </a:t>
            </a:r>
            <a:r>
              <a:rPr lang="en-US" sz="2200" dirty="0" err="1">
                <a:solidFill>
                  <a:srgbClr val="0000CC"/>
                </a:solidFill>
                <a:latin typeface="Calibri" panose="020F0502020204030204" pitchFamily="34" charset="0"/>
                <a:ea typeface="+mj-ea"/>
                <a:cs typeface="+mj-cs"/>
              </a:rPr>
              <a:t>eName</a:t>
            </a:r>
            <a:r>
              <a:rPr lang="en-US" sz="2200" dirty="0">
                <a:solidFill>
                  <a:srgbClr val="0000CC"/>
                </a:solidFill>
                <a:latin typeface="Calibri" panose="020F0502020204030204" pitchFamily="34" charset="0"/>
                <a:ea typeface="+mj-ea"/>
                <a:cs typeface="+mj-cs"/>
              </a:rPr>
              <a:t>, street, postcode, city)</a:t>
            </a:r>
          </a:p>
          <a:p>
            <a:pPr algn="just">
              <a:spcBef>
                <a:spcPts val="300"/>
              </a:spcBef>
              <a:defRPr/>
            </a:pPr>
            <a:r>
              <a:rPr lang="en-US" sz="2200" dirty="0">
                <a:latin typeface="Calibri" pitchFamily="34" charset="0"/>
              </a:rPr>
              <a:t>The relation isn’t in 3NF, as it has a transitive dependency </a:t>
            </a:r>
            <a:r>
              <a:rPr lang="en-US" sz="2200" dirty="0">
                <a:solidFill>
                  <a:srgbClr val="FF0000"/>
                </a:solidFill>
                <a:latin typeface="Calibri" pitchFamily="34" charset="0"/>
              </a:rPr>
              <a:t>postcode -&gt; city.</a:t>
            </a:r>
          </a:p>
          <a:p>
            <a:pPr algn="just">
              <a:spcBef>
                <a:spcPts val="300"/>
              </a:spcBef>
              <a:defRPr/>
            </a:pPr>
            <a:r>
              <a:rPr lang="en-US" sz="2200" dirty="0">
                <a:latin typeface="Calibri" pitchFamily="34" charset="0"/>
              </a:rPr>
              <a:t>After converting the above relation into 3NF, we have</a:t>
            </a:r>
          </a:p>
          <a:p>
            <a:pPr lvl="1" algn="just">
              <a:spcBef>
                <a:spcPts val="300"/>
              </a:spcBef>
              <a:defRPr/>
            </a:pPr>
            <a:r>
              <a:rPr lang="en-US" sz="2200" dirty="0">
                <a:solidFill>
                  <a:srgbClr val="0000CC"/>
                </a:solidFill>
                <a:latin typeface="Calibri" panose="020F0502020204030204" pitchFamily="34" charset="0"/>
                <a:ea typeface="+mj-ea"/>
                <a:cs typeface="+mj-cs"/>
              </a:rPr>
              <a:t>EMP (</a:t>
            </a:r>
            <a:r>
              <a:rPr lang="en-US" sz="2200" dirty="0" err="1">
                <a:solidFill>
                  <a:srgbClr val="0000CC"/>
                </a:solidFill>
                <a:latin typeface="Calibri" panose="020F0502020204030204" pitchFamily="34" charset="0"/>
                <a:ea typeface="+mj-ea"/>
                <a:cs typeface="+mj-cs"/>
              </a:rPr>
              <a:t>empID</a:t>
            </a:r>
            <a:r>
              <a:rPr lang="en-US" sz="2200" dirty="0">
                <a:solidFill>
                  <a:srgbClr val="0000CC"/>
                </a:solidFill>
                <a:latin typeface="Calibri" panose="020F0502020204030204" pitchFamily="34" charset="0"/>
                <a:ea typeface="+mj-ea"/>
                <a:cs typeface="+mj-cs"/>
              </a:rPr>
              <a:t>, </a:t>
            </a:r>
            <a:r>
              <a:rPr lang="en-US" sz="2200" dirty="0" err="1">
                <a:solidFill>
                  <a:srgbClr val="0000CC"/>
                </a:solidFill>
                <a:latin typeface="Calibri" panose="020F0502020204030204" pitchFamily="34" charset="0"/>
                <a:ea typeface="+mj-ea"/>
                <a:cs typeface="+mj-cs"/>
              </a:rPr>
              <a:t>eName</a:t>
            </a:r>
            <a:r>
              <a:rPr lang="en-US" sz="2200" dirty="0">
                <a:solidFill>
                  <a:srgbClr val="0000CC"/>
                </a:solidFill>
                <a:latin typeface="Calibri" panose="020F0502020204030204" pitchFamily="34" charset="0"/>
                <a:ea typeface="+mj-ea"/>
                <a:cs typeface="+mj-cs"/>
              </a:rPr>
              <a:t>, street, postcode)</a:t>
            </a:r>
          </a:p>
          <a:p>
            <a:pPr lvl="1" algn="just">
              <a:spcBef>
                <a:spcPts val="300"/>
              </a:spcBef>
              <a:defRPr/>
            </a:pPr>
            <a:r>
              <a:rPr lang="en-US" sz="2200" dirty="0">
                <a:solidFill>
                  <a:srgbClr val="0000CC"/>
                </a:solidFill>
                <a:latin typeface="Calibri" panose="020F0502020204030204" pitchFamily="34" charset="0"/>
                <a:ea typeface="+mj-ea"/>
                <a:cs typeface="+mj-cs"/>
              </a:rPr>
              <a:t>LOCATION (postcode, city)</a:t>
            </a:r>
          </a:p>
          <a:p>
            <a:pPr algn="just">
              <a:spcBef>
                <a:spcPts val="300"/>
              </a:spcBef>
              <a:defRPr/>
            </a:pPr>
            <a:r>
              <a:rPr lang="en-US" sz="2200" dirty="0">
                <a:latin typeface="Calibri" pitchFamily="34" charset="0"/>
              </a:rPr>
              <a:t>However, this would mean that we would have to do a join whenever we want a complete address for a person. In this case, we would settle for 2NF and implement the original EMP relation. </a:t>
            </a:r>
          </a:p>
          <a:p>
            <a:pPr algn="just">
              <a:defRPr/>
            </a:pPr>
            <a:r>
              <a:rPr lang="en-US" sz="2200" dirty="0">
                <a:latin typeface="Calibri" pitchFamily="34" charset="0"/>
              </a:rPr>
              <a:t>An alternative is to additionally store the join of </a:t>
            </a:r>
            <a:r>
              <a:rPr lang="en-US" sz="2200" dirty="0">
                <a:solidFill>
                  <a:srgbClr val="FF0000"/>
                </a:solidFill>
                <a:latin typeface="Calibri" pitchFamily="34" charset="0"/>
              </a:rPr>
              <a:t>EMP</a:t>
            </a:r>
            <a:r>
              <a:rPr lang="en-US" sz="2200" dirty="0">
                <a:latin typeface="Calibri" pitchFamily="34" charset="0"/>
              </a:rPr>
              <a:t> and </a:t>
            </a:r>
            <a:r>
              <a:rPr lang="en-US" sz="2200" dirty="0">
                <a:solidFill>
                  <a:srgbClr val="FF0000"/>
                </a:solidFill>
                <a:latin typeface="Calibri" pitchFamily="34" charset="0"/>
              </a:rPr>
              <a:t>LOCATION</a:t>
            </a:r>
            <a:r>
              <a:rPr lang="en-US" sz="2200" dirty="0">
                <a:latin typeface="Calibri" pitchFamily="34" charset="0"/>
              </a:rPr>
              <a:t> as a </a:t>
            </a:r>
            <a:r>
              <a:rPr lang="en-US" sz="2200" dirty="0">
                <a:solidFill>
                  <a:srgbClr val="0000CC"/>
                </a:solidFill>
                <a:latin typeface="Calibri" panose="020F0502020204030204" pitchFamily="34" charset="0"/>
                <a:ea typeface="+mj-ea"/>
                <a:cs typeface="+mj-cs"/>
              </a:rPr>
              <a:t>materialized view </a:t>
            </a:r>
            <a:r>
              <a:rPr lang="en-US" sz="2200" dirty="0">
                <a:latin typeface="Calibri" pitchFamily="34" charset="0"/>
              </a:rPr>
              <a:t>(A view whose result is stored in the database and brought up to date when the relations used in the view are updated.) </a:t>
            </a:r>
          </a:p>
          <a:p>
            <a:pPr algn="just">
              <a:spcBef>
                <a:spcPts val="300"/>
              </a:spcBef>
              <a:defRPr/>
            </a:pPr>
            <a:endParaRPr lang="en-US" sz="2200" dirty="0">
              <a:latin typeface="Calibri" pitchFamily="34" charset="0"/>
            </a:endParaRPr>
          </a:p>
          <a:p>
            <a:pPr>
              <a:spcBef>
                <a:spcPts val="300"/>
              </a:spcBef>
            </a:pPr>
            <a:endParaRPr lang="en-US" sz="2200" dirty="0"/>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5789963E-3111-83CA-06C8-E13E1DD3C47D}"/>
              </a:ext>
            </a:extLst>
          </p:cNvPr>
          <p:cNvSpPr>
            <a:spLocks noGrp="1" noChangeArrowheads="1"/>
          </p:cNvSpPr>
          <p:nvPr>
            <p:ph type="title"/>
          </p:nvPr>
        </p:nvSpPr>
        <p:spPr>
          <a:xfrm>
            <a:off x="323850" y="588963"/>
            <a:ext cx="6335713" cy="608012"/>
          </a:xfrm>
          <a:noFill/>
        </p:spPr>
        <p:txBody>
          <a:bodyPr lIns="92075" tIns="46038" rIns="92075" bIns="46038" anchor="t"/>
          <a:lstStyle/>
          <a:p>
            <a:r>
              <a:rPr lang="en-US" altLang="en-US" sz="3200">
                <a:solidFill>
                  <a:srgbClr val="800000"/>
                </a:solidFill>
              </a:rPr>
              <a:t>Partitioning</a:t>
            </a:r>
          </a:p>
        </p:txBody>
      </p:sp>
      <p:sp>
        <p:nvSpPr>
          <p:cNvPr id="22531" name="Rectangle 3">
            <a:extLst>
              <a:ext uri="{FF2B5EF4-FFF2-40B4-BE49-F238E27FC236}">
                <a16:creationId xmlns:a16="http://schemas.microsoft.com/office/drawing/2014/main" id="{4D5A1F25-1E42-AF6D-8390-E4486823FDAE}"/>
              </a:ext>
            </a:extLst>
          </p:cNvPr>
          <p:cNvSpPr>
            <a:spLocks noGrp="1" noChangeArrowheads="1"/>
          </p:cNvSpPr>
          <p:nvPr>
            <p:ph type="body" idx="1"/>
          </p:nvPr>
        </p:nvSpPr>
        <p:spPr>
          <a:xfrm>
            <a:off x="323850" y="1196975"/>
            <a:ext cx="8497888" cy="5184775"/>
          </a:xfrm>
        </p:spPr>
        <p:txBody>
          <a:bodyPr/>
          <a:lstStyle/>
          <a:p>
            <a:pPr algn="just">
              <a:defRPr/>
            </a:pPr>
            <a:r>
              <a:rPr lang="en-US" dirty="0">
                <a:latin typeface="Calibri" pitchFamily="34" charset="0"/>
              </a:rPr>
              <a:t>De-normalization leads to merging different relations, whereas partitioning splits same relation into two. </a:t>
            </a:r>
          </a:p>
          <a:p>
            <a:pPr algn="just">
              <a:defRPr/>
            </a:pPr>
            <a:r>
              <a:rPr lang="en-US" dirty="0">
                <a:latin typeface="Calibri" pitchFamily="34" charset="0"/>
              </a:rPr>
              <a:t>The general aims of data partitioning and placement in database are to</a:t>
            </a:r>
          </a:p>
          <a:p>
            <a:pPr lvl="1" algn="just">
              <a:defRPr/>
            </a:pPr>
            <a:r>
              <a:rPr lang="en-US" dirty="0">
                <a:solidFill>
                  <a:schemeClr val="accent6"/>
                </a:solidFill>
                <a:latin typeface="Calibri" pitchFamily="34" charset="0"/>
              </a:rPr>
              <a:t>Reduce workload (e.g. data access, communication costs, search space)</a:t>
            </a:r>
          </a:p>
          <a:p>
            <a:pPr lvl="1" algn="just">
              <a:defRPr/>
            </a:pPr>
            <a:r>
              <a:rPr lang="en-US" dirty="0">
                <a:solidFill>
                  <a:schemeClr val="accent6"/>
                </a:solidFill>
                <a:latin typeface="Calibri" pitchFamily="34" charset="0"/>
              </a:rPr>
              <a:t>Balance workload</a:t>
            </a:r>
          </a:p>
          <a:p>
            <a:pPr lvl="1" algn="just">
              <a:defRPr/>
            </a:pPr>
            <a:r>
              <a:rPr lang="en-US" dirty="0">
                <a:solidFill>
                  <a:schemeClr val="accent6"/>
                </a:solidFill>
                <a:latin typeface="Calibri" pitchFamily="34" charset="0"/>
              </a:rPr>
              <a:t>Efficiency</a:t>
            </a:r>
          </a:p>
          <a:p>
            <a:pPr algn="just">
              <a:defRPr/>
            </a:pPr>
            <a:r>
              <a:rPr lang="en-US" dirty="0">
                <a:latin typeface="Calibri" pitchFamily="34" charset="0"/>
              </a:rPr>
              <a:t>There are two types of partitioning:-</a:t>
            </a:r>
          </a:p>
          <a:p>
            <a:pPr lvl="1" algn="just">
              <a:defRPr/>
            </a:pPr>
            <a:r>
              <a:rPr lang="en-US" sz="2800" dirty="0">
                <a:solidFill>
                  <a:schemeClr val="accent6"/>
                </a:solidFill>
                <a:latin typeface="Calibri" pitchFamily="34" charset="0"/>
              </a:rPr>
              <a:t>Horizontal Partitioning</a:t>
            </a:r>
          </a:p>
          <a:p>
            <a:pPr lvl="1" algn="just">
              <a:defRPr/>
            </a:pPr>
            <a:r>
              <a:rPr lang="en-US" sz="2800" dirty="0">
                <a:solidFill>
                  <a:schemeClr val="accent6"/>
                </a:solidFill>
                <a:latin typeface="Calibri" pitchFamily="34" charset="0"/>
              </a:rPr>
              <a:t>Vertical Partitioning</a:t>
            </a:r>
            <a:endParaRPr lang="en-US" dirty="0">
              <a:solidFill>
                <a:schemeClr val="accent6"/>
              </a:solidFill>
              <a:latin typeface="Calibri" pitchFamily="34" charset="0"/>
            </a:endParaRPr>
          </a:p>
        </p:txBody>
      </p:sp>
      <p:sp>
        <p:nvSpPr>
          <p:cNvPr id="23556" name="Rectangle 4">
            <a:extLst>
              <a:ext uri="{FF2B5EF4-FFF2-40B4-BE49-F238E27FC236}">
                <a16:creationId xmlns:a16="http://schemas.microsoft.com/office/drawing/2014/main" id="{8F54DE57-F60F-DE62-8A79-5EA886CC7C41}"/>
              </a:ext>
            </a:extLst>
          </p:cNvPr>
          <p:cNvSpPr>
            <a:spLocks noChangeArrowheads="1"/>
          </p:cNvSpPr>
          <p:nvPr/>
        </p:nvSpPr>
        <p:spPr bwMode="auto">
          <a:xfrm>
            <a:off x="4787900" y="188913"/>
            <a:ext cx="41767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a:r>
              <a:rPr lang="en-US" altLang="en-US" b="1">
                <a:solidFill>
                  <a:schemeClr val="accent2"/>
                </a:solidFill>
              </a:rPr>
              <a:t>Physical Database Design</a:t>
            </a:r>
          </a:p>
        </p:txBody>
      </p:sp>
    </p:spTree>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58BE86D3-5BFD-6F41-1CC0-A3EB6BE6B51A}"/>
              </a:ext>
            </a:extLst>
          </p:cNvPr>
          <p:cNvSpPr>
            <a:spLocks noGrp="1" noChangeArrowheads="1"/>
          </p:cNvSpPr>
          <p:nvPr>
            <p:ph type="title"/>
          </p:nvPr>
        </p:nvSpPr>
        <p:spPr>
          <a:xfrm>
            <a:off x="323850" y="588963"/>
            <a:ext cx="6335713" cy="608012"/>
          </a:xfrm>
          <a:noFill/>
        </p:spPr>
        <p:txBody>
          <a:bodyPr lIns="92075" tIns="46038" rIns="92075" bIns="46038" anchor="t"/>
          <a:lstStyle/>
          <a:p>
            <a:r>
              <a:rPr lang="en-US" altLang="en-US" sz="3200">
                <a:solidFill>
                  <a:srgbClr val="800000"/>
                </a:solidFill>
              </a:rPr>
              <a:t>Partitioning</a:t>
            </a:r>
          </a:p>
        </p:txBody>
      </p:sp>
      <p:sp>
        <p:nvSpPr>
          <p:cNvPr id="22531" name="Rectangle 3">
            <a:extLst>
              <a:ext uri="{FF2B5EF4-FFF2-40B4-BE49-F238E27FC236}">
                <a16:creationId xmlns:a16="http://schemas.microsoft.com/office/drawing/2014/main" id="{880D2A9E-2706-D1B7-F0CB-1BD8D46D9127}"/>
              </a:ext>
            </a:extLst>
          </p:cNvPr>
          <p:cNvSpPr>
            <a:spLocks noGrp="1" noChangeArrowheads="1"/>
          </p:cNvSpPr>
          <p:nvPr>
            <p:ph type="body" idx="1"/>
          </p:nvPr>
        </p:nvSpPr>
        <p:spPr>
          <a:xfrm>
            <a:off x="395288" y="1196975"/>
            <a:ext cx="8497887" cy="5303838"/>
          </a:xfrm>
        </p:spPr>
        <p:txBody>
          <a:bodyPr/>
          <a:lstStyle/>
          <a:p>
            <a:pPr algn="just">
              <a:buFontTx/>
              <a:buNone/>
              <a:defRPr/>
            </a:pPr>
            <a:r>
              <a:rPr lang="en-US" sz="2400" dirty="0">
                <a:solidFill>
                  <a:schemeClr val="accent6"/>
                </a:solidFill>
                <a:latin typeface="Calibri" pitchFamily="34" charset="0"/>
              </a:rPr>
              <a:t>Horizontal Partitioning</a:t>
            </a:r>
          </a:p>
          <a:p>
            <a:pPr algn="just">
              <a:defRPr/>
            </a:pPr>
            <a:r>
              <a:rPr lang="en-US" sz="2400" dirty="0">
                <a:latin typeface="Calibri" pitchFamily="34" charset="0"/>
              </a:rPr>
              <a:t>Table is split on the basis of rows, which means a larger table is split into smaller tables.</a:t>
            </a:r>
          </a:p>
          <a:p>
            <a:pPr algn="just">
              <a:defRPr/>
            </a:pPr>
            <a:r>
              <a:rPr lang="en-US" sz="2400" dirty="0">
                <a:latin typeface="Calibri" pitchFamily="34" charset="0"/>
              </a:rPr>
              <a:t>Now the advantage of this is that time in accessing the records of a larger table is much more than a smaller table. </a:t>
            </a:r>
          </a:p>
          <a:p>
            <a:pPr algn="just">
              <a:defRPr/>
            </a:pPr>
            <a:r>
              <a:rPr lang="en-US" sz="2400" dirty="0">
                <a:latin typeface="Calibri" pitchFamily="34" charset="0"/>
              </a:rPr>
              <a:t>It also helps in the maintenance of tables, security, authorization and backup. </a:t>
            </a:r>
          </a:p>
          <a:p>
            <a:pPr algn="just">
              <a:defRPr/>
            </a:pPr>
            <a:r>
              <a:rPr lang="en-US" sz="2400" dirty="0">
                <a:latin typeface="Calibri" pitchFamily="34" charset="0"/>
              </a:rPr>
              <a:t>These smaller partitions can also be placed on different disks to reduce disk contention.</a:t>
            </a:r>
          </a:p>
        </p:txBody>
      </p:sp>
      <p:sp>
        <p:nvSpPr>
          <p:cNvPr id="24580" name="Rectangle 4">
            <a:extLst>
              <a:ext uri="{FF2B5EF4-FFF2-40B4-BE49-F238E27FC236}">
                <a16:creationId xmlns:a16="http://schemas.microsoft.com/office/drawing/2014/main" id="{EB75A2A6-0699-4FE1-45C8-5625F06B1D8A}"/>
              </a:ext>
            </a:extLst>
          </p:cNvPr>
          <p:cNvSpPr>
            <a:spLocks noChangeArrowheads="1"/>
          </p:cNvSpPr>
          <p:nvPr/>
        </p:nvSpPr>
        <p:spPr bwMode="auto">
          <a:xfrm>
            <a:off x="4787900" y="188913"/>
            <a:ext cx="41767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a:r>
              <a:rPr lang="en-US" altLang="en-US" b="1">
                <a:solidFill>
                  <a:schemeClr val="accent2"/>
                </a:solidFill>
              </a:rPr>
              <a:t>Physical Database Design</a:t>
            </a:r>
          </a:p>
        </p:txBody>
      </p:sp>
    </p:spTree>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8DCA20FF-A230-A923-D144-CB57DFC07FFC}"/>
              </a:ext>
            </a:extLst>
          </p:cNvPr>
          <p:cNvSpPr>
            <a:spLocks noGrp="1" noChangeArrowheads="1"/>
          </p:cNvSpPr>
          <p:nvPr>
            <p:ph type="title"/>
          </p:nvPr>
        </p:nvSpPr>
        <p:spPr>
          <a:xfrm>
            <a:off x="323850" y="588963"/>
            <a:ext cx="6335713" cy="608012"/>
          </a:xfrm>
          <a:noFill/>
        </p:spPr>
        <p:txBody>
          <a:bodyPr lIns="92075" tIns="46038" rIns="92075" bIns="46038" anchor="t"/>
          <a:lstStyle/>
          <a:p>
            <a:r>
              <a:rPr lang="en-US" altLang="en-US" sz="3200">
                <a:solidFill>
                  <a:srgbClr val="800000"/>
                </a:solidFill>
              </a:rPr>
              <a:t>Partitioning</a:t>
            </a:r>
          </a:p>
        </p:txBody>
      </p:sp>
      <p:sp>
        <p:nvSpPr>
          <p:cNvPr id="22531" name="Rectangle 3">
            <a:extLst>
              <a:ext uri="{FF2B5EF4-FFF2-40B4-BE49-F238E27FC236}">
                <a16:creationId xmlns:a16="http://schemas.microsoft.com/office/drawing/2014/main" id="{9962956B-E475-094F-7E3A-EE1691B3F477}"/>
              </a:ext>
            </a:extLst>
          </p:cNvPr>
          <p:cNvSpPr>
            <a:spLocks noGrp="1" noChangeArrowheads="1"/>
          </p:cNvSpPr>
          <p:nvPr>
            <p:ph type="body" idx="1"/>
          </p:nvPr>
        </p:nvSpPr>
        <p:spPr>
          <a:xfrm>
            <a:off x="395288" y="1196975"/>
            <a:ext cx="8497887" cy="5303838"/>
          </a:xfrm>
        </p:spPr>
        <p:txBody>
          <a:bodyPr/>
          <a:lstStyle/>
          <a:p>
            <a:pPr algn="just">
              <a:buFontTx/>
              <a:buNone/>
              <a:defRPr/>
            </a:pPr>
            <a:r>
              <a:rPr lang="en-US" sz="2400" dirty="0">
                <a:solidFill>
                  <a:schemeClr val="accent6"/>
                </a:solidFill>
                <a:latin typeface="Calibri" pitchFamily="34" charset="0"/>
              </a:rPr>
              <a:t>Vertical Partitioning</a:t>
            </a:r>
          </a:p>
          <a:p>
            <a:pPr algn="just">
              <a:defRPr/>
            </a:pPr>
            <a:r>
              <a:rPr lang="en-US" sz="2400" dirty="0">
                <a:latin typeface="Calibri" pitchFamily="34" charset="0"/>
              </a:rPr>
              <a:t>It is done on the basis of attributes. Same table is split into different physical records depending on the nature of accesses. </a:t>
            </a:r>
          </a:p>
          <a:p>
            <a:pPr algn="just">
              <a:defRPr/>
            </a:pPr>
            <a:r>
              <a:rPr lang="en-US" sz="2400" dirty="0">
                <a:latin typeface="Calibri" pitchFamily="34" charset="0"/>
              </a:rPr>
              <a:t>Primary key is repeated in all vertical partitions of a table to get the original table. </a:t>
            </a:r>
          </a:p>
          <a:p>
            <a:pPr algn="just">
              <a:defRPr/>
            </a:pPr>
            <a:r>
              <a:rPr lang="en-US" sz="2400" dirty="0">
                <a:latin typeface="Calibri" pitchFamily="34" charset="0"/>
              </a:rPr>
              <a:t>You can replicate a limited subset of a table's columns to other machines.</a:t>
            </a:r>
          </a:p>
        </p:txBody>
      </p:sp>
      <p:sp>
        <p:nvSpPr>
          <p:cNvPr id="25604" name="Rectangle 4">
            <a:extLst>
              <a:ext uri="{FF2B5EF4-FFF2-40B4-BE49-F238E27FC236}">
                <a16:creationId xmlns:a16="http://schemas.microsoft.com/office/drawing/2014/main" id="{CA7EF51B-D25F-DE43-072D-B65B888E4F18}"/>
              </a:ext>
            </a:extLst>
          </p:cNvPr>
          <p:cNvSpPr>
            <a:spLocks noChangeArrowheads="1"/>
          </p:cNvSpPr>
          <p:nvPr/>
        </p:nvSpPr>
        <p:spPr bwMode="auto">
          <a:xfrm>
            <a:off x="4787900" y="188913"/>
            <a:ext cx="41767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a:r>
              <a:rPr lang="en-US" altLang="en-US" b="1">
                <a:solidFill>
                  <a:schemeClr val="accent2"/>
                </a:solidFill>
              </a:rPr>
              <a:t>Physical Database Design</a:t>
            </a:r>
          </a:p>
        </p:txBody>
      </p:sp>
    </p:spTree>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98CF1C6F-8AF8-BA6E-C42C-3F20BECE99FB}"/>
              </a:ext>
            </a:extLst>
          </p:cNvPr>
          <p:cNvSpPr>
            <a:spLocks noGrp="1" noChangeArrowheads="1"/>
          </p:cNvSpPr>
          <p:nvPr>
            <p:ph type="title"/>
          </p:nvPr>
        </p:nvSpPr>
        <p:spPr>
          <a:xfrm>
            <a:off x="323850" y="588963"/>
            <a:ext cx="6335713" cy="608012"/>
          </a:xfrm>
          <a:noFill/>
        </p:spPr>
        <p:txBody>
          <a:bodyPr lIns="92075" tIns="46038" rIns="92075" bIns="46038" anchor="t"/>
          <a:lstStyle/>
          <a:p>
            <a:r>
              <a:rPr lang="en-US" altLang="en-US" sz="3200">
                <a:solidFill>
                  <a:srgbClr val="800000"/>
                </a:solidFill>
              </a:rPr>
              <a:t>Estimate disk space requirements</a:t>
            </a:r>
          </a:p>
        </p:txBody>
      </p:sp>
      <p:sp>
        <p:nvSpPr>
          <p:cNvPr id="26627" name="Rectangle 3">
            <a:extLst>
              <a:ext uri="{FF2B5EF4-FFF2-40B4-BE49-F238E27FC236}">
                <a16:creationId xmlns:a16="http://schemas.microsoft.com/office/drawing/2014/main" id="{E9622C52-3E5E-8A4E-288F-BE94BDB1E94C}"/>
              </a:ext>
            </a:extLst>
          </p:cNvPr>
          <p:cNvSpPr>
            <a:spLocks noGrp="1" noChangeArrowheads="1"/>
          </p:cNvSpPr>
          <p:nvPr>
            <p:ph type="body" idx="1"/>
          </p:nvPr>
        </p:nvSpPr>
        <p:spPr>
          <a:xfrm>
            <a:off x="323850" y="1196975"/>
            <a:ext cx="8497888" cy="5184775"/>
          </a:xfrm>
          <a:noFill/>
        </p:spPr>
        <p:txBody>
          <a:bodyPr/>
          <a:lstStyle/>
          <a:p>
            <a:pPr marL="341313" indent="-341313" algn="just"/>
            <a:r>
              <a:rPr lang="en-US" altLang="en-US" sz="3200">
                <a:latin typeface="Calibri" panose="020F0502020204030204" pitchFamily="34" charset="0"/>
              </a:rPr>
              <a:t>This step is required so that the appropriate disk size can be selected. </a:t>
            </a:r>
          </a:p>
          <a:p>
            <a:pPr marL="341313" indent="-341313" algn="just"/>
            <a:r>
              <a:rPr lang="en-US" altLang="en-US" sz="3200">
                <a:latin typeface="Calibri" panose="020F0502020204030204" pitchFamily="34" charset="0"/>
              </a:rPr>
              <a:t>In general, the estimate is based on the size of each tuple and the number of tuples in a relation.</a:t>
            </a:r>
          </a:p>
          <a:p>
            <a:pPr marL="341313" indent="-341313" algn="just"/>
            <a:r>
              <a:rPr lang="en-US" altLang="en-US" sz="3200">
                <a:latin typeface="Calibri" panose="020F0502020204030204" pitchFamily="34" charset="0"/>
              </a:rPr>
              <a:t>The growth of the relation should also be taken into consideration.</a:t>
            </a:r>
          </a:p>
        </p:txBody>
      </p:sp>
      <p:sp>
        <p:nvSpPr>
          <p:cNvPr id="26628" name="Rectangle 4">
            <a:extLst>
              <a:ext uri="{FF2B5EF4-FFF2-40B4-BE49-F238E27FC236}">
                <a16:creationId xmlns:a16="http://schemas.microsoft.com/office/drawing/2014/main" id="{C894624F-EC40-0609-DB7B-ABD9006D6070}"/>
              </a:ext>
            </a:extLst>
          </p:cNvPr>
          <p:cNvSpPr>
            <a:spLocks noChangeArrowheads="1"/>
          </p:cNvSpPr>
          <p:nvPr/>
        </p:nvSpPr>
        <p:spPr bwMode="auto">
          <a:xfrm>
            <a:off x="4787900" y="188913"/>
            <a:ext cx="41767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a:r>
              <a:rPr lang="en-US" altLang="en-US" b="1">
                <a:solidFill>
                  <a:schemeClr val="accent2"/>
                </a:solidFill>
              </a:rPr>
              <a:t>Physical Database Design</a:t>
            </a:r>
          </a:p>
        </p:txBody>
      </p:sp>
    </p:spTree>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A5B1E13B-5683-B084-458C-0319032B3775}"/>
              </a:ext>
            </a:extLst>
          </p:cNvPr>
          <p:cNvSpPr>
            <a:spLocks noGrp="1" noChangeArrowheads="1"/>
          </p:cNvSpPr>
          <p:nvPr>
            <p:ph type="title"/>
          </p:nvPr>
        </p:nvSpPr>
        <p:spPr>
          <a:xfrm>
            <a:off x="323850" y="588963"/>
            <a:ext cx="6335713" cy="608012"/>
          </a:xfrm>
          <a:noFill/>
        </p:spPr>
        <p:txBody>
          <a:bodyPr lIns="92075" tIns="46038" rIns="92075" bIns="46038" anchor="t"/>
          <a:lstStyle/>
          <a:p>
            <a:r>
              <a:rPr lang="en-US" altLang="en-US" sz="3200">
                <a:solidFill>
                  <a:srgbClr val="800000"/>
                </a:solidFill>
              </a:rPr>
              <a:t>Design user views</a:t>
            </a:r>
            <a:br>
              <a:rPr lang="en-US" altLang="en-US" sz="4800">
                <a:latin typeface="Calibri" panose="020F0502020204030204" pitchFamily="34" charset="0"/>
              </a:rPr>
            </a:br>
            <a:endParaRPr lang="en-US" altLang="en-US" sz="4800">
              <a:latin typeface="Calibri" panose="020F0502020204030204" pitchFamily="34" charset="0"/>
            </a:endParaRPr>
          </a:p>
        </p:txBody>
      </p:sp>
      <p:sp>
        <p:nvSpPr>
          <p:cNvPr id="27651" name="Rectangle 3">
            <a:extLst>
              <a:ext uri="{FF2B5EF4-FFF2-40B4-BE49-F238E27FC236}">
                <a16:creationId xmlns:a16="http://schemas.microsoft.com/office/drawing/2014/main" id="{E698C13B-0EFF-78C4-BF81-4683AAD2CA6F}"/>
              </a:ext>
            </a:extLst>
          </p:cNvPr>
          <p:cNvSpPr>
            <a:spLocks noGrp="1" noChangeArrowheads="1"/>
          </p:cNvSpPr>
          <p:nvPr>
            <p:ph type="body" idx="1"/>
          </p:nvPr>
        </p:nvSpPr>
        <p:spPr>
          <a:xfrm>
            <a:off x="395288" y="1196975"/>
            <a:ext cx="8497887" cy="5184775"/>
          </a:xfrm>
          <a:noFill/>
        </p:spPr>
        <p:txBody>
          <a:bodyPr/>
          <a:lstStyle/>
          <a:p>
            <a:pPr marL="341313" indent="-341313" algn="just">
              <a:buClr>
                <a:srgbClr val="723900"/>
              </a:buClr>
            </a:pPr>
            <a:r>
              <a:rPr lang="en-US" altLang="en-US" sz="3200">
                <a:latin typeface="Calibri" panose="020F0502020204030204" pitchFamily="34" charset="0"/>
              </a:rPr>
              <a:t>A View is a subset of the database that is presented to one or more users.</a:t>
            </a:r>
          </a:p>
          <a:p>
            <a:pPr marL="341313" indent="-341313" algn="just">
              <a:buClr>
                <a:srgbClr val="723900"/>
              </a:buClr>
            </a:pPr>
            <a:r>
              <a:rPr lang="en-US" altLang="en-US" sz="3200">
                <a:latin typeface="Calibri" panose="020F0502020204030204" pitchFamily="34" charset="0"/>
                <a:cs typeface="Times New Roman" panose="02020603050405020304" pitchFamily="18" charset="0"/>
              </a:rPr>
              <a:t>A view is often referred to as a </a:t>
            </a:r>
            <a:r>
              <a:rPr lang="en-US" altLang="en-US" sz="3200">
                <a:solidFill>
                  <a:schemeClr val="accent2"/>
                </a:solidFill>
                <a:latin typeface="Calibri" panose="020F0502020204030204" pitchFamily="34" charset="0"/>
                <a:cs typeface="Times New Roman" panose="02020603050405020304" pitchFamily="18" charset="0"/>
              </a:rPr>
              <a:t>virtual table.</a:t>
            </a:r>
          </a:p>
          <a:p>
            <a:pPr marL="341313" indent="-341313" algn="just">
              <a:buClr>
                <a:srgbClr val="723900"/>
              </a:buClr>
            </a:pPr>
            <a:r>
              <a:rPr lang="en-US" altLang="en-US" sz="3200">
                <a:latin typeface="Calibri" panose="020F0502020204030204" pitchFamily="34" charset="0"/>
                <a:cs typeface="Times New Roman" panose="02020603050405020304" pitchFamily="18" charset="0"/>
              </a:rPr>
              <a:t>Views are created to satisfy the requirements of multiple users in an efficient way.</a:t>
            </a:r>
          </a:p>
        </p:txBody>
      </p:sp>
      <p:sp>
        <p:nvSpPr>
          <p:cNvPr id="27652" name="Rectangle 4">
            <a:extLst>
              <a:ext uri="{FF2B5EF4-FFF2-40B4-BE49-F238E27FC236}">
                <a16:creationId xmlns:a16="http://schemas.microsoft.com/office/drawing/2014/main" id="{1A55E5DD-4E1B-EEF7-D0F1-045AE564F4A2}"/>
              </a:ext>
            </a:extLst>
          </p:cNvPr>
          <p:cNvSpPr>
            <a:spLocks noChangeArrowheads="1"/>
          </p:cNvSpPr>
          <p:nvPr/>
        </p:nvSpPr>
        <p:spPr bwMode="auto">
          <a:xfrm>
            <a:off x="4787900" y="188913"/>
            <a:ext cx="41767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a:r>
              <a:rPr lang="en-US" altLang="en-US" b="1">
                <a:solidFill>
                  <a:schemeClr val="accent2"/>
                </a:solidFill>
              </a:rPr>
              <a:t>Physical Database Design</a:t>
            </a:r>
          </a:p>
        </p:txBody>
      </p:sp>
    </p:spTree>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85B79-D90F-F377-EC74-72E2C71DD4E2}"/>
            </a:ext>
          </a:extLst>
        </p:cNvPr>
        <p:cNvGrpSpPr/>
        <p:nvPr/>
      </p:nvGrpSpPr>
      <p:grpSpPr>
        <a:xfrm>
          <a:off x="0" y="0"/>
          <a:ext cx="0" cy="0"/>
          <a:chOff x="0" y="0"/>
          <a:chExt cx="0" cy="0"/>
        </a:xfrm>
      </p:grpSpPr>
      <p:sp>
        <p:nvSpPr>
          <p:cNvPr id="47106" name="Rectangle 2">
            <a:extLst>
              <a:ext uri="{FF2B5EF4-FFF2-40B4-BE49-F238E27FC236}">
                <a16:creationId xmlns:a16="http://schemas.microsoft.com/office/drawing/2014/main" id="{78459A4D-F2D8-D0ED-1D9C-53140AC853AE}"/>
              </a:ext>
            </a:extLst>
          </p:cNvPr>
          <p:cNvSpPr>
            <a:spLocks noGrp="1" noChangeArrowheads="1"/>
          </p:cNvSpPr>
          <p:nvPr>
            <p:ph type="title"/>
          </p:nvPr>
        </p:nvSpPr>
        <p:spPr>
          <a:xfrm>
            <a:off x="323850" y="260350"/>
            <a:ext cx="7848600" cy="533400"/>
          </a:xfrm>
        </p:spPr>
        <p:txBody>
          <a:bodyPr/>
          <a:lstStyle/>
          <a:p>
            <a:pPr eaLnBrk="1" hangingPunct="1">
              <a:spcBef>
                <a:spcPct val="50000"/>
              </a:spcBef>
            </a:pPr>
            <a:r>
              <a:rPr lang="en-US" altLang="en-US" sz="3200" b="1" u="sng" dirty="0">
                <a:solidFill>
                  <a:srgbClr val="D34817"/>
                </a:solidFill>
                <a:latin typeface="Calibri" panose="020F0502020204030204" pitchFamily="34" charset="0"/>
              </a:rPr>
              <a:t>Database Access Control</a:t>
            </a:r>
          </a:p>
        </p:txBody>
      </p:sp>
      <p:sp>
        <p:nvSpPr>
          <p:cNvPr id="2" name="Content Placeholder 1">
            <a:extLst>
              <a:ext uri="{FF2B5EF4-FFF2-40B4-BE49-F238E27FC236}">
                <a16:creationId xmlns:a16="http://schemas.microsoft.com/office/drawing/2014/main" id="{E069D429-9DA9-599D-BFAC-165DD0D4AAC8}"/>
              </a:ext>
            </a:extLst>
          </p:cNvPr>
          <p:cNvSpPr>
            <a:spLocks noGrp="1"/>
          </p:cNvSpPr>
          <p:nvPr>
            <p:ph sz="quarter" idx="1"/>
          </p:nvPr>
        </p:nvSpPr>
        <p:spPr>
          <a:xfrm>
            <a:off x="400050" y="649734"/>
            <a:ext cx="8492430" cy="6091634"/>
          </a:xfrm>
        </p:spPr>
        <p:txBody>
          <a:bodyPr/>
          <a:lstStyle/>
          <a:p>
            <a:pPr algn="just">
              <a:spcBef>
                <a:spcPts val="300"/>
              </a:spcBef>
              <a:defRPr/>
            </a:pPr>
            <a:r>
              <a:rPr lang="en-US" sz="2400" dirty="0">
                <a:latin typeface="Calibri" pitchFamily="34" charset="0"/>
              </a:rPr>
              <a:t>Database access control is the process of making sure that data or other resources are accessed only in authorized ways.</a:t>
            </a:r>
          </a:p>
          <a:p>
            <a:pPr algn="just">
              <a:spcBef>
                <a:spcPts val="300"/>
              </a:spcBef>
              <a:defRPr/>
            </a:pPr>
            <a:r>
              <a:rPr lang="en-US" sz="2400" dirty="0">
                <a:solidFill>
                  <a:srgbClr val="FF0000"/>
                </a:solidFill>
                <a:latin typeface="Calibri" pitchFamily="34" charset="0"/>
              </a:rPr>
              <a:t>Access Control Matrix or Authorization Table </a:t>
            </a:r>
            <a:r>
              <a:rPr lang="en-US" sz="2400" dirty="0">
                <a:latin typeface="Calibri" pitchFamily="34" charset="0"/>
              </a:rPr>
              <a:t>is used to describe the access type or actions that a database user can perform on a given database object. </a:t>
            </a:r>
          </a:p>
          <a:p>
            <a:pPr algn="just">
              <a:spcBef>
                <a:spcPts val="300"/>
              </a:spcBef>
              <a:defRPr/>
            </a:pPr>
            <a:r>
              <a:rPr lang="en-US" sz="2400" dirty="0">
                <a:latin typeface="Calibri" pitchFamily="34" charset="0"/>
              </a:rPr>
              <a:t>It expresses the Authorization Rules in the form of a table or matrix that include </a:t>
            </a:r>
            <a:r>
              <a:rPr lang="en-US" sz="2400" dirty="0">
                <a:solidFill>
                  <a:srgbClr val="FF0000"/>
                </a:solidFill>
                <a:latin typeface="Calibri" pitchFamily="34" charset="0"/>
              </a:rPr>
              <a:t>Subject, Object &amp; Privileges.</a:t>
            </a:r>
          </a:p>
          <a:p>
            <a:pPr algn="just">
              <a:spcBef>
                <a:spcPts val="300"/>
              </a:spcBef>
              <a:defRPr/>
            </a:pPr>
            <a:endParaRPr lang="en-US" sz="2400" dirty="0">
              <a:latin typeface="Calibri" pitchFamily="34" charset="0"/>
            </a:endParaRPr>
          </a:p>
          <a:p>
            <a:pPr algn="just">
              <a:spcBef>
                <a:spcPts val="300"/>
              </a:spcBef>
              <a:defRPr/>
            </a:pPr>
            <a:endParaRPr lang="en-US" sz="2400" dirty="0">
              <a:latin typeface="Calibri" pitchFamily="34" charset="0"/>
            </a:endParaRPr>
          </a:p>
          <a:p>
            <a:pPr>
              <a:spcBef>
                <a:spcPts val="300"/>
              </a:spcBef>
            </a:pPr>
            <a:endParaRPr lang="en-US" sz="2400" dirty="0"/>
          </a:p>
        </p:txBody>
      </p:sp>
      <p:graphicFrame>
        <p:nvGraphicFramePr>
          <p:cNvPr id="3" name="Table 2">
            <a:extLst>
              <a:ext uri="{FF2B5EF4-FFF2-40B4-BE49-F238E27FC236}">
                <a16:creationId xmlns:a16="http://schemas.microsoft.com/office/drawing/2014/main" id="{56DA5794-EAA3-981B-6428-69D468378B35}"/>
              </a:ext>
            </a:extLst>
          </p:cNvPr>
          <p:cNvGraphicFramePr>
            <a:graphicFrameLocks noGrp="1"/>
          </p:cNvGraphicFramePr>
          <p:nvPr>
            <p:extLst>
              <p:ext uri="{D42A27DB-BD31-4B8C-83A1-F6EECF244321}">
                <p14:modId xmlns:p14="http://schemas.microsoft.com/office/powerpoint/2010/main" val="3827147500"/>
              </p:ext>
            </p:extLst>
          </p:nvPr>
        </p:nvGraphicFramePr>
        <p:xfrm>
          <a:off x="603174" y="3501008"/>
          <a:ext cx="8289306" cy="2855381"/>
        </p:xfrm>
        <a:graphic>
          <a:graphicData uri="http://schemas.openxmlformats.org/drawingml/2006/table">
            <a:tbl>
              <a:tblPr firstRow="1" bandRow="1">
                <a:tableStyleId>{5C22544A-7EE6-4342-B048-85BDC9FD1C3A}</a:tableStyleId>
              </a:tblPr>
              <a:tblGrid>
                <a:gridCol w="1381551">
                  <a:extLst>
                    <a:ext uri="{9D8B030D-6E8A-4147-A177-3AD203B41FA5}">
                      <a16:colId xmlns:a16="http://schemas.microsoft.com/office/drawing/2014/main" val="754568277"/>
                    </a:ext>
                  </a:extLst>
                </a:gridCol>
                <a:gridCol w="1381551">
                  <a:extLst>
                    <a:ext uri="{9D8B030D-6E8A-4147-A177-3AD203B41FA5}">
                      <a16:colId xmlns:a16="http://schemas.microsoft.com/office/drawing/2014/main" val="569776166"/>
                    </a:ext>
                  </a:extLst>
                </a:gridCol>
                <a:gridCol w="1133716">
                  <a:extLst>
                    <a:ext uri="{9D8B030D-6E8A-4147-A177-3AD203B41FA5}">
                      <a16:colId xmlns:a16="http://schemas.microsoft.com/office/drawing/2014/main" val="2050617400"/>
                    </a:ext>
                  </a:extLst>
                </a:gridCol>
                <a:gridCol w="1728192">
                  <a:extLst>
                    <a:ext uri="{9D8B030D-6E8A-4147-A177-3AD203B41FA5}">
                      <a16:colId xmlns:a16="http://schemas.microsoft.com/office/drawing/2014/main" val="2015120012"/>
                    </a:ext>
                  </a:extLst>
                </a:gridCol>
                <a:gridCol w="1282745">
                  <a:extLst>
                    <a:ext uri="{9D8B030D-6E8A-4147-A177-3AD203B41FA5}">
                      <a16:colId xmlns:a16="http://schemas.microsoft.com/office/drawing/2014/main" val="11418989"/>
                    </a:ext>
                  </a:extLst>
                </a:gridCol>
                <a:gridCol w="1381551">
                  <a:extLst>
                    <a:ext uri="{9D8B030D-6E8A-4147-A177-3AD203B41FA5}">
                      <a16:colId xmlns:a16="http://schemas.microsoft.com/office/drawing/2014/main" val="3719792421"/>
                    </a:ext>
                  </a:extLst>
                </a:gridCol>
              </a:tblGrid>
              <a:tr h="691277">
                <a:tc>
                  <a:txBody>
                    <a:bodyPr/>
                    <a:lstStyle/>
                    <a:p>
                      <a:pPr algn="ctr"/>
                      <a:r>
                        <a:rPr lang="en-US" sz="2000" b="1" dirty="0">
                          <a:solidFill>
                            <a:srgbClr val="FFFF00"/>
                          </a:solidFill>
                        </a:rPr>
                        <a:t>SUBJECT</a:t>
                      </a:r>
                    </a:p>
                  </a:txBody>
                  <a:tcPr anchor="ctr"/>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000" b="1" i="0" u="none" strike="noStrike" cap="none" normalizeH="0" baseline="0" dirty="0">
                          <a:ln>
                            <a:noFill/>
                          </a:ln>
                          <a:solidFill>
                            <a:srgbClr val="FFFF00"/>
                          </a:solidFill>
                          <a:effectLst/>
                          <a:latin typeface="Calibri" pitchFamily="34" charset="0"/>
                        </a:rPr>
                        <a:t>Student</a:t>
                      </a:r>
                    </a:p>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000" b="1" i="0" u="none" strike="noStrike" cap="none" normalizeH="0" baseline="0" dirty="0">
                          <a:ln>
                            <a:noFill/>
                          </a:ln>
                          <a:solidFill>
                            <a:srgbClr val="FFFF00"/>
                          </a:solidFill>
                          <a:effectLst/>
                          <a:latin typeface="Calibri" pitchFamily="34" charset="0"/>
                        </a:rPr>
                        <a:t>Table</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000" b="1" i="0" u="none" strike="noStrike" cap="none" normalizeH="0" baseline="0" dirty="0">
                          <a:ln>
                            <a:noFill/>
                          </a:ln>
                          <a:solidFill>
                            <a:srgbClr val="FFFF00"/>
                          </a:solidFill>
                          <a:effectLst/>
                          <a:latin typeface="Calibri" pitchFamily="34" charset="0"/>
                        </a:rPr>
                        <a:t>Result</a:t>
                      </a:r>
                    </a:p>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000" b="1" i="0" u="none" strike="noStrike" cap="none" normalizeH="0" baseline="0" dirty="0">
                          <a:ln>
                            <a:noFill/>
                          </a:ln>
                          <a:solidFill>
                            <a:srgbClr val="FFFF00"/>
                          </a:solidFill>
                          <a:effectLst/>
                          <a:latin typeface="Calibri" pitchFamily="34" charset="0"/>
                        </a:rPr>
                        <a:t>Table</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000" b="1" i="0" u="none" strike="noStrike" cap="none" normalizeH="0" baseline="0" dirty="0">
                          <a:ln>
                            <a:noFill/>
                          </a:ln>
                          <a:solidFill>
                            <a:srgbClr val="FFFF00"/>
                          </a:solidFill>
                          <a:effectLst/>
                          <a:latin typeface="Calibri" pitchFamily="34" charset="0"/>
                        </a:rPr>
                        <a:t>Faculty</a:t>
                      </a:r>
                    </a:p>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000" b="1" i="0" u="none" strike="noStrike" cap="none" normalizeH="0" baseline="0" dirty="0">
                          <a:ln>
                            <a:noFill/>
                          </a:ln>
                          <a:solidFill>
                            <a:srgbClr val="FFFF00"/>
                          </a:solidFill>
                          <a:effectLst/>
                          <a:latin typeface="Calibri" pitchFamily="34" charset="0"/>
                        </a:rPr>
                        <a:t>View</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000" b="1" i="0" u="none" strike="noStrike" cap="none" normalizeH="0" baseline="0" dirty="0">
                          <a:ln>
                            <a:noFill/>
                          </a:ln>
                          <a:solidFill>
                            <a:srgbClr val="FFFF00"/>
                          </a:solidFill>
                          <a:effectLst/>
                          <a:latin typeface="Calibri" pitchFamily="34" charset="0"/>
                        </a:rPr>
                        <a:t>Adm. Procedure</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ct val="20000"/>
                        </a:spcBef>
                        <a:spcAft>
                          <a:spcPct val="0"/>
                        </a:spcAft>
                        <a:buClr>
                          <a:schemeClr val="tx2"/>
                        </a:buClr>
                        <a:buSzPct val="90000"/>
                        <a:buFont typeface="Symbol" pitchFamily="18" charset="2"/>
                        <a:buNone/>
                        <a:tabLst/>
                      </a:pPr>
                      <a:r>
                        <a:rPr kumimoji="0" lang="en-US" sz="2000" b="1" i="0" u="none" strike="noStrike" cap="none" normalizeH="0" baseline="0" dirty="0">
                          <a:ln>
                            <a:noFill/>
                          </a:ln>
                          <a:solidFill>
                            <a:srgbClr val="FFFF00"/>
                          </a:solidFill>
                          <a:effectLst/>
                          <a:latin typeface="Calibri" pitchFamily="34" charset="0"/>
                        </a:rPr>
                        <a:t>CREATE TABLE</a:t>
                      </a:r>
                    </a:p>
                  </a:txBody>
                  <a:tcPr marL="91439" marR="91439" marT="45724" marB="45724" anchor="ctr" horzOverflow="overflow"/>
                </a:tc>
                <a:extLst>
                  <a:ext uri="{0D108BD9-81ED-4DB2-BD59-A6C34878D82A}">
                    <a16:rowId xmlns:a16="http://schemas.microsoft.com/office/drawing/2014/main" val="3438793"/>
                  </a:ext>
                </a:extLst>
              </a:tr>
              <a:tr h="691277">
                <a:tc>
                  <a:txBody>
                    <a:bodyPr/>
                    <a:lstStyle/>
                    <a:p>
                      <a:pPr algn="ctr"/>
                      <a:r>
                        <a:rPr lang="en-US" sz="2000" b="1" dirty="0">
                          <a:solidFill>
                            <a:srgbClr val="FF0000"/>
                          </a:solidFill>
                        </a:rPr>
                        <a:t>User A</a:t>
                      </a:r>
                    </a:p>
                  </a:txBody>
                  <a:tcPr anchor="ctr"/>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libri" pitchFamily="34" charset="0"/>
                        </a:rPr>
                        <a:t>Read</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libri" pitchFamily="34" charset="0"/>
                        </a:rPr>
                        <a:t>Read</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libri" pitchFamily="34" charset="0"/>
                        </a:rPr>
                        <a:t>Null</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libri" pitchFamily="34" charset="0"/>
                        </a:rPr>
                        <a:t>Null</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libri" pitchFamily="34" charset="0"/>
                        </a:rPr>
                        <a:t>No</a:t>
                      </a:r>
                    </a:p>
                  </a:txBody>
                  <a:tcPr marL="91439" marR="91439" marT="45724" marB="45724" anchor="ctr" horzOverflow="overflow"/>
                </a:tc>
                <a:extLst>
                  <a:ext uri="{0D108BD9-81ED-4DB2-BD59-A6C34878D82A}">
                    <a16:rowId xmlns:a16="http://schemas.microsoft.com/office/drawing/2014/main" val="2925021511"/>
                  </a:ext>
                </a:extLst>
              </a:tr>
              <a:tr h="691277">
                <a:tc>
                  <a:txBody>
                    <a:bodyPr/>
                    <a:lstStyle/>
                    <a:p>
                      <a:pPr algn="ctr"/>
                      <a:r>
                        <a:rPr lang="en-US" sz="2000" b="1" dirty="0">
                          <a:solidFill>
                            <a:srgbClr val="FF0000"/>
                          </a:solidFill>
                        </a:rPr>
                        <a:t>User B</a:t>
                      </a:r>
                    </a:p>
                  </a:txBody>
                  <a:tcPr anchor="ctr"/>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libri" pitchFamily="34" charset="0"/>
                        </a:rPr>
                        <a:t>Read/</a:t>
                      </a:r>
                    </a:p>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libri" pitchFamily="34" charset="0"/>
                        </a:rPr>
                        <a:t>Write</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libri" pitchFamily="34" charset="0"/>
                        </a:rPr>
                        <a:t>Read</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libri" pitchFamily="34" charset="0"/>
                        </a:rPr>
                        <a:t>Read</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libri" pitchFamily="34" charset="0"/>
                        </a:rPr>
                        <a:t>Execute</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libri" pitchFamily="34" charset="0"/>
                        </a:rPr>
                        <a:t>Yes</a:t>
                      </a:r>
                    </a:p>
                  </a:txBody>
                  <a:tcPr marL="91439" marR="91439" marT="45724" marB="45724" anchor="ctr" horzOverflow="overflow"/>
                </a:tc>
                <a:extLst>
                  <a:ext uri="{0D108BD9-81ED-4DB2-BD59-A6C34878D82A}">
                    <a16:rowId xmlns:a16="http://schemas.microsoft.com/office/drawing/2014/main" val="2115425310"/>
                  </a:ext>
                </a:extLst>
              </a:tr>
              <a:tr h="691277">
                <a:tc>
                  <a:txBody>
                    <a:bodyPr/>
                    <a:lstStyle/>
                    <a:p>
                      <a:pPr algn="ctr"/>
                      <a:r>
                        <a:rPr lang="en-US" sz="2000" b="1" dirty="0">
                          <a:solidFill>
                            <a:srgbClr val="FF0000"/>
                          </a:solidFill>
                        </a:rPr>
                        <a:t>Role A</a:t>
                      </a:r>
                    </a:p>
                  </a:txBody>
                  <a:tcPr anchor="ctr"/>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libri" pitchFamily="34" charset="0"/>
                        </a:rPr>
                        <a:t>All</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libri" pitchFamily="34" charset="0"/>
                        </a:rPr>
                        <a:t>All</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libri" pitchFamily="34" charset="0"/>
                        </a:rPr>
                        <a:t>Read, Write, Update</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libri" pitchFamily="34" charset="0"/>
                        </a:rPr>
                        <a:t>Execute,</a:t>
                      </a:r>
                    </a:p>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libri" pitchFamily="34" charset="0"/>
                        </a:rPr>
                        <a:t>Alter</a:t>
                      </a:r>
                    </a:p>
                  </a:txBody>
                  <a:tcPr marL="91439" marR="91439" marT="45724" marB="45724" anchor="ctr" horzOverflow="overflow"/>
                </a:tc>
                <a:tc>
                  <a:txBody>
                    <a:bodyPr/>
                    <a:lstStyle/>
                    <a:p>
                      <a:pPr marL="0" marR="0" lvl="0" indent="0" algn="ctr" defTabSz="914400" rtl="0" eaLnBrk="1" fontAlgn="base" latinLnBrk="0" hangingPunct="1">
                        <a:lnSpc>
                          <a:spcPct val="100000"/>
                        </a:lnSpc>
                        <a:spcBef>
                          <a:spcPts val="0"/>
                        </a:spcBef>
                        <a:spcAft>
                          <a:spcPct val="0"/>
                        </a:spcAft>
                        <a:buClr>
                          <a:schemeClr val="tx2"/>
                        </a:buClr>
                        <a:buSzPct val="90000"/>
                        <a:buFont typeface="Symbol" pitchFamily="18" charset="2"/>
                        <a:buNone/>
                        <a:tabLst/>
                      </a:pPr>
                      <a:r>
                        <a:rPr kumimoji="0" lang="en-US" sz="2000" b="0" i="0" u="none" strike="noStrike" cap="none" normalizeH="0" baseline="0" dirty="0">
                          <a:ln>
                            <a:noFill/>
                          </a:ln>
                          <a:solidFill>
                            <a:schemeClr val="tx1"/>
                          </a:solidFill>
                          <a:effectLst/>
                          <a:latin typeface="Calibri" pitchFamily="34" charset="0"/>
                        </a:rPr>
                        <a:t>Yes</a:t>
                      </a:r>
                    </a:p>
                  </a:txBody>
                  <a:tcPr marL="91439" marR="91439" marT="45724" marB="45724" anchor="ctr" horzOverflow="overflow"/>
                </a:tc>
                <a:extLst>
                  <a:ext uri="{0D108BD9-81ED-4DB2-BD59-A6C34878D82A}">
                    <a16:rowId xmlns:a16="http://schemas.microsoft.com/office/drawing/2014/main" val="2131888941"/>
                  </a:ext>
                </a:extLst>
              </a:tr>
            </a:tbl>
          </a:graphicData>
        </a:graphic>
      </p:graphicFrame>
    </p:spTree>
    <p:extLst>
      <p:ext uri="{BB962C8B-B14F-4D97-AF65-F5344CB8AC3E}">
        <p14:creationId xmlns:p14="http://schemas.microsoft.com/office/powerpoint/2010/main" val="53624351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34CBEE64-832B-30E7-C35D-FEB33C53866A}"/>
              </a:ext>
            </a:extLst>
          </p:cNvPr>
          <p:cNvSpPr>
            <a:spLocks noGrp="1" noChangeArrowheads="1"/>
          </p:cNvSpPr>
          <p:nvPr>
            <p:ph type="title"/>
          </p:nvPr>
        </p:nvSpPr>
        <p:spPr>
          <a:xfrm>
            <a:off x="323850" y="588963"/>
            <a:ext cx="6335713" cy="608012"/>
          </a:xfrm>
          <a:noFill/>
        </p:spPr>
        <p:txBody>
          <a:bodyPr lIns="92075" tIns="46038" rIns="92075" bIns="46038" anchor="t"/>
          <a:lstStyle/>
          <a:p>
            <a:r>
              <a:rPr lang="en-US" altLang="en-US" sz="3200" dirty="0">
                <a:solidFill>
                  <a:srgbClr val="800000"/>
                </a:solidFill>
              </a:rPr>
              <a:t>Database Access Control</a:t>
            </a:r>
          </a:p>
        </p:txBody>
      </p:sp>
      <p:sp>
        <p:nvSpPr>
          <p:cNvPr id="24579" name="Rectangle 3">
            <a:extLst>
              <a:ext uri="{FF2B5EF4-FFF2-40B4-BE49-F238E27FC236}">
                <a16:creationId xmlns:a16="http://schemas.microsoft.com/office/drawing/2014/main" id="{FA173060-CA78-CCAE-90C1-8BF6A6436440}"/>
              </a:ext>
            </a:extLst>
          </p:cNvPr>
          <p:cNvSpPr>
            <a:spLocks noGrp="1" noChangeArrowheads="1"/>
          </p:cNvSpPr>
          <p:nvPr>
            <p:ph type="body" idx="1"/>
          </p:nvPr>
        </p:nvSpPr>
        <p:spPr>
          <a:xfrm>
            <a:off x="395288" y="1316038"/>
            <a:ext cx="8497887" cy="5184775"/>
          </a:xfrm>
        </p:spPr>
        <p:txBody>
          <a:bodyPr/>
          <a:lstStyle/>
          <a:p>
            <a:pPr algn="just">
              <a:lnSpc>
                <a:spcPct val="90000"/>
              </a:lnSpc>
              <a:defRPr/>
            </a:pPr>
            <a:r>
              <a:rPr lang="en-US" dirty="0">
                <a:latin typeface="Calibri" pitchFamily="34" charset="0"/>
              </a:rPr>
              <a:t>The Column Headings represent database objects, which may be tables, Views, Sequence, Indexes etc.</a:t>
            </a:r>
          </a:p>
          <a:p>
            <a:pPr algn="just">
              <a:lnSpc>
                <a:spcPct val="90000"/>
              </a:lnSpc>
              <a:defRPr/>
            </a:pPr>
            <a:r>
              <a:rPr lang="en-US" dirty="0">
                <a:latin typeface="Calibri" pitchFamily="34" charset="0"/>
              </a:rPr>
              <a:t>The Subjects are written on the left side of the table. It may be an individual or a group of users.</a:t>
            </a:r>
          </a:p>
          <a:p>
            <a:pPr algn="just">
              <a:lnSpc>
                <a:spcPct val="90000"/>
              </a:lnSpc>
              <a:defRPr/>
            </a:pPr>
            <a:r>
              <a:rPr lang="en-US" dirty="0">
                <a:latin typeface="Calibri" pitchFamily="34" charset="0"/>
              </a:rPr>
              <a:t>The Cell entries of the table specify the privileges. These include INSERT, UPDATE, DELETE, ALTER, SELECT</a:t>
            </a:r>
          </a:p>
          <a:p>
            <a:pPr algn="just">
              <a:defRPr/>
            </a:pPr>
            <a:r>
              <a:rPr lang="en-US" dirty="0">
                <a:latin typeface="Calibri" pitchFamily="34" charset="0"/>
              </a:rPr>
              <a:t>Once the Authorization table or Access Control Matrix is complete, the DBA grants the privileges accordingly.</a:t>
            </a:r>
          </a:p>
          <a:p>
            <a:pPr algn="just">
              <a:defRPr/>
            </a:pPr>
            <a:endParaRPr lang="en-US" dirty="0">
              <a:latin typeface="Calibri" pitchFamily="34" charset="0"/>
            </a:endParaRPr>
          </a:p>
          <a:p>
            <a:pPr marL="609600" indent="-609600" algn="just">
              <a:defRPr/>
            </a:pPr>
            <a:endParaRPr lang="en-US" dirty="0">
              <a:latin typeface="Calibri" pitchFamily="34" charset="0"/>
            </a:endParaRPr>
          </a:p>
        </p:txBody>
      </p:sp>
      <p:sp>
        <p:nvSpPr>
          <p:cNvPr id="30724" name="Rectangle 4">
            <a:extLst>
              <a:ext uri="{FF2B5EF4-FFF2-40B4-BE49-F238E27FC236}">
                <a16:creationId xmlns:a16="http://schemas.microsoft.com/office/drawing/2014/main" id="{AB4A8937-558F-21AB-921F-35F38B4E7D5E}"/>
              </a:ext>
            </a:extLst>
          </p:cNvPr>
          <p:cNvSpPr>
            <a:spLocks noChangeArrowheads="1"/>
          </p:cNvSpPr>
          <p:nvPr/>
        </p:nvSpPr>
        <p:spPr bwMode="auto">
          <a:xfrm>
            <a:off x="4787900" y="188913"/>
            <a:ext cx="4176713"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r"/>
            <a:r>
              <a:rPr lang="en-US" altLang="en-US" b="1">
                <a:solidFill>
                  <a:schemeClr val="accent2"/>
                </a:solidFill>
              </a:rPr>
              <a:t>Physical Database Design</a:t>
            </a:r>
          </a:p>
        </p:txBody>
      </p:sp>
    </p:spTree>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3F131D2E-1643-2B0B-13E6-73A2652C4A13}"/>
              </a:ext>
            </a:extLst>
          </p:cNvPr>
          <p:cNvSpPr>
            <a:spLocks noGrp="1" noChangeArrowheads="1"/>
          </p:cNvSpPr>
          <p:nvPr>
            <p:ph type="title"/>
          </p:nvPr>
        </p:nvSpPr>
        <p:spPr>
          <a:xfrm>
            <a:off x="395288" y="1628775"/>
            <a:ext cx="8277225" cy="1219200"/>
          </a:xfrm>
        </p:spPr>
        <p:txBody>
          <a:bodyPr/>
          <a:lstStyle/>
          <a:p>
            <a:pPr algn="ctr" eaLnBrk="1" hangingPunct="1"/>
            <a:br>
              <a:rPr lang="de-AT" altLang="en-US" sz="3600">
                <a:latin typeface="Georgia" panose="02040502050405020303" pitchFamily="18" charset="0"/>
              </a:rPr>
            </a:br>
            <a:r>
              <a:rPr lang="de-AT" altLang="en-US" sz="3600">
                <a:latin typeface="Georgia" panose="02040502050405020303" pitchFamily="18" charset="0"/>
              </a:rPr>
              <a:t>Thank you for your attention.</a:t>
            </a:r>
          </a:p>
        </p:txBody>
      </p:sp>
      <p:sp>
        <p:nvSpPr>
          <p:cNvPr id="97283" name="Rectangle 8">
            <a:extLst>
              <a:ext uri="{FF2B5EF4-FFF2-40B4-BE49-F238E27FC236}">
                <a16:creationId xmlns:a16="http://schemas.microsoft.com/office/drawing/2014/main" id="{1D2A0AC3-EA23-63ED-82E3-AC533EA2B5C5}"/>
              </a:ext>
            </a:extLst>
          </p:cNvPr>
          <p:cNvSpPr>
            <a:spLocks noChangeArrowheads="1"/>
          </p:cNvSpPr>
          <p:nvPr/>
        </p:nvSpPr>
        <p:spPr bwMode="auto">
          <a:xfrm>
            <a:off x="2362200" y="3962400"/>
            <a:ext cx="4495800" cy="2130425"/>
          </a:xfrm>
          <a:prstGeom prst="rect">
            <a:avLst/>
          </a:prstGeom>
          <a:solidFill>
            <a:srgbClr val="FFFFCC"/>
          </a:solidFill>
          <a:ln w="38100">
            <a:solidFill>
              <a:srgbClr val="800000"/>
            </a:solidFill>
            <a:miter lim="800000"/>
            <a:headEnd/>
            <a:tailEnd/>
          </a:ln>
        </p:spPr>
        <p:txBody>
          <a:bodyPr wrap="none" anchor="ctr"/>
          <a:lstStyle>
            <a:lvl1pPr>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en-US" altLang="en-US" sz="2400">
              <a:solidFill>
                <a:srgbClr val="000000"/>
              </a:solidFill>
            </a:endParaRPr>
          </a:p>
        </p:txBody>
      </p:sp>
      <p:sp>
        <p:nvSpPr>
          <p:cNvPr id="97284" name="Rectangle 9">
            <a:extLst>
              <a:ext uri="{FF2B5EF4-FFF2-40B4-BE49-F238E27FC236}">
                <a16:creationId xmlns:a16="http://schemas.microsoft.com/office/drawing/2014/main" id="{102F474F-E7C3-2B43-FC45-D92EEF1DA7C5}"/>
              </a:ext>
            </a:extLst>
          </p:cNvPr>
          <p:cNvSpPr>
            <a:spLocks noChangeArrowheads="1"/>
          </p:cNvSpPr>
          <p:nvPr/>
        </p:nvSpPr>
        <p:spPr bwMode="auto">
          <a:xfrm>
            <a:off x="539750" y="2276475"/>
            <a:ext cx="7772400" cy="143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chemeClr val="tx1"/>
                </a:solidFill>
                <a:latin typeface="Arial" panose="020B0604020202020204" pitchFamily="34"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endParaRPr lang="en-US" altLang="en-US" sz="2400" dirty="0">
              <a:solidFill>
                <a:srgbClr val="000000"/>
              </a:solidFill>
            </a:endParaRPr>
          </a:p>
          <a:p>
            <a:pPr eaLnBrk="1" hangingPunct="1"/>
            <a:endParaRPr lang="en-US" altLang="en-US" sz="2400" dirty="0">
              <a:solidFill>
                <a:srgbClr val="000000"/>
              </a:solidFill>
            </a:endParaRPr>
          </a:p>
          <a:p>
            <a:pPr eaLnBrk="1" hangingPunct="1"/>
            <a:endParaRPr lang="en-US" altLang="en-US" sz="2400" dirty="0">
              <a:solidFill>
                <a:srgbClr val="000000"/>
              </a:solidFill>
            </a:endParaRPr>
          </a:p>
          <a:p>
            <a:pPr eaLnBrk="1" hangingPunct="1"/>
            <a:endParaRPr lang="en-US" altLang="en-US" sz="2400" dirty="0">
              <a:solidFill>
                <a:srgbClr val="000000"/>
              </a:solidFill>
            </a:endParaRPr>
          </a:p>
          <a:p>
            <a:pPr eaLnBrk="1" hangingPunct="1">
              <a:buFontTx/>
              <a:buNone/>
            </a:pPr>
            <a:r>
              <a:rPr lang="de-AT" altLang="en-US" sz="900" b="1" dirty="0">
                <a:solidFill>
                  <a:srgbClr val="000066"/>
                </a:solidFill>
              </a:rPr>
              <a:t>			</a:t>
            </a:r>
            <a:r>
              <a:rPr lang="de-AT" altLang="en-US" sz="2400" b="1" dirty="0">
                <a:solidFill>
                  <a:srgbClr val="3333CC"/>
                </a:solidFill>
                <a:latin typeface="Georgia" panose="02040502050405020303" pitchFamily="18" charset="0"/>
              </a:rPr>
              <a:t>Dr. Asif Sohail</a:t>
            </a:r>
            <a:endParaRPr lang="de-AT" altLang="en-US" sz="1200" b="1" dirty="0">
              <a:solidFill>
                <a:srgbClr val="3333CC"/>
              </a:solidFill>
              <a:latin typeface="Georgia" panose="02040502050405020303" pitchFamily="18" charset="0"/>
            </a:endParaRPr>
          </a:p>
          <a:p>
            <a:pPr eaLnBrk="1" hangingPunct="1">
              <a:buFontTx/>
              <a:buNone/>
            </a:pPr>
            <a:r>
              <a:rPr lang="de-AT" altLang="en-US" sz="1200" b="1" dirty="0">
                <a:solidFill>
                  <a:srgbClr val="0000FF"/>
                </a:solidFill>
                <a:latin typeface="Georgia" panose="02040502050405020303" pitchFamily="18" charset="0"/>
              </a:rPr>
              <a:t>			</a:t>
            </a:r>
          </a:p>
          <a:p>
            <a:pPr eaLnBrk="1" hangingPunct="1">
              <a:buFontTx/>
              <a:buNone/>
            </a:pPr>
            <a:r>
              <a:rPr lang="de-AT" altLang="en-US" sz="1200" b="1" dirty="0">
                <a:solidFill>
                  <a:srgbClr val="0000FF"/>
                </a:solidFill>
                <a:latin typeface="Georgia" panose="02040502050405020303" pitchFamily="18" charset="0"/>
              </a:rPr>
              <a:t>			</a:t>
            </a:r>
            <a:r>
              <a:rPr lang="de-AT" altLang="en-US" sz="1200" b="1" dirty="0">
                <a:solidFill>
                  <a:srgbClr val="800000"/>
                </a:solidFill>
                <a:latin typeface="Georgia" panose="02040502050405020303" pitchFamily="18" charset="0"/>
              </a:rPr>
              <a:t>Assistant Professor</a:t>
            </a:r>
            <a:endParaRPr lang="de-AT" altLang="en-US" sz="1200" dirty="0">
              <a:solidFill>
                <a:srgbClr val="800000"/>
              </a:solidFill>
              <a:latin typeface="Georgia" panose="02040502050405020303" pitchFamily="18" charset="0"/>
            </a:endParaRPr>
          </a:p>
          <a:p>
            <a:pPr eaLnBrk="1" hangingPunct="1">
              <a:buFontTx/>
              <a:buNone/>
            </a:pPr>
            <a:r>
              <a:rPr lang="de-AT" altLang="en-US" sz="1200" b="1" dirty="0">
                <a:solidFill>
                  <a:srgbClr val="0000FF"/>
                </a:solidFill>
                <a:latin typeface="Georgia" panose="02040502050405020303" pitchFamily="18" charset="0"/>
              </a:rPr>
              <a:t>			</a:t>
            </a:r>
            <a:r>
              <a:rPr lang="de-AT" altLang="en-US" sz="1200" dirty="0">
                <a:solidFill>
                  <a:srgbClr val="0000FF"/>
                </a:solidFill>
                <a:latin typeface="Georgia" panose="02040502050405020303" pitchFamily="18" charset="0"/>
              </a:rPr>
              <a:t>Department of Information Technology,</a:t>
            </a:r>
          </a:p>
          <a:p>
            <a:pPr eaLnBrk="1" hangingPunct="1">
              <a:buFontTx/>
              <a:buNone/>
            </a:pPr>
            <a:r>
              <a:rPr lang="de-AT" altLang="en-US" sz="1200" dirty="0">
                <a:solidFill>
                  <a:srgbClr val="0000FF"/>
                </a:solidFill>
                <a:latin typeface="Georgia" panose="02040502050405020303" pitchFamily="18" charset="0"/>
              </a:rPr>
              <a:t>			Faculty of Computing and Information Technology (FCIT)</a:t>
            </a:r>
          </a:p>
          <a:p>
            <a:pPr eaLnBrk="1" hangingPunct="1">
              <a:buFontTx/>
              <a:buNone/>
            </a:pPr>
            <a:r>
              <a:rPr lang="de-AT" altLang="en-US" sz="1200" dirty="0">
                <a:solidFill>
                  <a:srgbClr val="0000FF"/>
                </a:solidFill>
                <a:latin typeface="Georgia" panose="02040502050405020303" pitchFamily="18" charset="0"/>
              </a:rPr>
              <a:t>			University of the Punjab, Lahore, Pakistan</a:t>
            </a:r>
          </a:p>
          <a:p>
            <a:pPr eaLnBrk="1" hangingPunct="1">
              <a:buFontTx/>
              <a:buNone/>
            </a:pPr>
            <a:r>
              <a:rPr lang="de-AT" altLang="en-US" sz="1200" b="1" dirty="0">
                <a:solidFill>
                  <a:srgbClr val="0000FF"/>
                </a:solidFill>
                <a:latin typeface="Georgia" panose="02040502050405020303" pitchFamily="18" charset="0"/>
              </a:rPr>
              <a:t>	</a:t>
            </a:r>
            <a:r>
              <a:rPr lang="de-AT" altLang="en-US" sz="1200" dirty="0">
                <a:solidFill>
                  <a:srgbClr val="0000FF"/>
                </a:solidFill>
                <a:latin typeface="Georgia" panose="02040502050405020303" pitchFamily="18" charset="0"/>
              </a:rPr>
              <a:t>		Tel:                  +92-(0)42-111-923-923    Ext. </a:t>
            </a:r>
            <a:r>
              <a:rPr lang="de-AT" altLang="en-US" sz="1200" dirty="0">
                <a:solidFill>
                  <a:srgbClr val="0000FF"/>
                </a:solidFill>
                <a:latin typeface="Times New Roman" panose="02020603050405020304" pitchFamily="18" charset="0"/>
              </a:rPr>
              <a:t>154</a:t>
            </a:r>
          </a:p>
          <a:p>
            <a:pPr eaLnBrk="1" hangingPunct="1">
              <a:buFontTx/>
              <a:buNone/>
            </a:pPr>
            <a:r>
              <a:rPr lang="de-AT" altLang="en-US" sz="1200" dirty="0">
                <a:solidFill>
                  <a:srgbClr val="0000FF"/>
                </a:solidFill>
                <a:latin typeface="Georgia" panose="02040502050405020303" pitchFamily="18" charset="0"/>
              </a:rPr>
              <a:t>			E-mail:           asif@pucit.edu.pk</a:t>
            </a:r>
          </a:p>
          <a:p>
            <a:pPr eaLnBrk="1" hangingPunct="1"/>
            <a:endParaRPr lang="en-US" altLang="en-US" sz="1200" dirty="0">
              <a:solidFill>
                <a:srgbClr val="0000FF"/>
              </a:solidFill>
              <a:latin typeface="Georgia" panose="02040502050405020303" pitchFamily="18" charset="0"/>
            </a:endParaRPr>
          </a:p>
        </p:txBody>
      </p:sp>
      <p:pic>
        <p:nvPicPr>
          <p:cNvPr id="2" name="Picture 10">
            <a:extLst>
              <a:ext uri="{FF2B5EF4-FFF2-40B4-BE49-F238E27FC236}">
                <a16:creationId xmlns:a16="http://schemas.microsoft.com/office/drawing/2014/main" id="{C2E2F7CA-C894-0B39-5274-12A5FB95B8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7625" y="0"/>
            <a:ext cx="8032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2">
            <a:extLst>
              <a:ext uri="{FF2B5EF4-FFF2-40B4-BE49-F238E27FC236}">
                <a16:creationId xmlns:a16="http://schemas.microsoft.com/office/drawing/2014/main" id="{28D636A8-6BC8-F0E1-72F9-45439E09D8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038" y="0"/>
            <a:ext cx="955675"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tandarddesign">
  <a:themeElements>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tandard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andard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tandard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tandard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Overload Protection</Template>
  <TotalTime>23900</TotalTime>
  <Words>4190</Words>
  <Application>Microsoft Office PowerPoint</Application>
  <PresentationFormat>On-screen Show (4:3)</PresentationFormat>
  <Paragraphs>439</Paragraphs>
  <Slides>36</Slides>
  <Notes>12</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36</vt:i4>
      </vt:variant>
    </vt:vector>
  </HeadingPairs>
  <TitlesOfParts>
    <vt:vector size="48" baseType="lpstr">
      <vt:lpstr>Arial</vt:lpstr>
      <vt:lpstr>Calibri</vt:lpstr>
      <vt:lpstr>Cambria Math</vt:lpstr>
      <vt:lpstr>Franklin Gothic Book</vt:lpstr>
      <vt:lpstr>Georgia</vt:lpstr>
      <vt:lpstr>Perpetua</vt:lpstr>
      <vt:lpstr>Symbol</vt:lpstr>
      <vt:lpstr>Times</vt:lpstr>
      <vt:lpstr>Times New Roman</vt:lpstr>
      <vt:lpstr>Wingdings 2</vt:lpstr>
      <vt:lpstr>Standarddesign</vt:lpstr>
      <vt:lpstr>Equity</vt:lpstr>
      <vt:lpstr>Unit - 11 Database Design</vt:lpstr>
      <vt:lpstr>Database Design</vt:lpstr>
      <vt:lpstr>Bottom-up Approach (design by synthesis)</vt:lpstr>
      <vt:lpstr>Top-down Approach (design by analysis)</vt:lpstr>
      <vt:lpstr>Phases of Database Design</vt:lpstr>
      <vt:lpstr>Conceptual database design</vt:lpstr>
      <vt:lpstr>Steps of Conceptual database design</vt:lpstr>
      <vt:lpstr>Logical database design</vt:lpstr>
      <vt:lpstr>Steps of Logical database design</vt:lpstr>
      <vt:lpstr>Physical database design</vt:lpstr>
      <vt:lpstr>Steps of Physical database design</vt:lpstr>
      <vt:lpstr>Design base relations</vt:lpstr>
      <vt:lpstr>Derived data</vt:lpstr>
      <vt:lpstr>Design general constraints</vt:lpstr>
      <vt:lpstr>File organization</vt:lpstr>
      <vt:lpstr>File organization</vt:lpstr>
      <vt:lpstr>File organization</vt:lpstr>
      <vt:lpstr>Record Blocking</vt:lpstr>
      <vt:lpstr>Record Blocking</vt:lpstr>
      <vt:lpstr>Organization of Records in Files</vt:lpstr>
      <vt:lpstr>Organization of Records in Files</vt:lpstr>
      <vt:lpstr>File organization and indexes</vt:lpstr>
      <vt:lpstr>Coding and Compression Techniques</vt:lpstr>
      <vt:lpstr>Analyze transactions</vt:lpstr>
      <vt:lpstr>Transaction / relation cross-reference matrix</vt:lpstr>
      <vt:lpstr>Denormalization</vt:lpstr>
      <vt:lpstr>Denormalization</vt:lpstr>
      <vt:lpstr>Denormalization</vt:lpstr>
      <vt:lpstr>Partitioning</vt:lpstr>
      <vt:lpstr>Partitioning</vt:lpstr>
      <vt:lpstr>Partitioning</vt:lpstr>
      <vt:lpstr>Estimate disk space requirements</vt:lpstr>
      <vt:lpstr>Design user views </vt:lpstr>
      <vt:lpstr>Database Access Control</vt:lpstr>
      <vt:lpstr>Database Access Control</vt:lpstr>
      <vt:lpstr> Thank you for your attention.</vt:lpstr>
    </vt:vector>
  </TitlesOfParts>
  <Company>TU - Wien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Analytical Model for Performance Measurement of Queueing Systems</dc:title>
  <dc:creator>ssarwar</dc:creator>
  <cp:lastModifiedBy>Asif Sohail</cp:lastModifiedBy>
  <cp:revision>829</cp:revision>
  <dcterms:created xsi:type="dcterms:W3CDTF">2006-05-17T12:38:56Z</dcterms:created>
  <dcterms:modified xsi:type="dcterms:W3CDTF">2024-12-29T17:27:26Z</dcterms:modified>
</cp:coreProperties>
</file>