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62" r:id="rId2"/>
  </p:sldMasterIdLst>
  <p:notesMasterIdLst>
    <p:notesMasterId r:id="rId36"/>
  </p:notesMasterIdLst>
  <p:handoutMasterIdLst>
    <p:handoutMasterId r:id="rId37"/>
  </p:handoutMasterIdLst>
  <p:sldIdLst>
    <p:sldId id="256" r:id="rId3"/>
    <p:sldId id="392" r:id="rId4"/>
    <p:sldId id="393" r:id="rId5"/>
    <p:sldId id="387" r:id="rId6"/>
    <p:sldId id="394" r:id="rId7"/>
    <p:sldId id="395" r:id="rId8"/>
    <p:sldId id="397" r:id="rId9"/>
    <p:sldId id="398" r:id="rId10"/>
    <p:sldId id="399" r:id="rId11"/>
    <p:sldId id="400" r:id="rId12"/>
    <p:sldId id="403" r:id="rId13"/>
    <p:sldId id="404" r:id="rId14"/>
    <p:sldId id="401" r:id="rId15"/>
    <p:sldId id="402" r:id="rId16"/>
    <p:sldId id="405" r:id="rId17"/>
    <p:sldId id="406" r:id="rId18"/>
    <p:sldId id="407" r:id="rId19"/>
    <p:sldId id="421" r:id="rId20"/>
    <p:sldId id="408" r:id="rId21"/>
    <p:sldId id="422" r:id="rId22"/>
    <p:sldId id="409" r:id="rId23"/>
    <p:sldId id="410" r:id="rId24"/>
    <p:sldId id="411" r:id="rId25"/>
    <p:sldId id="412" r:id="rId26"/>
    <p:sldId id="413" r:id="rId27"/>
    <p:sldId id="414" r:id="rId28"/>
    <p:sldId id="415" r:id="rId29"/>
    <p:sldId id="423" r:id="rId30"/>
    <p:sldId id="419" r:id="rId31"/>
    <p:sldId id="424" r:id="rId32"/>
    <p:sldId id="425" r:id="rId33"/>
    <p:sldId id="473" r:id="rId34"/>
    <p:sldId id="492" r:id="rId35"/>
  </p:sldIdLst>
  <p:sldSz cx="9144000" cy="6858000" type="screen4x3"/>
  <p:notesSz cx="6577013" cy="9753600"/>
  <p:defaultTextStyle>
    <a:defPPr>
      <a:defRPr lang="de-AT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006600"/>
    <a:srgbClr val="FFFF66"/>
    <a:srgbClr val="FF0000"/>
    <a:srgbClr val="00FF00"/>
    <a:srgbClr val="FFFFCC"/>
    <a:srgbClr val="99CC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13" autoAdjust="0"/>
    <p:restoredTop sz="85572" autoAdjust="0"/>
  </p:normalViewPr>
  <p:slideViewPr>
    <p:cSldViewPr>
      <p:cViewPr varScale="1">
        <p:scale>
          <a:sx n="83" d="100"/>
          <a:sy n="83" d="100"/>
        </p:scale>
        <p:origin x="110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E805A720-E40F-F7F3-8060-17B685CB9C0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DBD98888-4114-5BF4-1060-3792EDFD5AC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25863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8" name="Rectangle 4">
            <a:extLst>
              <a:ext uri="{FF2B5EF4-FFF2-40B4-BE49-F238E27FC236}">
                <a16:creationId xmlns:a16="http://schemas.microsoft.com/office/drawing/2014/main" id="{4A7F8689-EF0F-4EA8-7CDF-818F32B2941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6238"/>
            <a:ext cx="2851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9" name="Rectangle 5">
            <a:extLst>
              <a:ext uri="{FF2B5EF4-FFF2-40B4-BE49-F238E27FC236}">
                <a16:creationId xmlns:a16="http://schemas.microsoft.com/office/drawing/2014/main" id="{A43F1D82-7CA5-40BF-A616-48E33A3A556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25863" y="9266238"/>
            <a:ext cx="2851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/>
            </a:lvl1pPr>
          </a:lstStyle>
          <a:p>
            <a:fld id="{FA331A45-3CD3-4596-A00F-944B6D2E9F60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5F653CC-D36B-3968-73C1-113F4774033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9BDCF37-42D4-B4BB-238A-C48C6361D6C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24275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715BDF8-0B93-261E-4E6B-B97E2F499A42}"/>
              </a:ext>
            </a:extLst>
          </p:cNvPr>
          <p:cNvSpPr>
            <a:spLocks noGrp="1" noRot="1" noChangeArrowheads="1" noTextEdit="1"/>
          </p:cNvSpPr>
          <p:nvPr>
            <p:ph type="sldImg" idx="2"/>
          </p:nvPr>
        </p:nvSpPr>
        <p:spPr bwMode="auto">
          <a:xfrm>
            <a:off x="850900" y="731838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4CA718C-3B7F-7CC0-2FC8-FA221BD5795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57225" y="4633913"/>
            <a:ext cx="5262563" cy="438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noProof="0"/>
              <a:t>Click to edit Master text styles</a:t>
            </a:r>
          </a:p>
          <a:p>
            <a:pPr lvl="1"/>
            <a:r>
              <a:rPr lang="de-AT" noProof="0"/>
              <a:t>Second level</a:t>
            </a:r>
          </a:p>
          <a:p>
            <a:pPr lvl="2"/>
            <a:r>
              <a:rPr lang="de-AT" noProof="0"/>
              <a:t>Third level</a:t>
            </a:r>
          </a:p>
          <a:p>
            <a:pPr lvl="3"/>
            <a:r>
              <a:rPr lang="de-AT" noProof="0"/>
              <a:t>Fourth level</a:t>
            </a:r>
          </a:p>
          <a:p>
            <a:pPr lvl="4"/>
            <a:r>
              <a:rPr lang="de-AT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F4A35AB6-1F24-8E19-2627-B96E3662EC4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465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D182CC0F-F3A6-0D10-95D6-BFAAF4D994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24275" y="926465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/>
            </a:lvl1pPr>
          </a:lstStyle>
          <a:p>
            <a:fld id="{6671BAA1-036C-4828-88B4-42B91D98129D}" type="slidenum">
              <a:rPr lang="de-AT" altLang="en-US"/>
              <a:pPr/>
              <a:t>‹#›</a:t>
            </a:fld>
            <a:endParaRPr lang="de-A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7299D11B-189D-8D5F-F574-A46D609876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0C2DD2-EC4E-4E2F-84A7-B0C02F8C7F14}" type="slidenum">
              <a:rPr lang="de-AT" altLang="en-US"/>
              <a:pPr>
                <a:spcBef>
                  <a:spcPct val="0"/>
                </a:spcBef>
              </a:pPr>
              <a:t>1</a:t>
            </a:fld>
            <a:endParaRPr lang="de-AT" altLang="en-US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757BA715-4A99-B040-07D2-5889D24FEEC7}"/>
              </a:ext>
            </a:extLst>
          </p:cNvPr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930060A0-1394-BB3F-01F1-262470CBAC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42EFA1C-CD87-4CB6-A78E-09F8694AF762}"/>
              </a:ext>
            </a:extLst>
          </p:cNvPr>
          <p:cNvSpPr>
            <a:spLocks noGrp="1" noRot="1" noChangeArrowheads="1" noTextEdit="1"/>
          </p:cNvSpPr>
          <p:nvPr>
            <p:ph type="sldImg"/>
          </p:nvPr>
        </p:nvSpPr>
        <p:spPr>
          <a:xfrm>
            <a:off x="153988" y="173038"/>
            <a:ext cx="6264275" cy="4699000"/>
          </a:xfrm>
          <a:ln w="12700" cap="flat">
            <a:solidFill>
              <a:schemeClr val="tx1"/>
            </a:solidFill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43DA649-08AF-16FC-A138-B9B1005D07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5092700"/>
            <a:ext cx="5783262" cy="4006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>
                <a:latin typeface="Arial" panose="020B0604020202020204" pitchFamily="34" charset="0"/>
              </a:rPr>
              <a:t>Data Models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Models are a cornerstone of design. Engineers build a model of a car to work out any details before putting it into production. In the same manner, system designers develop models to explore ideas and improve the understanding of the database design.</a:t>
            </a:r>
          </a:p>
          <a:p>
            <a:r>
              <a:rPr lang="en-US" altLang="en-US">
                <a:latin typeface="Arial" panose="020B0604020202020204" pitchFamily="34" charset="0"/>
              </a:rPr>
              <a:t>Purpose of Models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Models help communicate the concepts in people’s minds. They can be used to do the following:</a:t>
            </a:r>
          </a:p>
          <a:p>
            <a:pPr lvl="2"/>
            <a:r>
              <a:rPr lang="en-US" altLang="en-US">
                <a:latin typeface="Arial" panose="020B0604020202020204" pitchFamily="34" charset="0"/>
              </a:rPr>
              <a:t>Communicate</a:t>
            </a:r>
          </a:p>
          <a:p>
            <a:pPr lvl="2"/>
            <a:r>
              <a:rPr lang="en-US" altLang="en-US">
                <a:latin typeface="Arial" panose="020B0604020202020204" pitchFamily="34" charset="0"/>
              </a:rPr>
              <a:t>Categorize</a:t>
            </a:r>
          </a:p>
          <a:p>
            <a:pPr lvl="2"/>
            <a:r>
              <a:rPr lang="en-US" altLang="en-US">
                <a:latin typeface="Arial" panose="020B0604020202020204" pitchFamily="34" charset="0"/>
              </a:rPr>
              <a:t>Describe</a:t>
            </a:r>
          </a:p>
          <a:p>
            <a:pPr lvl="2"/>
            <a:r>
              <a:rPr lang="en-US" altLang="en-US">
                <a:latin typeface="Arial" panose="020B0604020202020204" pitchFamily="34" charset="0"/>
              </a:rPr>
              <a:t>Specify</a:t>
            </a:r>
          </a:p>
          <a:p>
            <a:pPr lvl="2"/>
            <a:r>
              <a:rPr lang="en-US" altLang="en-US">
                <a:latin typeface="Arial" panose="020B0604020202020204" pitchFamily="34" charset="0"/>
              </a:rPr>
              <a:t>Investigate</a:t>
            </a:r>
          </a:p>
          <a:p>
            <a:pPr lvl="2"/>
            <a:r>
              <a:rPr lang="en-US" altLang="en-US">
                <a:latin typeface="Arial" panose="020B0604020202020204" pitchFamily="34" charset="0"/>
              </a:rPr>
              <a:t>Evolve</a:t>
            </a:r>
          </a:p>
          <a:p>
            <a:pPr lvl="2"/>
            <a:r>
              <a:rPr lang="en-US" altLang="en-US">
                <a:latin typeface="Arial" panose="020B0604020202020204" pitchFamily="34" charset="0"/>
              </a:rPr>
              <a:t>Analyze</a:t>
            </a:r>
          </a:p>
          <a:p>
            <a:pPr lvl="2"/>
            <a:r>
              <a:rPr lang="en-US" altLang="en-US">
                <a:latin typeface="Arial" panose="020B0604020202020204" pitchFamily="34" charset="0"/>
              </a:rPr>
              <a:t>Imitate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The objective is to produce a model that fits a multitude of these uses, can be understood by an end user, and contains sufficient detail for a developer to build a database system.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67AFC9D1-2D8A-2169-37F4-A8B4714290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3307851A-49A4-24B7-A5DA-E5FB3CE32C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977905DD-C280-3C2E-039B-EF1A29F206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A29219-02F2-4560-99DB-D953633689B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E35D723C-C9C7-A568-FCF7-4EB6D646C9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D7620E5-E56A-49FA-9155-1FDAD0A7E276}" type="slidenum">
              <a:rPr lang="de-AT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33</a:t>
            </a:fld>
            <a:endParaRPr lang="de-AT" altLang="en-US">
              <a:solidFill>
                <a:srgbClr val="000000"/>
              </a:solidFill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C6836BE6-20E4-351B-BC60-248E1316EE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FC398F3C-1D53-AF59-20A3-2AC1A709E7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F68CA8-E92A-94E1-A1FB-4EB10E9215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7136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FC64C0-46CF-72DC-F4BB-6D8AEEFAF6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2878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8B03C2D-EEBF-E433-E269-9E6C604CD9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486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3388" y="1524000"/>
            <a:ext cx="4062412" cy="4641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62413" cy="4641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E611AA-BCF0-6559-2B49-AA28DA96BE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208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DEA1074-4125-A3AA-76A5-C1CE7D8135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2340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B44A936-745D-EF49-60A0-CF1AF5E019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4352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8A4E78F-1440-C336-A688-515A938DBD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2403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E546A-3DD5-478B-5124-E24368F384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410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165153-EB9F-573D-F967-6E55F85F82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623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9DEAD3-CCA5-8AE6-AB67-21690665CB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9898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2100" y="228600"/>
            <a:ext cx="2068513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3388" y="228600"/>
            <a:ext cx="6056312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39DC0F8-642A-8AA1-5077-3087D5DC90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1406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33388" y="1524000"/>
            <a:ext cx="4062412" cy="4641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62413" cy="4641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798DB7-9219-8457-80D3-8C649B5F5F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7983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D0E873-79F6-575E-42F5-B2658CAF1FD9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4">
            <a:extLst>
              <a:ext uri="{FF2B5EF4-FFF2-40B4-BE49-F238E27FC236}">
                <a16:creationId xmlns:a16="http://schemas.microsoft.com/office/drawing/2014/main" id="{2CF1039B-0F3B-8569-1523-C6A2072DE41A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9DE281-3531-767C-C16F-8E372B2DFE2B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35213-7F90-0D26-3115-97DB58B4DCC2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C7937A-2BCB-EBDF-9CA7-4BC017080D55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D620D6E4-7CA5-568F-5DD6-31C6AF186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9E5396-8487-4CE9-B01E-25B109B015D3}" type="datetime1">
              <a:rPr lang="en-US"/>
              <a:pPr>
                <a:defRPr/>
              </a:pPr>
              <a:t>10/20/2024</a:t>
            </a:fld>
            <a:endParaRPr 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348FDAB0-E1C1-FD82-C8D6-837BE4062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AC5A85B9-DB11-3BD3-AE28-EDDF4B1D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AFC5EDC-F198-4829-9067-CC1A4DEDAAB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80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19809E9B-996F-D808-1EC0-203D6108D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EFEAA-3908-4F89-8432-2AB0B6F56C70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E99189B-F4C9-2426-B9C9-D89B9DC26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68C3EA48-11DD-A63C-C270-B99383D0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6DA676-8FFF-4E85-A6E6-C8190E7E18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782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55FFB4-C7CC-7393-5CBA-E3DAA8CCD7FF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4">
            <a:extLst>
              <a:ext uri="{FF2B5EF4-FFF2-40B4-BE49-F238E27FC236}">
                <a16:creationId xmlns:a16="http://schemas.microsoft.com/office/drawing/2014/main" id="{4185DD22-BFA2-2711-296C-4F0020C38104}"/>
              </a:ext>
            </a:extLst>
          </p:cNvPr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F5675B-87EE-BA93-2E0E-E94F5145968A}"/>
              </a:ext>
            </a:extLst>
          </p:cNvPr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59AEE2-D1C4-FB59-100C-6EC22896AF70}"/>
              </a:ext>
            </a:extLst>
          </p:cNvPr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5274BC-F0C4-9887-9E35-5E42294F699B}"/>
              </a:ext>
            </a:extLst>
          </p:cNvPr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DC2F6D3-913E-C1DF-CDE9-B675A2F76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0E2B02-783B-40EA-9EEC-94A96836EDAA}" type="datetime1">
              <a:rPr lang="en-US"/>
              <a:pPr>
                <a:defRPr/>
              </a:pPr>
              <a:t>10/20/2024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95AFCB3-51EB-4BC2-BB7F-DCFB7C2B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3BD65B-35F7-B8DC-3AB5-320C2D0A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337BA-DB41-42CC-AD88-72F8AB242B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577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8561D5BA-6488-08EB-E934-02564E709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1323F-1B03-4B20-95A6-06AEB8555AF5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B36BBB3-0723-506B-B33F-C86A5315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5A78B5E2-334E-A383-21FC-5A61225B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92E13-E5FD-4E17-A12D-79022FC0F4F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840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29D3FBA5-1B50-AD83-8659-F9E8BA578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00F2C-72E3-470F-8DF4-06D69E13E1BA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4010B77-5563-6BAA-37A5-FAFDBDED3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FBF4ACBC-63B2-E5B0-F4EA-12EDC1D0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CF1202-92EE-4F8C-A7FB-901E59E6D3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4928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26A30960-77B5-DC33-6EEF-CADDF35F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B78F5-5ED2-441D-8560-489C10A5B41C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BD2FE81-0D8B-8CD9-6799-CB2996674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0525591A-3E98-FB98-4D91-60D86007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483A14-8CF5-4127-9976-C12309A669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7803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F10E9228-64BD-2E01-796A-684FF6ECE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63A048-58FB-4F03-A550-F4F28DB0CE43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FB5155-BE36-CC46-7101-6F58E5FB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8F113844-006C-8779-FB45-519C6653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E30FE3-82F5-4B38-8C23-3B1ADF0D3F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3615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52551F-0659-5E16-D70C-1A7D5A82B13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5">
            <a:extLst>
              <a:ext uri="{FF2B5EF4-FFF2-40B4-BE49-F238E27FC236}">
                <a16:creationId xmlns:a16="http://schemas.microsoft.com/office/drawing/2014/main" id="{B503854B-8C6B-BE8E-CB55-273D1E19AFA5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63AFAE9-47FD-23F2-1268-C6CC13BCB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26B31-211F-4EF5-A0E5-C86264E631BF}" type="datetime1">
              <a:rPr lang="en-US"/>
              <a:pPr>
                <a:defRPr/>
              </a:pPr>
              <a:t>10/20/2024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DBE83E1-E978-2F5D-8200-F431D257F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B73D466B-548D-60C2-2FD5-7E848DDD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4F016-5C59-4D6D-BAFD-E77BFF2A10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99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DA346A-F8E5-946B-F16A-83769EC908C6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90FC19-D539-79F9-5086-F08395A78F8A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C14848-84B6-BB21-45AD-078AE1F53B79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09E39F22-C110-A91A-240F-25C59D7B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DC9C0-0299-41CD-9CBD-82375AC037DD}" type="datetime1">
              <a:rPr lang="en-US"/>
              <a:pPr>
                <a:defRPr/>
              </a:pPr>
              <a:t>10/20/2024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0963E876-9969-029A-D420-255B45BDC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C6B7D47-4F79-B1EA-5A33-0C8D075E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67412-0C28-4A10-B68A-9EEB49F399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0655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0D1B6BE-9435-45EC-D5F2-4FEC4AB40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B27CA6-3393-42DD-89D7-284C9D8C2CDB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8C1951D-3410-2E87-5648-3E0EB8888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025BAD8A-5DC2-19FF-99B1-21CDF550F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211556-19DB-4CBA-86DA-88549B9463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9026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195AC1F1-0296-C783-4349-5956ECB9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08F07-6C1F-4F9E-AA2D-B51A5FD23ADF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66E29E1-025C-5538-697F-B59F0CB16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A89EA551-BF26-15AF-B8E2-FC37E4B4F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88057-F7EE-4B7F-8305-F1138657B32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2074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33388" y="1524000"/>
            <a:ext cx="8277225" cy="46418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B01536D-DBED-4DF9-422D-EF8DB39714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9766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659DFC1-C3D1-1DAF-789F-7E26B8D325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33388" y="228600"/>
            <a:ext cx="82772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Titel bearbeiten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D982D4C-EE07-FAA6-16D2-CB6825822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33388" y="1524000"/>
            <a:ext cx="8277225" cy="464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Erste Ebene</a:t>
            </a:r>
          </a:p>
          <a:p>
            <a:pPr lvl="1"/>
            <a:r>
              <a:rPr lang="de-DE" altLang="en-US"/>
              <a:t>Zweite Ebene</a:t>
            </a:r>
          </a:p>
          <a:p>
            <a:pPr lvl="2"/>
            <a:r>
              <a:rPr lang="de-DE" altLang="en-US"/>
              <a:t>Dritte Ebene</a:t>
            </a:r>
          </a:p>
          <a:p>
            <a:pPr lvl="3"/>
            <a:r>
              <a:rPr lang="de-DE" altLang="en-US"/>
              <a:t>Vierte Ebene</a:t>
            </a:r>
          </a:p>
          <a:p>
            <a:pPr lvl="4"/>
            <a:r>
              <a:rPr lang="de-DE" altLang="en-US"/>
              <a:t>Fünfte Ebene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3AC63A05-A751-9CD9-D60F-CB848B9EF79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14">
            <a:extLst>
              <a:ext uri="{FF2B5EF4-FFF2-40B4-BE49-F238E27FC236}">
                <a16:creationId xmlns:a16="http://schemas.microsoft.com/office/drawing/2014/main" id="{1DB84E35-A28B-DBF0-E60B-C181B32781B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88" y="1125538"/>
            <a:ext cx="8748712" cy="73025"/>
          </a:xfrm>
          <a:prstGeom prst="rect">
            <a:avLst/>
          </a:prstGeom>
          <a:gradFill rotWithShape="1">
            <a:gsLst>
              <a:gs pos="0">
                <a:srgbClr val="800000"/>
              </a:gs>
              <a:gs pos="100000">
                <a:srgbClr val="FF8585">
                  <a:alpha val="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030" name="Rectangle 10">
            <a:extLst>
              <a:ext uri="{FF2B5EF4-FFF2-40B4-BE49-F238E27FC236}">
                <a16:creationId xmlns:a16="http://schemas.microsoft.com/office/drawing/2014/main" id="{A5E39668-2880-FDC9-D808-F63A1CE8EA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69075"/>
            <a:ext cx="9167813" cy="315913"/>
          </a:xfrm>
          <a:prstGeom prst="rect">
            <a:avLst/>
          </a:prstGeom>
          <a:gradFill rotWithShape="1">
            <a:gsLst>
              <a:gs pos="0">
                <a:srgbClr val="800000"/>
              </a:gs>
              <a:gs pos="100000">
                <a:srgbClr val="FF8585">
                  <a:alpha val="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031" name="Text Box 11">
            <a:extLst>
              <a:ext uri="{FF2B5EF4-FFF2-40B4-BE49-F238E27FC236}">
                <a16:creationId xmlns:a16="http://schemas.microsoft.com/office/drawing/2014/main" id="{54CFF834-8D5F-110D-041C-BDBC92DFBD9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36513" y="6583363"/>
            <a:ext cx="5905501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de-DE" sz="1000">
                <a:solidFill>
                  <a:srgbClr val="FFFF00"/>
                </a:solidFill>
                <a:cs typeface="Arial" charset="0"/>
              </a:rPr>
              <a:t>Database Systems</a:t>
            </a:r>
            <a:endParaRPr lang="de-DE" sz="1000">
              <a:solidFill>
                <a:srgbClr val="FFFF00"/>
              </a:solidFill>
            </a:endParaRPr>
          </a:p>
        </p:txBody>
      </p:sp>
      <p:sp>
        <p:nvSpPr>
          <p:cNvPr id="1032" name="Rectangle 12">
            <a:extLst>
              <a:ext uri="{FF2B5EF4-FFF2-40B4-BE49-F238E27FC236}">
                <a16:creationId xmlns:a16="http://schemas.microsoft.com/office/drawing/2014/main" id="{6FF373AB-141D-E1D7-1AC6-22367E6F611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596188" y="6640513"/>
            <a:ext cx="1905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en-US" sz="1000"/>
              <a:t>Slide </a:t>
            </a:r>
            <a:fld id="{BBE318CD-DDD9-4F5B-92D4-78163F9AA55A}" type="slidenum">
              <a:rPr lang="de-DE" altLang="en-US" sz="1000"/>
              <a:pPr algn="ctr" eaLnBrk="1" hangingPunct="1"/>
              <a:t>‹#›</a:t>
            </a:fld>
            <a:endParaRPr lang="de-DE" altLang="en-US"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79237E9-EA19-C50E-E0BE-9DF7D9B797B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E4629FB7-89ED-1F8D-7A97-AA0D96CDCC18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76" name="Title Placeholder 21">
            <a:extLst>
              <a:ext uri="{FF2B5EF4-FFF2-40B4-BE49-F238E27FC236}">
                <a16:creationId xmlns:a16="http://schemas.microsoft.com/office/drawing/2014/main" id="{558466A6-B242-FD5A-FF2A-4E8EAA703A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7" name="Text Placeholder 12">
            <a:extLst>
              <a:ext uri="{FF2B5EF4-FFF2-40B4-BE49-F238E27FC236}">
                <a16:creationId xmlns:a16="http://schemas.microsoft.com/office/drawing/2014/main" id="{A7168143-A683-8AD3-3F34-72CB884A6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6671AAC-2A2D-2A89-6A00-B991F60911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4008626-BC69-490C-8CAB-D90609098E48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4F78C3-0D46-C3D5-FA65-D8952F599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48768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C285225-DF5C-DEBD-9B0A-907FC32C3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EFEF4D28-6513-4D78-BC50-C378AB1C9F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507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4A4EFAB-0AE1-ADE5-AD57-AE378676E5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90575" y="1557338"/>
            <a:ext cx="7669213" cy="2087562"/>
          </a:xfrm>
          <a:solidFill>
            <a:srgbClr val="FFFFCC">
              <a:alpha val="20000"/>
            </a:srgbClr>
          </a:solidFill>
          <a:ln w="38100">
            <a:solidFill>
              <a:srgbClr val="80000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en-US" sz="3200" b="1">
                <a:solidFill>
                  <a:srgbClr val="800000"/>
                </a:solidFill>
              </a:rPr>
              <a:t>Transforming ERD into Relations</a:t>
            </a:r>
            <a:endParaRPr lang="de-AT" altLang="en-US" sz="1400">
              <a:solidFill>
                <a:schemeClr val="accent2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46A26331-670C-76F7-A790-31D0766E954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35150" y="4076700"/>
            <a:ext cx="5689600" cy="1584325"/>
          </a:xfrm>
          <a:solidFill>
            <a:srgbClr val="FFFFCC">
              <a:alpha val="20000"/>
            </a:srgbClr>
          </a:solidFill>
          <a:ln w="38100" cap="flat" algn="ctr">
            <a:solidFill>
              <a:srgbClr val="800000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en-US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en-US" sz="2400">
                <a:solidFill>
                  <a:srgbClr val="800000"/>
                </a:solidFill>
              </a:rPr>
              <a:t>Asif Sohail</a:t>
            </a:r>
            <a:r>
              <a:rPr lang="en-US" altLang="en-US" sz="2400">
                <a:solidFill>
                  <a:schemeClr val="folHlink"/>
                </a:solidFill>
              </a:rPr>
              <a:t> </a:t>
            </a:r>
            <a:br>
              <a:rPr lang="en-US" altLang="en-US" sz="2400" b="1">
                <a:solidFill>
                  <a:schemeClr val="folHlink"/>
                </a:solidFill>
              </a:rPr>
            </a:br>
            <a:br>
              <a:rPr lang="en-US" altLang="en-US" sz="2400" b="1"/>
            </a:br>
            <a:r>
              <a:rPr lang="en-US" altLang="en-US" sz="1400" b="1"/>
              <a:t>University of the Punjab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en-US" sz="1400" b="1"/>
              <a:t>Punjab University College of Information Technology (PUCIT)</a:t>
            </a:r>
            <a:endParaRPr lang="de-AT" altLang="en-US" sz="1400" b="1"/>
          </a:p>
        </p:txBody>
      </p:sp>
      <p:pic>
        <p:nvPicPr>
          <p:cNvPr id="4100" name="Picture 9">
            <a:extLst>
              <a:ext uri="{FF2B5EF4-FFF2-40B4-BE49-F238E27FC236}">
                <a16:creationId xmlns:a16="http://schemas.microsoft.com/office/drawing/2014/main" id="{A04118B2-9BAF-D552-2884-A42BF0CEC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0"/>
            <a:ext cx="8032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11">
            <a:extLst>
              <a:ext uri="{FF2B5EF4-FFF2-40B4-BE49-F238E27FC236}">
                <a16:creationId xmlns:a16="http://schemas.microsoft.com/office/drawing/2014/main" id="{D3159BAB-78B8-47CC-77C0-5818578CA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8" y="0"/>
            <a:ext cx="9556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6EAAAE6-7644-071E-B5B6-9CAADC2149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3388" y="692150"/>
            <a:ext cx="8277225" cy="463550"/>
          </a:xfrm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Logical Database Design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F08AFAE-2190-5F6B-BBE0-757CCCAB2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200400"/>
            <a:ext cx="2895600" cy="6858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Transform</a:t>
            </a:r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CF709072-EF93-A594-8383-7A6A67F43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147888"/>
            <a:ext cx="3276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Conceptual Data Model</a:t>
            </a:r>
          </a:p>
        </p:txBody>
      </p:sp>
      <p:sp>
        <p:nvSpPr>
          <p:cNvPr id="6149" name="Text Box 5">
            <a:extLst>
              <a:ext uri="{FF2B5EF4-FFF2-40B4-BE49-F238E27FC236}">
                <a16:creationId xmlns:a16="http://schemas.microsoft.com/office/drawing/2014/main" id="{F438C87D-1E17-69A0-57D2-268BB05D7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510088"/>
            <a:ext cx="3276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Logical Data Model</a:t>
            </a:r>
          </a:p>
        </p:txBody>
      </p:sp>
      <p:sp>
        <p:nvSpPr>
          <p:cNvPr id="6150" name="Line 6">
            <a:extLst>
              <a:ext uri="{FF2B5EF4-FFF2-40B4-BE49-F238E27FC236}">
                <a16:creationId xmlns:a16="http://schemas.microsoft.com/office/drawing/2014/main" id="{7DAEDAAD-8913-E301-963E-20D7601D54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0" y="2438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1" name="Line 7">
            <a:extLst>
              <a:ext uri="{FF2B5EF4-FFF2-40B4-BE49-F238E27FC236}">
                <a16:creationId xmlns:a16="http://schemas.microsoft.com/office/drawing/2014/main" id="{3F543856-27A6-8FA5-43EF-9C5F50564D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0" y="3886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2" name="AutoShape 8">
            <a:extLst>
              <a:ext uri="{FF2B5EF4-FFF2-40B4-BE49-F238E27FC236}">
                <a16:creationId xmlns:a16="http://schemas.microsoft.com/office/drawing/2014/main" id="{03977AF6-F91D-14CC-8954-0E4D3A368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133600"/>
            <a:ext cx="5867400" cy="3124200"/>
          </a:xfrm>
          <a:prstGeom prst="bracePair">
            <a:avLst>
              <a:gd name="adj" fmla="val 833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Line 2">
            <a:extLst>
              <a:ext uri="{FF2B5EF4-FFF2-40B4-BE49-F238E27FC236}">
                <a16:creationId xmlns:a16="http://schemas.microsoft.com/office/drawing/2014/main" id="{C1975E97-D58E-CAB6-8BF4-C45E317A36C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1657350"/>
            <a:ext cx="1543050" cy="762000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stealth" w="med" len="lg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1" name="Line 3">
            <a:extLst>
              <a:ext uri="{FF2B5EF4-FFF2-40B4-BE49-F238E27FC236}">
                <a16:creationId xmlns:a16="http://schemas.microsoft.com/office/drawing/2014/main" id="{D20F3893-E847-DDE8-6769-B7BC34A654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781300"/>
            <a:ext cx="1219200" cy="590550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stealth" w="med" len="lg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2" name="Line 4">
            <a:extLst>
              <a:ext uri="{FF2B5EF4-FFF2-40B4-BE49-F238E27FC236}">
                <a16:creationId xmlns:a16="http://schemas.microsoft.com/office/drawing/2014/main" id="{30C7551D-FC60-F9F1-3B27-94AC6F04D65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0650" y="3505200"/>
            <a:ext cx="2095500" cy="1028700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stealth" w="med" len="lg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D7E16F59-65B2-DCAD-3E82-B1C0B6F929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3388" y="444500"/>
            <a:ext cx="2338387" cy="60801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0000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 anchor="t"/>
          <a:lstStyle/>
          <a:p>
            <a:r>
              <a:rPr lang="en-US" altLang="en-US" sz="2800">
                <a:solidFill>
                  <a:srgbClr val="800000"/>
                </a:solidFill>
              </a:rPr>
              <a:t>Data Models</a:t>
            </a:r>
          </a:p>
        </p:txBody>
      </p:sp>
      <p:sp>
        <p:nvSpPr>
          <p:cNvPr id="91142" name="Rectangle 6">
            <a:extLst>
              <a:ext uri="{FF2B5EF4-FFF2-40B4-BE49-F238E27FC236}">
                <a16:creationId xmlns:a16="http://schemas.microsoft.com/office/drawing/2014/main" id="{7727DFDE-9338-4656-1C54-CF2D7C042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" y="2867025"/>
            <a:ext cx="1703388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defRPr/>
            </a:pPr>
            <a:r>
              <a:rPr lang="en-US" sz="1600" b="1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Model of</a:t>
            </a:r>
            <a:br>
              <a:rPr lang="en-US" sz="1600" b="1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sz="1600" b="1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system</a:t>
            </a:r>
            <a:br>
              <a:rPr lang="en-US" sz="1600" b="1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sz="1600" b="1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in client’s</a:t>
            </a:r>
            <a:br>
              <a:rPr lang="en-US" sz="1600" b="1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sz="1600" b="1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mind</a:t>
            </a:r>
          </a:p>
        </p:txBody>
      </p:sp>
      <p:grpSp>
        <p:nvGrpSpPr>
          <p:cNvPr id="7175" name="Group 7">
            <a:extLst>
              <a:ext uri="{FF2B5EF4-FFF2-40B4-BE49-F238E27FC236}">
                <a16:creationId xmlns:a16="http://schemas.microsoft.com/office/drawing/2014/main" id="{8667A447-E27D-181D-A75B-D1B26523C084}"/>
              </a:ext>
            </a:extLst>
          </p:cNvPr>
          <p:cNvGrpSpPr>
            <a:grpSpLocks/>
          </p:cNvGrpSpPr>
          <p:nvPr/>
        </p:nvGrpSpPr>
        <p:grpSpPr bwMode="auto">
          <a:xfrm>
            <a:off x="2332038" y="2459038"/>
            <a:ext cx="1782762" cy="544512"/>
            <a:chOff x="1469" y="1549"/>
            <a:chExt cx="1123" cy="343"/>
          </a:xfrm>
        </p:grpSpPr>
        <p:sp>
          <p:nvSpPr>
            <p:cNvPr id="7241" name="Line 8">
              <a:extLst>
                <a:ext uri="{FF2B5EF4-FFF2-40B4-BE49-F238E27FC236}">
                  <a16:creationId xmlns:a16="http://schemas.microsoft.com/office/drawing/2014/main" id="{B3F75001-179F-6EFA-A21F-C2D572BAC0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1" y="1724"/>
              <a:ext cx="424" cy="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42" name="Freeform 9">
              <a:extLst>
                <a:ext uri="{FF2B5EF4-FFF2-40B4-BE49-F238E27FC236}">
                  <a16:creationId xmlns:a16="http://schemas.microsoft.com/office/drawing/2014/main" id="{8F6BF801-AB2E-17CA-6334-04D575701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1607"/>
              <a:ext cx="146" cy="260"/>
            </a:xfrm>
            <a:custGeom>
              <a:avLst/>
              <a:gdLst>
                <a:gd name="T0" fmla="*/ 32 w 146"/>
                <a:gd name="T1" fmla="*/ 0 h 260"/>
                <a:gd name="T2" fmla="*/ 145 w 146"/>
                <a:gd name="T3" fmla="*/ 113 h 260"/>
                <a:gd name="T4" fmla="*/ 0 w 146"/>
                <a:gd name="T5" fmla="*/ 259 h 2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6" h="260">
                  <a:moveTo>
                    <a:pt x="32" y="0"/>
                  </a:moveTo>
                  <a:lnTo>
                    <a:pt x="145" y="113"/>
                  </a:lnTo>
                  <a:lnTo>
                    <a:pt x="0" y="259"/>
                  </a:lnTo>
                </a:path>
              </a:pathLst>
            </a:custGeom>
            <a:noFill/>
            <a:ln w="50800" cap="rnd" cmpd="sng">
              <a:solidFill>
                <a:srgbClr val="FFCC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46" name="AutoShape 10">
              <a:extLst>
                <a:ext uri="{FF2B5EF4-FFF2-40B4-BE49-F238E27FC236}">
                  <a16:creationId xmlns:a16="http://schemas.microsoft.com/office/drawing/2014/main" id="{19B944B0-F47F-1E09-2FAC-9F5565ED14B6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1469" y="1549"/>
              <a:ext cx="571" cy="343"/>
            </a:xfrm>
            <a:prstGeom prst="roundRect">
              <a:avLst>
                <a:gd name="adj" fmla="val 12495"/>
              </a:avLst>
            </a:prstGeom>
            <a:gradFill rotWithShape="0">
              <a:gsLst>
                <a:gs pos="0">
                  <a:srgbClr val="3333FF"/>
                </a:gs>
                <a:gs pos="100000">
                  <a:srgbClr val="3333FF">
                    <a:gamma/>
                    <a:shade val="89804"/>
                    <a:invGamma/>
                  </a:srgbClr>
                </a:gs>
              </a:gsLst>
              <a:lin ang="2700000" scaled="1"/>
            </a:gradFill>
            <a:ln w="12700">
              <a:solidFill>
                <a:srgbClr val="000000"/>
              </a:solidFill>
              <a:round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>
                <a:defRPr/>
              </a:pPr>
              <a:endParaRPr lang="en-US" sz="1800" b="1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  <a:p>
              <a:pPr>
                <a:defRPr/>
              </a:pPr>
              <a:endParaRPr lang="en-US" sz="1800" b="1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91147" name="AutoShape 11">
              <a:extLst>
                <a:ext uri="{FF2B5EF4-FFF2-40B4-BE49-F238E27FC236}">
                  <a16:creationId xmlns:a16="http://schemas.microsoft.com/office/drawing/2014/main" id="{C03BD6B5-61C5-2D2E-08E1-74031B237D1D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2250" y="1549"/>
              <a:ext cx="342" cy="343"/>
            </a:xfrm>
            <a:prstGeom prst="roundRect">
              <a:avLst>
                <a:gd name="adj" fmla="val 12495"/>
              </a:avLst>
            </a:prstGeom>
            <a:gradFill rotWithShape="0">
              <a:gsLst>
                <a:gs pos="0">
                  <a:srgbClr val="3333FF"/>
                </a:gs>
                <a:gs pos="100000">
                  <a:srgbClr val="3333FF">
                    <a:gamma/>
                    <a:shade val="89804"/>
                    <a:invGamma/>
                  </a:srgbClr>
                </a:gs>
              </a:gsLst>
              <a:lin ang="2700000" scaled="1"/>
            </a:gradFill>
            <a:ln w="12700">
              <a:solidFill>
                <a:srgbClr val="000000"/>
              </a:solidFill>
              <a:round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>
                <a:defRPr/>
              </a:pPr>
              <a:endParaRPr lang="en-US" sz="1800" b="1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  <a:p>
              <a:pPr>
                <a:defRPr/>
              </a:pPr>
              <a:endParaRPr lang="en-US" sz="1800" b="1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91148" name="Rectangle 12">
            <a:extLst>
              <a:ext uri="{FF2B5EF4-FFF2-40B4-BE49-F238E27FC236}">
                <a16:creationId xmlns:a16="http://schemas.microsoft.com/office/drawing/2014/main" id="{19A95DC3-230F-8522-AE74-66C742409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838" y="3263900"/>
            <a:ext cx="242728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defRPr/>
            </a:pPr>
            <a:r>
              <a:rPr lang="en-US" sz="1600" b="1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Entity model of</a:t>
            </a:r>
            <a:br>
              <a:rPr lang="en-US" sz="1600" b="1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sz="1600" b="1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client’s model</a:t>
            </a:r>
          </a:p>
        </p:txBody>
      </p:sp>
      <p:sp>
        <p:nvSpPr>
          <p:cNvPr id="91149" name="Rectangle 13">
            <a:extLst>
              <a:ext uri="{FF2B5EF4-FFF2-40B4-BE49-F238E27FC236}">
                <a16:creationId xmlns:a16="http://schemas.microsoft.com/office/drawing/2014/main" id="{DEAC3559-5BD7-55E3-2A7F-22BAF1506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138" y="4025900"/>
            <a:ext cx="242728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defRPr/>
            </a:pPr>
            <a:r>
              <a:rPr lang="en-US" sz="1600" b="1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Table model</a:t>
            </a:r>
            <a:br>
              <a:rPr lang="en-US" sz="1600" b="1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sz="1600" b="1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of entity model</a:t>
            </a:r>
          </a:p>
        </p:txBody>
      </p:sp>
      <p:sp>
        <p:nvSpPr>
          <p:cNvPr id="91150" name="Rectangle 14">
            <a:extLst>
              <a:ext uri="{FF2B5EF4-FFF2-40B4-BE49-F238E27FC236}">
                <a16:creationId xmlns:a16="http://schemas.microsoft.com/office/drawing/2014/main" id="{0BA0EFAC-39A5-0EBC-827D-D74D4F3B6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9288" y="5740400"/>
            <a:ext cx="19923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defRPr/>
            </a:pPr>
            <a:r>
              <a:rPr lang="en-US" sz="1600" b="1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Tables on disk</a:t>
            </a:r>
          </a:p>
        </p:txBody>
      </p:sp>
      <p:grpSp>
        <p:nvGrpSpPr>
          <p:cNvPr id="7179" name="Group 15">
            <a:extLst>
              <a:ext uri="{FF2B5EF4-FFF2-40B4-BE49-F238E27FC236}">
                <a16:creationId xmlns:a16="http://schemas.microsoft.com/office/drawing/2014/main" id="{B1D308AE-350C-9A03-916C-27EBADC03892}"/>
              </a:ext>
            </a:extLst>
          </p:cNvPr>
          <p:cNvGrpSpPr>
            <a:grpSpLocks/>
          </p:cNvGrpSpPr>
          <p:nvPr/>
        </p:nvGrpSpPr>
        <p:grpSpPr bwMode="auto">
          <a:xfrm>
            <a:off x="4884738" y="3240088"/>
            <a:ext cx="1762125" cy="538162"/>
            <a:chOff x="3077" y="2041"/>
            <a:chExt cx="1110" cy="339"/>
          </a:xfrm>
        </p:grpSpPr>
        <p:sp>
          <p:nvSpPr>
            <p:cNvPr id="7237" name="Line 16">
              <a:extLst>
                <a:ext uri="{FF2B5EF4-FFF2-40B4-BE49-F238E27FC236}">
                  <a16:creationId xmlns:a16="http://schemas.microsoft.com/office/drawing/2014/main" id="{8571B802-1578-C510-B5CB-C334D5BCCB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3" y="2214"/>
              <a:ext cx="419" cy="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38" name="Freeform 17">
              <a:extLst>
                <a:ext uri="{FF2B5EF4-FFF2-40B4-BE49-F238E27FC236}">
                  <a16:creationId xmlns:a16="http://schemas.microsoft.com/office/drawing/2014/main" id="{5934F7F0-43B0-8747-3450-6141304B1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3" y="2098"/>
              <a:ext cx="145" cy="257"/>
            </a:xfrm>
            <a:custGeom>
              <a:avLst/>
              <a:gdLst>
                <a:gd name="T0" fmla="*/ 32 w 145"/>
                <a:gd name="T1" fmla="*/ 0 h 257"/>
                <a:gd name="T2" fmla="*/ 144 w 145"/>
                <a:gd name="T3" fmla="*/ 112 h 257"/>
                <a:gd name="T4" fmla="*/ 0 w 145"/>
                <a:gd name="T5" fmla="*/ 256 h 2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5" h="257">
                  <a:moveTo>
                    <a:pt x="32" y="0"/>
                  </a:moveTo>
                  <a:lnTo>
                    <a:pt x="144" y="112"/>
                  </a:lnTo>
                  <a:lnTo>
                    <a:pt x="0" y="256"/>
                  </a:lnTo>
                </a:path>
              </a:pathLst>
            </a:custGeom>
            <a:noFill/>
            <a:ln w="50800" cap="rnd" cmpd="sng">
              <a:solidFill>
                <a:srgbClr val="FFCC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54" name="AutoShape 18">
              <a:extLst>
                <a:ext uri="{FF2B5EF4-FFF2-40B4-BE49-F238E27FC236}">
                  <a16:creationId xmlns:a16="http://schemas.microsoft.com/office/drawing/2014/main" id="{D72928B2-DA4E-7798-90DC-B80A2797A254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3077" y="2041"/>
              <a:ext cx="565" cy="339"/>
            </a:xfrm>
            <a:prstGeom prst="roundRect">
              <a:avLst>
                <a:gd name="adj" fmla="val 0"/>
              </a:avLst>
            </a:prstGeom>
            <a:gradFill rotWithShape="0">
              <a:gsLst>
                <a:gs pos="0">
                  <a:srgbClr val="009900"/>
                </a:gs>
                <a:gs pos="100000">
                  <a:srgbClr val="009900">
                    <a:gamma/>
                    <a:shade val="89804"/>
                    <a:invGamma/>
                  </a:srgbClr>
                </a:gs>
              </a:gsLst>
              <a:lin ang="2700000" scaled="1"/>
            </a:gradFill>
            <a:ln w="12700">
              <a:solidFill>
                <a:srgbClr val="000000"/>
              </a:solidFill>
              <a:round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>
                <a:defRPr/>
              </a:pPr>
              <a:endParaRPr lang="en-US" sz="1800" b="1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  <a:p>
              <a:pPr>
                <a:defRPr/>
              </a:pPr>
              <a:endParaRPr lang="en-US" sz="1800" b="1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91155" name="AutoShape 19">
              <a:extLst>
                <a:ext uri="{FF2B5EF4-FFF2-40B4-BE49-F238E27FC236}">
                  <a16:creationId xmlns:a16="http://schemas.microsoft.com/office/drawing/2014/main" id="{004AB58F-1EE5-7FB1-95D8-894B70DA0017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3849" y="2041"/>
              <a:ext cx="338" cy="339"/>
            </a:xfrm>
            <a:prstGeom prst="roundRect">
              <a:avLst>
                <a:gd name="adj" fmla="val 0"/>
              </a:avLst>
            </a:prstGeom>
            <a:gradFill rotWithShape="0">
              <a:gsLst>
                <a:gs pos="0">
                  <a:srgbClr val="009900"/>
                </a:gs>
                <a:gs pos="100000">
                  <a:srgbClr val="009900">
                    <a:gamma/>
                    <a:shade val="89804"/>
                    <a:invGamma/>
                  </a:srgbClr>
                </a:gs>
              </a:gsLst>
              <a:lin ang="2700000" scaled="1"/>
            </a:gradFill>
            <a:ln w="12700">
              <a:solidFill>
                <a:srgbClr val="000000"/>
              </a:solidFill>
              <a:round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>
                <a:defRPr/>
              </a:pPr>
              <a:endParaRPr lang="en-US" sz="1800" b="1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  <a:p>
              <a:pPr>
                <a:defRPr/>
              </a:pPr>
              <a:endParaRPr lang="en-US" sz="1800" b="1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7180" name="Group 20">
            <a:extLst>
              <a:ext uri="{FF2B5EF4-FFF2-40B4-BE49-F238E27FC236}">
                <a16:creationId xmlns:a16="http://schemas.microsoft.com/office/drawing/2014/main" id="{1947B3CD-10B2-08A2-2FC7-6A41C6810B1E}"/>
              </a:ext>
            </a:extLst>
          </p:cNvPr>
          <p:cNvGrpSpPr>
            <a:grpSpLocks/>
          </p:cNvGrpSpPr>
          <p:nvPr/>
        </p:nvGrpSpPr>
        <p:grpSpPr bwMode="auto">
          <a:xfrm>
            <a:off x="7350125" y="4249738"/>
            <a:ext cx="1270000" cy="1312862"/>
            <a:chOff x="4630" y="2677"/>
            <a:chExt cx="800" cy="827"/>
          </a:xfrm>
        </p:grpSpPr>
        <p:sp>
          <p:nvSpPr>
            <p:cNvPr id="7223" name="Rectangle 21">
              <a:extLst>
                <a:ext uri="{FF2B5EF4-FFF2-40B4-BE49-F238E27FC236}">
                  <a16:creationId xmlns:a16="http://schemas.microsoft.com/office/drawing/2014/main" id="{44A8E0BC-8D18-7B39-1235-ABC1EE999037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630" y="2845"/>
              <a:ext cx="800" cy="496"/>
            </a:xfrm>
            <a:prstGeom prst="rect">
              <a:avLst/>
            </a:prstGeom>
            <a:gradFill rotWithShape="0">
              <a:gsLst>
                <a:gs pos="0">
                  <a:srgbClr val="8E8E8E"/>
                </a:gs>
                <a:gs pos="50000">
                  <a:srgbClr val="B2B2B2"/>
                </a:gs>
                <a:gs pos="100000">
                  <a:srgbClr val="8E8E8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7224" name="Oval 22">
              <a:extLst>
                <a:ext uri="{FF2B5EF4-FFF2-40B4-BE49-F238E27FC236}">
                  <a16:creationId xmlns:a16="http://schemas.microsoft.com/office/drawing/2014/main" id="{9B4BCA8C-1860-6830-08C3-EE3D08889673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630" y="2677"/>
              <a:ext cx="800" cy="318"/>
            </a:xfrm>
            <a:prstGeom prst="ellipse">
              <a:avLst/>
            </a:prstGeom>
            <a:gradFill rotWithShape="0">
              <a:gsLst>
                <a:gs pos="0">
                  <a:srgbClr val="A0A0A0"/>
                </a:gs>
                <a:gs pos="100000">
                  <a:srgbClr val="B2B2B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7225" name="Oval 23">
              <a:extLst>
                <a:ext uri="{FF2B5EF4-FFF2-40B4-BE49-F238E27FC236}">
                  <a16:creationId xmlns:a16="http://schemas.microsoft.com/office/drawing/2014/main" id="{21337C79-A766-3B26-D8F6-73F2F96C159F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630" y="3186"/>
              <a:ext cx="800" cy="318"/>
            </a:xfrm>
            <a:prstGeom prst="ellipse">
              <a:avLst/>
            </a:prstGeom>
            <a:gradFill rotWithShape="0">
              <a:gsLst>
                <a:gs pos="0">
                  <a:srgbClr val="8E8E8E"/>
                </a:gs>
                <a:gs pos="50000">
                  <a:srgbClr val="B2B2B2"/>
                </a:gs>
                <a:gs pos="100000">
                  <a:srgbClr val="8E8E8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91160" name="Rectangle 24">
              <a:extLst>
                <a:ext uri="{FF2B5EF4-FFF2-40B4-BE49-F238E27FC236}">
                  <a16:creationId xmlns:a16="http://schemas.microsoft.com/office/drawing/2014/main" id="{A6494DAC-DF9A-7EC2-8BBC-97654B7EA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0" y="2738"/>
              <a:ext cx="5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defRPr/>
              </a:pPr>
              <a:r>
                <a:rPr lang="en-US" sz="1800" b="1"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Server</a:t>
              </a:r>
            </a:p>
          </p:txBody>
        </p:sp>
        <p:grpSp>
          <p:nvGrpSpPr>
            <p:cNvPr id="7227" name="Group 25">
              <a:extLst>
                <a:ext uri="{FF2B5EF4-FFF2-40B4-BE49-F238E27FC236}">
                  <a16:creationId xmlns:a16="http://schemas.microsoft.com/office/drawing/2014/main" id="{7A0F7585-A9BB-37CA-8103-D631AA9389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20" y="3062"/>
              <a:ext cx="575" cy="347"/>
              <a:chOff x="4720" y="3062"/>
              <a:chExt cx="575" cy="347"/>
            </a:xfrm>
          </p:grpSpPr>
          <p:sp>
            <p:nvSpPr>
              <p:cNvPr id="7228" name="Rectangle 26">
                <a:extLst>
                  <a:ext uri="{FF2B5EF4-FFF2-40B4-BE49-F238E27FC236}">
                    <a16:creationId xmlns:a16="http://schemas.microsoft.com/office/drawing/2014/main" id="{2A7D2E0B-CD0F-6AC0-7E19-AB7B15216428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4720" y="3062"/>
                <a:ext cx="162" cy="8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7229" name="Rectangle 27">
                <a:extLst>
                  <a:ext uri="{FF2B5EF4-FFF2-40B4-BE49-F238E27FC236}">
                    <a16:creationId xmlns:a16="http://schemas.microsoft.com/office/drawing/2014/main" id="{FD6B877C-EC22-C4E1-38DF-CA88004FB07D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4927" y="3062"/>
                <a:ext cx="162" cy="8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7230" name="Rectangle 28">
                <a:extLst>
                  <a:ext uri="{FF2B5EF4-FFF2-40B4-BE49-F238E27FC236}">
                    <a16:creationId xmlns:a16="http://schemas.microsoft.com/office/drawing/2014/main" id="{60A4E80E-2DA6-BDA1-12BD-548397135AF7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5133" y="3062"/>
                <a:ext cx="162" cy="8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7231" name="Rectangle 29">
                <a:extLst>
                  <a:ext uri="{FF2B5EF4-FFF2-40B4-BE49-F238E27FC236}">
                    <a16:creationId xmlns:a16="http://schemas.microsoft.com/office/drawing/2014/main" id="{5DADF606-C21B-4704-FB15-1C441C148446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4721" y="3193"/>
                <a:ext cx="162" cy="8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7232" name="Rectangle 30">
                <a:extLst>
                  <a:ext uri="{FF2B5EF4-FFF2-40B4-BE49-F238E27FC236}">
                    <a16:creationId xmlns:a16="http://schemas.microsoft.com/office/drawing/2014/main" id="{F60EC86E-D9A8-939F-6414-CFAE49EC9F2B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4928" y="3193"/>
                <a:ext cx="162" cy="8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7233" name="Rectangle 31">
                <a:extLst>
                  <a:ext uri="{FF2B5EF4-FFF2-40B4-BE49-F238E27FC236}">
                    <a16:creationId xmlns:a16="http://schemas.microsoft.com/office/drawing/2014/main" id="{E8214B90-F4E2-B376-69BC-03F795D296AC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5134" y="3193"/>
                <a:ext cx="161" cy="8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7234" name="Rectangle 32">
                <a:extLst>
                  <a:ext uri="{FF2B5EF4-FFF2-40B4-BE49-F238E27FC236}">
                    <a16:creationId xmlns:a16="http://schemas.microsoft.com/office/drawing/2014/main" id="{0F9DC429-3ADB-A67C-3E23-0300F6B4181F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4721" y="3321"/>
                <a:ext cx="162" cy="8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7235" name="Rectangle 33">
                <a:extLst>
                  <a:ext uri="{FF2B5EF4-FFF2-40B4-BE49-F238E27FC236}">
                    <a16:creationId xmlns:a16="http://schemas.microsoft.com/office/drawing/2014/main" id="{7ED736C4-D8F0-DDFF-2E8F-52F16082B326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4928" y="3321"/>
                <a:ext cx="162" cy="8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7236" name="Rectangle 34">
                <a:extLst>
                  <a:ext uri="{FF2B5EF4-FFF2-40B4-BE49-F238E27FC236}">
                    <a16:creationId xmlns:a16="http://schemas.microsoft.com/office/drawing/2014/main" id="{BAF61447-31FE-9FCF-B7AB-68909F355770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5134" y="3321"/>
                <a:ext cx="161" cy="8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</p:grpSp>
      </p:grpSp>
      <p:grpSp>
        <p:nvGrpSpPr>
          <p:cNvPr id="7181" name="Group 35">
            <a:extLst>
              <a:ext uri="{FF2B5EF4-FFF2-40B4-BE49-F238E27FC236}">
                <a16:creationId xmlns:a16="http://schemas.microsoft.com/office/drawing/2014/main" id="{48E6C0CA-F154-10F9-E5C9-7F7F7BFB1D8A}"/>
              </a:ext>
            </a:extLst>
          </p:cNvPr>
          <p:cNvGrpSpPr>
            <a:grpSpLocks/>
          </p:cNvGrpSpPr>
          <p:nvPr/>
        </p:nvGrpSpPr>
        <p:grpSpPr bwMode="auto">
          <a:xfrm>
            <a:off x="4881563" y="3376613"/>
            <a:ext cx="904875" cy="271462"/>
            <a:chOff x="3075" y="2127"/>
            <a:chExt cx="570" cy="171"/>
          </a:xfrm>
        </p:grpSpPr>
        <p:sp>
          <p:nvSpPr>
            <p:cNvPr id="7220" name="Line 36">
              <a:extLst>
                <a:ext uri="{FF2B5EF4-FFF2-40B4-BE49-F238E27FC236}">
                  <a16:creationId xmlns:a16="http://schemas.microsoft.com/office/drawing/2014/main" id="{3AEA61F4-66EA-D806-B83C-FD45CF9005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5" y="2127"/>
              <a:ext cx="57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1" name="Line 37">
              <a:extLst>
                <a:ext uri="{FF2B5EF4-FFF2-40B4-BE49-F238E27FC236}">
                  <a16:creationId xmlns:a16="http://schemas.microsoft.com/office/drawing/2014/main" id="{A396B566-3601-1933-F2E6-B4442482DA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5" y="2217"/>
              <a:ext cx="57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2" name="Line 38">
              <a:extLst>
                <a:ext uri="{FF2B5EF4-FFF2-40B4-BE49-F238E27FC236}">
                  <a16:creationId xmlns:a16="http://schemas.microsoft.com/office/drawing/2014/main" id="{4A7D9F54-CEFB-CAB8-4B1D-E75172C52D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5" y="2298"/>
              <a:ext cx="57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82" name="Group 39">
            <a:extLst>
              <a:ext uri="{FF2B5EF4-FFF2-40B4-BE49-F238E27FC236}">
                <a16:creationId xmlns:a16="http://schemas.microsoft.com/office/drawing/2014/main" id="{402A27CE-F05D-2A2D-FD7B-4400CC0258EE}"/>
              </a:ext>
            </a:extLst>
          </p:cNvPr>
          <p:cNvGrpSpPr>
            <a:grpSpLocks/>
          </p:cNvGrpSpPr>
          <p:nvPr/>
        </p:nvGrpSpPr>
        <p:grpSpPr bwMode="auto">
          <a:xfrm>
            <a:off x="6119813" y="3376613"/>
            <a:ext cx="533400" cy="271462"/>
            <a:chOff x="3855" y="2127"/>
            <a:chExt cx="336" cy="171"/>
          </a:xfrm>
        </p:grpSpPr>
        <p:sp>
          <p:nvSpPr>
            <p:cNvPr id="7217" name="Line 40">
              <a:extLst>
                <a:ext uri="{FF2B5EF4-FFF2-40B4-BE49-F238E27FC236}">
                  <a16:creationId xmlns:a16="http://schemas.microsoft.com/office/drawing/2014/main" id="{6035516E-E4EF-33EF-5795-0AE0997ECA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5" y="2127"/>
              <a:ext cx="33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8" name="Line 41">
              <a:extLst>
                <a:ext uri="{FF2B5EF4-FFF2-40B4-BE49-F238E27FC236}">
                  <a16:creationId xmlns:a16="http://schemas.microsoft.com/office/drawing/2014/main" id="{013DF7A2-E196-074C-596C-FFF496B5EE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5" y="2217"/>
              <a:ext cx="33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9" name="Line 42">
              <a:extLst>
                <a:ext uri="{FF2B5EF4-FFF2-40B4-BE49-F238E27FC236}">
                  <a16:creationId xmlns:a16="http://schemas.microsoft.com/office/drawing/2014/main" id="{3FB63DAE-3901-BB8E-64AC-7D7A871242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5" y="2298"/>
              <a:ext cx="33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83" name="Group 43">
            <a:extLst>
              <a:ext uri="{FF2B5EF4-FFF2-40B4-BE49-F238E27FC236}">
                <a16:creationId xmlns:a16="http://schemas.microsoft.com/office/drawing/2014/main" id="{C4657C6A-1916-CE45-58F6-C58F3334F070}"/>
              </a:ext>
            </a:extLst>
          </p:cNvPr>
          <p:cNvGrpSpPr>
            <a:grpSpLocks/>
          </p:cNvGrpSpPr>
          <p:nvPr/>
        </p:nvGrpSpPr>
        <p:grpSpPr bwMode="auto">
          <a:xfrm>
            <a:off x="6249988" y="3236913"/>
            <a:ext cx="271462" cy="533400"/>
            <a:chOff x="3937" y="2039"/>
            <a:chExt cx="171" cy="336"/>
          </a:xfrm>
        </p:grpSpPr>
        <p:sp>
          <p:nvSpPr>
            <p:cNvPr id="7214" name="Line 44">
              <a:extLst>
                <a:ext uri="{FF2B5EF4-FFF2-40B4-BE49-F238E27FC236}">
                  <a16:creationId xmlns:a16="http://schemas.microsoft.com/office/drawing/2014/main" id="{89529C9E-FEC7-F2EF-59D9-D7CCA2B9F7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8" y="2039"/>
              <a:ext cx="0" cy="3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5" name="Line 45">
              <a:extLst>
                <a:ext uri="{FF2B5EF4-FFF2-40B4-BE49-F238E27FC236}">
                  <a16:creationId xmlns:a16="http://schemas.microsoft.com/office/drawing/2014/main" id="{CD0E0A3E-5965-F9B2-32EA-1C18444BEC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8" y="2039"/>
              <a:ext cx="0" cy="3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6" name="Line 46">
              <a:extLst>
                <a:ext uri="{FF2B5EF4-FFF2-40B4-BE49-F238E27FC236}">
                  <a16:creationId xmlns:a16="http://schemas.microsoft.com/office/drawing/2014/main" id="{07153C43-ADBD-9D12-AA69-2DE75D1C08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7" y="2039"/>
              <a:ext cx="0" cy="3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84" name="Group 47">
            <a:extLst>
              <a:ext uri="{FF2B5EF4-FFF2-40B4-BE49-F238E27FC236}">
                <a16:creationId xmlns:a16="http://schemas.microsoft.com/office/drawing/2014/main" id="{E85A8846-CF12-746F-46C6-EA08336492CF}"/>
              </a:ext>
            </a:extLst>
          </p:cNvPr>
          <p:cNvGrpSpPr>
            <a:grpSpLocks/>
          </p:cNvGrpSpPr>
          <p:nvPr/>
        </p:nvGrpSpPr>
        <p:grpSpPr bwMode="auto">
          <a:xfrm>
            <a:off x="5011738" y="3236913"/>
            <a:ext cx="271462" cy="533400"/>
            <a:chOff x="3157" y="2039"/>
            <a:chExt cx="171" cy="336"/>
          </a:xfrm>
        </p:grpSpPr>
        <p:sp>
          <p:nvSpPr>
            <p:cNvPr id="7211" name="Line 48">
              <a:extLst>
                <a:ext uri="{FF2B5EF4-FFF2-40B4-BE49-F238E27FC236}">
                  <a16:creationId xmlns:a16="http://schemas.microsoft.com/office/drawing/2014/main" id="{BE0D542C-122F-FE7A-CF85-0EE24277B7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8" y="2039"/>
              <a:ext cx="0" cy="3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2" name="Line 49">
              <a:extLst>
                <a:ext uri="{FF2B5EF4-FFF2-40B4-BE49-F238E27FC236}">
                  <a16:creationId xmlns:a16="http://schemas.microsoft.com/office/drawing/2014/main" id="{40797709-F3ED-ADE3-3B27-CAA973C689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2039"/>
              <a:ext cx="0" cy="3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3" name="Line 50">
              <a:extLst>
                <a:ext uri="{FF2B5EF4-FFF2-40B4-BE49-F238E27FC236}">
                  <a16:creationId xmlns:a16="http://schemas.microsoft.com/office/drawing/2014/main" id="{FAFCB4FD-9A68-96EC-EFF5-166A6EB197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7" y="2039"/>
              <a:ext cx="0" cy="3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85" name="Group 51">
            <a:extLst>
              <a:ext uri="{FF2B5EF4-FFF2-40B4-BE49-F238E27FC236}">
                <a16:creationId xmlns:a16="http://schemas.microsoft.com/office/drawing/2014/main" id="{3C28D532-C286-B199-4382-1C6766FB0E9F}"/>
              </a:ext>
            </a:extLst>
          </p:cNvPr>
          <p:cNvGrpSpPr>
            <a:grpSpLocks/>
          </p:cNvGrpSpPr>
          <p:nvPr/>
        </p:nvGrpSpPr>
        <p:grpSpPr bwMode="auto">
          <a:xfrm>
            <a:off x="5402263" y="3236913"/>
            <a:ext cx="271462" cy="533400"/>
            <a:chOff x="3403" y="2039"/>
            <a:chExt cx="171" cy="336"/>
          </a:xfrm>
        </p:grpSpPr>
        <p:sp>
          <p:nvSpPr>
            <p:cNvPr id="7208" name="Line 52">
              <a:extLst>
                <a:ext uri="{FF2B5EF4-FFF2-40B4-BE49-F238E27FC236}">
                  <a16:creationId xmlns:a16="http://schemas.microsoft.com/office/drawing/2014/main" id="{1283638A-727C-8B79-21EE-495EE9BD41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4" y="2039"/>
              <a:ext cx="0" cy="3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9" name="Line 53">
              <a:extLst>
                <a:ext uri="{FF2B5EF4-FFF2-40B4-BE49-F238E27FC236}">
                  <a16:creationId xmlns:a16="http://schemas.microsoft.com/office/drawing/2014/main" id="{68635AD3-46AE-D6F2-0C6C-9C5ACFBE00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4" y="2039"/>
              <a:ext cx="0" cy="3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0" name="Line 54">
              <a:extLst>
                <a:ext uri="{FF2B5EF4-FFF2-40B4-BE49-F238E27FC236}">
                  <a16:creationId xmlns:a16="http://schemas.microsoft.com/office/drawing/2014/main" id="{EEBD45F8-58D1-0BE9-F868-CF7D57EB45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3" y="2039"/>
              <a:ext cx="0" cy="3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86" name="Group 55">
            <a:extLst>
              <a:ext uri="{FF2B5EF4-FFF2-40B4-BE49-F238E27FC236}">
                <a16:creationId xmlns:a16="http://schemas.microsoft.com/office/drawing/2014/main" id="{99B560F4-AFF6-356F-E8AC-4D7A974FD23B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009650"/>
            <a:ext cx="1581150" cy="1620838"/>
            <a:chOff x="384" y="636"/>
            <a:chExt cx="996" cy="1021"/>
          </a:xfrm>
        </p:grpSpPr>
        <p:grpSp>
          <p:nvGrpSpPr>
            <p:cNvPr id="7187" name="Group 56">
              <a:extLst>
                <a:ext uri="{FF2B5EF4-FFF2-40B4-BE49-F238E27FC236}">
                  <a16:creationId xmlns:a16="http://schemas.microsoft.com/office/drawing/2014/main" id="{6315C808-831A-ED8B-C8F1-9A68926C7B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8" y="892"/>
              <a:ext cx="457" cy="765"/>
              <a:chOff x="658" y="892"/>
              <a:chExt cx="457" cy="765"/>
            </a:xfrm>
          </p:grpSpPr>
          <p:sp>
            <p:nvSpPr>
              <p:cNvPr id="7197" name="Freeform 57">
                <a:extLst>
                  <a:ext uri="{FF2B5EF4-FFF2-40B4-BE49-F238E27FC236}">
                    <a16:creationId xmlns:a16="http://schemas.microsoft.com/office/drawing/2014/main" id="{1F0AA8F1-D3D9-B7F3-6125-FB481DCED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9" y="1429"/>
                <a:ext cx="215" cy="228"/>
              </a:xfrm>
              <a:custGeom>
                <a:avLst/>
                <a:gdLst>
                  <a:gd name="T0" fmla="*/ 0 w 215"/>
                  <a:gd name="T1" fmla="*/ 31 h 228"/>
                  <a:gd name="T2" fmla="*/ 0 w 215"/>
                  <a:gd name="T3" fmla="*/ 135 h 228"/>
                  <a:gd name="T4" fmla="*/ 3 w 215"/>
                  <a:gd name="T5" fmla="*/ 157 h 228"/>
                  <a:gd name="T6" fmla="*/ 14 w 215"/>
                  <a:gd name="T7" fmla="*/ 176 h 228"/>
                  <a:gd name="T8" fmla="*/ 29 w 215"/>
                  <a:gd name="T9" fmla="*/ 191 h 228"/>
                  <a:gd name="T10" fmla="*/ 47 w 215"/>
                  <a:gd name="T11" fmla="*/ 204 h 228"/>
                  <a:gd name="T12" fmla="*/ 66 w 215"/>
                  <a:gd name="T13" fmla="*/ 215 h 228"/>
                  <a:gd name="T14" fmla="*/ 82 w 215"/>
                  <a:gd name="T15" fmla="*/ 222 h 228"/>
                  <a:gd name="T16" fmla="*/ 98 w 215"/>
                  <a:gd name="T17" fmla="*/ 225 h 228"/>
                  <a:gd name="T18" fmla="*/ 106 w 215"/>
                  <a:gd name="T19" fmla="*/ 227 h 228"/>
                  <a:gd name="T20" fmla="*/ 117 w 215"/>
                  <a:gd name="T21" fmla="*/ 223 h 228"/>
                  <a:gd name="T22" fmla="*/ 131 w 215"/>
                  <a:gd name="T23" fmla="*/ 215 h 228"/>
                  <a:gd name="T24" fmla="*/ 148 w 215"/>
                  <a:gd name="T25" fmla="*/ 203 h 228"/>
                  <a:gd name="T26" fmla="*/ 166 w 215"/>
                  <a:gd name="T27" fmla="*/ 186 h 228"/>
                  <a:gd name="T28" fmla="*/ 184 w 215"/>
                  <a:gd name="T29" fmla="*/ 169 h 228"/>
                  <a:gd name="T30" fmla="*/ 199 w 215"/>
                  <a:gd name="T31" fmla="*/ 148 h 228"/>
                  <a:gd name="T32" fmla="*/ 210 w 215"/>
                  <a:gd name="T33" fmla="*/ 127 h 228"/>
                  <a:gd name="T34" fmla="*/ 214 w 215"/>
                  <a:gd name="T35" fmla="*/ 105 h 228"/>
                  <a:gd name="T36" fmla="*/ 214 w 215"/>
                  <a:gd name="T37" fmla="*/ 0 h 228"/>
                  <a:gd name="T38" fmla="*/ 0 w 215"/>
                  <a:gd name="T39" fmla="*/ 31 h 22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15" h="228">
                    <a:moveTo>
                      <a:pt x="0" y="31"/>
                    </a:moveTo>
                    <a:lnTo>
                      <a:pt x="0" y="135"/>
                    </a:lnTo>
                    <a:lnTo>
                      <a:pt x="3" y="157"/>
                    </a:lnTo>
                    <a:lnTo>
                      <a:pt x="14" y="176"/>
                    </a:lnTo>
                    <a:lnTo>
                      <a:pt x="29" y="191"/>
                    </a:lnTo>
                    <a:lnTo>
                      <a:pt x="47" y="204"/>
                    </a:lnTo>
                    <a:lnTo>
                      <a:pt x="66" y="215"/>
                    </a:lnTo>
                    <a:lnTo>
                      <a:pt x="82" y="222"/>
                    </a:lnTo>
                    <a:lnTo>
                      <a:pt x="98" y="225"/>
                    </a:lnTo>
                    <a:lnTo>
                      <a:pt x="106" y="227"/>
                    </a:lnTo>
                    <a:lnTo>
                      <a:pt x="117" y="223"/>
                    </a:lnTo>
                    <a:lnTo>
                      <a:pt x="131" y="215"/>
                    </a:lnTo>
                    <a:lnTo>
                      <a:pt x="148" y="203"/>
                    </a:lnTo>
                    <a:lnTo>
                      <a:pt x="166" y="186"/>
                    </a:lnTo>
                    <a:lnTo>
                      <a:pt x="184" y="169"/>
                    </a:lnTo>
                    <a:lnTo>
                      <a:pt x="199" y="148"/>
                    </a:lnTo>
                    <a:lnTo>
                      <a:pt x="210" y="127"/>
                    </a:lnTo>
                    <a:lnTo>
                      <a:pt x="214" y="105"/>
                    </a:lnTo>
                    <a:lnTo>
                      <a:pt x="214" y="0"/>
                    </a:lnTo>
                    <a:lnTo>
                      <a:pt x="0" y="31"/>
                    </a:lnTo>
                  </a:path>
                </a:pathLst>
              </a:cu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98" name="Freeform 58">
                <a:extLst>
                  <a:ext uri="{FF2B5EF4-FFF2-40B4-BE49-F238E27FC236}">
                    <a16:creationId xmlns:a16="http://schemas.microsoft.com/office/drawing/2014/main" id="{31C1C0F2-11ED-D1A3-7358-20E6752A3E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" y="1423"/>
                <a:ext cx="217" cy="47"/>
              </a:xfrm>
              <a:custGeom>
                <a:avLst/>
                <a:gdLst>
                  <a:gd name="T0" fmla="*/ 107 w 217"/>
                  <a:gd name="T1" fmla="*/ 40 h 47"/>
                  <a:gd name="T2" fmla="*/ 129 w 217"/>
                  <a:gd name="T3" fmla="*/ 36 h 47"/>
                  <a:gd name="T4" fmla="*/ 149 w 217"/>
                  <a:gd name="T5" fmla="*/ 33 h 47"/>
                  <a:gd name="T6" fmla="*/ 168 w 217"/>
                  <a:gd name="T7" fmla="*/ 28 h 47"/>
                  <a:gd name="T8" fmla="*/ 184 w 217"/>
                  <a:gd name="T9" fmla="*/ 23 h 47"/>
                  <a:gd name="T10" fmla="*/ 197 w 217"/>
                  <a:gd name="T11" fmla="*/ 20 h 47"/>
                  <a:gd name="T12" fmla="*/ 207 w 217"/>
                  <a:gd name="T13" fmla="*/ 15 h 47"/>
                  <a:gd name="T14" fmla="*/ 213 w 217"/>
                  <a:gd name="T15" fmla="*/ 10 h 47"/>
                  <a:gd name="T16" fmla="*/ 216 w 217"/>
                  <a:gd name="T17" fmla="*/ 7 h 47"/>
                  <a:gd name="T18" fmla="*/ 213 w 217"/>
                  <a:gd name="T19" fmla="*/ 3 h 47"/>
                  <a:gd name="T20" fmla="*/ 207 w 217"/>
                  <a:gd name="T21" fmla="*/ 1 h 47"/>
                  <a:gd name="T22" fmla="*/ 197 w 217"/>
                  <a:gd name="T23" fmla="*/ 0 h 47"/>
                  <a:gd name="T24" fmla="*/ 184 w 217"/>
                  <a:gd name="T25" fmla="*/ 0 h 47"/>
                  <a:gd name="T26" fmla="*/ 168 w 217"/>
                  <a:gd name="T27" fmla="*/ 0 h 47"/>
                  <a:gd name="T28" fmla="*/ 149 w 217"/>
                  <a:gd name="T29" fmla="*/ 1 h 47"/>
                  <a:gd name="T30" fmla="*/ 129 w 217"/>
                  <a:gd name="T31" fmla="*/ 2 h 47"/>
                  <a:gd name="T32" fmla="*/ 107 w 217"/>
                  <a:gd name="T33" fmla="*/ 5 h 47"/>
                  <a:gd name="T34" fmla="*/ 86 w 217"/>
                  <a:gd name="T35" fmla="*/ 9 h 47"/>
                  <a:gd name="T36" fmla="*/ 66 w 217"/>
                  <a:gd name="T37" fmla="*/ 12 h 47"/>
                  <a:gd name="T38" fmla="*/ 47 w 217"/>
                  <a:gd name="T39" fmla="*/ 17 h 47"/>
                  <a:gd name="T40" fmla="*/ 31 w 217"/>
                  <a:gd name="T41" fmla="*/ 21 h 47"/>
                  <a:gd name="T42" fmla="*/ 17 w 217"/>
                  <a:gd name="T43" fmla="*/ 25 h 47"/>
                  <a:gd name="T44" fmla="*/ 8 w 217"/>
                  <a:gd name="T45" fmla="*/ 30 h 47"/>
                  <a:gd name="T46" fmla="*/ 2 w 217"/>
                  <a:gd name="T47" fmla="*/ 35 h 47"/>
                  <a:gd name="T48" fmla="*/ 0 w 217"/>
                  <a:gd name="T49" fmla="*/ 38 h 47"/>
                  <a:gd name="T50" fmla="*/ 2 w 217"/>
                  <a:gd name="T51" fmla="*/ 41 h 47"/>
                  <a:gd name="T52" fmla="*/ 8 w 217"/>
                  <a:gd name="T53" fmla="*/ 43 h 47"/>
                  <a:gd name="T54" fmla="*/ 17 w 217"/>
                  <a:gd name="T55" fmla="*/ 46 h 47"/>
                  <a:gd name="T56" fmla="*/ 31 w 217"/>
                  <a:gd name="T57" fmla="*/ 46 h 47"/>
                  <a:gd name="T58" fmla="*/ 47 w 217"/>
                  <a:gd name="T59" fmla="*/ 46 h 47"/>
                  <a:gd name="T60" fmla="*/ 66 w 217"/>
                  <a:gd name="T61" fmla="*/ 44 h 47"/>
                  <a:gd name="T62" fmla="*/ 86 w 217"/>
                  <a:gd name="T63" fmla="*/ 42 h 47"/>
                  <a:gd name="T64" fmla="*/ 107 w 217"/>
                  <a:gd name="T65" fmla="*/ 40 h 4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217" h="47">
                    <a:moveTo>
                      <a:pt x="107" y="40"/>
                    </a:moveTo>
                    <a:lnTo>
                      <a:pt x="129" y="36"/>
                    </a:lnTo>
                    <a:lnTo>
                      <a:pt x="149" y="33"/>
                    </a:lnTo>
                    <a:lnTo>
                      <a:pt x="168" y="28"/>
                    </a:lnTo>
                    <a:lnTo>
                      <a:pt x="184" y="23"/>
                    </a:lnTo>
                    <a:lnTo>
                      <a:pt x="197" y="20"/>
                    </a:lnTo>
                    <a:lnTo>
                      <a:pt x="207" y="15"/>
                    </a:lnTo>
                    <a:lnTo>
                      <a:pt x="213" y="10"/>
                    </a:lnTo>
                    <a:lnTo>
                      <a:pt x="216" y="7"/>
                    </a:lnTo>
                    <a:lnTo>
                      <a:pt x="213" y="3"/>
                    </a:lnTo>
                    <a:lnTo>
                      <a:pt x="207" y="1"/>
                    </a:lnTo>
                    <a:lnTo>
                      <a:pt x="197" y="0"/>
                    </a:lnTo>
                    <a:lnTo>
                      <a:pt x="184" y="0"/>
                    </a:lnTo>
                    <a:lnTo>
                      <a:pt x="168" y="0"/>
                    </a:lnTo>
                    <a:lnTo>
                      <a:pt x="149" y="1"/>
                    </a:lnTo>
                    <a:lnTo>
                      <a:pt x="129" y="2"/>
                    </a:lnTo>
                    <a:lnTo>
                      <a:pt x="107" y="5"/>
                    </a:lnTo>
                    <a:lnTo>
                      <a:pt x="86" y="9"/>
                    </a:lnTo>
                    <a:lnTo>
                      <a:pt x="66" y="12"/>
                    </a:lnTo>
                    <a:lnTo>
                      <a:pt x="47" y="17"/>
                    </a:lnTo>
                    <a:lnTo>
                      <a:pt x="31" y="21"/>
                    </a:lnTo>
                    <a:lnTo>
                      <a:pt x="17" y="25"/>
                    </a:lnTo>
                    <a:lnTo>
                      <a:pt x="8" y="30"/>
                    </a:lnTo>
                    <a:lnTo>
                      <a:pt x="2" y="35"/>
                    </a:lnTo>
                    <a:lnTo>
                      <a:pt x="0" y="38"/>
                    </a:lnTo>
                    <a:lnTo>
                      <a:pt x="2" y="41"/>
                    </a:lnTo>
                    <a:lnTo>
                      <a:pt x="8" y="43"/>
                    </a:lnTo>
                    <a:lnTo>
                      <a:pt x="17" y="46"/>
                    </a:lnTo>
                    <a:lnTo>
                      <a:pt x="31" y="46"/>
                    </a:lnTo>
                    <a:lnTo>
                      <a:pt x="47" y="46"/>
                    </a:lnTo>
                    <a:lnTo>
                      <a:pt x="66" y="44"/>
                    </a:lnTo>
                    <a:lnTo>
                      <a:pt x="86" y="42"/>
                    </a:lnTo>
                    <a:lnTo>
                      <a:pt x="107" y="40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99" name="Freeform 59">
                <a:extLst>
                  <a:ext uri="{FF2B5EF4-FFF2-40B4-BE49-F238E27FC236}">
                    <a16:creationId xmlns:a16="http://schemas.microsoft.com/office/drawing/2014/main" id="{E58542DF-76CC-957A-8E1A-E63D1E734D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3" y="1499"/>
                <a:ext cx="211" cy="91"/>
              </a:xfrm>
              <a:custGeom>
                <a:avLst/>
                <a:gdLst>
                  <a:gd name="T0" fmla="*/ 206 w 211"/>
                  <a:gd name="T1" fmla="*/ 0 h 91"/>
                  <a:gd name="T2" fmla="*/ 202 w 211"/>
                  <a:gd name="T3" fmla="*/ 4 h 91"/>
                  <a:gd name="T4" fmla="*/ 197 w 211"/>
                  <a:gd name="T5" fmla="*/ 10 h 91"/>
                  <a:gd name="T6" fmla="*/ 187 w 211"/>
                  <a:gd name="T7" fmla="*/ 16 h 91"/>
                  <a:gd name="T8" fmla="*/ 174 w 211"/>
                  <a:gd name="T9" fmla="*/ 23 h 91"/>
                  <a:gd name="T10" fmla="*/ 160 w 211"/>
                  <a:gd name="T11" fmla="*/ 31 h 91"/>
                  <a:gd name="T12" fmla="*/ 143 w 211"/>
                  <a:gd name="T13" fmla="*/ 40 h 91"/>
                  <a:gd name="T14" fmla="*/ 126 w 211"/>
                  <a:gd name="T15" fmla="*/ 48 h 91"/>
                  <a:gd name="T16" fmla="*/ 106 w 211"/>
                  <a:gd name="T17" fmla="*/ 56 h 91"/>
                  <a:gd name="T18" fmla="*/ 88 w 211"/>
                  <a:gd name="T19" fmla="*/ 63 h 91"/>
                  <a:gd name="T20" fmla="*/ 70 w 211"/>
                  <a:gd name="T21" fmla="*/ 69 h 91"/>
                  <a:gd name="T22" fmla="*/ 54 w 211"/>
                  <a:gd name="T23" fmla="*/ 75 h 91"/>
                  <a:gd name="T24" fmla="*/ 38 w 211"/>
                  <a:gd name="T25" fmla="*/ 79 h 91"/>
                  <a:gd name="T26" fmla="*/ 25 w 211"/>
                  <a:gd name="T27" fmla="*/ 82 h 91"/>
                  <a:gd name="T28" fmla="*/ 15 w 211"/>
                  <a:gd name="T29" fmla="*/ 85 h 91"/>
                  <a:gd name="T30" fmla="*/ 7 w 211"/>
                  <a:gd name="T31" fmla="*/ 85 h 91"/>
                  <a:gd name="T32" fmla="*/ 1 w 211"/>
                  <a:gd name="T33" fmla="*/ 85 h 91"/>
                  <a:gd name="T34" fmla="*/ 1 w 211"/>
                  <a:gd name="T35" fmla="*/ 85 h 91"/>
                  <a:gd name="T36" fmla="*/ 1 w 211"/>
                  <a:gd name="T37" fmla="*/ 85 h 91"/>
                  <a:gd name="T38" fmla="*/ 0 w 211"/>
                  <a:gd name="T39" fmla="*/ 86 h 91"/>
                  <a:gd name="T40" fmla="*/ 0 w 211"/>
                  <a:gd name="T41" fmla="*/ 86 h 91"/>
                  <a:gd name="T42" fmla="*/ 0 w 211"/>
                  <a:gd name="T43" fmla="*/ 86 h 91"/>
                  <a:gd name="T44" fmla="*/ 0 w 211"/>
                  <a:gd name="T45" fmla="*/ 86 h 91"/>
                  <a:gd name="T46" fmla="*/ 0 w 211"/>
                  <a:gd name="T47" fmla="*/ 87 h 91"/>
                  <a:gd name="T48" fmla="*/ 0 w 211"/>
                  <a:gd name="T49" fmla="*/ 87 h 91"/>
                  <a:gd name="T50" fmla="*/ 3 w 211"/>
                  <a:gd name="T51" fmla="*/ 90 h 91"/>
                  <a:gd name="T52" fmla="*/ 10 w 211"/>
                  <a:gd name="T53" fmla="*/ 90 h 91"/>
                  <a:gd name="T54" fmla="*/ 21 w 211"/>
                  <a:gd name="T55" fmla="*/ 88 h 91"/>
                  <a:gd name="T56" fmla="*/ 34 w 211"/>
                  <a:gd name="T57" fmla="*/ 86 h 91"/>
                  <a:gd name="T58" fmla="*/ 50 w 211"/>
                  <a:gd name="T59" fmla="*/ 81 h 91"/>
                  <a:gd name="T60" fmla="*/ 68 w 211"/>
                  <a:gd name="T61" fmla="*/ 75 h 91"/>
                  <a:gd name="T62" fmla="*/ 88 w 211"/>
                  <a:gd name="T63" fmla="*/ 69 h 91"/>
                  <a:gd name="T64" fmla="*/ 109 w 211"/>
                  <a:gd name="T65" fmla="*/ 61 h 91"/>
                  <a:gd name="T66" fmla="*/ 130 w 211"/>
                  <a:gd name="T67" fmla="*/ 52 h 91"/>
                  <a:gd name="T68" fmla="*/ 149 w 211"/>
                  <a:gd name="T69" fmla="*/ 42 h 91"/>
                  <a:gd name="T70" fmla="*/ 167 w 211"/>
                  <a:gd name="T71" fmla="*/ 34 h 91"/>
                  <a:gd name="T72" fmla="*/ 182 w 211"/>
                  <a:gd name="T73" fmla="*/ 26 h 91"/>
                  <a:gd name="T74" fmla="*/ 194 w 211"/>
                  <a:gd name="T75" fmla="*/ 18 h 91"/>
                  <a:gd name="T76" fmla="*/ 202 w 211"/>
                  <a:gd name="T77" fmla="*/ 11 h 91"/>
                  <a:gd name="T78" fmla="*/ 208 w 211"/>
                  <a:gd name="T79" fmla="*/ 5 h 91"/>
                  <a:gd name="T80" fmla="*/ 210 w 211"/>
                  <a:gd name="T81" fmla="*/ 2 h 91"/>
                  <a:gd name="T82" fmla="*/ 210 w 211"/>
                  <a:gd name="T83" fmla="*/ 2 h 91"/>
                  <a:gd name="T84" fmla="*/ 210 w 211"/>
                  <a:gd name="T85" fmla="*/ 1 h 91"/>
                  <a:gd name="T86" fmla="*/ 208 w 211"/>
                  <a:gd name="T87" fmla="*/ 1 h 91"/>
                  <a:gd name="T88" fmla="*/ 208 w 211"/>
                  <a:gd name="T89" fmla="*/ 1 h 91"/>
                  <a:gd name="T90" fmla="*/ 208 w 211"/>
                  <a:gd name="T91" fmla="*/ 0 h 91"/>
                  <a:gd name="T92" fmla="*/ 207 w 211"/>
                  <a:gd name="T93" fmla="*/ 0 h 91"/>
                  <a:gd name="T94" fmla="*/ 207 w 211"/>
                  <a:gd name="T95" fmla="*/ 0 h 91"/>
                  <a:gd name="T96" fmla="*/ 206 w 211"/>
                  <a:gd name="T97" fmla="*/ 0 h 9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211" h="91">
                    <a:moveTo>
                      <a:pt x="206" y="0"/>
                    </a:moveTo>
                    <a:lnTo>
                      <a:pt x="202" y="4"/>
                    </a:lnTo>
                    <a:lnTo>
                      <a:pt x="197" y="10"/>
                    </a:lnTo>
                    <a:lnTo>
                      <a:pt x="187" y="16"/>
                    </a:lnTo>
                    <a:lnTo>
                      <a:pt x="174" y="23"/>
                    </a:lnTo>
                    <a:lnTo>
                      <a:pt x="160" y="31"/>
                    </a:lnTo>
                    <a:lnTo>
                      <a:pt x="143" y="40"/>
                    </a:lnTo>
                    <a:lnTo>
                      <a:pt x="126" y="48"/>
                    </a:lnTo>
                    <a:lnTo>
                      <a:pt x="106" y="56"/>
                    </a:lnTo>
                    <a:lnTo>
                      <a:pt x="88" y="63"/>
                    </a:lnTo>
                    <a:lnTo>
                      <a:pt x="70" y="69"/>
                    </a:lnTo>
                    <a:lnTo>
                      <a:pt x="54" y="75"/>
                    </a:lnTo>
                    <a:lnTo>
                      <a:pt x="38" y="79"/>
                    </a:lnTo>
                    <a:lnTo>
                      <a:pt x="25" y="82"/>
                    </a:lnTo>
                    <a:lnTo>
                      <a:pt x="15" y="85"/>
                    </a:lnTo>
                    <a:lnTo>
                      <a:pt x="7" y="85"/>
                    </a:lnTo>
                    <a:lnTo>
                      <a:pt x="1" y="85"/>
                    </a:lnTo>
                    <a:lnTo>
                      <a:pt x="0" y="86"/>
                    </a:lnTo>
                    <a:lnTo>
                      <a:pt x="0" y="87"/>
                    </a:lnTo>
                    <a:lnTo>
                      <a:pt x="3" y="90"/>
                    </a:lnTo>
                    <a:lnTo>
                      <a:pt x="10" y="90"/>
                    </a:lnTo>
                    <a:lnTo>
                      <a:pt x="21" y="88"/>
                    </a:lnTo>
                    <a:lnTo>
                      <a:pt x="34" y="86"/>
                    </a:lnTo>
                    <a:lnTo>
                      <a:pt x="50" y="81"/>
                    </a:lnTo>
                    <a:lnTo>
                      <a:pt x="68" y="75"/>
                    </a:lnTo>
                    <a:lnTo>
                      <a:pt x="88" y="69"/>
                    </a:lnTo>
                    <a:lnTo>
                      <a:pt x="109" y="61"/>
                    </a:lnTo>
                    <a:lnTo>
                      <a:pt x="130" y="52"/>
                    </a:lnTo>
                    <a:lnTo>
                      <a:pt x="149" y="42"/>
                    </a:lnTo>
                    <a:lnTo>
                      <a:pt x="167" y="34"/>
                    </a:lnTo>
                    <a:lnTo>
                      <a:pt x="182" y="26"/>
                    </a:lnTo>
                    <a:lnTo>
                      <a:pt x="194" y="18"/>
                    </a:lnTo>
                    <a:lnTo>
                      <a:pt x="202" y="11"/>
                    </a:lnTo>
                    <a:lnTo>
                      <a:pt x="208" y="5"/>
                    </a:lnTo>
                    <a:lnTo>
                      <a:pt x="210" y="2"/>
                    </a:lnTo>
                    <a:lnTo>
                      <a:pt x="210" y="1"/>
                    </a:lnTo>
                    <a:lnTo>
                      <a:pt x="208" y="1"/>
                    </a:lnTo>
                    <a:lnTo>
                      <a:pt x="208" y="0"/>
                    </a:lnTo>
                    <a:lnTo>
                      <a:pt x="207" y="0"/>
                    </a:lnTo>
                    <a:lnTo>
                      <a:pt x="206" y="0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0" name="Freeform 60">
                <a:extLst>
                  <a:ext uri="{FF2B5EF4-FFF2-40B4-BE49-F238E27FC236}">
                    <a16:creationId xmlns:a16="http://schemas.microsoft.com/office/drawing/2014/main" id="{682F629F-171F-F1FF-2BE4-55C1036735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" y="1530"/>
                <a:ext cx="166" cy="88"/>
              </a:xfrm>
              <a:custGeom>
                <a:avLst/>
                <a:gdLst>
                  <a:gd name="T0" fmla="*/ 165 w 166"/>
                  <a:gd name="T1" fmla="*/ 7 h 88"/>
                  <a:gd name="T2" fmla="*/ 165 w 166"/>
                  <a:gd name="T3" fmla="*/ 7 h 88"/>
                  <a:gd name="T4" fmla="*/ 165 w 166"/>
                  <a:gd name="T5" fmla="*/ 7 h 88"/>
                  <a:gd name="T6" fmla="*/ 165 w 166"/>
                  <a:gd name="T7" fmla="*/ 5 h 88"/>
                  <a:gd name="T8" fmla="*/ 165 w 166"/>
                  <a:gd name="T9" fmla="*/ 5 h 88"/>
                  <a:gd name="T10" fmla="*/ 165 w 166"/>
                  <a:gd name="T11" fmla="*/ 5 h 88"/>
                  <a:gd name="T12" fmla="*/ 165 w 166"/>
                  <a:gd name="T13" fmla="*/ 4 h 88"/>
                  <a:gd name="T14" fmla="*/ 165 w 166"/>
                  <a:gd name="T15" fmla="*/ 4 h 88"/>
                  <a:gd name="T16" fmla="*/ 165 w 166"/>
                  <a:gd name="T17" fmla="*/ 4 h 88"/>
                  <a:gd name="T18" fmla="*/ 165 w 166"/>
                  <a:gd name="T19" fmla="*/ 0 h 88"/>
                  <a:gd name="T20" fmla="*/ 159 w 166"/>
                  <a:gd name="T21" fmla="*/ 4 h 88"/>
                  <a:gd name="T22" fmla="*/ 152 w 166"/>
                  <a:gd name="T23" fmla="*/ 9 h 88"/>
                  <a:gd name="T24" fmla="*/ 144 w 166"/>
                  <a:gd name="T25" fmla="*/ 14 h 88"/>
                  <a:gd name="T26" fmla="*/ 136 w 166"/>
                  <a:gd name="T27" fmla="*/ 19 h 88"/>
                  <a:gd name="T28" fmla="*/ 128 w 166"/>
                  <a:gd name="T29" fmla="*/ 24 h 88"/>
                  <a:gd name="T30" fmla="*/ 120 w 166"/>
                  <a:gd name="T31" fmla="*/ 29 h 88"/>
                  <a:gd name="T32" fmla="*/ 111 w 166"/>
                  <a:gd name="T33" fmla="*/ 35 h 88"/>
                  <a:gd name="T34" fmla="*/ 102 w 166"/>
                  <a:gd name="T35" fmla="*/ 39 h 88"/>
                  <a:gd name="T36" fmla="*/ 84 w 166"/>
                  <a:gd name="T37" fmla="*/ 49 h 88"/>
                  <a:gd name="T38" fmla="*/ 68 w 166"/>
                  <a:gd name="T39" fmla="*/ 57 h 88"/>
                  <a:gd name="T40" fmla="*/ 51 w 166"/>
                  <a:gd name="T41" fmla="*/ 65 h 88"/>
                  <a:gd name="T42" fmla="*/ 37 w 166"/>
                  <a:gd name="T43" fmla="*/ 71 h 88"/>
                  <a:gd name="T44" fmla="*/ 24 w 166"/>
                  <a:gd name="T45" fmla="*/ 76 h 88"/>
                  <a:gd name="T46" fmla="*/ 14 w 166"/>
                  <a:gd name="T47" fmla="*/ 79 h 88"/>
                  <a:gd name="T48" fmla="*/ 5 w 166"/>
                  <a:gd name="T49" fmla="*/ 82 h 88"/>
                  <a:gd name="T50" fmla="*/ 0 w 166"/>
                  <a:gd name="T51" fmla="*/ 82 h 88"/>
                  <a:gd name="T52" fmla="*/ 0 w 166"/>
                  <a:gd name="T53" fmla="*/ 83 h 88"/>
                  <a:gd name="T54" fmla="*/ 0 w 166"/>
                  <a:gd name="T55" fmla="*/ 83 h 88"/>
                  <a:gd name="T56" fmla="*/ 0 w 166"/>
                  <a:gd name="T57" fmla="*/ 83 h 88"/>
                  <a:gd name="T58" fmla="*/ 0 w 166"/>
                  <a:gd name="T59" fmla="*/ 83 h 88"/>
                  <a:gd name="T60" fmla="*/ 0 w 166"/>
                  <a:gd name="T61" fmla="*/ 84 h 88"/>
                  <a:gd name="T62" fmla="*/ 0 w 166"/>
                  <a:gd name="T63" fmla="*/ 84 h 88"/>
                  <a:gd name="T64" fmla="*/ 0 w 166"/>
                  <a:gd name="T65" fmla="*/ 84 h 88"/>
                  <a:gd name="T66" fmla="*/ 0 w 166"/>
                  <a:gd name="T67" fmla="*/ 84 h 88"/>
                  <a:gd name="T68" fmla="*/ 3 w 166"/>
                  <a:gd name="T69" fmla="*/ 87 h 88"/>
                  <a:gd name="T70" fmla="*/ 10 w 166"/>
                  <a:gd name="T71" fmla="*/ 87 h 88"/>
                  <a:gd name="T72" fmla="*/ 20 w 166"/>
                  <a:gd name="T73" fmla="*/ 83 h 88"/>
                  <a:gd name="T74" fmla="*/ 34 w 166"/>
                  <a:gd name="T75" fmla="*/ 78 h 88"/>
                  <a:gd name="T76" fmla="*/ 49 w 166"/>
                  <a:gd name="T77" fmla="*/ 72 h 88"/>
                  <a:gd name="T78" fmla="*/ 67 w 166"/>
                  <a:gd name="T79" fmla="*/ 64 h 88"/>
                  <a:gd name="T80" fmla="*/ 86 w 166"/>
                  <a:gd name="T81" fmla="*/ 55 h 88"/>
                  <a:gd name="T82" fmla="*/ 106 w 166"/>
                  <a:gd name="T83" fmla="*/ 43 h 88"/>
                  <a:gd name="T84" fmla="*/ 114 w 166"/>
                  <a:gd name="T85" fmla="*/ 38 h 88"/>
                  <a:gd name="T86" fmla="*/ 122 w 166"/>
                  <a:gd name="T87" fmla="*/ 34 h 88"/>
                  <a:gd name="T88" fmla="*/ 130 w 166"/>
                  <a:gd name="T89" fmla="*/ 29 h 88"/>
                  <a:gd name="T90" fmla="*/ 137 w 166"/>
                  <a:gd name="T91" fmla="*/ 24 h 88"/>
                  <a:gd name="T92" fmla="*/ 144 w 166"/>
                  <a:gd name="T93" fmla="*/ 19 h 88"/>
                  <a:gd name="T94" fmla="*/ 152 w 166"/>
                  <a:gd name="T95" fmla="*/ 15 h 88"/>
                  <a:gd name="T96" fmla="*/ 159 w 166"/>
                  <a:gd name="T97" fmla="*/ 11 h 88"/>
                  <a:gd name="T98" fmla="*/ 165 w 166"/>
                  <a:gd name="T99" fmla="*/ 7 h 88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166" h="88">
                    <a:moveTo>
                      <a:pt x="165" y="7"/>
                    </a:moveTo>
                    <a:lnTo>
                      <a:pt x="165" y="7"/>
                    </a:lnTo>
                    <a:lnTo>
                      <a:pt x="165" y="5"/>
                    </a:lnTo>
                    <a:lnTo>
                      <a:pt x="165" y="4"/>
                    </a:lnTo>
                    <a:lnTo>
                      <a:pt x="165" y="0"/>
                    </a:lnTo>
                    <a:lnTo>
                      <a:pt x="159" y="4"/>
                    </a:lnTo>
                    <a:lnTo>
                      <a:pt x="152" y="9"/>
                    </a:lnTo>
                    <a:lnTo>
                      <a:pt x="144" y="14"/>
                    </a:lnTo>
                    <a:lnTo>
                      <a:pt x="136" y="19"/>
                    </a:lnTo>
                    <a:lnTo>
                      <a:pt x="128" y="24"/>
                    </a:lnTo>
                    <a:lnTo>
                      <a:pt x="120" y="29"/>
                    </a:lnTo>
                    <a:lnTo>
                      <a:pt x="111" y="35"/>
                    </a:lnTo>
                    <a:lnTo>
                      <a:pt x="102" y="39"/>
                    </a:lnTo>
                    <a:lnTo>
                      <a:pt x="84" y="49"/>
                    </a:lnTo>
                    <a:lnTo>
                      <a:pt x="68" y="57"/>
                    </a:lnTo>
                    <a:lnTo>
                      <a:pt x="51" y="65"/>
                    </a:lnTo>
                    <a:lnTo>
                      <a:pt x="37" y="71"/>
                    </a:lnTo>
                    <a:lnTo>
                      <a:pt x="24" y="76"/>
                    </a:lnTo>
                    <a:lnTo>
                      <a:pt x="14" y="79"/>
                    </a:lnTo>
                    <a:lnTo>
                      <a:pt x="5" y="82"/>
                    </a:lnTo>
                    <a:lnTo>
                      <a:pt x="0" y="82"/>
                    </a:lnTo>
                    <a:lnTo>
                      <a:pt x="0" y="83"/>
                    </a:lnTo>
                    <a:lnTo>
                      <a:pt x="0" y="84"/>
                    </a:lnTo>
                    <a:lnTo>
                      <a:pt x="3" y="87"/>
                    </a:lnTo>
                    <a:lnTo>
                      <a:pt x="10" y="87"/>
                    </a:lnTo>
                    <a:lnTo>
                      <a:pt x="20" y="83"/>
                    </a:lnTo>
                    <a:lnTo>
                      <a:pt x="34" y="78"/>
                    </a:lnTo>
                    <a:lnTo>
                      <a:pt x="49" y="72"/>
                    </a:lnTo>
                    <a:lnTo>
                      <a:pt x="67" y="64"/>
                    </a:lnTo>
                    <a:lnTo>
                      <a:pt x="86" y="55"/>
                    </a:lnTo>
                    <a:lnTo>
                      <a:pt x="106" y="43"/>
                    </a:lnTo>
                    <a:lnTo>
                      <a:pt x="114" y="38"/>
                    </a:lnTo>
                    <a:lnTo>
                      <a:pt x="122" y="34"/>
                    </a:lnTo>
                    <a:lnTo>
                      <a:pt x="130" y="29"/>
                    </a:lnTo>
                    <a:lnTo>
                      <a:pt x="137" y="24"/>
                    </a:lnTo>
                    <a:lnTo>
                      <a:pt x="144" y="19"/>
                    </a:lnTo>
                    <a:lnTo>
                      <a:pt x="152" y="15"/>
                    </a:lnTo>
                    <a:lnTo>
                      <a:pt x="159" y="11"/>
                    </a:lnTo>
                    <a:lnTo>
                      <a:pt x="165" y="7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1" name="Freeform 61">
                <a:extLst>
                  <a:ext uri="{FF2B5EF4-FFF2-40B4-BE49-F238E27FC236}">
                    <a16:creationId xmlns:a16="http://schemas.microsoft.com/office/drawing/2014/main" id="{412958E3-4876-1EBD-C520-ABD36756D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9" y="1437"/>
                <a:ext cx="171" cy="61"/>
              </a:xfrm>
              <a:custGeom>
                <a:avLst/>
                <a:gdLst>
                  <a:gd name="T0" fmla="*/ 0 w 171"/>
                  <a:gd name="T1" fmla="*/ 60 h 61"/>
                  <a:gd name="T2" fmla="*/ 7 w 171"/>
                  <a:gd name="T3" fmla="*/ 58 h 61"/>
                  <a:gd name="T4" fmla="*/ 15 w 171"/>
                  <a:gd name="T5" fmla="*/ 57 h 61"/>
                  <a:gd name="T6" fmla="*/ 24 w 171"/>
                  <a:gd name="T7" fmla="*/ 55 h 61"/>
                  <a:gd name="T8" fmla="*/ 34 w 171"/>
                  <a:gd name="T9" fmla="*/ 52 h 61"/>
                  <a:gd name="T10" fmla="*/ 44 w 171"/>
                  <a:gd name="T11" fmla="*/ 50 h 61"/>
                  <a:gd name="T12" fmla="*/ 55 w 171"/>
                  <a:gd name="T13" fmla="*/ 47 h 61"/>
                  <a:gd name="T14" fmla="*/ 66 w 171"/>
                  <a:gd name="T15" fmla="*/ 43 h 61"/>
                  <a:gd name="T16" fmla="*/ 77 w 171"/>
                  <a:gd name="T17" fmla="*/ 40 h 61"/>
                  <a:gd name="T18" fmla="*/ 93 w 171"/>
                  <a:gd name="T19" fmla="*/ 35 h 61"/>
                  <a:gd name="T20" fmla="*/ 107 w 171"/>
                  <a:gd name="T21" fmla="*/ 29 h 61"/>
                  <a:gd name="T22" fmla="*/ 120 w 171"/>
                  <a:gd name="T23" fmla="*/ 24 h 61"/>
                  <a:gd name="T24" fmla="*/ 133 w 171"/>
                  <a:gd name="T25" fmla="*/ 18 h 61"/>
                  <a:gd name="T26" fmla="*/ 145 w 171"/>
                  <a:gd name="T27" fmla="*/ 14 h 61"/>
                  <a:gd name="T28" fmla="*/ 154 w 171"/>
                  <a:gd name="T29" fmla="*/ 8 h 61"/>
                  <a:gd name="T30" fmla="*/ 162 w 171"/>
                  <a:gd name="T31" fmla="*/ 3 h 61"/>
                  <a:gd name="T32" fmla="*/ 170 w 171"/>
                  <a:gd name="T33" fmla="*/ 0 h 61"/>
                  <a:gd name="T34" fmla="*/ 155 w 171"/>
                  <a:gd name="T35" fmla="*/ 1 h 61"/>
                  <a:gd name="T36" fmla="*/ 148 w 171"/>
                  <a:gd name="T37" fmla="*/ 5 h 61"/>
                  <a:gd name="T38" fmla="*/ 140 w 171"/>
                  <a:gd name="T39" fmla="*/ 9 h 61"/>
                  <a:gd name="T40" fmla="*/ 131 w 171"/>
                  <a:gd name="T41" fmla="*/ 14 h 61"/>
                  <a:gd name="T42" fmla="*/ 120 w 171"/>
                  <a:gd name="T43" fmla="*/ 17 h 61"/>
                  <a:gd name="T44" fmla="*/ 109 w 171"/>
                  <a:gd name="T45" fmla="*/ 22 h 61"/>
                  <a:gd name="T46" fmla="*/ 99 w 171"/>
                  <a:gd name="T47" fmla="*/ 27 h 61"/>
                  <a:gd name="T48" fmla="*/ 87 w 171"/>
                  <a:gd name="T49" fmla="*/ 30 h 61"/>
                  <a:gd name="T50" fmla="*/ 74 w 171"/>
                  <a:gd name="T51" fmla="*/ 35 h 61"/>
                  <a:gd name="T52" fmla="*/ 63 w 171"/>
                  <a:gd name="T53" fmla="*/ 38 h 61"/>
                  <a:gd name="T54" fmla="*/ 53 w 171"/>
                  <a:gd name="T55" fmla="*/ 42 h 61"/>
                  <a:gd name="T56" fmla="*/ 43 w 171"/>
                  <a:gd name="T57" fmla="*/ 44 h 61"/>
                  <a:gd name="T58" fmla="*/ 34 w 171"/>
                  <a:gd name="T59" fmla="*/ 47 h 61"/>
                  <a:gd name="T60" fmla="*/ 24 w 171"/>
                  <a:gd name="T61" fmla="*/ 49 h 61"/>
                  <a:gd name="T62" fmla="*/ 15 w 171"/>
                  <a:gd name="T63" fmla="*/ 51 h 61"/>
                  <a:gd name="T64" fmla="*/ 7 w 171"/>
                  <a:gd name="T65" fmla="*/ 54 h 61"/>
                  <a:gd name="T66" fmla="*/ 0 w 171"/>
                  <a:gd name="T67" fmla="*/ 55 h 61"/>
                  <a:gd name="T68" fmla="*/ 0 w 171"/>
                  <a:gd name="T69" fmla="*/ 60 h 6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71" h="61">
                    <a:moveTo>
                      <a:pt x="0" y="60"/>
                    </a:moveTo>
                    <a:lnTo>
                      <a:pt x="7" y="58"/>
                    </a:lnTo>
                    <a:lnTo>
                      <a:pt x="15" y="57"/>
                    </a:lnTo>
                    <a:lnTo>
                      <a:pt x="24" y="55"/>
                    </a:lnTo>
                    <a:lnTo>
                      <a:pt x="34" y="52"/>
                    </a:lnTo>
                    <a:lnTo>
                      <a:pt x="44" y="50"/>
                    </a:lnTo>
                    <a:lnTo>
                      <a:pt x="55" y="47"/>
                    </a:lnTo>
                    <a:lnTo>
                      <a:pt x="66" y="43"/>
                    </a:lnTo>
                    <a:lnTo>
                      <a:pt x="77" y="40"/>
                    </a:lnTo>
                    <a:lnTo>
                      <a:pt x="93" y="35"/>
                    </a:lnTo>
                    <a:lnTo>
                      <a:pt x="107" y="29"/>
                    </a:lnTo>
                    <a:lnTo>
                      <a:pt x="120" y="24"/>
                    </a:lnTo>
                    <a:lnTo>
                      <a:pt x="133" y="18"/>
                    </a:lnTo>
                    <a:lnTo>
                      <a:pt x="145" y="14"/>
                    </a:lnTo>
                    <a:lnTo>
                      <a:pt x="154" y="8"/>
                    </a:lnTo>
                    <a:lnTo>
                      <a:pt x="162" y="3"/>
                    </a:lnTo>
                    <a:lnTo>
                      <a:pt x="170" y="0"/>
                    </a:lnTo>
                    <a:lnTo>
                      <a:pt x="155" y="1"/>
                    </a:lnTo>
                    <a:lnTo>
                      <a:pt x="148" y="5"/>
                    </a:lnTo>
                    <a:lnTo>
                      <a:pt x="140" y="9"/>
                    </a:lnTo>
                    <a:lnTo>
                      <a:pt x="131" y="14"/>
                    </a:lnTo>
                    <a:lnTo>
                      <a:pt x="120" y="17"/>
                    </a:lnTo>
                    <a:lnTo>
                      <a:pt x="109" y="22"/>
                    </a:lnTo>
                    <a:lnTo>
                      <a:pt x="99" y="27"/>
                    </a:lnTo>
                    <a:lnTo>
                      <a:pt x="87" y="30"/>
                    </a:lnTo>
                    <a:lnTo>
                      <a:pt x="74" y="35"/>
                    </a:lnTo>
                    <a:lnTo>
                      <a:pt x="63" y="38"/>
                    </a:lnTo>
                    <a:lnTo>
                      <a:pt x="53" y="42"/>
                    </a:lnTo>
                    <a:lnTo>
                      <a:pt x="43" y="44"/>
                    </a:lnTo>
                    <a:lnTo>
                      <a:pt x="34" y="47"/>
                    </a:lnTo>
                    <a:lnTo>
                      <a:pt x="24" y="49"/>
                    </a:lnTo>
                    <a:lnTo>
                      <a:pt x="15" y="51"/>
                    </a:lnTo>
                    <a:lnTo>
                      <a:pt x="7" y="54"/>
                    </a:lnTo>
                    <a:lnTo>
                      <a:pt x="0" y="55"/>
                    </a:lnTo>
                    <a:lnTo>
                      <a:pt x="0" y="60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2" name="Freeform 62">
                <a:extLst>
                  <a:ext uri="{FF2B5EF4-FFF2-40B4-BE49-F238E27FC236}">
                    <a16:creationId xmlns:a16="http://schemas.microsoft.com/office/drawing/2014/main" id="{33344146-DEFD-20E5-6743-36FDC2323C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3" y="1467"/>
                <a:ext cx="211" cy="90"/>
              </a:xfrm>
              <a:custGeom>
                <a:avLst/>
                <a:gdLst>
                  <a:gd name="T0" fmla="*/ 206 w 211"/>
                  <a:gd name="T1" fmla="*/ 0 h 90"/>
                  <a:gd name="T2" fmla="*/ 202 w 211"/>
                  <a:gd name="T3" fmla="*/ 4 h 90"/>
                  <a:gd name="T4" fmla="*/ 197 w 211"/>
                  <a:gd name="T5" fmla="*/ 9 h 90"/>
                  <a:gd name="T6" fmla="*/ 187 w 211"/>
                  <a:gd name="T7" fmla="*/ 16 h 90"/>
                  <a:gd name="T8" fmla="*/ 174 w 211"/>
                  <a:gd name="T9" fmla="*/ 23 h 90"/>
                  <a:gd name="T10" fmla="*/ 160 w 211"/>
                  <a:gd name="T11" fmla="*/ 31 h 90"/>
                  <a:gd name="T12" fmla="*/ 143 w 211"/>
                  <a:gd name="T13" fmla="*/ 38 h 90"/>
                  <a:gd name="T14" fmla="*/ 126 w 211"/>
                  <a:gd name="T15" fmla="*/ 46 h 90"/>
                  <a:gd name="T16" fmla="*/ 106 w 211"/>
                  <a:gd name="T17" fmla="*/ 55 h 90"/>
                  <a:gd name="T18" fmla="*/ 88 w 211"/>
                  <a:gd name="T19" fmla="*/ 63 h 90"/>
                  <a:gd name="T20" fmla="*/ 70 w 211"/>
                  <a:gd name="T21" fmla="*/ 69 h 90"/>
                  <a:gd name="T22" fmla="*/ 54 w 211"/>
                  <a:gd name="T23" fmla="*/ 73 h 90"/>
                  <a:gd name="T24" fmla="*/ 38 w 211"/>
                  <a:gd name="T25" fmla="*/ 78 h 90"/>
                  <a:gd name="T26" fmla="*/ 25 w 211"/>
                  <a:gd name="T27" fmla="*/ 81 h 90"/>
                  <a:gd name="T28" fmla="*/ 15 w 211"/>
                  <a:gd name="T29" fmla="*/ 83 h 90"/>
                  <a:gd name="T30" fmla="*/ 7 w 211"/>
                  <a:gd name="T31" fmla="*/ 84 h 90"/>
                  <a:gd name="T32" fmla="*/ 1 w 211"/>
                  <a:gd name="T33" fmla="*/ 84 h 90"/>
                  <a:gd name="T34" fmla="*/ 1 w 211"/>
                  <a:gd name="T35" fmla="*/ 84 h 90"/>
                  <a:gd name="T36" fmla="*/ 1 w 211"/>
                  <a:gd name="T37" fmla="*/ 84 h 90"/>
                  <a:gd name="T38" fmla="*/ 0 w 211"/>
                  <a:gd name="T39" fmla="*/ 85 h 90"/>
                  <a:gd name="T40" fmla="*/ 0 w 211"/>
                  <a:gd name="T41" fmla="*/ 85 h 90"/>
                  <a:gd name="T42" fmla="*/ 0 w 211"/>
                  <a:gd name="T43" fmla="*/ 85 h 90"/>
                  <a:gd name="T44" fmla="*/ 0 w 211"/>
                  <a:gd name="T45" fmla="*/ 85 h 90"/>
                  <a:gd name="T46" fmla="*/ 0 w 211"/>
                  <a:gd name="T47" fmla="*/ 85 h 90"/>
                  <a:gd name="T48" fmla="*/ 0 w 211"/>
                  <a:gd name="T49" fmla="*/ 86 h 90"/>
                  <a:gd name="T50" fmla="*/ 3 w 211"/>
                  <a:gd name="T51" fmla="*/ 89 h 90"/>
                  <a:gd name="T52" fmla="*/ 10 w 211"/>
                  <a:gd name="T53" fmla="*/ 89 h 90"/>
                  <a:gd name="T54" fmla="*/ 21 w 211"/>
                  <a:gd name="T55" fmla="*/ 87 h 90"/>
                  <a:gd name="T56" fmla="*/ 34 w 211"/>
                  <a:gd name="T57" fmla="*/ 85 h 90"/>
                  <a:gd name="T58" fmla="*/ 50 w 211"/>
                  <a:gd name="T59" fmla="*/ 80 h 90"/>
                  <a:gd name="T60" fmla="*/ 68 w 211"/>
                  <a:gd name="T61" fmla="*/ 74 h 90"/>
                  <a:gd name="T62" fmla="*/ 88 w 211"/>
                  <a:gd name="T63" fmla="*/ 67 h 90"/>
                  <a:gd name="T64" fmla="*/ 109 w 211"/>
                  <a:gd name="T65" fmla="*/ 59 h 90"/>
                  <a:gd name="T66" fmla="*/ 130 w 211"/>
                  <a:gd name="T67" fmla="*/ 51 h 90"/>
                  <a:gd name="T68" fmla="*/ 149 w 211"/>
                  <a:gd name="T69" fmla="*/ 42 h 90"/>
                  <a:gd name="T70" fmla="*/ 167 w 211"/>
                  <a:gd name="T71" fmla="*/ 33 h 90"/>
                  <a:gd name="T72" fmla="*/ 182 w 211"/>
                  <a:gd name="T73" fmla="*/ 25 h 90"/>
                  <a:gd name="T74" fmla="*/ 194 w 211"/>
                  <a:gd name="T75" fmla="*/ 18 h 90"/>
                  <a:gd name="T76" fmla="*/ 202 w 211"/>
                  <a:gd name="T77" fmla="*/ 11 h 90"/>
                  <a:gd name="T78" fmla="*/ 208 w 211"/>
                  <a:gd name="T79" fmla="*/ 5 h 90"/>
                  <a:gd name="T80" fmla="*/ 210 w 211"/>
                  <a:gd name="T81" fmla="*/ 2 h 90"/>
                  <a:gd name="T82" fmla="*/ 210 w 211"/>
                  <a:gd name="T83" fmla="*/ 1 h 90"/>
                  <a:gd name="T84" fmla="*/ 210 w 211"/>
                  <a:gd name="T85" fmla="*/ 1 h 90"/>
                  <a:gd name="T86" fmla="*/ 208 w 211"/>
                  <a:gd name="T87" fmla="*/ 1 h 90"/>
                  <a:gd name="T88" fmla="*/ 208 w 211"/>
                  <a:gd name="T89" fmla="*/ 0 h 90"/>
                  <a:gd name="T90" fmla="*/ 208 w 211"/>
                  <a:gd name="T91" fmla="*/ 0 h 90"/>
                  <a:gd name="T92" fmla="*/ 207 w 211"/>
                  <a:gd name="T93" fmla="*/ 0 h 90"/>
                  <a:gd name="T94" fmla="*/ 207 w 211"/>
                  <a:gd name="T95" fmla="*/ 0 h 90"/>
                  <a:gd name="T96" fmla="*/ 206 w 211"/>
                  <a:gd name="T97" fmla="*/ 0 h 90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211" h="90">
                    <a:moveTo>
                      <a:pt x="206" y="0"/>
                    </a:moveTo>
                    <a:lnTo>
                      <a:pt x="202" y="4"/>
                    </a:lnTo>
                    <a:lnTo>
                      <a:pt x="197" y="9"/>
                    </a:lnTo>
                    <a:lnTo>
                      <a:pt x="187" y="16"/>
                    </a:lnTo>
                    <a:lnTo>
                      <a:pt x="174" y="23"/>
                    </a:lnTo>
                    <a:lnTo>
                      <a:pt x="160" y="31"/>
                    </a:lnTo>
                    <a:lnTo>
                      <a:pt x="143" y="38"/>
                    </a:lnTo>
                    <a:lnTo>
                      <a:pt x="126" y="46"/>
                    </a:lnTo>
                    <a:lnTo>
                      <a:pt x="106" y="55"/>
                    </a:lnTo>
                    <a:lnTo>
                      <a:pt x="88" y="63"/>
                    </a:lnTo>
                    <a:lnTo>
                      <a:pt x="70" y="69"/>
                    </a:lnTo>
                    <a:lnTo>
                      <a:pt x="54" y="73"/>
                    </a:lnTo>
                    <a:lnTo>
                      <a:pt x="38" y="78"/>
                    </a:lnTo>
                    <a:lnTo>
                      <a:pt x="25" y="81"/>
                    </a:lnTo>
                    <a:lnTo>
                      <a:pt x="15" y="83"/>
                    </a:lnTo>
                    <a:lnTo>
                      <a:pt x="7" y="84"/>
                    </a:lnTo>
                    <a:lnTo>
                      <a:pt x="1" y="84"/>
                    </a:lnTo>
                    <a:lnTo>
                      <a:pt x="0" y="85"/>
                    </a:lnTo>
                    <a:lnTo>
                      <a:pt x="0" y="86"/>
                    </a:lnTo>
                    <a:lnTo>
                      <a:pt x="3" y="89"/>
                    </a:lnTo>
                    <a:lnTo>
                      <a:pt x="10" y="89"/>
                    </a:lnTo>
                    <a:lnTo>
                      <a:pt x="21" y="87"/>
                    </a:lnTo>
                    <a:lnTo>
                      <a:pt x="34" y="85"/>
                    </a:lnTo>
                    <a:lnTo>
                      <a:pt x="50" y="80"/>
                    </a:lnTo>
                    <a:lnTo>
                      <a:pt x="68" y="74"/>
                    </a:lnTo>
                    <a:lnTo>
                      <a:pt x="88" y="67"/>
                    </a:lnTo>
                    <a:lnTo>
                      <a:pt x="109" y="59"/>
                    </a:lnTo>
                    <a:lnTo>
                      <a:pt x="130" y="51"/>
                    </a:lnTo>
                    <a:lnTo>
                      <a:pt x="149" y="42"/>
                    </a:lnTo>
                    <a:lnTo>
                      <a:pt x="167" y="33"/>
                    </a:lnTo>
                    <a:lnTo>
                      <a:pt x="182" y="25"/>
                    </a:lnTo>
                    <a:lnTo>
                      <a:pt x="194" y="18"/>
                    </a:lnTo>
                    <a:lnTo>
                      <a:pt x="202" y="11"/>
                    </a:lnTo>
                    <a:lnTo>
                      <a:pt x="208" y="5"/>
                    </a:lnTo>
                    <a:lnTo>
                      <a:pt x="210" y="2"/>
                    </a:lnTo>
                    <a:lnTo>
                      <a:pt x="210" y="1"/>
                    </a:lnTo>
                    <a:lnTo>
                      <a:pt x="208" y="1"/>
                    </a:lnTo>
                    <a:lnTo>
                      <a:pt x="208" y="0"/>
                    </a:lnTo>
                    <a:lnTo>
                      <a:pt x="207" y="0"/>
                    </a:lnTo>
                    <a:lnTo>
                      <a:pt x="206" y="0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3" name="Freeform 63">
                <a:extLst>
                  <a:ext uri="{FF2B5EF4-FFF2-40B4-BE49-F238E27FC236}">
                    <a16:creationId xmlns:a16="http://schemas.microsoft.com/office/drawing/2014/main" id="{D57DCAAD-6A41-D2AF-4EDB-489DEC1FE5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3" y="1434"/>
                <a:ext cx="211" cy="92"/>
              </a:xfrm>
              <a:custGeom>
                <a:avLst/>
                <a:gdLst>
                  <a:gd name="T0" fmla="*/ 206 w 211"/>
                  <a:gd name="T1" fmla="*/ 0 h 92"/>
                  <a:gd name="T2" fmla="*/ 202 w 211"/>
                  <a:gd name="T3" fmla="*/ 4 h 92"/>
                  <a:gd name="T4" fmla="*/ 197 w 211"/>
                  <a:gd name="T5" fmla="*/ 10 h 92"/>
                  <a:gd name="T6" fmla="*/ 187 w 211"/>
                  <a:gd name="T7" fmla="*/ 17 h 92"/>
                  <a:gd name="T8" fmla="*/ 174 w 211"/>
                  <a:gd name="T9" fmla="*/ 24 h 92"/>
                  <a:gd name="T10" fmla="*/ 160 w 211"/>
                  <a:gd name="T11" fmla="*/ 31 h 92"/>
                  <a:gd name="T12" fmla="*/ 143 w 211"/>
                  <a:gd name="T13" fmla="*/ 40 h 92"/>
                  <a:gd name="T14" fmla="*/ 126 w 211"/>
                  <a:gd name="T15" fmla="*/ 48 h 92"/>
                  <a:gd name="T16" fmla="*/ 106 w 211"/>
                  <a:gd name="T17" fmla="*/ 56 h 92"/>
                  <a:gd name="T18" fmla="*/ 88 w 211"/>
                  <a:gd name="T19" fmla="*/ 63 h 92"/>
                  <a:gd name="T20" fmla="*/ 70 w 211"/>
                  <a:gd name="T21" fmla="*/ 70 h 92"/>
                  <a:gd name="T22" fmla="*/ 54 w 211"/>
                  <a:gd name="T23" fmla="*/ 75 h 92"/>
                  <a:gd name="T24" fmla="*/ 38 w 211"/>
                  <a:gd name="T25" fmla="*/ 80 h 92"/>
                  <a:gd name="T26" fmla="*/ 25 w 211"/>
                  <a:gd name="T27" fmla="*/ 83 h 92"/>
                  <a:gd name="T28" fmla="*/ 15 w 211"/>
                  <a:gd name="T29" fmla="*/ 85 h 92"/>
                  <a:gd name="T30" fmla="*/ 7 w 211"/>
                  <a:gd name="T31" fmla="*/ 86 h 92"/>
                  <a:gd name="T32" fmla="*/ 1 w 211"/>
                  <a:gd name="T33" fmla="*/ 86 h 92"/>
                  <a:gd name="T34" fmla="*/ 1 w 211"/>
                  <a:gd name="T35" fmla="*/ 86 h 92"/>
                  <a:gd name="T36" fmla="*/ 1 w 211"/>
                  <a:gd name="T37" fmla="*/ 86 h 92"/>
                  <a:gd name="T38" fmla="*/ 0 w 211"/>
                  <a:gd name="T39" fmla="*/ 86 h 92"/>
                  <a:gd name="T40" fmla="*/ 0 w 211"/>
                  <a:gd name="T41" fmla="*/ 87 h 92"/>
                  <a:gd name="T42" fmla="*/ 0 w 211"/>
                  <a:gd name="T43" fmla="*/ 87 h 92"/>
                  <a:gd name="T44" fmla="*/ 0 w 211"/>
                  <a:gd name="T45" fmla="*/ 87 h 92"/>
                  <a:gd name="T46" fmla="*/ 0 w 211"/>
                  <a:gd name="T47" fmla="*/ 87 h 92"/>
                  <a:gd name="T48" fmla="*/ 0 w 211"/>
                  <a:gd name="T49" fmla="*/ 87 h 92"/>
                  <a:gd name="T50" fmla="*/ 3 w 211"/>
                  <a:gd name="T51" fmla="*/ 89 h 92"/>
                  <a:gd name="T52" fmla="*/ 10 w 211"/>
                  <a:gd name="T53" fmla="*/ 91 h 92"/>
                  <a:gd name="T54" fmla="*/ 21 w 211"/>
                  <a:gd name="T55" fmla="*/ 89 h 92"/>
                  <a:gd name="T56" fmla="*/ 34 w 211"/>
                  <a:gd name="T57" fmla="*/ 87 h 92"/>
                  <a:gd name="T58" fmla="*/ 50 w 211"/>
                  <a:gd name="T59" fmla="*/ 82 h 92"/>
                  <a:gd name="T60" fmla="*/ 68 w 211"/>
                  <a:gd name="T61" fmla="*/ 76 h 92"/>
                  <a:gd name="T62" fmla="*/ 88 w 211"/>
                  <a:gd name="T63" fmla="*/ 69 h 92"/>
                  <a:gd name="T64" fmla="*/ 109 w 211"/>
                  <a:gd name="T65" fmla="*/ 61 h 92"/>
                  <a:gd name="T66" fmla="*/ 130 w 211"/>
                  <a:gd name="T67" fmla="*/ 53 h 92"/>
                  <a:gd name="T68" fmla="*/ 149 w 211"/>
                  <a:gd name="T69" fmla="*/ 43 h 92"/>
                  <a:gd name="T70" fmla="*/ 167 w 211"/>
                  <a:gd name="T71" fmla="*/ 35 h 92"/>
                  <a:gd name="T72" fmla="*/ 182 w 211"/>
                  <a:gd name="T73" fmla="*/ 27 h 92"/>
                  <a:gd name="T74" fmla="*/ 194 w 211"/>
                  <a:gd name="T75" fmla="*/ 18 h 92"/>
                  <a:gd name="T76" fmla="*/ 202 w 211"/>
                  <a:gd name="T77" fmla="*/ 13 h 92"/>
                  <a:gd name="T78" fmla="*/ 208 w 211"/>
                  <a:gd name="T79" fmla="*/ 7 h 92"/>
                  <a:gd name="T80" fmla="*/ 210 w 211"/>
                  <a:gd name="T81" fmla="*/ 3 h 92"/>
                  <a:gd name="T82" fmla="*/ 210 w 211"/>
                  <a:gd name="T83" fmla="*/ 2 h 92"/>
                  <a:gd name="T84" fmla="*/ 210 w 211"/>
                  <a:gd name="T85" fmla="*/ 2 h 92"/>
                  <a:gd name="T86" fmla="*/ 208 w 211"/>
                  <a:gd name="T87" fmla="*/ 2 h 92"/>
                  <a:gd name="T88" fmla="*/ 208 w 211"/>
                  <a:gd name="T89" fmla="*/ 1 h 92"/>
                  <a:gd name="T90" fmla="*/ 208 w 211"/>
                  <a:gd name="T91" fmla="*/ 1 h 92"/>
                  <a:gd name="T92" fmla="*/ 207 w 211"/>
                  <a:gd name="T93" fmla="*/ 1 h 92"/>
                  <a:gd name="T94" fmla="*/ 207 w 211"/>
                  <a:gd name="T95" fmla="*/ 1 h 92"/>
                  <a:gd name="T96" fmla="*/ 206 w 211"/>
                  <a:gd name="T97" fmla="*/ 0 h 9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211" h="92">
                    <a:moveTo>
                      <a:pt x="206" y="0"/>
                    </a:moveTo>
                    <a:lnTo>
                      <a:pt x="202" y="4"/>
                    </a:lnTo>
                    <a:lnTo>
                      <a:pt x="197" y="10"/>
                    </a:lnTo>
                    <a:lnTo>
                      <a:pt x="187" y="17"/>
                    </a:lnTo>
                    <a:lnTo>
                      <a:pt x="174" y="24"/>
                    </a:lnTo>
                    <a:lnTo>
                      <a:pt x="160" y="31"/>
                    </a:lnTo>
                    <a:lnTo>
                      <a:pt x="143" y="40"/>
                    </a:lnTo>
                    <a:lnTo>
                      <a:pt x="126" y="48"/>
                    </a:lnTo>
                    <a:lnTo>
                      <a:pt x="106" y="56"/>
                    </a:lnTo>
                    <a:lnTo>
                      <a:pt x="88" y="63"/>
                    </a:lnTo>
                    <a:lnTo>
                      <a:pt x="70" y="70"/>
                    </a:lnTo>
                    <a:lnTo>
                      <a:pt x="54" y="75"/>
                    </a:lnTo>
                    <a:lnTo>
                      <a:pt x="38" y="80"/>
                    </a:lnTo>
                    <a:lnTo>
                      <a:pt x="25" y="83"/>
                    </a:lnTo>
                    <a:lnTo>
                      <a:pt x="15" y="85"/>
                    </a:lnTo>
                    <a:lnTo>
                      <a:pt x="7" y="86"/>
                    </a:lnTo>
                    <a:lnTo>
                      <a:pt x="1" y="86"/>
                    </a:lnTo>
                    <a:lnTo>
                      <a:pt x="0" y="86"/>
                    </a:lnTo>
                    <a:lnTo>
                      <a:pt x="0" y="87"/>
                    </a:lnTo>
                    <a:lnTo>
                      <a:pt x="3" y="89"/>
                    </a:lnTo>
                    <a:lnTo>
                      <a:pt x="10" y="91"/>
                    </a:lnTo>
                    <a:lnTo>
                      <a:pt x="21" y="89"/>
                    </a:lnTo>
                    <a:lnTo>
                      <a:pt x="34" y="87"/>
                    </a:lnTo>
                    <a:lnTo>
                      <a:pt x="50" y="82"/>
                    </a:lnTo>
                    <a:lnTo>
                      <a:pt x="68" y="76"/>
                    </a:lnTo>
                    <a:lnTo>
                      <a:pt x="88" y="69"/>
                    </a:lnTo>
                    <a:lnTo>
                      <a:pt x="109" y="61"/>
                    </a:lnTo>
                    <a:lnTo>
                      <a:pt x="130" y="53"/>
                    </a:lnTo>
                    <a:lnTo>
                      <a:pt x="149" y="43"/>
                    </a:lnTo>
                    <a:lnTo>
                      <a:pt x="167" y="35"/>
                    </a:lnTo>
                    <a:lnTo>
                      <a:pt x="182" y="27"/>
                    </a:lnTo>
                    <a:lnTo>
                      <a:pt x="194" y="18"/>
                    </a:lnTo>
                    <a:lnTo>
                      <a:pt x="202" y="13"/>
                    </a:lnTo>
                    <a:lnTo>
                      <a:pt x="208" y="7"/>
                    </a:lnTo>
                    <a:lnTo>
                      <a:pt x="210" y="3"/>
                    </a:lnTo>
                    <a:lnTo>
                      <a:pt x="210" y="2"/>
                    </a:lnTo>
                    <a:lnTo>
                      <a:pt x="208" y="2"/>
                    </a:lnTo>
                    <a:lnTo>
                      <a:pt x="208" y="1"/>
                    </a:lnTo>
                    <a:lnTo>
                      <a:pt x="207" y="1"/>
                    </a:lnTo>
                    <a:lnTo>
                      <a:pt x="206" y="0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4" name="Freeform 64">
                <a:extLst>
                  <a:ext uri="{FF2B5EF4-FFF2-40B4-BE49-F238E27FC236}">
                    <a16:creationId xmlns:a16="http://schemas.microsoft.com/office/drawing/2014/main" id="{390F9F52-EB73-EA48-D1BD-7CBF4C4FE3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" y="892"/>
                <a:ext cx="457" cy="570"/>
              </a:xfrm>
              <a:custGeom>
                <a:avLst/>
                <a:gdLst>
                  <a:gd name="T0" fmla="*/ 451 w 457"/>
                  <a:gd name="T1" fmla="*/ 151 h 570"/>
                  <a:gd name="T2" fmla="*/ 417 w 457"/>
                  <a:gd name="T3" fmla="*/ 75 h 570"/>
                  <a:gd name="T4" fmla="*/ 355 w 457"/>
                  <a:gd name="T5" fmla="*/ 22 h 570"/>
                  <a:gd name="T6" fmla="*/ 274 w 457"/>
                  <a:gd name="T7" fmla="*/ 0 h 570"/>
                  <a:gd name="T8" fmla="*/ 181 w 457"/>
                  <a:gd name="T9" fmla="*/ 12 h 570"/>
                  <a:gd name="T10" fmla="*/ 100 w 457"/>
                  <a:gd name="T11" fmla="*/ 58 h 570"/>
                  <a:gd name="T12" fmla="*/ 38 w 457"/>
                  <a:gd name="T13" fmla="*/ 129 h 570"/>
                  <a:gd name="T14" fmla="*/ 4 w 457"/>
                  <a:gd name="T15" fmla="*/ 216 h 570"/>
                  <a:gd name="T16" fmla="*/ 1 w 457"/>
                  <a:gd name="T17" fmla="*/ 289 h 570"/>
                  <a:gd name="T18" fmla="*/ 14 w 457"/>
                  <a:gd name="T19" fmla="*/ 340 h 570"/>
                  <a:gd name="T20" fmla="*/ 37 w 457"/>
                  <a:gd name="T21" fmla="*/ 382 h 570"/>
                  <a:gd name="T22" fmla="*/ 70 w 457"/>
                  <a:gd name="T23" fmla="*/ 417 h 570"/>
                  <a:gd name="T24" fmla="*/ 89 w 457"/>
                  <a:gd name="T25" fmla="*/ 431 h 570"/>
                  <a:gd name="T26" fmla="*/ 89 w 457"/>
                  <a:gd name="T27" fmla="*/ 432 h 570"/>
                  <a:gd name="T28" fmla="*/ 93 w 457"/>
                  <a:gd name="T29" fmla="*/ 434 h 570"/>
                  <a:gd name="T30" fmla="*/ 100 w 457"/>
                  <a:gd name="T31" fmla="*/ 441 h 570"/>
                  <a:gd name="T32" fmla="*/ 114 w 457"/>
                  <a:gd name="T33" fmla="*/ 454 h 570"/>
                  <a:gd name="T34" fmla="*/ 120 w 457"/>
                  <a:gd name="T35" fmla="*/ 460 h 570"/>
                  <a:gd name="T36" fmla="*/ 124 w 457"/>
                  <a:gd name="T37" fmla="*/ 467 h 570"/>
                  <a:gd name="T38" fmla="*/ 128 w 457"/>
                  <a:gd name="T39" fmla="*/ 474 h 570"/>
                  <a:gd name="T40" fmla="*/ 129 w 457"/>
                  <a:gd name="T41" fmla="*/ 481 h 570"/>
                  <a:gd name="T42" fmla="*/ 130 w 457"/>
                  <a:gd name="T43" fmla="*/ 552 h 570"/>
                  <a:gd name="T44" fmla="*/ 130 w 457"/>
                  <a:gd name="T45" fmla="*/ 557 h 570"/>
                  <a:gd name="T46" fmla="*/ 131 w 457"/>
                  <a:gd name="T47" fmla="*/ 560 h 570"/>
                  <a:gd name="T48" fmla="*/ 131 w 457"/>
                  <a:gd name="T49" fmla="*/ 564 h 570"/>
                  <a:gd name="T50" fmla="*/ 133 w 457"/>
                  <a:gd name="T51" fmla="*/ 567 h 570"/>
                  <a:gd name="T52" fmla="*/ 149 w 457"/>
                  <a:gd name="T53" fmla="*/ 569 h 570"/>
                  <a:gd name="T54" fmla="*/ 172 w 457"/>
                  <a:gd name="T55" fmla="*/ 569 h 570"/>
                  <a:gd name="T56" fmla="*/ 197 w 457"/>
                  <a:gd name="T57" fmla="*/ 566 h 570"/>
                  <a:gd name="T58" fmla="*/ 227 w 457"/>
                  <a:gd name="T59" fmla="*/ 563 h 570"/>
                  <a:gd name="T60" fmla="*/ 256 w 457"/>
                  <a:gd name="T61" fmla="*/ 558 h 570"/>
                  <a:gd name="T62" fmla="*/ 283 w 457"/>
                  <a:gd name="T63" fmla="*/ 552 h 570"/>
                  <a:gd name="T64" fmla="*/ 306 w 457"/>
                  <a:gd name="T65" fmla="*/ 546 h 570"/>
                  <a:gd name="T66" fmla="*/ 322 w 457"/>
                  <a:gd name="T67" fmla="*/ 540 h 570"/>
                  <a:gd name="T68" fmla="*/ 324 w 457"/>
                  <a:gd name="T69" fmla="*/ 537 h 570"/>
                  <a:gd name="T70" fmla="*/ 324 w 457"/>
                  <a:gd name="T71" fmla="*/ 532 h 570"/>
                  <a:gd name="T72" fmla="*/ 325 w 457"/>
                  <a:gd name="T73" fmla="*/ 528 h 570"/>
                  <a:gd name="T74" fmla="*/ 325 w 457"/>
                  <a:gd name="T75" fmla="*/ 524 h 570"/>
                  <a:gd name="T76" fmla="*/ 325 w 457"/>
                  <a:gd name="T77" fmla="*/ 453 h 570"/>
                  <a:gd name="T78" fmla="*/ 327 w 457"/>
                  <a:gd name="T79" fmla="*/ 446 h 570"/>
                  <a:gd name="T80" fmla="*/ 331 w 457"/>
                  <a:gd name="T81" fmla="*/ 438 h 570"/>
                  <a:gd name="T82" fmla="*/ 335 w 457"/>
                  <a:gd name="T83" fmla="*/ 429 h 570"/>
                  <a:gd name="T84" fmla="*/ 341 w 457"/>
                  <a:gd name="T85" fmla="*/ 421 h 570"/>
                  <a:gd name="T86" fmla="*/ 355 w 457"/>
                  <a:gd name="T87" fmla="*/ 404 h 570"/>
                  <a:gd name="T88" fmla="*/ 362 w 457"/>
                  <a:gd name="T89" fmla="*/ 395 h 570"/>
                  <a:gd name="T90" fmla="*/ 366 w 457"/>
                  <a:gd name="T91" fmla="*/ 392 h 570"/>
                  <a:gd name="T92" fmla="*/ 366 w 457"/>
                  <a:gd name="T93" fmla="*/ 391 h 570"/>
                  <a:gd name="T94" fmla="*/ 385 w 457"/>
                  <a:gd name="T95" fmla="*/ 372 h 570"/>
                  <a:gd name="T96" fmla="*/ 418 w 457"/>
                  <a:gd name="T97" fmla="*/ 327 h 570"/>
                  <a:gd name="T98" fmla="*/ 441 w 457"/>
                  <a:gd name="T99" fmla="*/ 278 h 570"/>
                  <a:gd name="T100" fmla="*/ 454 w 457"/>
                  <a:gd name="T101" fmla="*/ 225 h 57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457" h="570">
                    <a:moveTo>
                      <a:pt x="456" y="196"/>
                    </a:moveTo>
                    <a:lnTo>
                      <a:pt x="451" y="151"/>
                    </a:lnTo>
                    <a:lnTo>
                      <a:pt x="438" y="110"/>
                    </a:lnTo>
                    <a:lnTo>
                      <a:pt x="417" y="75"/>
                    </a:lnTo>
                    <a:lnTo>
                      <a:pt x="388" y="45"/>
                    </a:lnTo>
                    <a:lnTo>
                      <a:pt x="355" y="22"/>
                    </a:lnTo>
                    <a:lnTo>
                      <a:pt x="316" y="7"/>
                    </a:lnTo>
                    <a:lnTo>
                      <a:pt x="274" y="0"/>
                    </a:lnTo>
                    <a:lnTo>
                      <a:pt x="227" y="2"/>
                    </a:lnTo>
                    <a:lnTo>
                      <a:pt x="181" y="12"/>
                    </a:lnTo>
                    <a:lnTo>
                      <a:pt x="139" y="32"/>
                    </a:lnTo>
                    <a:lnTo>
                      <a:pt x="100" y="58"/>
                    </a:lnTo>
                    <a:lnTo>
                      <a:pt x="65" y="91"/>
                    </a:lnTo>
                    <a:lnTo>
                      <a:pt x="38" y="129"/>
                    </a:lnTo>
                    <a:lnTo>
                      <a:pt x="17" y="171"/>
                    </a:lnTo>
                    <a:lnTo>
                      <a:pt x="4" y="216"/>
                    </a:lnTo>
                    <a:lnTo>
                      <a:pt x="0" y="262"/>
                    </a:lnTo>
                    <a:lnTo>
                      <a:pt x="1" y="289"/>
                    </a:lnTo>
                    <a:lnTo>
                      <a:pt x="5" y="315"/>
                    </a:lnTo>
                    <a:lnTo>
                      <a:pt x="14" y="340"/>
                    </a:lnTo>
                    <a:lnTo>
                      <a:pt x="24" y="362"/>
                    </a:lnTo>
                    <a:lnTo>
                      <a:pt x="37" y="382"/>
                    </a:lnTo>
                    <a:lnTo>
                      <a:pt x="53" y="401"/>
                    </a:lnTo>
                    <a:lnTo>
                      <a:pt x="70" y="417"/>
                    </a:lnTo>
                    <a:lnTo>
                      <a:pt x="90" y="431"/>
                    </a:lnTo>
                    <a:lnTo>
                      <a:pt x="89" y="431"/>
                    </a:lnTo>
                    <a:lnTo>
                      <a:pt x="89" y="432"/>
                    </a:lnTo>
                    <a:lnTo>
                      <a:pt x="90" y="432"/>
                    </a:lnTo>
                    <a:lnTo>
                      <a:pt x="93" y="434"/>
                    </a:lnTo>
                    <a:lnTo>
                      <a:pt x="95" y="437"/>
                    </a:lnTo>
                    <a:lnTo>
                      <a:pt x="100" y="441"/>
                    </a:lnTo>
                    <a:lnTo>
                      <a:pt x="106" y="446"/>
                    </a:lnTo>
                    <a:lnTo>
                      <a:pt x="114" y="454"/>
                    </a:lnTo>
                    <a:lnTo>
                      <a:pt x="116" y="458"/>
                    </a:lnTo>
                    <a:lnTo>
                      <a:pt x="120" y="460"/>
                    </a:lnTo>
                    <a:lnTo>
                      <a:pt x="122" y="464"/>
                    </a:lnTo>
                    <a:lnTo>
                      <a:pt x="124" y="467"/>
                    </a:lnTo>
                    <a:lnTo>
                      <a:pt x="126" y="471"/>
                    </a:lnTo>
                    <a:lnTo>
                      <a:pt x="128" y="474"/>
                    </a:lnTo>
                    <a:lnTo>
                      <a:pt x="129" y="478"/>
                    </a:lnTo>
                    <a:lnTo>
                      <a:pt x="129" y="481"/>
                    </a:lnTo>
                    <a:lnTo>
                      <a:pt x="129" y="552"/>
                    </a:lnTo>
                    <a:lnTo>
                      <a:pt x="130" y="552"/>
                    </a:lnTo>
                    <a:lnTo>
                      <a:pt x="130" y="554"/>
                    </a:lnTo>
                    <a:lnTo>
                      <a:pt x="130" y="557"/>
                    </a:lnTo>
                    <a:lnTo>
                      <a:pt x="130" y="558"/>
                    </a:lnTo>
                    <a:lnTo>
                      <a:pt x="131" y="560"/>
                    </a:lnTo>
                    <a:lnTo>
                      <a:pt x="131" y="561"/>
                    </a:lnTo>
                    <a:lnTo>
                      <a:pt x="131" y="564"/>
                    </a:lnTo>
                    <a:lnTo>
                      <a:pt x="133" y="566"/>
                    </a:lnTo>
                    <a:lnTo>
                      <a:pt x="133" y="567"/>
                    </a:lnTo>
                    <a:lnTo>
                      <a:pt x="141" y="569"/>
                    </a:lnTo>
                    <a:lnTo>
                      <a:pt x="149" y="569"/>
                    </a:lnTo>
                    <a:lnTo>
                      <a:pt x="160" y="569"/>
                    </a:lnTo>
                    <a:lnTo>
                      <a:pt x="172" y="569"/>
                    </a:lnTo>
                    <a:lnTo>
                      <a:pt x="184" y="567"/>
                    </a:lnTo>
                    <a:lnTo>
                      <a:pt x="197" y="566"/>
                    </a:lnTo>
                    <a:lnTo>
                      <a:pt x="213" y="565"/>
                    </a:lnTo>
                    <a:lnTo>
                      <a:pt x="227" y="563"/>
                    </a:lnTo>
                    <a:lnTo>
                      <a:pt x="242" y="560"/>
                    </a:lnTo>
                    <a:lnTo>
                      <a:pt x="256" y="558"/>
                    </a:lnTo>
                    <a:lnTo>
                      <a:pt x="271" y="554"/>
                    </a:lnTo>
                    <a:lnTo>
                      <a:pt x="283" y="552"/>
                    </a:lnTo>
                    <a:lnTo>
                      <a:pt x="295" y="550"/>
                    </a:lnTo>
                    <a:lnTo>
                      <a:pt x="306" y="546"/>
                    </a:lnTo>
                    <a:lnTo>
                      <a:pt x="314" y="543"/>
                    </a:lnTo>
                    <a:lnTo>
                      <a:pt x="322" y="540"/>
                    </a:lnTo>
                    <a:lnTo>
                      <a:pt x="322" y="538"/>
                    </a:lnTo>
                    <a:lnTo>
                      <a:pt x="324" y="537"/>
                    </a:lnTo>
                    <a:lnTo>
                      <a:pt x="324" y="534"/>
                    </a:lnTo>
                    <a:lnTo>
                      <a:pt x="324" y="532"/>
                    </a:lnTo>
                    <a:lnTo>
                      <a:pt x="325" y="530"/>
                    </a:lnTo>
                    <a:lnTo>
                      <a:pt x="325" y="528"/>
                    </a:lnTo>
                    <a:lnTo>
                      <a:pt x="325" y="526"/>
                    </a:lnTo>
                    <a:lnTo>
                      <a:pt x="325" y="524"/>
                    </a:lnTo>
                    <a:lnTo>
                      <a:pt x="325" y="453"/>
                    </a:lnTo>
                    <a:lnTo>
                      <a:pt x="326" y="450"/>
                    </a:lnTo>
                    <a:lnTo>
                      <a:pt x="327" y="446"/>
                    </a:lnTo>
                    <a:lnTo>
                      <a:pt x="328" y="441"/>
                    </a:lnTo>
                    <a:lnTo>
                      <a:pt x="331" y="438"/>
                    </a:lnTo>
                    <a:lnTo>
                      <a:pt x="333" y="434"/>
                    </a:lnTo>
                    <a:lnTo>
                      <a:pt x="335" y="429"/>
                    </a:lnTo>
                    <a:lnTo>
                      <a:pt x="338" y="425"/>
                    </a:lnTo>
                    <a:lnTo>
                      <a:pt x="341" y="421"/>
                    </a:lnTo>
                    <a:lnTo>
                      <a:pt x="349" y="411"/>
                    </a:lnTo>
                    <a:lnTo>
                      <a:pt x="355" y="404"/>
                    </a:lnTo>
                    <a:lnTo>
                      <a:pt x="360" y="399"/>
                    </a:lnTo>
                    <a:lnTo>
                      <a:pt x="362" y="395"/>
                    </a:lnTo>
                    <a:lnTo>
                      <a:pt x="365" y="393"/>
                    </a:lnTo>
                    <a:lnTo>
                      <a:pt x="366" y="392"/>
                    </a:lnTo>
                    <a:lnTo>
                      <a:pt x="366" y="391"/>
                    </a:lnTo>
                    <a:lnTo>
                      <a:pt x="365" y="391"/>
                    </a:lnTo>
                    <a:lnTo>
                      <a:pt x="385" y="372"/>
                    </a:lnTo>
                    <a:lnTo>
                      <a:pt x="402" y="351"/>
                    </a:lnTo>
                    <a:lnTo>
                      <a:pt x="418" y="327"/>
                    </a:lnTo>
                    <a:lnTo>
                      <a:pt x="431" y="303"/>
                    </a:lnTo>
                    <a:lnTo>
                      <a:pt x="441" y="278"/>
                    </a:lnTo>
                    <a:lnTo>
                      <a:pt x="450" y="252"/>
                    </a:lnTo>
                    <a:lnTo>
                      <a:pt x="454" y="225"/>
                    </a:lnTo>
                    <a:lnTo>
                      <a:pt x="456" y="196"/>
                    </a:lnTo>
                  </a:path>
                </a:pathLst>
              </a:cu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5" name="Freeform 65">
                <a:extLst>
                  <a:ext uri="{FF2B5EF4-FFF2-40B4-BE49-F238E27FC236}">
                    <a16:creationId xmlns:a16="http://schemas.microsoft.com/office/drawing/2014/main" id="{C5F60ACA-FAF7-CE16-63AF-2E300D01D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6" y="928"/>
                <a:ext cx="233" cy="370"/>
              </a:xfrm>
              <a:custGeom>
                <a:avLst/>
                <a:gdLst>
                  <a:gd name="T0" fmla="*/ 41 w 233"/>
                  <a:gd name="T1" fmla="*/ 259 h 370"/>
                  <a:gd name="T2" fmla="*/ 44 w 233"/>
                  <a:gd name="T3" fmla="*/ 216 h 370"/>
                  <a:gd name="T4" fmla="*/ 56 w 233"/>
                  <a:gd name="T5" fmla="*/ 172 h 370"/>
                  <a:gd name="T6" fmla="*/ 73 w 233"/>
                  <a:gd name="T7" fmla="*/ 132 h 370"/>
                  <a:gd name="T8" fmla="*/ 97 w 233"/>
                  <a:gd name="T9" fmla="*/ 96 h 370"/>
                  <a:gd name="T10" fmla="*/ 124 w 233"/>
                  <a:gd name="T11" fmla="*/ 63 h 370"/>
                  <a:gd name="T12" fmla="*/ 157 w 233"/>
                  <a:gd name="T13" fmla="*/ 36 h 370"/>
                  <a:gd name="T14" fmla="*/ 192 w 233"/>
                  <a:gd name="T15" fmla="*/ 15 h 370"/>
                  <a:gd name="T16" fmla="*/ 232 w 233"/>
                  <a:gd name="T17" fmla="*/ 0 h 370"/>
                  <a:gd name="T18" fmla="*/ 228 w 233"/>
                  <a:gd name="T19" fmla="*/ 0 h 370"/>
                  <a:gd name="T20" fmla="*/ 224 w 233"/>
                  <a:gd name="T21" fmla="*/ 0 h 370"/>
                  <a:gd name="T22" fmla="*/ 220 w 233"/>
                  <a:gd name="T23" fmla="*/ 0 h 370"/>
                  <a:gd name="T24" fmla="*/ 216 w 233"/>
                  <a:gd name="T25" fmla="*/ 1 h 370"/>
                  <a:gd name="T26" fmla="*/ 213 w 233"/>
                  <a:gd name="T27" fmla="*/ 1 h 370"/>
                  <a:gd name="T28" fmla="*/ 208 w 233"/>
                  <a:gd name="T29" fmla="*/ 1 h 370"/>
                  <a:gd name="T30" fmla="*/ 204 w 233"/>
                  <a:gd name="T31" fmla="*/ 2 h 370"/>
                  <a:gd name="T32" fmla="*/ 200 w 233"/>
                  <a:gd name="T33" fmla="*/ 2 h 370"/>
                  <a:gd name="T34" fmla="*/ 159 w 233"/>
                  <a:gd name="T35" fmla="*/ 11 h 370"/>
                  <a:gd name="T36" fmla="*/ 123 w 233"/>
                  <a:gd name="T37" fmla="*/ 29 h 370"/>
                  <a:gd name="T38" fmla="*/ 88 w 233"/>
                  <a:gd name="T39" fmla="*/ 51 h 370"/>
                  <a:gd name="T40" fmla="*/ 59 w 233"/>
                  <a:gd name="T41" fmla="*/ 81 h 370"/>
                  <a:gd name="T42" fmla="*/ 34 w 233"/>
                  <a:gd name="T43" fmla="*/ 113 h 370"/>
                  <a:gd name="T44" fmla="*/ 16 w 233"/>
                  <a:gd name="T45" fmla="*/ 150 h 370"/>
                  <a:gd name="T46" fmla="*/ 4 w 233"/>
                  <a:gd name="T47" fmla="*/ 189 h 370"/>
                  <a:gd name="T48" fmla="*/ 0 w 233"/>
                  <a:gd name="T49" fmla="*/ 229 h 370"/>
                  <a:gd name="T50" fmla="*/ 1 w 233"/>
                  <a:gd name="T51" fmla="*/ 251 h 370"/>
                  <a:gd name="T52" fmla="*/ 4 w 233"/>
                  <a:gd name="T53" fmla="*/ 271 h 370"/>
                  <a:gd name="T54" fmla="*/ 10 w 233"/>
                  <a:gd name="T55" fmla="*/ 291 h 370"/>
                  <a:gd name="T56" fmla="*/ 18 w 233"/>
                  <a:gd name="T57" fmla="*/ 310 h 370"/>
                  <a:gd name="T58" fmla="*/ 28 w 233"/>
                  <a:gd name="T59" fmla="*/ 326 h 370"/>
                  <a:gd name="T60" fmla="*/ 40 w 233"/>
                  <a:gd name="T61" fmla="*/ 341 h 370"/>
                  <a:gd name="T62" fmla="*/ 53 w 233"/>
                  <a:gd name="T63" fmla="*/ 356 h 370"/>
                  <a:gd name="T64" fmla="*/ 68 w 233"/>
                  <a:gd name="T65" fmla="*/ 369 h 370"/>
                  <a:gd name="T66" fmla="*/ 62 w 233"/>
                  <a:gd name="T67" fmla="*/ 357 h 370"/>
                  <a:gd name="T68" fmla="*/ 56 w 233"/>
                  <a:gd name="T69" fmla="*/ 344 h 370"/>
                  <a:gd name="T70" fmla="*/ 52 w 233"/>
                  <a:gd name="T71" fmla="*/ 331 h 370"/>
                  <a:gd name="T72" fmla="*/ 48 w 233"/>
                  <a:gd name="T73" fmla="*/ 318 h 370"/>
                  <a:gd name="T74" fmla="*/ 44 w 233"/>
                  <a:gd name="T75" fmla="*/ 304 h 370"/>
                  <a:gd name="T76" fmla="*/ 43 w 233"/>
                  <a:gd name="T77" fmla="*/ 290 h 370"/>
                  <a:gd name="T78" fmla="*/ 42 w 233"/>
                  <a:gd name="T79" fmla="*/ 274 h 370"/>
                  <a:gd name="T80" fmla="*/ 41 w 233"/>
                  <a:gd name="T81" fmla="*/ 259 h 37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233" h="370">
                    <a:moveTo>
                      <a:pt x="41" y="259"/>
                    </a:moveTo>
                    <a:lnTo>
                      <a:pt x="44" y="216"/>
                    </a:lnTo>
                    <a:lnTo>
                      <a:pt x="56" y="172"/>
                    </a:lnTo>
                    <a:lnTo>
                      <a:pt x="73" y="132"/>
                    </a:lnTo>
                    <a:lnTo>
                      <a:pt x="97" y="96"/>
                    </a:lnTo>
                    <a:lnTo>
                      <a:pt x="124" y="63"/>
                    </a:lnTo>
                    <a:lnTo>
                      <a:pt x="157" y="36"/>
                    </a:lnTo>
                    <a:lnTo>
                      <a:pt x="192" y="15"/>
                    </a:lnTo>
                    <a:lnTo>
                      <a:pt x="232" y="0"/>
                    </a:lnTo>
                    <a:lnTo>
                      <a:pt x="228" y="0"/>
                    </a:lnTo>
                    <a:lnTo>
                      <a:pt x="224" y="0"/>
                    </a:lnTo>
                    <a:lnTo>
                      <a:pt x="220" y="0"/>
                    </a:lnTo>
                    <a:lnTo>
                      <a:pt x="216" y="1"/>
                    </a:lnTo>
                    <a:lnTo>
                      <a:pt x="213" y="1"/>
                    </a:lnTo>
                    <a:lnTo>
                      <a:pt x="208" y="1"/>
                    </a:lnTo>
                    <a:lnTo>
                      <a:pt x="204" y="2"/>
                    </a:lnTo>
                    <a:lnTo>
                      <a:pt x="200" y="2"/>
                    </a:lnTo>
                    <a:lnTo>
                      <a:pt x="159" y="11"/>
                    </a:lnTo>
                    <a:lnTo>
                      <a:pt x="123" y="29"/>
                    </a:lnTo>
                    <a:lnTo>
                      <a:pt x="88" y="51"/>
                    </a:lnTo>
                    <a:lnTo>
                      <a:pt x="59" y="81"/>
                    </a:lnTo>
                    <a:lnTo>
                      <a:pt x="34" y="113"/>
                    </a:lnTo>
                    <a:lnTo>
                      <a:pt x="16" y="150"/>
                    </a:lnTo>
                    <a:lnTo>
                      <a:pt x="4" y="189"/>
                    </a:lnTo>
                    <a:lnTo>
                      <a:pt x="0" y="229"/>
                    </a:lnTo>
                    <a:lnTo>
                      <a:pt x="1" y="251"/>
                    </a:lnTo>
                    <a:lnTo>
                      <a:pt x="4" y="271"/>
                    </a:lnTo>
                    <a:lnTo>
                      <a:pt x="10" y="291"/>
                    </a:lnTo>
                    <a:lnTo>
                      <a:pt x="18" y="310"/>
                    </a:lnTo>
                    <a:lnTo>
                      <a:pt x="28" y="326"/>
                    </a:lnTo>
                    <a:lnTo>
                      <a:pt x="40" y="341"/>
                    </a:lnTo>
                    <a:lnTo>
                      <a:pt x="53" y="356"/>
                    </a:lnTo>
                    <a:lnTo>
                      <a:pt x="68" y="369"/>
                    </a:lnTo>
                    <a:lnTo>
                      <a:pt x="62" y="357"/>
                    </a:lnTo>
                    <a:lnTo>
                      <a:pt x="56" y="344"/>
                    </a:lnTo>
                    <a:lnTo>
                      <a:pt x="52" y="331"/>
                    </a:lnTo>
                    <a:lnTo>
                      <a:pt x="48" y="318"/>
                    </a:lnTo>
                    <a:lnTo>
                      <a:pt x="44" y="304"/>
                    </a:lnTo>
                    <a:lnTo>
                      <a:pt x="43" y="290"/>
                    </a:lnTo>
                    <a:lnTo>
                      <a:pt x="42" y="274"/>
                    </a:lnTo>
                    <a:lnTo>
                      <a:pt x="41" y="25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6" name="Freeform 66">
                <a:extLst>
                  <a:ext uri="{FF2B5EF4-FFF2-40B4-BE49-F238E27FC236}">
                    <a16:creationId xmlns:a16="http://schemas.microsoft.com/office/drawing/2014/main" id="{4780363A-F49F-72AC-EE8E-8C50B8127A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8" y="1374"/>
                <a:ext cx="52" cy="72"/>
              </a:xfrm>
              <a:custGeom>
                <a:avLst/>
                <a:gdLst>
                  <a:gd name="T0" fmla="*/ 21 w 52"/>
                  <a:gd name="T1" fmla="*/ 62 h 72"/>
                  <a:gd name="T2" fmla="*/ 14 w 52"/>
                  <a:gd name="T3" fmla="*/ 53 h 72"/>
                  <a:gd name="T4" fmla="*/ 9 w 52"/>
                  <a:gd name="T5" fmla="*/ 43 h 72"/>
                  <a:gd name="T6" fmla="*/ 5 w 52"/>
                  <a:gd name="T7" fmla="*/ 33 h 72"/>
                  <a:gd name="T8" fmla="*/ 4 w 52"/>
                  <a:gd name="T9" fmla="*/ 23 h 72"/>
                  <a:gd name="T10" fmla="*/ 3 w 52"/>
                  <a:gd name="T11" fmla="*/ 15 h 72"/>
                  <a:gd name="T12" fmla="*/ 2 w 52"/>
                  <a:gd name="T13" fmla="*/ 8 h 72"/>
                  <a:gd name="T14" fmla="*/ 1 w 52"/>
                  <a:gd name="T15" fmla="*/ 2 h 72"/>
                  <a:gd name="T16" fmla="*/ 0 w 52"/>
                  <a:gd name="T17" fmla="*/ 0 h 72"/>
                  <a:gd name="T18" fmla="*/ 0 w 52"/>
                  <a:gd name="T19" fmla="*/ 57 h 72"/>
                  <a:gd name="T20" fmla="*/ 1 w 52"/>
                  <a:gd name="T21" fmla="*/ 55 h 72"/>
                  <a:gd name="T22" fmla="*/ 1 w 52"/>
                  <a:gd name="T23" fmla="*/ 58 h 72"/>
                  <a:gd name="T24" fmla="*/ 1 w 52"/>
                  <a:gd name="T25" fmla="*/ 59 h 72"/>
                  <a:gd name="T26" fmla="*/ 1 w 52"/>
                  <a:gd name="T27" fmla="*/ 61 h 72"/>
                  <a:gd name="T28" fmla="*/ 2 w 52"/>
                  <a:gd name="T29" fmla="*/ 62 h 72"/>
                  <a:gd name="T30" fmla="*/ 2 w 52"/>
                  <a:gd name="T31" fmla="*/ 65 h 72"/>
                  <a:gd name="T32" fmla="*/ 2 w 52"/>
                  <a:gd name="T33" fmla="*/ 66 h 72"/>
                  <a:gd name="T34" fmla="*/ 2 w 52"/>
                  <a:gd name="T35" fmla="*/ 67 h 72"/>
                  <a:gd name="T36" fmla="*/ 3 w 52"/>
                  <a:gd name="T37" fmla="*/ 69 h 72"/>
                  <a:gd name="T38" fmla="*/ 7 w 52"/>
                  <a:gd name="T39" fmla="*/ 69 h 72"/>
                  <a:gd name="T40" fmla="*/ 11 w 52"/>
                  <a:gd name="T41" fmla="*/ 69 h 72"/>
                  <a:gd name="T42" fmla="*/ 17 w 52"/>
                  <a:gd name="T43" fmla="*/ 71 h 72"/>
                  <a:gd name="T44" fmla="*/ 23 w 52"/>
                  <a:gd name="T45" fmla="*/ 71 h 72"/>
                  <a:gd name="T46" fmla="*/ 29 w 52"/>
                  <a:gd name="T47" fmla="*/ 69 h 72"/>
                  <a:gd name="T48" fmla="*/ 36 w 52"/>
                  <a:gd name="T49" fmla="*/ 69 h 72"/>
                  <a:gd name="T50" fmla="*/ 43 w 52"/>
                  <a:gd name="T51" fmla="*/ 69 h 72"/>
                  <a:gd name="T52" fmla="*/ 51 w 52"/>
                  <a:gd name="T53" fmla="*/ 68 h 72"/>
                  <a:gd name="T54" fmla="*/ 49 w 52"/>
                  <a:gd name="T55" fmla="*/ 69 h 72"/>
                  <a:gd name="T56" fmla="*/ 47 w 52"/>
                  <a:gd name="T57" fmla="*/ 69 h 72"/>
                  <a:gd name="T58" fmla="*/ 43 w 52"/>
                  <a:gd name="T59" fmla="*/ 69 h 72"/>
                  <a:gd name="T60" fmla="*/ 39 w 52"/>
                  <a:gd name="T61" fmla="*/ 68 h 72"/>
                  <a:gd name="T62" fmla="*/ 34 w 52"/>
                  <a:gd name="T63" fmla="*/ 68 h 72"/>
                  <a:gd name="T64" fmla="*/ 29 w 52"/>
                  <a:gd name="T65" fmla="*/ 67 h 72"/>
                  <a:gd name="T66" fmla="*/ 24 w 52"/>
                  <a:gd name="T67" fmla="*/ 65 h 72"/>
                  <a:gd name="T68" fmla="*/ 21 w 52"/>
                  <a:gd name="T69" fmla="*/ 62 h 72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2" h="72">
                    <a:moveTo>
                      <a:pt x="21" y="62"/>
                    </a:moveTo>
                    <a:lnTo>
                      <a:pt x="14" y="53"/>
                    </a:lnTo>
                    <a:lnTo>
                      <a:pt x="9" y="43"/>
                    </a:lnTo>
                    <a:lnTo>
                      <a:pt x="5" y="33"/>
                    </a:lnTo>
                    <a:lnTo>
                      <a:pt x="4" y="23"/>
                    </a:lnTo>
                    <a:lnTo>
                      <a:pt x="3" y="15"/>
                    </a:lnTo>
                    <a:lnTo>
                      <a:pt x="2" y="8"/>
                    </a:lnTo>
                    <a:lnTo>
                      <a:pt x="1" y="2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1" y="55"/>
                    </a:lnTo>
                    <a:lnTo>
                      <a:pt x="1" y="58"/>
                    </a:lnTo>
                    <a:lnTo>
                      <a:pt x="1" y="59"/>
                    </a:lnTo>
                    <a:lnTo>
                      <a:pt x="1" y="61"/>
                    </a:lnTo>
                    <a:lnTo>
                      <a:pt x="2" y="62"/>
                    </a:lnTo>
                    <a:lnTo>
                      <a:pt x="2" y="65"/>
                    </a:lnTo>
                    <a:lnTo>
                      <a:pt x="2" y="66"/>
                    </a:lnTo>
                    <a:lnTo>
                      <a:pt x="2" y="67"/>
                    </a:lnTo>
                    <a:lnTo>
                      <a:pt x="3" y="69"/>
                    </a:lnTo>
                    <a:lnTo>
                      <a:pt x="7" y="69"/>
                    </a:lnTo>
                    <a:lnTo>
                      <a:pt x="11" y="69"/>
                    </a:lnTo>
                    <a:lnTo>
                      <a:pt x="17" y="71"/>
                    </a:lnTo>
                    <a:lnTo>
                      <a:pt x="23" y="71"/>
                    </a:lnTo>
                    <a:lnTo>
                      <a:pt x="29" y="69"/>
                    </a:lnTo>
                    <a:lnTo>
                      <a:pt x="36" y="69"/>
                    </a:lnTo>
                    <a:lnTo>
                      <a:pt x="43" y="69"/>
                    </a:lnTo>
                    <a:lnTo>
                      <a:pt x="51" y="68"/>
                    </a:lnTo>
                    <a:lnTo>
                      <a:pt x="49" y="69"/>
                    </a:lnTo>
                    <a:lnTo>
                      <a:pt x="47" y="69"/>
                    </a:lnTo>
                    <a:lnTo>
                      <a:pt x="43" y="69"/>
                    </a:lnTo>
                    <a:lnTo>
                      <a:pt x="39" y="68"/>
                    </a:lnTo>
                    <a:lnTo>
                      <a:pt x="34" y="68"/>
                    </a:lnTo>
                    <a:lnTo>
                      <a:pt x="29" y="67"/>
                    </a:lnTo>
                    <a:lnTo>
                      <a:pt x="24" y="65"/>
                    </a:lnTo>
                    <a:lnTo>
                      <a:pt x="21" y="62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7" name="Freeform 67">
                <a:extLst>
                  <a:ext uri="{FF2B5EF4-FFF2-40B4-BE49-F238E27FC236}">
                    <a16:creationId xmlns:a16="http://schemas.microsoft.com/office/drawing/2014/main" id="{8C2C4E91-7263-46F2-FE5E-5B5E89D4FA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1625"/>
                <a:ext cx="99" cy="32"/>
              </a:xfrm>
              <a:custGeom>
                <a:avLst/>
                <a:gdLst>
                  <a:gd name="T0" fmla="*/ 48 w 99"/>
                  <a:gd name="T1" fmla="*/ 9 h 32"/>
                  <a:gd name="T2" fmla="*/ 42 w 99"/>
                  <a:gd name="T3" fmla="*/ 10 h 32"/>
                  <a:gd name="T4" fmla="*/ 35 w 99"/>
                  <a:gd name="T5" fmla="*/ 11 h 32"/>
                  <a:gd name="T6" fmla="*/ 29 w 99"/>
                  <a:gd name="T7" fmla="*/ 13 h 32"/>
                  <a:gd name="T8" fmla="*/ 23 w 99"/>
                  <a:gd name="T9" fmla="*/ 13 h 32"/>
                  <a:gd name="T10" fmla="*/ 17 w 99"/>
                  <a:gd name="T11" fmla="*/ 14 h 32"/>
                  <a:gd name="T12" fmla="*/ 11 w 99"/>
                  <a:gd name="T13" fmla="*/ 14 h 32"/>
                  <a:gd name="T14" fmla="*/ 5 w 99"/>
                  <a:gd name="T15" fmla="*/ 14 h 32"/>
                  <a:gd name="T16" fmla="*/ 0 w 99"/>
                  <a:gd name="T17" fmla="*/ 14 h 32"/>
                  <a:gd name="T18" fmla="*/ 8 w 99"/>
                  <a:gd name="T19" fmla="*/ 19 h 32"/>
                  <a:gd name="T20" fmla="*/ 15 w 99"/>
                  <a:gd name="T21" fmla="*/ 22 h 32"/>
                  <a:gd name="T22" fmla="*/ 23 w 99"/>
                  <a:gd name="T23" fmla="*/ 25 h 32"/>
                  <a:gd name="T24" fmla="*/ 29 w 99"/>
                  <a:gd name="T25" fmla="*/ 27 h 32"/>
                  <a:gd name="T26" fmla="*/ 36 w 99"/>
                  <a:gd name="T27" fmla="*/ 29 h 32"/>
                  <a:gd name="T28" fmla="*/ 41 w 99"/>
                  <a:gd name="T29" fmla="*/ 31 h 32"/>
                  <a:gd name="T30" fmla="*/ 46 w 99"/>
                  <a:gd name="T31" fmla="*/ 31 h 32"/>
                  <a:gd name="T32" fmla="*/ 48 w 99"/>
                  <a:gd name="T33" fmla="*/ 31 h 32"/>
                  <a:gd name="T34" fmla="*/ 51 w 99"/>
                  <a:gd name="T35" fmla="*/ 29 h 32"/>
                  <a:gd name="T36" fmla="*/ 56 w 99"/>
                  <a:gd name="T37" fmla="*/ 28 h 32"/>
                  <a:gd name="T38" fmla="*/ 62 w 99"/>
                  <a:gd name="T39" fmla="*/ 25 h 32"/>
                  <a:gd name="T40" fmla="*/ 68 w 99"/>
                  <a:gd name="T41" fmla="*/ 21 h 32"/>
                  <a:gd name="T42" fmla="*/ 75 w 99"/>
                  <a:gd name="T43" fmla="*/ 17 h 32"/>
                  <a:gd name="T44" fmla="*/ 82 w 99"/>
                  <a:gd name="T45" fmla="*/ 11 h 32"/>
                  <a:gd name="T46" fmla="*/ 90 w 99"/>
                  <a:gd name="T47" fmla="*/ 7 h 32"/>
                  <a:gd name="T48" fmla="*/ 98 w 99"/>
                  <a:gd name="T49" fmla="*/ 0 h 32"/>
                  <a:gd name="T50" fmla="*/ 93 w 99"/>
                  <a:gd name="T51" fmla="*/ 2 h 32"/>
                  <a:gd name="T52" fmla="*/ 87 w 99"/>
                  <a:gd name="T53" fmla="*/ 3 h 32"/>
                  <a:gd name="T54" fmla="*/ 81 w 99"/>
                  <a:gd name="T55" fmla="*/ 4 h 32"/>
                  <a:gd name="T56" fmla="*/ 74 w 99"/>
                  <a:gd name="T57" fmla="*/ 5 h 32"/>
                  <a:gd name="T58" fmla="*/ 68 w 99"/>
                  <a:gd name="T59" fmla="*/ 7 h 32"/>
                  <a:gd name="T60" fmla="*/ 62 w 99"/>
                  <a:gd name="T61" fmla="*/ 8 h 32"/>
                  <a:gd name="T62" fmla="*/ 55 w 99"/>
                  <a:gd name="T63" fmla="*/ 9 h 32"/>
                  <a:gd name="T64" fmla="*/ 48 w 99"/>
                  <a:gd name="T65" fmla="*/ 9 h 3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99" h="32">
                    <a:moveTo>
                      <a:pt x="48" y="9"/>
                    </a:moveTo>
                    <a:lnTo>
                      <a:pt x="42" y="10"/>
                    </a:lnTo>
                    <a:lnTo>
                      <a:pt x="35" y="11"/>
                    </a:lnTo>
                    <a:lnTo>
                      <a:pt x="29" y="13"/>
                    </a:lnTo>
                    <a:lnTo>
                      <a:pt x="23" y="13"/>
                    </a:lnTo>
                    <a:lnTo>
                      <a:pt x="17" y="14"/>
                    </a:lnTo>
                    <a:lnTo>
                      <a:pt x="11" y="14"/>
                    </a:lnTo>
                    <a:lnTo>
                      <a:pt x="5" y="14"/>
                    </a:lnTo>
                    <a:lnTo>
                      <a:pt x="0" y="14"/>
                    </a:lnTo>
                    <a:lnTo>
                      <a:pt x="8" y="19"/>
                    </a:lnTo>
                    <a:lnTo>
                      <a:pt x="15" y="22"/>
                    </a:lnTo>
                    <a:lnTo>
                      <a:pt x="23" y="25"/>
                    </a:lnTo>
                    <a:lnTo>
                      <a:pt x="29" y="27"/>
                    </a:lnTo>
                    <a:lnTo>
                      <a:pt x="36" y="29"/>
                    </a:lnTo>
                    <a:lnTo>
                      <a:pt x="41" y="31"/>
                    </a:lnTo>
                    <a:lnTo>
                      <a:pt x="46" y="31"/>
                    </a:lnTo>
                    <a:lnTo>
                      <a:pt x="48" y="31"/>
                    </a:lnTo>
                    <a:lnTo>
                      <a:pt x="51" y="29"/>
                    </a:lnTo>
                    <a:lnTo>
                      <a:pt x="56" y="28"/>
                    </a:lnTo>
                    <a:lnTo>
                      <a:pt x="62" y="25"/>
                    </a:lnTo>
                    <a:lnTo>
                      <a:pt x="68" y="21"/>
                    </a:lnTo>
                    <a:lnTo>
                      <a:pt x="75" y="17"/>
                    </a:lnTo>
                    <a:lnTo>
                      <a:pt x="82" y="11"/>
                    </a:lnTo>
                    <a:lnTo>
                      <a:pt x="90" y="7"/>
                    </a:lnTo>
                    <a:lnTo>
                      <a:pt x="98" y="0"/>
                    </a:lnTo>
                    <a:lnTo>
                      <a:pt x="93" y="2"/>
                    </a:lnTo>
                    <a:lnTo>
                      <a:pt x="87" y="3"/>
                    </a:lnTo>
                    <a:lnTo>
                      <a:pt x="81" y="4"/>
                    </a:lnTo>
                    <a:lnTo>
                      <a:pt x="74" y="5"/>
                    </a:lnTo>
                    <a:lnTo>
                      <a:pt x="68" y="7"/>
                    </a:lnTo>
                    <a:lnTo>
                      <a:pt x="62" y="8"/>
                    </a:lnTo>
                    <a:lnTo>
                      <a:pt x="55" y="9"/>
                    </a:lnTo>
                    <a:lnTo>
                      <a:pt x="48" y="9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188" name="Line 68">
              <a:extLst>
                <a:ext uri="{FF2B5EF4-FFF2-40B4-BE49-F238E27FC236}">
                  <a16:creationId xmlns:a16="http://schemas.microsoft.com/office/drawing/2014/main" id="{D1535687-CE44-B38B-A23E-8A627D290E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636"/>
              <a:ext cx="0" cy="192"/>
            </a:xfrm>
            <a:prstGeom prst="line">
              <a:avLst/>
            </a:prstGeom>
            <a:noFill/>
            <a:ln w="50800">
              <a:solidFill>
                <a:srgbClr val="FFFF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9" name="Line 69">
              <a:extLst>
                <a:ext uri="{FF2B5EF4-FFF2-40B4-BE49-F238E27FC236}">
                  <a16:creationId xmlns:a16="http://schemas.microsoft.com/office/drawing/2014/main" id="{DEAFB88E-44CB-8038-8C37-5DDF11ECF1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4" y="636"/>
              <a:ext cx="48" cy="192"/>
            </a:xfrm>
            <a:prstGeom prst="line">
              <a:avLst/>
            </a:prstGeom>
            <a:noFill/>
            <a:ln w="50800">
              <a:solidFill>
                <a:srgbClr val="FFFF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0" name="Line 70">
              <a:extLst>
                <a:ext uri="{FF2B5EF4-FFF2-40B4-BE49-F238E27FC236}">
                  <a16:creationId xmlns:a16="http://schemas.microsoft.com/office/drawing/2014/main" id="{D25FC190-28F7-3AE6-9CAF-98491234C2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732"/>
              <a:ext cx="120" cy="156"/>
            </a:xfrm>
            <a:prstGeom prst="line">
              <a:avLst/>
            </a:prstGeom>
            <a:noFill/>
            <a:ln w="50800">
              <a:solidFill>
                <a:srgbClr val="FFFF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1" name="Line 71">
              <a:extLst>
                <a:ext uri="{FF2B5EF4-FFF2-40B4-BE49-F238E27FC236}">
                  <a16:creationId xmlns:a16="http://schemas.microsoft.com/office/drawing/2014/main" id="{BA7784F2-B0C6-EE14-E2C5-5D10421BF7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888"/>
              <a:ext cx="144" cy="72"/>
            </a:xfrm>
            <a:prstGeom prst="line">
              <a:avLst/>
            </a:prstGeom>
            <a:noFill/>
            <a:ln w="50800">
              <a:solidFill>
                <a:srgbClr val="FFFF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2" name="Line 72">
              <a:extLst>
                <a:ext uri="{FF2B5EF4-FFF2-40B4-BE49-F238E27FC236}">
                  <a16:creationId xmlns:a16="http://schemas.microsoft.com/office/drawing/2014/main" id="{0EE0660E-2FFF-1D2C-AC6E-32D4D397E3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76" y="1044"/>
              <a:ext cx="204" cy="24"/>
            </a:xfrm>
            <a:prstGeom prst="line">
              <a:avLst/>
            </a:prstGeom>
            <a:noFill/>
            <a:ln w="50800">
              <a:solidFill>
                <a:srgbClr val="FFFF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3" name="Line 73">
              <a:extLst>
                <a:ext uri="{FF2B5EF4-FFF2-40B4-BE49-F238E27FC236}">
                  <a16:creationId xmlns:a16="http://schemas.microsoft.com/office/drawing/2014/main" id="{4D108954-4205-A5C8-9AE2-34CD3BEEC0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4" y="636"/>
              <a:ext cx="48" cy="192"/>
            </a:xfrm>
            <a:prstGeom prst="line">
              <a:avLst/>
            </a:prstGeom>
            <a:noFill/>
            <a:ln w="50800">
              <a:solidFill>
                <a:srgbClr val="FFFF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4" name="Line 74">
              <a:extLst>
                <a:ext uri="{FF2B5EF4-FFF2-40B4-BE49-F238E27FC236}">
                  <a16:creationId xmlns:a16="http://schemas.microsoft.com/office/drawing/2014/main" id="{C27525D8-6E1D-1C73-A95B-595B8A7099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8" y="744"/>
              <a:ext cx="120" cy="156"/>
            </a:xfrm>
            <a:prstGeom prst="line">
              <a:avLst/>
            </a:prstGeom>
            <a:noFill/>
            <a:ln w="50800">
              <a:solidFill>
                <a:srgbClr val="FFFF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5" name="Line 75">
              <a:extLst>
                <a:ext uri="{FF2B5EF4-FFF2-40B4-BE49-F238E27FC236}">
                  <a16:creationId xmlns:a16="http://schemas.microsoft.com/office/drawing/2014/main" id="{059B839F-C62C-0AF1-6E8B-D500ADFD91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" y="924"/>
              <a:ext cx="144" cy="72"/>
            </a:xfrm>
            <a:prstGeom prst="line">
              <a:avLst/>
            </a:prstGeom>
            <a:noFill/>
            <a:ln w="50800">
              <a:solidFill>
                <a:srgbClr val="FFFF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6" name="Line 76">
              <a:extLst>
                <a:ext uri="{FF2B5EF4-FFF2-40B4-BE49-F238E27FC236}">
                  <a16:creationId xmlns:a16="http://schemas.microsoft.com/office/drawing/2014/main" id="{F6B1C0C9-79B6-3F0F-2B0B-4214641F09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4" y="1068"/>
              <a:ext cx="204" cy="24"/>
            </a:xfrm>
            <a:prstGeom prst="line">
              <a:avLst/>
            </a:prstGeom>
            <a:noFill/>
            <a:ln w="50800">
              <a:solidFill>
                <a:srgbClr val="FFFF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85E7439-FF7E-AA3B-BBF6-854CC1388F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148263" cy="504825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Transforming ERD into Relations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3F5EEC0-738E-E5DD-5DCC-28A138CE59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14438"/>
            <a:ext cx="8497887" cy="4878387"/>
          </a:xfrm>
        </p:spPr>
        <p:txBody>
          <a:bodyPr/>
          <a:lstStyle/>
          <a:p>
            <a:pPr marL="228600" indent="-228600" algn="just"/>
            <a:r>
              <a:rPr lang="en-US" altLang="en-US" sz="2400"/>
              <a:t>The transformation consists of two steps:</a:t>
            </a:r>
          </a:p>
          <a:p>
            <a:pPr marL="803275" lvl="1" indent="-403225" algn="just">
              <a:buFontTx/>
              <a:buAutoNum type="arabicParenR"/>
            </a:pPr>
            <a:r>
              <a:rPr lang="en-US" altLang="en-US">
                <a:solidFill>
                  <a:schemeClr val="accent2"/>
                </a:solidFill>
              </a:rPr>
              <a:t>Transform Entities </a:t>
            </a:r>
          </a:p>
          <a:p>
            <a:pPr marL="803275" lvl="1" indent="-403225" algn="just">
              <a:buFontTx/>
              <a:buAutoNum type="arabicParenR"/>
            </a:pPr>
            <a:r>
              <a:rPr lang="en-US" altLang="en-US">
                <a:solidFill>
                  <a:schemeClr val="accent2"/>
                </a:solidFill>
              </a:rPr>
              <a:t>Transform Relationships </a:t>
            </a:r>
          </a:p>
          <a:p>
            <a:pPr marL="228600" indent="-228600" algn="just"/>
            <a:r>
              <a:rPr lang="en-US" altLang="en-US" sz="2400"/>
              <a:t>Each entity of an ER Diagram is represented as a relation. </a:t>
            </a:r>
          </a:p>
          <a:p>
            <a:pPr marL="228600" indent="-228600" algn="just"/>
            <a:r>
              <a:rPr lang="en-US" altLang="en-US" sz="2400"/>
              <a:t>The relational representation of relationship of an ER diagram depends both on the degree and cardinality of the relationship. 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1A7E04D-97ED-5173-7B83-7A893212BD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148263" cy="504825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1. Transforming Entities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B1468DA6-1D9E-FBF2-3CC2-4AA9ED3153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43000"/>
            <a:ext cx="8497887" cy="5381625"/>
          </a:xfrm>
        </p:spPr>
        <p:txBody>
          <a:bodyPr/>
          <a:lstStyle/>
          <a:p>
            <a:pPr>
              <a:defRPr/>
            </a:pPr>
            <a:r>
              <a:rPr lang="en-US" dirty="0"/>
              <a:t>There are three types of entities:</a:t>
            </a:r>
          </a:p>
          <a:p>
            <a:pPr marL="990600" lvl="1" indent="-533400">
              <a:buFontTx/>
              <a:buAutoNum type="alphaLcParenR"/>
              <a:defRPr/>
            </a:pPr>
            <a:r>
              <a:rPr lang="en-US" dirty="0">
                <a:solidFill>
                  <a:schemeClr val="accent2"/>
                </a:solidFill>
              </a:rPr>
              <a:t>Regular entities</a:t>
            </a:r>
          </a:p>
          <a:p>
            <a:pPr marL="990600" lvl="1" indent="-533400">
              <a:buFontTx/>
              <a:buAutoNum type="alphaLcParenR"/>
              <a:defRPr/>
            </a:pPr>
            <a:r>
              <a:rPr lang="en-US" dirty="0">
                <a:solidFill>
                  <a:schemeClr val="accent2"/>
                </a:solidFill>
              </a:rPr>
              <a:t>Weak Entities</a:t>
            </a:r>
          </a:p>
          <a:p>
            <a:pPr marL="990600" lvl="1" indent="-533400">
              <a:buFontTx/>
              <a:buAutoNum type="alphaLcParenR"/>
              <a:defRPr/>
            </a:pPr>
            <a:r>
              <a:rPr lang="en-US" dirty="0">
                <a:solidFill>
                  <a:schemeClr val="accent2"/>
                </a:solidFill>
              </a:rPr>
              <a:t>Associative Entities</a:t>
            </a:r>
          </a:p>
          <a:p>
            <a:pPr marL="609600" indent="-609600">
              <a:defRPr/>
            </a:pPr>
            <a:endParaRPr lang="en-US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789AEA3-D050-D1DC-71AE-3DB9B4725E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148263" cy="504825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1. Transforming Entities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3A22429-AB50-9DD4-F234-C9DF21411E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43000"/>
            <a:ext cx="8497887" cy="5381625"/>
          </a:xfrm>
        </p:spPr>
        <p:txBody>
          <a:bodyPr/>
          <a:lstStyle/>
          <a:p>
            <a:pPr marL="609600" indent="-609600">
              <a:buFontTx/>
              <a:buNone/>
              <a:defRPr/>
            </a:pPr>
            <a:r>
              <a:rPr lang="en-US" sz="2000" dirty="0">
                <a:solidFill>
                  <a:schemeClr val="accent2"/>
                </a:solidFill>
              </a:rPr>
              <a:t>a) Regular entities</a:t>
            </a:r>
          </a:p>
          <a:p>
            <a:pPr>
              <a:defRPr/>
            </a:pPr>
            <a:r>
              <a:rPr lang="en-US" sz="2000" dirty="0"/>
              <a:t>Transform each regular entity type into a Relation</a:t>
            </a:r>
          </a:p>
          <a:p>
            <a:pPr>
              <a:defRPr/>
            </a:pPr>
            <a:r>
              <a:rPr lang="en-US" sz="2000" dirty="0"/>
              <a:t>Convert simple attribute of the entity type into an attribute of the relation</a:t>
            </a:r>
          </a:p>
          <a:p>
            <a:pPr>
              <a:defRPr/>
            </a:pPr>
            <a:r>
              <a:rPr lang="en-US" sz="2000" dirty="0"/>
              <a:t>Make identifier the Primary Key</a:t>
            </a:r>
          </a:p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Composite Attribute: </a:t>
            </a:r>
            <a:r>
              <a:rPr lang="en-US" sz="2000" dirty="0"/>
              <a:t>Include only simple components of the composite attribute in the relation</a:t>
            </a:r>
          </a:p>
          <a:p>
            <a:pPr algn="just">
              <a:lnSpc>
                <a:spcPct val="90000"/>
              </a:lnSpc>
              <a:defRPr/>
            </a:pPr>
            <a:r>
              <a:rPr lang="en-US" sz="2000" dirty="0">
                <a:solidFill>
                  <a:srgbClr val="C00000"/>
                </a:solidFill>
              </a:rPr>
              <a:t>Multivalued Attribute: </a:t>
            </a:r>
          </a:p>
          <a:p>
            <a:pPr lvl="1" algn="just">
              <a:lnSpc>
                <a:spcPct val="90000"/>
              </a:lnSpc>
              <a:defRPr/>
            </a:pPr>
            <a:r>
              <a:rPr lang="en-US" sz="2000" dirty="0"/>
              <a:t>Create two relations</a:t>
            </a:r>
          </a:p>
          <a:p>
            <a:pPr lvl="1" algn="just">
              <a:lnSpc>
                <a:spcPct val="90000"/>
              </a:lnSpc>
              <a:defRPr/>
            </a:pPr>
            <a:r>
              <a:rPr lang="en-US" sz="2000" dirty="0"/>
              <a:t>The first relation contains all of the attributes of the entity type except the multivalued attribute</a:t>
            </a:r>
          </a:p>
          <a:p>
            <a:pPr lvl="1" algn="just">
              <a:lnSpc>
                <a:spcPct val="90000"/>
              </a:lnSpc>
              <a:defRPr/>
            </a:pPr>
            <a:r>
              <a:rPr lang="en-US" sz="2000" dirty="0"/>
              <a:t>The second relation contains two attributes that form the PK of the second relation i.e.</a:t>
            </a:r>
          </a:p>
          <a:p>
            <a:pPr marL="1257300" lvl="2" indent="-342900" algn="just">
              <a:lnSpc>
                <a:spcPct val="90000"/>
              </a:lnSpc>
              <a:buFont typeface="Wingdings" pitchFamily="2" charset="2"/>
              <a:buChar char="ü"/>
              <a:defRPr/>
            </a:pPr>
            <a:r>
              <a:rPr lang="en-US" dirty="0"/>
              <a:t>The PK of the first relation as FK to this relation</a:t>
            </a:r>
          </a:p>
          <a:p>
            <a:pPr marL="1257300" lvl="2" indent="-342900" algn="just">
              <a:lnSpc>
                <a:spcPct val="90000"/>
              </a:lnSpc>
              <a:buFont typeface="Wingdings" pitchFamily="2" charset="2"/>
              <a:buChar char="ü"/>
              <a:defRPr/>
            </a:pPr>
            <a:r>
              <a:rPr lang="en-US" dirty="0"/>
              <a:t>The multivalued attribute</a:t>
            </a:r>
          </a:p>
          <a:p>
            <a:pPr>
              <a:defRPr/>
            </a:pPr>
            <a:endParaRPr lang="en-US" sz="2000" dirty="0"/>
          </a:p>
          <a:p>
            <a:pPr marL="609600" indent="-609600">
              <a:defRPr/>
            </a:pPr>
            <a:endParaRPr lang="en-US" sz="2000" dirty="0"/>
          </a:p>
          <a:p>
            <a:pPr marL="609600" indent="-609600">
              <a:defRPr/>
            </a:pPr>
            <a:endParaRPr lang="en-US" sz="200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7B49797-E2C9-5AB2-455A-46A182F789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700" y="620713"/>
            <a:ext cx="8277225" cy="46672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Mapping Regular Entity</a:t>
            </a:r>
            <a:r>
              <a:rPr lang="en-US" altLang="en-US" sz="2400" b="1">
                <a:solidFill>
                  <a:srgbClr val="0070C0"/>
                </a:solidFill>
              </a:rPr>
              <a:t> </a:t>
            </a:r>
            <a:r>
              <a:rPr lang="en-US" altLang="en-US" sz="2400" b="1">
                <a:solidFill>
                  <a:schemeClr val="accent2"/>
                </a:solidFill>
              </a:rPr>
              <a:t>CUSTOMER</a:t>
            </a:r>
          </a:p>
        </p:txBody>
      </p:sp>
      <p:grpSp>
        <p:nvGrpSpPr>
          <p:cNvPr id="12291" name="Group 3">
            <a:extLst>
              <a:ext uri="{FF2B5EF4-FFF2-40B4-BE49-F238E27FC236}">
                <a16:creationId xmlns:a16="http://schemas.microsoft.com/office/drawing/2014/main" id="{F63CE47F-2CBE-3A31-491A-98018A11BFEE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5486400"/>
            <a:ext cx="4800600" cy="609600"/>
            <a:chOff x="624" y="3456"/>
            <a:chExt cx="3024" cy="384"/>
          </a:xfrm>
        </p:grpSpPr>
        <p:sp>
          <p:nvSpPr>
            <p:cNvPr id="12302" name="Rectangle 4">
              <a:extLst>
                <a:ext uri="{FF2B5EF4-FFF2-40B4-BE49-F238E27FC236}">
                  <a16:creationId xmlns:a16="http://schemas.microsoft.com/office/drawing/2014/main" id="{8738E1E9-94F2-A943-617B-BE952E35C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3456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u="sng">
                  <a:solidFill>
                    <a:schemeClr val="bg1"/>
                  </a:solidFill>
                </a:rPr>
                <a:t>Customer_ID</a:t>
              </a:r>
            </a:p>
          </p:txBody>
        </p:sp>
        <p:sp>
          <p:nvSpPr>
            <p:cNvPr id="12303" name="Rectangle 5">
              <a:extLst>
                <a:ext uri="{FF2B5EF4-FFF2-40B4-BE49-F238E27FC236}">
                  <a16:creationId xmlns:a16="http://schemas.microsoft.com/office/drawing/2014/main" id="{9156FF34-141E-B82E-F499-031CEEDF1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456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bg1"/>
                  </a:solidFill>
                </a:rPr>
                <a:t>Customer_Name</a:t>
              </a:r>
            </a:p>
          </p:txBody>
        </p:sp>
        <p:sp>
          <p:nvSpPr>
            <p:cNvPr id="12304" name="Rectangle 6">
              <a:extLst>
                <a:ext uri="{FF2B5EF4-FFF2-40B4-BE49-F238E27FC236}">
                  <a16:creationId xmlns:a16="http://schemas.microsoft.com/office/drawing/2014/main" id="{2AE064B4-68D6-04CC-F4BA-9FAEA0CEA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456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bg1"/>
                  </a:solidFill>
                </a:rPr>
                <a:t>Address</a:t>
              </a:r>
            </a:p>
          </p:txBody>
        </p:sp>
      </p:grpSp>
      <p:sp>
        <p:nvSpPr>
          <p:cNvPr id="12292" name="Text Box 7">
            <a:extLst>
              <a:ext uri="{FF2B5EF4-FFF2-40B4-BE49-F238E27FC236}">
                <a16:creationId xmlns:a16="http://schemas.microsoft.com/office/drawing/2014/main" id="{BCB062E8-68A3-8F41-C7C9-CBC3C34B7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119688"/>
            <a:ext cx="2209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/>
              <a:t>CUSTOMER</a:t>
            </a:r>
          </a:p>
        </p:txBody>
      </p:sp>
      <p:sp>
        <p:nvSpPr>
          <p:cNvPr id="12293" name="Rectangle 8">
            <a:extLst>
              <a:ext uri="{FF2B5EF4-FFF2-40B4-BE49-F238E27FC236}">
                <a16:creationId xmlns:a16="http://schemas.microsoft.com/office/drawing/2014/main" id="{83DE7C20-8FCC-CA4A-5BBE-643043CA8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200400"/>
            <a:ext cx="2057400" cy="8382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CUSTOMER</a:t>
            </a:r>
          </a:p>
        </p:txBody>
      </p:sp>
      <p:sp>
        <p:nvSpPr>
          <p:cNvPr id="12294" name="Oval 9">
            <a:extLst>
              <a:ext uri="{FF2B5EF4-FFF2-40B4-BE49-F238E27FC236}">
                <a16:creationId xmlns:a16="http://schemas.microsoft.com/office/drawing/2014/main" id="{5A1C90E0-86EB-347C-A66F-05962BC13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1676400"/>
            <a:ext cx="2286000" cy="838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Customer_Name</a:t>
            </a:r>
          </a:p>
        </p:txBody>
      </p:sp>
      <p:sp>
        <p:nvSpPr>
          <p:cNvPr id="12295" name="Oval 10">
            <a:extLst>
              <a:ext uri="{FF2B5EF4-FFF2-40B4-BE49-F238E27FC236}">
                <a16:creationId xmlns:a16="http://schemas.microsoft.com/office/drawing/2014/main" id="{440B1834-B8D6-BF58-C320-E75DEB463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00400"/>
            <a:ext cx="2286000" cy="838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Customer_ID</a:t>
            </a:r>
          </a:p>
        </p:txBody>
      </p:sp>
      <p:sp>
        <p:nvSpPr>
          <p:cNvPr id="12296" name="Oval 11">
            <a:extLst>
              <a:ext uri="{FF2B5EF4-FFF2-40B4-BE49-F238E27FC236}">
                <a16:creationId xmlns:a16="http://schemas.microsoft.com/office/drawing/2014/main" id="{E3B735BA-E299-3FC6-9F87-C2BF2AA65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200400"/>
            <a:ext cx="2286000" cy="838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Customer_Address</a:t>
            </a:r>
          </a:p>
        </p:txBody>
      </p:sp>
      <p:sp>
        <p:nvSpPr>
          <p:cNvPr id="12297" name="Line 12">
            <a:extLst>
              <a:ext uri="{FF2B5EF4-FFF2-40B4-BE49-F238E27FC236}">
                <a16:creationId xmlns:a16="http://schemas.microsoft.com/office/drawing/2014/main" id="{A8533453-F9FF-B904-4FD9-10694EF0C4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9600" y="2514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2298" name="AutoShape 13">
            <a:extLst>
              <a:ext uri="{FF2B5EF4-FFF2-40B4-BE49-F238E27FC236}">
                <a16:creationId xmlns:a16="http://schemas.microsoft.com/office/drawing/2014/main" id="{ED7C8597-9362-164B-973D-7FFD7CA1BA59}"/>
              </a:ext>
            </a:extLst>
          </p:cNvPr>
          <p:cNvCxnSpPr>
            <a:cxnSpLocks noChangeShapeType="1"/>
            <a:stCxn id="12293" idx="3"/>
            <a:endCxn id="12296" idx="2"/>
          </p:cNvCxnSpPr>
          <p:nvPr/>
        </p:nvCxnSpPr>
        <p:spPr bwMode="auto">
          <a:xfrm>
            <a:off x="5410200" y="3619500"/>
            <a:ext cx="685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299" name="AutoShape 14">
            <a:extLst>
              <a:ext uri="{FF2B5EF4-FFF2-40B4-BE49-F238E27FC236}">
                <a16:creationId xmlns:a16="http://schemas.microsoft.com/office/drawing/2014/main" id="{4B5FA513-91BD-7C09-5913-B965B9BFDF99}"/>
              </a:ext>
            </a:extLst>
          </p:cNvPr>
          <p:cNvCxnSpPr>
            <a:cxnSpLocks noChangeShapeType="1"/>
            <a:stCxn id="12293" idx="1"/>
            <a:endCxn id="12295" idx="6"/>
          </p:cNvCxnSpPr>
          <p:nvPr/>
        </p:nvCxnSpPr>
        <p:spPr bwMode="auto">
          <a:xfrm flipH="1">
            <a:off x="2743200" y="3619500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300" name="Text Box 15">
            <a:extLst>
              <a:ext uri="{FF2B5EF4-FFF2-40B4-BE49-F238E27FC236}">
                <a16:creationId xmlns:a16="http://schemas.microsoft.com/office/drawing/2014/main" id="{94E4AECC-F7BB-81B5-CBD2-D44FC5DC6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05000"/>
            <a:ext cx="2362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/>
              <a:t>CUSTOMER Entity Type</a:t>
            </a:r>
          </a:p>
        </p:txBody>
      </p:sp>
      <p:sp>
        <p:nvSpPr>
          <p:cNvPr id="12301" name="Text Box 16">
            <a:extLst>
              <a:ext uri="{FF2B5EF4-FFF2-40B4-BE49-F238E27FC236}">
                <a16:creationId xmlns:a16="http://schemas.microsoft.com/office/drawing/2014/main" id="{B3785CE7-E33C-48F2-29C5-1D14284C9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738688"/>
            <a:ext cx="2667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/>
              <a:t>CUSTOMER Relation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39CDC53-8CDE-4718-B662-AA0767C119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3516312" cy="647700"/>
          </a:xfrm>
        </p:spPr>
        <p:txBody>
          <a:bodyPr/>
          <a:lstStyle/>
          <a:p>
            <a:r>
              <a:rPr lang="en-US" altLang="en-US" sz="2800">
                <a:solidFill>
                  <a:srgbClr val="800000"/>
                </a:solidFill>
              </a:rPr>
              <a:t>Composite Attribute</a:t>
            </a:r>
          </a:p>
        </p:txBody>
      </p:sp>
      <p:grpSp>
        <p:nvGrpSpPr>
          <p:cNvPr id="13315" name="Group 3">
            <a:extLst>
              <a:ext uri="{FF2B5EF4-FFF2-40B4-BE49-F238E27FC236}">
                <a16:creationId xmlns:a16="http://schemas.microsoft.com/office/drawing/2014/main" id="{41C8EF89-94A7-31C4-B811-F7A1C7E34206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5486400"/>
            <a:ext cx="7696200" cy="609600"/>
            <a:chOff x="192" y="1680"/>
            <a:chExt cx="4848" cy="384"/>
          </a:xfrm>
        </p:grpSpPr>
        <p:sp>
          <p:nvSpPr>
            <p:cNvPr id="13334" name="Rectangle 4">
              <a:extLst>
                <a:ext uri="{FF2B5EF4-FFF2-40B4-BE49-F238E27FC236}">
                  <a16:creationId xmlns:a16="http://schemas.microsoft.com/office/drawing/2014/main" id="{7D0780A1-EA65-5DAA-0060-1C5C76089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68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u="sng"/>
                <a:t>Customer_ID</a:t>
              </a:r>
            </a:p>
          </p:txBody>
        </p:sp>
        <p:sp>
          <p:nvSpPr>
            <p:cNvPr id="13335" name="Rectangle 5">
              <a:extLst>
                <a:ext uri="{FF2B5EF4-FFF2-40B4-BE49-F238E27FC236}">
                  <a16:creationId xmlns:a16="http://schemas.microsoft.com/office/drawing/2014/main" id="{C6B58542-C42E-B619-5567-7DF7D0B8A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68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Customer_Name</a:t>
              </a:r>
            </a:p>
          </p:txBody>
        </p:sp>
        <p:sp>
          <p:nvSpPr>
            <p:cNvPr id="13336" name="Rectangle 6">
              <a:extLst>
                <a:ext uri="{FF2B5EF4-FFF2-40B4-BE49-F238E27FC236}">
                  <a16:creationId xmlns:a16="http://schemas.microsoft.com/office/drawing/2014/main" id="{D198516B-6E79-9853-FDF5-2CB87EA54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624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City</a:t>
              </a:r>
            </a:p>
          </p:txBody>
        </p:sp>
        <p:sp>
          <p:nvSpPr>
            <p:cNvPr id="13337" name="Rectangle 7">
              <a:extLst>
                <a:ext uri="{FF2B5EF4-FFF2-40B4-BE49-F238E27FC236}">
                  <a16:creationId xmlns:a16="http://schemas.microsoft.com/office/drawing/2014/main" id="{3E385382-594C-C26C-A988-8D49CCEA3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68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Street</a:t>
              </a:r>
            </a:p>
          </p:txBody>
        </p:sp>
        <p:sp>
          <p:nvSpPr>
            <p:cNvPr id="13338" name="Rectangle 8">
              <a:extLst>
                <a:ext uri="{FF2B5EF4-FFF2-40B4-BE49-F238E27FC236}">
                  <a16:creationId xmlns:a16="http://schemas.microsoft.com/office/drawing/2014/main" id="{5A1F8716-EA33-0FAB-C182-5B11CC149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680"/>
              <a:ext cx="720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State</a:t>
              </a:r>
            </a:p>
          </p:txBody>
        </p:sp>
        <p:sp>
          <p:nvSpPr>
            <p:cNvPr id="13339" name="Rectangle 9">
              <a:extLst>
                <a:ext uri="{FF2B5EF4-FFF2-40B4-BE49-F238E27FC236}">
                  <a16:creationId xmlns:a16="http://schemas.microsoft.com/office/drawing/2014/main" id="{02B75A58-DA5C-CC1C-8EF1-9603670C0F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680"/>
              <a:ext cx="480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Zip</a:t>
              </a:r>
            </a:p>
          </p:txBody>
        </p:sp>
      </p:grpSp>
      <p:sp>
        <p:nvSpPr>
          <p:cNvPr id="13316" name="Text Box 10">
            <a:extLst>
              <a:ext uri="{FF2B5EF4-FFF2-40B4-BE49-F238E27FC236}">
                <a16:creationId xmlns:a16="http://schemas.microsoft.com/office/drawing/2014/main" id="{3CFD7787-3902-51D2-D98E-05796219F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119688"/>
            <a:ext cx="2209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/>
              <a:t>CUSTOMER</a:t>
            </a:r>
          </a:p>
        </p:txBody>
      </p:sp>
      <p:sp>
        <p:nvSpPr>
          <p:cNvPr id="13317" name="Rectangle 11">
            <a:extLst>
              <a:ext uri="{FF2B5EF4-FFF2-40B4-BE49-F238E27FC236}">
                <a16:creationId xmlns:a16="http://schemas.microsoft.com/office/drawing/2014/main" id="{8B0B372F-6D8A-EF49-2665-B0B255F87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200400"/>
            <a:ext cx="2057400" cy="8382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CUSTOMER</a:t>
            </a:r>
          </a:p>
        </p:txBody>
      </p:sp>
      <p:sp>
        <p:nvSpPr>
          <p:cNvPr id="13318" name="Oval 12">
            <a:extLst>
              <a:ext uri="{FF2B5EF4-FFF2-40B4-BE49-F238E27FC236}">
                <a16:creationId xmlns:a16="http://schemas.microsoft.com/office/drawing/2014/main" id="{0D7BC576-53AB-026A-D1F7-9EB728A89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1676400"/>
            <a:ext cx="2286000" cy="838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Customer_Name</a:t>
            </a:r>
          </a:p>
        </p:txBody>
      </p:sp>
      <p:sp>
        <p:nvSpPr>
          <p:cNvPr id="13319" name="Oval 13">
            <a:extLst>
              <a:ext uri="{FF2B5EF4-FFF2-40B4-BE49-F238E27FC236}">
                <a16:creationId xmlns:a16="http://schemas.microsoft.com/office/drawing/2014/main" id="{A792B5CF-645C-CD48-ACA0-445ACFE99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00400"/>
            <a:ext cx="2286000" cy="838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Customer_ID</a:t>
            </a:r>
          </a:p>
        </p:txBody>
      </p:sp>
      <p:sp>
        <p:nvSpPr>
          <p:cNvPr id="13320" name="Oval 14">
            <a:extLst>
              <a:ext uri="{FF2B5EF4-FFF2-40B4-BE49-F238E27FC236}">
                <a16:creationId xmlns:a16="http://schemas.microsoft.com/office/drawing/2014/main" id="{0887FC17-39F6-005B-08DC-6BBA57946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200400"/>
            <a:ext cx="2286000" cy="838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Customer_Address</a:t>
            </a:r>
          </a:p>
        </p:txBody>
      </p:sp>
      <p:sp>
        <p:nvSpPr>
          <p:cNvPr id="13321" name="Line 15">
            <a:extLst>
              <a:ext uri="{FF2B5EF4-FFF2-40B4-BE49-F238E27FC236}">
                <a16:creationId xmlns:a16="http://schemas.microsoft.com/office/drawing/2014/main" id="{C7008D81-A812-5346-DCAA-3090A6F6E8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9600" y="2514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3322" name="AutoShape 16">
            <a:extLst>
              <a:ext uri="{FF2B5EF4-FFF2-40B4-BE49-F238E27FC236}">
                <a16:creationId xmlns:a16="http://schemas.microsoft.com/office/drawing/2014/main" id="{1D16F23B-0E17-386F-6B98-475459BF4740}"/>
              </a:ext>
            </a:extLst>
          </p:cNvPr>
          <p:cNvCxnSpPr>
            <a:cxnSpLocks noChangeShapeType="1"/>
            <a:stCxn id="13317" idx="3"/>
            <a:endCxn id="13320" idx="2"/>
          </p:cNvCxnSpPr>
          <p:nvPr/>
        </p:nvCxnSpPr>
        <p:spPr bwMode="auto">
          <a:xfrm>
            <a:off x="5410200" y="3619500"/>
            <a:ext cx="685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23" name="AutoShape 17">
            <a:extLst>
              <a:ext uri="{FF2B5EF4-FFF2-40B4-BE49-F238E27FC236}">
                <a16:creationId xmlns:a16="http://schemas.microsoft.com/office/drawing/2014/main" id="{A15531F1-AC56-E45F-F143-65AEDD904620}"/>
              </a:ext>
            </a:extLst>
          </p:cNvPr>
          <p:cNvCxnSpPr>
            <a:cxnSpLocks noChangeShapeType="1"/>
            <a:stCxn id="13317" idx="1"/>
            <a:endCxn id="13319" idx="6"/>
          </p:cNvCxnSpPr>
          <p:nvPr/>
        </p:nvCxnSpPr>
        <p:spPr bwMode="auto">
          <a:xfrm flipH="1">
            <a:off x="2743200" y="3619500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324" name="Text Box 18">
            <a:extLst>
              <a:ext uri="{FF2B5EF4-FFF2-40B4-BE49-F238E27FC236}">
                <a16:creationId xmlns:a16="http://schemas.microsoft.com/office/drawing/2014/main" id="{8E4E50BF-B1AC-C5B7-F7D4-278F23942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05000"/>
            <a:ext cx="23622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/>
              <a:t>CUSTOMER Entity Type with Composite Attribute</a:t>
            </a:r>
          </a:p>
        </p:txBody>
      </p:sp>
      <p:sp>
        <p:nvSpPr>
          <p:cNvPr id="13325" name="Text Box 19">
            <a:extLst>
              <a:ext uri="{FF2B5EF4-FFF2-40B4-BE49-F238E27FC236}">
                <a16:creationId xmlns:a16="http://schemas.microsoft.com/office/drawing/2014/main" id="{8A795D35-F4F1-EF57-FDBE-FD529CF23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738688"/>
            <a:ext cx="2667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/>
              <a:t>CUSTOMER Relation</a:t>
            </a:r>
          </a:p>
        </p:txBody>
      </p:sp>
      <p:sp>
        <p:nvSpPr>
          <p:cNvPr id="13326" name="Oval 20">
            <a:extLst>
              <a:ext uri="{FF2B5EF4-FFF2-40B4-BE49-F238E27FC236}">
                <a16:creationId xmlns:a16="http://schemas.microsoft.com/office/drawing/2014/main" id="{07B7D596-F634-936D-BFCE-3806AF0F7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219200"/>
            <a:ext cx="15240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Street</a:t>
            </a:r>
          </a:p>
        </p:txBody>
      </p:sp>
      <p:sp>
        <p:nvSpPr>
          <p:cNvPr id="13327" name="Oval 21">
            <a:extLst>
              <a:ext uri="{FF2B5EF4-FFF2-40B4-BE49-F238E27FC236}">
                <a16:creationId xmlns:a16="http://schemas.microsoft.com/office/drawing/2014/main" id="{E6F904A9-CD04-5DDC-A2B6-D111CA891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1447800"/>
            <a:ext cx="15240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State</a:t>
            </a:r>
          </a:p>
        </p:txBody>
      </p:sp>
      <p:sp>
        <p:nvSpPr>
          <p:cNvPr id="13328" name="Oval 22">
            <a:extLst>
              <a:ext uri="{FF2B5EF4-FFF2-40B4-BE49-F238E27FC236}">
                <a16:creationId xmlns:a16="http://schemas.microsoft.com/office/drawing/2014/main" id="{C2F55F45-14A0-CDAC-CB80-E8B4B18CA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33400"/>
            <a:ext cx="15240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City</a:t>
            </a:r>
          </a:p>
        </p:txBody>
      </p:sp>
      <p:sp>
        <p:nvSpPr>
          <p:cNvPr id="13329" name="Oval 23">
            <a:extLst>
              <a:ext uri="{FF2B5EF4-FFF2-40B4-BE49-F238E27FC236}">
                <a16:creationId xmlns:a16="http://schemas.microsoft.com/office/drawing/2014/main" id="{BFC3BD1D-80D0-70F1-9A42-21DBF7B5C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2438400"/>
            <a:ext cx="15240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Zip</a:t>
            </a:r>
          </a:p>
        </p:txBody>
      </p:sp>
      <p:cxnSp>
        <p:nvCxnSpPr>
          <p:cNvPr id="13330" name="AutoShape 24">
            <a:extLst>
              <a:ext uri="{FF2B5EF4-FFF2-40B4-BE49-F238E27FC236}">
                <a16:creationId xmlns:a16="http://schemas.microsoft.com/office/drawing/2014/main" id="{D4FA81A0-1E42-3C76-FFD5-35F74BD98A99}"/>
              </a:ext>
            </a:extLst>
          </p:cNvPr>
          <p:cNvCxnSpPr>
            <a:cxnSpLocks noChangeShapeType="1"/>
            <a:stCxn id="13320" idx="0"/>
            <a:endCxn id="13326" idx="4"/>
          </p:cNvCxnSpPr>
          <p:nvPr/>
        </p:nvCxnSpPr>
        <p:spPr bwMode="auto">
          <a:xfrm flipH="1" flipV="1">
            <a:off x="6324600" y="1905000"/>
            <a:ext cx="914400" cy="1295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31" name="AutoShape 25">
            <a:extLst>
              <a:ext uri="{FF2B5EF4-FFF2-40B4-BE49-F238E27FC236}">
                <a16:creationId xmlns:a16="http://schemas.microsoft.com/office/drawing/2014/main" id="{D7A3F082-0CD4-1059-53D8-790C70B81714}"/>
              </a:ext>
            </a:extLst>
          </p:cNvPr>
          <p:cNvCxnSpPr>
            <a:cxnSpLocks noChangeShapeType="1"/>
            <a:stCxn id="13320" idx="0"/>
            <a:endCxn id="13328" idx="4"/>
          </p:cNvCxnSpPr>
          <p:nvPr/>
        </p:nvCxnSpPr>
        <p:spPr bwMode="auto">
          <a:xfrm flipV="1">
            <a:off x="7239000" y="1219200"/>
            <a:ext cx="381000" cy="1981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32" name="AutoShape 26">
            <a:extLst>
              <a:ext uri="{FF2B5EF4-FFF2-40B4-BE49-F238E27FC236}">
                <a16:creationId xmlns:a16="http://schemas.microsoft.com/office/drawing/2014/main" id="{20E01F73-E1C4-CD7D-B793-712B92B6C09D}"/>
              </a:ext>
            </a:extLst>
          </p:cNvPr>
          <p:cNvCxnSpPr>
            <a:cxnSpLocks noChangeShapeType="1"/>
            <a:stCxn id="13320" idx="0"/>
            <a:endCxn id="13327" idx="2"/>
          </p:cNvCxnSpPr>
          <p:nvPr/>
        </p:nvCxnSpPr>
        <p:spPr bwMode="auto">
          <a:xfrm flipV="1">
            <a:off x="7239000" y="1790700"/>
            <a:ext cx="457200" cy="1409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33" name="AutoShape 27">
            <a:extLst>
              <a:ext uri="{FF2B5EF4-FFF2-40B4-BE49-F238E27FC236}">
                <a16:creationId xmlns:a16="http://schemas.microsoft.com/office/drawing/2014/main" id="{23E1931A-841A-7BC7-1384-AC98579F91D7}"/>
              </a:ext>
            </a:extLst>
          </p:cNvPr>
          <p:cNvCxnSpPr>
            <a:cxnSpLocks noChangeShapeType="1"/>
            <a:stCxn id="13320" idx="0"/>
            <a:endCxn id="13329" idx="4"/>
          </p:cNvCxnSpPr>
          <p:nvPr/>
        </p:nvCxnSpPr>
        <p:spPr bwMode="auto">
          <a:xfrm flipV="1">
            <a:off x="7239000" y="3124200"/>
            <a:ext cx="1143000" cy="76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C1FF6858-38F3-02FD-7A9A-4EF638DA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692150"/>
            <a:ext cx="3705225" cy="465138"/>
          </a:xfrm>
        </p:spPr>
        <p:txBody>
          <a:bodyPr/>
          <a:lstStyle/>
          <a:p>
            <a:r>
              <a:rPr lang="en-US" altLang="en-US" sz="2800">
                <a:solidFill>
                  <a:srgbClr val="800000"/>
                </a:solidFill>
              </a:rPr>
              <a:t>Multivalued Attribute</a:t>
            </a:r>
          </a:p>
        </p:txBody>
      </p:sp>
      <p:pic>
        <p:nvPicPr>
          <p:cNvPr id="14339" name="Picture 2">
            <a:extLst>
              <a:ext uri="{FF2B5EF4-FFF2-40B4-BE49-F238E27FC236}">
                <a16:creationId xmlns:a16="http://schemas.microsoft.com/office/drawing/2014/main" id="{5473BA56-6DD9-CC37-0F21-6B8B0C2AE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1196975"/>
            <a:ext cx="8208963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88EB64D-B31F-16CF-76F4-5FA5979C58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148263" cy="504825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1. Transforming Entities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470C629-4C87-7890-CFD6-CB4E0A56AD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87463"/>
            <a:ext cx="8497887" cy="5165725"/>
          </a:xfrm>
        </p:spPr>
        <p:txBody>
          <a:bodyPr/>
          <a:lstStyle/>
          <a:p>
            <a:pPr marL="609600" indent="-609600">
              <a:buFontTx/>
              <a:buNone/>
              <a:defRPr/>
            </a:pPr>
            <a:r>
              <a:rPr lang="en-US" sz="2400" dirty="0">
                <a:solidFill>
                  <a:schemeClr val="accent2"/>
                </a:solidFill>
              </a:rPr>
              <a:t>b) Weak entities</a:t>
            </a:r>
          </a:p>
          <a:p>
            <a:pPr marL="228600" indent="-228600">
              <a:defRPr/>
            </a:pPr>
            <a:r>
              <a:rPr lang="en-US" sz="2400" dirty="0"/>
              <a:t>Create a new relation</a:t>
            </a:r>
          </a:p>
          <a:p>
            <a:pPr marL="228600" indent="-228600">
              <a:defRPr/>
            </a:pPr>
            <a:r>
              <a:rPr lang="en-US" sz="2400" dirty="0"/>
              <a:t>Include all simple attributes as attributes of this relation</a:t>
            </a:r>
          </a:p>
          <a:p>
            <a:pPr marL="228600" indent="-228600">
              <a:defRPr/>
            </a:pPr>
            <a:r>
              <a:rPr lang="en-US" sz="2400" dirty="0"/>
              <a:t>Include PK of identifying relation as FK to the new relation</a:t>
            </a:r>
          </a:p>
          <a:p>
            <a:pPr marL="228600" indent="-228600">
              <a:defRPr/>
            </a:pPr>
            <a:r>
              <a:rPr lang="en-US" sz="2400" dirty="0"/>
              <a:t>The PK of new relation is (PK of identifying relation + Partial identifier of weak entity)</a:t>
            </a:r>
          </a:p>
          <a:p>
            <a:pPr marL="609600" indent="-609600">
              <a:defRPr/>
            </a:pPr>
            <a:endParaRPr lang="en-US" sz="2400" dirty="0"/>
          </a:p>
          <a:p>
            <a:pPr marL="609600" indent="-609600">
              <a:defRPr/>
            </a:pPr>
            <a:endParaRPr lang="en-US" sz="2400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FFE8B28-6692-763E-49F6-2FFC783EBD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7513" y="684213"/>
            <a:ext cx="2193925" cy="612775"/>
          </a:xfrm>
        </p:spPr>
        <p:txBody>
          <a:bodyPr/>
          <a:lstStyle/>
          <a:p>
            <a:r>
              <a:rPr lang="en-US" altLang="en-US" sz="2400">
                <a:solidFill>
                  <a:srgbClr val="C00000"/>
                </a:solidFill>
              </a:rPr>
              <a:t>Continued…</a:t>
            </a:r>
          </a:p>
        </p:txBody>
      </p:sp>
      <p:grpSp>
        <p:nvGrpSpPr>
          <p:cNvPr id="16387" name="Group 3">
            <a:extLst>
              <a:ext uri="{FF2B5EF4-FFF2-40B4-BE49-F238E27FC236}">
                <a16:creationId xmlns:a16="http://schemas.microsoft.com/office/drawing/2014/main" id="{BEF79E62-56F7-DA28-FFDC-72904A3E44B8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4800600"/>
            <a:ext cx="3352800" cy="609600"/>
            <a:chOff x="144" y="3264"/>
            <a:chExt cx="2112" cy="384"/>
          </a:xfrm>
        </p:grpSpPr>
        <p:sp>
          <p:nvSpPr>
            <p:cNvPr id="16418" name="Rectangle 4">
              <a:extLst>
                <a:ext uri="{FF2B5EF4-FFF2-40B4-BE49-F238E27FC236}">
                  <a16:creationId xmlns:a16="http://schemas.microsoft.com/office/drawing/2014/main" id="{197AFD21-E4B1-9F96-2A79-C4C161F74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u="sng"/>
                <a:t>Employee_ID</a:t>
              </a:r>
            </a:p>
          </p:txBody>
        </p:sp>
        <p:sp>
          <p:nvSpPr>
            <p:cNvPr id="16419" name="Rectangle 5">
              <a:extLst>
                <a:ext uri="{FF2B5EF4-FFF2-40B4-BE49-F238E27FC236}">
                  <a16:creationId xmlns:a16="http://schemas.microsoft.com/office/drawing/2014/main" id="{D36D6F29-613E-D734-2BE8-60C70FD2A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264"/>
              <a:ext cx="1104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Employee_Name</a:t>
              </a:r>
            </a:p>
          </p:txBody>
        </p:sp>
      </p:grpSp>
      <p:sp>
        <p:nvSpPr>
          <p:cNvPr id="16388" name="Text Box 6">
            <a:extLst>
              <a:ext uri="{FF2B5EF4-FFF2-40B4-BE49-F238E27FC236}">
                <a16:creationId xmlns:a16="http://schemas.microsoft.com/office/drawing/2014/main" id="{2B195268-FEC8-1E92-9E9D-2D2D15C00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419600"/>
            <a:ext cx="220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/>
              <a:t>EMPLOYEE</a:t>
            </a:r>
          </a:p>
        </p:txBody>
      </p:sp>
      <p:sp>
        <p:nvSpPr>
          <p:cNvPr id="16389" name="Rectangle 7">
            <a:extLst>
              <a:ext uri="{FF2B5EF4-FFF2-40B4-BE49-F238E27FC236}">
                <a16:creationId xmlns:a16="http://schemas.microsoft.com/office/drawing/2014/main" id="{EF3156FC-5DD6-E8B5-CA79-B47B01B79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895600"/>
            <a:ext cx="1600200" cy="6096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EMPLOYEE</a:t>
            </a:r>
          </a:p>
        </p:txBody>
      </p:sp>
      <p:sp>
        <p:nvSpPr>
          <p:cNvPr id="16390" name="Oval 8">
            <a:extLst>
              <a:ext uri="{FF2B5EF4-FFF2-40B4-BE49-F238E27FC236}">
                <a16:creationId xmlns:a16="http://schemas.microsoft.com/office/drawing/2014/main" id="{CA4F8463-8F33-411E-FFCD-3C28A3B16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6002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Employee_Name</a:t>
            </a:r>
          </a:p>
        </p:txBody>
      </p:sp>
      <p:sp>
        <p:nvSpPr>
          <p:cNvPr id="16391" name="Oval 9">
            <a:extLst>
              <a:ext uri="{FF2B5EF4-FFF2-40B4-BE49-F238E27FC236}">
                <a16:creationId xmlns:a16="http://schemas.microsoft.com/office/drawing/2014/main" id="{3D827087-1FDC-65F6-480A-BF66AC6AB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000"/>
            <a:ext cx="1752600" cy="6096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Employee_ID</a:t>
            </a:r>
          </a:p>
        </p:txBody>
      </p:sp>
      <p:cxnSp>
        <p:nvCxnSpPr>
          <p:cNvPr id="16392" name="AutoShape 10">
            <a:extLst>
              <a:ext uri="{FF2B5EF4-FFF2-40B4-BE49-F238E27FC236}">
                <a16:creationId xmlns:a16="http://schemas.microsoft.com/office/drawing/2014/main" id="{B41801C0-FB87-8CDB-1937-A7BCD80E7368}"/>
              </a:ext>
            </a:extLst>
          </p:cNvPr>
          <p:cNvCxnSpPr>
            <a:cxnSpLocks noChangeShapeType="1"/>
            <a:stCxn id="16389" idx="1"/>
            <a:endCxn id="16391" idx="6"/>
          </p:cNvCxnSpPr>
          <p:nvPr/>
        </p:nvCxnSpPr>
        <p:spPr bwMode="auto">
          <a:xfrm flipH="1" flipV="1">
            <a:off x="1752600" y="2971800"/>
            <a:ext cx="2286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393" name="Text Box 11">
            <a:extLst>
              <a:ext uri="{FF2B5EF4-FFF2-40B4-BE49-F238E27FC236}">
                <a16:creationId xmlns:a16="http://schemas.microsoft.com/office/drawing/2014/main" id="{A9D69A03-F10E-3C95-3BEB-6FBFAFCBA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371600"/>
            <a:ext cx="251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/>
              <a:t>Weak Entity</a:t>
            </a:r>
          </a:p>
        </p:txBody>
      </p:sp>
      <p:sp>
        <p:nvSpPr>
          <p:cNvPr id="16394" name="Text Box 12">
            <a:extLst>
              <a:ext uri="{FF2B5EF4-FFF2-40B4-BE49-F238E27FC236}">
                <a16:creationId xmlns:a16="http://schemas.microsoft.com/office/drawing/2014/main" id="{667CCC86-37F9-9B7A-5CA3-9751B33B2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191000"/>
            <a:ext cx="3810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/>
              <a:t>Resulting relations from weak entity</a:t>
            </a:r>
          </a:p>
        </p:txBody>
      </p:sp>
      <p:sp>
        <p:nvSpPr>
          <p:cNvPr id="16395" name="Text Box 13">
            <a:extLst>
              <a:ext uri="{FF2B5EF4-FFF2-40B4-BE49-F238E27FC236}">
                <a16:creationId xmlns:a16="http://schemas.microsoft.com/office/drawing/2014/main" id="{307CB911-848E-0EA5-C62C-26E526D30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7150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/>
              <a:t>DEPENDENT</a:t>
            </a:r>
          </a:p>
        </p:txBody>
      </p:sp>
      <p:cxnSp>
        <p:nvCxnSpPr>
          <p:cNvPr id="16396" name="AutoShape 14">
            <a:extLst>
              <a:ext uri="{FF2B5EF4-FFF2-40B4-BE49-F238E27FC236}">
                <a16:creationId xmlns:a16="http://schemas.microsoft.com/office/drawing/2014/main" id="{F8FA243F-4E07-CAA9-C1F4-762CEDEB899C}"/>
              </a:ext>
            </a:extLst>
          </p:cNvPr>
          <p:cNvCxnSpPr>
            <a:cxnSpLocks noChangeShapeType="1"/>
            <a:stCxn id="16389" idx="0"/>
            <a:endCxn id="16390" idx="4"/>
          </p:cNvCxnSpPr>
          <p:nvPr/>
        </p:nvCxnSpPr>
        <p:spPr bwMode="auto">
          <a:xfrm flipH="1" flipV="1">
            <a:off x="2743200" y="2286000"/>
            <a:ext cx="3810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397" name="Rectangle 15">
            <a:extLst>
              <a:ext uri="{FF2B5EF4-FFF2-40B4-BE49-F238E27FC236}">
                <a16:creationId xmlns:a16="http://schemas.microsoft.com/office/drawing/2014/main" id="{E3CB83ED-7301-8DF8-8EE4-D7C22A714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895600"/>
            <a:ext cx="1600200" cy="609600"/>
          </a:xfrm>
          <a:prstGeom prst="rect">
            <a:avLst/>
          </a:prstGeom>
          <a:solidFill>
            <a:schemeClr val="bg2"/>
          </a:solidFill>
          <a:ln w="38100" cmpd="dbl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DEPENDENT</a:t>
            </a:r>
          </a:p>
        </p:txBody>
      </p:sp>
      <p:sp>
        <p:nvSpPr>
          <p:cNvPr id="16398" name="Oval 16">
            <a:extLst>
              <a:ext uri="{FF2B5EF4-FFF2-40B4-BE49-F238E27FC236}">
                <a16:creationId xmlns:a16="http://schemas.microsoft.com/office/drawing/2014/main" id="{6849E4FE-6DB7-89AB-AA98-48BEBD57D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8288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Dependent_Name</a:t>
            </a:r>
          </a:p>
        </p:txBody>
      </p:sp>
      <p:sp>
        <p:nvSpPr>
          <p:cNvPr id="16399" name="Oval 17">
            <a:extLst>
              <a:ext uri="{FF2B5EF4-FFF2-40B4-BE49-F238E27FC236}">
                <a16:creationId xmlns:a16="http://schemas.microsoft.com/office/drawing/2014/main" id="{D6A01AA6-2952-E8C8-A40F-1902D7AEB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6576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Gender</a:t>
            </a:r>
          </a:p>
        </p:txBody>
      </p:sp>
      <p:sp>
        <p:nvSpPr>
          <p:cNvPr id="16400" name="Oval 18">
            <a:extLst>
              <a:ext uri="{FF2B5EF4-FFF2-40B4-BE49-F238E27FC236}">
                <a16:creationId xmlns:a16="http://schemas.microsoft.com/office/drawing/2014/main" id="{DAD540A8-E061-3174-6CF6-BA36BE1D0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24384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Date_of_Birth</a:t>
            </a:r>
          </a:p>
        </p:txBody>
      </p:sp>
      <p:sp>
        <p:nvSpPr>
          <p:cNvPr id="16401" name="Oval 19">
            <a:extLst>
              <a:ext uri="{FF2B5EF4-FFF2-40B4-BE49-F238E27FC236}">
                <a16:creationId xmlns:a16="http://schemas.microsoft.com/office/drawing/2014/main" id="{08F6E34A-637E-39C8-C654-679C58CE5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11430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First_Name</a:t>
            </a:r>
          </a:p>
        </p:txBody>
      </p:sp>
      <p:sp>
        <p:nvSpPr>
          <p:cNvPr id="16402" name="Oval 20">
            <a:extLst>
              <a:ext uri="{FF2B5EF4-FFF2-40B4-BE49-F238E27FC236}">
                <a16:creationId xmlns:a16="http://schemas.microsoft.com/office/drawing/2014/main" id="{DC60C8C3-DBBD-EA97-7CBE-E15BAC4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9906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Last_Name</a:t>
            </a:r>
          </a:p>
        </p:txBody>
      </p:sp>
      <p:cxnSp>
        <p:nvCxnSpPr>
          <p:cNvPr id="16403" name="AutoShape 21">
            <a:extLst>
              <a:ext uri="{FF2B5EF4-FFF2-40B4-BE49-F238E27FC236}">
                <a16:creationId xmlns:a16="http://schemas.microsoft.com/office/drawing/2014/main" id="{36B6D2DB-8212-91AF-E459-BDFD3F8828BF}"/>
              </a:ext>
            </a:extLst>
          </p:cNvPr>
          <p:cNvCxnSpPr>
            <a:cxnSpLocks noChangeShapeType="1"/>
            <a:stCxn id="16397" idx="0"/>
            <a:endCxn id="16398" idx="4"/>
          </p:cNvCxnSpPr>
          <p:nvPr/>
        </p:nvCxnSpPr>
        <p:spPr bwMode="auto">
          <a:xfrm flipV="1">
            <a:off x="6286500" y="2514600"/>
            <a:ext cx="38100" cy="361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4" name="AutoShape 22">
            <a:extLst>
              <a:ext uri="{FF2B5EF4-FFF2-40B4-BE49-F238E27FC236}">
                <a16:creationId xmlns:a16="http://schemas.microsoft.com/office/drawing/2014/main" id="{8C760870-BB5C-A17F-90CB-E095F422583E}"/>
              </a:ext>
            </a:extLst>
          </p:cNvPr>
          <p:cNvCxnSpPr>
            <a:cxnSpLocks noChangeShapeType="1"/>
            <a:stCxn id="16398" idx="1"/>
            <a:endCxn id="16401" idx="4"/>
          </p:cNvCxnSpPr>
          <p:nvPr/>
        </p:nvCxnSpPr>
        <p:spPr bwMode="auto">
          <a:xfrm flipH="1" flipV="1">
            <a:off x="4953000" y="1828800"/>
            <a:ext cx="725488" cy="1000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5" name="AutoShape 23">
            <a:extLst>
              <a:ext uri="{FF2B5EF4-FFF2-40B4-BE49-F238E27FC236}">
                <a16:creationId xmlns:a16="http://schemas.microsoft.com/office/drawing/2014/main" id="{B337C58D-59A5-D99E-7733-0C2A130EA4E9}"/>
              </a:ext>
            </a:extLst>
          </p:cNvPr>
          <p:cNvCxnSpPr>
            <a:cxnSpLocks noChangeShapeType="1"/>
            <a:stCxn id="16398" idx="7"/>
            <a:endCxn id="16402" idx="4"/>
          </p:cNvCxnSpPr>
          <p:nvPr/>
        </p:nvCxnSpPr>
        <p:spPr bwMode="auto">
          <a:xfrm flipV="1">
            <a:off x="6970713" y="1676400"/>
            <a:ext cx="954087" cy="2524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6" name="AutoShape 24">
            <a:extLst>
              <a:ext uri="{FF2B5EF4-FFF2-40B4-BE49-F238E27FC236}">
                <a16:creationId xmlns:a16="http://schemas.microsoft.com/office/drawing/2014/main" id="{00F8C32F-CA0E-23BD-03FF-E85666F49056}"/>
              </a:ext>
            </a:extLst>
          </p:cNvPr>
          <p:cNvCxnSpPr>
            <a:cxnSpLocks noChangeShapeType="1"/>
            <a:stCxn id="16397" idx="3"/>
            <a:endCxn id="16400" idx="4"/>
          </p:cNvCxnSpPr>
          <p:nvPr/>
        </p:nvCxnSpPr>
        <p:spPr bwMode="auto">
          <a:xfrm flipV="1">
            <a:off x="7105650" y="3124200"/>
            <a:ext cx="1123950" cy="76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7" name="AutoShape 25">
            <a:extLst>
              <a:ext uri="{FF2B5EF4-FFF2-40B4-BE49-F238E27FC236}">
                <a16:creationId xmlns:a16="http://schemas.microsoft.com/office/drawing/2014/main" id="{AC7EFD9B-7363-7D3E-C1A0-CDDBAF2364B8}"/>
              </a:ext>
            </a:extLst>
          </p:cNvPr>
          <p:cNvCxnSpPr>
            <a:cxnSpLocks noChangeShapeType="1"/>
            <a:stCxn id="16397" idx="3"/>
            <a:endCxn id="16399" idx="0"/>
          </p:cNvCxnSpPr>
          <p:nvPr/>
        </p:nvCxnSpPr>
        <p:spPr bwMode="auto">
          <a:xfrm>
            <a:off x="7105650" y="3200400"/>
            <a:ext cx="112395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408" name="AutoShape 26">
            <a:extLst>
              <a:ext uri="{FF2B5EF4-FFF2-40B4-BE49-F238E27FC236}">
                <a16:creationId xmlns:a16="http://schemas.microsoft.com/office/drawing/2014/main" id="{CFD31129-F9E2-D282-60B2-99294DDF5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819400"/>
            <a:ext cx="838200" cy="762000"/>
          </a:xfrm>
          <a:prstGeom prst="diamond">
            <a:avLst/>
          </a:prstGeom>
          <a:solidFill>
            <a:schemeClr val="bg2"/>
          </a:solidFill>
          <a:ln w="38100" cmpd="dbl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Has</a:t>
            </a:r>
          </a:p>
        </p:txBody>
      </p:sp>
      <p:cxnSp>
        <p:nvCxnSpPr>
          <p:cNvPr id="16409" name="AutoShape 27">
            <a:extLst>
              <a:ext uri="{FF2B5EF4-FFF2-40B4-BE49-F238E27FC236}">
                <a16:creationId xmlns:a16="http://schemas.microsoft.com/office/drawing/2014/main" id="{347A5CAB-FB8D-E02E-155D-1001F0D7BA88}"/>
              </a:ext>
            </a:extLst>
          </p:cNvPr>
          <p:cNvCxnSpPr>
            <a:cxnSpLocks noChangeShapeType="1"/>
            <a:stCxn id="16389" idx="3"/>
            <a:endCxn id="16408" idx="1"/>
          </p:cNvCxnSpPr>
          <p:nvPr/>
        </p:nvCxnSpPr>
        <p:spPr bwMode="auto">
          <a:xfrm>
            <a:off x="3581400" y="3200400"/>
            <a:ext cx="5143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10" name="AutoShape 28">
            <a:extLst>
              <a:ext uri="{FF2B5EF4-FFF2-40B4-BE49-F238E27FC236}">
                <a16:creationId xmlns:a16="http://schemas.microsoft.com/office/drawing/2014/main" id="{02BDED01-7CEC-08AE-A5DB-DA4E2C155AE9}"/>
              </a:ext>
            </a:extLst>
          </p:cNvPr>
          <p:cNvCxnSpPr>
            <a:cxnSpLocks noChangeShapeType="1"/>
            <a:stCxn id="16408" idx="3"/>
            <a:endCxn id="16397" idx="1"/>
          </p:cNvCxnSpPr>
          <p:nvPr/>
        </p:nvCxnSpPr>
        <p:spPr bwMode="auto">
          <a:xfrm>
            <a:off x="4972050" y="3200400"/>
            <a:ext cx="4953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411" name="Group 29">
            <a:extLst>
              <a:ext uri="{FF2B5EF4-FFF2-40B4-BE49-F238E27FC236}">
                <a16:creationId xmlns:a16="http://schemas.microsoft.com/office/drawing/2014/main" id="{C2316D61-6DF4-F6EE-0072-C94C2055B899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6096000"/>
            <a:ext cx="7239000" cy="609600"/>
            <a:chOff x="144" y="3840"/>
            <a:chExt cx="4560" cy="384"/>
          </a:xfrm>
        </p:grpSpPr>
        <p:sp>
          <p:nvSpPr>
            <p:cNvPr id="16413" name="Rectangle 30">
              <a:extLst>
                <a:ext uri="{FF2B5EF4-FFF2-40B4-BE49-F238E27FC236}">
                  <a16:creationId xmlns:a16="http://schemas.microsoft.com/office/drawing/2014/main" id="{CF0CF1EC-1CF1-3C4E-D274-AAFAD2143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u="sng"/>
                <a:t>First_Name</a:t>
              </a:r>
            </a:p>
          </p:txBody>
        </p:sp>
        <p:sp>
          <p:nvSpPr>
            <p:cNvPr id="16414" name="Rectangle 31">
              <a:extLst>
                <a:ext uri="{FF2B5EF4-FFF2-40B4-BE49-F238E27FC236}">
                  <a16:creationId xmlns:a16="http://schemas.microsoft.com/office/drawing/2014/main" id="{59C4ADB2-CAB1-4AB6-5370-7DC37F253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u="sng"/>
                <a:t>Last_Name</a:t>
              </a:r>
            </a:p>
          </p:txBody>
        </p:sp>
        <p:sp>
          <p:nvSpPr>
            <p:cNvPr id="16415" name="Rectangle 32">
              <a:extLst>
                <a:ext uri="{FF2B5EF4-FFF2-40B4-BE49-F238E27FC236}">
                  <a16:creationId xmlns:a16="http://schemas.microsoft.com/office/drawing/2014/main" id="{132FC04B-75A9-237A-FAA4-E051D553D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840"/>
              <a:ext cx="816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Date_of_Birth</a:t>
              </a:r>
            </a:p>
          </p:txBody>
        </p:sp>
        <p:sp>
          <p:nvSpPr>
            <p:cNvPr id="16416" name="Rectangle 33">
              <a:extLst>
                <a:ext uri="{FF2B5EF4-FFF2-40B4-BE49-F238E27FC236}">
                  <a16:creationId xmlns:a16="http://schemas.microsoft.com/office/drawing/2014/main" id="{5ADB77F5-FEBA-3778-4877-48D90A4C8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u="sng"/>
                <a:t>Employee_ID</a:t>
              </a:r>
            </a:p>
          </p:txBody>
        </p:sp>
        <p:sp>
          <p:nvSpPr>
            <p:cNvPr id="16417" name="Rectangle 34">
              <a:extLst>
                <a:ext uri="{FF2B5EF4-FFF2-40B4-BE49-F238E27FC236}">
                  <a16:creationId xmlns:a16="http://schemas.microsoft.com/office/drawing/2014/main" id="{F668FE74-397B-4F98-679D-B43A45558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3840"/>
              <a:ext cx="720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Gender</a:t>
              </a:r>
            </a:p>
          </p:txBody>
        </p:sp>
      </p:grpSp>
      <p:cxnSp>
        <p:nvCxnSpPr>
          <p:cNvPr id="16412" name="AutoShape 35">
            <a:extLst>
              <a:ext uri="{FF2B5EF4-FFF2-40B4-BE49-F238E27FC236}">
                <a16:creationId xmlns:a16="http://schemas.microsoft.com/office/drawing/2014/main" id="{EC69D5BB-7C6F-3BB2-322E-0A987D72C885}"/>
              </a:ext>
            </a:extLst>
          </p:cNvPr>
          <p:cNvCxnSpPr>
            <a:cxnSpLocks noChangeShapeType="1"/>
            <a:stCxn id="16416" idx="0"/>
            <a:endCxn id="16418" idx="2"/>
          </p:cNvCxnSpPr>
          <p:nvPr/>
        </p:nvCxnSpPr>
        <p:spPr bwMode="auto">
          <a:xfrm rot="5400000" flipH="1">
            <a:off x="2286000" y="4152900"/>
            <a:ext cx="685800" cy="3200400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DDD81B5-2F99-3E53-E360-0BA5269B6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148263" cy="504825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1. Transforming Entities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0E235B05-3630-9F34-0DB4-BFBE97BCC6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87463"/>
            <a:ext cx="8497887" cy="5165725"/>
          </a:xfrm>
        </p:spPr>
        <p:txBody>
          <a:bodyPr/>
          <a:lstStyle/>
          <a:p>
            <a:pPr marL="609600" indent="-609600">
              <a:buFontTx/>
              <a:buNone/>
              <a:defRPr/>
            </a:pPr>
            <a:r>
              <a:rPr lang="en-US" sz="2400" dirty="0">
                <a:solidFill>
                  <a:schemeClr val="accent2"/>
                </a:solidFill>
              </a:rPr>
              <a:t>c) Associative Entities</a:t>
            </a:r>
          </a:p>
          <a:p>
            <a:pPr marL="228600" indent="-228600">
              <a:defRPr/>
            </a:pPr>
            <a:r>
              <a:rPr lang="en-US" sz="2400" dirty="0"/>
              <a:t>Create a new relation</a:t>
            </a:r>
          </a:p>
          <a:p>
            <a:pPr marL="228600" indent="-228600">
              <a:defRPr/>
            </a:pPr>
            <a:r>
              <a:rPr lang="en-US" sz="2400" dirty="0"/>
              <a:t>Include PK of the participating entities along with the attributes of the associative entity in the new relation </a:t>
            </a:r>
          </a:p>
          <a:p>
            <a:pPr marL="609600" indent="-609600">
              <a:defRPr/>
            </a:pPr>
            <a:endParaRPr lang="en-US" sz="2400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BEC5DEB-B298-F07A-A88B-CFDF19551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895600"/>
            <a:ext cx="1600200" cy="6096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/>
              <a:t>NURSE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3693F0F2-19C0-5D57-17A0-184E28206B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92150"/>
            <a:ext cx="4619625" cy="468313"/>
          </a:xfrm>
        </p:spPr>
        <p:txBody>
          <a:bodyPr/>
          <a:lstStyle/>
          <a:p>
            <a:r>
              <a:rPr lang="en-US" altLang="en-US" sz="2400">
                <a:solidFill>
                  <a:srgbClr val="800000"/>
                </a:solidFill>
              </a:rPr>
              <a:t>Map Associative Entities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96C70BFD-DA16-64C7-57FF-822F8D279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95600"/>
            <a:ext cx="1600200" cy="6096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/>
              <a:t>ORDER</a:t>
            </a:r>
          </a:p>
        </p:txBody>
      </p:sp>
      <p:sp>
        <p:nvSpPr>
          <p:cNvPr id="18437" name="Oval 5">
            <a:extLst>
              <a:ext uri="{FF2B5EF4-FFF2-40B4-BE49-F238E27FC236}">
                <a16:creationId xmlns:a16="http://schemas.microsoft.com/office/drawing/2014/main" id="{EC0627D4-07C7-9AD9-DB0A-E31C34173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812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/>
              <a:t>Order_ID</a:t>
            </a:r>
          </a:p>
        </p:txBody>
      </p:sp>
      <p:sp>
        <p:nvSpPr>
          <p:cNvPr id="18438" name="Text Box 7">
            <a:extLst>
              <a:ext uri="{FF2B5EF4-FFF2-40B4-BE49-F238E27FC236}">
                <a16:creationId xmlns:a16="http://schemas.microsoft.com/office/drawing/2014/main" id="{2ED39644-349D-AE83-4297-6DDB7EF56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886200"/>
            <a:ext cx="3810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/>
              <a:t>Resulting Relations</a:t>
            </a:r>
          </a:p>
        </p:txBody>
      </p:sp>
      <p:cxnSp>
        <p:nvCxnSpPr>
          <p:cNvPr id="18439" name="AutoShape 8">
            <a:extLst>
              <a:ext uri="{FF2B5EF4-FFF2-40B4-BE49-F238E27FC236}">
                <a16:creationId xmlns:a16="http://schemas.microsoft.com/office/drawing/2014/main" id="{AF5014CC-D96B-FC48-5A22-EB3BC865191D}"/>
              </a:ext>
            </a:extLst>
          </p:cNvPr>
          <p:cNvCxnSpPr>
            <a:cxnSpLocks noChangeShapeType="1"/>
            <a:stCxn id="18436" idx="0"/>
            <a:endCxn id="18437" idx="4"/>
          </p:cNvCxnSpPr>
          <p:nvPr/>
        </p:nvCxnSpPr>
        <p:spPr bwMode="auto">
          <a:xfrm flipH="1" flipV="1">
            <a:off x="914400" y="2667000"/>
            <a:ext cx="7239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40" name="Rectangle 9">
            <a:extLst>
              <a:ext uri="{FF2B5EF4-FFF2-40B4-BE49-F238E27FC236}">
                <a16:creationId xmlns:a16="http://schemas.microsoft.com/office/drawing/2014/main" id="{CD48803A-10B5-1D7A-8ECA-E44CF60B2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895600"/>
            <a:ext cx="1600200" cy="609600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/>
              <a:t>PRODUCT</a:t>
            </a:r>
          </a:p>
        </p:txBody>
      </p:sp>
      <p:sp>
        <p:nvSpPr>
          <p:cNvPr id="18441" name="Oval 10">
            <a:extLst>
              <a:ext uri="{FF2B5EF4-FFF2-40B4-BE49-F238E27FC236}">
                <a16:creationId xmlns:a16="http://schemas.microsoft.com/office/drawing/2014/main" id="{F1F80FB7-CD68-FB73-370B-F9F1C772A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9906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/>
              <a:t>Product_ID</a:t>
            </a:r>
          </a:p>
        </p:txBody>
      </p:sp>
      <p:sp>
        <p:nvSpPr>
          <p:cNvPr id="18442" name="Oval 11">
            <a:extLst>
              <a:ext uri="{FF2B5EF4-FFF2-40B4-BE49-F238E27FC236}">
                <a16:creationId xmlns:a16="http://schemas.microsoft.com/office/drawing/2014/main" id="{CFD8294A-8951-27C5-7D69-4BA4EC9D0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14478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Standard_Price</a:t>
            </a:r>
          </a:p>
        </p:txBody>
      </p:sp>
      <p:cxnSp>
        <p:nvCxnSpPr>
          <p:cNvPr id="18443" name="AutoShape 12">
            <a:extLst>
              <a:ext uri="{FF2B5EF4-FFF2-40B4-BE49-F238E27FC236}">
                <a16:creationId xmlns:a16="http://schemas.microsoft.com/office/drawing/2014/main" id="{BEBE19D9-EB81-7549-E033-6328ECDC588D}"/>
              </a:ext>
            </a:extLst>
          </p:cNvPr>
          <p:cNvCxnSpPr>
            <a:cxnSpLocks noChangeShapeType="1"/>
            <a:stCxn id="18440" idx="0"/>
            <a:endCxn id="18441" idx="4"/>
          </p:cNvCxnSpPr>
          <p:nvPr/>
        </p:nvCxnSpPr>
        <p:spPr bwMode="auto">
          <a:xfrm flipH="1" flipV="1">
            <a:off x="6172200" y="1676400"/>
            <a:ext cx="118110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44" name="AutoShape 13">
            <a:extLst>
              <a:ext uri="{FF2B5EF4-FFF2-40B4-BE49-F238E27FC236}">
                <a16:creationId xmlns:a16="http://schemas.microsoft.com/office/drawing/2014/main" id="{86A224FA-7BAF-B7BB-5072-F8542ED1307E}"/>
              </a:ext>
            </a:extLst>
          </p:cNvPr>
          <p:cNvCxnSpPr>
            <a:cxnSpLocks noChangeShapeType="1"/>
            <a:stCxn id="18440" idx="0"/>
            <a:endCxn id="18442" idx="4"/>
          </p:cNvCxnSpPr>
          <p:nvPr/>
        </p:nvCxnSpPr>
        <p:spPr bwMode="auto">
          <a:xfrm flipV="1">
            <a:off x="7353300" y="2133600"/>
            <a:ext cx="495300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45" name="AutoShape 14">
            <a:extLst>
              <a:ext uri="{FF2B5EF4-FFF2-40B4-BE49-F238E27FC236}">
                <a16:creationId xmlns:a16="http://schemas.microsoft.com/office/drawing/2014/main" id="{B6AB8BDE-C535-DA2F-9A9B-8119713D7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895600"/>
            <a:ext cx="1600200" cy="609600"/>
          </a:xfrm>
          <a:prstGeom prst="diamond">
            <a:avLst/>
          </a:prstGeom>
          <a:solidFill>
            <a:schemeClr val="bg2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/>
              <a:t>ORDER_LINE</a:t>
            </a:r>
          </a:p>
        </p:txBody>
      </p:sp>
      <p:cxnSp>
        <p:nvCxnSpPr>
          <p:cNvPr id="18446" name="AutoShape 15">
            <a:extLst>
              <a:ext uri="{FF2B5EF4-FFF2-40B4-BE49-F238E27FC236}">
                <a16:creationId xmlns:a16="http://schemas.microsoft.com/office/drawing/2014/main" id="{5A78F267-2503-3D48-1C69-C7B8DA85FC54}"/>
              </a:ext>
            </a:extLst>
          </p:cNvPr>
          <p:cNvCxnSpPr>
            <a:cxnSpLocks noChangeShapeType="1"/>
            <a:stCxn id="18436" idx="3"/>
            <a:endCxn id="18445" idx="1"/>
          </p:cNvCxnSpPr>
          <p:nvPr/>
        </p:nvCxnSpPr>
        <p:spPr bwMode="auto">
          <a:xfrm>
            <a:off x="2438400" y="3200400"/>
            <a:ext cx="1371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47" name="AutoShape 16">
            <a:extLst>
              <a:ext uri="{FF2B5EF4-FFF2-40B4-BE49-F238E27FC236}">
                <a16:creationId xmlns:a16="http://schemas.microsoft.com/office/drawing/2014/main" id="{4DAD7991-4D59-B017-96F9-A298BA8D3AAE}"/>
              </a:ext>
            </a:extLst>
          </p:cNvPr>
          <p:cNvCxnSpPr>
            <a:cxnSpLocks noChangeShapeType="1"/>
            <a:stCxn id="18445" idx="3"/>
            <a:endCxn id="18440" idx="1"/>
          </p:cNvCxnSpPr>
          <p:nvPr/>
        </p:nvCxnSpPr>
        <p:spPr bwMode="auto">
          <a:xfrm>
            <a:off x="5410200" y="3200400"/>
            <a:ext cx="1143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48" name="Oval 17">
            <a:extLst>
              <a:ext uri="{FF2B5EF4-FFF2-40B4-BE49-F238E27FC236}">
                <a16:creationId xmlns:a16="http://schemas.microsoft.com/office/drawing/2014/main" id="{4C84963A-D7D7-1DD7-5FFA-9448A03A5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5240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Order_Date</a:t>
            </a:r>
          </a:p>
        </p:txBody>
      </p:sp>
      <p:cxnSp>
        <p:nvCxnSpPr>
          <p:cNvPr id="18449" name="AutoShape 18">
            <a:extLst>
              <a:ext uri="{FF2B5EF4-FFF2-40B4-BE49-F238E27FC236}">
                <a16:creationId xmlns:a16="http://schemas.microsoft.com/office/drawing/2014/main" id="{02D75620-75BC-C081-5517-BC622EBDAD28}"/>
              </a:ext>
            </a:extLst>
          </p:cNvPr>
          <p:cNvCxnSpPr>
            <a:cxnSpLocks noChangeShapeType="1"/>
            <a:stCxn id="18436" idx="0"/>
            <a:endCxn id="18448" idx="4"/>
          </p:cNvCxnSpPr>
          <p:nvPr/>
        </p:nvCxnSpPr>
        <p:spPr bwMode="auto">
          <a:xfrm flipV="1">
            <a:off x="1638300" y="2209800"/>
            <a:ext cx="10287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50" name="Oval 19">
            <a:extLst>
              <a:ext uri="{FF2B5EF4-FFF2-40B4-BE49-F238E27FC236}">
                <a16:creationId xmlns:a16="http://schemas.microsoft.com/office/drawing/2014/main" id="{C364A98A-4850-B779-8748-93E72BD24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1242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8451" name="Oval 20">
            <a:extLst>
              <a:ext uri="{FF2B5EF4-FFF2-40B4-BE49-F238E27FC236}">
                <a16:creationId xmlns:a16="http://schemas.microsoft.com/office/drawing/2014/main" id="{D4529B70-7EEB-9CA9-8896-70D924E3E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19050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Quantity</a:t>
            </a:r>
          </a:p>
        </p:txBody>
      </p:sp>
      <p:cxnSp>
        <p:nvCxnSpPr>
          <p:cNvPr id="18452" name="AutoShape 21">
            <a:extLst>
              <a:ext uri="{FF2B5EF4-FFF2-40B4-BE49-F238E27FC236}">
                <a16:creationId xmlns:a16="http://schemas.microsoft.com/office/drawing/2014/main" id="{493565E6-4D26-1302-4AD8-E941C188798D}"/>
              </a:ext>
            </a:extLst>
          </p:cNvPr>
          <p:cNvCxnSpPr>
            <a:cxnSpLocks noChangeShapeType="1"/>
            <a:stCxn id="18445" idx="0"/>
            <a:endCxn id="18451" idx="4"/>
          </p:cNvCxnSpPr>
          <p:nvPr/>
        </p:nvCxnSpPr>
        <p:spPr bwMode="auto">
          <a:xfrm flipH="1" flipV="1">
            <a:off x="4572000" y="2590800"/>
            <a:ext cx="381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53" name="Line 22">
            <a:extLst>
              <a:ext uri="{FF2B5EF4-FFF2-40B4-BE49-F238E27FC236}">
                <a16:creationId xmlns:a16="http://schemas.microsoft.com/office/drawing/2014/main" id="{2C6AF185-EC7D-8347-3C75-54F21AEBF12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048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4" name="Line 23">
            <a:extLst>
              <a:ext uri="{FF2B5EF4-FFF2-40B4-BE49-F238E27FC236}">
                <a16:creationId xmlns:a16="http://schemas.microsoft.com/office/drawing/2014/main" id="{78FFDF05-C802-5F20-4D34-B69BACEC2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3048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5" name="Line 24">
            <a:extLst>
              <a:ext uri="{FF2B5EF4-FFF2-40B4-BE49-F238E27FC236}">
                <a16:creationId xmlns:a16="http://schemas.microsoft.com/office/drawing/2014/main" id="{A982B1EB-CB07-92BC-52FF-8C0C928B2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3048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6" name="Line 25">
            <a:extLst>
              <a:ext uri="{FF2B5EF4-FFF2-40B4-BE49-F238E27FC236}">
                <a16:creationId xmlns:a16="http://schemas.microsoft.com/office/drawing/2014/main" id="{5FA8D979-09FC-FD66-B20E-9A5ACE56F4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048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7" name="Oval 26">
            <a:extLst>
              <a:ext uri="{FF2B5EF4-FFF2-40B4-BE49-F238E27FC236}">
                <a16:creationId xmlns:a16="http://schemas.microsoft.com/office/drawing/2014/main" id="{75445ECC-F1E0-D4A9-784F-C139F0A4D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886200"/>
            <a:ext cx="1752600" cy="6096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Product_Desc</a:t>
            </a:r>
          </a:p>
        </p:txBody>
      </p:sp>
      <p:sp>
        <p:nvSpPr>
          <p:cNvPr id="18458" name="Oval 27">
            <a:extLst>
              <a:ext uri="{FF2B5EF4-FFF2-40B4-BE49-F238E27FC236}">
                <a16:creationId xmlns:a16="http://schemas.microsoft.com/office/drawing/2014/main" id="{3A365509-704C-C954-9130-D17C4A4BC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3886200"/>
            <a:ext cx="1752600" cy="6096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Product_Finish</a:t>
            </a:r>
          </a:p>
        </p:txBody>
      </p:sp>
      <p:cxnSp>
        <p:nvCxnSpPr>
          <p:cNvPr id="18459" name="AutoShape 28">
            <a:extLst>
              <a:ext uri="{FF2B5EF4-FFF2-40B4-BE49-F238E27FC236}">
                <a16:creationId xmlns:a16="http://schemas.microsoft.com/office/drawing/2014/main" id="{43253A2A-10E9-B07D-C1E0-215E6497CB83}"/>
              </a:ext>
            </a:extLst>
          </p:cNvPr>
          <p:cNvCxnSpPr>
            <a:cxnSpLocks noChangeShapeType="1"/>
            <a:stCxn id="18458" idx="0"/>
            <a:endCxn id="18440" idx="2"/>
          </p:cNvCxnSpPr>
          <p:nvPr/>
        </p:nvCxnSpPr>
        <p:spPr bwMode="auto">
          <a:xfrm flipH="1" flipV="1">
            <a:off x="7353300" y="3505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60" name="AutoShape 29">
            <a:extLst>
              <a:ext uri="{FF2B5EF4-FFF2-40B4-BE49-F238E27FC236}">
                <a16:creationId xmlns:a16="http://schemas.microsoft.com/office/drawing/2014/main" id="{7CE15AF1-EDF8-FDFA-E8ED-260A37DF616C}"/>
              </a:ext>
            </a:extLst>
          </p:cNvPr>
          <p:cNvCxnSpPr>
            <a:cxnSpLocks noChangeShapeType="1"/>
            <a:stCxn id="18457" idx="0"/>
            <a:endCxn id="18440" idx="2"/>
          </p:cNvCxnSpPr>
          <p:nvPr/>
        </p:nvCxnSpPr>
        <p:spPr bwMode="auto">
          <a:xfrm flipV="1">
            <a:off x="6057900" y="3505200"/>
            <a:ext cx="12954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8461" name="Group 30">
            <a:extLst>
              <a:ext uri="{FF2B5EF4-FFF2-40B4-BE49-F238E27FC236}">
                <a16:creationId xmlns:a16="http://schemas.microsoft.com/office/drawing/2014/main" id="{9FF17EFA-9688-CC3E-0EB0-8B04A3BDBFB2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410200" y="3121025"/>
            <a:ext cx="306388" cy="155575"/>
            <a:chOff x="3888" y="1967"/>
            <a:chExt cx="193" cy="98"/>
          </a:xfrm>
        </p:grpSpPr>
        <p:sp>
          <p:nvSpPr>
            <p:cNvPr id="18484" name="Line 31">
              <a:extLst>
                <a:ext uri="{FF2B5EF4-FFF2-40B4-BE49-F238E27FC236}">
                  <a16:creationId xmlns:a16="http://schemas.microsoft.com/office/drawing/2014/main" id="{D11AAF90-86DF-7772-EB54-B060861291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498818">
              <a:off x="3983" y="1969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5" name="Line 32">
              <a:extLst>
                <a:ext uri="{FF2B5EF4-FFF2-40B4-BE49-F238E27FC236}">
                  <a16:creationId xmlns:a16="http://schemas.microsoft.com/office/drawing/2014/main" id="{C0CE9874-80D3-6F06-BB98-3B712D5E598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498818" flipV="1">
              <a:off x="3984" y="1872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62" name="Group 33">
            <a:extLst>
              <a:ext uri="{FF2B5EF4-FFF2-40B4-BE49-F238E27FC236}">
                <a16:creationId xmlns:a16="http://schemas.microsoft.com/office/drawing/2014/main" id="{B2AB874A-97D2-470C-FD25-6E6384FAC560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124200"/>
            <a:ext cx="306388" cy="155575"/>
            <a:chOff x="3888" y="1967"/>
            <a:chExt cx="193" cy="98"/>
          </a:xfrm>
        </p:grpSpPr>
        <p:sp>
          <p:nvSpPr>
            <p:cNvPr id="18482" name="Line 34">
              <a:extLst>
                <a:ext uri="{FF2B5EF4-FFF2-40B4-BE49-F238E27FC236}">
                  <a16:creationId xmlns:a16="http://schemas.microsoft.com/office/drawing/2014/main" id="{41BA6890-CC1E-4D37-86A9-6EB0DC1E226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498818">
              <a:off x="3983" y="1969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3" name="Line 35">
              <a:extLst>
                <a:ext uri="{FF2B5EF4-FFF2-40B4-BE49-F238E27FC236}">
                  <a16:creationId xmlns:a16="http://schemas.microsoft.com/office/drawing/2014/main" id="{5933F9F7-F5E8-3958-3625-F87A9E25534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498818" flipV="1">
              <a:off x="3984" y="1872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463" name="Line 36">
            <a:extLst>
              <a:ext uri="{FF2B5EF4-FFF2-40B4-BE49-F238E27FC236}">
                <a16:creationId xmlns:a16="http://schemas.microsoft.com/office/drawing/2014/main" id="{69268262-35BB-F751-6441-FD6CA95EE11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3048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4" name="Text Box 37">
            <a:extLst>
              <a:ext uri="{FF2B5EF4-FFF2-40B4-BE49-F238E27FC236}">
                <a16:creationId xmlns:a16="http://schemas.microsoft.com/office/drawing/2014/main" id="{0355A5E7-A7FF-1DFB-DA55-868A18F66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267200"/>
            <a:ext cx="220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/>
              <a:t>ORDER</a:t>
            </a:r>
          </a:p>
        </p:txBody>
      </p:sp>
      <p:sp>
        <p:nvSpPr>
          <p:cNvPr id="18465" name="Text Box 38">
            <a:extLst>
              <a:ext uri="{FF2B5EF4-FFF2-40B4-BE49-F238E27FC236}">
                <a16:creationId xmlns:a16="http://schemas.microsoft.com/office/drawing/2014/main" id="{F64C7218-51C6-5C9A-58A2-B49B23E88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4864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/>
              <a:t>ORDER_LINE</a:t>
            </a:r>
          </a:p>
        </p:txBody>
      </p:sp>
      <p:grpSp>
        <p:nvGrpSpPr>
          <p:cNvPr id="18466" name="Group 39">
            <a:extLst>
              <a:ext uri="{FF2B5EF4-FFF2-40B4-BE49-F238E27FC236}">
                <a16:creationId xmlns:a16="http://schemas.microsoft.com/office/drawing/2014/main" id="{BB31308F-99BC-54BD-B292-7A06ED4B2E1D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5867400"/>
            <a:ext cx="4800600" cy="609600"/>
            <a:chOff x="144" y="3840"/>
            <a:chExt cx="3024" cy="384"/>
          </a:xfrm>
        </p:grpSpPr>
        <p:sp>
          <p:nvSpPr>
            <p:cNvPr id="18479" name="Rectangle 40">
              <a:extLst>
                <a:ext uri="{FF2B5EF4-FFF2-40B4-BE49-F238E27FC236}">
                  <a16:creationId xmlns:a16="http://schemas.microsoft.com/office/drawing/2014/main" id="{D17CB353-10F4-D0E0-AA1A-F0E6860FC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/>
                <a:t>Product_ID</a:t>
              </a:r>
            </a:p>
          </p:txBody>
        </p:sp>
        <p:sp>
          <p:nvSpPr>
            <p:cNvPr id="18480" name="Rectangle 41">
              <a:extLst>
                <a:ext uri="{FF2B5EF4-FFF2-40B4-BE49-F238E27FC236}">
                  <a16:creationId xmlns:a16="http://schemas.microsoft.com/office/drawing/2014/main" id="{AF79974E-35DB-CB4A-642A-12E5695AE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/>
                <a:t>Order_ID</a:t>
              </a:r>
            </a:p>
          </p:txBody>
        </p:sp>
        <p:sp>
          <p:nvSpPr>
            <p:cNvPr id="18481" name="Rectangle 42">
              <a:extLst>
                <a:ext uri="{FF2B5EF4-FFF2-40B4-BE49-F238E27FC236}">
                  <a16:creationId xmlns:a16="http://schemas.microsoft.com/office/drawing/2014/main" id="{A6E2DB38-E0B3-15EE-0E7A-474831556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Quantity</a:t>
              </a:r>
            </a:p>
          </p:txBody>
        </p:sp>
      </p:grpSp>
      <p:cxnSp>
        <p:nvCxnSpPr>
          <p:cNvPr id="18467" name="AutoShape 43">
            <a:extLst>
              <a:ext uri="{FF2B5EF4-FFF2-40B4-BE49-F238E27FC236}">
                <a16:creationId xmlns:a16="http://schemas.microsoft.com/office/drawing/2014/main" id="{F280083D-A07F-7D28-3E05-A14E291BBEB1}"/>
              </a:ext>
            </a:extLst>
          </p:cNvPr>
          <p:cNvCxnSpPr>
            <a:cxnSpLocks noChangeShapeType="1"/>
            <a:stCxn id="18480" idx="0"/>
            <a:endCxn id="18477" idx="2"/>
          </p:cNvCxnSpPr>
          <p:nvPr/>
        </p:nvCxnSpPr>
        <p:spPr bwMode="auto">
          <a:xfrm rot="5400000" flipH="1">
            <a:off x="1447800" y="4838700"/>
            <a:ext cx="609600" cy="1447800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8468" name="Group 44">
            <a:extLst>
              <a:ext uri="{FF2B5EF4-FFF2-40B4-BE49-F238E27FC236}">
                <a16:creationId xmlns:a16="http://schemas.microsoft.com/office/drawing/2014/main" id="{93606684-20A3-4019-3622-BECF29C0CB80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4648200"/>
            <a:ext cx="3352800" cy="609600"/>
            <a:chOff x="144" y="3264"/>
            <a:chExt cx="2112" cy="384"/>
          </a:xfrm>
        </p:grpSpPr>
        <p:sp>
          <p:nvSpPr>
            <p:cNvPr id="18477" name="Rectangle 45">
              <a:extLst>
                <a:ext uri="{FF2B5EF4-FFF2-40B4-BE49-F238E27FC236}">
                  <a16:creationId xmlns:a16="http://schemas.microsoft.com/office/drawing/2014/main" id="{013B4637-35B6-3D23-CB2E-4B29FF1C3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u="sng"/>
                <a:t>Order_ID</a:t>
              </a:r>
            </a:p>
          </p:txBody>
        </p:sp>
        <p:sp>
          <p:nvSpPr>
            <p:cNvPr id="18478" name="Rectangle 46">
              <a:extLst>
                <a:ext uri="{FF2B5EF4-FFF2-40B4-BE49-F238E27FC236}">
                  <a16:creationId xmlns:a16="http://schemas.microsoft.com/office/drawing/2014/main" id="{A1110EA4-B0CF-BFAA-A896-AD6FF8D87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264"/>
              <a:ext cx="1104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Order_Date</a:t>
              </a:r>
            </a:p>
          </p:txBody>
        </p:sp>
      </p:grpSp>
      <p:sp>
        <p:nvSpPr>
          <p:cNvPr id="18469" name="Text Box 47">
            <a:extLst>
              <a:ext uri="{FF2B5EF4-FFF2-40B4-BE49-F238E27FC236}">
                <a16:creationId xmlns:a16="http://schemas.microsoft.com/office/drawing/2014/main" id="{734DFE15-3F6C-BCB6-1AB3-7DB022405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6482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/>
              <a:t>PRODUCT</a:t>
            </a:r>
          </a:p>
        </p:txBody>
      </p:sp>
      <p:cxnSp>
        <p:nvCxnSpPr>
          <p:cNvPr id="18470" name="AutoShape 48">
            <a:extLst>
              <a:ext uri="{FF2B5EF4-FFF2-40B4-BE49-F238E27FC236}">
                <a16:creationId xmlns:a16="http://schemas.microsoft.com/office/drawing/2014/main" id="{E759D84E-35D0-AD52-35A6-C64D286BA5B1}"/>
              </a:ext>
            </a:extLst>
          </p:cNvPr>
          <p:cNvCxnSpPr>
            <a:cxnSpLocks noChangeShapeType="1"/>
            <a:stCxn id="18479" idx="0"/>
            <a:endCxn id="18474" idx="2"/>
          </p:cNvCxnSpPr>
          <p:nvPr/>
        </p:nvCxnSpPr>
        <p:spPr bwMode="auto">
          <a:xfrm rot="-5400000">
            <a:off x="2540000" y="4051300"/>
            <a:ext cx="152400" cy="3479800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8471" name="Group 49">
            <a:extLst>
              <a:ext uri="{FF2B5EF4-FFF2-40B4-BE49-F238E27FC236}">
                <a16:creationId xmlns:a16="http://schemas.microsoft.com/office/drawing/2014/main" id="{2D4C66B6-87E7-5EC6-B7FB-5F2DB332CF61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5105400"/>
            <a:ext cx="5562600" cy="609600"/>
            <a:chOff x="2304" y="3216"/>
            <a:chExt cx="3504" cy="384"/>
          </a:xfrm>
        </p:grpSpPr>
        <p:grpSp>
          <p:nvGrpSpPr>
            <p:cNvPr id="18472" name="Group 50">
              <a:extLst>
                <a:ext uri="{FF2B5EF4-FFF2-40B4-BE49-F238E27FC236}">
                  <a16:creationId xmlns:a16="http://schemas.microsoft.com/office/drawing/2014/main" id="{C4D7E22E-81CB-83EA-1078-D327510301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3216"/>
              <a:ext cx="2640" cy="384"/>
              <a:chOff x="144" y="3840"/>
              <a:chExt cx="3024" cy="384"/>
            </a:xfrm>
          </p:grpSpPr>
          <p:sp>
            <p:nvSpPr>
              <p:cNvPr id="18474" name="Rectangle 51">
                <a:extLst>
                  <a:ext uri="{FF2B5EF4-FFF2-40B4-BE49-F238E27FC236}">
                    <a16:creationId xmlns:a16="http://schemas.microsoft.com/office/drawing/2014/main" id="{B8336032-3ABF-A6BC-1736-A1A91E36A5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3840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 u="sng"/>
                  <a:t>Product_ID</a:t>
                </a:r>
              </a:p>
            </p:txBody>
          </p:sp>
          <p:sp>
            <p:nvSpPr>
              <p:cNvPr id="18475" name="Rectangle 52">
                <a:extLst>
                  <a:ext uri="{FF2B5EF4-FFF2-40B4-BE49-F238E27FC236}">
                    <a16:creationId xmlns:a16="http://schemas.microsoft.com/office/drawing/2014/main" id="{1672306A-38CF-AEBE-89B6-FCEB520EEA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3840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600"/>
                  <a:t>Product_Desc</a:t>
                </a:r>
              </a:p>
            </p:txBody>
          </p:sp>
          <p:sp>
            <p:nvSpPr>
              <p:cNvPr id="18476" name="Rectangle 53">
                <a:extLst>
                  <a:ext uri="{FF2B5EF4-FFF2-40B4-BE49-F238E27FC236}">
                    <a16:creationId xmlns:a16="http://schemas.microsoft.com/office/drawing/2014/main" id="{46ED6A46-239A-72E9-DBA6-D39852CB34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840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400"/>
                  <a:t>Product_Finish</a:t>
                </a:r>
              </a:p>
            </p:txBody>
          </p:sp>
        </p:grpSp>
        <p:sp>
          <p:nvSpPr>
            <p:cNvPr id="18473" name="Rectangle 54">
              <a:extLst>
                <a:ext uri="{FF2B5EF4-FFF2-40B4-BE49-F238E27FC236}">
                  <a16:creationId xmlns:a16="http://schemas.microsoft.com/office/drawing/2014/main" id="{C17D8051-B1B1-E2E8-A378-762DAEF69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8" y="3216"/>
              <a:ext cx="880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400"/>
                <a:t>Standard_Price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D360EAA-F424-E4C7-AA3A-DE1A0DC55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895600"/>
            <a:ext cx="1600200" cy="6096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/>
              <a:t>NURSE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71CBC27-3028-E645-04AB-9C290181A4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28663"/>
            <a:ext cx="3609975" cy="396875"/>
          </a:xfrm>
        </p:spPr>
        <p:txBody>
          <a:bodyPr/>
          <a:lstStyle/>
          <a:p>
            <a:r>
              <a:rPr lang="en-US" altLang="en-US" sz="2400">
                <a:solidFill>
                  <a:srgbClr val="800000"/>
                </a:solidFill>
              </a:rPr>
              <a:t>Map Associative Entities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4385CCBC-A3DE-8AB8-9396-3D94E15A8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95600"/>
            <a:ext cx="1600200" cy="6096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/>
              <a:t>CUSTOMER</a:t>
            </a:r>
          </a:p>
        </p:txBody>
      </p:sp>
      <p:sp>
        <p:nvSpPr>
          <p:cNvPr id="19461" name="Oval 5">
            <a:extLst>
              <a:ext uri="{FF2B5EF4-FFF2-40B4-BE49-F238E27FC236}">
                <a16:creationId xmlns:a16="http://schemas.microsoft.com/office/drawing/2014/main" id="{25588733-38AB-C211-6A49-A1ADACE36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812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/>
              <a:t>Customer_ID</a:t>
            </a:r>
          </a:p>
        </p:txBody>
      </p:sp>
      <p:sp>
        <p:nvSpPr>
          <p:cNvPr id="19462" name="Text Box 7">
            <a:extLst>
              <a:ext uri="{FF2B5EF4-FFF2-40B4-BE49-F238E27FC236}">
                <a16:creationId xmlns:a16="http://schemas.microsoft.com/office/drawing/2014/main" id="{5FD74E1D-AFF2-E6CC-C11C-46C4D316D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886200"/>
            <a:ext cx="3810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/>
              <a:t>Resulting Relations</a:t>
            </a:r>
          </a:p>
        </p:txBody>
      </p:sp>
      <p:cxnSp>
        <p:nvCxnSpPr>
          <p:cNvPr id="19463" name="AutoShape 8">
            <a:extLst>
              <a:ext uri="{FF2B5EF4-FFF2-40B4-BE49-F238E27FC236}">
                <a16:creationId xmlns:a16="http://schemas.microsoft.com/office/drawing/2014/main" id="{C7B5363D-45FC-EA9C-37F4-C6E7C12675FC}"/>
              </a:ext>
            </a:extLst>
          </p:cNvPr>
          <p:cNvCxnSpPr>
            <a:cxnSpLocks noChangeShapeType="1"/>
            <a:stCxn id="19460" idx="0"/>
            <a:endCxn id="19461" idx="4"/>
          </p:cNvCxnSpPr>
          <p:nvPr/>
        </p:nvCxnSpPr>
        <p:spPr bwMode="auto">
          <a:xfrm flipH="1" flipV="1">
            <a:off x="914400" y="2667000"/>
            <a:ext cx="7239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64" name="Rectangle 9">
            <a:extLst>
              <a:ext uri="{FF2B5EF4-FFF2-40B4-BE49-F238E27FC236}">
                <a16:creationId xmlns:a16="http://schemas.microsoft.com/office/drawing/2014/main" id="{DFDF3D3F-207F-1B46-7C8B-8E6138351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895600"/>
            <a:ext cx="1600200" cy="609600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/>
              <a:t>VENDOR</a:t>
            </a:r>
          </a:p>
        </p:txBody>
      </p:sp>
      <p:sp>
        <p:nvSpPr>
          <p:cNvPr id="19465" name="Oval 10">
            <a:extLst>
              <a:ext uri="{FF2B5EF4-FFF2-40B4-BE49-F238E27FC236}">
                <a16:creationId xmlns:a16="http://schemas.microsoft.com/office/drawing/2014/main" id="{3A151104-F797-C30B-1E82-7E0FA1860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9906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/>
              <a:t>Vendor_ID</a:t>
            </a:r>
          </a:p>
        </p:txBody>
      </p:sp>
      <p:sp>
        <p:nvSpPr>
          <p:cNvPr id="19466" name="Oval 11">
            <a:extLst>
              <a:ext uri="{FF2B5EF4-FFF2-40B4-BE49-F238E27FC236}">
                <a16:creationId xmlns:a16="http://schemas.microsoft.com/office/drawing/2014/main" id="{52E08BB3-01FA-3F0B-682A-0EFE8E647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14478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Address</a:t>
            </a:r>
          </a:p>
        </p:txBody>
      </p:sp>
      <p:cxnSp>
        <p:nvCxnSpPr>
          <p:cNvPr id="19467" name="AutoShape 12">
            <a:extLst>
              <a:ext uri="{FF2B5EF4-FFF2-40B4-BE49-F238E27FC236}">
                <a16:creationId xmlns:a16="http://schemas.microsoft.com/office/drawing/2014/main" id="{29ECF8F8-0206-89B4-C3C1-83DD5C187D0C}"/>
              </a:ext>
            </a:extLst>
          </p:cNvPr>
          <p:cNvCxnSpPr>
            <a:cxnSpLocks noChangeShapeType="1"/>
            <a:stCxn id="19464" idx="0"/>
            <a:endCxn id="19465" idx="4"/>
          </p:cNvCxnSpPr>
          <p:nvPr/>
        </p:nvCxnSpPr>
        <p:spPr bwMode="auto">
          <a:xfrm flipH="1" flipV="1">
            <a:off x="6553200" y="1676400"/>
            <a:ext cx="80010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68" name="AutoShape 13">
            <a:extLst>
              <a:ext uri="{FF2B5EF4-FFF2-40B4-BE49-F238E27FC236}">
                <a16:creationId xmlns:a16="http://schemas.microsoft.com/office/drawing/2014/main" id="{66C216E4-3343-C144-26F1-F3652647C160}"/>
              </a:ext>
            </a:extLst>
          </p:cNvPr>
          <p:cNvCxnSpPr>
            <a:cxnSpLocks noChangeShapeType="1"/>
            <a:stCxn id="19464" idx="0"/>
            <a:endCxn id="19466" idx="4"/>
          </p:cNvCxnSpPr>
          <p:nvPr/>
        </p:nvCxnSpPr>
        <p:spPr bwMode="auto">
          <a:xfrm flipV="1">
            <a:off x="7353300" y="2133600"/>
            <a:ext cx="723900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69" name="AutoShape 14">
            <a:extLst>
              <a:ext uri="{FF2B5EF4-FFF2-40B4-BE49-F238E27FC236}">
                <a16:creationId xmlns:a16="http://schemas.microsoft.com/office/drawing/2014/main" id="{D002D744-E753-FAAE-59D6-47D05413B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895600"/>
            <a:ext cx="1600200" cy="609600"/>
          </a:xfrm>
          <a:prstGeom prst="diamond">
            <a:avLst/>
          </a:prstGeom>
          <a:solidFill>
            <a:schemeClr val="bg2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/>
              <a:t>SHIPMENT</a:t>
            </a:r>
          </a:p>
        </p:txBody>
      </p:sp>
      <p:cxnSp>
        <p:nvCxnSpPr>
          <p:cNvPr id="19470" name="AutoShape 15">
            <a:extLst>
              <a:ext uri="{FF2B5EF4-FFF2-40B4-BE49-F238E27FC236}">
                <a16:creationId xmlns:a16="http://schemas.microsoft.com/office/drawing/2014/main" id="{8B1A786B-351A-D7DD-5582-26F2F5F88935}"/>
              </a:ext>
            </a:extLst>
          </p:cNvPr>
          <p:cNvCxnSpPr>
            <a:cxnSpLocks noChangeShapeType="1"/>
            <a:stCxn id="19460" idx="3"/>
            <a:endCxn id="19469" idx="1"/>
          </p:cNvCxnSpPr>
          <p:nvPr/>
        </p:nvCxnSpPr>
        <p:spPr bwMode="auto">
          <a:xfrm>
            <a:off x="2438400" y="3200400"/>
            <a:ext cx="1371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71" name="AutoShape 16">
            <a:extLst>
              <a:ext uri="{FF2B5EF4-FFF2-40B4-BE49-F238E27FC236}">
                <a16:creationId xmlns:a16="http://schemas.microsoft.com/office/drawing/2014/main" id="{10EDF2EA-657E-528C-10C6-715B0E9493F9}"/>
              </a:ext>
            </a:extLst>
          </p:cNvPr>
          <p:cNvCxnSpPr>
            <a:cxnSpLocks noChangeShapeType="1"/>
            <a:stCxn id="19469" idx="3"/>
            <a:endCxn id="19464" idx="1"/>
          </p:cNvCxnSpPr>
          <p:nvPr/>
        </p:nvCxnSpPr>
        <p:spPr bwMode="auto">
          <a:xfrm>
            <a:off x="5410200" y="3200400"/>
            <a:ext cx="1143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72" name="Oval 17">
            <a:extLst>
              <a:ext uri="{FF2B5EF4-FFF2-40B4-BE49-F238E27FC236}">
                <a16:creationId xmlns:a16="http://schemas.microsoft.com/office/drawing/2014/main" id="{981EC1E4-D5A7-2EE1-DC4A-2BA0EC17C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5240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Name</a:t>
            </a:r>
          </a:p>
        </p:txBody>
      </p:sp>
      <p:cxnSp>
        <p:nvCxnSpPr>
          <p:cNvPr id="19473" name="AutoShape 18">
            <a:extLst>
              <a:ext uri="{FF2B5EF4-FFF2-40B4-BE49-F238E27FC236}">
                <a16:creationId xmlns:a16="http://schemas.microsoft.com/office/drawing/2014/main" id="{37C34D23-D81F-03C5-0248-C8E6309EDAFA}"/>
              </a:ext>
            </a:extLst>
          </p:cNvPr>
          <p:cNvCxnSpPr>
            <a:cxnSpLocks noChangeShapeType="1"/>
            <a:stCxn id="19460" idx="0"/>
            <a:endCxn id="19472" idx="4"/>
          </p:cNvCxnSpPr>
          <p:nvPr/>
        </p:nvCxnSpPr>
        <p:spPr bwMode="auto">
          <a:xfrm flipV="1">
            <a:off x="1638300" y="2209800"/>
            <a:ext cx="7239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74" name="Oval 19">
            <a:extLst>
              <a:ext uri="{FF2B5EF4-FFF2-40B4-BE49-F238E27FC236}">
                <a16:creationId xmlns:a16="http://schemas.microsoft.com/office/drawing/2014/main" id="{35B0049D-B7AA-6565-6274-9592908B8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9812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Date</a:t>
            </a:r>
          </a:p>
        </p:txBody>
      </p:sp>
      <p:cxnSp>
        <p:nvCxnSpPr>
          <p:cNvPr id="19475" name="AutoShape 20">
            <a:extLst>
              <a:ext uri="{FF2B5EF4-FFF2-40B4-BE49-F238E27FC236}">
                <a16:creationId xmlns:a16="http://schemas.microsoft.com/office/drawing/2014/main" id="{E97E8AB2-9EA4-5AA7-19FC-2F4B0AC94BC5}"/>
              </a:ext>
            </a:extLst>
          </p:cNvPr>
          <p:cNvCxnSpPr>
            <a:cxnSpLocks noChangeShapeType="1"/>
            <a:stCxn id="19469" idx="0"/>
            <a:endCxn id="19474" idx="4"/>
          </p:cNvCxnSpPr>
          <p:nvPr/>
        </p:nvCxnSpPr>
        <p:spPr bwMode="auto">
          <a:xfrm flipH="1" flipV="1">
            <a:off x="3886200" y="2667000"/>
            <a:ext cx="7239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9476" name="Group 21">
            <a:extLst>
              <a:ext uri="{FF2B5EF4-FFF2-40B4-BE49-F238E27FC236}">
                <a16:creationId xmlns:a16="http://schemas.microsoft.com/office/drawing/2014/main" id="{F8C5089A-F488-1047-70C4-3B19444DC0F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410200" y="3121025"/>
            <a:ext cx="306388" cy="155575"/>
            <a:chOff x="3888" y="1967"/>
            <a:chExt cx="193" cy="98"/>
          </a:xfrm>
        </p:grpSpPr>
        <p:sp>
          <p:nvSpPr>
            <p:cNvPr id="19504" name="Line 22">
              <a:extLst>
                <a:ext uri="{FF2B5EF4-FFF2-40B4-BE49-F238E27FC236}">
                  <a16:creationId xmlns:a16="http://schemas.microsoft.com/office/drawing/2014/main" id="{B69AFB3E-9509-B1A6-84AD-DEC8E2A02B3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498818">
              <a:off x="3983" y="1969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5" name="Line 23">
              <a:extLst>
                <a:ext uri="{FF2B5EF4-FFF2-40B4-BE49-F238E27FC236}">
                  <a16:creationId xmlns:a16="http://schemas.microsoft.com/office/drawing/2014/main" id="{58C71F58-7121-159D-FE0F-1E57550B49E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498818" flipV="1">
              <a:off x="3984" y="1872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477" name="Group 24">
            <a:extLst>
              <a:ext uri="{FF2B5EF4-FFF2-40B4-BE49-F238E27FC236}">
                <a16:creationId xmlns:a16="http://schemas.microsoft.com/office/drawing/2014/main" id="{146D7822-20B3-2A24-4CF8-387374FC9D39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124200"/>
            <a:ext cx="306388" cy="155575"/>
            <a:chOff x="3888" y="1967"/>
            <a:chExt cx="193" cy="98"/>
          </a:xfrm>
        </p:grpSpPr>
        <p:sp>
          <p:nvSpPr>
            <p:cNvPr id="19502" name="Line 25">
              <a:extLst>
                <a:ext uri="{FF2B5EF4-FFF2-40B4-BE49-F238E27FC236}">
                  <a16:creationId xmlns:a16="http://schemas.microsoft.com/office/drawing/2014/main" id="{7CDC89EC-224D-BA7F-8126-4FD7D4D6D0B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498818">
              <a:off x="3983" y="1969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3" name="Line 26">
              <a:extLst>
                <a:ext uri="{FF2B5EF4-FFF2-40B4-BE49-F238E27FC236}">
                  <a16:creationId xmlns:a16="http://schemas.microsoft.com/office/drawing/2014/main" id="{AE06560C-D4D2-21A5-12D7-2C9AA76188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498818" flipV="1">
              <a:off x="3984" y="1872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478" name="Text Box 27">
            <a:extLst>
              <a:ext uri="{FF2B5EF4-FFF2-40B4-BE49-F238E27FC236}">
                <a16:creationId xmlns:a16="http://schemas.microsoft.com/office/drawing/2014/main" id="{832A74F1-FC31-2D23-4692-D48042B99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267200"/>
            <a:ext cx="220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/>
              <a:t>CUSTOMER</a:t>
            </a:r>
          </a:p>
        </p:txBody>
      </p:sp>
      <p:sp>
        <p:nvSpPr>
          <p:cNvPr id="19479" name="Text Box 28">
            <a:extLst>
              <a:ext uri="{FF2B5EF4-FFF2-40B4-BE49-F238E27FC236}">
                <a16:creationId xmlns:a16="http://schemas.microsoft.com/office/drawing/2014/main" id="{2A841277-2A34-ED6C-AD20-5AB382138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4864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/>
              <a:t>VENDOR</a:t>
            </a:r>
          </a:p>
        </p:txBody>
      </p:sp>
      <p:grpSp>
        <p:nvGrpSpPr>
          <p:cNvPr id="19480" name="Group 29">
            <a:extLst>
              <a:ext uri="{FF2B5EF4-FFF2-40B4-BE49-F238E27FC236}">
                <a16:creationId xmlns:a16="http://schemas.microsoft.com/office/drawing/2014/main" id="{7C97401B-849F-8386-2C34-471B55CA9BFB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5867400"/>
            <a:ext cx="4800600" cy="609600"/>
            <a:chOff x="144" y="3840"/>
            <a:chExt cx="3024" cy="384"/>
          </a:xfrm>
        </p:grpSpPr>
        <p:sp>
          <p:nvSpPr>
            <p:cNvPr id="19499" name="Rectangle 30">
              <a:extLst>
                <a:ext uri="{FF2B5EF4-FFF2-40B4-BE49-F238E27FC236}">
                  <a16:creationId xmlns:a16="http://schemas.microsoft.com/office/drawing/2014/main" id="{87F09AB1-D33D-B568-6FE0-A8DA152A3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/>
                <a:t>Vendor_ID</a:t>
              </a:r>
            </a:p>
          </p:txBody>
        </p:sp>
        <p:sp>
          <p:nvSpPr>
            <p:cNvPr id="19500" name="Rectangle 31">
              <a:extLst>
                <a:ext uri="{FF2B5EF4-FFF2-40B4-BE49-F238E27FC236}">
                  <a16:creationId xmlns:a16="http://schemas.microsoft.com/office/drawing/2014/main" id="{34AA1028-B96E-AD00-D384-92E453F08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Address</a:t>
              </a:r>
            </a:p>
          </p:txBody>
        </p:sp>
        <p:sp>
          <p:nvSpPr>
            <p:cNvPr id="19501" name="Rectangle 32">
              <a:extLst>
                <a:ext uri="{FF2B5EF4-FFF2-40B4-BE49-F238E27FC236}">
                  <a16:creationId xmlns:a16="http://schemas.microsoft.com/office/drawing/2014/main" id="{BC032B15-0261-7577-D764-E41DC3F29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Other attributes</a:t>
              </a:r>
            </a:p>
          </p:txBody>
        </p:sp>
      </p:grpSp>
      <p:grpSp>
        <p:nvGrpSpPr>
          <p:cNvPr id="19481" name="Group 33">
            <a:extLst>
              <a:ext uri="{FF2B5EF4-FFF2-40B4-BE49-F238E27FC236}">
                <a16:creationId xmlns:a16="http://schemas.microsoft.com/office/drawing/2014/main" id="{02EFA3FB-9575-CB5E-9C3F-5233A95C46E5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4648200"/>
            <a:ext cx="3352800" cy="609600"/>
            <a:chOff x="144" y="3264"/>
            <a:chExt cx="2112" cy="384"/>
          </a:xfrm>
        </p:grpSpPr>
        <p:sp>
          <p:nvSpPr>
            <p:cNvPr id="19497" name="Rectangle 34">
              <a:extLst>
                <a:ext uri="{FF2B5EF4-FFF2-40B4-BE49-F238E27FC236}">
                  <a16:creationId xmlns:a16="http://schemas.microsoft.com/office/drawing/2014/main" id="{416740F9-BB14-7601-F028-6D3A2E0D0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/>
                <a:t>Customer_ID</a:t>
              </a:r>
            </a:p>
          </p:txBody>
        </p:sp>
        <p:sp>
          <p:nvSpPr>
            <p:cNvPr id="19498" name="Rectangle 35">
              <a:extLst>
                <a:ext uri="{FF2B5EF4-FFF2-40B4-BE49-F238E27FC236}">
                  <a16:creationId xmlns:a16="http://schemas.microsoft.com/office/drawing/2014/main" id="{8D3142D7-DEAC-6377-D004-A2F47E25A8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264"/>
              <a:ext cx="1104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Name</a:t>
              </a:r>
            </a:p>
          </p:txBody>
        </p:sp>
      </p:grpSp>
      <p:sp>
        <p:nvSpPr>
          <p:cNvPr id="19482" name="Text Box 36">
            <a:extLst>
              <a:ext uri="{FF2B5EF4-FFF2-40B4-BE49-F238E27FC236}">
                <a16:creationId xmlns:a16="http://schemas.microsoft.com/office/drawing/2014/main" id="{CEE54427-2E2A-FDEE-4F13-FADD7D742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6482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/>
              <a:t>SHIPMENT</a:t>
            </a:r>
          </a:p>
        </p:txBody>
      </p:sp>
      <p:grpSp>
        <p:nvGrpSpPr>
          <p:cNvPr id="19483" name="Group 37">
            <a:extLst>
              <a:ext uri="{FF2B5EF4-FFF2-40B4-BE49-F238E27FC236}">
                <a16:creationId xmlns:a16="http://schemas.microsoft.com/office/drawing/2014/main" id="{7AAB7B0D-281E-AF6C-1DEB-918EF97EEB35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5105400"/>
            <a:ext cx="5562600" cy="609600"/>
            <a:chOff x="2304" y="3216"/>
            <a:chExt cx="3504" cy="384"/>
          </a:xfrm>
        </p:grpSpPr>
        <p:grpSp>
          <p:nvGrpSpPr>
            <p:cNvPr id="19492" name="Group 38">
              <a:extLst>
                <a:ext uri="{FF2B5EF4-FFF2-40B4-BE49-F238E27FC236}">
                  <a16:creationId xmlns:a16="http://schemas.microsoft.com/office/drawing/2014/main" id="{2C77C689-CF14-0654-9C61-D100A2CDE5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3216"/>
              <a:ext cx="2640" cy="384"/>
              <a:chOff x="144" y="3840"/>
              <a:chExt cx="3024" cy="384"/>
            </a:xfrm>
          </p:grpSpPr>
          <p:sp>
            <p:nvSpPr>
              <p:cNvPr id="19494" name="Rectangle 39">
                <a:extLst>
                  <a:ext uri="{FF2B5EF4-FFF2-40B4-BE49-F238E27FC236}">
                    <a16:creationId xmlns:a16="http://schemas.microsoft.com/office/drawing/2014/main" id="{04F1BE99-8406-41F7-9263-03254313A0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3840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 u="sng"/>
                  <a:t>Shipment_No</a:t>
                </a:r>
              </a:p>
            </p:txBody>
          </p:sp>
          <p:sp>
            <p:nvSpPr>
              <p:cNvPr id="19495" name="Rectangle 40">
                <a:extLst>
                  <a:ext uri="{FF2B5EF4-FFF2-40B4-BE49-F238E27FC236}">
                    <a16:creationId xmlns:a16="http://schemas.microsoft.com/office/drawing/2014/main" id="{B86CE198-F906-279A-6F1A-233FA5FAED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3840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/>
                  <a:t>Customer_ID</a:t>
                </a:r>
              </a:p>
            </p:txBody>
          </p:sp>
          <p:sp>
            <p:nvSpPr>
              <p:cNvPr id="19496" name="Rectangle 41">
                <a:extLst>
                  <a:ext uri="{FF2B5EF4-FFF2-40B4-BE49-F238E27FC236}">
                    <a16:creationId xmlns:a16="http://schemas.microsoft.com/office/drawing/2014/main" id="{452D63DD-E7FB-66EA-4A1C-D5EBAE18DE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840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/>
                  <a:t>Vendor_ID</a:t>
                </a:r>
              </a:p>
            </p:txBody>
          </p:sp>
        </p:grpSp>
        <p:sp>
          <p:nvSpPr>
            <p:cNvPr id="19493" name="Rectangle 42">
              <a:extLst>
                <a:ext uri="{FF2B5EF4-FFF2-40B4-BE49-F238E27FC236}">
                  <a16:creationId xmlns:a16="http://schemas.microsoft.com/office/drawing/2014/main" id="{F4D9CC83-5EAE-8FC5-47C2-DF803BD79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8" y="3216"/>
              <a:ext cx="880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Others</a:t>
              </a:r>
            </a:p>
          </p:txBody>
        </p:sp>
      </p:grpSp>
      <p:sp>
        <p:nvSpPr>
          <p:cNvPr id="19484" name="Oval 43">
            <a:extLst>
              <a:ext uri="{FF2B5EF4-FFF2-40B4-BE49-F238E27FC236}">
                <a16:creationId xmlns:a16="http://schemas.microsoft.com/office/drawing/2014/main" id="{C8AD609D-484A-AC29-32AB-31C6C8B4E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18288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/>
              <a:t>Shipment_No</a:t>
            </a:r>
          </a:p>
        </p:txBody>
      </p:sp>
      <p:sp>
        <p:nvSpPr>
          <p:cNvPr id="19485" name="Oval 44">
            <a:extLst>
              <a:ext uri="{FF2B5EF4-FFF2-40B4-BE49-F238E27FC236}">
                <a16:creationId xmlns:a16="http://schemas.microsoft.com/office/drawing/2014/main" id="{614A441F-8AD3-BA92-ABDE-902D3F7F6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6576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Amount</a:t>
            </a:r>
          </a:p>
        </p:txBody>
      </p:sp>
      <p:cxnSp>
        <p:nvCxnSpPr>
          <p:cNvPr id="19486" name="AutoShape 45">
            <a:extLst>
              <a:ext uri="{FF2B5EF4-FFF2-40B4-BE49-F238E27FC236}">
                <a16:creationId xmlns:a16="http://schemas.microsoft.com/office/drawing/2014/main" id="{682159C3-D008-CD54-1F07-313E1D28B395}"/>
              </a:ext>
            </a:extLst>
          </p:cNvPr>
          <p:cNvCxnSpPr>
            <a:cxnSpLocks noChangeShapeType="1"/>
            <a:stCxn id="19485" idx="0"/>
            <a:endCxn id="19469" idx="2"/>
          </p:cNvCxnSpPr>
          <p:nvPr/>
        </p:nvCxnSpPr>
        <p:spPr bwMode="auto">
          <a:xfrm flipH="1" flipV="1">
            <a:off x="4610100" y="3505200"/>
            <a:ext cx="6477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87" name="AutoShape 46">
            <a:extLst>
              <a:ext uri="{FF2B5EF4-FFF2-40B4-BE49-F238E27FC236}">
                <a16:creationId xmlns:a16="http://schemas.microsoft.com/office/drawing/2014/main" id="{D5474397-CACF-704A-77D1-EFDA3C5977EC}"/>
              </a:ext>
            </a:extLst>
          </p:cNvPr>
          <p:cNvCxnSpPr>
            <a:cxnSpLocks noChangeShapeType="1"/>
            <a:stCxn id="19484" idx="4"/>
            <a:endCxn id="19469" idx="0"/>
          </p:cNvCxnSpPr>
          <p:nvPr/>
        </p:nvCxnSpPr>
        <p:spPr bwMode="auto">
          <a:xfrm flipH="1">
            <a:off x="4610100" y="2514600"/>
            <a:ext cx="11811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88" name="Line 47">
            <a:extLst>
              <a:ext uri="{FF2B5EF4-FFF2-40B4-BE49-F238E27FC236}">
                <a16:creationId xmlns:a16="http://schemas.microsoft.com/office/drawing/2014/main" id="{37679097-239C-6F44-67E6-27AAF1688A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5562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9" name="Line 48">
            <a:extLst>
              <a:ext uri="{FF2B5EF4-FFF2-40B4-BE49-F238E27FC236}">
                <a16:creationId xmlns:a16="http://schemas.microsoft.com/office/drawing/2014/main" id="{0ECBD45D-122F-1DAD-A7D6-B2CDD87BD0E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5562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9490" name="AutoShape 49">
            <a:extLst>
              <a:ext uri="{FF2B5EF4-FFF2-40B4-BE49-F238E27FC236}">
                <a16:creationId xmlns:a16="http://schemas.microsoft.com/office/drawing/2014/main" id="{851D921D-27C1-E521-3F05-B36754EDB907}"/>
              </a:ext>
            </a:extLst>
          </p:cNvPr>
          <p:cNvCxnSpPr>
            <a:cxnSpLocks noChangeShapeType="1"/>
            <a:stCxn id="19495" idx="0"/>
            <a:endCxn id="19497" idx="0"/>
          </p:cNvCxnSpPr>
          <p:nvPr/>
        </p:nvCxnSpPr>
        <p:spPr bwMode="auto">
          <a:xfrm rot="5400000" flipH="1">
            <a:off x="3162300" y="2514600"/>
            <a:ext cx="457200" cy="4724400"/>
          </a:xfrm>
          <a:prstGeom prst="curvedConnector3">
            <a:avLst>
              <a:gd name="adj1" fmla="val 1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91" name="AutoShape 50">
            <a:extLst>
              <a:ext uri="{FF2B5EF4-FFF2-40B4-BE49-F238E27FC236}">
                <a16:creationId xmlns:a16="http://schemas.microsoft.com/office/drawing/2014/main" id="{E3A6DBE4-9634-CC4A-CABB-7E3B4EF71528}"/>
              </a:ext>
            </a:extLst>
          </p:cNvPr>
          <p:cNvCxnSpPr>
            <a:cxnSpLocks noChangeShapeType="1"/>
            <a:stCxn id="19496" idx="2"/>
            <a:endCxn id="19499" idx="2"/>
          </p:cNvCxnSpPr>
          <p:nvPr/>
        </p:nvCxnSpPr>
        <p:spPr bwMode="auto">
          <a:xfrm rot="5400000">
            <a:off x="3632200" y="2959100"/>
            <a:ext cx="762000" cy="6273800"/>
          </a:xfrm>
          <a:prstGeom prst="bentConnector3">
            <a:avLst>
              <a:gd name="adj1" fmla="val 13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8F666C8-1FEE-8395-6CD9-CF9D5C1212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148263" cy="504825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2. Transforming Relationships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4376D908-83A5-3967-6936-CFAC6AE2A6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87463"/>
            <a:ext cx="8497887" cy="5165725"/>
          </a:xfrm>
        </p:spPr>
        <p:txBody>
          <a:bodyPr/>
          <a:lstStyle/>
          <a:p>
            <a:pPr marL="228600" indent="-228600">
              <a:defRPr/>
            </a:pPr>
            <a:r>
              <a:rPr lang="en-US" sz="2400" dirty="0"/>
              <a:t>There can be following types of a relationship:</a:t>
            </a:r>
          </a:p>
          <a:p>
            <a:pPr marL="990600" lvl="1" indent="-533400">
              <a:buFontTx/>
              <a:buAutoNum type="alphaLcParenR"/>
              <a:defRPr/>
            </a:pPr>
            <a:r>
              <a:rPr lang="en-US" dirty="0">
                <a:solidFill>
                  <a:schemeClr val="accent2"/>
                </a:solidFill>
              </a:rPr>
              <a:t>Binary Relationship </a:t>
            </a:r>
          </a:p>
          <a:p>
            <a:pPr marL="990600" lvl="1" indent="-533400">
              <a:buFontTx/>
              <a:buAutoNum type="alphaLcParenR"/>
              <a:defRPr/>
            </a:pPr>
            <a:r>
              <a:rPr lang="en-US" dirty="0">
                <a:solidFill>
                  <a:schemeClr val="accent2"/>
                </a:solidFill>
              </a:rPr>
              <a:t>Unary Relationship </a:t>
            </a:r>
          </a:p>
          <a:p>
            <a:pPr marL="990600" lvl="1" indent="-533400">
              <a:buFontTx/>
              <a:buAutoNum type="alphaLcParenR"/>
              <a:defRPr/>
            </a:pPr>
            <a:r>
              <a:rPr lang="en-US" dirty="0">
                <a:solidFill>
                  <a:schemeClr val="accent2"/>
                </a:solidFill>
              </a:rPr>
              <a:t>Ternary Relationship </a:t>
            </a:r>
          </a:p>
          <a:p>
            <a:pPr marL="990600" lvl="1" indent="-533400">
              <a:buFontTx/>
              <a:buAutoNum type="alphaLcParenR"/>
              <a:defRPr/>
            </a:pPr>
            <a:r>
              <a:rPr lang="en-US" dirty="0">
                <a:solidFill>
                  <a:schemeClr val="accent2"/>
                </a:solidFill>
              </a:rPr>
              <a:t>Super type / Subtype Relationship</a:t>
            </a:r>
          </a:p>
          <a:p>
            <a:pPr marL="609600" indent="-609600">
              <a:defRPr/>
            </a:pPr>
            <a:endParaRPr lang="en-US" sz="2400" dirty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2FE824B-EAE9-74D4-775B-1A3EDE98CB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148263" cy="504825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2. Transforming Relationships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4004F4F-D5E0-9AF1-55B1-5A6A7D572D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87463"/>
            <a:ext cx="8497887" cy="5165725"/>
          </a:xfrm>
        </p:spPr>
        <p:txBody>
          <a:bodyPr/>
          <a:lstStyle/>
          <a:p>
            <a:pPr marL="457200" indent="-400050" algn="just">
              <a:buFontTx/>
              <a:buAutoNum type="alphaLcParenR"/>
              <a:defRPr/>
            </a:pPr>
            <a:r>
              <a:rPr lang="en-US" sz="2400" dirty="0">
                <a:solidFill>
                  <a:schemeClr val="accent2"/>
                </a:solidFill>
              </a:rPr>
              <a:t>Binary Relationship </a:t>
            </a:r>
          </a:p>
          <a:p>
            <a:pPr marL="990600" lvl="1" indent="-533400" algn="just">
              <a:buFontTx/>
              <a:buNone/>
              <a:defRPr/>
            </a:pPr>
            <a:r>
              <a:rPr lang="en-US" dirty="0">
                <a:solidFill>
                  <a:srgbClr val="800000"/>
                </a:solidFill>
              </a:rPr>
              <a:t>i) One to Many</a:t>
            </a:r>
          </a:p>
          <a:p>
            <a:pPr marL="457200" indent="-457200" algn="just">
              <a:defRPr/>
            </a:pPr>
            <a:r>
              <a:rPr lang="en-US" sz="2400" dirty="0"/>
              <a:t>It is represented by the PK of the entity having one cardinality as a FK in the relation representing the entity having many cardinality </a:t>
            </a:r>
          </a:p>
          <a:p>
            <a:pPr marL="457200" indent="-457200" algn="just">
              <a:defRPr/>
            </a:pPr>
            <a:r>
              <a:rPr lang="en-US" sz="2400" dirty="0">
                <a:solidFill>
                  <a:schemeClr val="accent2"/>
                </a:solidFill>
              </a:rPr>
              <a:t>Example:</a:t>
            </a:r>
            <a:r>
              <a:rPr lang="en-US" sz="2400" dirty="0"/>
              <a:t> Department - Employee (1:M)</a:t>
            </a:r>
            <a:endParaRPr lang="en-US" sz="2400" dirty="0">
              <a:solidFill>
                <a:schemeClr val="accent2"/>
              </a:solidFill>
            </a:endParaRPr>
          </a:p>
          <a:p>
            <a:pPr marL="990600" lvl="1" indent="-533400" algn="just">
              <a:buFontTx/>
              <a:buNone/>
              <a:defRPr/>
            </a:pPr>
            <a:r>
              <a:rPr lang="en-US" dirty="0">
                <a:solidFill>
                  <a:srgbClr val="800000"/>
                </a:solidFill>
              </a:rPr>
              <a:t>ii) One to One </a:t>
            </a:r>
          </a:p>
          <a:p>
            <a:pPr marL="457200" indent="-457200" algn="just">
              <a:defRPr/>
            </a:pPr>
            <a:r>
              <a:rPr lang="en-US" sz="2400" dirty="0"/>
              <a:t>It is represented by the PK of the entity having mandatory cardinality as a FK in the relation representing the entity having optional cardinality </a:t>
            </a:r>
            <a:r>
              <a:rPr lang="en-US" sz="2400" dirty="0">
                <a:solidFill>
                  <a:schemeClr val="accent2"/>
                </a:solidFill>
              </a:rPr>
              <a:t>  </a:t>
            </a:r>
          </a:p>
          <a:p>
            <a:pPr marL="457200" indent="-457200" algn="just">
              <a:defRPr/>
            </a:pPr>
            <a:r>
              <a:rPr lang="en-US" sz="2400" dirty="0">
                <a:solidFill>
                  <a:schemeClr val="accent2"/>
                </a:solidFill>
              </a:rPr>
              <a:t>Example:</a:t>
            </a:r>
            <a:r>
              <a:rPr lang="en-US" sz="2400" dirty="0"/>
              <a:t> Student – Project (1:1)</a:t>
            </a:r>
            <a:endParaRPr lang="en-US" sz="2400" dirty="0">
              <a:solidFill>
                <a:schemeClr val="accent2"/>
              </a:solidFill>
            </a:endParaRPr>
          </a:p>
          <a:p>
            <a:pPr marL="609600" indent="-609600" algn="just">
              <a:defRPr/>
            </a:pPr>
            <a:endParaRPr lang="en-US" sz="2400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88B0B73-809F-48B8-DBA7-D0B0ADECE8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69925"/>
            <a:ext cx="8229600" cy="455613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Binary Relationship (1:M)</a:t>
            </a:r>
          </a:p>
        </p:txBody>
      </p:sp>
      <p:pic>
        <p:nvPicPr>
          <p:cNvPr id="22531" name="Picture 5">
            <a:extLst>
              <a:ext uri="{FF2B5EF4-FFF2-40B4-BE49-F238E27FC236}">
                <a16:creationId xmlns:a16="http://schemas.microsoft.com/office/drawing/2014/main" id="{0EB5D838-4598-7DC1-5B56-823FC15294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25" y="1268413"/>
            <a:ext cx="8216900" cy="520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8F72284-3B35-BB05-E7CE-583A5E1394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69925"/>
            <a:ext cx="8229600" cy="455613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Binary Relationship (1:1)</a:t>
            </a:r>
          </a:p>
        </p:txBody>
      </p:sp>
      <p:pic>
        <p:nvPicPr>
          <p:cNvPr id="23555" name="Picture 1">
            <a:extLst>
              <a:ext uri="{FF2B5EF4-FFF2-40B4-BE49-F238E27FC236}">
                <a16:creationId xmlns:a16="http://schemas.microsoft.com/office/drawing/2014/main" id="{9C4CE416-6FB0-AB34-3F55-2ECC93E26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8" y="1268413"/>
            <a:ext cx="7489825" cy="521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A1B496D-0793-E210-1CCB-54911F4813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148263" cy="504825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2. Transforming Relationships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93AFD91-D8E5-2501-612C-66CFE970AE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87463"/>
            <a:ext cx="8497887" cy="5165725"/>
          </a:xfrm>
        </p:spPr>
        <p:txBody>
          <a:bodyPr/>
          <a:lstStyle/>
          <a:p>
            <a:pPr marL="457200" indent="-400050">
              <a:buFontTx/>
              <a:buAutoNum type="alphaLcParenR"/>
              <a:defRPr/>
            </a:pPr>
            <a:r>
              <a:rPr lang="en-US" sz="2400" dirty="0">
                <a:solidFill>
                  <a:schemeClr val="accent2"/>
                </a:solidFill>
              </a:rPr>
              <a:t>Binary Relationship</a:t>
            </a:r>
          </a:p>
          <a:p>
            <a:pPr marL="990600" lvl="1" indent="-533400">
              <a:buFontTx/>
              <a:buNone/>
              <a:defRPr/>
            </a:pPr>
            <a:r>
              <a:rPr lang="en-US" dirty="0">
                <a:solidFill>
                  <a:srgbClr val="800000"/>
                </a:solidFill>
              </a:rPr>
              <a:t>iii) Many to Many</a:t>
            </a:r>
          </a:p>
          <a:p>
            <a:pPr marL="457200" indent="-457200">
              <a:defRPr/>
            </a:pPr>
            <a:r>
              <a:rPr lang="en-US" sz="2400" dirty="0"/>
              <a:t>A new relation is created consisting of Primary Keys of both the entities plus the attributes of the relationship.</a:t>
            </a:r>
          </a:p>
          <a:p>
            <a:pPr marL="457200" indent="-457200">
              <a:defRPr/>
            </a:pPr>
            <a:r>
              <a:rPr lang="en-US" sz="2400" dirty="0">
                <a:solidFill>
                  <a:schemeClr val="accent2"/>
                </a:solidFill>
              </a:rPr>
              <a:t>Example:</a:t>
            </a:r>
            <a:r>
              <a:rPr lang="en-US" sz="2400" dirty="0"/>
              <a:t>	Order – Product (M:N) </a:t>
            </a:r>
          </a:p>
          <a:p>
            <a:pPr marL="0" indent="0">
              <a:buFontTx/>
              <a:buNone/>
              <a:defRPr/>
            </a:pPr>
            <a:r>
              <a:rPr lang="en-US" sz="2400" dirty="0"/>
              <a:t>		</a:t>
            </a:r>
            <a:r>
              <a:rPr lang="en-US" sz="2400"/>
              <a:t>Student – Course (M:N)</a:t>
            </a:r>
            <a:endParaRPr lang="en-US" sz="1600" dirty="0"/>
          </a:p>
          <a:p>
            <a:pPr marL="609600" indent="-609600">
              <a:buFontTx/>
              <a:buNone/>
              <a:defRPr/>
            </a:pPr>
            <a:endParaRPr lang="en-US" sz="2400" dirty="0">
              <a:solidFill>
                <a:schemeClr val="accent2"/>
              </a:solidFill>
            </a:endParaRPr>
          </a:p>
          <a:p>
            <a:pPr marL="609600" indent="-609600">
              <a:defRPr/>
            </a:pPr>
            <a:endParaRPr lang="en-US" sz="2400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2999E3D-55FD-4E72-3B72-6F1C4ADC1F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17463"/>
            <a:ext cx="8229600" cy="455612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Binary Relationship (M:N)</a:t>
            </a:r>
          </a:p>
        </p:txBody>
      </p:sp>
      <p:pic>
        <p:nvPicPr>
          <p:cNvPr id="25603" name="Picture 2">
            <a:extLst>
              <a:ext uri="{FF2B5EF4-FFF2-40B4-BE49-F238E27FC236}">
                <a16:creationId xmlns:a16="http://schemas.microsoft.com/office/drawing/2014/main" id="{9AC0F755-16E9-0815-5E1F-AD9C6D2A5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531813"/>
            <a:ext cx="6985000" cy="599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0F7B2BC-BC13-D72D-0679-E77F355495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4043362" cy="468313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Map Binary Relationships</a:t>
            </a: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3DC5F076-C9F9-2B64-C148-0D607514B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191000"/>
            <a:ext cx="220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/>
              <a:t>RAW MATERIALS</a:t>
            </a: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AD92C9B8-B458-D9FE-4D17-D634E7F61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895600"/>
            <a:ext cx="1600200" cy="6096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/>
              <a:t>RAW MATERIAL</a:t>
            </a:r>
          </a:p>
        </p:txBody>
      </p:sp>
      <p:sp>
        <p:nvSpPr>
          <p:cNvPr id="26629" name="Oval 5">
            <a:extLst>
              <a:ext uri="{FF2B5EF4-FFF2-40B4-BE49-F238E27FC236}">
                <a16:creationId xmlns:a16="http://schemas.microsoft.com/office/drawing/2014/main" id="{57E1C68B-867D-673B-AFC0-E35D897B4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6002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Unit_of_Measure</a:t>
            </a:r>
          </a:p>
        </p:txBody>
      </p:sp>
      <p:sp>
        <p:nvSpPr>
          <p:cNvPr id="26630" name="Oval 6">
            <a:extLst>
              <a:ext uri="{FF2B5EF4-FFF2-40B4-BE49-F238E27FC236}">
                <a16:creationId xmlns:a16="http://schemas.microsoft.com/office/drawing/2014/main" id="{3E9DD73C-CA4B-A40C-E2B6-11B1A812A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000"/>
            <a:ext cx="1752600" cy="6096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/>
              <a:t>Material_ID</a:t>
            </a:r>
          </a:p>
        </p:txBody>
      </p:sp>
      <p:cxnSp>
        <p:nvCxnSpPr>
          <p:cNvPr id="26631" name="AutoShape 7">
            <a:extLst>
              <a:ext uri="{FF2B5EF4-FFF2-40B4-BE49-F238E27FC236}">
                <a16:creationId xmlns:a16="http://schemas.microsoft.com/office/drawing/2014/main" id="{46B98AA2-1735-8C0D-7312-F69DA67DF070}"/>
              </a:ext>
            </a:extLst>
          </p:cNvPr>
          <p:cNvCxnSpPr>
            <a:cxnSpLocks noChangeShapeType="1"/>
            <a:stCxn id="26628" idx="1"/>
            <a:endCxn id="26630" idx="6"/>
          </p:cNvCxnSpPr>
          <p:nvPr/>
        </p:nvCxnSpPr>
        <p:spPr bwMode="auto">
          <a:xfrm flipH="1" flipV="1">
            <a:off x="1752600" y="2971800"/>
            <a:ext cx="2286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32" name="Text Box 8">
            <a:extLst>
              <a:ext uri="{FF2B5EF4-FFF2-40B4-BE49-F238E27FC236}">
                <a16:creationId xmlns:a16="http://schemas.microsoft.com/office/drawing/2014/main" id="{62E0AB09-2FF3-1455-6A8E-DD5D888AE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765175"/>
            <a:ext cx="3505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</a:rPr>
              <a:t>M:N Relationship</a:t>
            </a:r>
          </a:p>
        </p:txBody>
      </p:sp>
      <p:sp>
        <p:nvSpPr>
          <p:cNvPr id="26633" name="Text Box 9">
            <a:extLst>
              <a:ext uri="{FF2B5EF4-FFF2-40B4-BE49-F238E27FC236}">
                <a16:creationId xmlns:a16="http://schemas.microsoft.com/office/drawing/2014/main" id="{97761756-1E33-CD9B-41FA-9EBB15933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886200"/>
            <a:ext cx="3810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/>
              <a:t>Three Resulting Relations</a:t>
            </a:r>
          </a:p>
        </p:txBody>
      </p:sp>
      <p:sp>
        <p:nvSpPr>
          <p:cNvPr id="26634" name="Text Box 10">
            <a:extLst>
              <a:ext uri="{FF2B5EF4-FFF2-40B4-BE49-F238E27FC236}">
                <a16:creationId xmlns:a16="http://schemas.microsoft.com/office/drawing/2014/main" id="{556DA5BC-8665-B4E1-B42E-2710A24FB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4102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/>
              <a:t>QUOTE</a:t>
            </a:r>
          </a:p>
        </p:txBody>
      </p:sp>
      <p:cxnSp>
        <p:nvCxnSpPr>
          <p:cNvPr id="26635" name="AutoShape 11">
            <a:extLst>
              <a:ext uri="{FF2B5EF4-FFF2-40B4-BE49-F238E27FC236}">
                <a16:creationId xmlns:a16="http://schemas.microsoft.com/office/drawing/2014/main" id="{B307962E-E90A-0AEF-F057-C1462EFD2DB0}"/>
              </a:ext>
            </a:extLst>
          </p:cNvPr>
          <p:cNvCxnSpPr>
            <a:cxnSpLocks noChangeShapeType="1"/>
            <a:stCxn id="26628" idx="0"/>
            <a:endCxn id="26629" idx="4"/>
          </p:cNvCxnSpPr>
          <p:nvPr/>
        </p:nvCxnSpPr>
        <p:spPr bwMode="auto">
          <a:xfrm flipH="1" flipV="1">
            <a:off x="990600" y="2286000"/>
            <a:ext cx="179070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36" name="Rectangle 12">
            <a:extLst>
              <a:ext uri="{FF2B5EF4-FFF2-40B4-BE49-F238E27FC236}">
                <a16:creationId xmlns:a16="http://schemas.microsoft.com/office/drawing/2014/main" id="{FBDA57DF-9287-4F0A-A900-9EBCF2AA3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895600"/>
            <a:ext cx="1600200" cy="609600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/>
              <a:t>VENDOR</a:t>
            </a:r>
          </a:p>
        </p:txBody>
      </p:sp>
      <p:sp>
        <p:nvSpPr>
          <p:cNvPr id="26637" name="Oval 13">
            <a:extLst>
              <a:ext uri="{FF2B5EF4-FFF2-40B4-BE49-F238E27FC236}">
                <a16:creationId xmlns:a16="http://schemas.microsoft.com/office/drawing/2014/main" id="{C5F6D48C-E112-61BE-E49E-DED3A5216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9906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Vendor_ID</a:t>
            </a:r>
          </a:p>
        </p:txBody>
      </p:sp>
      <p:sp>
        <p:nvSpPr>
          <p:cNvPr id="26638" name="Oval 14">
            <a:extLst>
              <a:ext uri="{FF2B5EF4-FFF2-40B4-BE49-F238E27FC236}">
                <a16:creationId xmlns:a16="http://schemas.microsoft.com/office/drawing/2014/main" id="{BB388C91-FFF8-95F3-6853-C127A469C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4478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Vendor_Name</a:t>
            </a:r>
          </a:p>
        </p:txBody>
      </p:sp>
      <p:cxnSp>
        <p:nvCxnSpPr>
          <p:cNvPr id="26639" name="AutoShape 15">
            <a:extLst>
              <a:ext uri="{FF2B5EF4-FFF2-40B4-BE49-F238E27FC236}">
                <a16:creationId xmlns:a16="http://schemas.microsoft.com/office/drawing/2014/main" id="{E5008C35-C197-13C4-E8DF-69637509ABB0}"/>
              </a:ext>
            </a:extLst>
          </p:cNvPr>
          <p:cNvCxnSpPr>
            <a:cxnSpLocks noChangeShapeType="1"/>
            <a:stCxn id="26636" idx="0"/>
            <a:endCxn id="26637" idx="4"/>
          </p:cNvCxnSpPr>
          <p:nvPr/>
        </p:nvCxnSpPr>
        <p:spPr bwMode="auto">
          <a:xfrm flipH="1" flipV="1">
            <a:off x="6553200" y="1676400"/>
            <a:ext cx="72390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640" name="AutoShape 16">
            <a:extLst>
              <a:ext uri="{FF2B5EF4-FFF2-40B4-BE49-F238E27FC236}">
                <a16:creationId xmlns:a16="http://schemas.microsoft.com/office/drawing/2014/main" id="{2C5502BB-9C8E-1A48-395B-418CD89CB067}"/>
              </a:ext>
            </a:extLst>
          </p:cNvPr>
          <p:cNvCxnSpPr>
            <a:cxnSpLocks noChangeShapeType="1"/>
            <a:stCxn id="26636" idx="0"/>
            <a:endCxn id="26638" idx="4"/>
          </p:cNvCxnSpPr>
          <p:nvPr/>
        </p:nvCxnSpPr>
        <p:spPr bwMode="auto">
          <a:xfrm flipV="1">
            <a:off x="7277100" y="2133600"/>
            <a:ext cx="952500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41" name="AutoShape 17">
            <a:extLst>
              <a:ext uri="{FF2B5EF4-FFF2-40B4-BE49-F238E27FC236}">
                <a16:creationId xmlns:a16="http://schemas.microsoft.com/office/drawing/2014/main" id="{45184E59-9D83-124C-1409-1DE543A01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819400"/>
            <a:ext cx="1066800" cy="762000"/>
          </a:xfrm>
          <a:prstGeom prst="diamond">
            <a:avLst/>
          </a:prstGeom>
          <a:solidFill>
            <a:schemeClr val="bg2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/>
              <a:t>Supplies</a:t>
            </a:r>
          </a:p>
        </p:txBody>
      </p:sp>
      <p:cxnSp>
        <p:nvCxnSpPr>
          <p:cNvPr id="26642" name="AutoShape 18">
            <a:extLst>
              <a:ext uri="{FF2B5EF4-FFF2-40B4-BE49-F238E27FC236}">
                <a16:creationId xmlns:a16="http://schemas.microsoft.com/office/drawing/2014/main" id="{78C9D607-73C0-BD14-727C-87EE204C7728}"/>
              </a:ext>
            </a:extLst>
          </p:cNvPr>
          <p:cNvCxnSpPr>
            <a:cxnSpLocks noChangeShapeType="1"/>
            <a:stCxn id="26628" idx="3"/>
            <a:endCxn id="26641" idx="1"/>
          </p:cNvCxnSpPr>
          <p:nvPr/>
        </p:nvCxnSpPr>
        <p:spPr bwMode="auto">
          <a:xfrm>
            <a:off x="3581400" y="3200400"/>
            <a:ext cx="8382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643" name="AutoShape 19">
            <a:extLst>
              <a:ext uri="{FF2B5EF4-FFF2-40B4-BE49-F238E27FC236}">
                <a16:creationId xmlns:a16="http://schemas.microsoft.com/office/drawing/2014/main" id="{17BBDA89-DD41-7B3D-5246-8A97428207F8}"/>
              </a:ext>
            </a:extLst>
          </p:cNvPr>
          <p:cNvCxnSpPr>
            <a:cxnSpLocks noChangeShapeType="1"/>
            <a:stCxn id="26641" idx="3"/>
            <a:endCxn id="26636" idx="1"/>
          </p:cNvCxnSpPr>
          <p:nvPr/>
        </p:nvCxnSpPr>
        <p:spPr bwMode="auto">
          <a:xfrm>
            <a:off x="5486400" y="3200400"/>
            <a:ext cx="990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644" name="Group 20">
            <a:extLst>
              <a:ext uri="{FF2B5EF4-FFF2-40B4-BE49-F238E27FC236}">
                <a16:creationId xmlns:a16="http://schemas.microsoft.com/office/drawing/2014/main" id="{3E9DBC6C-373A-F2AF-6040-F9127677B536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5791200"/>
            <a:ext cx="4800600" cy="609600"/>
            <a:chOff x="144" y="3840"/>
            <a:chExt cx="3024" cy="384"/>
          </a:xfrm>
        </p:grpSpPr>
        <p:sp>
          <p:nvSpPr>
            <p:cNvPr id="26671" name="Rectangle 21">
              <a:extLst>
                <a:ext uri="{FF2B5EF4-FFF2-40B4-BE49-F238E27FC236}">
                  <a16:creationId xmlns:a16="http://schemas.microsoft.com/office/drawing/2014/main" id="{8AE4672A-1D3A-1DF7-B2D0-78C2B87F4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/>
                <a:t>Material_ID</a:t>
              </a:r>
            </a:p>
          </p:txBody>
        </p:sp>
        <p:sp>
          <p:nvSpPr>
            <p:cNvPr id="26672" name="Rectangle 22">
              <a:extLst>
                <a:ext uri="{FF2B5EF4-FFF2-40B4-BE49-F238E27FC236}">
                  <a16:creationId xmlns:a16="http://schemas.microsoft.com/office/drawing/2014/main" id="{4C4F17B7-A194-1CF2-D400-ADA39DD3D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/>
                <a:t>Vendor_ID</a:t>
              </a:r>
            </a:p>
          </p:txBody>
        </p:sp>
        <p:sp>
          <p:nvSpPr>
            <p:cNvPr id="26673" name="Rectangle 23">
              <a:extLst>
                <a:ext uri="{FF2B5EF4-FFF2-40B4-BE49-F238E27FC236}">
                  <a16:creationId xmlns:a16="http://schemas.microsoft.com/office/drawing/2014/main" id="{808D9058-CDE0-2A88-E3A6-A1C60B732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Unit_Price</a:t>
              </a:r>
            </a:p>
          </p:txBody>
        </p:sp>
      </p:grpSp>
      <p:cxnSp>
        <p:nvCxnSpPr>
          <p:cNvPr id="26645" name="AutoShape 24">
            <a:extLst>
              <a:ext uri="{FF2B5EF4-FFF2-40B4-BE49-F238E27FC236}">
                <a16:creationId xmlns:a16="http://schemas.microsoft.com/office/drawing/2014/main" id="{0586CA34-6735-CA8B-7821-847870426EA8}"/>
              </a:ext>
            </a:extLst>
          </p:cNvPr>
          <p:cNvCxnSpPr>
            <a:cxnSpLocks noChangeShapeType="1"/>
            <a:stCxn id="26634" idx="2"/>
            <a:endCxn id="26669" idx="2"/>
          </p:cNvCxnSpPr>
          <p:nvPr/>
        </p:nvCxnSpPr>
        <p:spPr bwMode="auto">
          <a:xfrm rot="16200000" flipV="1">
            <a:off x="902493" y="5307807"/>
            <a:ext cx="595313" cy="342900"/>
          </a:xfrm>
          <a:prstGeom prst="curvedConnector5">
            <a:avLst>
              <a:gd name="adj1" fmla="val 24264"/>
              <a:gd name="adj2" fmla="val -207870"/>
              <a:gd name="adj3" fmla="val 8080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46" name="Oval 25">
            <a:extLst>
              <a:ext uri="{FF2B5EF4-FFF2-40B4-BE49-F238E27FC236}">
                <a16:creationId xmlns:a16="http://schemas.microsoft.com/office/drawing/2014/main" id="{2DBDEB3B-B201-83B9-D3DC-14880BFA5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5240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Standard_Cost</a:t>
            </a:r>
          </a:p>
        </p:txBody>
      </p:sp>
      <p:cxnSp>
        <p:nvCxnSpPr>
          <p:cNvPr id="26647" name="AutoShape 26">
            <a:extLst>
              <a:ext uri="{FF2B5EF4-FFF2-40B4-BE49-F238E27FC236}">
                <a16:creationId xmlns:a16="http://schemas.microsoft.com/office/drawing/2014/main" id="{F9CEE456-6BAA-5E82-B11F-493DBBB97A00}"/>
              </a:ext>
            </a:extLst>
          </p:cNvPr>
          <p:cNvCxnSpPr>
            <a:cxnSpLocks noChangeShapeType="1"/>
            <a:stCxn id="26628" idx="0"/>
            <a:endCxn id="26646" idx="4"/>
          </p:cNvCxnSpPr>
          <p:nvPr/>
        </p:nvCxnSpPr>
        <p:spPr bwMode="auto">
          <a:xfrm flipV="1">
            <a:off x="2781300" y="2209800"/>
            <a:ext cx="2667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648" name="Group 27">
            <a:extLst>
              <a:ext uri="{FF2B5EF4-FFF2-40B4-BE49-F238E27FC236}">
                <a16:creationId xmlns:a16="http://schemas.microsoft.com/office/drawing/2014/main" id="{36C6F483-ECEA-94AF-5110-656EEF3DC634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4572000"/>
            <a:ext cx="5105400" cy="609600"/>
            <a:chOff x="144" y="3024"/>
            <a:chExt cx="3216" cy="384"/>
          </a:xfrm>
        </p:grpSpPr>
        <p:grpSp>
          <p:nvGrpSpPr>
            <p:cNvPr id="26667" name="Group 28">
              <a:extLst>
                <a:ext uri="{FF2B5EF4-FFF2-40B4-BE49-F238E27FC236}">
                  <a16:creationId xmlns:a16="http://schemas.microsoft.com/office/drawing/2014/main" id="{99376731-47AA-C842-762C-041928A0D9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3024"/>
              <a:ext cx="2112" cy="384"/>
              <a:chOff x="144" y="3264"/>
              <a:chExt cx="2112" cy="384"/>
            </a:xfrm>
          </p:grpSpPr>
          <p:sp>
            <p:nvSpPr>
              <p:cNvPr id="26669" name="Rectangle 29">
                <a:extLst>
                  <a:ext uri="{FF2B5EF4-FFF2-40B4-BE49-F238E27FC236}">
                    <a16:creationId xmlns:a16="http://schemas.microsoft.com/office/drawing/2014/main" id="{73A2998E-438E-1E03-53A6-7BC1ABE8AA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3264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600" u="sng"/>
                  <a:t>Material_ID</a:t>
                </a:r>
              </a:p>
            </p:txBody>
          </p:sp>
          <p:sp>
            <p:nvSpPr>
              <p:cNvPr id="26670" name="Rectangle 30">
                <a:extLst>
                  <a:ext uri="{FF2B5EF4-FFF2-40B4-BE49-F238E27FC236}">
                    <a16:creationId xmlns:a16="http://schemas.microsoft.com/office/drawing/2014/main" id="{4244CF92-42A7-34BF-2CF2-AB48AE516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3264"/>
                <a:ext cx="1104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600"/>
                  <a:t>Standard_Cost</a:t>
                </a:r>
              </a:p>
            </p:txBody>
          </p:sp>
        </p:grpSp>
        <p:sp>
          <p:nvSpPr>
            <p:cNvPr id="26668" name="Rectangle 31">
              <a:extLst>
                <a:ext uri="{FF2B5EF4-FFF2-40B4-BE49-F238E27FC236}">
                  <a16:creationId xmlns:a16="http://schemas.microsoft.com/office/drawing/2014/main" id="{649A5982-505A-A118-6807-017C783E5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024"/>
              <a:ext cx="1104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Unit_of_Measure</a:t>
              </a:r>
            </a:p>
          </p:txBody>
        </p:sp>
      </p:grpSp>
      <p:grpSp>
        <p:nvGrpSpPr>
          <p:cNvPr id="26649" name="Group 32">
            <a:extLst>
              <a:ext uri="{FF2B5EF4-FFF2-40B4-BE49-F238E27FC236}">
                <a16:creationId xmlns:a16="http://schemas.microsoft.com/office/drawing/2014/main" id="{9BA2D899-CE9B-615F-97CF-14D4A9E9358F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3122613"/>
            <a:ext cx="306388" cy="155575"/>
            <a:chOff x="3888" y="1967"/>
            <a:chExt cx="193" cy="98"/>
          </a:xfrm>
        </p:grpSpPr>
        <p:sp>
          <p:nvSpPr>
            <p:cNvPr id="26665" name="Line 33">
              <a:extLst>
                <a:ext uri="{FF2B5EF4-FFF2-40B4-BE49-F238E27FC236}">
                  <a16:creationId xmlns:a16="http://schemas.microsoft.com/office/drawing/2014/main" id="{F425BF31-AF57-678B-80B5-2D4C66BB4FC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498818">
              <a:off x="3983" y="1969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6" name="Line 34">
              <a:extLst>
                <a:ext uri="{FF2B5EF4-FFF2-40B4-BE49-F238E27FC236}">
                  <a16:creationId xmlns:a16="http://schemas.microsoft.com/office/drawing/2014/main" id="{350F2796-B9A4-B1CE-047F-79F0C7E2648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498818" flipV="1">
              <a:off x="3984" y="1872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50" name="Oval 35">
            <a:extLst>
              <a:ext uri="{FF2B5EF4-FFF2-40B4-BE49-F238E27FC236}">
                <a16:creationId xmlns:a16="http://schemas.microsoft.com/office/drawing/2014/main" id="{F39A7D91-0451-BFD9-E04C-453E64B4A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1242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grpSp>
        <p:nvGrpSpPr>
          <p:cNvPr id="26651" name="Group 36">
            <a:extLst>
              <a:ext uri="{FF2B5EF4-FFF2-40B4-BE49-F238E27FC236}">
                <a16:creationId xmlns:a16="http://schemas.microsoft.com/office/drawing/2014/main" id="{737D964C-14CF-1FB6-3424-5083908498E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581400" y="3124200"/>
            <a:ext cx="306388" cy="155575"/>
            <a:chOff x="3888" y="1967"/>
            <a:chExt cx="193" cy="98"/>
          </a:xfrm>
        </p:grpSpPr>
        <p:sp>
          <p:nvSpPr>
            <p:cNvPr id="26663" name="Line 37">
              <a:extLst>
                <a:ext uri="{FF2B5EF4-FFF2-40B4-BE49-F238E27FC236}">
                  <a16:creationId xmlns:a16="http://schemas.microsoft.com/office/drawing/2014/main" id="{6AA8146D-7C0C-08AE-9891-738D0A4D162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498818">
              <a:off x="3983" y="1969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4" name="Line 38">
              <a:extLst>
                <a:ext uri="{FF2B5EF4-FFF2-40B4-BE49-F238E27FC236}">
                  <a16:creationId xmlns:a16="http://schemas.microsoft.com/office/drawing/2014/main" id="{9A11A2E5-8CEF-2C72-0D12-644F9F089A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498818" flipV="1">
              <a:off x="3984" y="1872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52" name="Oval 39">
            <a:extLst>
              <a:ext uri="{FF2B5EF4-FFF2-40B4-BE49-F238E27FC236}">
                <a16:creationId xmlns:a16="http://schemas.microsoft.com/office/drawing/2014/main" id="{B2380EAD-1EC5-1F41-107F-023BDC4148B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886200" y="31242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6653" name="Oval 40">
            <a:extLst>
              <a:ext uri="{FF2B5EF4-FFF2-40B4-BE49-F238E27FC236}">
                <a16:creationId xmlns:a16="http://schemas.microsoft.com/office/drawing/2014/main" id="{F9796F9D-AF15-5E66-8CB9-A335D4E19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19050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Unit_Price</a:t>
            </a:r>
          </a:p>
        </p:txBody>
      </p:sp>
      <p:cxnSp>
        <p:nvCxnSpPr>
          <p:cNvPr id="26654" name="AutoShape 41">
            <a:extLst>
              <a:ext uri="{FF2B5EF4-FFF2-40B4-BE49-F238E27FC236}">
                <a16:creationId xmlns:a16="http://schemas.microsoft.com/office/drawing/2014/main" id="{966FE92A-CEDF-EE59-B0B6-E53A14175BC9}"/>
              </a:ext>
            </a:extLst>
          </p:cNvPr>
          <p:cNvCxnSpPr>
            <a:cxnSpLocks noChangeShapeType="1"/>
            <a:stCxn id="26641" idx="0"/>
            <a:endCxn id="26653" idx="4"/>
          </p:cNvCxnSpPr>
          <p:nvPr/>
        </p:nvCxnSpPr>
        <p:spPr bwMode="auto">
          <a:xfrm flipV="1">
            <a:off x="4953000" y="2590800"/>
            <a:ext cx="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55" name="Oval 42">
            <a:extLst>
              <a:ext uri="{FF2B5EF4-FFF2-40B4-BE49-F238E27FC236}">
                <a16:creationId xmlns:a16="http://schemas.microsoft.com/office/drawing/2014/main" id="{26114E48-6B86-C869-09B7-736EC92B6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8100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Vendor_Address</a:t>
            </a:r>
          </a:p>
        </p:txBody>
      </p:sp>
      <p:cxnSp>
        <p:nvCxnSpPr>
          <p:cNvPr id="26656" name="AutoShape 43">
            <a:extLst>
              <a:ext uri="{FF2B5EF4-FFF2-40B4-BE49-F238E27FC236}">
                <a16:creationId xmlns:a16="http://schemas.microsoft.com/office/drawing/2014/main" id="{E6061B03-2601-929B-0038-CAF9018DAD1E}"/>
              </a:ext>
            </a:extLst>
          </p:cNvPr>
          <p:cNvCxnSpPr>
            <a:cxnSpLocks noChangeShapeType="1"/>
            <a:stCxn id="26636" idx="2"/>
            <a:endCxn id="26655" idx="0"/>
          </p:cNvCxnSpPr>
          <p:nvPr/>
        </p:nvCxnSpPr>
        <p:spPr bwMode="auto">
          <a:xfrm>
            <a:off x="7277100" y="3505200"/>
            <a:ext cx="10287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657" name="Group 44">
            <a:extLst>
              <a:ext uri="{FF2B5EF4-FFF2-40B4-BE49-F238E27FC236}">
                <a16:creationId xmlns:a16="http://schemas.microsoft.com/office/drawing/2014/main" id="{A28952FC-C5C8-0DAC-27A0-D708EA6EB977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6096000"/>
            <a:ext cx="4191000" cy="609600"/>
            <a:chOff x="144" y="3840"/>
            <a:chExt cx="3024" cy="384"/>
          </a:xfrm>
        </p:grpSpPr>
        <p:sp>
          <p:nvSpPr>
            <p:cNvPr id="26660" name="Rectangle 45">
              <a:extLst>
                <a:ext uri="{FF2B5EF4-FFF2-40B4-BE49-F238E27FC236}">
                  <a16:creationId xmlns:a16="http://schemas.microsoft.com/office/drawing/2014/main" id="{414B8488-645A-5254-3575-2F21D9AA6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/>
                <a:t>Vendor_ID</a:t>
              </a:r>
            </a:p>
          </p:txBody>
        </p:sp>
        <p:sp>
          <p:nvSpPr>
            <p:cNvPr id="26661" name="Rectangle 46">
              <a:extLst>
                <a:ext uri="{FF2B5EF4-FFF2-40B4-BE49-F238E27FC236}">
                  <a16:creationId xmlns:a16="http://schemas.microsoft.com/office/drawing/2014/main" id="{CD3C5A77-3B1D-EFBA-98B0-EED8623F9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Vendor_Name</a:t>
              </a:r>
            </a:p>
          </p:txBody>
        </p:sp>
        <p:sp>
          <p:nvSpPr>
            <p:cNvPr id="26662" name="Rectangle 47">
              <a:extLst>
                <a:ext uri="{FF2B5EF4-FFF2-40B4-BE49-F238E27FC236}">
                  <a16:creationId xmlns:a16="http://schemas.microsoft.com/office/drawing/2014/main" id="{1051AB13-C0CC-15B6-3D96-6824331F3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400"/>
                <a:t>Vendor_Address</a:t>
              </a:r>
            </a:p>
          </p:txBody>
        </p:sp>
      </p:grpSp>
      <p:sp>
        <p:nvSpPr>
          <p:cNvPr id="26658" name="Text Box 48">
            <a:extLst>
              <a:ext uri="{FF2B5EF4-FFF2-40B4-BE49-F238E27FC236}">
                <a16:creationId xmlns:a16="http://schemas.microsoft.com/office/drawing/2014/main" id="{9A5EB0E6-48A5-190A-38F6-C15872DA9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6388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/>
              <a:t>VENDOR</a:t>
            </a:r>
          </a:p>
        </p:txBody>
      </p:sp>
      <p:cxnSp>
        <p:nvCxnSpPr>
          <p:cNvPr id="26659" name="AutoShape 49">
            <a:extLst>
              <a:ext uri="{FF2B5EF4-FFF2-40B4-BE49-F238E27FC236}">
                <a16:creationId xmlns:a16="http://schemas.microsoft.com/office/drawing/2014/main" id="{7B69DD8F-5D80-1B18-753B-7524E6ADC52A}"/>
              </a:ext>
            </a:extLst>
          </p:cNvPr>
          <p:cNvCxnSpPr>
            <a:cxnSpLocks noChangeShapeType="1"/>
            <a:stCxn id="26672" idx="0"/>
            <a:endCxn id="26660" idx="0"/>
          </p:cNvCxnSpPr>
          <p:nvPr/>
        </p:nvCxnSpPr>
        <p:spPr bwMode="auto">
          <a:xfrm rot="5400000" flipV="1">
            <a:off x="3911600" y="4356100"/>
            <a:ext cx="304800" cy="3175000"/>
          </a:xfrm>
          <a:prstGeom prst="curvedConnector3">
            <a:avLst>
              <a:gd name="adj1" fmla="val -16354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3802AB9-0A9F-09D3-E85F-C05E14A11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148263" cy="504825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2. Transforming Relationships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B616125-A72F-8AF7-FF6A-DDA231D660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87463"/>
            <a:ext cx="8497887" cy="5165725"/>
          </a:xfrm>
        </p:spPr>
        <p:txBody>
          <a:bodyPr/>
          <a:lstStyle/>
          <a:p>
            <a:pPr marL="590550" indent="-533400">
              <a:buFontTx/>
              <a:buNone/>
              <a:defRPr/>
            </a:pPr>
            <a:r>
              <a:rPr lang="en-US" sz="2400" dirty="0">
                <a:solidFill>
                  <a:schemeClr val="accent2"/>
                </a:solidFill>
              </a:rPr>
              <a:t>b) Unary Relationship</a:t>
            </a:r>
          </a:p>
          <a:p>
            <a:pPr marL="800100" lvl="1" indent="-342900">
              <a:buFontTx/>
              <a:buAutoNum type="romanLcParenR"/>
              <a:defRPr/>
            </a:pPr>
            <a:r>
              <a:rPr lang="en-US" dirty="0">
                <a:solidFill>
                  <a:srgbClr val="800000"/>
                </a:solidFill>
              </a:rPr>
              <a:t>One to One</a:t>
            </a:r>
          </a:p>
          <a:p>
            <a:pPr marL="800100" lvl="1" indent="-342900">
              <a:buFontTx/>
              <a:buAutoNum type="romanLcParenR"/>
              <a:defRPr/>
            </a:pPr>
            <a:r>
              <a:rPr lang="en-US" dirty="0">
                <a:solidFill>
                  <a:srgbClr val="800000"/>
                </a:solidFill>
              </a:rPr>
              <a:t>One to Many</a:t>
            </a:r>
          </a:p>
          <a:p>
            <a:pPr marL="457200" indent="-457200">
              <a:defRPr/>
            </a:pPr>
            <a:r>
              <a:rPr lang="en-US" sz="2400" dirty="0"/>
              <a:t>A FK is introduce in the relation obtained from the entity and this FK refers the PK of the same relation. Such FK is called </a:t>
            </a:r>
            <a:r>
              <a:rPr lang="en-US" sz="2400" dirty="0">
                <a:solidFill>
                  <a:schemeClr val="accent2"/>
                </a:solidFill>
              </a:rPr>
              <a:t>Recursive FK.</a:t>
            </a:r>
          </a:p>
          <a:p>
            <a:pPr marL="609600" indent="-609600">
              <a:defRPr/>
            </a:pPr>
            <a:endParaRPr lang="en-US" sz="2400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>
            <a:extLst>
              <a:ext uri="{FF2B5EF4-FFF2-40B4-BE49-F238E27FC236}">
                <a16:creationId xmlns:a16="http://schemas.microsoft.com/office/drawing/2014/main" id="{DBC9C179-5889-E833-7484-050BC043A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2590800"/>
            <a:ext cx="1600200" cy="6096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/>
              <a:t>EMPLOYEE</a:t>
            </a:r>
          </a:p>
        </p:txBody>
      </p:sp>
      <p:sp>
        <p:nvSpPr>
          <p:cNvPr id="28675" name="Oval 4">
            <a:extLst>
              <a:ext uri="{FF2B5EF4-FFF2-40B4-BE49-F238E27FC236}">
                <a16:creationId xmlns:a16="http://schemas.microsoft.com/office/drawing/2014/main" id="{CDFE062E-46CD-4E2F-24AD-F798AD6A7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5240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/>
              <a:t>Employee_ID</a:t>
            </a:r>
          </a:p>
        </p:txBody>
      </p:sp>
      <p:sp>
        <p:nvSpPr>
          <p:cNvPr id="28676" name="Text Box 5">
            <a:extLst>
              <a:ext uri="{FF2B5EF4-FFF2-40B4-BE49-F238E27FC236}">
                <a16:creationId xmlns:a16="http://schemas.microsoft.com/office/drawing/2014/main" id="{173EC01D-C3B9-18F2-C303-EB32B0837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" y="1143000"/>
            <a:ext cx="3505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</a:rPr>
              <a:t>Unary 1:N Relationships</a:t>
            </a:r>
          </a:p>
        </p:txBody>
      </p:sp>
      <p:sp>
        <p:nvSpPr>
          <p:cNvPr id="28677" name="Text Box 6">
            <a:extLst>
              <a:ext uri="{FF2B5EF4-FFF2-40B4-BE49-F238E27FC236}">
                <a16:creationId xmlns:a16="http://schemas.microsoft.com/office/drawing/2014/main" id="{1986D688-3FA9-3E61-E1DD-A1B5E7EF3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886200"/>
            <a:ext cx="5486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/>
              <a:t>Employee Relation with Recursive Foreign Key</a:t>
            </a:r>
          </a:p>
        </p:txBody>
      </p:sp>
      <p:cxnSp>
        <p:nvCxnSpPr>
          <p:cNvPr id="28678" name="AutoShape 7">
            <a:extLst>
              <a:ext uri="{FF2B5EF4-FFF2-40B4-BE49-F238E27FC236}">
                <a16:creationId xmlns:a16="http://schemas.microsoft.com/office/drawing/2014/main" id="{989A396A-C852-CB37-1D13-7F7B538A70C9}"/>
              </a:ext>
            </a:extLst>
          </p:cNvPr>
          <p:cNvCxnSpPr>
            <a:cxnSpLocks noChangeShapeType="1"/>
            <a:stCxn id="28674" idx="0"/>
            <a:endCxn id="28675" idx="4"/>
          </p:cNvCxnSpPr>
          <p:nvPr/>
        </p:nvCxnSpPr>
        <p:spPr bwMode="auto">
          <a:xfrm flipH="1" flipV="1">
            <a:off x="2133600" y="2209800"/>
            <a:ext cx="1636713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679" name="AutoShape 8">
            <a:extLst>
              <a:ext uri="{FF2B5EF4-FFF2-40B4-BE49-F238E27FC236}">
                <a16:creationId xmlns:a16="http://schemas.microsoft.com/office/drawing/2014/main" id="{9E6568C2-D2A8-FE45-0AF4-A3A52FBA9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2013" y="2590800"/>
            <a:ext cx="1371600" cy="609600"/>
          </a:xfrm>
          <a:prstGeom prst="diamond">
            <a:avLst/>
          </a:prstGeom>
          <a:solidFill>
            <a:schemeClr val="bg2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/>
              <a:t>Manages</a:t>
            </a:r>
          </a:p>
        </p:txBody>
      </p:sp>
      <p:cxnSp>
        <p:nvCxnSpPr>
          <p:cNvPr id="28680" name="AutoShape 9">
            <a:extLst>
              <a:ext uri="{FF2B5EF4-FFF2-40B4-BE49-F238E27FC236}">
                <a16:creationId xmlns:a16="http://schemas.microsoft.com/office/drawing/2014/main" id="{124CF408-305F-9E9A-C9F8-E97EEC2E3B35}"/>
              </a:ext>
            </a:extLst>
          </p:cNvPr>
          <p:cNvCxnSpPr>
            <a:cxnSpLocks noChangeShapeType="1"/>
            <a:stCxn id="28674" idx="3"/>
            <a:endCxn id="28679" idx="1"/>
          </p:cNvCxnSpPr>
          <p:nvPr/>
        </p:nvCxnSpPr>
        <p:spPr bwMode="auto">
          <a:xfrm>
            <a:off x="4570413" y="2895600"/>
            <a:ext cx="1371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681" name="Oval 10">
            <a:extLst>
              <a:ext uri="{FF2B5EF4-FFF2-40B4-BE49-F238E27FC236}">
                <a16:creationId xmlns:a16="http://schemas.microsoft.com/office/drawing/2014/main" id="{312060E5-F7DE-3FF2-B7B9-1F52EBFFB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15240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Name</a:t>
            </a:r>
          </a:p>
        </p:txBody>
      </p:sp>
      <p:cxnSp>
        <p:nvCxnSpPr>
          <p:cNvPr id="28682" name="AutoShape 11">
            <a:extLst>
              <a:ext uri="{FF2B5EF4-FFF2-40B4-BE49-F238E27FC236}">
                <a16:creationId xmlns:a16="http://schemas.microsoft.com/office/drawing/2014/main" id="{B2796EB2-A372-AE8F-EA71-A248DA3F0CC2}"/>
              </a:ext>
            </a:extLst>
          </p:cNvPr>
          <p:cNvCxnSpPr>
            <a:cxnSpLocks noChangeShapeType="1"/>
            <a:stCxn id="28674" idx="0"/>
            <a:endCxn id="28681" idx="4"/>
          </p:cNvCxnSpPr>
          <p:nvPr/>
        </p:nvCxnSpPr>
        <p:spPr bwMode="auto">
          <a:xfrm flipV="1">
            <a:off x="3770313" y="2209800"/>
            <a:ext cx="573087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683" name="Oval 12">
            <a:extLst>
              <a:ext uri="{FF2B5EF4-FFF2-40B4-BE49-F238E27FC236}">
                <a16:creationId xmlns:a16="http://schemas.microsoft.com/office/drawing/2014/main" id="{CB7C72EE-1751-C4E1-86FC-5D2E408F9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6002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Birthdate</a:t>
            </a:r>
          </a:p>
        </p:txBody>
      </p:sp>
      <p:grpSp>
        <p:nvGrpSpPr>
          <p:cNvPr id="28684" name="Group 13">
            <a:extLst>
              <a:ext uri="{FF2B5EF4-FFF2-40B4-BE49-F238E27FC236}">
                <a16:creationId xmlns:a16="http://schemas.microsoft.com/office/drawing/2014/main" id="{A465C3E9-1965-3A76-E836-BB59BA776B3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570413" y="2819400"/>
            <a:ext cx="306387" cy="155575"/>
            <a:chOff x="3888" y="1967"/>
            <a:chExt cx="193" cy="98"/>
          </a:xfrm>
        </p:grpSpPr>
        <p:sp>
          <p:nvSpPr>
            <p:cNvPr id="28702" name="Line 14">
              <a:extLst>
                <a:ext uri="{FF2B5EF4-FFF2-40B4-BE49-F238E27FC236}">
                  <a16:creationId xmlns:a16="http://schemas.microsoft.com/office/drawing/2014/main" id="{11AEB2F2-DDD5-0E4F-F52E-DDDB654A918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498818">
              <a:off x="3983" y="1969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3" name="Line 15">
              <a:extLst>
                <a:ext uri="{FF2B5EF4-FFF2-40B4-BE49-F238E27FC236}">
                  <a16:creationId xmlns:a16="http://schemas.microsoft.com/office/drawing/2014/main" id="{28FF44FC-F024-9DAD-B5A2-500B687BAAB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498818" flipV="1">
              <a:off x="3984" y="1872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685" name="Text Box 16">
            <a:extLst>
              <a:ext uri="{FF2B5EF4-FFF2-40B4-BE49-F238E27FC236}">
                <a16:creationId xmlns:a16="http://schemas.microsoft.com/office/drawing/2014/main" id="{A0931B04-F013-CD25-07E2-B24477FC4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586288"/>
            <a:ext cx="2209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/>
              <a:t>EMPLOYEE</a:t>
            </a:r>
          </a:p>
        </p:txBody>
      </p:sp>
      <p:grpSp>
        <p:nvGrpSpPr>
          <p:cNvPr id="28686" name="Group 17">
            <a:extLst>
              <a:ext uri="{FF2B5EF4-FFF2-40B4-BE49-F238E27FC236}">
                <a16:creationId xmlns:a16="http://schemas.microsoft.com/office/drawing/2014/main" id="{C21057C7-ED00-22D7-EFBD-125B6A1EA5E5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5105400"/>
            <a:ext cx="5562600" cy="609600"/>
            <a:chOff x="2304" y="3216"/>
            <a:chExt cx="3504" cy="384"/>
          </a:xfrm>
        </p:grpSpPr>
        <p:grpSp>
          <p:nvGrpSpPr>
            <p:cNvPr id="28697" name="Group 18">
              <a:extLst>
                <a:ext uri="{FF2B5EF4-FFF2-40B4-BE49-F238E27FC236}">
                  <a16:creationId xmlns:a16="http://schemas.microsoft.com/office/drawing/2014/main" id="{A68B05CC-0AAA-4289-8F05-AB62C8FFF1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3216"/>
              <a:ext cx="2640" cy="384"/>
              <a:chOff x="144" y="3840"/>
              <a:chExt cx="3024" cy="384"/>
            </a:xfrm>
          </p:grpSpPr>
          <p:sp>
            <p:nvSpPr>
              <p:cNvPr id="28699" name="Rectangle 19">
                <a:extLst>
                  <a:ext uri="{FF2B5EF4-FFF2-40B4-BE49-F238E27FC236}">
                    <a16:creationId xmlns:a16="http://schemas.microsoft.com/office/drawing/2014/main" id="{3D7FB627-35B1-DEFD-49CC-42A37EC28B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3840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 u="sng"/>
                  <a:t>Employee_ID</a:t>
                </a:r>
              </a:p>
            </p:txBody>
          </p:sp>
          <p:sp>
            <p:nvSpPr>
              <p:cNvPr id="28700" name="Rectangle 20">
                <a:extLst>
                  <a:ext uri="{FF2B5EF4-FFF2-40B4-BE49-F238E27FC236}">
                    <a16:creationId xmlns:a16="http://schemas.microsoft.com/office/drawing/2014/main" id="{CB81FAB3-1CB6-7A4C-39F2-548A5E03A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3840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/>
                  <a:t>Name</a:t>
                </a:r>
              </a:p>
            </p:txBody>
          </p:sp>
          <p:sp>
            <p:nvSpPr>
              <p:cNvPr id="28701" name="Rectangle 21">
                <a:extLst>
                  <a:ext uri="{FF2B5EF4-FFF2-40B4-BE49-F238E27FC236}">
                    <a16:creationId xmlns:a16="http://schemas.microsoft.com/office/drawing/2014/main" id="{745BD8FF-6143-A840-D56F-E74FD43776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840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/>
                  <a:t>Birthdate</a:t>
                </a:r>
              </a:p>
            </p:txBody>
          </p:sp>
        </p:grpSp>
        <p:sp>
          <p:nvSpPr>
            <p:cNvPr id="28698" name="Rectangle 22">
              <a:extLst>
                <a:ext uri="{FF2B5EF4-FFF2-40B4-BE49-F238E27FC236}">
                  <a16:creationId xmlns:a16="http://schemas.microsoft.com/office/drawing/2014/main" id="{0214F4F9-09A7-E36B-0BCF-BBF50AC82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8" y="3216"/>
              <a:ext cx="880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Manager_ID</a:t>
              </a:r>
            </a:p>
          </p:txBody>
        </p:sp>
      </p:grpSp>
      <p:cxnSp>
        <p:nvCxnSpPr>
          <p:cNvPr id="28687" name="AutoShape 23">
            <a:extLst>
              <a:ext uri="{FF2B5EF4-FFF2-40B4-BE49-F238E27FC236}">
                <a16:creationId xmlns:a16="http://schemas.microsoft.com/office/drawing/2014/main" id="{0D5C2B5E-037A-7FDB-5C71-E32C7F7D7CE5}"/>
              </a:ext>
            </a:extLst>
          </p:cNvPr>
          <p:cNvCxnSpPr>
            <a:cxnSpLocks noChangeShapeType="1"/>
            <a:stCxn id="28679" idx="3"/>
            <a:endCxn id="28674" idx="2"/>
          </p:cNvCxnSpPr>
          <p:nvPr/>
        </p:nvCxnSpPr>
        <p:spPr bwMode="auto">
          <a:xfrm flipH="1">
            <a:off x="3770313" y="2895600"/>
            <a:ext cx="3543300" cy="304800"/>
          </a:xfrm>
          <a:prstGeom prst="bentConnector4">
            <a:avLst>
              <a:gd name="adj1" fmla="val -6454"/>
              <a:gd name="adj2" fmla="val 2208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688" name="Oval 24">
            <a:extLst>
              <a:ext uri="{FF2B5EF4-FFF2-40B4-BE49-F238E27FC236}">
                <a16:creationId xmlns:a16="http://schemas.microsoft.com/office/drawing/2014/main" id="{68AF8779-9089-DDE5-8BF2-5DCBB07E6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8194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8689" name="Line 25">
            <a:extLst>
              <a:ext uri="{FF2B5EF4-FFF2-40B4-BE49-F238E27FC236}">
                <a16:creationId xmlns:a16="http://schemas.microsoft.com/office/drawing/2014/main" id="{C7C9BD46-4D56-E937-F99A-E57C5B0FC04D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3733800" y="3200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0" name="Line 26">
            <a:extLst>
              <a:ext uri="{FF2B5EF4-FFF2-40B4-BE49-F238E27FC236}">
                <a16:creationId xmlns:a16="http://schemas.microsoft.com/office/drawing/2014/main" id="{24CDDB6D-9278-06D9-193A-7D391193F869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3733800" y="3124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1" name="Line 27">
            <a:extLst>
              <a:ext uri="{FF2B5EF4-FFF2-40B4-BE49-F238E27FC236}">
                <a16:creationId xmlns:a16="http://schemas.microsoft.com/office/drawing/2014/main" id="{F18C8C23-A443-4590-C96B-81B371AE92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5562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20" name="Text Box 28">
            <a:extLst>
              <a:ext uri="{FF2B5EF4-FFF2-40B4-BE49-F238E27FC236}">
                <a16:creationId xmlns:a16="http://schemas.microsoft.com/office/drawing/2014/main" id="{141B696F-FA46-09B7-C56C-F7DE98A94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267200"/>
            <a:ext cx="3962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</a:rPr>
              <a:t>An FK in a relation that references the PK values of that relation </a:t>
            </a:r>
          </a:p>
        </p:txBody>
      </p:sp>
      <p:sp>
        <p:nvSpPr>
          <p:cNvPr id="110621" name="Line 29">
            <a:extLst>
              <a:ext uri="{FF2B5EF4-FFF2-40B4-BE49-F238E27FC236}">
                <a16:creationId xmlns:a16="http://schemas.microsoft.com/office/drawing/2014/main" id="{B971C5F0-4069-17A9-F8EA-182874899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1910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8694" name="AutoShape 30">
            <a:extLst>
              <a:ext uri="{FF2B5EF4-FFF2-40B4-BE49-F238E27FC236}">
                <a16:creationId xmlns:a16="http://schemas.microsoft.com/office/drawing/2014/main" id="{53429DCB-2CB2-94A9-7F93-F6C8261388B6}"/>
              </a:ext>
            </a:extLst>
          </p:cNvPr>
          <p:cNvCxnSpPr>
            <a:cxnSpLocks noChangeShapeType="1"/>
            <a:stCxn id="28683" idx="4"/>
            <a:endCxn id="28674" idx="0"/>
          </p:cNvCxnSpPr>
          <p:nvPr/>
        </p:nvCxnSpPr>
        <p:spPr bwMode="auto">
          <a:xfrm flipH="1">
            <a:off x="3770313" y="2286000"/>
            <a:ext cx="2706687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95" name="AutoShape 31">
            <a:extLst>
              <a:ext uri="{FF2B5EF4-FFF2-40B4-BE49-F238E27FC236}">
                <a16:creationId xmlns:a16="http://schemas.microsoft.com/office/drawing/2014/main" id="{7F456DC5-E903-D1AD-5F29-06091DBBFA7C}"/>
              </a:ext>
            </a:extLst>
          </p:cNvPr>
          <p:cNvCxnSpPr>
            <a:cxnSpLocks noChangeShapeType="1"/>
            <a:stCxn id="28698" idx="2"/>
            <a:endCxn id="28699" idx="2"/>
          </p:cNvCxnSpPr>
          <p:nvPr/>
        </p:nvCxnSpPr>
        <p:spPr bwMode="auto">
          <a:xfrm rot="5400000">
            <a:off x="3618706" y="3632994"/>
            <a:ext cx="1588" cy="4165600"/>
          </a:xfrm>
          <a:prstGeom prst="bentConnector3">
            <a:avLst>
              <a:gd name="adj1" fmla="val 387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696" name="Title 1">
            <a:extLst>
              <a:ext uri="{FF2B5EF4-FFF2-40B4-BE49-F238E27FC236}">
                <a16:creationId xmlns:a16="http://schemas.microsoft.com/office/drawing/2014/main" id="{AA53C6F7-DC61-9A67-7269-C68B75D40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692150"/>
            <a:ext cx="4673600" cy="471488"/>
          </a:xfrm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2. Transforming Relationships</a:t>
            </a: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0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0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99BD394C-3430-C375-A96C-602451A1C6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148263" cy="504825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2. Transforming Relationships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73A5117B-BD1F-D5F6-7DC7-F3D5D734BB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87463"/>
            <a:ext cx="8497887" cy="5165725"/>
          </a:xfrm>
        </p:spPr>
        <p:txBody>
          <a:bodyPr/>
          <a:lstStyle/>
          <a:p>
            <a:pPr marL="590550" indent="-533400">
              <a:buFontTx/>
              <a:buNone/>
              <a:defRPr/>
            </a:pPr>
            <a:r>
              <a:rPr lang="en-US" sz="2400" dirty="0">
                <a:solidFill>
                  <a:schemeClr val="accent2"/>
                </a:solidFill>
              </a:rPr>
              <a:t>b) Unary Relationship </a:t>
            </a:r>
          </a:p>
          <a:p>
            <a:pPr marL="990600" lvl="1" indent="-533400">
              <a:buFontTx/>
              <a:buNone/>
              <a:defRPr/>
            </a:pPr>
            <a:r>
              <a:rPr lang="en-US" dirty="0">
                <a:solidFill>
                  <a:srgbClr val="800000"/>
                </a:solidFill>
              </a:rPr>
              <a:t>iii) Many to Many</a:t>
            </a:r>
          </a:p>
          <a:p>
            <a:pPr marL="457200" indent="-457200">
              <a:defRPr/>
            </a:pPr>
            <a:r>
              <a:rPr lang="en-US" sz="2400" dirty="0"/>
              <a:t>A new relation is created consisting of Primary Key of the entity repeated twice with different names plus the attributes of the relationship.</a:t>
            </a:r>
          </a:p>
          <a:p>
            <a:pPr marL="609600" indent="-609600">
              <a:defRPr/>
            </a:pPr>
            <a:endParaRPr lang="en-US" sz="2400" dirty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87410DC-7390-D69A-3BB5-F44760D26E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33375"/>
            <a:ext cx="3898900" cy="396875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Map Unary Relationships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77769214-5E62-1180-E05A-A232ED03F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2590800"/>
            <a:ext cx="1600200" cy="6096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/>
              <a:t>ITEM</a:t>
            </a:r>
          </a:p>
        </p:txBody>
      </p:sp>
      <p:sp>
        <p:nvSpPr>
          <p:cNvPr id="30724" name="Oval 4">
            <a:extLst>
              <a:ext uri="{FF2B5EF4-FFF2-40B4-BE49-F238E27FC236}">
                <a16:creationId xmlns:a16="http://schemas.microsoft.com/office/drawing/2014/main" id="{32F5C765-D55F-D447-2C9C-9076E0434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240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/>
              <a:t>Item_No</a:t>
            </a:r>
          </a:p>
        </p:txBody>
      </p:sp>
      <p:sp>
        <p:nvSpPr>
          <p:cNvPr id="30725" name="Text Box 5">
            <a:extLst>
              <a:ext uri="{FF2B5EF4-FFF2-40B4-BE49-F238E27FC236}">
                <a16:creationId xmlns:a16="http://schemas.microsoft.com/office/drawing/2014/main" id="{745C5327-E63F-045E-43A5-2143F2A7A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758825"/>
            <a:ext cx="3505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</a:rPr>
              <a:t>Unary M:N Relationships</a:t>
            </a:r>
          </a:p>
        </p:txBody>
      </p:sp>
      <p:sp>
        <p:nvSpPr>
          <p:cNvPr id="30726" name="Text Box 6">
            <a:extLst>
              <a:ext uri="{FF2B5EF4-FFF2-40B4-BE49-F238E27FC236}">
                <a16:creationId xmlns:a16="http://schemas.microsoft.com/office/drawing/2014/main" id="{44F71E89-7C74-6E05-47AA-BA6EB09CB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886200"/>
            <a:ext cx="5486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/>
              <a:t>ITEM &amp; COMPONENT relations</a:t>
            </a:r>
          </a:p>
        </p:txBody>
      </p:sp>
      <p:cxnSp>
        <p:nvCxnSpPr>
          <p:cNvPr id="30727" name="AutoShape 7">
            <a:extLst>
              <a:ext uri="{FF2B5EF4-FFF2-40B4-BE49-F238E27FC236}">
                <a16:creationId xmlns:a16="http://schemas.microsoft.com/office/drawing/2014/main" id="{D2203D26-6F5A-0B36-CDE1-B3E0956A143D}"/>
              </a:ext>
            </a:extLst>
          </p:cNvPr>
          <p:cNvCxnSpPr>
            <a:cxnSpLocks noChangeShapeType="1"/>
            <a:stCxn id="30723" idx="0"/>
            <a:endCxn id="30724" idx="4"/>
          </p:cNvCxnSpPr>
          <p:nvPr/>
        </p:nvCxnSpPr>
        <p:spPr bwMode="auto">
          <a:xfrm flipH="1" flipV="1">
            <a:off x="1600200" y="2209800"/>
            <a:ext cx="2170113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28" name="AutoShape 8">
            <a:extLst>
              <a:ext uri="{FF2B5EF4-FFF2-40B4-BE49-F238E27FC236}">
                <a16:creationId xmlns:a16="http://schemas.microsoft.com/office/drawing/2014/main" id="{3FAFDFF5-9EB1-EBE7-2B8E-ABBA2CE3A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2013" y="2590800"/>
            <a:ext cx="1371600" cy="609600"/>
          </a:xfrm>
          <a:prstGeom prst="diamond">
            <a:avLst/>
          </a:prstGeom>
          <a:solidFill>
            <a:schemeClr val="bg2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/>
              <a:t>Contains</a:t>
            </a:r>
          </a:p>
        </p:txBody>
      </p:sp>
      <p:cxnSp>
        <p:nvCxnSpPr>
          <p:cNvPr id="30729" name="AutoShape 9">
            <a:extLst>
              <a:ext uri="{FF2B5EF4-FFF2-40B4-BE49-F238E27FC236}">
                <a16:creationId xmlns:a16="http://schemas.microsoft.com/office/drawing/2014/main" id="{B8C67551-7F62-738C-D244-92E53D50815D}"/>
              </a:ext>
            </a:extLst>
          </p:cNvPr>
          <p:cNvCxnSpPr>
            <a:cxnSpLocks noChangeShapeType="1"/>
            <a:stCxn id="30723" idx="3"/>
            <a:endCxn id="30728" idx="1"/>
          </p:cNvCxnSpPr>
          <p:nvPr/>
        </p:nvCxnSpPr>
        <p:spPr bwMode="auto">
          <a:xfrm>
            <a:off x="4570413" y="2895600"/>
            <a:ext cx="1371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30" name="Oval 10">
            <a:extLst>
              <a:ext uri="{FF2B5EF4-FFF2-40B4-BE49-F238E27FC236}">
                <a16:creationId xmlns:a16="http://schemas.microsoft.com/office/drawing/2014/main" id="{0CD8CBAB-B33E-E50F-1AD0-87ED87AFE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15240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Name</a:t>
            </a:r>
          </a:p>
        </p:txBody>
      </p:sp>
      <p:cxnSp>
        <p:nvCxnSpPr>
          <p:cNvPr id="30731" name="AutoShape 11">
            <a:extLst>
              <a:ext uri="{FF2B5EF4-FFF2-40B4-BE49-F238E27FC236}">
                <a16:creationId xmlns:a16="http://schemas.microsoft.com/office/drawing/2014/main" id="{850361AB-2784-D68D-3DEF-261F8B2181E4}"/>
              </a:ext>
            </a:extLst>
          </p:cNvPr>
          <p:cNvCxnSpPr>
            <a:cxnSpLocks noChangeShapeType="1"/>
            <a:stCxn id="30723" idx="0"/>
            <a:endCxn id="30730" idx="4"/>
          </p:cNvCxnSpPr>
          <p:nvPr/>
        </p:nvCxnSpPr>
        <p:spPr bwMode="auto">
          <a:xfrm flipH="1" flipV="1">
            <a:off x="3581400" y="2209800"/>
            <a:ext cx="188913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32" name="Oval 12">
            <a:extLst>
              <a:ext uri="{FF2B5EF4-FFF2-40B4-BE49-F238E27FC236}">
                <a16:creationId xmlns:a16="http://schemas.microsoft.com/office/drawing/2014/main" id="{749EEB70-BB0D-543D-3F17-D1FC25634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5240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Unit_Cost</a:t>
            </a:r>
          </a:p>
        </p:txBody>
      </p:sp>
      <p:grpSp>
        <p:nvGrpSpPr>
          <p:cNvPr id="30733" name="Group 13">
            <a:extLst>
              <a:ext uri="{FF2B5EF4-FFF2-40B4-BE49-F238E27FC236}">
                <a16:creationId xmlns:a16="http://schemas.microsoft.com/office/drawing/2014/main" id="{0FED5D5F-D256-FBF7-C75F-1E218298560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570413" y="2819400"/>
            <a:ext cx="306387" cy="155575"/>
            <a:chOff x="3888" y="1967"/>
            <a:chExt cx="193" cy="98"/>
          </a:xfrm>
        </p:grpSpPr>
        <p:sp>
          <p:nvSpPr>
            <p:cNvPr id="30755" name="Line 14">
              <a:extLst>
                <a:ext uri="{FF2B5EF4-FFF2-40B4-BE49-F238E27FC236}">
                  <a16:creationId xmlns:a16="http://schemas.microsoft.com/office/drawing/2014/main" id="{121528B4-4F29-FE10-7E17-CF9D0F62954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498818">
              <a:off x="3983" y="1969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6" name="Line 15">
              <a:extLst>
                <a:ext uri="{FF2B5EF4-FFF2-40B4-BE49-F238E27FC236}">
                  <a16:creationId xmlns:a16="http://schemas.microsoft.com/office/drawing/2014/main" id="{39D3B0B4-F410-3546-11F8-5B0ED93AC2D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498818" flipV="1">
              <a:off x="3984" y="1872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734" name="Text Box 16">
            <a:extLst>
              <a:ext uri="{FF2B5EF4-FFF2-40B4-BE49-F238E27FC236}">
                <a16:creationId xmlns:a16="http://schemas.microsoft.com/office/drawing/2014/main" id="{4B61DD56-07D2-4EAB-BDB9-A5E6D530D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186238"/>
            <a:ext cx="2209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/>
              <a:t>ITEM</a:t>
            </a:r>
          </a:p>
        </p:txBody>
      </p:sp>
      <p:cxnSp>
        <p:nvCxnSpPr>
          <p:cNvPr id="30735" name="AutoShape 17">
            <a:extLst>
              <a:ext uri="{FF2B5EF4-FFF2-40B4-BE49-F238E27FC236}">
                <a16:creationId xmlns:a16="http://schemas.microsoft.com/office/drawing/2014/main" id="{8152E11B-993B-07A8-BC63-0319473A326F}"/>
              </a:ext>
            </a:extLst>
          </p:cNvPr>
          <p:cNvCxnSpPr>
            <a:cxnSpLocks noChangeShapeType="1"/>
            <a:stCxn id="30728" idx="3"/>
            <a:endCxn id="30723" idx="2"/>
          </p:cNvCxnSpPr>
          <p:nvPr/>
        </p:nvCxnSpPr>
        <p:spPr bwMode="auto">
          <a:xfrm flipH="1">
            <a:off x="3770313" y="2895600"/>
            <a:ext cx="3543300" cy="304800"/>
          </a:xfrm>
          <a:prstGeom prst="bentConnector4">
            <a:avLst>
              <a:gd name="adj1" fmla="val -6454"/>
              <a:gd name="adj2" fmla="val 30729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36" name="Oval 18">
            <a:extLst>
              <a:ext uri="{FF2B5EF4-FFF2-40B4-BE49-F238E27FC236}">
                <a16:creationId xmlns:a16="http://schemas.microsoft.com/office/drawing/2014/main" id="{3DCA7C14-6324-238A-54D6-C93CFC8CD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8194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grpSp>
        <p:nvGrpSpPr>
          <p:cNvPr id="30737" name="Group 19">
            <a:extLst>
              <a:ext uri="{FF2B5EF4-FFF2-40B4-BE49-F238E27FC236}">
                <a16:creationId xmlns:a16="http://schemas.microsoft.com/office/drawing/2014/main" id="{5A9CA873-2DDC-050D-261F-4532CF5936E5}"/>
              </a:ext>
            </a:extLst>
          </p:cNvPr>
          <p:cNvGrpSpPr>
            <a:grpSpLocks/>
          </p:cNvGrpSpPr>
          <p:nvPr/>
        </p:nvGrpSpPr>
        <p:grpSpPr bwMode="auto">
          <a:xfrm rot="5400000" flipH="1">
            <a:off x="3623469" y="3274219"/>
            <a:ext cx="306387" cy="155575"/>
            <a:chOff x="3888" y="1967"/>
            <a:chExt cx="193" cy="98"/>
          </a:xfrm>
        </p:grpSpPr>
        <p:sp>
          <p:nvSpPr>
            <p:cNvPr id="30753" name="Line 20">
              <a:extLst>
                <a:ext uri="{FF2B5EF4-FFF2-40B4-BE49-F238E27FC236}">
                  <a16:creationId xmlns:a16="http://schemas.microsoft.com/office/drawing/2014/main" id="{5BA1FB80-6E4B-BDE0-5CF8-2BFCDF7CD7F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498818">
              <a:off x="3983" y="1969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4" name="Line 21">
              <a:extLst>
                <a:ext uri="{FF2B5EF4-FFF2-40B4-BE49-F238E27FC236}">
                  <a16:creationId xmlns:a16="http://schemas.microsoft.com/office/drawing/2014/main" id="{F89B32E1-3C72-3D05-3F12-DDBA97774A7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498818" flipV="1">
              <a:off x="3984" y="1872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738" name="Oval 22">
            <a:extLst>
              <a:ext uri="{FF2B5EF4-FFF2-40B4-BE49-F238E27FC236}">
                <a16:creationId xmlns:a16="http://schemas.microsoft.com/office/drawing/2014/main" id="{149D743A-7F52-CFAC-D253-3CADF621D07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678238" y="35052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grpSp>
        <p:nvGrpSpPr>
          <p:cNvPr id="30739" name="Group 23">
            <a:extLst>
              <a:ext uri="{FF2B5EF4-FFF2-40B4-BE49-F238E27FC236}">
                <a16:creationId xmlns:a16="http://schemas.microsoft.com/office/drawing/2014/main" id="{7DD2F9BE-577F-11DA-D061-DA5A0D4FF67A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5772150"/>
            <a:ext cx="4800600" cy="609600"/>
            <a:chOff x="144" y="3840"/>
            <a:chExt cx="3024" cy="384"/>
          </a:xfrm>
        </p:grpSpPr>
        <p:sp>
          <p:nvSpPr>
            <p:cNvPr id="30750" name="Rectangle 24">
              <a:extLst>
                <a:ext uri="{FF2B5EF4-FFF2-40B4-BE49-F238E27FC236}">
                  <a16:creationId xmlns:a16="http://schemas.microsoft.com/office/drawing/2014/main" id="{61F696E5-AB45-31B6-CC80-92CBC4750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/>
                <a:t>Item_No</a:t>
              </a:r>
            </a:p>
          </p:txBody>
        </p:sp>
        <p:sp>
          <p:nvSpPr>
            <p:cNvPr id="30751" name="Rectangle 25">
              <a:extLst>
                <a:ext uri="{FF2B5EF4-FFF2-40B4-BE49-F238E27FC236}">
                  <a16:creationId xmlns:a16="http://schemas.microsoft.com/office/drawing/2014/main" id="{2ABAA58D-05DD-C679-4008-70AE747ED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/>
                <a:t>Component_No</a:t>
              </a:r>
            </a:p>
          </p:txBody>
        </p:sp>
        <p:sp>
          <p:nvSpPr>
            <p:cNvPr id="30752" name="Rectangle 26">
              <a:extLst>
                <a:ext uri="{FF2B5EF4-FFF2-40B4-BE49-F238E27FC236}">
                  <a16:creationId xmlns:a16="http://schemas.microsoft.com/office/drawing/2014/main" id="{613DFFDF-6E42-BEF8-2FA0-3162B58C7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Quantity</a:t>
              </a:r>
            </a:p>
          </p:txBody>
        </p:sp>
      </p:grpSp>
      <p:grpSp>
        <p:nvGrpSpPr>
          <p:cNvPr id="30740" name="Group 27">
            <a:extLst>
              <a:ext uri="{FF2B5EF4-FFF2-40B4-BE49-F238E27FC236}">
                <a16:creationId xmlns:a16="http://schemas.microsoft.com/office/drawing/2014/main" id="{094C2ABF-0DA4-592C-80F5-8E7F167A2CC8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476750"/>
            <a:ext cx="4800600" cy="609600"/>
            <a:chOff x="144" y="3840"/>
            <a:chExt cx="3024" cy="384"/>
          </a:xfrm>
        </p:grpSpPr>
        <p:sp>
          <p:nvSpPr>
            <p:cNvPr id="30747" name="Rectangle 28">
              <a:extLst>
                <a:ext uri="{FF2B5EF4-FFF2-40B4-BE49-F238E27FC236}">
                  <a16:creationId xmlns:a16="http://schemas.microsoft.com/office/drawing/2014/main" id="{19D08903-1BA3-D269-179B-5DE26E9E3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/>
                <a:t>Item_No</a:t>
              </a:r>
            </a:p>
          </p:txBody>
        </p:sp>
        <p:sp>
          <p:nvSpPr>
            <p:cNvPr id="30748" name="Rectangle 29">
              <a:extLst>
                <a:ext uri="{FF2B5EF4-FFF2-40B4-BE49-F238E27FC236}">
                  <a16:creationId xmlns:a16="http://schemas.microsoft.com/office/drawing/2014/main" id="{FF6A073B-6DDA-01C2-344E-32F722BC3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Name</a:t>
              </a:r>
            </a:p>
          </p:txBody>
        </p:sp>
        <p:sp>
          <p:nvSpPr>
            <p:cNvPr id="30749" name="Rectangle 30">
              <a:extLst>
                <a:ext uri="{FF2B5EF4-FFF2-40B4-BE49-F238E27FC236}">
                  <a16:creationId xmlns:a16="http://schemas.microsoft.com/office/drawing/2014/main" id="{BABF1F93-F948-4E6D-75C2-80C5D28CB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Unit_Cost</a:t>
              </a:r>
            </a:p>
          </p:txBody>
        </p:sp>
      </p:grpSp>
      <p:sp>
        <p:nvSpPr>
          <p:cNvPr id="30741" name="Text Box 31">
            <a:extLst>
              <a:ext uri="{FF2B5EF4-FFF2-40B4-BE49-F238E27FC236}">
                <a16:creationId xmlns:a16="http://schemas.microsoft.com/office/drawing/2014/main" id="{38CB4013-4D38-34B8-EDD1-B2393D8E1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405438"/>
            <a:ext cx="2209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/>
              <a:t>COMPONENT</a:t>
            </a:r>
          </a:p>
        </p:txBody>
      </p:sp>
      <p:cxnSp>
        <p:nvCxnSpPr>
          <p:cNvPr id="30742" name="AutoShape 32">
            <a:extLst>
              <a:ext uri="{FF2B5EF4-FFF2-40B4-BE49-F238E27FC236}">
                <a16:creationId xmlns:a16="http://schemas.microsoft.com/office/drawing/2014/main" id="{A5F19739-A19C-213B-DF07-83EAB0926BF9}"/>
              </a:ext>
            </a:extLst>
          </p:cNvPr>
          <p:cNvCxnSpPr>
            <a:cxnSpLocks noChangeShapeType="1"/>
            <a:stCxn id="30732" idx="4"/>
            <a:endCxn id="30723" idx="0"/>
          </p:cNvCxnSpPr>
          <p:nvPr/>
        </p:nvCxnSpPr>
        <p:spPr bwMode="auto">
          <a:xfrm flipH="1">
            <a:off x="3770313" y="2209800"/>
            <a:ext cx="1716087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43" name="Oval 33">
            <a:extLst>
              <a:ext uri="{FF2B5EF4-FFF2-40B4-BE49-F238E27FC236}">
                <a16:creationId xmlns:a16="http://schemas.microsoft.com/office/drawing/2014/main" id="{7E4F737B-452F-399B-5FB5-DE136A251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0668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Quantity</a:t>
            </a:r>
          </a:p>
        </p:txBody>
      </p:sp>
      <p:cxnSp>
        <p:nvCxnSpPr>
          <p:cNvPr id="30744" name="AutoShape 34">
            <a:extLst>
              <a:ext uri="{FF2B5EF4-FFF2-40B4-BE49-F238E27FC236}">
                <a16:creationId xmlns:a16="http://schemas.microsoft.com/office/drawing/2014/main" id="{4682D91E-219A-83D4-BBB6-9B525FF7253F}"/>
              </a:ext>
            </a:extLst>
          </p:cNvPr>
          <p:cNvCxnSpPr>
            <a:cxnSpLocks noChangeShapeType="1"/>
            <a:stCxn id="30728" idx="0"/>
            <a:endCxn id="30743" idx="4"/>
          </p:cNvCxnSpPr>
          <p:nvPr/>
        </p:nvCxnSpPr>
        <p:spPr bwMode="auto">
          <a:xfrm flipV="1">
            <a:off x="6627813" y="1752600"/>
            <a:ext cx="382587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5" name="AutoShape 35">
            <a:extLst>
              <a:ext uri="{FF2B5EF4-FFF2-40B4-BE49-F238E27FC236}">
                <a16:creationId xmlns:a16="http://schemas.microsoft.com/office/drawing/2014/main" id="{1760DC3E-4060-0363-30BB-FA8D212BA2AC}"/>
              </a:ext>
            </a:extLst>
          </p:cNvPr>
          <p:cNvCxnSpPr>
            <a:cxnSpLocks noChangeShapeType="1"/>
            <a:stCxn id="30751" idx="0"/>
            <a:endCxn id="30747" idx="2"/>
          </p:cNvCxnSpPr>
          <p:nvPr/>
        </p:nvCxnSpPr>
        <p:spPr bwMode="auto">
          <a:xfrm rot="5400000" flipH="1">
            <a:off x="1866900" y="4629150"/>
            <a:ext cx="685800" cy="16002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6" name="AutoShape 36">
            <a:extLst>
              <a:ext uri="{FF2B5EF4-FFF2-40B4-BE49-F238E27FC236}">
                <a16:creationId xmlns:a16="http://schemas.microsoft.com/office/drawing/2014/main" id="{F1E407A9-FD24-DA6D-CBB9-B324B416CEBA}"/>
              </a:ext>
            </a:extLst>
          </p:cNvPr>
          <p:cNvCxnSpPr>
            <a:cxnSpLocks noChangeShapeType="1"/>
            <a:stCxn id="30750" idx="1"/>
            <a:endCxn id="30747" idx="1"/>
          </p:cNvCxnSpPr>
          <p:nvPr/>
        </p:nvCxnSpPr>
        <p:spPr bwMode="auto">
          <a:xfrm rot="10800000" flipH="1">
            <a:off x="609600" y="4781550"/>
            <a:ext cx="1588" cy="1295400"/>
          </a:xfrm>
          <a:prstGeom prst="curvedConnector3">
            <a:avLst>
              <a:gd name="adj1" fmla="val -144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AD5F71E-DC82-3A86-B71F-A809BCAA77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148263" cy="504825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2. Transforming Relationships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0B354CCB-6FFF-82AC-BF23-D534C1B33D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87463"/>
            <a:ext cx="8497887" cy="5165725"/>
          </a:xfrm>
        </p:spPr>
        <p:txBody>
          <a:bodyPr/>
          <a:lstStyle/>
          <a:p>
            <a:pPr marL="590550" indent="-533400">
              <a:buFontTx/>
              <a:buNone/>
              <a:defRPr/>
            </a:pPr>
            <a:r>
              <a:rPr lang="en-US" sz="2400" dirty="0">
                <a:solidFill>
                  <a:schemeClr val="accent2"/>
                </a:solidFill>
              </a:rPr>
              <a:t>c) Ternary Relationship</a:t>
            </a:r>
          </a:p>
          <a:p>
            <a:pPr marL="457200">
              <a:defRPr/>
            </a:pPr>
            <a:r>
              <a:rPr lang="en-US" sz="2400" dirty="0"/>
              <a:t>A new relation is created consisting of Primary Keys of all the three entities participating in the relationship plus the attributes of the relationship.</a:t>
            </a:r>
          </a:p>
          <a:p>
            <a:pPr marL="609600" indent="-609600">
              <a:defRPr/>
            </a:pPr>
            <a:endParaRPr lang="en-US" sz="2400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4">
            <a:extLst>
              <a:ext uri="{FF2B5EF4-FFF2-40B4-BE49-F238E27FC236}">
                <a16:creationId xmlns:a16="http://schemas.microsoft.com/office/drawing/2014/main" id="{608D3F8B-6331-3448-CA26-E445C3FC6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92150"/>
            <a:ext cx="8277225" cy="465138"/>
          </a:xfrm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Transforming Ternary Relationship</a:t>
            </a:r>
            <a:endParaRPr lang="en-US" altLang="en-US" sz="2400"/>
          </a:p>
        </p:txBody>
      </p:sp>
      <p:pic>
        <p:nvPicPr>
          <p:cNvPr id="32771" name="Picture 5">
            <a:extLst>
              <a:ext uri="{FF2B5EF4-FFF2-40B4-BE49-F238E27FC236}">
                <a16:creationId xmlns:a16="http://schemas.microsoft.com/office/drawing/2014/main" id="{57CD2BB1-884B-0BF2-9D92-7AF4E5D71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1547813"/>
            <a:ext cx="8628063" cy="396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4">
            <a:extLst>
              <a:ext uri="{FF2B5EF4-FFF2-40B4-BE49-F238E27FC236}">
                <a16:creationId xmlns:a16="http://schemas.microsoft.com/office/drawing/2014/main" id="{F8A29085-A93D-E55C-E187-E8470914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92150"/>
            <a:ext cx="8277225" cy="465138"/>
          </a:xfrm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Transforming Ternary Relationship</a:t>
            </a:r>
            <a:endParaRPr lang="en-US" altLang="en-US" sz="2400"/>
          </a:p>
        </p:txBody>
      </p:sp>
      <p:pic>
        <p:nvPicPr>
          <p:cNvPr id="33795" name="Picture 1">
            <a:extLst>
              <a:ext uri="{FF2B5EF4-FFF2-40B4-BE49-F238E27FC236}">
                <a16:creationId xmlns:a16="http://schemas.microsoft.com/office/drawing/2014/main" id="{8BD408A8-D2C5-4B9F-8450-E79DE345E4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8" y="1412875"/>
            <a:ext cx="882332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2AD1B6D-429D-779D-D380-8BAD76A33B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148263" cy="504825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2. Transforming Relationships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3586EE51-9B4C-00C0-E7ED-CDCAEDEE2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87463"/>
            <a:ext cx="8497887" cy="5165725"/>
          </a:xfrm>
        </p:spPr>
        <p:txBody>
          <a:bodyPr/>
          <a:lstStyle/>
          <a:p>
            <a:pPr marL="590550" indent="-533400">
              <a:buFontTx/>
              <a:buNone/>
              <a:defRPr/>
            </a:pPr>
            <a:r>
              <a:rPr lang="en-US" sz="2400" dirty="0">
                <a:solidFill>
                  <a:schemeClr val="accent2"/>
                </a:solidFill>
              </a:rPr>
              <a:t>d) Super types / Subtype Relationship</a:t>
            </a:r>
          </a:p>
          <a:p>
            <a:pPr marL="457200" indent="-228600">
              <a:defRPr/>
            </a:pPr>
            <a:r>
              <a:rPr lang="en-US" sz="2400" dirty="0"/>
              <a:t>Relations are created against super type and each of its subtypes.</a:t>
            </a:r>
          </a:p>
          <a:p>
            <a:pPr marL="457200" indent="-228600">
              <a:defRPr/>
            </a:pPr>
            <a:r>
              <a:rPr lang="en-US" sz="2400" dirty="0"/>
              <a:t>The subtypes will use the PK of the super type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FB4B1289-F65E-20B9-0B08-8970363A05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7920038" cy="504825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2. Transforming Super types / Subtype Relationship</a:t>
            </a:r>
          </a:p>
        </p:txBody>
      </p:sp>
      <p:sp>
        <p:nvSpPr>
          <p:cNvPr id="35843" name="Content Placeholder 1">
            <a:extLst>
              <a:ext uri="{FF2B5EF4-FFF2-40B4-BE49-F238E27FC236}">
                <a16:creationId xmlns:a16="http://schemas.microsoft.com/office/drawing/2014/main" id="{8181BFBB-D911-0752-3348-9905D96BB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5844" name="Picture 2">
            <a:extLst>
              <a:ext uri="{FF2B5EF4-FFF2-40B4-BE49-F238E27FC236}">
                <a16:creationId xmlns:a16="http://schemas.microsoft.com/office/drawing/2014/main" id="{98E0FED3-507E-B523-BBC9-5B6D01FDAA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265238"/>
            <a:ext cx="8180387" cy="515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98CAB0A7-DD4C-56C4-2D29-6EAC8E6E2B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7920038" cy="504825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2. Transforming Super types / Subtype Relationship</a:t>
            </a:r>
          </a:p>
        </p:txBody>
      </p:sp>
      <p:pic>
        <p:nvPicPr>
          <p:cNvPr id="36867" name="Picture 3">
            <a:extLst>
              <a:ext uri="{FF2B5EF4-FFF2-40B4-BE49-F238E27FC236}">
                <a16:creationId xmlns:a16="http://schemas.microsoft.com/office/drawing/2014/main" id="{BC4BF1AD-F1E4-F9DE-25A1-5B38F9CD1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484313"/>
            <a:ext cx="88741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5904A93-CB81-221B-5F0A-AB1BC4FDA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3062" y="91480"/>
            <a:ext cx="6886575" cy="457200"/>
          </a:xfrm>
        </p:spPr>
        <p:txBody>
          <a:bodyPr/>
          <a:lstStyle/>
          <a:p>
            <a:pPr eaLnBrk="1" hangingPunct="1"/>
            <a:r>
              <a:rPr lang="en-US" altLang="en-US" sz="2400" b="1" u="sng" dirty="0">
                <a:solidFill>
                  <a:srgbClr val="D34817"/>
                </a:solidFill>
                <a:latin typeface="Calibri" panose="020F0502020204030204" pitchFamily="34" charset="0"/>
              </a:rPr>
              <a:t>Reading Material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87B319E3-B4CB-9CFB-2694-5EE6DD035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404664"/>
            <a:ext cx="8610600" cy="3063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914400" indent="-4572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Modern Database Management: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Jeffery. A. Hoffer (12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Database System Concepts: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Abraham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Silberschatz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(7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Databases Illuminated: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Catherine M. Ricardo (3rd Ed.)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9B2D1F"/>
              </a:solidFill>
              <a:effectLst/>
              <a:uLnTx/>
              <a:uFillTx/>
              <a:latin typeface="Perpetua" panose="02020502060401020303" pitchFamily="18" charset="0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1B749A-3943-494C-697C-1066ED156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257840"/>
              </p:ext>
            </p:extLst>
          </p:nvPr>
        </p:nvGraphicFramePr>
        <p:xfrm>
          <a:off x="1547664" y="1936304"/>
          <a:ext cx="583264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3534379763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947663522"/>
                    </a:ext>
                  </a:extLst>
                </a:gridCol>
              </a:tblGrid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</a:rPr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</a:rPr>
                        <a:t>Section(s) / Chapter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931968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Pages 165 to 178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253150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6.8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555299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4.7, 4.8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1901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3F131D2E-1643-2B0B-13E6-73A2652C4A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628775"/>
            <a:ext cx="8277225" cy="1219200"/>
          </a:xfrm>
        </p:spPr>
        <p:txBody>
          <a:bodyPr/>
          <a:lstStyle/>
          <a:p>
            <a:pPr algn="ctr" eaLnBrk="1" hangingPunct="1"/>
            <a:br>
              <a:rPr lang="de-AT" altLang="en-US" sz="3600">
                <a:latin typeface="Georgia" panose="02040502050405020303" pitchFamily="18" charset="0"/>
              </a:rPr>
            </a:br>
            <a:r>
              <a:rPr lang="de-AT" altLang="en-US" sz="3600">
                <a:latin typeface="Georgia" panose="02040502050405020303" pitchFamily="18" charset="0"/>
              </a:rPr>
              <a:t>Thank you for your attention.</a:t>
            </a:r>
          </a:p>
        </p:txBody>
      </p:sp>
      <p:sp>
        <p:nvSpPr>
          <p:cNvPr id="97283" name="Rectangle 8">
            <a:extLst>
              <a:ext uri="{FF2B5EF4-FFF2-40B4-BE49-F238E27FC236}">
                <a16:creationId xmlns:a16="http://schemas.microsoft.com/office/drawing/2014/main" id="{1D2A0AC3-EA23-63ED-82E3-AC533EA2B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962400"/>
            <a:ext cx="4495800" cy="2130425"/>
          </a:xfrm>
          <a:prstGeom prst="rect">
            <a:avLst/>
          </a:prstGeom>
          <a:solidFill>
            <a:srgbClr val="FFFFCC"/>
          </a:solidFill>
          <a:ln w="38100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7284" name="Rectangle 9">
            <a:extLst>
              <a:ext uri="{FF2B5EF4-FFF2-40B4-BE49-F238E27FC236}">
                <a16:creationId xmlns:a16="http://schemas.microsoft.com/office/drawing/2014/main" id="{102F474F-E7C3-2B43-FC45-D92EEF1DA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276475"/>
            <a:ext cx="7772400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 dirty="0">
              <a:solidFill>
                <a:srgbClr val="000000"/>
              </a:solidFill>
            </a:endParaRPr>
          </a:p>
          <a:p>
            <a:pPr eaLnBrk="1" hangingPunct="1"/>
            <a:endParaRPr lang="en-US" altLang="en-US" sz="2400" dirty="0">
              <a:solidFill>
                <a:srgbClr val="000000"/>
              </a:solidFill>
            </a:endParaRPr>
          </a:p>
          <a:p>
            <a:pPr eaLnBrk="1" hangingPunct="1"/>
            <a:endParaRPr lang="en-US" altLang="en-US" sz="2400" dirty="0">
              <a:solidFill>
                <a:srgbClr val="000000"/>
              </a:solidFill>
            </a:endParaRPr>
          </a:p>
          <a:p>
            <a:pPr eaLnBrk="1" hangingPunct="1"/>
            <a:endParaRPr lang="en-US" altLang="en-US" sz="2400" dirty="0">
              <a:solidFill>
                <a:srgbClr val="000000"/>
              </a:solidFill>
            </a:endParaRPr>
          </a:p>
          <a:p>
            <a:pPr eaLnBrk="1" hangingPunct="1">
              <a:buFontTx/>
              <a:buNone/>
            </a:pPr>
            <a:r>
              <a:rPr lang="de-AT" altLang="en-US" sz="900" b="1" dirty="0">
                <a:solidFill>
                  <a:srgbClr val="000066"/>
                </a:solidFill>
              </a:rPr>
              <a:t>			</a:t>
            </a:r>
            <a:r>
              <a:rPr lang="de-AT" altLang="en-US" sz="2400" b="1" dirty="0">
                <a:solidFill>
                  <a:srgbClr val="3333CC"/>
                </a:solidFill>
                <a:latin typeface="Georgia" panose="02040502050405020303" pitchFamily="18" charset="0"/>
              </a:rPr>
              <a:t>Dr. Asif Sohail</a:t>
            </a:r>
            <a:endParaRPr lang="de-AT" altLang="en-US" sz="1200" b="1" dirty="0">
              <a:solidFill>
                <a:srgbClr val="3333CC"/>
              </a:solidFill>
              <a:latin typeface="Georgia" panose="02040502050405020303" pitchFamily="18" charset="0"/>
            </a:endParaRPr>
          </a:p>
          <a:p>
            <a:pPr eaLnBrk="1" hangingPunct="1">
              <a:buFontTx/>
              <a:buNone/>
            </a:pPr>
            <a:r>
              <a:rPr lang="de-AT" altLang="en-US" sz="1200" b="1" dirty="0">
                <a:solidFill>
                  <a:srgbClr val="0000FF"/>
                </a:solidFill>
                <a:latin typeface="Georgia" panose="02040502050405020303" pitchFamily="18" charset="0"/>
              </a:rPr>
              <a:t>			</a:t>
            </a:r>
          </a:p>
          <a:p>
            <a:pPr eaLnBrk="1" hangingPunct="1">
              <a:buFontTx/>
              <a:buNone/>
            </a:pPr>
            <a:r>
              <a:rPr lang="de-AT" altLang="en-US" sz="1200" b="1" dirty="0">
                <a:solidFill>
                  <a:srgbClr val="0000FF"/>
                </a:solidFill>
                <a:latin typeface="Georgia" panose="02040502050405020303" pitchFamily="18" charset="0"/>
              </a:rPr>
              <a:t>			</a:t>
            </a:r>
            <a:r>
              <a:rPr lang="de-AT" altLang="en-US" sz="1200" b="1" dirty="0">
                <a:solidFill>
                  <a:srgbClr val="800000"/>
                </a:solidFill>
                <a:latin typeface="Georgia" panose="02040502050405020303" pitchFamily="18" charset="0"/>
              </a:rPr>
              <a:t>Assistant Professor</a:t>
            </a:r>
            <a:endParaRPr lang="de-AT" altLang="en-US" sz="1200" dirty="0">
              <a:solidFill>
                <a:srgbClr val="800000"/>
              </a:solidFill>
              <a:latin typeface="Georgia" panose="02040502050405020303" pitchFamily="18" charset="0"/>
            </a:endParaRPr>
          </a:p>
          <a:p>
            <a:pPr eaLnBrk="1" hangingPunct="1">
              <a:buFontTx/>
              <a:buNone/>
            </a:pPr>
            <a:r>
              <a:rPr lang="de-AT" altLang="en-US" sz="1200" b="1" dirty="0">
                <a:solidFill>
                  <a:srgbClr val="0000FF"/>
                </a:solidFill>
                <a:latin typeface="Georgia" panose="02040502050405020303" pitchFamily="18" charset="0"/>
              </a:rPr>
              <a:t>			</a:t>
            </a:r>
            <a:r>
              <a:rPr lang="de-AT" altLang="en-US" sz="1200" dirty="0">
                <a:solidFill>
                  <a:srgbClr val="0000FF"/>
                </a:solidFill>
                <a:latin typeface="Georgia" panose="02040502050405020303" pitchFamily="18" charset="0"/>
              </a:rPr>
              <a:t>Department of Information Technology,</a:t>
            </a:r>
          </a:p>
          <a:p>
            <a:pPr eaLnBrk="1" hangingPunct="1">
              <a:buFontTx/>
              <a:buNone/>
            </a:pPr>
            <a:r>
              <a:rPr lang="de-AT" altLang="en-US" sz="1200" dirty="0">
                <a:solidFill>
                  <a:srgbClr val="0000FF"/>
                </a:solidFill>
                <a:latin typeface="Georgia" panose="02040502050405020303" pitchFamily="18" charset="0"/>
              </a:rPr>
              <a:t>			Faculty of Computing and Information Technology (FCIT)</a:t>
            </a:r>
          </a:p>
          <a:p>
            <a:pPr eaLnBrk="1" hangingPunct="1">
              <a:buFontTx/>
              <a:buNone/>
            </a:pPr>
            <a:r>
              <a:rPr lang="de-AT" altLang="en-US" sz="1200" dirty="0">
                <a:solidFill>
                  <a:srgbClr val="0000FF"/>
                </a:solidFill>
                <a:latin typeface="Georgia" panose="02040502050405020303" pitchFamily="18" charset="0"/>
              </a:rPr>
              <a:t>			University of the Punjab, Lahore, Pakistan</a:t>
            </a:r>
          </a:p>
          <a:p>
            <a:pPr eaLnBrk="1" hangingPunct="1">
              <a:buFontTx/>
              <a:buNone/>
            </a:pPr>
            <a:r>
              <a:rPr lang="de-AT" altLang="en-US" sz="1200" b="1" dirty="0">
                <a:solidFill>
                  <a:srgbClr val="0000FF"/>
                </a:solidFill>
                <a:latin typeface="Georgia" panose="02040502050405020303" pitchFamily="18" charset="0"/>
              </a:rPr>
              <a:t>	</a:t>
            </a:r>
            <a:r>
              <a:rPr lang="de-AT" altLang="en-US" sz="1200" dirty="0">
                <a:solidFill>
                  <a:srgbClr val="0000FF"/>
                </a:solidFill>
                <a:latin typeface="Georgia" panose="02040502050405020303" pitchFamily="18" charset="0"/>
              </a:rPr>
              <a:t>		Tel:                  +92-(0)42-111-923-923    Ext. </a:t>
            </a:r>
            <a:r>
              <a:rPr lang="de-AT" altLang="en-US" sz="1200" dirty="0">
                <a:solidFill>
                  <a:srgbClr val="0000FF"/>
                </a:solidFill>
                <a:latin typeface="Times New Roman" panose="02020603050405020304" pitchFamily="18" charset="0"/>
              </a:rPr>
              <a:t>154</a:t>
            </a:r>
          </a:p>
          <a:p>
            <a:pPr eaLnBrk="1" hangingPunct="1">
              <a:buFontTx/>
              <a:buNone/>
            </a:pPr>
            <a:r>
              <a:rPr lang="de-AT" altLang="en-US" sz="1200" dirty="0">
                <a:solidFill>
                  <a:srgbClr val="0000FF"/>
                </a:solidFill>
                <a:latin typeface="Georgia" panose="02040502050405020303" pitchFamily="18" charset="0"/>
              </a:rPr>
              <a:t>			E-mail:           asif@pucit.edu.pk</a:t>
            </a:r>
          </a:p>
          <a:p>
            <a:pPr eaLnBrk="1" hangingPunct="1"/>
            <a:endParaRPr lang="en-US" altLang="en-US" sz="1200" dirty="0">
              <a:solidFill>
                <a:srgbClr val="0000FF"/>
              </a:solidFill>
              <a:latin typeface="Georgia" panose="02040502050405020303" pitchFamily="18" charset="0"/>
            </a:endParaRPr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C2E2F7CA-C894-0B39-5274-12A5FB95B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0"/>
            <a:ext cx="8032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28D636A8-6BC8-F0E1-72F9-45439E09D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8" y="0"/>
            <a:ext cx="9556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Overload Protection</Template>
  <TotalTime>1169</TotalTime>
  <Words>1273</Words>
  <Application>Microsoft Office PowerPoint</Application>
  <PresentationFormat>On-screen Show (4:3)</PresentationFormat>
  <Paragraphs>290</Paragraphs>
  <Slides>33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Wingdings</vt:lpstr>
      <vt:lpstr>Georgia</vt:lpstr>
      <vt:lpstr>Times New Roman</vt:lpstr>
      <vt:lpstr>Standarddesign</vt:lpstr>
      <vt:lpstr>1_Equity</vt:lpstr>
      <vt:lpstr>Transforming ERD into Relations</vt:lpstr>
      <vt:lpstr>Logical Database Design</vt:lpstr>
      <vt:lpstr>Data Models</vt:lpstr>
      <vt:lpstr>Transforming ERD into Relations</vt:lpstr>
      <vt:lpstr>1. Transforming Entities</vt:lpstr>
      <vt:lpstr>1. Transforming Entities</vt:lpstr>
      <vt:lpstr>Mapping Regular Entity CUSTOMER</vt:lpstr>
      <vt:lpstr>Composite Attribute</vt:lpstr>
      <vt:lpstr>Multivalued Attribute</vt:lpstr>
      <vt:lpstr>1. Transforming Entities</vt:lpstr>
      <vt:lpstr>Continued…</vt:lpstr>
      <vt:lpstr>1. Transforming Entities</vt:lpstr>
      <vt:lpstr>Map Associative Entities</vt:lpstr>
      <vt:lpstr>Map Associative Entities</vt:lpstr>
      <vt:lpstr>2. Transforming Relationships</vt:lpstr>
      <vt:lpstr>2. Transforming Relationships</vt:lpstr>
      <vt:lpstr>Binary Relationship (1:M)</vt:lpstr>
      <vt:lpstr>Binary Relationship (1:1)</vt:lpstr>
      <vt:lpstr>2. Transforming Relationships</vt:lpstr>
      <vt:lpstr>Binary Relationship (M:N)</vt:lpstr>
      <vt:lpstr>Map Binary Relationships</vt:lpstr>
      <vt:lpstr>2. Transforming Relationships</vt:lpstr>
      <vt:lpstr>2. Transforming Relationships</vt:lpstr>
      <vt:lpstr>2. Transforming Relationships</vt:lpstr>
      <vt:lpstr>Map Unary Relationships</vt:lpstr>
      <vt:lpstr>2. Transforming Relationships</vt:lpstr>
      <vt:lpstr>Transforming Ternary Relationship</vt:lpstr>
      <vt:lpstr>Transforming Ternary Relationship</vt:lpstr>
      <vt:lpstr>2. Transforming Relationships</vt:lpstr>
      <vt:lpstr>2. Transforming Super types / Subtype Relationship</vt:lpstr>
      <vt:lpstr>2. Transforming Super types / Subtype Relationship</vt:lpstr>
      <vt:lpstr>Reading Material</vt:lpstr>
      <vt:lpstr> Thank you for your attention.</vt:lpstr>
    </vt:vector>
  </TitlesOfParts>
  <Company>TU - Wien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Analytical Model for Performance Measurement of Queueing Systems</dc:title>
  <dc:creator>ssarwar</dc:creator>
  <cp:lastModifiedBy>Asif Sohail</cp:lastModifiedBy>
  <cp:revision>628</cp:revision>
  <dcterms:created xsi:type="dcterms:W3CDTF">2006-05-17T12:38:56Z</dcterms:created>
  <dcterms:modified xsi:type="dcterms:W3CDTF">2024-10-20T02:38:53Z</dcterms:modified>
</cp:coreProperties>
</file>