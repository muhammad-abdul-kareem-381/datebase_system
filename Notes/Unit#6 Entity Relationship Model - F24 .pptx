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  <p:sldMasterId id="2147483675" r:id="rId2"/>
    <p:sldMasterId id="2147483763" r:id="rId3"/>
    <p:sldMasterId id="2147484163" r:id="rId4"/>
    <p:sldMasterId id="2147484176" r:id="rId5"/>
  </p:sldMasterIdLst>
  <p:notesMasterIdLst>
    <p:notesMasterId r:id="rId49"/>
  </p:notesMasterIdLst>
  <p:handoutMasterIdLst>
    <p:handoutMasterId r:id="rId50"/>
  </p:handoutMasterIdLst>
  <p:sldIdLst>
    <p:sldId id="256" r:id="rId6"/>
    <p:sldId id="450" r:id="rId7"/>
    <p:sldId id="398" r:id="rId8"/>
    <p:sldId id="399" r:id="rId9"/>
    <p:sldId id="400" r:id="rId10"/>
    <p:sldId id="467" r:id="rId11"/>
    <p:sldId id="401" r:id="rId12"/>
    <p:sldId id="402" r:id="rId13"/>
    <p:sldId id="486" r:id="rId14"/>
    <p:sldId id="443" r:id="rId15"/>
    <p:sldId id="405" r:id="rId16"/>
    <p:sldId id="461" r:id="rId17"/>
    <p:sldId id="491" r:id="rId18"/>
    <p:sldId id="494" r:id="rId19"/>
    <p:sldId id="495" r:id="rId20"/>
    <p:sldId id="449" r:id="rId21"/>
    <p:sldId id="444" r:id="rId22"/>
    <p:sldId id="454" r:id="rId23"/>
    <p:sldId id="482" r:id="rId24"/>
    <p:sldId id="408" r:id="rId25"/>
    <p:sldId id="459" r:id="rId26"/>
    <p:sldId id="460" r:id="rId27"/>
    <p:sldId id="498" r:id="rId28"/>
    <p:sldId id="430" r:id="rId29"/>
    <p:sldId id="462" r:id="rId30"/>
    <p:sldId id="463" r:id="rId31"/>
    <p:sldId id="464" r:id="rId32"/>
    <p:sldId id="481" r:id="rId33"/>
    <p:sldId id="488" r:id="rId34"/>
    <p:sldId id="489" r:id="rId35"/>
    <p:sldId id="490" r:id="rId36"/>
    <p:sldId id="469" r:id="rId37"/>
    <p:sldId id="470" r:id="rId38"/>
    <p:sldId id="471" r:id="rId39"/>
    <p:sldId id="487" r:id="rId40"/>
    <p:sldId id="472" r:id="rId41"/>
    <p:sldId id="456" r:id="rId42"/>
    <p:sldId id="411" r:id="rId43"/>
    <p:sldId id="499" r:id="rId44"/>
    <p:sldId id="500" r:id="rId45"/>
    <p:sldId id="501" r:id="rId46"/>
    <p:sldId id="473" r:id="rId47"/>
    <p:sldId id="341" r:id="rId48"/>
  </p:sldIdLst>
  <p:sldSz cx="9144000" cy="6858000" type="screen4x3"/>
  <p:notesSz cx="6577013" cy="9753600"/>
  <p:defaultTextStyle>
    <a:defPPr>
      <a:defRPr lang="de-AT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FF66FF"/>
    <a:srgbClr val="3399FF"/>
    <a:srgbClr val="006600"/>
    <a:srgbClr val="FFFF66"/>
    <a:srgbClr val="FF0000"/>
    <a:srgbClr val="00FF00"/>
    <a:srgbClr val="FFFFCC"/>
    <a:srgbClr val="99CCFF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8" autoAdjust="0"/>
    <p:restoredTop sz="83597" autoAdjust="0"/>
  </p:normalViewPr>
  <p:slideViewPr>
    <p:cSldViewPr>
      <p:cViewPr varScale="1">
        <p:scale>
          <a:sx n="83" d="100"/>
          <a:sy n="83" d="100"/>
        </p:scale>
        <p:origin x="1243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8" Type="http://schemas.openxmlformats.org/officeDocument/2006/relationships/slide" Target="slides/slide3.xml"/><Relationship Id="rId51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>
            <a:extLst>
              <a:ext uri="{FF2B5EF4-FFF2-40B4-BE49-F238E27FC236}">
                <a16:creationId xmlns:a16="http://schemas.microsoft.com/office/drawing/2014/main" id="{B0CAAC8D-7AA3-2BE1-242C-704ABDC226E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51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>
            <a:lvl1pPr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9747" name="Rectangle 3">
            <a:extLst>
              <a:ext uri="{FF2B5EF4-FFF2-40B4-BE49-F238E27FC236}">
                <a16:creationId xmlns:a16="http://schemas.microsoft.com/office/drawing/2014/main" id="{B1F2ED0D-2537-B913-00F6-6B45EFD54F7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25863" y="0"/>
            <a:ext cx="2851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>
            <a:lvl1pPr algn="r"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9748" name="Rectangle 4">
            <a:extLst>
              <a:ext uri="{FF2B5EF4-FFF2-40B4-BE49-F238E27FC236}">
                <a16:creationId xmlns:a16="http://schemas.microsoft.com/office/drawing/2014/main" id="{5AEDB395-B27B-4F05-2B5F-192285D567AD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66238"/>
            <a:ext cx="2851150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b" anchorCtr="0" compatLnSpc="1">
            <a:prstTxWarp prst="textNoShape">
              <a:avLst/>
            </a:prstTxWarp>
          </a:bodyPr>
          <a:lstStyle>
            <a:lvl1pPr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9749" name="Rectangle 5">
            <a:extLst>
              <a:ext uri="{FF2B5EF4-FFF2-40B4-BE49-F238E27FC236}">
                <a16:creationId xmlns:a16="http://schemas.microsoft.com/office/drawing/2014/main" id="{F60217BF-269E-148D-DD2A-37F6F35244F6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25863" y="9266238"/>
            <a:ext cx="2851150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b" anchorCtr="0" compatLnSpc="1">
            <a:prstTxWarp prst="textNoShape">
              <a:avLst/>
            </a:prstTxWarp>
          </a:bodyPr>
          <a:lstStyle>
            <a:lvl1pPr algn="r" defTabSz="892175" eaLnBrk="1" hangingPunct="1">
              <a:defRPr sz="1200"/>
            </a:lvl1pPr>
          </a:lstStyle>
          <a:p>
            <a:fld id="{27F9FDAB-CA82-40B2-A677-9B7921DEC834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C19403D-2B1B-31A4-7F1C-47AD8B8D2D8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51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>
            <a:lvl1pPr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8DEAC85E-4EA3-BDCE-208C-9D488A9C167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24275" y="0"/>
            <a:ext cx="2851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>
            <a:lvl1pPr algn="r"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39DAC2A8-4EA9-C808-3116-811F7153FE7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0900" y="731838"/>
            <a:ext cx="4876800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05129BDA-88A5-955A-3815-ED3FCA2368B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57225" y="4633913"/>
            <a:ext cx="5262563" cy="438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AT" noProof="0"/>
              <a:t>Click to edit Master text styles</a:t>
            </a:r>
          </a:p>
          <a:p>
            <a:pPr lvl="1"/>
            <a:r>
              <a:rPr lang="de-AT" noProof="0"/>
              <a:t>Second level</a:t>
            </a:r>
          </a:p>
          <a:p>
            <a:pPr lvl="2"/>
            <a:r>
              <a:rPr lang="de-AT" noProof="0"/>
              <a:t>Third level</a:t>
            </a:r>
          </a:p>
          <a:p>
            <a:pPr lvl="3"/>
            <a:r>
              <a:rPr lang="de-AT" noProof="0"/>
              <a:t>Fourth level</a:t>
            </a:r>
          </a:p>
          <a:p>
            <a:pPr lvl="4"/>
            <a:r>
              <a:rPr lang="de-AT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DD292270-2EBC-AFE5-E0E2-D7D38F7013D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64650"/>
            <a:ext cx="2851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b" anchorCtr="0" compatLnSpc="1">
            <a:prstTxWarp prst="textNoShape">
              <a:avLst/>
            </a:prstTxWarp>
          </a:bodyPr>
          <a:lstStyle>
            <a:lvl1pPr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DA8469D3-C740-C6C0-411B-53000B2C3B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24275" y="9264650"/>
            <a:ext cx="2851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b" anchorCtr="0" compatLnSpc="1">
            <a:prstTxWarp prst="textNoShape">
              <a:avLst/>
            </a:prstTxWarp>
          </a:bodyPr>
          <a:lstStyle>
            <a:lvl1pPr algn="r" defTabSz="892175" eaLnBrk="1" hangingPunct="1">
              <a:defRPr sz="1200"/>
            </a:lvl1pPr>
          </a:lstStyle>
          <a:p>
            <a:fld id="{44F20858-24CC-438A-86C4-0326082B3F54}" type="slidenum">
              <a:rPr lang="de-AT" altLang="en-US"/>
              <a:pPr/>
              <a:t>‹#›</a:t>
            </a:fld>
            <a:endParaRPr lang="de-AT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EE51D346-7B9E-20A8-6AD0-DC1A30FD28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0087F8E-2745-4096-8F95-035F0B9ED012}" type="slidenum">
              <a:rPr lang="de-AT" altLang="en-US"/>
              <a:pPr>
                <a:spcBef>
                  <a:spcPct val="0"/>
                </a:spcBef>
              </a:pPr>
              <a:t>1</a:t>
            </a:fld>
            <a:endParaRPr lang="de-AT" altLang="en-US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955C19F8-DC48-D319-1A31-DFA2FE258E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8611C43D-718C-CBDF-B07B-14D3F10CF6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47071133-91BE-9E88-9CA2-D9FEE6ECDB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8838" y="738188"/>
            <a:ext cx="4859337" cy="3644900"/>
          </a:xfrm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AB29EDCF-DFE4-AFF1-40F0-4685169BA7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6300" y="4630738"/>
            <a:ext cx="4822825" cy="43894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>
            <a:extLst>
              <a:ext uri="{FF2B5EF4-FFF2-40B4-BE49-F238E27FC236}">
                <a16:creationId xmlns:a16="http://schemas.microsoft.com/office/drawing/2014/main" id="{3F41657D-08BE-C3D1-1910-01D79409ABE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>
            <a:extLst>
              <a:ext uri="{FF2B5EF4-FFF2-40B4-BE49-F238E27FC236}">
                <a16:creationId xmlns:a16="http://schemas.microsoft.com/office/drawing/2014/main" id="{5735D3C9-1066-FF8F-A730-92DBD1911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Page 92 (Hoffer)</a:t>
            </a:r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FEDE5ED9-F507-C7AB-3DC3-D0BCD175B1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BEBFFB2-9741-40F3-BD55-FDBEC72DE462}" type="slidenum">
              <a:rPr lang="de-AT" altLang="en-US"/>
              <a:pPr>
                <a:spcBef>
                  <a:spcPct val="0"/>
                </a:spcBef>
              </a:pPr>
              <a:t>17</a:t>
            </a:fld>
            <a:endParaRPr lang="de-AT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>
            <a:extLst>
              <a:ext uri="{FF2B5EF4-FFF2-40B4-BE49-F238E27FC236}">
                <a16:creationId xmlns:a16="http://schemas.microsoft.com/office/drawing/2014/main" id="{C1711AFA-7523-AE3B-D8B4-247C4B5B68B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>
            <a:extLst>
              <a:ext uri="{FF2B5EF4-FFF2-40B4-BE49-F238E27FC236}">
                <a16:creationId xmlns:a16="http://schemas.microsoft.com/office/drawing/2014/main" id="{F2ED36F8-1B1F-C585-BDC1-917C6589F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Page 92 (Hoffer)</a:t>
            </a:r>
          </a:p>
        </p:txBody>
      </p:sp>
      <p:sp>
        <p:nvSpPr>
          <p:cNvPr id="28676" name="Slide Number Placeholder 3">
            <a:extLst>
              <a:ext uri="{FF2B5EF4-FFF2-40B4-BE49-F238E27FC236}">
                <a16:creationId xmlns:a16="http://schemas.microsoft.com/office/drawing/2014/main" id="{345D9FA2-2ACE-0AA1-7E28-4168E67A4A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57EA119-FE75-4CBD-8254-D3475DFA6276}" type="slidenum">
              <a:rPr lang="de-AT" altLang="en-US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18</a:t>
            </a:fld>
            <a:endParaRPr lang="de-AT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>
            <a:extLst>
              <a:ext uri="{FF2B5EF4-FFF2-40B4-BE49-F238E27FC236}">
                <a16:creationId xmlns:a16="http://schemas.microsoft.com/office/drawing/2014/main" id="{04558016-7677-61E9-5160-517BCDC3EF5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>
            <a:extLst>
              <a:ext uri="{FF2B5EF4-FFF2-40B4-BE49-F238E27FC236}">
                <a16:creationId xmlns:a16="http://schemas.microsoft.com/office/drawing/2014/main" id="{4937E649-B187-C0F6-72A9-355444A10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b="1" u="sng">
                <a:solidFill>
                  <a:schemeClr val="accent2"/>
                </a:solidFill>
                <a:latin typeface="Arial" panose="020B0604020202020204" pitchFamily="34" charset="0"/>
              </a:rPr>
              <a:t>Attributes of a Relationship</a:t>
            </a:r>
          </a:p>
          <a:p>
            <a:r>
              <a:rPr lang="en-US" altLang="en-US">
                <a:latin typeface="Arial" panose="020B0604020202020204" pitchFamily="34" charset="0"/>
              </a:rPr>
              <a:t>Fig. 2-11 Page 79 (J. Hoffer 10</a:t>
            </a:r>
            <a:r>
              <a:rPr lang="en-US" altLang="en-US" baseline="30000">
                <a:latin typeface="Arial" panose="020B0604020202020204" pitchFamily="34" charset="0"/>
              </a:rPr>
              <a:t>th</a:t>
            </a:r>
            <a:r>
              <a:rPr lang="en-US" altLang="en-US">
                <a:latin typeface="Arial" panose="020B0604020202020204" pitchFamily="34" charset="0"/>
              </a:rPr>
              <a:t> Ed.)</a:t>
            </a:r>
          </a:p>
          <a:p>
            <a:r>
              <a:rPr lang="en-US" altLang="en-US">
                <a:latin typeface="Arial" panose="020B0604020202020204" pitchFamily="34" charset="0"/>
              </a:rPr>
              <a:t>An attribute cannot be associated with a one-to-many relationship</a:t>
            </a:r>
          </a:p>
        </p:txBody>
      </p:sp>
      <p:sp>
        <p:nvSpPr>
          <p:cNvPr id="39940" name="Slide Number Placeholder 3">
            <a:extLst>
              <a:ext uri="{FF2B5EF4-FFF2-40B4-BE49-F238E27FC236}">
                <a16:creationId xmlns:a16="http://schemas.microsoft.com/office/drawing/2014/main" id="{24089CD3-5359-6E5E-9281-08F4D6A709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03482C0-B459-458E-A02C-4989C23FC1D7}" type="slidenum">
              <a:rPr lang="de-AT" altLang="en-US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32</a:t>
            </a:fld>
            <a:endParaRPr lang="de-AT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>
            <a:extLst>
              <a:ext uri="{FF2B5EF4-FFF2-40B4-BE49-F238E27FC236}">
                <a16:creationId xmlns:a16="http://schemas.microsoft.com/office/drawing/2014/main" id="{EA3C9946-05BB-79DD-62CF-38017F5C9B9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>
            <a:extLst>
              <a:ext uri="{FF2B5EF4-FFF2-40B4-BE49-F238E27FC236}">
                <a16:creationId xmlns:a16="http://schemas.microsoft.com/office/drawing/2014/main" id="{72CBF533-FC42-433B-CA09-2DF78E495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7108" name="Slide Number Placeholder 3">
            <a:extLst>
              <a:ext uri="{FF2B5EF4-FFF2-40B4-BE49-F238E27FC236}">
                <a16:creationId xmlns:a16="http://schemas.microsoft.com/office/drawing/2014/main" id="{DCA2FD55-926C-7508-CD99-113CD35C52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BC821AD-909B-4086-90BF-94FAD898906D}" type="slidenum">
              <a:rPr lang="de-AT" altLang="en-US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37</a:t>
            </a:fld>
            <a:endParaRPr lang="de-AT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id="{BD41977D-B118-1407-2BC0-4432E0B251E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>
            <a:extLst>
              <a:ext uri="{FF2B5EF4-FFF2-40B4-BE49-F238E27FC236}">
                <a16:creationId xmlns:a16="http://schemas.microsoft.com/office/drawing/2014/main" id="{4E3AC74D-6BBF-10F6-B967-12DCF738B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b="1" u="sng">
                <a:solidFill>
                  <a:schemeClr val="accent2"/>
                </a:solidFill>
                <a:latin typeface="Arial" panose="020B0604020202020204" pitchFamily="34" charset="0"/>
              </a:rPr>
              <a:t>Attributes of a Relationship</a:t>
            </a:r>
          </a:p>
          <a:p>
            <a:r>
              <a:rPr lang="en-US" altLang="en-US">
                <a:latin typeface="Arial" panose="020B0604020202020204" pitchFamily="34" charset="0"/>
              </a:rPr>
              <a:t>Fig. 2-11 Page 79 (J. Hoffer 10</a:t>
            </a:r>
            <a:r>
              <a:rPr lang="en-US" altLang="en-US" baseline="30000">
                <a:latin typeface="Arial" panose="020B0604020202020204" pitchFamily="34" charset="0"/>
              </a:rPr>
              <a:t>th</a:t>
            </a:r>
            <a:r>
              <a:rPr lang="en-US" altLang="en-US">
                <a:latin typeface="Arial" panose="020B0604020202020204" pitchFamily="34" charset="0"/>
              </a:rPr>
              <a:t> Ed.)</a:t>
            </a:r>
          </a:p>
          <a:p>
            <a:r>
              <a:rPr lang="en-US" altLang="en-US">
                <a:latin typeface="Arial" panose="020B0604020202020204" pitchFamily="34" charset="0"/>
              </a:rPr>
              <a:t>An attribute cannot be associated with a one-to-many relationship</a:t>
            </a:r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A2FA544C-4AA0-BEE0-D3DD-E747F24365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FC67339-2CD2-4537-94B4-23D716301372}" type="slidenum">
              <a:rPr lang="de-AT" altLang="en-US"/>
              <a:pPr>
                <a:spcBef>
                  <a:spcPct val="0"/>
                </a:spcBef>
              </a:pPr>
              <a:t>38</a:t>
            </a:fld>
            <a:endParaRPr lang="de-AT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B80B7-B4E1-AE90-4D38-E1FE6972A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id="{88B5DADB-3B5F-1C73-F139-936D27C990A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>
            <a:extLst>
              <a:ext uri="{FF2B5EF4-FFF2-40B4-BE49-F238E27FC236}">
                <a16:creationId xmlns:a16="http://schemas.microsoft.com/office/drawing/2014/main" id="{7A1F88E1-E0F1-273D-D065-190512139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b="1" u="sng">
                <a:solidFill>
                  <a:schemeClr val="accent2"/>
                </a:solidFill>
                <a:latin typeface="Arial" panose="020B0604020202020204" pitchFamily="34" charset="0"/>
              </a:rPr>
              <a:t>Attributes of a Relationship</a:t>
            </a:r>
          </a:p>
          <a:p>
            <a:r>
              <a:rPr lang="en-US" altLang="en-US">
                <a:latin typeface="Arial" panose="020B0604020202020204" pitchFamily="34" charset="0"/>
              </a:rPr>
              <a:t>Fig. 2-11 Page 79 (J. Hoffer 10</a:t>
            </a:r>
            <a:r>
              <a:rPr lang="en-US" altLang="en-US" baseline="30000">
                <a:latin typeface="Arial" panose="020B0604020202020204" pitchFamily="34" charset="0"/>
              </a:rPr>
              <a:t>th</a:t>
            </a:r>
            <a:r>
              <a:rPr lang="en-US" altLang="en-US">
                <a:latin typeface="Arial" panose="020B0604020202020204" pitchFamily="34" charset="0"/>
              </a:rPr>
              <a:t> Ed.)</a:t>
            </a:r>
          </a:p>
          <a:p>
            <a:r>
              <a:rPr lang="en-US" altLang="en-US">
                <a:latin typeface="Arial" panose="020B0604020202020204" pitchFamily="34" charset="0"/>
              </a:rPr>
              <a:t>An attribute cannot be associated with a one-to-many relationship</a:t>
            </a:r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E7D2E7B3-3D90-2DFD-CC35-1BBAC57B15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FC67339-2CD2-4537-94B4-23D716301372}" type="slidenum">
              <a:rPr lang="de-AT" altLang="en-US"/>
              <a:pPr>
                <a:spcBef>
                  <a:spcPct val="0"/>
                </a:spcBef>
              </a:pPr>
              <a:t>39</a:t>
            </a:fld>
            <a:endParaRPr lang="de-AT" altLang="en-US"/>
          </a:p>
        </p:txBody>
      </p:sp>
    </p:spTree>
    <p:extLst>
      <p:ext uri="{BB962C8B-B14F-4D97-AF65-F5344CB8AC3E}">
        <p14:creationId xmlns:p14="http://schemas.microsoft.com/office/powerpoint/2010/main" val="8833781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14BB1-D7A8-54A0-2D6A-00E24E30C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id="{F89BCEEC-63A4-8261-EA14-3F91C0A3ADA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>
            <a:extLst>
              <a:ext uri="{FF2B5EF4-FFF2-40B4-BE49-F238E27FC236}">
                <a16:creationId xmlns:a16="http://schemas.microsoft.com/office/drawing/2014/main" id="{6891CBF2-1EAB-3288-CB8B-4BF217296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b="1" u="sng">
                <a:solidFill>
                  <a:schemeClr val="accent2"/>
                </a:solidFill>
                <a:latin typeface="Arial" panose="020B0604020202020204" pitchFamily="34" charset="0"/>
              </a:rPr>
              <a:t>Attributes of a Relationship</a:t>
            </a:r>
          </a:p>
          <a:p>
            <a:r>
              <a:rPr lang="en-US" altLang="en-US">
                <a:latin typeface="Arial" panose="020B0604020202020204" pitchFamily="34" charset="0"/>
              </a:rPr>
              <a:t>Fig. 2-11 Page 79 (J. Hoffer 10</a:t>
            </a:r>
            <a:r>
              <a:rPr lang="en-US" altLang="en-US" baseline="30000">
                <a:latin typeface="Arial" panose="020B0604020202020204" pitchFamily="34" charset="0"/>
              </a:rPr>
              <a:t>th</a:t>
            </a:r>
            <a:r>
              <a:rPr lang="en-US" altLang="en-US">
                <a:latin typeface="Arial" panose="020B0604020202020204" pitchFamily="34" charset="0"/>
              </a:rPr>
              <a:t> Ed.)</a:t>
            </a:r>
          </a:p>
          <a:p>
            <a:r>
              <a:rPr lang="en-US" altLang="en-US">
                <a:latin typeface="Arial" panose="020B0604020202020204" pitchFamily="34" charset="0"/>
              </a:rPr>
              <a:t>An attribute cannot be associated with a one-to-many relationship</a:t>
            </a:r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926A0B37-E6BB-D5A1-A615-1675314E15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FC67339-2CD2-4537-94B4-23D716301372}" type="slidenum">
              <a:rPr lang="de-AT" altLang="en-US"/>
              <a:pPr>
                <a:spcBef>
                  <a:spcPct val="0"/>
                </a:spcBef>
              </a:pPr>
              <a:t>40</a:t>
            </a:fld>
            <a:endParaRPr lang="de-AT" altLang="en-US"/>
          </a:p>
        </p:txBody>
      </p:sp>
    </p:spTree>
    <p:extLst>
      <p:ext uri="{BB962C8B-B14F-4D97-AF65-F5344CB8AC3E}">
        <p14:creationId xmlns:p14="http://schemas.microsoft.com/office/powerpoint/2010/main" val="4775106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6F757-24F1-970C-33F7-7ACDF4DCE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id="{2BA3D7A3-4F5C-9A0F-18CE-949C917E16A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>
            <a:extLst>
              <a:ext uri="{FF2B5EF4-FFF2-40B4-BE49-F238E27FC236}">
                <a16:creationId xmlns:a16="http://schemas.microsoft.com/office/drawing/2014/main" id="{0291C4B1-E43F-9F0F-D930-1123771C3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b="1" u="sng">
                <a:solidFill>
                  <a:schemeClr val="accent2"/>
                </a:solidFill>
                <a:latin typeface="Arial" panose="020B0604020202020204" pitchFamily="34" charset="0"/>
              </a:rPr>
              <a:t>Attributes of a Relationship</a:t>
            </a:r>
          </a:p>
          <a:p>
            <a:r>
              <a:rPr lang="en-US" altLang="en-US">
                <a:latin typeface="Arial" panose="020B0604020202020204" pitchFamily="34" charset="0"/>
              </a:rPr>
              <a:t>Fig. 2-11 Page 79 (J. Hoffer 10</a:t>
            </a:r>
            <a:r>
              <a:rPr lang="en-US" altLang="en-US" baseline="30000">
                <a:latin typeface="Arial" panose="020B0604020202020204" pitchFamily="34" charset="0"/>
              </a:rPr>
              <a:t>th</a:t>
            </a:r>
            <a:r>
              <a:rPr lang="en-US" altLang="en-US">
                <a:latin typeface="Arial" panose="020B0604020202020204" pitchFamily="34" charset="0"/>
              </a:rPr>
              <a:t> Ed.)</a:t>
            </a:r>
          </a:p>
          <a:p>
            <a:r>
              <a:rPr lang="en-US" altLang="en-US">
                <a:latin typeface="Arial" panose="020B0604020202020204" pitchFamily="34" charset="0"/>
              </a:rPr>
              <a:t>An attribute cannot be associated with a one-to-many relationship</a:t>
            </a:r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F16E8B9B-E009-401F-6154-4DC0BF7AFC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FC67339-2CD2-4537-94B4-23D716301372}" type="slidenum">
              <a:rPr lang="de-AT" altLang="en-US"/>
              <a:pPr>
                <a:spcBef>
                  <a:spcPct val="0"/>
                </a:spcBef>
              </a:pPr>
              <a:t>41</a:t>
            </a:fld>
            <a:endParaRPr lang="de-AT" altLang="en-US"/>
          </a:p>
        </p:txBody>
      </p:sp>
    </p:spTree>
    <p:extLst>
      <p:ext uri="{BB962C8B-B14F-4D97-AF65-F5344CB8AC3E}">
        <p14:creationId xmlns:p14="http://schemas.microsoft.com/office/powerpoint/2010/main" val="36497905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>
            <a:extLst>
              <a:ext uri="{FF2B5EF4-FFF2-40B4-BE49-F238E27FC236}">
                <a16:creationId xmlns:a16="http://schemas.microsoft.com/office/drawing/2014/main" id="{67AFC9D1-2D8A-2169-37F4-A8B4714290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>
            <a:extLst>
              <a:ext uri="{FF2B5EF4-FFF2-40B4-BE49-F238E27FC236}">
                <a16:creationId xmlns:a16="http://schemas.microsoft.com/office/drawing/2014/main" id="{3307851A-49A4-24B7-A5DA-E5FB3CE32C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977905DD-C280-3C2E-039B-EF1A29F206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A29219-02F2-4560-99DB-D953633689B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6F07E0EE-E6C7-4F6B-7368-69347D2989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9D74DC6-94DF-4466-BF5A-BCCE8DB5202C}" type="slidenum">
              <a:rPr lang="de-AT" altLang="en-US"/>
              <a:pPr>
                <a:spcBef>
                  <a:spcPct val="0"/>
                </a:spcBef>
              </a:pPr>
              <a:t>43</a:t>
            </a:fld>
            <a:endParaRPr lang="de-AT" altLang="en-US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C3904304-F933-E90F-05BC-19E03420BB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34931117-5DF0-9302-E270-5AF3CE5DAC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2168BAE-765B-78FD-0974-6AC3B2E049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0683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140BC69-449E-CA61-5A66-3CF27BD6A3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7687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55C8C80-8638-E90E-10DD-14458CF77E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4685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3388" y="1524000"/>
            <a:ext cx="4062412" cy="46418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62413" cy="46418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DE3F64-CB99-F3EA-1D65-D787C02287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7239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6693E1F-A69C-49E7-7593-8DA15ADFD9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1555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4E99692-6EBB-06A5-4B8B-D8E64B25C1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491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17885E1-8AFD-C544-1FDA-8811406BB9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7975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313893-189B-A230-5191-FC9F9F36B66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9327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CAB15A-0449-E522-96A7-7F705177EB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5467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3B111EA-B7EE-0FEB-280B-9F8A15453F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3716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2100" y="228600"/>
            <a:ext cx="2068513" cy="5937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33388" y="228600"/>
            <a:ext cx="6056312" cy="5937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9B07C17-ADBC-2706-0E19-80B271CA4E7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5925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388" y="228600"/>
            <a:ext cx="8277225" cy="1219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33388" y="1524000"/>
            <a:ext cx="4062412" cy="4641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62413" cy="4641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5BE530-F8BE-6607-09C6-6BEC15563A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93658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3">
            <a:extLst>
              <a:ext uri="{FF2B5EF4-FFF2-40B4-BE49-F238E27FC236}">
                <a16:creationId xmlns:a16="http://schemas.microsoft.com/office/drawing/2014/main" id="{E6422AB0-A999-BA0A-C256-48FAB3DAF3E5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457200"/>
            <a:ext cx="8305800" cy="6096000"/>
            <a:chOff x="288" y="288"/>
            <a:chExt cx="5136" cy="3840"/>
          </a:xfrm>
        </p:grpSpPr>
        <p:sp>
          <p:nvSpPr>
            <p:cNvPr id="3" name="AutoShape 24">
              <a:extLst>
                <a:ext uri="{FF2B5EF4-FFF2-40B4-BE49-F238E27FC236}">
                  <a16:creationId xmlns:a16="http://schemas.microsoft.com/office/drawing/2014/main" id="{AA6906DC-AFA5-74C7-B54F-30F2FBDFBE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288"/>
              <a:ext cx="5136" cy="240"/>
            </a:xfrm>
            <a:prstGeom prst="flowChartProcess">
              <a:avLst/>
            </a:prstGeom>
            <a:solidFill>
              <a:srgbClr val="3399FF"/>
            </a:solidFill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defRPr/>
              </a:pPr>
              <a:endParaRPr lang="en-US" altLang="en-US" sz="2000" b="1">
                <a:solidFill>
                  <a:srgbClr val="3333CC"/>
                </a:solidFill>
                <a:latin typeface="Times New Roman" pitchFamily="18" charset="0"/>
              </a:endParaRPr>
            </a:p>
          </p:txBody>
        </p:sp>
        <p:grpSp>
          <p:nvGrpSpPr>
            <p:cNvPr id="4" name="Group 25">
              <a:extLst>
                <a:ext uri="{FF2B5EF4-FFF2-40B4-BE49-F238E27FC236}">
                  <a16:creationId xmlns:a16="http://schemas.microsoft.com/office/drawing/2014/main" id="{4DEF3E05-9565-A4A8-548F-E8C51B3BCD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528"/>
              <a:ext cx="672" cy="3600"/>
              <a:chOff x="288" y="528"/>
              <a:chExt cx="824" cy="3600"/>
            </a:xfrm>
          </p:grpSpPr>
          <p:sp>
            <p:nvSpPr>
              <p:cNvPr id="5" name="AutoShape 26">
                <a:extLst>
                  <a:ext uri="{FF2B5EF4-FFF2-40B4-BE49-F238E27FC236}">
                    <a16:creationId xmlns:a16="http://schemas.microsoft.com/office/drawing/2014/main" id="{D102C034-66FA-76AC-F0A4-99744DE4BF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528"/>
                <a:ext cx="827" cy="288"/>
              </a:xfrm>
              <a:prstGeom prst="flowChartProcess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defRPr/>
                </a:pPr>
                <a:endParaRPr lang="en-US" altLang="en-US" sz="2000" b="1">
                  <a:solidFill>
                    <a:srgbClr val="3333CC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6" name="AutoShape 27">
                <a:extLst>
                  <a:ext uri="{FF2B5EF4-FFF2-40B4-BE49-F238E27FC236}">
                    <a16:creationId xmlns:a16="http://schemas.microsoft.com/office/drawing/2014/main" id="{604F55E8-FB55-A803-AC44-0375EBFF0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816"/>
                <a:ext cx="827" cy="240"/>
              </a:xfrm>
              <a:prstGeom prst="flowChartProcess">
                <a:avLst/>
              </a:prstGeom>
              <a:solidFill>
                <a:srgbClr val="66FF66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defRPr/>
                </a:pPr>
                <a:endParaRPr lang="en-US" altLang="en-US" sz="2000" b="1">
                  <a:solidFill>
                    <a:srgbClr val="3333CC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7" name="AutoShape 28">
                <a:extLst>
                  <a:ext uri="{FF2B5EF4-FFF2-40B4-BE49-F238E27FC236}">
                    <a16:creationId xmlns:a16="http://schemas.microsoft.com/office/drawing/2014/main" id="{141E6B01-B809-1C84-4BDE-991D9195F8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1056"/>
                <a:ext cx="827" cy="240"/>
              </a:xfrm>
              <a:prstGeom prst="flowChartProcess">
                <a:avLst/>
              </a:prstGeom>
              <a:solidFill>
                <a:srgbClr val="3399FF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defRPr/>
                </a:pPr>
                <a:endParaRPr lang="en-US" altLang="en-US" sz="2000" b="1">
                  <a:solidFill>
                    <a:srgbClr val="3333CC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8" name="AutoShape 29">
                <a:extLst>
                  <a:ext uri="{FF2B5EF4-FFF2-40B4-BE49-F238E27FC236}">
                    <a16:creationId xmlns:a16="http://schemas.microsoft.com/office/drawing/2014/main" id="{D028B8C2-EABE-F0C4-9592-D1C6C3248D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1296"/>
                <a:ext cx="827" cy="240"/>
              </a:xfrm>
              <a:prstGeom prst="flowChartProcess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defRPr/>
                </a:pPr>
                <a:endParaRPr lang="en-US" altLang="en-US" sz="2000" b="1">
                  <a:solidFill>
                    <a:srgbClr val="3333CC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9" name="AutoShape 30">
                <a:extLst>
                  <a:ext uri="{FF2B5EF4-FFF2-40B4-BE49-F238E27FC236}">
                    <a16:creationId xmlns:a16="http://schemas.microsoft.com/office/drawing/2014/main" id="{1CAD607D-5445-6E26-60D3-331CED9557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1536"/>
                <a:ext cx="827" cy="288"/>
              </a:xfrm>
              <a:prstGeom prst="flowChartProcess">
                <a:avLst/>
              </a:prstGeom>
              <a:solidFill>
                <a:srgbClr val="66FF66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defRPr/>
                </a:pPr>
                <a:endParaRPr lang="en-US" altLang="en-US" sz="2000" b="1">
                  <a:solidFill>
                    <a:srgbClr val="3333CC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0" name="AutoShape 31">
                <a:extLst>
                  <a:ext uri="{FF2B5EF4-FFF2-40B4-BE49-F238E27FC236}">
                    <a16:creationId xmlns:a16="http://schemas.microsoft.com/office/drawing/2014/main" id="{C7775B59-D855-CCCD-91C1-C470455881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1824"/>
                <a:ext cx="827" cy="288"/>
              </a:xfrm>
              <a:prstGeom prst="flowChartProcess">
                <a:avLst/>
              </a:prstGeom>
              <a:solidFill>
                <a:srgbClr val="3399FF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defRPr/>
                </a:pPr>
                <a:endParaRPr lang="en-US" altLang="en-US" sz="2000" b="1">
                  <a:solidFill>
                    <a:srgbClr val="3333CC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1" name="AutoShape 32">
                <a:extLst>
                  <a:ext uri="{FF2B5EF4-FFF2-40B4-BE49-F238E27FC236}">
                    <a16:creationId xmlns:a16="http://schemas.microsoft.com/office/drawing/2014/main" id="{63F1A50A-507E-0D4A-63B4-E65F304ADD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2112"/>
                <a:ext cx="827" cy="240"/>
              </a:xfrm>
              <a:prstGeom prst="flowChartProcess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defRPr/>
                </a:pPr>
                <a:endParaRPr lang="en-US" altLang="en-US" sz="2000" b="1">
                  <a:solidFill>
                    <a:srgbClr val="3333CC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2" name="AutoShape 33">
                <a:extLst>
                  <a:ext uri="{FF2B5EF4-FFF2-40B4-BE49-F238E27FC236}">
                    <a16:creationId xmlns:a16="http://schemas.microsoft.com/office/drawing/2014/main" id="{7E0B7F0E-B3DD-1E28-1D6E-55C9DE6B2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2352"/>
                <a:ext cx="827" cy="240"/>
              </a:xfrm>
              <a:prstGeom prst="flowChartProcess">
                <a:avLst/>
              </a:prstGeom>
              <a:solidFill>
                <a:srgbClr val="66FF66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defRPr/>
                </a:pPr>
                <a:endParaRPr lang="en-US" altLang="en-US" sz="2000" b="1">
                  <a:solidFill>
                    <a:srgbClr val="3333CC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3" name="AutoShape 34">
                <a:extLst>
                  <a:ext uri="{FF2B5EF4-FFF2-40B4-BE49-F238E27FC236}">
                    <a16:creationId xmlns:a16="http://schemas.microsoft.com/office/drawing/2014/main" id="{11F119FE-2018-43A4-3D4B-345D41C946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2592"/>
                <a:ext cx="827" cy="288"/>
              </a:xfrm>
              <a:prstGeom prst="flowChartProcess">
                <a:avLst/>
              </a:prstGeom>
              <a:solidFill>
                <a:srgbClr val="3399FF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defRPr/>
                </a:pPr>
                <a:endParaRPr lang="en-US" altLang="en-US" sz="2000" b="1">
                  <a:solidFill>
                    <a:srgbClr val="3333CC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4" name="AutoShape 35">
                <a:extLst>
                  <a:ext uri="{FF2B5EF4-FFF2-40B4-BE49-F238E27FC236}">
                    <a16:creationId xmlns:a16="http://schemas.microsoft.com/office/drawing/2014/main" id="{16755CDF-989A-01C3-4272-0248BF1CB7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2880"/>
                <a:ext cx="827" cy="240"/>
              </a:xfrm>
              <a:prstGeom prst="flowChartProcess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defRPr/>
                </a:pPr>
                <a:endParaRPr lang="en-US" altLang="en-US" sz="2000" b="1">
                  <a:solidFill>
                    <a:srgbClr val="3333CC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5" name="AutoShape 36">
                <a:extLst>
                  <a:ext uri="{FF2B5EF4-FFF2-40B4-BE49-F238E27FC236}">
                    <a16:creationId xmlns:a16="http://schemas.microsoft.com/office/drawing/2014/main" id="{A979052B-7717-ACA3-BB17-DF26B1DB49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3120"/>
                <a:ext cx="827" cy="288"/>
              </a:xfrm>
              <a:prstGeom prst="flowChartProcess">
                <a:avLst/>
              </a:prstGeom>
              <a:solidFill>
                <a:srgbClr val="66FF66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defRPr/>
                </a:pPr>
                <a:endParaRPr lang="en-US" altLang="en-US" sz="2000" b="1">
                  <a:solidFill>
                    <a:srgbClr val="3333CC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6" name="AutoShape 37">
                <a:extLst>
                  <a:ext uri="{FF2B5EF4-FFF2-40B4-BE49-F238E27FC236}">
                    <a16:creationId xmlns:a16="http://schemas.microsoft.com/office/drawing/2014/main" id="{F3C7C65B-AEBF-3F7A-AE1D-68D4074943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3360"/>
                <a:ext cx="827" cy="288"/>
              </a:xfrm>
              <a:prstGeom prst="flowChartProcess">
                <a:avLst/>
              </a:prstGeom>
              <a:solidFill>
                <a:srgbClr val="3399FF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defRPr/>
                </a:pPr>
                <a:endParaRPr lang="en-US" altLang="en-US" sz="2000" b="1">
                  <a:solidFill>
                    <a:srgbClr val="3333CC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7" name="AutoShape 38">
                <a:extLst>
                  <a:ext uri="{FF2B5EF4-FFF2-40B4-BE49-F238E27FC236}">
                    <a16:creationId xmlns:a16="http://schemas.microsoft.com/office/drawing/2014/main" id="{E4F1F314-EBDF-2CF3-68AF-A425B7F9D6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3648"/>
                <a:ext cx="827" cy="240"/>
              </a:xfrm>
              <a:prstGeom prst="flowChartProcess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defRPr/>
                </a:pPr>
                <a:endParaRPr lang="en-US" altLang="en-US" sz="2000" b="1">
                  <a:solidFill>
                    <a:srgbClr val="3333CC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8" name="AutoShape 39">
                <a:extLst>
                  <a:ext uri="{FF2B5EF4-FFF2-40B4-BE49-F238E27FC236}">
                    <a16:creationId xmlns:a16="http://schemas.microsoft.com/office/drawing/2014/main" id="{F4BCA606-9A9A-0353-CF11-FFDDE0B557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3888"/>
                <a:ext cx="827" cy="240"/>
              </a:xfrm>
              <a:prstGeom prst="flowChartProcess">
                <a:avLst/>
              </a:prstGeom>
              <a:solidFill>
                <a:srgbClr val="66FF66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defRPr/>
                </a:pPr>
                <a:endParaRPr lang="en-US" altLang="en-US" sz="2000" b="1">
                  <a:solidFill>
                    <a:srgbClr val="3333CC"/>
                  </a:solidFill>
                  <a:latin typeface="Times New Roman" pitchFamily="18" charset="0"/>
                </a:endParaRPr>
              </a:p>
            </p:txBody>
          </p:sp>
        </p:grpSp>
      </p:grpSp>
      <p:sp>
        <p:nvSpPr>
          <p:cNvPr id="19" name="Text Box 20">
            <a:extLst>
              <a:ext uri="{FF2B5EF4-FFF2-40B4-BE49-F238E27FC236}">
                <a16:creationId xmlns:a16="http://schemas.microsoft.com/office/drawing/2014/main" id="{A8248EF8-3866-8899-397D-EF92270F92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438400"/>
            <a:ext cx="990600" cy="1463675"/>
          </a:xfrm>
          <a:prstGeom prst="rect">
            <a:avLst/>
          </a:prstGeom>
          <a:noFill/>
          <a:ln>
            <a:noFill/>
          </a:ln>
          <a:effectLst>
            <a:outerShdw dist="56796" dir="1593903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defRPr/>
            </a:pPr>
            <a:r>
              <a:rPr lang="en-US" sz="9600" b="1">
                <a:solidFill>
                  <a:srgbClr val="000000"/>
                </a:solidFill>
                <a:latin typeface="Times New Roman" pitchFamily="18" charset="0"/>
              </a:rPr>
              <a:t>4</a:t>
            </a:r>
            <a:endParaRPr lang="en-US" sz="6000">
              <a:solidFill>
                <a:srgbClr val="FF9933"/>
              </a:solidFill>
              <a:latin typeface="Times New Roman" pitchFamily="18" charset="0"/>
            </a:endParaRP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86000" y="1981200"/>
            <a:ext cx="6096000" cy="3048000"/>
          </a:xfrm>
        </p:spPr>
        <p:txBody>
          <a:bodyPr/>
          <a:lstStyle>
            <a:lvl1pPr>
              <a:defRPr sz="39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965066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2406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1843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52600" y="1828800"/>
            <a:ext cx="3429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4000" y="1828800"/>
            <a:ext cx="3429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545965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379804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955555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92310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095858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94306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32330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10400" y="990600"/>
            <a:ext cx="1752600" cy="5562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52600" y="990600"/>
            <a:ext cx="5105400" cy="5562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44733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990600"/>
            <a:ext cx="70104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752600" y="1828800"/>
            <a:ext cx="7010400" cy="4724400"/>
          </a:xfrm>
        </p:spPr>
        <p:txBody>
          <a:bodyPr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0147528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2E9E759-A529-CF09-8497-2185227E37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578954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C25B160-500B-33A2-98F9-D3B37FFBFA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98143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63328D4-8CC7-B75E-689A-F1DFEFB773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906674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3388" y="1524000"/>
            <a:ext cx="4062412" cy="46418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62413" cy="46418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90146E-ECB1-0228-4826-3B0338C4DD4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31380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F396144-4FCB-00F1-8821-17D8391C75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778541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B888D1A-E5A2-A1BD-2A41-573DBE9E01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38712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586751F-D31B-E314-310E-077B8F2F661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366822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B65ACE-F692-24EE-8B8E-A45F855A95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06551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E6CCA1-7DD8-820E-44F1-D4DCDDE74A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570139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9F575EC-1055-88A0-AA97-6F80D232E5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040178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2100" y="228600"/>
            <a:ext cx="2068513" cy="5937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33388" y="228600"/>
            <a:ext cx="6056312" cy="5937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E017C72-2DD7-ED0F-10B6-AD7EBAA6A6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8052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388" y="228600"/>
            <a:ext cx="8277225" cy="1219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33388" y="1524000"/>
            <a:ext cx="4062412" cy="4641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62413" cy="4641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A05D17-0FA8-9F84-D483-4971771060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182482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388" y="228600"/>
            <a:ext cx="8277225" cy="1219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33388" y="1524000"/>
            <a:ext cx="4062412" cy="4641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648200" y="1524000"/>
            <a:ext cx="4062413" cy="464185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7F2270-BBAB-AA6F-47B5-DCFE9465CF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077730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388" y="228600"/>
            <a:ext cx="8277225" cy="1219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33388" y="1524000"/>
            <a:ext cx="8277225" cy="464185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E7F7494-7558-3F39-32EF-309C40B0A8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014546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D0E873-79F6-575E-42F5-B2658CAF1FD9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3" name="Rounded Rectangle 4">
            <a:extLst>
              <a:ext uri="{FF2B5EF4-FFF2-40B4-BE49-F238E27FC236}">
                <a16:creationId xmlns:a16="http://schemas.microsoft.com/office/drawing/2014/main" id="{2CF1039B-0F3B-8569-1523-C6A2072DE41A}"/>
              </a:ext>
            </a:extLst>
          </p:cNvPr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9DE281-3531-767C-C16F-8E372B2DFE2B}"/>
              </a:ext>
            </a:extLst>
          </p:cNvPr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E35213-7F90-0D26-3115-97DB58B4DCC2}"/>
              </a:ext>
            </a:extLst>
          </p:cNvPr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C7937A-2BCB-EBDF-9CA7-4BC017080D55}"/>
              </a:ext>
            </a:extLst>
          </p:cNvPr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7">
            <a:extLst>
              <a:ext uri="{FF2B5EF4-FFF2-40B4-BE49-F238E27FC236}">
                <a16:creationId xmlns:a16="http://schemas.microsoft.com/office/drawing/2014/main" id="{D620D6E4-7CA5-568F-5DD6-31C6AF186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9E5396-8487-4CE9-B01E-25B109B015D3}" type="datetime1">
              <a:rPr lang="en-US"/>
              <a:pPr>
                <a:defRPr/>
              </a:pPr>
              <a:t>10/12/2024</a:t>
            </a:fld>
            <a:endParaRPr lang="en-US"/>
          </a:p>
        </p:txBody>
      </p:sp>
      <p:sp>
        <p:nvSpPr>
          <p:cNvPr id="10" name="Footer Placeholder 16">
            <a:extLst>
              <a:ext uri="{FF2B5EF4-FFF2-40B4-BE49-F238E27FC236}">
                <a16:creationId xmlns:a16="http://schemas.microsoft.com/office/drawing/2014/main" id="{348FDAB0-E1C1-FD82-C8D6-837BE4062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11" name="Slide Number Placeholder 28">
            <a:extLst>
              <a:ext uri="{FF2B5EF4-FFF2-40B4-BE49-F238E27FC236}">
                <a16:creationId xmlns:a16="http://schemas.microsoft.com/office/drawing/2014/main" id="{AC5A85B9-DB11-3BD3-AE28-EDDF4B1D6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0AFC5EDC-F198-4829-9067-CC1A4DEDAAB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0237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19809E9B-996F-D808-1EC0-203D6108D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6EFEAA-3908-4F89-8432-2AB0B6F56C70}" type="datetime1">
              <a:rPr lang="en-US"/>
              <a:pPr>
                <a:defRPr/>
              </a:pPr>
              <a:t>10/12/2024</a:t>
            </a:fld>
            <a:endParaRPr lang="en-US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E99189B-F4C9-2426-B9C9-D89B9DC26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68C3EA48-11DD-A63C-C270-B99383D04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6DA676-8FFF-4E85-A6E6-C8190E7E188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567434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C55FFB4-C7CC-7393-5CBA-E3DAA8CCD7FF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Rounded Rectangle 4">
            <a:extLst>
              <a:ext uri="{FF2B5EF4-FFF2-40B4-BE49-F238E27FC236}">
                <a16:creationId xmlns:a16="http://schemas.microsoft.com/office/drawing/2014/main" id="{4185DD22-BFA2-2711-296C-4F0020C38104}"/>
              </a:ext>
            </a:extLst>
          </p:cNvPr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F5675B-87EE-BA93-2E0E-E94F5145968A}"/>
              </a:ext>
            </a:extLst>
          </p:cNvPr>
          <p:cNvSpPr/>
          <p:nvPr/>
        </p:nvSpPr>
        <p:spPr>
          <a:xfrm flipV="1">
            <a:off x="69850" y="2376488"/>
            <a:ext cx="90138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59AEE2-D1C4-FB59-100C-6EC22896AF70}"/>
              </a:ext>
            </a:extLst>
          </p:cNvPr>
          <p:cNvSpPr/>
          <p:nvPr/>
        </p:nvSpPr>
        <p:spPr>
          <a:xfrm>
            <a:off x="69850" y="2341563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5274BC-F0C4-9887-9E35-5E42294F699B}"/>
              </a:ext>
            </a:extLst>
          </p:cNvPr>
          <p:cNvSpPr/>
          <p:nvPr/>
        </p:nvSpPr>
        <p:spPr>
          <a:xfrm>
            <a:off x="68263" y="2468563"/>
            <a:ext cx="9015412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1DC2F6D3-913E-C1DF-CDE9-B675A2F76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0E2B02-783B-40EA-9EEC-94A96836EDAA}" type="datetime1">
              <a:rPr lang="en-US"/>
              <a:pPr>
                <a:defRPr/>
              </a:pPr>
              <a:t>10/12/2024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95AFCB3-51EB-4BC2-BB7F-DCFB7C2BC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53BD65B-35F7-B8DC-3AB5-320C2D0A8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9337BA-DB41-42CC-AD88-72F8AB242BA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6400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8561D5BA-6488-08EB-E934-02564E709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F1323F-1B03-4B20-95A6-06AEB8555AF5}" type="datetime1">
              <a:rPr lang="en-US"/>
              <a:pPr>
                <a:defRPr/>
              </a:pPr>
              <a:t>10/12/2024</a:t>
            </a:fld>
            <a:endParaRPr lang="en-US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4B36BBB3-0723-506B-B33F-C86A53153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5A78B5E2-334E-A383-21FC-5A61225B6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B92E13-E5FD-4E17-A12D-79022FC0F4F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98317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>
            <a:extLst>
              <a:ext uri="{FF2B5EF4-FFF2-40B4-BE49-F238E27FC236}">
                <a16:creationId xmlns:a16="http://schemas.microsoft.com/office/drawing/2014/main" id="{29D3FBA5-1B50-AD83-8659-F9E8BA578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B00F2C-72E3-470F-8DF4-06D69E13E1BA}" type="datetime1">
              <a:rPr lang="en-US"/>
              <a:pPr>
                <a:defRPr/>
              </a:pPr>
              <a:t>10/12/2024</a:t>
            </a:fld>
            <a:endParaRPr lang="en-US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44010B77-5563-6BAA-37A5-FAFDBDED3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FBF4ACBC-63B2-E5B0-F4EA-12EDC1D07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CF1202-92EE-4F8C-A7FB-901E59E6D35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5214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26A30960-77B5-DC33-6EEF-CADDF35F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BB78F5-5ED2-441D-8560-489C10A5B41C}" type="datetime1">
              <a:rPr lang="en-US"/>
              <a:pPr>
                <a:defRPr/>
              </a:pPr>
              <a:t>10/12/2024</a:t>
            </a:fld>
            <a:endParaRPr lang="en-US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BD2FE81-0D8B-8CD9-6799-CB2996674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0525591A-3E98-FB98-4D91-60D860072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483A14-8CF5-4127-9976-C12309A669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19235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>
            <a:extLst>
              <a:ext uri="{FF2B5EF4-FFF2-40B4-BE49-F238E27FC236}">
                <a16:creationId xmlns:a16="http://schemas.microsoft.com/office/drawing/2014/main" id="{F10E9228-64BD-2E01-796A-684FF6ECE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63A048-58FB-4F03-A550-F4F28DB0CE43}" type="datetime1">
              <a:rPr lang="en-US"/>
              <a:pPr>
                <a:defRPr/>
              </a:pPr>
              <a:t>10/12/2024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FB5155-BE36-CC46-7101-6F58E5FBC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8F113844-006C-8779-FB45-519C6653D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E30FE3-82F5-4B38-8C23-3B1ADF0D3F0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78810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152551F-0659-5E16-D70C-1A7D5A82B133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Rounded Rectangle 5">
            <a:extLst>
              <a:ext uri="{FF2B5EF4-FFF2-40B4-BE49-F238E27FC236}">
                <a16:creationId xmlns:a16="http://schemas.microsoft.com/office/drawing/2014/main" id="{B503854B-8C6B-BE8E-CB55-273D1E19AFA5}"/>
              </a:ext>
            </a:extLst>
          </p:cNvPr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663AFAE9-47FD-23F2-1268-C6CC13BCB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726B31-211F-4EF5-A0E5-C86264E631BF}" type="datetime1">
              <a:rPr lang="en-US"/>
              <a:pPr>
                <a:defRPr/>
              </a:pPr>
              <a:t>10/12/2024</a:t>
            </a:fld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CDBE83E1-E978-2F5D-8200-F431D257F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B73D466B-548D-60C2-2FD5-7E848DDDC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64F016-5C59-4D6D-BAFD-E77BFF2A10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79204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ADA346A-F8E5-946B-F16A-83769EC908C6}"/>
              </a:ext>
            </a:extLst>
          </p:cNvPr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90FC19-D539-79F9-5086-F08395A78F8A}"/>
              </a:ext>
            </a:extLst>
          </p:cNvPr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C14848-84B6-BB21-45AD-078AE1F53B79}"/>
              </a:ext>
            </a:extLst>
          </p:cNvPr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09E39F22-C110-A91A-240F-25C59D7B0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6DC9C0-0299-41CD-9CBD-82375AC037DD}" type="datetime1">
              <a:rPr lang="en-US"/>
              <a:pPr>
                <a:defRPr/>
              </a:pPr>
              <a:t>10/12/2024</a:t>
            </a:fld>
            <a:endParaRPr 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0963E876-9969-029A-D420-255B45BDC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FC6B7D47-4F79-B1EA-5A33-0C8D075E1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D67412-0C28-4A10-B68A-9EEB49F3990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292628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0D1B6BE-9435-45EC-D5F2-4FEC4AB40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B27CA6-3393-42DD-89D7-284C9D8C2CDB}" type="datetime1">
              <a:rPr lang="en-US"/>
              <a:pPr>
                <a:defRPr/>
              </a:pPr>
              <a:t>10/12/2024</a:t>
            </a:fld>
            <a:endParaRPr lang="en-US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D8C1951D-3410-2E87-5648-3E0EB8888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025BAD8A-5DC2-19FF-99B1-21CDF550F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211556-19DB-4CBA-86DA-88549B94631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04305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195AC1F1-0296-C783-4349-5956ECB9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508F07-6C1F-4F9E-AA2D-B51A5FD23ADF}" type="datetime1">
              <a:rPr lang="en-US"/>
              <a:pPr>
                <a:defRPr/>
              </a:pPr>
              <a:t>10/12/2024</a:t>
            </a:fld>
            <a:endParaRPr lang="en-US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766E29E1-025C-5538-697F-B59F0CB16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A89EA551-BF26-15AF-B8E2-FC37E4B4F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888057-F7EE-4B7F-8305-F1138657B32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80308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388" y="228600"/>
            <a:ext cx="8277225" cy="1219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33388" y="1524000"/>
            <a:ext cx="8277225" cy="464185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B01536D-DBED-4DF9-422D-EF8DB39714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061826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EABC10-8096-B392-8E28-794FBD3F4953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3" name="Rounded Rectangle 4">
            <a:extLst>
              <a:ext uri="{FF2B5EF4-FFF2-40B4-BE49-F238E27FC236}">
                <a16:creationId xmlns:a16="http://schemas.microsoft.com/office/drawing/2014/main" id="{6F00C893-4464-9E68-747B-76DCCFA5AA3D}"/>
              </a:ext>
            </a:extLst>
          </p:cNvPr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70AEF5-E122-5199-83B9-109D07D9A13A}"/>
              </a:ext>
            </a:extLst>
          </p:cNvPr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71B3DA-D001-1F07-C0D7-1B85B45A6242}"/>
              </a:ext>
            </a:extLst>
          </p:cNvPr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171ABC-2469-EC87-619C-9E94984D78B2}"/>
              </a:ext>
            </a:extLst>
          </p:cNvPr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7">
            <a:extLst>
              <a:ext uri="{FF2B5EF4-FFF2-40B4-BE49-F238E27FC236}">
                <a16:creationId xmlns:a16="http://schemas.microsoft.com/office/drawing/2014/main" id="{9E1F11EC-6D8C-0B06-A27F-18F0C3166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A03B8B0-006A-4C42-A34E-65E96B126238}" type="datetime1">
              <a:rPr lang="en-US"/>
              <a:pPr>
                <a:defRPr/>
              </a:pPr>
              <a:t>10/12/2024</a:t>
            </a:fld>
            <a:endParaRPr lang="en-US"/>
          </a:p>
        </p:txBody>
      </p:sp>
      <p:sp>
        <p:nvSpPr>
          <p:cNvPr id="10" name="Footer Placeholder 16">
            <a:extLst>
              <a:ext uri="{FF2B5EF4-FFF2-40B4-BE49-F238E27FC236}">
                <a16:creationId xmlns:a16="http://schemas.microsoft.com/office/drawing/2014/main" id="{742975DB-6EE1-D26C-8E3A-3AC74337C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11" name="Slide Number Placeholder 28">
            <a:extLst>
              <a:ext uri="{FF2B5EF4-FFF2-40B4-BE49-F238E27FC236}">
                <a16:creationId xmlns:a16="http://schemas.microsoft.com/office/drawing/2014/main" id="{4243921B-A0AC-2B24-CCDB-553C8D15F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8FFCD2EC-1622-4498-949E-A77678AEEBE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1518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10596EB7-6B03-0CCE-FF75-0A4C6DC15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B0C93A-40BF-42F8-94A1-B10DFBBB76B9}" type="datetime1">
              <a:rPr lang="en-US"/>
              <a:pPr>
                <a:defRPr/>
              </a:pPr>
              <a:t>10/12/2024</a:t>
            </a:fld>
            <a:endParaRPr lang="en-US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D2F3AF59-C77D-9558-FEE8-0EC59C27B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DFAB3E34-36DB-61B3-5347-0BA00A3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01AEF2-00BE-4ACB-908F-6C5B9170E97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85470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FA00BB6-2AEA-0405-ACCA-3EE562FBFED1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Rounded Rectangle 4">
            <a:extLst>
              <a:ext uri="{FF2B5EF4-FFF2-40B4-BE49-F238E27FC236}">
                <a16:creationId xmlns:a16="http://schemas.microsoft.com/office/drawing/2014/main" id="{F9D7071B-7C49-4FE5-B04D-66CCBA6F05A8}"/>
              </a:ext>
            </a:extLst>
          </p:cNvPr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00D9CC-DA7C-A4DA-62E7-9E02715AD491}"/>
              </a:ext>
            </a:extLst>
          </p:cNvPr>
          <p:cNvSpPr/>
          <p:nvPr/>
        </p:nvSpPr>
        <p:spPr>
          <a:xfrm flipV="1">
            <a:off x="69850" y="2376488"/>
            <a:ext cx="90138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884B7D-DA62-54AE-B5D6-18893A517726}"/>
              </a:ext>
            </a:extLst>
          </p:cNvPr>
          <p:cNvSpPr/>
          <p:nvPr/>
        </p:nvSpPr>
        <p:spPr>
          <a:xfrm>
            <a:off x="69850" y="2341563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B12E63-CFA3-55AD-5E94-14EB9A7BAD99}"/>
              </a:ext>
            </a:extLst>
          </p:cNvPr>
          <p:cNvSpPr/>
          <p:nvPr/>
        </p:nvSpPr>
        <p:spPr>
          <a:xfrm>
            <a:off x="68263" y="2468563"/>
            <a:ext cx="9015412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E8F3446-3673-616E-D1EF-415820D3E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B1A69C5-D665-4D69-ADF6-FDA97479E0D6}" type="datetime1">
              <a:rPr lang="en-US"/>
              <a:pPr>
                <a:defRPr/>
              </a:pPr>
              <a:t>10/12/2024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3ECEB32-4E6B-BC04-F753-45859E47A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9843BEA-E03A-56C6-1F05-6C6A56231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DC548B-73AB-4151-969D-C9A01E77FCE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9767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0D0EDF11-59C3-B0CE-F83D-BAF757A7E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72A11C7-3A94-46B1-9763-775E07EC9BDA}" type="datetime1">
              <a:rPr lang="en-US"/>
              <a:pPr>
                <a:defRPr/>
              </a:pPr>
              <a:t>10/12/2024</a:t>
            </a:fld>
            <a:endParaRPr lang="en-US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D5327C74-2B31-E410-B82C-D65BD41CC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E579B718-9FF1-1CE4-D879-6E1109817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098DB8-2C30-49AF-8D9F-66ED2D47025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10031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>
            <a:extLst>
              <a:ext uri="{FF2B5EF4-FFF2-40B4-BE49-F238E27FC236}">
                <a16:creationId xmlns:a16="http://schemas.microsoft.com/office/drawing/2014/main" id="{E9E13318-3C2C-17D9-2780-B2AB9BD6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D62E0D9-9325-4850-8126-2BB3F4FE17E3}" type="datetime1">
              <a:rPr lang="en-US"/>
              <a:pPr>
                <a:defRPr/>
              </a:pPr>
              <a:t>10/12/2024</a:t>
            </a:fld>
            <a:endParaRPr lang="en-US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CE7F8279-C1C6-4491-378F-C5676129F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8A1FC29F-EA9A-36BA-9D21-F550ABF2F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37D064-2A2D-459C-AA33-45E937364A9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90449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7C43417C-FB32-AD5C-A1AB-5FE18F53A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D5445D6-AB86-43FA-9685-C935CF53BDF0}" type="datetime1">
              <a:rPr lang="en-US"/>
              <a:pPr>
                <a:defRPr/>
              </a:pPr>
              <a:t>10/12/2024</a:t>
            </a:fld>
            <a:endParaRPr lang="en-US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8F20B94F-9A14-ECBE-A615-3EDE9EE39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B3EAFF6B-1D1A-D032-BE24-4EC0FB347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4EF28A-C8E9-4921-B3EC-87F91712D3C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51241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>
            <a:extLst>
              <a:ext uri="{FF2B5EF4-FFF2-40B4-BE49-F238E27FC236}">
                <a16:creationId xmlns:a16="http://schemas.microsoft.com/office/drawing/2014/main" id="{178C3D91-967A-7765-909A-45CBD5D40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88BD775-47FB-49A6-91E2-2F5858D71BCC}" type="datetime1">
              <a:rPr lang="en-US"/>
              <a:pPr>
                <a:defRPr/>
              </a:pPr>
              <a:t>10/12/2024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7CF2EE-0487-9042-237B-03B4B9F59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24BC4622-16B8-2D99-164C-5F0166AA0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68C5B0-7618-4CAE-9C97-FA18CC613EA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59482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3F1033D-F99D-D415-2D36-746C96DF209D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Rounded Rectangle 5">
            <a:extLst>
              <a:ext uri="{FF2B5EF4-FFF2-40B4-BE49-F238E27FC236}">
                <a16:creationId xmlns:a16="http://schemas.microsoft.com/office/drawing/2014/main" id="{19E83448-C57E-0EA4-0201-456791FF4335}"/>
              </a:ext>
            </a:extLst>
          </p:cNvPr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CEBC332B-D7E4-8A68-D5EA-207A2135B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EB51583-DB4D-4CAA-9AD0-2975CA45AD5E}" type="datetime1">
              <a:rPr lang="en-US"/>
              <a:pPr>
                <a:defRPr/>
              </a:pPr>
              <a:t>10/12/2024</a:t>
            </a:fld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59B2854A-A212-373B-5E20-D8CF55413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6F7871EA-3169-4AD8-4D64-84230DD5F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68A646-FC6D-4BF3-9A3C-335ADF6996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75701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450C82-46A9-40E5-D89E-72ACBC78C8BE}"/>
              </a:ext>
            </a:extLst>
          </p:cNvPr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4EFAC6-B3C7-CC68-1EE0-FA41BBEE1713}"/>
              </a:ext>
            </a:extLst>
          </p:cNvPr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ABAEAA-C345-59E6-CF29-43AC0AF55765}"/>
              </a:ext>
            </a:extLst>
          </p:cNvPr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B1DF1408-AFED-338E-5397-EF1E19CB5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4EAAE82-5681-426B-953E-519B972B319B}" type="datetime1">
              <a:rPr lang="en-US"/>
              <a:pPr>
                <a:defRPr/>
              </a:pPr>
              <a:t>10/12/2024</a:t>
            </a:fld>
            <a:endParaRPr 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D7AE38F8-EC5E-CFCB-714F-20D7AC98C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428D2ED2-DB0B-B70A-CB28-EB7AB4E59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680832-9B40-4A2C-AF9D-BBEBF87E1B4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29953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C5592A2A-3701-55CE-2BF7-A80973503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048C7B2-4C1D-4439-9CF4-D240B24FF89D}" type="datetime1">
              <a:rPr lang="en-US"/>
              <a:pPr>
                <a:defRPr/>
              </a:pPr>
              <a:t>10/12/2024</a:t>
            </a:fld>
            <a:endParaRPr lang="en-US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A7DEBC0-4BDB-B81C-3DC8-C7BFBAE29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BBBB7BC0-8B72-71BF-D846-5501ED346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D2E0D0-5A0B-415F-B869-CE5BF8D86E0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21575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3F0B6342-F3B5-A0CA-40EB-4A10E2509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3A6CACF-EE64-4929-9768-38F8DCC2EBC4}" type="datetime1">
              <a:rPr lang="en-US"/>
              <a:pPr>
                <a:defRPr/>
              </a:pPr>
              <a:t>10/12/2024</a:t>
            </a:fld>
            <a:endParaRPr lang="en-US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485CD542-BA8D-1D09-D01D-D5FB0201C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D53DEDED-BD36-A3C4-AB12-6B0768E6F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CDCB8F-B69A-4A4A-B5C5-D6961081BC0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15413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388" y="228600"/>
            <a:ext cx="8277225" cy="1219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33388" y="1524000"/>
            <a:ext cx="8277225" cy="464185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CC37F4C-0292-5E75-42AD-44F77B67CBD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8948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DE4BA2C-2D95-9B15-F85B-B9972B37EF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33388" y="228600"/>
            <a:ext cx="8277225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en-US"/>
              <a:t>Titel bearbeiten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49F6E80-8263-5182-E8C8-8750D9AC52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33388" y="1524000"/>
            <a:ext cx="8277225" cy="464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en-US"/>
              <a:t>Erste Ebene</a:t>
            </a:r>
          </a:p>
          <a:p>
            <a:pPr lvl="1"/>
            <a:r>
              <a:rPr lang="de-DE" altLang="en-US"/>
              <a:t>Zweite Ebene</a:t>
            </a:r>
          </a:p>
          <a:p>
            <a:pPr lvl="2"/>
            <a:r>
              <a:rPr lang="de-DE" altLang="en-US"/>
              <a:t>Dritte Ebene</a:t>
            </a:r>
          </a:p>
          <a:p>
            <a:pPr lvl="3"/>
            <a:r>
              <a:rPr lang="de-DE" altLang="en-US"/>
              <a:t>Vierte Ebene</a:t>
            </a:r>
          </a:p>
          <a:p>
            <a:pPr lvl="4"/>
            <a:r>
              <a:rPr lang="de-DE" altLang="en-US"/>
              <a:t>Fünfte Ebene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A4A7D51B-808B-CAC4-3562-58DDEA67113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9" name="Rectangle 14">
            <a:extLst>
              <a:ext uri="{FF2B5EF4-FFF2-40B4-BE49-F238E27FC236}">
                <a16:creationId xmlns:a16="http://schemas.microsoft.com/office/drawing/2014/main" id="{2C36D463-01A6-5EB1-42BD-AF67CD04AB2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5288" y="1125538"/>
            <a:ext cx="8748712" cy="73025"/>
          </a:xfrm>
          <a:prstGeom prst="rect">
            <a:avLst/>
          </a:prstGeom>
          <a:gradFill rotWithShape="1">
            <a:gsLst>
              <a:gs pos="0">
                <a:srgbClr val="800000"/>
              </a:gs>
              <a:gs pos="100000">
                <a:srgbClr val="FF8585">
                  <a:alpha val="0"/>
                </a:srgbClr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1030" name="Rectangle 10">
            <a:extLst>
              <a:ext uri="{FF2B5EF4-FFF2-40B4-BE49-F238E27FC236}">
                <a16:creationId xmlns:a16="http://schemas.microsoft.com/office/drawing/2014/main" id="{8208FF47-7909-4DFE-C225-BA72A6A6674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569075"/>
            <a:ext cx="9167813" cy="315913"/>
          </a:xfrm>
          <a:prstGeom prst="rect">
            <a:avLst/>
          </a:prstGeom>
          <a:gradFill rotWithShape="1">
            <a:gsLst>
              <a:gs pos="0">
                <a:srgbClr val="800000"/>
              </a:gs>
              <a:gs pos="100000">
                <a:srgbClr val="FF8585">
                  <a:alpha val="0"/>
                </a:srgbClr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1031" name="Text Box 11">
            <a:extLst>
              <a:ext uri="{FF2B5EF4-FFF2-40B4-BE49-F238E27FC236}">
                <a16:creationId xmlns:a16="http://schemas.microsoft.com/office/drawing/2014/main" id="{52C051D6-7A73-3527-1F3D-21865150F25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36513" y="6583363"/>
            <a:ext cx="5905501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de-DE" sz="1000">
                <a:solidFill>
                  <a:srgbClr val="FFFF00"/>
                </a:solidFill>
                <a:cs typeface="Arial" charset="0"/>
              </a:rPr>
              <a:t>Database Systems</a:t>
            </a:r>
            <a:endParaRPr lang="de-DE" sz="1000">
              <a:solidFill>
                <a:srgbClr val="FFFF00"/>
              </a:solidFill>
            </a:endParaRPr>
          </a:p>
        </p:txBody>
      </p:sp>
      <p:sp>
        <p:nvSpPr>
          <p:cNvPr id="1032" name="Rectangle 12">
            <a:extLst>
              <a:ext uri="{FF2B5EF4-FFF2-40B4-BE49-F238E27FC236}">
                <a16:creationId xmlns:a16="http://schemas.microsoft.com/office/drawing/2014/main" id="{C5BD9004-E846-EC36-0515-C5CD05C736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596188" y="6640513"/>
            <a:ext cx="19050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de-DE" altLang="en-US" sz="1000"/>
              <a:t>Slide </a:t>
            </a:r>
            <a:fld id="{C354CFD4-DC44-40CB-966E-7582EB6F0519}" type="slidenum">
              <a:rPr lang="de-DE" altLang="en-US" sz="1000"/>
              <a:pPr algn="ctr" eaLnBrk="1" hangingPunct="1"/>
              <a:t>‹#›</a:t>
            </a:fld>
            <a:endParaRPr lang="de-DE" altLang="en-US"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13" r:id="rId1"/>
    <p:sldLayoutId id="2147484114" r:id="rId2"/>
    <p:sldLayoutId id="2147484115" r:id="rId3"/>
    <p:sldLayoutId id="2147484116" r:id="rId4"/>
    <p:sldLayoutId id="2147484117" r:id="rId5"/>
    <p:sldLayoutId id="2147484118" r:id="rId6"/>
    <p:sldLayoutId id="2147484119" r:id="rId7"/>
    <p:sldLayoutId id="2147484120" r:id="rId8"/>
    <p:sldLayoutId id="2147484121" r:id="rId9"/>
    <p:sldLayoutId id="2147484122" r:id="rId10"/>
    <p:sldLayoutId id="2147484123" r:id="rId11"/>
    <p:sldLayoutId id="2147484124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54AFDBB-C52C-C6EA-69CD-AB4EEA75A1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752600" y="990600"/>
            <a:ext cx="7010400" cy="7620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rgbClr val="C0C0C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AA667133-3D50-AAF4-3AA4-BD92806199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752600" y="1828800"/>
            <a:ext cx="70104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grpSp>
        <p:nvGrpSpPr>
          <p:cNvPr id="2052" name="Group 42">
            <a:extLst>
              <a:ext uri="{FF2B5EF4-FFF2-40B4-BE49-F238E27FC236}">
                <a16:creationId xmlns:a16="http://schemas.microsoft.com/office/drawing/2014/main" id="{35864506-EEFA-9216-6F62-E73C40CB810B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457200"/>
            <a:ext cx="8305800" cy="6096000"/>
            <a:chOff x="288" y="288"/>
            <a:chExt cx="5136" cy="3840"/>
          </a:xfrm>
        </p:grpSpPr>
        <p:sp>
          <p:nvSpPr>
            <p:cNvPr id="2054" name="AutoShape 43">
              <a:extLst>
                <a:ext uri="{FF2B5EF4-FFF2-40B4-BE49-F238E27FC236}">
                  <a16:creationId xmlns:a16="http://schemas.microsoft.com/office/drawing/2014/main" id="{5F8338C9-599D-D7C0-6F28-68FBEFDA15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288"/>
              <a:ext cx="5136" cy="240"/>
            </a:xfrm>
            <a:prstGeom prst="flowChartProcess">
              <a:avLst/>
            </a:prstGeom>
            <a:solidFill>
              <a:srgbClr val="3399FF"/>
            </a:solidFill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defRPr/>
              </a:pPr>
              <a:endParaRPr lang="en-US" altLang="en-US" sz="2000" b="1">
                <a:solidFill>
                  <a:srgbClr val="3333CC"/>
                </a:solidFill>
                <a:latin typeface="Times New Roman" pitchFamily="18" charset="0"/>
              </a:endParaRPr>
            </a:p>
          </p:txBody>
        </p:sp>
        <p:grpSp>
          <p:nvGrpSpPr>
            <p:cNvPr id="2055" name="Group 44">
              <a:extLst>
                <a:ext uri="{FF2B5EF4-FFF2-40B4-BE49-F238E27FC236}">
                  <a16:creationId xmlns:a16="http://schemas.microsoft.com/office/drawing/2014/main" id="{F3831131-63A1-4F1A-8126-BBBFE28905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528"/>
              <a:ext cx="672" cy="3600"/>
              <a:chOff x="288" y="528"/>
              <a:chExt cx="824" cy="3600"/>
            </a:xfrm>
          </p:grpSpPr>
          <p:sp>
            <p:nvSpPr>
              <p:cNvPr id="2056" name="AutoShape 45">
                <a:extLst>
                  <a:ext uri="{FF2B5EF4-FFF2-40B4-BE49-F238E27FC236}">
                    <a16:creationId xmlns:a16="http://schemas.microsoft.com/office/drawing/2014/main" id="{8FDC14CD-D36F-AE99-146E-7DB0640576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528"/>
                <a:ext cx="827" cy="288"/>
              </a:xfrm>
              <a:prstGeom prst="flowChartProcess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defRPr/>
                </a:pPr>
                <a:endParaRPr lang="en-US" altLang="en-US" sz="2000" b="1">
                  <a:solidFill>
                    <a:srgbClr val="3333CC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2057" name="AutoShape 46">
                <a:extLst>
                  <a:ext uri="{FF2B5EF4-FFF2-40B4-BE49-F238E27FC236}">
                    <a16:creationId xmlns:a16="http://schemas.microsoft.com/office/drawing/2014/main" id="{CCDAFE1A-A615-7950-3108-A03E68FAAD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816"/>
                <a:ext cx="827" cy="240"/>
              </a:xfrm>
              <a:prstGeom prst="flowChartProcess">
                <a:avLst/>
              </a:prstGeom>
              <a:solidFill>
                <a:srgbClr val="66FF66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defRPr/>
                </a:pPr>
                <a:endParaRPr lang="en-US" altLang="en-US" sz="2000" b="1">
                  <a:solidFill>
                    <a:srgbClr val="3333CC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2058" name="AutoShape 47">
                <a:extLst>
                  <a:ext uri="{FF2B5EF4-FFF2-40B4-BE49-F238E27FC236}">
                    <a16:creationId xmlns:a16="http://schemas.microsoft.com/office/drawing/2014/main" id="{351B15B2-7529-E441-21CE-6B6A94B4C6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1056"/>
                <a:ext cx="827" cy="240"/>
              </a:xfrm>
              <a:prstGeom prst="flowChartProcess">
                <a:avLst/>
              </a:prstGeom>
              <a:solidFill>
                <a:srgbClr val="3399FF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defRPr/>
                </a:pPr>
                <a:endParaRPr lang="en-US" altLang="en-US" sz="2000" b="1">
                  <a:solidFill>
                    <a:srgbClr val="3333CC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2059" name="AutoShape 48">
                <a:extLst>
                  <a:ext uri="{FF2B5EF4-FFF2-40B4-BE49-F238E27FC236}">
                    <a16:creationId xmlns:a16="http://schemas.microsoft.com/office/drawing/2014/main" id="{82669485-1D4F-8EFD-9E87-875F017133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1296"/>
                <a:ext cx="827" cy="240"/>
              </a:xfrm>
              <a:prstGeom prst="flowChartProcess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defRPr/>
                </a:pPr>
                <a:endParaRPr lang="en-US" altLang="en-US" sz="2000" b="1">
                  <a:solidFill>
                    <a:srgbClr val="3333CC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2060" name="AutoShape 49">
                <a:extLst>
                  <a:ext uri="{FF2B5EF4-FFF2-40B4-BE49-F238E27FC236}">
                    <a16:creationId xmlns:a16="http://schemas.microsoft.com/office/drawing/2014/main" id="{35E2DE18-E5FD-5E49-1552-C925686AB8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1536"/>
                <a:ext cx="827" cy="288"/>
              </a:xfrm>
              <a:prstGeom prst="flowChartProcess">
                <a:avLst/>
              </a:prstGeom>
              <a:solidFill>
                <a:srgbClr val="66FF66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defRPr/>
                </a:pPr>
                <a:endParaRPr lang="en-US" altLang="en-US" sz="2000" b="1">
                  <a:solidFill>
                    <a:srgbClr val="3333CC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2061" name="AutoShape 50">
                <a:extLst>
                  <a:ext uri="{FF2B5EF4-FFF2-40B4-BE49-F238E27FC236}">
                    <a16:creationId xmlns:a16="http://schemas.microsoft.com/office/drawing/2014/main" id="{98F75560-D3B0-9334-AC8B-C5F1B17048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1824"/>
                <a:ext cx="827" cy="288"/>
              </a:xfrm>
              <a:prstGeom prst="flowChartProcess">
                <a:avLst/>
              </a:prstGeom>
              <a:solidFill>
                <a:srgbClr val="3399FF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defRPr/>
                </a:pPr>
                <a:endParaRPr lang="en-US" altLang="en-US" sz="2000" b="1">
                  <a:solidFill>
                    <a:srgbClr val="3333CC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2062" name="AutoShape 51">
                <a:extLst>
                  <a:ext uri="{FF2B5EF4-FFF2-40B4-BE49-F238E27FC236}">
                    <a16:creationId xmlns:a16="http://schemas.microsoft.com/office/drawing/2014/main" id="{0484F20E-121A-8144-249B-ADBA23EDF3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2112"/>
                <a:ext cx="827" cy="240"/>
              </a:xfrm>
              <a:prstGeom prst="flowChartProcess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defRPr/>
                </a:pPr>
                <a:endParaRPr lang="en-US" altLang="en-US" sz="2000" b="1">
                  <a:solidFill>
                    <a:srgbClr val="3333CC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2063" name="AutoShape 52">
                <a:extLst>
                  <a:ext uri="{FF2B5EF4-FFF2-40B4-BE49-F238E27FC236}">
                    <a16:creationId xmlns:a16="http://schemas.microsoft.com/office/drawing/2014/main" id="{00F2D06F-3895-BF77-510F-1B57A309C1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2352"/>
                <a:ext cx="827" cy="240"/>
              </a:xfrm>
              <a:prstGeom prst="flowChartProcess">
                <a:avLst/>
              </a:prstGeom>
              <a:solidFill>
                <a:srgbClr val="66FF66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defRPr/>
                </a:pPr>
                <a:endParaRPr lang="en-US" altLang="en-US" sz="2000" b="1">
                  <a:solidFill>
                    <a:srgbClr val="3333CC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2064" name="AutoShape 53">
                <a:extLst>
                  <a:ext uri="{FF2B5EF4-FFF2-40B4-BE49-F238E27FC236}">
                    <a16:creationId xmlns:a16="http://schemas.microsoft.com/office/drawing/2014/main" id="{A24A24BF-3C45-766C-7AD0-0C70CF2A3A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2592"/>
                <a:ext cx="827" cy="288"/>
              </a:xfrm>
              <a:prstGeom prst="flowChartProcess">
                <a:avLst/>
              </a:prstGeom>
              <a:solidFill>
                <a:srgbClr val="3399FF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defRPr/>
                </a:pPr>
                <a:endParaRPr lang="en-US" altLang="en-US" sz="2000" b="1">
                  <a:solidFill>
                    <a:srgbClr val="3333CC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2065" name="AutoShape 54">
                <a:extLst>
                  <a:ext uri="{FF2B5EF4-FFF2-40B4-BE49-F238E27FC236}">
                    <a16:creationId xmlns:a16="http://schemas.microsoft.com/office/drawing/2014/main" id="{A98D9BD8-C3CC-3125-D17E-79992EA5E5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2880"/>
                <a:ext cx="827" cy="240"/>
              </a:xfrm>
              <a:prstGeom prst="flowChartProcess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defRPr/>
                </a:pPr>
                <a:endParaRPr lang="en-US" altLang="en-US" sz="2000" b="1">
                  <a:solidFill>
                    <a:srgbClr val="3333CC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2066" name="AutoShape 55">
                <a:extLst>
                  <a:ext uri="{FF2B5EF4-FFF2-40B4-BE49-F238E27FC236}">
                    <a16:creationId xmlns:a16="http://schemas.microsoft.com/office/drawing/2014/main" id="{6055B56B-65BA-01E7-5CBA-8BA7957FE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3120"/>
                <a:ext cx="827" cy="288"/>
              </a:xfrm>
              <a:prstGeom prst="flowChartProcess">
                <a:avLst/>
              </a:prstGeom>
              <a:solidFill>
                <a:srgbClr val="66FF66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defRPr/>
                </a:pPr>
                <a:endParaRPr lang="en-US" altLang="en-US" sz="2000" b="1">
                  <a:solidFill>
                    <a:srgbClr val="3333CC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2067" name="AutoShape 56">
                <a:extLst>
                  <a:ext uri="{FF2B5EF4-FFF2-40B4-BE49-F238E27FC236}">
                    <a16:creationId xmlns:a16="http://schemas.microsoft.com/office/drawing/2014/main" id="{7E23FDDE-393F-060E-B821-0702C60A91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3360"/>
                <a:ext cx="827" cy="288"/>
              </a:xfrm>
              <a:prstGeom prst="flowChartProcess">
                <a:avLst/>
              </a:prstGeom>
              <a:solidFill>
                <a:srgbClr val="3399FF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defRPr/>
                </a:pPr>
                <a:endParaRPr lang="en-US" altLang="en-US" sz="2000" b="1">
                  <a:solidFill>
                    <a:srgbClr val="3333CC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2068" name="AutoShape 57">
                <a:extLst>
                  <a:ext uri="{FF2B5EF4-FFF2-40B4-BE49-F238E27FC236}">
                    <a16:creationId xmlns:a16="http://schemas.microsoft.com/office/drawing/2014/main" id="{A94A01DE-D7A8-BD5B-2047-744DF4384A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3648"/>
                <a:ext cx="827" cy="240"/>
              </a:xfrm>
              <a:prstGeom prst="flowChartProcess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defRPr/>
                </a:pPr>
                <a:endParaRPr lang="en-US" altLang="en-US" sz="2000" b="1">
                  <a:solidFill>
                    <a:srgbClr val="3333CC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2069" name="AutoShape 58">
                <a:extLst>
                  <a:ext uri="{FF2B5EF4-FFF2-40B4-BE49-F238E27FC236}">
                    <a16:creationId xmlns:a16="http://schemas.microsoft.com/office/drawing/2014/main" id="{799C265D-03AC-6770-41F3-427CD827A1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3888"/>
                <a:ext cx="827" cy="240"/>
              </a:xfrm>
              <a:prstGeom prst="flowChartProcess">
                <a:avLst/>
              </a:prstGeom>
              <a:solidFill>
                <a:srgbClr val="66FF66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defRPr/>
                </a:pPr>
                <a:endParaRPr lang="en-US" altLang="en-US" sz="2000" b="1">
                  <a:solidFill>
                    <a:srgbClr val="3333CC"/>
                  </a:solidFill>
                  <a:latin typeface="Times New Roman" pitchFamily="18" charset="0"/>
                </a:endParaRPr>
              </a:p>
            </p:txBody>
          </p:sp>
        </p:grpSp>
      </p:grpSp>
      <p:sp>
        <p:nvSpPr>
          <p:cNvPr id="2053" name="Text Box 59">
            <a:extLst>
              <a:ext uri="{FF2B5EF4-FFF2-40B4-BE49-F238E27FC236}">
                <a16:creationId xmlns:a16="http://schemas.microsoft.com/office/drawing/2014/main" id="{20244DA1-FDBA-9F36-CB59-AE2ABCBE5C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438400"/>
            <a:ext cx="990600" cy="1463675"/>
          </a:xfrm>
          <a:prstGeom prst="rect">
            <a:avLst/>
          </a:prstGeom>
          <a:noFill/>
          <a:ln>
            <a:noFill/>
          </a:ln>
          <a:effectLst>
            <a:outerShdw dist="56796" dir="1593903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defRPr/>
            </a:pPr>
            <a:r>
              <a:rPr lang="en-US" sz="9600" b="1">
                <a:solidFill>
                  <a:srgbClr val="000000"/>
                </a:solidFill>
                <a:latin typeface="Times New Roman" pitchFamily="18" charset="0"/>
              </a:rPr>
              <a:t>4</a:t>
            </a:r>
            <a:endParaRPr lang="en-US" sz="6000">
              <a:solidFill>
                <a:srgbClr val="FF9933"/>
              </a:solidFill>
              <a:latin typeface="Times New Roman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62" r:id="rId1"/>
    <p:sldLayoutId id="2147484125" r:id="rId2"/>
    <p:sldLayoutId id="2147484126" r:id="rId3"/>
    <p:sldLayoutId id="2147484127" r:id="rId4"/>
    <p:sldLayoutId id="2147484128" r:id="rId5"/>
    <p:sldLayoutId id="2147484129" r:id="rId6"/>
    <p:sldLayoutId id="2147484130" r:id="rId7"/>
    <p:sldLayoutId id="2147484131" r:id="rId8"/>
    <p:sldLayoutId id="2147484132" r:id="rId9"/>
    <p:sldLayoutId id="2147484133" r:id="rId10"/>
    <p:sldLayoutId id="2147484134" r:id="rId11"/>
    <p:sldLayoutId id="2147484135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00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0000CC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0000CC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0000CC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0000CC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0000CC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0000CC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0000CC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0000CC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Monotype Sorts" pitchFamily="2" charset="2"/>
        <a:buChar char="4"/>
        <a:defRPr sz="2000" b="1">
          <a:solidFill>
            <a:srgbClr val="3333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SzPct val="80000"/>
        <a:buFont typeface="Monotype Sorts" pitchFamily="2" charset="2"/>
        <a:buChar char="u"/>
        <a:defRPr>
          <a:solidFill>
            <a:srgbClr val="3333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SzPct val="75000"/>
        <a:buFont typeface="Monotype Sorts" pitchFamily="2" charset="2"/>
        <a:buChar char="l"/>
        <a:defRPr sz="1600">
          <a:solidFill>
            <a:srgbClr val="3333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rgbClr val="3333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rgbClr val="3333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rgbClr val="3333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rgbClr val="3333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rgbClr val="3333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rgbClr val="3333CC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DC47D01-6853-5D04-BB52-35C61E5CE0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33388" y="228600"/>
            <a:ext cx="8277225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en-US"/>
              <a:t>Titel bearbeiten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E6183ADE-5CDB-1FDA-3AE1-A4BB0DC4EE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33388" y="1524000"/>
            <a:ext cx="8277225" cy="464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en-US"/>
              <a:t>Erste Ebene</a:t>
            </a:r>
          </a:p>
          <a:p>
            <a:pPr lvl="1"/>
            <a:r>
              <a:rPr lang="de-DE" altLang="en-US"/>
              <a:t>Zweite Ebene</a:t>
            </a:r>
          </a:p>
          <a:p>
            <a:pPr lvl="2"/>
            <a:r>
              <a:rPr lang="de-DE" altLang="en-US"/>
              <a:t>Dritte Ebene</a:t>
            </a:r>
          </a:p>
          <a:p>
            <a:pPr lvl="3"/>
            <a:r>
              <a:rPr lang="de-DE" altLang="en-US"/>
              <a:t>Vierte Ebene</a:t>
            </a:r>
          </a:p>
          <a:p>
            <a:pPr lvl="4"/>
            <a:r>
              <a:rPr lang="de-DE" altLang="en-US"/>
              <a:t>Fünfte Ebene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A9496DF2-1C7C-21C1-6893-0983D0807DF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077" name="Rectangle 14">
            <a:extLst>
              <a:ext uri="{FF2B5EF4-FFF2-40B4-BE49-F238E27FC236}">
                <a16:creationId xmlns:a16="http://schemas.microsoft.com/office/drawing/2014/main" id="{74773932-535C-FD7A-AE2F-9B7E75940B3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5288" y="1125538"/>
            <a:ext cx="8748712" cy="73025"/>
          </a:xfrm>
          <a:prstGeom prst="rect">
            <a:avLst/>
          </a:prstGeom>
          <a:gradFill rotWithShape="1">
            <a:gsLst>
              <a:gs pos="0">
                <a:srgbClr val="800000"/>
              </a:gs>
              <a:gs pos="100000">
                <a:srgbClr val="FF8585">
                  <a:alpha val="0"/>
                </a:srgbClr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078" name="Rectangle 10">
            <a:extLst>
              <a:ext uri="{FF2B5EF4-FFF2-40B4-BE49-F238E27FC236}">
                <a16:creationId xmlns:a16="http://schemas.microsoft.com/office/drawing/2014/main" id="{8B0A4A86-4DAF-111E-DD2C-62332B18F8E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569075"/>
            <a:ext cx="9167813" cy="315913"/>
          </a:xfrm>
          <a:prstGeom prst="rect">
            <a:avLst/>
          </a:prstGeom>
          <a:gradFill rotWithShape="1">
            <a:gsLst>
              <a:gs pos="0">
                <a:srgbClr val="800000"/>
              </a:gs>
              <a:gs pos="100000">
                <a:srgbClr val="FF8585">
                  <a:alpha val="0"/>
                </a:srgbClr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031" name="Text Box 11">
            <a:extLst>
              <a:ext uri="{FF2B5EF4-FFF2-40B4-BE49-F238E27FC236}">
                <a16:creationId xmlns:a16="http://schemas.microsoft.com/office/drawing/2014/main" id="{FC07161D-3741-BB65-D9F8-749C7D76B43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36513" y="6583363"/>
            <a:ext cx="5905501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de-DE" sz="1000" dirty="0">
                <a:solidFill>
                  <a:srgbClr val="FFFF00"/>
                </a:solidFill>
                <a:cs typeface="Arial" charset="0"/>
              </a:rPr>
              <a:t> Database Systems</a:t>
            </a:r>
            <a:endParaRPr lang="de-DE" sz="1000" dirty="0">
              <a:solidFill>
                <a:srgbClr val="FFFF00"/>
              </a:solidFill>
            </a:endParaRPr>
          </a:p>
        </p:txBody>
      </p:sp>
      <p:sp>
        <p:nvSpPr>
          <p:cNvPr id="3080" name="Rectangle 12">
            <a:extLst>
              <a:ext uri="{FF2B5EF4-FFF2-40B4-BE49-F238E27FC236}">
                <a16:creationId xmlns:a16="http://schemas.microsoft.com/office/drawing/2014/main" id="{2AE54D3C-D968-3AD1-B426-6813567D580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596188" y="6640513"/>
            <a:ext cx="19050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de-DE" altLang="en-US" sz="1000">
                <a:solidFill>
                  <a:srgbClr val="000000"/>
                </a:solidFill>
              </a:rPr>
              <a:t>Slide </a:t>
            </a:r>
            <a:fld id="{B20C512C-CC55-4039-882A-F96E9661C642}" type="slidenum">
              <a:rPr lang="de-DE" altLang="en-US" sz="1000">
                <a:solidFill>
                  <a:srgbClr val="000000"/>
                </a:solidFill>
              </a:rPr>
              <a:pPr algn="ctr" eaLnBrk="1" hangingPunct="1"/>
              <a:t>‹#›</a:t>
            </a:fld>
            <a:endParaRPr lang="de-DE" altLang="en-US" sz="100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36" r:id="rId1"/>
    <p:sldLayoutId id="2147484137" r:id="rId2"/>
    <p:sldLayoutId id="2147484138" r:id="rId3"/>
    <p:sldLayoutId id="2147484139" r:id="rId4"/>
    <p:sldLayoutId id="2147484140" r:id="rId5"/>
    <p:sldLayoutId id="2147484141" r:id="rId6"/>
    <p:sldLayoutId id="2147484142" r:id="rId7"/>
    <p:sldLayoutId id="2147484143" r:id="rId8"/>
    <p:sldLayoutId id="2147484144" r:id="rId9"/>
    <p:sldLayoutId id="2147484145" r:id="rId10"/>
    <p:sldLayoutId id="2147484146" r:id="rId11"/>
    <p:sldLayoutId id="2147484147" r:id="rId12"/>
    <p:sldLayoutId id="2147484148" r:id="rId13"/>
    <p:sldLayoutId id="2147484149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79237E9-EA19-C50E-E0BE-9DF7D9B797BD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8" name="Rounded Rectangle 7">
            <a:extLst>
              <a:ext uri="{FF2B5EF4-FFF2-40B4-BE49-F238E27FC236}">
                <a16:creationId xmlns:a16="http://schemas.microsoft.com/office/drawing/2014/main" id="{E4629FB7-89ED-1F8D-7A97-AA0D96CDCC18}"/>
              </a:ext>
            </a:extLst>
          </p:cNvPr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076" name="Title Placeholder 21">
            <a:extLst>
              <a:ext uri="{FF2B5EF4-FFF2-40B4-BE49-F238E27FC236}">
                <a16:creationId xmlns:a16="http://schemas.microsoft.com/office/drawing/2014/main" id="{558466A6-B242-FD5A-FF2A-4E8EAA703A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7" name="Text Placeholder 12">
            <a:extLst>
              <a:ext uri="{FF2B5EF4-FFF2-40B4-BE49-F238E27FC236}">
                <a16:creationId xmlns:a16="http://schemas.microsoft.com/office/drawing/2014/main" id="{A7168143-A683-8AD3-3F34-72CB884A60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B6671AAC-2A2D-2A89-6A00-B991F60911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4008626-BC69-490C-8CAB-D90609098E48}" type="datetime1">
              <a:rPr lang="en-US"/>
              <a:pPr>
                <a:defRPr/>
              </a:pPr>
              <a:t>10/12/2024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4F78C3-0D46-C3D5-FA65-D8952F5997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4876800" cy="457200"/>
          </a:xfrm>
          <a:prstGeom prst="rect">
            <a:avLst/>
          </a:prstGeom>
        </p:spPr>
        <p:txBody>
          <a:bodyPr anchor="ctr" anchorCtr="0"/>
          <a:lstStyle>
            <a:lvl1pPr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8C285225-DF5C-DEBD-9B0A-907FC32C37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EFEF4D28-6513-4D78-BC50-C378AB1C9F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920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64" r:id="rId1"/>
    <p:sldLayoutId id="2147484165" r:id="rId2"/>
    <p:sldLayoutId id="2147484166" r:id="rId3"/>
    <p:sldLayoutId id="2147484167" r:id="rId4"/>
    <p:sldLayoutId id="2147484168" r:id="rId5"/>
    <p:sldLayoutId id="2147484169" r:id="rId6"/>
    <p:sldLayoutId id="2147484170" r:id="rId7"/>
    <p:sldLayoutId id="2147484171" r:id="rId8"/>
    <p:sldLayoutId id="2147484172" r:id="rId9"/>
    <p:sldLayoutId id="2147484173" r:id="rId10"/>
    <p:sldLayoutId id="2147484174" r:id="rId11"/>
    <p:sldLayoutId id="2147484175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4546855-5A2A-901A-F9CB-1D8CCA51A7FE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8" name="Rounded Rectangle 7">
            <a:extLst>
              <a:ext uri="{FF2B5EF4-FFF2-40B4-BE49-F238E27FC236}">
                <a16:creationId xmlns:a16="http://schemas.microsoft.com/office/drawing/2014/main" id="{768924DC-18A4-B812-6773-0925E2CB927E}"/>
              </a:ext>
            </a:extLst>
          </p:cNvPr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052" name="Title Placeholder 21">
            <a:extLst>
              <a:ext uri="{FF2B5EF4-FFF2-40B4-BE49-F238E27FC236}">
                <a16:creationId xmlns:a16="http://schemas.microsoft.com/office/drawing/2014/main" id="{25698EBF-86B7-E47A-3C18-A10EA5B6E3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3" name="Text Placeholder 12">
            <a:extLst>
              <a:ext uri="{FF2B5EF4-FFF2-40B4-BE49-F238E27FC236}">
                <a16:creationId xmlns:a16="http://schemas.microsoft.com/office/drawing/2014/main" id="{6E95D8BC-6557-DC12-FF85-225EFA47D8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D15F4504-31BE-5531-9DA0-1E6F6C5F49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smtClean="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4F4D158-3D15-44B9-B4CD-31DBF070DB2F}" type="datetime1">
              <a:rPr lang="en-US"/>
              <a:pPr>
                <a:defRPr/>
              </a:pPr>
              <a:t>10/12/2024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EBBADE-AEDD-F5B2-9A83-5E73F4874A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4876800" cy="457200"/>
          </a:xfrm>
          <a:prstGeom prst="rect">
            <a:avLst/>
          </a:prstGeom>
        </p:spPr>
        <p:txBody>
          <a:bodyPr anchor="ctr" anchorCtr="0"/>
          <a:lstStyle>
            <a:lvl1pPr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574B5963-C7ED-86E3-69D0-C8A16E38B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6AD33D01-FB0C-4B77-98BE-7250A88D732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503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7" r:id="rId1"/>
    <p:sldLayoutId id="2147484178" r:id="rId2"/>
    <p:sldLayoutId id="2147484179" r:id="rId3"/>
    <p:sldLayoutId id="2147484180" r:id="rId4"/>
    <p:sldLayoutId id="2147484181" r:id="rId5"/>
    <p:sldLayoutId id="2147484182" r:id="rId6"/>
    <p:sldLayoutId id="2147484183" r:id="rId7"/>
    <p:sldLayoutId id="2147484184" r:id="rId8"/>
    <p:sldLayoutId id="2147484185" r:id="rId9"/>
    <p:sldLayoutId id="2147484186" r:id="rId10"/>
    <p:sldLayoutId id="2147484187" r:id="rId11"/>
    <p:sldLayoutId id="2147484188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w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5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5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5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5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5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5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5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5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emf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0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221148F-F01B-972A-0EE7-7E2CDAAD8BA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90575" y="1557338"/>
            <a:ext cx="7669213" cy="2087562"/>
          </a:xfrm>
          <a:solidFill>
            <a:srgbClr val="FFFFCC">
              <a:alpha val="20000"/>
            </a:srgbClr>
          </a:solidFill>
          <a:ln w="38100">
            <a:solidFill>
              <a:srgbClr val="800000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lnSpc>
                <a:spcPct val="150000"/>
              </a:lnSpc>
            </a:pPr>
            <a:br>
              <a:rPr lang="en-US" altLang="en-US" sz="3200" b="1" dirty="0">
                <a:solidFill>
                  <a:srgbClr val="800000"/>
                </a:solidFill>
              </a:rPr>
            </a:br>
            <a:r>
              <a:rPr lang="en-US" altLang="en-US" sz="3200" b="1" u="sng" dirty="0">
                <a:solidFill>
                  <a:srgbClr val="800000"/>
                </a:solidFill>
              </a:rPr>
              <a:t>Unit - 6</a:t>
            </a:r>
            <a:br>
              <a:rPr lang="en-US" altLang="en-US" sz="3200" b="1" dirty="0">
                <a:solidFill>
                  <a:srgbClr val="800000"/>
                </a:solidFill>
              </a:rPr>
            </a:br>
            <a:r>
              <a:rPr lang="en-US" altLang="en-US" sz="3200" b="1" dirty="0">
                <a:solidFill>
                  <a:schemeClr val="accent2"/>
                </a:solidFill>
              </a:rPr>
              <a:t>Entity Relationship (ER) Model</a:t>
            </a:r>
            <a:br>
              <a:rPr lang="en-US" altLang="en-US" sz="3200" b="1" dirty="0">
                <a:solidFill>
                  <a:schemeClr val="accent2"/>
                </a:solidFill>
              </a:rPr>
            </a:br>
            <a:br>
              <a:rPr lang="en-US" altLang="en-US" sz="2400" b="1" dirty="0">
                <a:solidFill>
                  <a:schemeClr val="folHlink"/>
                </a:solidFill>
              </a:rPr>
            </a:br>
            <a:endParaRPr lang="de-AT" altLang="en-US" sz="1400" dirty="0">
              <a:solidFill>
                <a:schemeClr val="accent2"/>
              </a:solidFill>
            </a:endParaRPr>
          </a:p>
        </p:txBody>
      </p:sp>
      <p:pic>
        <p:nvPicPr>
          <p:cNvPr id="8196" name="Picture 9">
            <a:extLst>
              <a:ext uri="{FF2B5EF4-FFF2-40B4-BE49-F238E27FC236}">
                <a16:creationId xmlns:a16="http://schemas.microsoft.com/office/drawing/2014/main" id="{1989AB10-98E1-C297-7A44-D941B4DD1C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25" y="0"/>
            <a:ext cx="803275" cy="112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Picture 11">
            <a:extLst>
              <a:ext uri="{FF2B5EF4-FFF2-40B4-BE49-F238E27FC236}">
                <a16:creationId xmlns:a16="http://schemas.microsoft.com/office/drawing/2014/main" id="{503E73F3-D28F-C3DA-C6A3-4CFED5169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38" y="0"/>
            <a:ext cx="955675" cy="112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642CF4B-D328-1B84-AE8C-D3282E8C87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575" y="4084638"/>
            <a:ext cx="7669213" cy="1584325"/>
          </a:xfrm>
          <a:prstGeom prst="rect">
            <a:avLst/>
          </a:prstGeom>
          <a:solidFill>
            <a:srgbClr val="FFFFCC">
              <a:alpha val="20000"/>
            </a:srgbClr>
          </a:solidFill>
          <a:ln w="38100" cap="flat" algn="ctr">
            <a:solidFill>
              <a:srgbClr val="800000"/>
            </a:solidFill>
            <a:miter lim="800000"/>
            <a:headEnd/>
            <a:tailEnd/>
          </a:ln>
        </p:spPr>
        <p:txBody>
          <a:bodyPr anchor="ctr"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+mn-lt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+mn-lt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+mn-lt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defRPr/>
            </a:pPr>
            <a:endParaRPr lang="en-US" altLang="en-US" sz="2400" b="1" kern="0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defRPr/>
            </a:pPr>
            <a:r>
              <a:rPr lang="en-US" altLang="en-US" sz="3200" kern="0" dirty="0">
                <a:solidFill>
                  <a:srgbClr val="800000"/>
                </a:solidFill>
              </a:rPr>
              <a:t>Dr. Asif Sohail</a:t>
            </a:r>
            <a:r>
              <a:rPr lang="en-US" altLang="en-US" sz="3200" kern="0" dirty="0">
                <a:solidFill>
                  <a:schemeClr val="folHlink"/>
                </a:solidFill>
              </a:rPr>
              <a:t> </a:t>
            </a:r>
            <a:br>
              <a:rPr lang="en-US" altLang="en-US" sz="3200" b="1" kern="0" dirty="0">
                <a:solidFill>
                  <a:schemeClr val="folHlink"/>
                </a:solidFill>
              </a:rPr>
            </a:br>
            <a:br>
              <a:rPr lang="en-US" altLang="en-US" sz="3200" b="1" kern="0" dirty="0"/>
            </a:br>
            <a:r>
              <a:rPr lang="en-US" altLang="en-US" sz="1800" b="1" kern="0" dirty="0"/>
              <a:t>University of the Punjab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defRPr/>
            </a:pPr>
            <a:r>
              <a:rPr lang="en-US" altLang="en-US" sz="1800" b="1" kern="0" dirty="0">
                <a:solidFill>
                  <a:schemeClr val="accent2"/>
                </a:solidFill>
              </a:rPr>
              <a:t>Department of Information Technology, FCIT</a:t>
            </a:r>
            <a:endParaRPr lang="de-AT" altLang="en-US" sz="1800" b="1" kern="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D63D529-234C-4856-E29F-FA0C0E275B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692150"/>
            <a:ext cx="5486400" cy="533400"/>
          </a:xfrm>
        </p:spPr>
        <p:txBody>
          <a:bodyPr/>
          <a:lstStyle/>
          <a:p>
            <a:r>
              <a:rPr lang="en-US" altLang="en-US" sz="2800" b="1">
                <a:solidFill>
                  <a:srgbClr val="800000"/>
                </a:solidFill>
                <a:latin typeface="Bookman Old Style" panose="02050604050505020204" pitchFamily="18" charset="0"/>
              </a:rPr>
              <a:t>Outline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25196071-E96C-1A2B-7D6F-F8C1F4C2DD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5450" y="1196975"/>
            <a:ext cx="8610600" cy="4343400"/>
          </a:xfrm>
        </p:spPr>
        <p:txBody>
          <a:bodyPr/>
          <a:lstStyle/>
          <a:p>
            <a:pPr marL="228600" indent="-228600"/>
            <a:r>
              <a:rPr lang="en-US" altLang="en-US" sz="2400">
                <a:solidFill>
                  <a:schemeClr val="accent2"/>
                </a:solidFill>
              </a:rPr>
              <a:t>Introduction</a:t>
            </a:r>
          </a:p>
          <a:p>
            <a:pPr marL="228600" indent="-228600"/>
            <a:r>
              <a:rPr lang="en-US" altLang="en-US" sz="2400">
                <a:solidFill>
                  <a:schemeClr val="accent2"/>
                </a:solidFill>
              </a:rPr>
              <a:t>Basic Constructs and Notations</a:t>
            </a:r>
          </a:p>
          <a:p>
            <a:pPr marL="228600" indent="-228600"/>
            <a:r>
              <a:rPr lang="en-US" altLang="en-US" sz="2400">
                <a:solidFill>
                  <a:schemeClr val="accent2"/>
                </a:solidFill>
              </a:rPr>
              <a:t>Connectivity / Cardinality of a Relationship</a:t>
            </a:r>
          </a:p>
          <a:p>
            <a:pPr marL="228600" indent="-228600"/>
            <a:r>
              <a:rPr lang="en-US" altLang="en-US" sz="2400">
                <a:solidFill>
                  <a:schemeClr val="accent2"/>
                </a:solidFill>
              </a:rPr>
              <a:t>Degree of a Relationship</a:t>
            </a:r>
          </a:p>
          <a:p>
            <a:pPr marL="228600" indent="-228600"/>
            <a:r>
              <a:rPr lang="en-US" altLang="en-US" sz="2400">
                <a:solidFill>
                  <a:schemeClr val="accent2"/>
                </a:solidFill>
              </a:rPr>
              <a:t>Existence Dependency (Identifying Relationship)</a:t>
            </a:r>
          </a:p>
          <a:p>
            <a:pPr marL="228600" indent="-228600"/>
            <a:r>
              <a:rPr lang="en-US" altLang="en-US" sz="2400">
                <a:solidFill>
                  <a:schemeClr val="accent2"/>
                </a:solidFill>
              </a:rPr>
              <a:t>Associative Entity</a:t>
            </a:r>
          </a:p>
          <a:p>
            <a:pPr marL="228600" indent="-228600"/>
            <a:r>
              <a:rPr lang="en-US" altLang="en-US" sz="2400">
                <a:solidFill>
                  <a:schemeClr val="accent2"/>
                </a:solidFill>
              </a:rPr>
              <a:t>Modeling Multivalued Attribute</a:t>
            </a:r>
          </a:p>
          <a:p>
            <a:pPr marL="228600" indent="-228600"/>
            <a:r>
              <a:rPr lang="en-US" altLang="en-US" sz="2400">
                <a:solidFill>
                  <a:schemeClr val="accent2"/>
                </a:solidFill>
              </a:rPr>
              <a:t>Time dependent data</a:t>
            </a:r>
          </a:p>
          <a:p>
            <a:pPr marL="228600" indent="-228600"/>
            <a:endParaRPr lang="en-US" altLang="en-US" sz="2400">
              <a:solidFill>
                <a:schemeClr val="accent2"/>
              </a:solidFill>
            </a:endParaRPr>
          </a:p>
          <a:p>
            <a:pPr marL="228600" indent="-228600"/>
            <a:endParaRPr lang="en-US" altLang="en-US" sz="2400">
              <a:solidFill>
                <a:schemeClr val="accent2"/>
              </a:solidFill>
            </a:endParaRPr>
          </a:p>
          <a:p>
            <a:pPr marL="228600" indent="-228600"/>
            <a:endParaRPr lang="en-US" altLang="en-US">
              <a:solidFill>
                <a:schemeClr val="accent2"/>
              </a:solidFill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2E1B5DCA-A7B7-7DCE-748B-7CB8B359AC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7512" y="692150"/>
            <a:ext cx="6746775" cy="381000"/>
          </a:xfrm>
        </p:spPr>
        <p:txBody>
          <a:bodyPr/>
          <a:lstStyle/>
          <a:p>
            <a:r>
              <a:rPr lang="en-US" altLang="en-US" sz="2800" b="1" dirty="0">
                <a:solidFill>
                  <a:srgbClr val="800000"/>
                </a:solidFill>
              </a:rPr>
              <a:t>Entity Relationship (ER) Model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F15726F5-DC25-F932-D8D8-80A12E7937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96975"/>
            <a:ext cx="8353425" cy="5184775"/>
          </a:xfrm>
        </p:spPr>
        <p:txBody>
          <a:bodyPr/>
          <a:lstStyle/>
          <a:p>
            <a:pPr algn="just">
              <a:spcBef>
                <a:spcPts val="300"/>
              </a:spcBef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It is the mainstream approach for </a:t>
            </a:r>
            <a:r>
              <a:rPr lang="en-US" altLang="en-US" sz="24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conceptual data modeling.</a:t>
            </a:r>
          </a:p>
          <a:p>
            <a:pPr algn="just">
              <a:spcBef>
                <a:spcPts val="300"/>
              </a:spcBef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It expresses logical representation for an organization in terms of Entities, Relationships among Entities and Attributes of Entities and Relationship.</a:t>
            </a:r>
          </a:p>
          <a:p>
            <a:pPr algn="just">
              <a:spcBef>
                <a:spcPts val="300"/>
              </a:spcBef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It is most often used as a communication tool between database designers and end users during analysis phase of database development.</a:t>
            </a:r>
          </a:p>
          <a:p>
            <a:pPr algn="just">
              <a:spcBef>
                <a:spcPts val="300"/>
              </a:spcBef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It was proposed by </a:t>
            </a:r>
            <a:r>
              <a:rPr lang="en-US" altLang="en-US" sz="24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Peter Chen</a:t>
            </a: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in 1976. </a:t>
            </a:r>
          </a:p>
          <a:p>
            <a:pPr algn="just">
              <a:spcBef>
                <a:spcPts val="300"/>
              </a:spcBef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The model has been subsequently extended in 1986 and 1991.</a:t>
            </a:r>
          </a:p>
          <a:p>
            <a:pPr algn="just">
              <a:spcBef>
                <a:spcPts val="300"/>
              </a:spcBef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An ER model is normally expressed as an entity-relationship diagram (ERD). </a:t>
            </a:r>
          </a:p>
          <a:p>
            <a:pPr algn="just">
              <a:spcBef>
                <a:spcPts val="300"/>
              </a:spcBef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The basic constructs of ER Model are: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2C8C8485-C1C5-5D63-7FBE-DEBE165BFF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587375"/>
            <a:ext cx="5562600" cy="609600"/>
          </a:xfrm>
        </p:spPr>
        <p:txBody>
          <a:bodyPr/>
          <a:lstStyle/>
          <a:p>
            <a:r>
              <a:rPr lang="en-US" altLang="en-US" sz="2400">
                <a:solidFill>
                  <a:srgbClr val="800000"/>
                </a:solidFill>
              </a:rPr>
              <a:t>ER Model – Basic Constructs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037F2959-FB76-762A-13CB-E885058C3D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423988"/>
            <a:ext cx="8686800" cy="5715000"/>
          </a:xfrm>
        </p:spPr>
        <p:txBody>
          <a:bodyPr/>
          <a:lstStyle/>
          <a:p>
            <a:pPr marL="609600" indent="-609600">
              <a:buFontTx/>
              <a:buNone/>
            </a:pPr>
            <a:r>
              <a:rPr lang="en-US" altLang="en-US" dirty="0"/>
              <a:t>Entity </a:t>
            </a:r>
          </a:p>
          <a:p>
            <a:pPr marL="609600" indent="-609600">
              <a:buFontTx/>
              <a:buNone/>
            </a:pPr>
            <a:endParaRPr lang="en-US" altLang="en-US" dirty="0"/>
          </a:p>
          <a:p>
            <a:pPr marL="609600" indent="-609600">
              <a:buFontTx/>
              <a:buNone/>
            </a:pPr>
            <a:endParaRPr lang="en-US" altLang="en-US" dirty="0"/>
          </a:p>
          <a:p>
            <a:pPr marL="609600" indent="-609600">
              <a:buFontTx/>
              <a:buNone/>
            </a:pPr>
            <a:r>
              <a:rPr lang="en-US" altLang="en-US" dirty="0"/>
              <a:t>Relationship </a:t>
            </a:r>
          </a:p>
          <a:p>
            <a:pPr marL="609600" indent="-609600">
              <a:buFontTx/>
              <a:buNone/>
            </a:pPr>
            <a:endParaRPr lang="en-US" altLang="en-US" dirty="0"/>
          </a:p>
          <a:p>
            <a:pPr marL="609600" indent="-609600">
              <a:buFontTx/>
              <a:buNone/>
            </a:pPr>
            <a:r>
              <a:rPr lang="en-US" altLang="en-US" dirty="0"/>
              <a:t>Attribute</a:t>
            </a:r>
          </a:p>
          <a:p>
            <a:pPr marL="609600" indent="-609600">
              <a:buFontTx/>
              <a:buNone/>
            </a:pPr>
            <a:r>
              <a:rPr lang="en-US" altLang="en-US" dirty="0"/>
              <a:t>							</a:t>
            </a:r>
          </a:p>
          <a:p>
            <a:pPr marL="609600" indent="-609600">
              <a:buFontTx/>
              <a:buNone/>
            </a:pPr>
            <a:r>
              <a:rPr lang="en-US" altLang="en-US" dirty="0"/>
              <a:t>								</a:t>
            </a:r>
            <a:r>
              <a:rPr lang="en-US" altLang="en-US" sz="2400" dirty="0"/>
              <a:t>Multi valued</a:t>
            </a:r>
          </a:p>
          <a:p>
            <a:pPr marL="609600" indent="-609600">
              <a:buFontTx/>
              <a:buNone/>
            </a:pPr>
            <a:r>
              <a:rPr lang="en-US" altLang="en-US" dirty="0"/>
              <a:t>Associative </a:t>
            </a:r>
          </a:p>
          <a:p>
            <a:pPr marL="609600" indent="-609600">
              <a:buFontTx/>
              <a:buNone/>
            </a:pPr>
            <a:r>
              <a:rPr lang="en-US" altLang="en-US" dirty="0"/>
              <a:t>Entity</a:t>
            </a:r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51148705-6F48-BB7B-3E97-5F5252AFC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1506538"/>
            <a:ext cx="1752600" cy="685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bg2"/>
                </a:solidFill>
                <a:latin typeface="Times New Roman" panose="02020603050405020304" pitchFamily="18" charset="0"/>
              </a:rPr>
              <a:t>Strong</a:t>
            </a:r>
          </a:p>
        </p:txBody>
      </p:sp>
      <p:sp>
        <p:nvSpPr>
          <p:cNvPr id="12293" name="AutoShape 5">
            <a:extLst>
              <a:ext uri="{FF2B5EF4-FFF2-40B4-BE49-F238E27FC236}">
                <a16:creationId xmlns:a16="http://schemas.microsoft.com/office/drawing/2014/main" id="{F0452388-3545-DA2B-011D-99CF8AE71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2570163"/>
            <a:ext cx="2590800" cy="1219200"/>
          </a:xfrm>
          <a:prstGeom prst="flowChartDecision">
            <a:avLst/>
          </a:prstGeom>
          <a:solidFill>
            <a:srgbClr val="FF00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2294" name="Oval 6">
            <a:extLst>
              <a:ext uri="{FF2B5EF4-FFF2-40B4-BE49-F238E27FC236}">
                <a16:creationId xmlns:a16="http://schemas.microsoft.com/office/drawing/2014/main" id="{118042E6-7DB9-30A4-0956-71F565E7E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4030663"/>
            <a:ext cx="2362200" cy="7620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2295" name="Oval 7">
            <a:extLst>
              <a:ext uri="{FF2B5EF4-FFF2-40B4-BE49-F238E27FC236}">
                <a16:creationId xmlns:a16="http://schemas.microsoft.com/office/drawing/2014/main" id="{12C1EF15-88AA-EF26-3D19-6819C8963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4030663"/>
            <a:ext cx="2209800" cy="838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2296" name="Oval 8">
            <a:extLst>
              <a:ext uri="{FF2B5EF4-FFF2-40B4-BE49-F238E27FC236}">
                <a16:creationId xmlns:a16="http://schemas.microsoft.com/office/drawing/2014/main" id="{2926C741-0C0D-8F61-9C4C-805DDE110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4183063"/>
            <a:ext cx="1828800" cy="533400"/>
          </a:xfrm>
          <a:prstGeom prst="ellipse">
            <a:avLst/>
          </a:prstGeom>
          <a:solidFill>
            <a:srgbClr val="FF99CC"/>
          </a:solidFill>
          <a:ln w="12700">
            <a:solidFill>
              <a:srgbClr val="FFCC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2297" name="Rectangle 9">
            <a:extLst>
              <a:ext uri="{FF2B5EF4-FFF2-40B4-BE49-F238E27FC236}">
                <a16:creationId xmlns:a16="http://schemas.microsoft.com/office/drawing/2014/main" id="{8A013A4E-C293-B5FD-61AC-537334312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5410200"/>
            <a:ext cx="2057400" cy="990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2298" name="AutoShape 10">
            <a:extLst>
              <a:ext uri="{FF2B5EF4-FFF2-40B4-BE49-F238E27FC236}">
                <a16:creationId xmlns:a16="http://schemas.microsoft.com/office/drawing/2014/main" id="{3F048527-D922-78A0-267F-986C65729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5391150"/>
            <a:ext cx="2057400" cy="990600"/>
          </a:xfrm>
          <a:prstGeom prst="flowChartDecision">
            <a:avLst/>
          </a:prstGeom>
          <a:solidFill>
            <a:srgbClr val="FF99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2299" name="Rectangle 11">
            <a:extLst>
              <a:ext uri="{FF2B5EF4-FFF2-40B4-BE49-F238E27FC236}">
                <a16:creationId xmlns:a16="http://schemas.microsoft.com/office/drawing/2014/main" id="{743D0967-0296-0D3F-7472-E1746800E4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1506538"/>
            <a:ext cx="1563960" cy="698500"/>
          </a:xfrm>
          <a:prstGeom prst="rect">
            <a:avLst/>
          </a:prstGeom>
          <a:solidFill>
            <a:srgbClr val="FF99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bg2"/>
                </a:solidFill>
                <a:latin typeface="Times New Roman" panose="02020603050405020304" pitchFamily="18" charset="0"/>
              </a:rPr>
              <a:t>Strong</a:t>
            </a:r>
          </a:p>
        </p:txBody>
      </p:sp>
      <p:sp>
        <p:nvSpPr>
          <p:cNvPr id="12300" name="Rectangle 12">
            <a:extLst>
              <a:ext uri="{FF2B5EF4-FFF2-40B4-BE49-F238E27FC236}">
                <a16:creationId xmlns:a16="http://schemas.microsoft.com/office/drawing/2014/main" id="{55CD657E-3A2A-311D-3FAC-A9183EFA7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8752" y="1628800"/>
            <a:ext cx="1371600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Weak</a:t>
            </a:r>
          </a:p>
        </p:txBody>
      </p:sp>
      <p:sp>
        <p:nvSpPr>
          <p:cNvPr id="12301" name="AutoShape 13">
            <a:extLst>
              <a:ext uri="{FF2B5EF4-FFF2-40B4-BE49-F238E27FC236}">
                <a16:creationId xmlns:a16="http://schemas.microsoft.com/office/drawing/2014/main" id="{3C7AE4E8-BC37-165D-7DF7-40DCC8773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7275" y="5422900"/>
            <a:ext cx="1828800" cy="914400"/>
          </a:xfrm>
          <a:prstGeom prst="flowChartAlternateProces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Associative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Entity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0F2F218F-AA3E-4F17-5DC8-B7EB4111BE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765175"/>
            <a:ext cx="3311525" cy="350838"/>
          </a:xfrm>
        </p:spPr>
        <p:txBody>
          <a:bodyPr/>
          <a:lstStyle/>
          <a:p>
            <a:r>
              <a:rPr lang="en-US" altLang="en-US" sz="2400">
                <a:solidFill>
                  <a:srgbClr val="800000"/>
                </a:solidFill>
              </a:rPr>
              <a:t>ER Model – Notations</a:t>
            </a:r>
            <a:endParaRPr lang="en-US" altLang="en-US" sz="2400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3315" name="Picture 5">
            <a:extLst>
              <a:ext uri="{FF2B5EF4-FFF2-40B4-BE49-F238E27FC236}">
                <a16:creationId xmlns:a16="http://schemas.microsoft.com/office/drawing/2014/main" id="{27F24DC3-BEB3-238C-C38E-98FCF4F95C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268413"/>
            <a:ext cx="7924800" cy="232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C57113A-C7B7-B0A9-62F4-3CFDB0E114AA}"/>
              </a:ext>
            </a:extLst>
          </p:cNvPr>
          <p:cNvGraphicFramePr>
            <a:graphicFrameLocks noGrp="1"/>
          </p:cNvGraphicFramePr>
          <p:nvPr/>
        </p:nvGraphicFramePr>
        <p:xfrm>
          <a:off x="3132138" y="3860800"/>
          <a:ext cx="2232025" cy="21669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823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ENTITY NAME</a:t>
                      </a:r>
                    </a:p>
                  </a:txBody>
                  <a:tcPr marL="91431" marR="91431" marT="45730" marB="4573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8707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+mn-lt"/>
                        </a:rPr>
                        <a:t>Identifier</a:t>
                      </a:r>
                    </a:p>
                    <a:p>
                      <a:pPr algn="ctr"/>
                      <a:r>
                        <a:rPr lang="en-US" sz="2000" u="none" dirty="0">
                          <a:latin typeface="+mn-lt"/>
                        </a:rPr>
                        <a:t>Attribute</a:t>
                      </a: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2000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[Derived]</a:t>
                      </a: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2000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{Multivalued}</a:t>
                      </a: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2000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Composite( , , )</a:t>
                      </a:r>
                    </a:p>
                  </a:txBody>
                  <a:tcPr marL="91431" marR="91431" marT="45730" marB="4573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82CD464B-B3D6-34DA-56CA-ABBB137027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765175"/>
            <a:ext cx="3203575" cy="322263"/>
          </a:xfrm>
        </p:spPr>
        <p:txBody>
          <a:bodyPr/>
          <a:lstStyle/>
          <a:p>
            <a:r>
              <a:rPr lang="en-US" altLang="en-US" sz="2400">
                <a:solidFill>
                  <a:srgbClr val="800000"/>
                </a:solidFill>
              </a:rPr>
              <a:t>Sample ERD</a:t>
            </a:r>
          </a:p>
        </p:txBody>
      </p:sp>
      <p:sp>
        <p:nvSpPr>
          <p:cNvPr id="14339" name="Content Placeholder 1">
            <a:extLst>
              <a:ext uri="{FF2B5EF4-FFF2-40B4-BE49-F238E27FC236}">
                <a16:creationId xmlns:a16="http://schemas.microsoft.com/office/drawing/2014/main" id="{9F6933BC-414D-CAAA-4B09-28A5005B4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14340" name="Picture 3">
            <a:extLst>
              <a:ext uri="{FF2B5EF4-FFF2-40B4-BE49-F238E27FC236}">
                <a16:creationId xmlns:a16="http://schemas.microsoft.com/office/drawing/2014/main" id="{754C9A92-D5B4-B06C-70DF-820CDCF9CF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588" y="1268413"/>
            <a:ext cx="8328025" cy="5018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601C81E-AED5-2F66-9EA1-570831B5CA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765175"/>
            <a:ext cx="3203575" cy="322263"/>
          </a:xfrm>
        </p:spPr>
        <p:txBody>
          <a:bodyPr/>
          <a:lstStyle/>
          <a:p>
            <a:r>
              <a:rPr lang="en-US" altLang="en-US" sz="2400">
                <a:solidFill>
                  <a:srgbClr val="800000"/>
                </a:solidFill>
              </a:rPr>
              <a:t>Sample ERD</a:t>
            </a:r>
          </a:p>
        </p:txBody>
      </p:sp>
      <p:graphicFrame>
        <p:nvGraphicFramePr>
          <p:cNvPr id="15363" name="Object 3">
            <a:extLst>
              <a:ext uri="{FF2B5EF4-FFF2-40B4-BE49-F238E27FC236}">
                <a16:creationId xmlns:a16="http://schemas.microsoft.com/office/drawing/2014/main" id="{314CD71C-4B76-3E83-3428-0A14BF4860FD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684213" y="1341438"/>
          <a:ext cx="7920037" cy="5040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599320" imgH="5690160" progId="Visio.Drawing.6">
                  <p:embed/>
                </p:oleObj>
              </mc:Choice>
              <mc:Fallback>
                <p:oleObj name="VISIO" r:id="rId2" imgW="8599320" imgH="5690160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341438"/>
                        <a:ext cx="7920037" cy="5040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11EEE86E-7D8C-DA1C-5416-5A95BBC8C8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2425" y="692150"/>
            <a:ext cx="3355975" cy="533400"/>
          </a:xfrm>
        </p:spPr>
        <p:txBody>
          <a:bodyPr/>
          <a:lstStyle/>
          <a:p>
            <a:r>
              <a:rPr lang="en-US" altLang="en-US" sz="2000" b="1">
                <a:solidFill>
                  <a:srgbClr val="800000"/>
                </a:solidFill>
              </a:rPr>
              <a:t>Naming Entity Type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B53DA7F6-176E-D598-0893-92B85E8D57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96975"/>
            <a:ext cx="8424862" cy="5184775"/>
          </a:xfrm>
        </p:spPr>
        <p:txBody>
          <a:bodyPr/>
          <a:lstStyle/>
          <a:p>
            <a:pPr algn="just">
              <a:spcBef>
                <a:spcPct val="0"/>
              </a:spcBef>
            </a:pPr>
            <a:r>
              <a:rPr lang="en-US" altLang="en-US" sz="2200"/>
              <a:t>Use capital letter for names of entity types.</a:t>
            </a:r>
          </a:p>
          <a:p>
            <a:pPr algn="just">
              <a:spcBef>
                <a:spcPct val="0"/>
              </a:spcBef>
            </a:pPr>
            <a:r>
              <a:rPr lang="en-US" altLang="en-US" sz="2200"/>
              <a:t>An entity name </a:t>
            </a:r>
          </a:p>
          <a:p>
            <a:pPr lvl="1" algn="just">
              <a:spcBef>
                <a:spcPct val="0"/>
              </a:spcBef>
            </a:pPr>
            <a:r>
              <a:rPr lang="en-US" altLang="en-US" sz="2200"/>
              <a:t>Is a singular noun e.g. CUSTOMER</a:t>
            </a:r>
          </a:p>
          <a:p>
            <a:pPr lvl="1" algn="just">
              <a:spcBef>
                <a:spcPct val="0"/>
              </a:spcBef>
            </a:pPr>
            <a:r>
              <a:rPr lang="en-US" altLang="en-US" sz="2200"/>
              <a:t>Should be specific to the organization e.g. CUSTOMER, CLIENT</a:t>
            </a:r>
          </a:p>
          <a:p>
            <a:pPr lvl="1" algn="just">
              <a:spcBef>
                <a:spcPct val="0"/>
              </a:spcBef>
            </a:pPr>
            <a:r>
              <a:rPr lang="en-US" altLang="en-US" sz="2200"/>
              <a:t>Should be concise, using as few words as possible e.g. REGISTRATION is better than STUDENT REGISTRATION FOR CLASS</a:t>
            </a:r>
          </a:p>
          <a:p>
            <a:pPr lvl="1" algn="just">
              <a:spcBef>
                <a:spcPct val="0"/>
              </a:spcBef>
            </a:pPr>
            <a:r>
              <a:rPr lang="en-US" altLang="en-US" sz="2200"/>
              <a:t>Should be same for all E-R diagrams on which  the same entity type appears</a:t>
            </a:r>
          </a:p>
          <a:p>
            <a:pPr algn="just">
              <a:spcBef>
                <a:spcPct val="0"/>
              </a:spcBef>
            </a:pPr>
            <a:r>
              <a:rPr lang="en-US" altLang="en-US" sz="2200"/>
              <a:t>An attribute should be descriptive of the data represented by that attribute. </a:t>
            </a:r>
          </a:p>
          <a:p>
            <a:pPr algn="just">
              <a:spcBef>
                <a:spcPct val="0"/>
              </a:spcBef>
            </a:pPr>
            <a:r>
              <a:rPr lang="en-US" altLang="en-US" sz="2200"/>
              <a:t>It is a good practice to prefix the entity name (or its abbreviation) with the attribute name. For example, CUST_ADDRESS. </a:t>
            </a:r>
          </a:p>
          <a:p>
            <a:pPr lvl="1" algn="just">
              <a:spcBef>
                <a:spcPct val="0"/>
              </a:spcBef>
            </a:pPr>
            <a:endParaRPr lang="en-US" altLang="en-US" sz="220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0A6F7-ED1D-1026-E3AB-A443A8A4A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BED0E0FD-612B-B6B8-8BFB-FAEC5F019E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67600" y="152400"/>
            <a:ext cx="1676400" cy="457200"/>
          </a:xfrm>
        </p:spPr>
        <p:txBody>
          <a:bodyPr/>
          <a:lstStyle/>
          <a:p>
            <a:r>
              <a:rPr lang="en-US" altLang="en-US" sz="2000" u="sng">
                <a:solidFill>
                  <a:schemeClr val="tx1"/>
                </a:solidFill>
              </a:rPr>
              <a:t>E-R Model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5B0A8032-17E5-C00A-8271-74FFD5A326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6550" y="1196975"/>
            <a:ext cx="8412163" cy="5400675"/>
          </a:xfrm>
        </p:spPr>
        <p:txBody>
          <a:bodyPr/>
          <a:lstStyle/>
          <a:p>
            <a:pPr algn="just"/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 relationship is any association, linkage, or connection between the entities of interest to the business; it is a bi-directional, significant association between entities, or between an entity and itself. </a:t>
            </a:r>
          </a:p>
          <a:p>
            <a:pPr algn="just"/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Relationship is a </a:t>
            </a:r>
            <a:r>
              <a:rPr lang="en-US" altLang="en-US" sz="2400" dirty="0">
                <a:solidFill>
                  <a:srgbClr val="2D2DB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glue</a:t>
            </a: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that holds the entities together.</a:t>
            </a:r>
          </a:p>
          <a:p>
            <a:pPr algn="just"/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Entities enrolled in a relationship are called its </a:t>
            </a:r>
            <a:r>
              <a:rPr lang="en-US" altLang="en-US" sz="2400" dirty="0">
                <a:solidFill>
                  <a:srgbClr val="2D2DB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participants.</a:t>
            </a:r>
          </a:p>
          <a:p>
            <a:pPr algn="just"/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An example of a relationship would be:</a:t>
            </a:r>
          </a:p>
          <a:p>
            <a:pPr lvl="1" algn="just"/>
            <a:r>
              <a:rPr lang="en-US" altLang="en-US" dirty="0">
                <a:solidFill>
                  <a:srgbClr val="2D2DB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Employees are assigned to projects</a:t>
            </a:r>
          </a:p>
          <a:p>
            <a:pPr lvl="1" algn="just"/>
            <a:r>
              <a:rPr lang="en-US" altLang="en-US" dirty="0">
                <a:solidFill>
                  <a:srgbClr val="2D2DB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Projects have subtasks</a:t>
            </a:r>
          </a:p>
          <a:p>
            <a:pPr lvl="1" algn="just"/>
            <a:r>
              <a:rPr lang="en-US" altLang="en-US" dirty="0">
                <a:solidFill>
                  <a:srgbClr val="2D2DB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Departments manage one or more projects</a:t>
            </a:r>
          </a:p>
          <a:p>
            <a:pPr lvl="1" algn="just">
              <a:buFontTx/>
              <a:buAutoNum type="arabicPeriod"/>
            </a:pPr>
            <a:endParaRPr lang="en-US" altLang="en-US" dirty="0">
              <a:solidFill>
                <a:srgbClr val="FFCC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0441DDDE-6857-E180-B943-2577C08E9F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663575"/>
            <a:ext cx="335597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609600" indent="-609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800000"/>
                </a:solidFill>
              </a:rPr>
              <a:t>Relationship</a:t>
            </a:r>
          </a:p>
        </p:txBody>
      </p:sp>
    </p:spTree>
    <p:extLst>
      <p:ext uri="{BB962C8B-B14F-4D97-AF65-F5344CB8AC3E}">
        <p14:creationId xmlns:p14="http://schemas.microsoft.com/office/powerpoint/2010/main" val="49567548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604E49F4-7EA2-D41B-9B6A-8652B66824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67600" y="152400"/>
            <a:ext cx="1676400" cy="457200"/>
          </a:xfrm>
        </p:spPr>
        <p:txBody>
          <a:bodyPr/>
          <a:lstStyle/>
          <a:p>
            <a:r>
              <a:rPr lang="en-US" altLang="en-US" sz="2000" u="sng">
                <a:solidFill>
                  <a:schemeClr val="tx1"/>
                </a:solidFill>
              </a:rPr>
              <a:t>E-R Model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53C0E0F7-7FEB-5206-D3A3-1A2D6A8C52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6550" y="1196975"/>
            <a:ext cx="8627938" cy="5400675"/>
          </a:xfrm>
        </p:spPr>
        <p:txBody>
          <a:bodyPr/>
          <a:lstStyle/>
          <a:p>
            <a:pPr algn="just">
              <a:lnSpc>
                <a:spcPct val="110000"/>
              </a:lnSpc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The association, </a:t>
            </a:r>
            <a:r>
              <a:rPr lang="en-US" alt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(aka connectivity or multiplicity)</a:t>
            </a: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between the entity instances can be:</a:t>
            </a:r>
          </a:p>
          <a:p>
            <a:pPr lvl="1" algn="just">
              <a:lnSpc>
                <a:spcPct val="110000"/>
              </a:lnSpc>
            </a:pPr>
            <a:r>
              <a:rPr lang="en-US" altLang="en-US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One to One (1:1)</a:t>
            </a:r>
          </a:p>
          <a:p>
            <a:pPr lvl="1" algn="just">
              <a:lnSpc>
                <a:spcPct val="110000"/>
              </a:lnSpc>
            </a:pPr>
            <a:r>
              <a:rPr lang="en-US" altLang="en-US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One to Many (1:M)</a:t>
            </a:r>
          </a:p>
          <a:p>
            <a:pPr lvl="1" algn="just">
              <a:lnSpc>
                <a:spcPct val="110000"/>
              </a:lnSpc>
            </a:pPr>
            <a:r>
              <a:rPr lang="en-US" altLang="en-US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Many to One (M:1)</a:t>
            </a:r>
          </a:p>
          <a:p>
            <a:pPr lvl="1" algn="just">
              <a:lnSpc>
                <a:spcPct val="110000"/>
              </a:lnSpc>
            </a:pPr>
            <a:r>
              <a:rPr lang="en-US" altLang="en-US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Many to Many (M:N)</a:t>
            </a:r>
          </a:p>
          <a:p>
            <a:pPr algn="just"/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To identify the type of association or connectivity between entity A and entity B, ask yourself the following two questions:</a:t>
            </a:r>
          </a:p>
          <a:p>
            <a:pPr lvl="1" algn="just">
              <a:buFontTx/>
              <a:buAutoNum type="arabicPeriod"/>
            </a:pPr>
            <a:r>
              <a:rPr lang="en-US" altLang="en-US" dirty="0">
                <a:solidFill>
                  <a:srgbClr val="2D2DB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many instances of B are related to each instance of A? </a:t>
            </a:r>
          </a:p>
          <a:p>
            <a:pPr lvl="1" algn="just">
              <a:buFontTx/>
              <a:buAutoNum type="arabicPeriod"/>
            </a:pPr>
            <a:r>
              <a:rPr lang="en-US" altLang="en-US" dirty="0">
                <a:solidFill>
                  <a:srgbClr val="2D2DB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many instances of A are related to each instance of B? </a:t>
            </a:r>
            <a:endParaRPr lang="en-US" altLang="en-US" dirty="0">
              <a:solidFill>
                <a:srgbClr val="FFCC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algn="just">
              <a:buFontTx/>
              <a:buAutoNum type="arabicPeriod"/>
            </a:pPr>
            <a:endParaRPr lang="en-US" altLang="en-US" sz="2800" dirty="0">
              <a:solidFill>
                <a:srgbClr val="FFCC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FAF78333-0BF9-22E9-A87C-54174B1747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663575"/>
            <a:ext cx="335597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609600" indent="-609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800000"/>
                </a:solidFill>
              </a:rPr>
              <a:t>Relationship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26F1C7C5-4B0E-3264-69AE-55A11BF62A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81800" y="152400"/>
            <a:ext cx="2362200" cy="457200"/>
          </a:xfrm>
        </p:spPr>
        <p:txBody>
          <a:bodyPr/>
          <a:lstStyle/>
          <a:p>
            <a:r>
              <a:rPr lang="en-US" altLang="en-US" sz="2800" u="sng">
                <a:solidFill>
                  <a:schemeClr val="tx1"/>
                </a:solidFill>
              </a:rPr>
              <a:t>E-R Model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F6E83D9A-9FDC-996D-A872-244657689F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52525"/>
            <a:ext cx="8280400" cy="5372100"/>
          </a:xfrm>
        </p:spPr>
        <p:txBody>
          <a:bodyPr/>
          <a:lstStyle/>
          <a:p>
            <a:pPr algn="just"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It refers to the number of entity instances of one entity type that can be associated with the number of entity instances of the other entity or same entity type. </a:t>
            </a:r>
          </a:p>
          <a:p>
            <a:pPr algn="just"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It assigns a specific value to 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connectivity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There are two types of cardinality:</a:t>
            </a:r>
          </a:p>
          <a:p>
            <a:pPr marL="457200" indent="-228600" algn="just">
              <a:buFontTx/>
              <a:buNone/>
              <a:defRPr/>
            </a:pPr>
            <a:r>
              <a:rPr lang="en-US" sz="2400" dirty="0">
                <a:solidFill>
                  <a:srgbClr val="FFCC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4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a) Minimum Cardinality</a:t>
            </a:r>
          </a:p>
          <a:p>
            <a:pPr marL="457200" indent="-228600" algn="just">
              <a:buFontTx/>
              <a:buNone/>
              <a:defRPr/>
            </a:pPr>
            <a:r>
              <a:rPr lang="en-US" sz="24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b) Maximum Cardinality 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(Cardinality Ratio)</a:t>
            </a:r>
          </a:p>
          <a:p>
            <a:pPr algn="just"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Cardinality of relationship is expressed as: </a:t>
            </a:r>
          </a:p>
          <a:p>
            <a:pPr marL="0" indent="0" algn="just">
              <a:buFontTx/>
              <a:buNone/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4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(min-card, max-card)</a:t>
            </a:r>
          </a:p>
          <a:p>
            <a:pPr algn="just"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Min/Max cardinalities refer to the Min/Max number of entity instances of one entity type that can be associated with the number of entity instances of the other entity or same entity type.</a:t>
            </a:r>
            <a:endParaRPr lang="en-US" sz="2400" dirty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8600" algn="just">
              <a:buFontTx/>
              <a:buNone/>
              <a:defRPr/>
            </a:pPr>
            <a:endParaRPr lang="en-US" sz="2400" dirty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29BA55-CA70-C365-6FC1-DE9889670514}"/>
              </a:ext>
            </a:extLst>
          </p:cNvPr>
          <p:cNvSpPr/>
          <p:nvPr/>
        </p:nvSpPr>
        <p:spPr>
          <a:xfrm>
            <a:off x="395288" y="692150"/>
            <a:ext cx="4321175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609600" indent="-609600">
              <a:spcBef>
                <a:spcPct val="20000"/>
              </a:spcBef>
              <a:defRPr/>
            </a:pPr>
            <a:r>
              <a:rPr lang="en-US" b="1" dirty="0">
                <a:solidFill>
                  <a:srgbClr val="800000"/>
                </a:solidFill>
                <a:latin typeface="Arial" charset="0"/>
              </a:rPr>
              <a:t>Cardinality of a Relationship</a:t>
            </a:r>
            <a:endParaRPr lang="en-US" b="1" kern="0" dirty="0">
              <a:solidFill>
                <a:srgbClr val="800000"/>
              </a:solidFill>
              <a:latin typeface="Arial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572CF7C7-40F9-E6C6-FA65-8D1B3C332AFD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323850" y="506413"/>
            <a:ext cx="5256213" cy="762000"/>
          </a:xfrm>
          <a:noFill/>
        </p:spPr>
        <p:txBody>
          <a:bodyPr/>
          <a:lstStyle/>
          <a:p>
            <a:pPr marL="609600" indent="-609600">
              <a:spcBef>
                <a:spcPct val="20000"/>
              </a:spcBef>
            </a:pPr>
            <a:r>
              <a:rPr lang="en-US" altLang="en-US" sz="2800" b="1">
                <a:solidFill>
                  <a:srgbClr val="800000"/>
                </a:solidFill>
              </a:rPr>
              <a:t>Cardinality of a Relationship</a:t>
            </a:r>
          </a:p>
        </p:txBody>
      </p:sp>
      <p:pic>
        <p:nvPicPr>
          <p:cNvPr id="19459" name="Picture 2">
            <a:extLst>
              <a:ext uri="{FF2B5EF4-FFF2-40B4-BE49-F238E27FC236}">
                <a16:creationId xmlns:a16="http://schemas.microsoft.com/office/drawing/2014/main" id="{F850185B-3E5B-86BB-EBAA-DDDA61695C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340768"/>
            <a:ext cx="8385175" cy="276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5058BB-3AA4-9771-6390-E9E218E0FC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6177" y="4365274"/>
            <a:ext cx="4680520" cy="200332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2263C-1A88-DBF8-4CC4-A33C35E2C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994158FB-F792-766F-8D25-5A46A9B794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188640"/>
            <a:ext cx="8568630" cy="533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b="1" u="sng" dirty="0">
                <a:solidFill>
                  <a:srgbClr val="D34817"/>
                </a:solidFill>
                <a:latin typeface="Calibri" panose="020F0502020204030204" pitchFamily="34" charset="0"/>
              </a:rPr>
              <a:t>Relationship Participation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197C2752-385E-26B7-F1A6-56FBF21EE1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4013" y="692150"/>
            <a:ext cx="8466137" cy="4343400"/>
          </a:xfrm>
        </p:spPr>
        <p:txBody>
          <a:bodyPr/>
          <a:lstStyle/>
          <a:p>
            <a:pPr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Participation of an entity instance in a relationship can be of two types: 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en-US" sz="2400" dirty="0">
                <a:solidFill>
                  <a:srgbClr val="0033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Mandatory or Total Participation (Min Card=1,2,3,…  ): 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Every instance of an entity type must participate in a relationship 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(represented using double line).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en-US" sz="2400" dirty="0">
                <a:solidFill>
                  <a:srgbClr val="0033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 Optional or Partial Participation (Min Card=0):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Some instance of an entity type may not participate in a relationship</a:t>
            </a:r>
          </a:p>
          <a:p>
            <a:pPr marL="228600" indent="-228600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8600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08D8171-1AC1-40C5-89E2-FE5F998D2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802" y="3573016"/>
            <a:ext cx="7036558" cy="14914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8F6E77-7F8B-742E-132E-DB81D73046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5186043"/>
            <a:ext cx="7076363" cy="1483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711226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FE2F2-1748-DD3E-3C7C-5C48D4DF5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C846E7D5-70F2-8384-5986-6215A4966F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188640"/>
            <a:ext cx="8568630" cy="533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b="1" u="sng" dirty="0">
                <a:solidFill>
                  <a:srgbClr val="D34817"/>
                </a:solidFill>
                <a:latin typeface="Calibri" panose="020F0502020204030204" pitchFamily="34" charset="0"/>
              </a:rPr>
              <a:t>Relationship Participation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6AC4F8-4062-F1BC-2501-276BA40328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693" y="722040"/>
            <a:ext cx="8386763" cy="492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Wingdings 2" panose="05020102010507070707" pitchFamily="18" charset="2"/>
              <a:buNone/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The combination of minimum and maximum cardinality generates the following combinations: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spcBef>
                <a:spcPts val="1200"/>
              </a:spcBef>
              <a:buFontTx/>
              <a:buNone/>
              <a:defRPr/>
            </a:pPr>
            <a:r>
              <a:rPr lang="en-US" altLang="en-US" sz="2400" dirty="0">
                <a:solidFill>
                  <a:srgbClr val="0033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a) Mandatory One</a:t>
            </a:r>
          </a:p>
          <a:p>
            <a:pPr marL="0" indent="0" algn="just">
              <a:spcBef>
                <a:spcPts val="1200"/>
              </a:spcBef>
              <a:buFontTx/>
              <a:buNone/>
              <a:defRPr/>
            </a:pPr>
            <a:r>
              <a:rPr lang="en-US" alt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(Min = 1, Max = 1)</a:t>
            </a:r>
          </a:p>
          <a:p>
            <a:pPr marL="0" indent="0" algn="just">
              <a:spcBef>
                <a:spcPts val="1200"/>
              </a:spcBef>
              <a:buFontTx/>
              <a:buNone/>
              <a:defRPr/>
            </a:pPr>
            <a:r>
              <a:rPr lang="en-US" altLang="en-US" sz="2400" dirty="0">
                <a:solidFill>
                  <a:srgbClr val="0033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b) Mandatory Many</a:t>
            </a:r>
          </a:p>
          <a:p>
            <a:pPr marL="0" indent="0" algn="just">
              <a:spcBef>
                <a:spcPts val="1200"/>
              </a:spcBef>
              <a:buFontTx/>
              <a:buNone/>
              <a:defRPr/>
            </a:pPr>
            <a:r>
              <a:rPr lang="en-US" altLang="en-US" sz="2400" dirty="0">
                <a:solidFill>
                  <a:srgbClr val="8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alt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(Min = 1, Max = Many)</a:t>
            </a:r>
          </a:p>
          <a:p>
            <a:pPr marL="0" indent="0" algn="just">
              <a:spcBef>
                <a:spcPts val="1200"/>
              </a:spcBef>
              <a:buFontTx/>
              <a:buNone/>
              <a:defRPr/>
            </a:pPr>
            <a:r>
              <a:rPr lang="en-US" altLang="en-US" sz="2400" dirty="0">
                <a:solidFill>
                  <a:srgbClr val="0033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c) Optional One</a:t>
            </a:r>
          </a:p>
          <a:p>
            <a:pPr marL="0" indent="0" algn="just">
              <a:spcBef>
                <a:spcPts val="1200"/>
              </a:spcBef>
              <a:buFontTx/>
              <a:buNone/>
              <a:defRPr/>
            </a:pPr>
            <a:r>
              <a:rPr lang="en-US" alt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(Min = 0, Max = 1)</a:t>
            </a:r>
          </a:p>
          <a:p>
            <a:pPr marL="0" indent="0" algn="just">
              <a:spcBef>
                <a:spcPts val="1200"/>
              </a:spcBef>
              <a:buFontTx/>
              <a:buNone/>
              <a:defRPr/>
            </a:pPr>
            <a:r>
              <a:rPr lang="en-US" altLang="en-US" sz="2400" dirty="0">
                <a:solidFill>
                  <a:srgbClr val="0033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d) Optional Many</a:t>
            </a:r>
          </a:p>
          <a:p>
            <a:pPr marL="0" indent="0" algn="just">
              <a:spcBef>
                <a:spcPts val="1200"/>
              </a:spcBef>
              <a:buFontTx/>
              <a:buNone/>
              <a:defRPr/>
            </a:pPr>
            <a:r>
              <a:rPr lang="en-US" alt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(Min = 0, Max = Many)</a:t>
            </a:r>
          </a:p>
          <a:p>
            <a:pPr marL="231775" indent="-231775" algn="just">
              <a:defRPr/>
            </a:pPr>
            <a:endParaRPr lang="en-US" dirty="0">
              <a:solidFill>
                <a:srgbClr val="FFCC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09600" indent="-609600" algn="just">
              <a:buFontTx/>
              <a:buNone/>
              <a:defRPr/>
            </a:pPr>
            <a:endParaRPr lang="en-US" dirty="0">
              <a:solidFill>
                <a:srgbClr val="FFCC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3" descr="part_c">
            <a:extLst>
              <a:ext uri="{FF2B5EF4-FFF2-40B4-BE49-F238E27FC236}">
                <a16:creationId xmlns:a16="http://schemas.microsoft.com/office/drawing/2014/main" id="{2A334F1E-2192-5915-5DD9-E7227A488D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1484784"/>
            <a:ext cx="5544616" cy="4161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55022295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FD660-411A-C921-E913-35B75675D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E2B3D043-1F56-1740-AF1C-67133E7876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188640"/>
            <a:ext cx="8568630" cy="533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b="1" u="sng" dirty="0">
                <a:solidFill>
                  <a:srgbClr val="D34817"/>
                </a:solidFill>
                <a:latin typeface="Calibri" panose="020F0502020204030204" pitchFamily="34" charset="0"/>
              </a:rPr>
              <a:t>Relationship Participation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985002-9E48-1AE4-E441-861F5B05B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31" y="980728"/>
            <a:ext cx="8809557" cy="3427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290486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3" descr="C:\My Documents\Course Tech\Artwork\FINAL BMPS CH 04\fig 04-64.jpg">
            <a:extLst>
              <a:ext uri="{FF2B5EF4-FFF2-40B4-BE49-F238E27FC236}">
                <a16:creationId xmlns:a16="http://schemas.microsoft.com/office/drawing/2014/main" id="{CD13DC60-0B4B-C210-41C4-27BCC3072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371600"/>
            <a:ext cx="6681788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79" name="Text Box 4">
            <a:extLst>
              <a:ext uri="{FF2B5EF4-FFF2-40B4-BE49-F238E27FC236}">
                <a16:creationId xmlns:a16="http://schemas.microsoft.com/office/drawing/2014/main" id="{95D14426-493F-278D-A14C-3A2A43CE6F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4325" y="914400"/>
            <a:ext cx="64801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FF00"/>
              </a:buClr>
              <a:buFont typeface="Monotype Sorts" pitchFamily="2" charset="2"/>
              <a:buChar char="4"/>
              <a:defRPr sz="2000" b="1">
                <a:solidFill>
                  <a:srgbClr val="3333CC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FF00"/>
              </a:buClr>
              <a:buSzPct val="80000"/>
              <a:buFont typeface="Monotype Sorts" pitchFamily="2" charset="2"/>
              <a:buChar char="u"/>
              <a:defRPr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FF00"/>
              </a:buClr>
              <a:buSzPct val="75000"/>
              <a:buFont typeface="Monotype Sorts" pitchFamily="2" charset="2"/>
              <a:buChar char="l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>
                <a:latin typeface="Times New Roman" panose="02020603050405020304" pitchFamily="18" charset="0"/>
              </a:rPr>
              <a:t>The Crow’s Foot Representation of the Invoicing Problem</a:t>
            </a:r>
          </a:p>
        </p:txBody>
      </p:sp>
      <p:sp>
        <p:nvSpPr>
          <p:cNvPr id="24580" name="Text Box 5">
            <a:extLst>
              <a:ext uri="{FF2B5EF4-FFF2-40B4-BE49-F238E27FC236}">
                <a16:creationId xmlns:a16="http://schemas.microsoft.com/office/drawing/2014/main" id="{ADF288EE-61D0-D6A6-1376-4083C1D692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2925" y="6086475"/>
            <a:ext cx="1901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FF00"/>
              </a:buClr>
              <a:buFont typeface="Monotype Sorts" pitchFamily="2" charset="2"/>
              <a:buChar char="4"/>
              <a:defRPr sz="2000" b="1">
                <a:solidFill>
                  <a:srgbClr val="3333CC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FF00"/>
              </a:buClr>
              <a:buSzPct val="80000"/>
              <a:buFont typeface="Monotype Sorts" pitchFamily="2" charset="2"/>
              <a:buChar char="u"/>
              <a:defRPr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FF00"/>
              </a:buClr>
              <a:buSzPct val="75000"/>
              <a:buFont typeface="Monotype Sorts" pitchFamily="2" charset="2"/>
              <a:buChar char="l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800">
                <a:latin typeface="Times New Roman" panose="02020603050405020304" pitchFamily="18" charset="0"/>
              </a:rPr>
              <a:t>Figure 4.64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C589A85A-0F63-6D5A-F77B-77497DF2B5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086600" y="76200"/>
            <a:ext cx="2057400" cy="457200"/>
          </a:xfrm>
        </p:spPr>
        <p:txBody>
          <a:bodyPr/>
          <a:lstStyle/>
          <a:p>
            <a:r>
              <a:rPr lang="en-US" altLang="en-US" sz="2400" u="sng">
                <a:solidFill>
                  <a:schemeClr val="tx1"/>
                </a:solidFill>
              </a:rPr>
              <a:t>E-R Model</a:t>
            </a:r>
          </a:p>
        </p:txBody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01A5257A-AABC-E3B5-170B-6BF825468F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4338" y="1196975"/>
            <a:ext cx="8478837" cy="5314950"/>
          </a:xfrm>
        </p:spPr>
        <p:txBody>
          <a:bodyPr/>
          <a:lstStyle/>
          <a:p>
            <a:pPr algn="just">
              <a:defRPr/>
            </a:pPr>
            <a:r>
              <a:rPr lang="en-US" sz="2400" dirty="0"/>
              <a:t>The way an entity is involved in a relationship is called the role of the entity in the relationship. These details provide more semantics of the database. </a:t>
            </a:r>
          </a:p>
          <a:p>
            <a:pPr algn="just">
              <a:defRPr/>
            </a:pPr>
            <a:r>
              <a:rPr lang="en-US" sz="2400" dirty="0"/>
              <a:t>The role is generally clear from the relationship, but in some cases it is necessary to mention the role explicitly.</a:t>
            </a:r>
          </a:p>
          <a:p>
            <a:pPr algn="just">
              <a:defRPr/>
            </a:pPr>
            <a:r>
              <a:rPr lang="en-US" sz="2400" dirty="0"/>
              <a:t>Two situations to mention the role explicitly are: </a:t>
            </a:r>
          </a:p>
          <a:p>
            <a:pPr marL="800100" indent="-393700" algn="just">
              <a:buFont typeface="Wingdings" pitchFamily="2" charset="2"/>
              <a:buAutoNum type="alphaLcParenR"/>
              <a:defRPr/>
            </a:pPr>
            <a:r>
              <a:rPr lang="en-US" sz="2400" dirty="0">
                <a:solidFill>
                  <a:schemeClr val="accent6"/>
                </a:solidFill>
              </a:rPr>
              <a:t>Recursive or Self-Referencing Relationships</a:t>
            </a:r>
          </a:p>
          <a:p>
            <a:pPr marL="800100" indent="-393700" algn="just">
              <a:buFont typeface="Wingdings" pitchFamily="2" charset="2"/>
              <a:buAutoNum type="alphaLcParenR"/>
              <a:defRPr/>
            </a:pPr>
            <a:r>
              <a:rPr lang="en-US" sz="2400" dirty="0">
                <a:solidFill>
                  <a:schemeClr val="accent6"/>
                </a:solidFill>
              </a:rPr>
              <a:t>Multiple Relationships</a:t>
            </a:r>
          </a:p>
          <a:p>
            <a:pPr marL="228600" indent="-228600" algn="just">
              <a:defRPr/>
            </a:pPr>
            <a:r>
              <a:rPr lang="en-US" sz="2400" dirty="0"/>
              <a:t>There exists multiple relationships between the same pair of entities. </a:t>
            </a:r>
            <a:endParaRPr lang="en-US" sz="2400" dirty="0">
              <a:solidFill>
                <a:schemeClr val="accent6"/>
              </a:solidFill>
            </a:endParaRPr>
          </a:p>
        </p:txBody>
      </p:sp>
      <p:sp>
        <p:nvSpPr>
          <p:cNvPr id="25604" name="Rectangle 1">
            <a:extLst>
              <a:ext uri="{FF2B5EF4-FFF2-40B4-BE49-F238E27FC236}">
                <a16:creationId xmlns:a16="http://schemas.microsoft.com/office/drawing/2014/main" id="{90A3EAE4-484D-5D0F-8177-5C59C26BD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722313"/>
            <a:ext cx="34813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609600" indent="-609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2400" b="1">
                <a:solidFill>
                  <a:srgbClr val="800000"/>
                </a:solidFill>
              </a:rPr>
              <a:t>Roles in Relationships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72E08DF2-A6CB-C2DB-B3AD-BD52327113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086600" y="76200"/>
            <a:ext cx="2057400" cy="457200"/>
          </a:xfrm>
        </p:spPr>
        <p:txBody>
          <a:bodyPr/>
          <a:lstStyle/>
          <a:p>
            <a:r>
              <a:rPr lang="en-US" altLang="en-US" sz="2400" u="sng">
                <a:solidFill>
                  <a:schemeClr val="tx1"/>
                </a:solidFill>
              </a:rPr>
              <a:t>E-R Model</a:t>
            </a:r>
          </a:p>
        </p:txBody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1C911D3A-5287-A54C-D5EC-96CBCEE4C5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4338" y="1196975"/>
            <a:ext cx="8478837" cy="5314950"/>
          </a:xfrm>
        </p:spPr>
        <p:txBody>
          <a:bodyPr/>
          <a:lstStyle/>
          <a:p>
            <a:pPr marL="0" indent="0" algn="just">
              <a:buFontTx/>
              <a:buNone/>
              <a:defRPr/>
            </a:pPr>
            <a:endParaRPr lang="en-US" sz="2000" dirty="0">
              <a:solidFill>
                <a:schemeClr val="accent6"/>
              </a:solidFill>
            </a:endParaRPr>
          </a:p>
        </p:txBody>
      </p:sp>
      <p:sp>
        <p:nvSpPr>
          <p:cNvPr id="27652" name="Rectangle 1">
            <a:extLst>
              <a:ext uri="{FF2B5EF4-FFF2-40B4-BE49-F238E27FC236}">
                <a16:creationId xmlns:a16="http://schemas.microsoft.com/office/drawing/2014/main" id="{07A100AC-1E7F-A6BA-57B6-87A3BFC94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722313"/>
            <a:ext cx="34813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609600" indent="-609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2400" b="1">
                <a:solidFill>
                  <a:srgbClr val="800000"/>
                </a:solidFill>
              </a:rPr>
              <a:t>Roles in Relationships</a:t>
            </a:r>
          </a:p>
        </p:txBody>
      </p:sp>
      <p:pic>
        <p:nvPicPr>
          <p:cNvPr id="27653" name="Picture 5">
            <a:extLst>
              <a:ext uri="{FF2B5EF4-FFF2-40B4-BE49-F238E27FC236}">
                <a16:creationId xmlns:a16="http://schemas.microsoft.com/office/drawing/2014/main" id="{65CF83A7-97E2-70F0-11EA-543D8FE70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38" y="1916113"/>
            <a:ext cx="8466137" cy="377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4BE7F737-A05B-AEBB-89CC-3EB85945C4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086600" y="76200"/>
            <a:ext cx="2057400" cy="457200"/>
          </a:xfrm>
        </p:spPr>
        <p:txBody>
          <a:bodyPr/>
          <a:lstStyle/>
          <a:p>
            <a:r>
              <a:rPr lang="en-US" altLang="en-US" sz="2400" u="sng">
                <a:solidFill>
                  <a:schemeClr val="tx1"/>
                </a:solidFill>
              </a:rPr>
              <a:t>E-R Model</a:t>
            </a:r>
          </a:p>
        </p:txBody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20731CF7-8B7A-6530-A948-5871BE6A11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1313" y="1208088"/>
            <a:ext cx="8478837" cy="5316537"/>
          </a:xfrm>
        </p:spPr>
        <p:txBody>
          <a:bodyPr/>
          <a:lstStyle/>
          <a:p>
            <a:pPr algn="just">
              <a:defRPr/>
            </a:pPr>
            <a:r>
              <a:rPr lang="en-US" sz="2400" dirty="0"/>
              <a:t>Along with entities of an ERD, a relationship can also have its attribute(s) called </a:t>
            </a:r>
            <a:r>
              <a:rPr lang="en-US" sz="2400" dirty="0">
                <a:solidFill>
                  <a:schemeClr val="accent6"/>
                </a:solidFill>
              </a:rPr>
              <a:t>descriptive attribute(s).</a:t>
            </a:r>
          </a:p>
          <a:p>
            <a:pPr algn="just">
              <a:defRPr/>
            </a:pPr>
            <a:r>
              <a:rPr lang="en-US" sz="2400" dirty="0"/>
              <a:t>The value of an attribute of a relationship jointly determined by the participants.</a:t>
            </a:r>
          </a:p>
          <a:p>
            <a:pPr algn="just">
              <a:defRPr/>
            </a:pPr>
            <a:endParaRPr lang="en-US" sz="2400" dirty="0">
              <a:solidFill>
                <a:schemeClr val="accent6"/>
              </a:solidFill>
            </a:endParaRPr>
          </a:p>
          <a:p>
            <a:pPr marL="609600" indent="-609600">
              <a:defRPr/>
            </a:pPr>
            <a:endParaRPr lang="en-US" sz="2400" dirty="0">
              <a:solidFill>
                <a:srgbClr val="800000"/>
              </a:solidFill>
            </a:endParaRPr>
          </a:p>
        </p:txBody>
      </p:sp>
      <p:sp>
        <p:nvSpPr>
          <p:cNvPr id="29700" name="Rectangle 1">
            <a:extLst>
              <a:ext uri="{FF2B5EF4-FFF2-40B4-BE49-F238E27FC236}">
                <a16:creationId xmlns:a16="http://schemas.microsoft.com/office/drawing/2014/main" id="{D4196198-659A-EB18-D227-0BE495CB98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300" y="692150"/>
            <a:ext cx="426911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609600" indent="-609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rgbClr val="800000"/>
                </a:solidFill>
              </a:rPr>
              <a:t>Attribute(s) of Relationship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9DC3EE-CC91-949E-128E-4202378EF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69" y="4653136"/>
            <a:ext cx="8304396" cy="1303185"/>
          </a:xfrm>
          <a:prstGeom prst="rect">
            <a:avLst/>
          </a:prstGeom>
        </p:spPr>
      </p:pic>
      <p:sp>
        <p:nvSpPr>
          <p:cNvPr id="8" name="Oval 20">
            <a:extLst>
              <a:ext uri="{FF2B5EF4-FFF2-40B4-BE49-F238E27FC236}">
                <a16:creationId xmlns:a16="http://schemas.microsoft.com/office/drawing/2014/main" id="{EE348512-BFC8-D087-03E7-1228433DF1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888" y="3140968"/>
            <a:ext cx="1905000" cy="914400"/>
          </a:xfrm>
          <a:prstGeom prst="ellipse">
            <a:avLst/>
          </a:prstGeom>
          <a:solidFill>
            <a:srgbClr val="33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dirty="0"/>
              <a:t>Grade</a:t>
            </a:r>
          </a:p>
        </p:txBody>
      </p:sp>
      <p:cxnSp>
        <p:nvCxnSpPr>
          <p:cNvPr id="9" name="AutoShape 23">
            <a:extLst>
              <a:ext uri="{FF2B5EF4-FFF2-40B4-BE49-F238E27FC236}">
                <a16:creationId xmlns:a16="http://schemas.microsoft.com/office/drawing/2014/main" id="{04D3FA8D-E355-4136-1FBB-CA69BC479AF7}"/>
              </a:ext>
            </a:extLst>
          </p:cNvPr>
          <p:cNvCxnSpPr>
            <a:cxnSpLocks noChangeShapeType="1"/>
            <a:stCxn id="8" idx="4"/>
          </p:cNvCxnSpPr>
          <p:nvPr/>
        </p:nvCxnSpPr>
        <p:spPr bwMode="auto">
          <a:xfrm>
            <a:off x="4516388" y="4055368"/>
            <a:ext cx="0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4171284226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Rectangle 3">
            <a:extLst>
              <a:ext uri="{FF2B5EF4-FFF2-40B4-BE49-F238E27FC236}">
                <a16:creationId xmlns:a16="http://schemas.microsoft.com/office/drawing/2014/main" id="{20731CF7-8B7A-6530-A948-5871BE6A11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1313" y="1208088"/>
            <a:ext cx="8407151" cy="5316537"/>
          </a:xfrm>
        </p:spPr>
        <p:txBody>
          <a:bodyPr/>
          <a:lstStyle/>
          <a:p>
            <a:pPr algn="just">
              <a:spcBef>
                <a:spcPts val="300"/>
              </a:spcBef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An instance of one entity can’t exist without the existence of some other related entity. </a:t>
            </a:r>
          </a:p>
          <a:p>
            <a:pPr algn="just">
              <a:spcBef>
                <a:spcPts val="300"/>
              </a:spcBef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An entity having an existence dependency is referred as </a:t>
            </a:r>
            <a:r>
              <a:rPr lang="en-US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Weak Entity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(also called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child, dependent, or subordinate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entity) and it may optionally be represented  by double rectangle.</a:t>
            </a:r>
          </a:p>
          <a:p>
            <a:pPr algn="just">
              <a:spcBef>
                <a:spcPts val="300"/>
              </a:spcBef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An entity without an existence dependency is referred as </a:t>
            </a:r>
            <a:r>
              <a:rPr lang="en-US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Strong Entity (also called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parent, owner, regular, or dominant entity).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609600" indent="-609600">
              <a:spcBef>
                <a:spcPts val="300"/>
              </a:spcBef>
              <a:defRPr/>
            </a:pPr>
            <a:endParaRPr lang="en-US" dirty="0">
              <a:solidFill>
                <a:srgbClr val="8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700" name="Rectangle 1">
            <a:extLst>
              <a:ext uri="{FF2B5EF4-FFF2-40B4-BE49-F238E27FC236}">
                <a16:creationId xmlns:a16="http://schemas.microsoft.com/office/drawing/2014/main" id="{D4196198-659A-EB18-D227-0BE495CB98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300" y="692150"/>
            <a:ext cx="556678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609600" indent="-609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rgbClr val="800000"/>
                </a:solidFill>
              </a:rPr>
              <a:t>Existence Dependency (Weak Entity)</a:t>
            </a:r>
          </a:p>
        </p:txBody>
      </p:sp>
      <p:sp>
        <p:nvSpPr>
          <p:cNvPr id="2" name="Rectangle 11">
            <a:extLst>
              <a:ext uri="{FF2B5EF4-FFF2-40B4-BE49-F238E27FC236}">
                <a16:creationId xmlns:a16="http://schemas.microsoft.com/office/drawing/2014/main" id="{CB25ACB4-05BE-8697-9A5D-7057043D7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2280" y="404664"/>
            <a:ext cx="1563960" cy="698500"/>
          </a:xfrm>
          <a:prstGeom prst="rect">
            <a:avLst/>
          </a:prstGeom>
          <a:solidFill>
            <a:srgbClr val="FF99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bg2"/>
                </a:solidFill>
                <a:latin typeface="Times New Roman" panose="02020603050405020304" pitchFamily="18" charset="0"/>
              </a:rPr>
              <a:t>Strong</a:t>
            </a:r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D6ACB9A2-6B28-47C1-2236-087D911D60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2632" y="526926"/>
            <a:ext cx="1371600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Weak Entity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Rectangle 3">
            <a:extLst>
              <a:ext uri="{FF2B5EF4-FFF2-40B4-BE49-F238E27FC236}">
                <a16:creationId xmlns:a16="http://schemas.microsoft.com/office/drawing/2014/main" id="{92C56C9F-28D9-DBC9-52C2-5D6F98D08B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1313" y="1208088"/>
            <a:ext cx="8478837" cy="5316537"/>
          </a:xfrm>
        </p:spPr>
        <p:txBody>
          <a:bodyPr/>
          <a:lstStyle/>
          <a:p>
            <a:pPr marL="0" indent="0" algn="just">
              <a:buFontTx/>
              <a:buNone/>
              <a:defRPr/>
            </a:pPr>
            <a:r>
              <a:rPr lang="en-US" sz="2400" b="1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a) Strong or Identifying Relationships</a:t>
            </a:r>
          </a:p>
          <a:p>
            <a:pPr algn="just"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Weak entities often don’t have its own primary key, and it is unique only in reference to its relationship to its owner.</a:t>
            </a:r>
          </a:p>
          <a:p>
            <a:pPr algn="just"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However, a weak entity has a partial key, also called a 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discriminator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and the PK of the parent entity is used as part of the PK of the weak (child) entity. </a:t>
            </a:r>
          </a:p>
          <a:p>
            <a:pPr marL="400050" lvl="1" indent="0">
              <a:buFontTx/>
              <a:buNone/>
              <a:defRPr/>
            </a:pPr>
            <a:endParaRPr lang="en-US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0050" lvl="1" indent="0">
              <a:buFontTx/>
              <a:buNone/>
              <a:defRPr/>
            </a:pPr>
            <a:endParaRPr lang="en-US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724" name="Rectangle 1">
            <a:extLst>
              <a:ext uri="{FF2B5EF4-FFF2-40B4-BE49-F238E27FC236}">
                <a16:creationId xmlns:a16="http://schemas.microsoft.com/office/drawing/2014/main" id="{D46DDDBB-07FC-0852-E5BC-966DCF8BE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300" y="692150"/>
            <a:ext cx="33797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609600" indent="-609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800000"/>
                </a:solidFill>
              </a:rPr>
              <a:t>Relationship Strength</a:t>
            </a:r>
          </a:p>
        </p:txBody>
      </p:sp>
      <p:pic>
        <p:nvPicPr>
          <p:cNvPr id="30725" name="Picture 1">
            <a:extLst>
              <a:ext uri="{FF2B5EF4-FFF2-40B4-BE49-F238E27FC236}">
                <a16:creationId xmlns:a16="http://schemas.microsoft.com/office/drawing/2014/main" id="{1872F3A1-4EC6-6B6A-5543-1A6A8D6EBA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713" y="3645024"/>
            <a:ext cx="8410575" cy="294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AutoShape 8">
            <a:extLst>
              <a:ext uri="{FF2B5EF4-FFF2-40B4-BE49-F238E27FC236}">
                <a16:creationId xmlns:a16="http://schemas.microsoft.com/office/drawing/2014/main" id="{0278DB99-ED95-6E40-C514-93165DCDA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248" y="137319"/>
            <a:ext cx="1295400" cy="1109662"/>
          </a:xfrm>
          <a:prstGeom prst="diamond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" name="AutoShape 9">
            <a:extLst>
              <a:ext uri="{FF2B5EF4-FFF2-40B4-BE49-F238E27FC236}">
                <a16:creationId xmlns:a16="http://schemas.microsoft.com/office/drawing/2014/main" id="{3E858B69-6A26-B5DB-D6D5-F991EEA993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5373" y="234156"/>
            <a:ext cx="1066800" cy="914400"/>
          </a:xfrm>
          <a:prstGeom prst="diamond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 dirty="0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A3D947B0-4CF2-AA61-40FA-183E552278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086600" y="76200"/>
            <a:ext cx="2057400" cy="457200"/>
          </a:xfrm>
        </p:spPr>
        <p:txBody>
          <a:bodyPr/>
          <a:lstStyle/>
          <a:p>
            <a:r>
              <a:rPr lang="en-US" altLang="en-US" sz="2400" u="sng">
                <a:solidFill>
                  <a:schemeClr val="tx1"/>
                </a:solidFill>
              </a:rPr>
              <a:t>E-R Model</a:t>
            </a:r>
          </a:p>
        </p:txBody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35FC86AC-A98F-E7EA-A2B8-F1311DA584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1313" y="1208088"/>
            <a:ext cx="8478837" cy="5316537"/>
          </a:xfrm>
        </p:spPr>
        <p:txBody>
          <a:bodyPr/>
          <a:lstStyle/>
          <a:p>
            <a:pPr marL="0" indent="0" algn="just">
              <a:buFontTx/>
              <a:buNone/>
              <a:defRPr/>
            </a:pPr>
            <a:r>
              <a:rPr lang="en-US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b) Weak or Non-Identifying Relationships</a:t>
            </a:r>
          </a:p>
          <a:p>
            <a:pPr algn="just"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It is a relationship between two regular entities, where primary keys of the related entities are disjoint. </a:t>
            </a:r>
          </a:p>
          <a:p>
            <a:pPr algn="just">
              <a:defRPr/>
            </a:pPr>
            <a:endParaRPr lang="en-US" dirty="0">
              <a:solidFill>
                <a:srgbClr val="8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defRPr/>
            </a:pPr>
            <a:endParaRPr lang="en-US" dirty="0">
              <a:solidFill>
                <a:srgbClr val="8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748" name="Rectangle 1">
            <a:extLst>
              <a:ext uri="{FF2B5EF4-FFF2-40B4-BE49-F238E27FC236}">
                <a16:creationId xmlns:a16="http://schemas.microsoft.com/office/drawing/2014/main" id="{7A3E8B24-6464-C6B5-DD63-A0A253337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300" y="692150"/>
            <a:ext cx="33797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609600" indent="-609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rgbClr val="800000"/>
                </a:solidFill>
              </a:rPr>
              <a:t>Relationship Strength</a:t>
            </a:r>
          </a:p>
        </p:txBody>
      </p:sp>
      <p:pic>
        <p:nvPicPr>
          <p:cNvPr id="31749" name="Picture 1">
            <a:extLst>
              <a:ext uri="{FF2B5EF4-FFF2-40B4-BE49-F238E27FC236}">
                <a16:creationId xmlns:a16="http://schemas.microsoft.com/office/drawing/2014/main" id="{EB6E4BFB-3001-8C08-389D-33991F7621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575" y="2780928"/>
            <a:ext cx="8410575" cy="322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0B27F-9B89-8CDA-D6DB-BCCB1CB9A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2F11EC57-FAF7-203F-D40A-5797CD028C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552" y="188640"/>
            <a:ext cx="6466857" cy="533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2400" b="1" u="sng" dirty="0">
                <a:solidFill>
                  <a:srgbClr val="D34817"/>
                </a:solidFill>
                <a:latin typeface="Calibri" panose="020F0502020204030204" pitchFamily="34" charset="0"/>
              </a:rPr>
              <a:t>Weak Entity, Identifying Relationship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79AF3B07-A69F-E417-89BD-CC0EE2942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504" y="2200151"/>
            <a:ext cx="1828800" cy="8382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/>
              <a:t>EMPLOYEE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5F45DCC4-2FCE-32E0-7CFD-88045AEBBBA1}"/>
              </a:ext>
            </a:extLst>
          </p:cNvPr>
          <p:cNvGrpSpPr>
            <a:grpSpLocks/>
          </p:cNvGrpSpPr>
          <p:nvPr/>
        </p:nvGrpSpPr>
        <p:grpSpPr bwMode="auto">
          <a:xfrm>
            <a:off x="6289104" y="2181101"/>
            <a:ext cx="1905000" cy="933450"/>
            <a:chOff x="3360" y="3492"/>
            <a:chExt cx="1200" cy="588"/>
          </a:xfrm>
          <a:solidFill>
            <a:schemeClr val="bg1">
              <a:lumMod val="65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E9BC036-B5CB-BC08-D7FB-4D3F09C228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3492"/>
              <a:ext cx="1200" cy="58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ENTITY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DE3DCD2-BDC5-51B2-E71B-904F0696E5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3539"/>
              <a:ext cx="1104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 dirty="0"/>
                <a:t>DEPENDENT</a:t>
              </a:r>
            </a:p>
          </p:txBody>
        </p:sp>
      </p:grpSp>
      <p:cxnSp>
        <p:nvCxnSpPr>
          <p:cNvPr id="8" name="AutoShape 7">
            <a:extLst>
              <a:ext uri="{FF2B5EF4-FFF2-40B4-BE49-F238E27FC236}">
                <a16:creationId xmlns:a16="http://schemas.microsoft.com/office/drawing/2014/main" id="{810C1F14-8B03-E575-4B91-BB5DF5801C90}"/>
              </a:ext>
            </a:extLst>
          </p:cNvPr>
          <p:cNvCxnSpPr>
            <a:cxnSpLocks noChangeShapeType="1"/>
            <a:stCxn id="2" idx="3"/>
            <a:endCxn id="7" idx="1"/>
          </p:cNvCxnSpPr>
          <p:nvPr/>
        </p:nvCxnSpPr>
        <p:spPr bwMode="auto">
          <a:xfrm>
            <a:off x="2555304" y="2619251"/>
            <a:ext cx="3810000" cy="17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AutoShape 8">
            <a:extLst>
              <a:ext uri="{FF2B5EF4-FFF2-40B4-BE49-F238E27FC236}">
                <a16:creationId xmlns:a16="http://schemas.microsoft.com/office/drawing/2014/main" id="{1770C0AD-27EC-12BD-409E-E4B2956240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3379" y="2103314"/>
            <a:ext cx="1295400" cy="1109662"/>
          </a:xfrm>
          <a:prstGeom prst="diamond">
            <a:avLst/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0" name="AutoShape 9">
            <a:extLst>
              <a:ext uri="{FF2B5EF4-FFF2-40B4-BE49-F238E27FC236}">
                <a16:creationId xmlns:a16="http://schemas.microsoft.com/office/drawing/2014/main" id="{621B74BF-2478-22A3-769B-AB34B920A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4504" y="2200151"/>
            <a:ext cx="1066800" cy="914400"/>
          </a:xfrm>
          <a:prstGeom prst="diamond">
            <a:avLst/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/>
              <a:t>Has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4DAAF55-6528-8B58-D4F5-05A254200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204" y="904751"/>
            <a:ext cx="1409700" cy="4572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u="sng" dirty="0" err="1"/>
              <a:t>Empno</a:t>
            </a:r>
            <a:endParaRPr lang="en-US" altLang="en-US" sz="1800" u="sng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A10ACA1-DD11-CA8A-19C4-85A6001366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4852" y="905297"/>
            <a:ext cx="1409700" cy="47783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dirty="0" err="1"/>
              <a:t>Ename</a:t>
            </a:r>
            <a:endParaRPr lang="en-US" altLang="en-US" sz="18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18BE4A7-F281-9BE1-6089-630DBD1F6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3504" y="904751"/>
            <a:ext cx="1905000" cy="55403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dirty="0" err="1"/>
              <a:t>Date_of_Birth</a:t>
            </a:r>
            <a:endParaRPr lang="en-US" altLang="en-US" sz="18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BFAA43F-7CC3-4E1D-BF51-84055537E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0304" y="904751"/>
            <a:ext cx="2286000" cy="65087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u="sng" dirty="0" err="1"/>
              <a:t>Dependent_Name</a:t>
            </a:r>
            <a:endParaRPr lang="en-US" altLang="en-US" sz="1800" u="sng" dirty="0"/>
          </a:p>
        </p:txBody>
      </p:sp>
      <p:sp>
        <p:nvSpPr>
          <p:cNvPr id="15" name="Line 14">
            <a:extLst>
              <a:ext uri="{FF2B5EF4-FFF2-40B4-BE49-F238E27FC236}">
                <a16:creationId xmlns:a16="http://schemas.microsoft.com/office/drawing/2014/main" id="{3C0387A3-F3F4-440C-9BF6-3A99F67AA4C9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6720" y="1408807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6" name="AutoShape 15">
            <a:extLst>
              <a:ext uri="{FF2B5EF4-FFF2-40B4-BE49-F238E27FC236}">
                <a16:creationId xmlns:a16="http://schemas.microsoft.com/office/drawing/2014/main" id="{45DFCD45-07C5-829A-214E-70640EC9DAE1}"/>
              </a:ext>
            </a:extLst>
          </p:cNvPr>
          <p:cNvCxnSpPr>
            <a:cxnSpLocks noChangeShapeType="1"/>
            <a:stCxn id="2" idx="0"/>
            <a:endCxn id="12" idx="4"/>
          </p:cNvCxnSpPr>
          <p:nvPr/>
        </p:nvCxnSpPr>
        <p:spPr bwMode="auto">
          <a:xfrm flipV="1">
            <a:off x="1640904" y="1383134"/>
            <a:ext cx="1348798" cy="81701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AutoShape 16">
            <a:extLst>
              <a:ext uri="{FF2B5EF4-FFF2-40B4-BE49-F238E27FC236}">
                <a16:creationId xmlns:a16="http://schemas.microsoft.com/office/drawing/2014/main" id="{DB77D0D5-98B5-03CE-9DAF-F9B5CE9CB48D}"/>
              </a:ext>
            </a:extLst>
          </p:cNvPr>
          <p:cNvCxnSpPr>
            <a:cxnSpLocks noChangeShapeType="1"/>
            <a:stCxn id="2" idx="0"/>
            <a:endCxn id="11" idx="4"/>
          </p:cNvCxnSpPr>
          <p:nvPr/>
        </p:nvCxnSpPr>
        <p:spPr bwMode="auto">
          <a:xfrm flipH="1" flipV="1">
            <a:off x="1317054" y="1361951"/>
            <a:ext cx="323850" cy="838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AutoShape 17">
            <a:extLst>
              <a:ext uri="{FF2B5EF4-FFF2-40B4-BE49-F238E27FC236}">
                <a16:creationId xmlns:a16="http://schemas.microsoft.com/office/drawing/2014/main" id="{02258701-F9E3-5413-F5E6-F39F65ADD89A}"/>
              </a:ext>
            </a:extLst>
          </p:cNvPr>
          <p:cNvCxnSpPr>
            <a:cxnSpLocks noChangeShapeType="1"/>
            <a:stCxn id="7" idx="0"/>
            <a:endCxn id="14" idx="4"/>
          </p:cNvCxnSpPr>
          <p:nvPr/>
        </p:nvCxnSpPr>
        <p:spPr bwMode="auto">
          <a:xfrm flipH="1" flipV="1">
            <a:off x="5603304" y="1555626"/>
            <a:ext cx="1638300" cy="7000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AutoShape 18">
            <a:extLst>
              <a:ext uri="{FF2B5EF4-FFF2-40B4-BE49-F238E27FC236}">
                <a16:creationId xmlns:a16="http://schemas.microsoft.com/office/drawing/2014/main" id="{F1B3A05E-AF72-C956-22D8-02633F98CB6D}"/>
              </a:ext>
            </a:extLst>
          </p:cNvPr>
          <p:cNvCxnSpPr>
            <a:cxnSpLocks noChangeShapeType="1"/>
            <a:stCxn id="7" idx="0"/>
            <a:endCxn id="13" idx="4"/>
          </p:cNvCxnSpPr>
          <p:nvPr/>
        </p:nvCxnSpPr>
        <p:spPr bwMode="auto">
          <a:xfrm flipV="1">
            <a:off x="7241604" y="1458789"/>
            <a:ext cx="914400" cy="7969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20285B8B-F137-5673-6185-1B8094D91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3658199"/>
            <a:ext cx="8035472" cy="2723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481626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 descr="FIG4-16">
            <a:extLst>
              <a:ext uri="{FF2B5EF4-FFF2-40B4-BE49-F238E27FC236}">
                <a16:creationId xmlns:a16="http://schemas.microsoft.com/office/drawing/2014/main" id="{F1666981-B94A-3D86-FBC5-F0BD4B111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754063"/>
            <a:ext cx="8382000" cy="577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5" name="Text Box 3">
            <a:extLst>
              <a:ext uri="{FF2B5EF4-FFF2-40B4-BE49-F238E27FC236}">
                <a16:creationId xmlns:a16="http://schemas.microsoft.com/office/drawing/2014/main" id="{148D1566-E1ED-7F5A-B073-7CF9CB83F9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79413"/>
            <a:ext cx="48926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800000"/>
                </a:solidFill>
              </a:rPr>
              <a:t>ERD segment for class scheduling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20C1775F-E8CB-82F9-F458-F4B1F2AC69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67600" y="152400"/>
            <a:ext cx="1676400" cy="457200"/>
          </a:xfrm>
        </p:spPr>
        <p:txBody>
          <a:bodyPr/>
          <a:lstStyle/>
          <a:p>
            <a:r>
              <a:rPr lang="en-US" altLang="en-US" sz="2000" u="sng">
                <a:solidFill>
                  <a:schemeClr val="tx1"/>
                </a:solidFill>
              </a:rPr>
              <a:t>E-R Model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D2615DAF-DA70-6D56-B483-3465B8C7D0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412162" cy="4752975"/>
          </a:xfrm>
        </p:spPr>
        <p:txBody>
          <a:bodyPr/>
          <a:lstStyle/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/>
              <a:t>It refers to the number of entities participating in a relationship. 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/>
              <a:t>There can be following types of relationships on the basis of degree: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sz="2400" dirty="0"/>
              <a:t>	</a:t>
            </a:r>
            <a:r>
              <a:rPr lang="en-US" sz="2400" dirty="0">
                <a:solidFill>
                  <a:schemeClr val="accent6"/>
                </a:solidFill>
              </a:rPr>
              <a:t>a) Unary Relationship</a:t>
            </a:r>
            <a:r>
              <a:rPr lang="en-US" sz="2400" dirty="0">
                <a:solidFill>
                  <a:srgbClr val="800000"/>
                </a:solidFill>
              </a:rPr>
              <a:t> </a:t>
            </a:r>
            <a:r>
              <a:rPr lang="en-US" sz="2400" dirty="0"/>
              <a:t>(relationship between the instances of a single entity type) </a:t>
            </a:r>
            <a:endParaRPr lang="en-US" sz="2400" dirty="0">
              <a:solidFill>
                <a:srgbClr val="800000"/>
              </a:solidFill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sz="2400" dirty="0">
                <a:solidFill>
                  <a:srgbClr val="800000"/>
                </a:solidFill>
              </a:rPr>
              <a:t>	</a:t>
            </a:r>
            <a:r>
              <a:rPr lang="en-US" sz="2400" dirty="0">
                <a:solidFill>
                  <a:schemeClr val="accent6"/>
                </a:solidFill>
              </a:rPr>
              <a:t>b) Binary Relationship</a:t>
            </a:r>
            <a:r>
              <a:rPr lang="en-US" sz="2400" dirty="0">
                <a:solidFill>
                  <a:srgbClr val="800000"/>
                </a:solidFill>
              </a:rPr>
              <a:t> </a:t>
            </a:r>
            <a:r>
              <a:rPr lang="en-US" sz="2400" dirty="0"/>
              <a:t>(---- Two----)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sz="2400" dirty="0">
                <a:solidFill>
                  <a:srgbClr val="800000"/>
                </a:solidFill>
              </a:rPr>
              <a:t>	</a:t>
            </a:r>
            <a:r>
              <a:rPr lang="en-US" sz="2400" dirty="0">
                <a:solidFill>
                  <a:schemeClr val="accent6"/>
                </a:solidFill>
              </a:rPr>
              <a:t>c) Ternary Relationship</a:t>
            </a:r>
            <a:r>
              <a:rPr lang="en-US" sz="2400" dirty="0">
                <a:solidFill>
                  <a:srgbClr val="800000"/>
                </a:solidFill>
              </a:rPr>
              <a:t> </a:t>
            </a:r>
            <a:r>
              <a:rPr lang="en-US" sz="2400" dirty="0"/>
              <a:t>(---- Three ----)</a:t>
            </a:r>
          </a:p>
          <a:p>
            <a:pPr algn="just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Tx/>
              <a:buNone/>
              <a:defRPr/>
            </a:pPr>
            <a:endParaRPr lang="en-US" sz="2400" dirty="0">
              <a:solidFill>
                <a:srgbClr val="800000"/>
              </a:solidFill>
            </a:endParaRPr>
          </a:p>
          <a:p>
            <a:pPr marL="609600" indent="-609600" algn="just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Tx/>
              <a:buNone/>
              <a:defRPr/>
            </a:pPr>
            <a:endParaRPr lang="en-US" sz="2400" dirty="0">
              <a:solidFill>
                <a:srgbClr val="FFCC00"/>
              </a:solidFill>
            </a:endParaRPr>
          </a:p>
        </p:txBody>
      </p:sp>
      <p:sp>
        <p:nvSpPr>
          <p:cNvPr id="34820" name="Rectangle 2">
            <a:extLst>
              <a:ext uri="{FF2B5EF4-FFF2-40B4-BE49-F238E27FC236}">
                <a16:creationId xmlns:a16="http://schemas.microsoft.com/office/drawing/2014/main" id="{C33AA8FC-EBC7-4E81-61BF-624F38A62C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666750"/>
            <a:ext cx="367823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609600" indent="-609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800000"/>
                </a:solidFill>
              </a:rPr>
              <a:t>Degree of Relationship</a:t>
            </a: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E3F8C5C3-AFCA-BE58-9151-1309682246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67600" y="152400"/>
            <a:ext cx="1676400" cy="457200"/>
          </a:xfrm>
        </p:spPr>
        <p:txBody>
          <a:bodyPr/>
          <a:lstStyle/>
          <a:p>
            <a:r>
              <a:rPr lang="en-US" altLang="en-US" sz="2000" u="sng">
                <a:solidFill>
                  <a:schemeClr val="tx1"/>
                </a:solidFill>
              </a:rPr>
              <a:t>E-R Model</a:t>
            </a: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57584D1B-4A71-90B8-62AF-E476FA8049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666750"/>
            <a:ext cx="367823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609600" indent="-609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800000"/>
                </a:solidFill>
              </a:rPr>
              <a:t>Degree of Relationship</a:t>
            </a:r>
          </a:p>
        </p:txBody>
      </p:sp>
      <p:pic>
        <p:nvPicPr>
          <p:cNvPr id="35844" name="Picture 1">
            <a:extLst>
              <a:ext uri="{FF2B5EF4-FFF2-40B4-BE49-F238E27FC236}">
                <a16:creationId xmlns:a16="http://schemas.microsoft.com/office/drawing/2014/main" id="{B0F6B319-2D17-960E-5ADC-8304B77DA0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713" y="306388"/>
            <a:ext cx="8410575" cy="624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EDA8D9A2-301A-4D28-02DF-06E66942FC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67600" y="152400"/>
            <a:ext cx="1676400" cy="457200"/>
          </a:xfrm>
        </p:spPr>
        <p:txBody>
          <a:bodyPr/>
          <a:lstStyle/>
          <a:p>
            <a:r>
              <a:rPr lang="en-US" altLang="en-US" sz="2000" u="sng">
                <a:solidFill>
                  <a:schemeClr val="tx1"/>
                </a:solidFill>
              </a:rPr>
              <a:t>E-R Model</a:t>
            </a: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BEAAC42B-6B77-5A8C-C2EF-753AF36269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666750"/>
            <a:ext cx="6697662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609600" indent="-609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800000"/>
                </a:solidFill>
              </a:rPr>
              <a:t>Recursive or Unary Relationship</a:t>
            </a:r>
            <a:endParaRPr lang="en-US" altLang="en-US" sz="2400" b="1" u="sng">
              <a:solidFill>
                <a:srgbClr val="800000"/>
              </a:solidFill>
            </a:endParaRPr>
          </a:p>
        </p:txBody>
      </p:sp>
      <p:pic>
        <p:nvPicPr>
          <p:cNvPr id="36868" name="Picture 2" descr="FIG03-23">
            <a:extLst>
              <a:ext uri="{FF2B5EF4-FFF2-40B4-BE49-F238E27FC236}">
                <a16:creationId xmlns:a16="http://schemas.microsoft.com/office/drawing/2014/main" id="{6BE30275-86E3-D156-D9C8-9B582E9283D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00113" y="1341438"/>
            <a:ext cx="7488237" cy="5059362"/>
          </a:xfrm>
          <a:noFill/>
        </p:spPr>
      </p:pic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D7C925A1-1253-01D0-CBDC-E595DA03DE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8557" y="476672"/>
            <a:ext cx="2447950" cy="533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2400" b="1" u="sng" dirty="0">
                <a:solidFill>
                  <a:srgbClr val="D34817"/>
                </a:solidFill>
                <a:latin typeface="Calibri" panose="020F0502020204030204" pitchFamily="34" charset="0"/>
              </a:rPr>
              <a:t>Ternary Relationship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D30196-E5E1-A8A2-3076-6FCA73E40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408" y="188640"/>
            <a:ext cx="4960574" cy="30243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0A98B72-923A-1410-6A54-B3930DB7B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3861048"/>
            <a:ext cx="6466858" cy="266429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84479418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CA1B6A3D-5C02-624C-0E8F-0BA23EDA70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188640"/>
            <a:ext cx="8568630" cy="533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b="1" u="sng" dirty="0">
                <a:solidFill>
                  <a:srgbClr val="D34817"/>
                </a:solidFill>
                <a:latin typeface="Calibri" panose="020F0502020204030204" pitchFamily="34" charset="0"/>
              </a:rPr>
              <a:t>Ternary Relationship = Three Binary Relationships?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29D815EE-0668-C3BA-CC86-3CBD4FC6DC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4013" y="692150"/>
            <a:ext cx="8466137" cy="4343400"/>
          </a:xfrm>
        </p:spPr>
        <p:txBody>
          <a:bodyPr/>
          <a:lstStyle/>
          <a:p>
            <a:pPr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In general, a ternary relationship type represents different information than do three binary relationship types.</a:t>
            </a:r>
          </a:p>
          <a:p>
            <a:pPr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Let </a:t>
            </a:r>
            <a:r>
              <a:rPr lang="en-US" sz="2400" dirty="0">
                <a:solidFill>
                  <a:srgbClr val="0033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instance of </a:t>
            </a:r>
            <a:r>
              <a:rPr lang="en-US" sz="24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SUPPLIER, PRODUCT,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sz="24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PROJECT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entity types (last slide) are represented by </a:t>
            </a:r>
            <a:r>
              <a:rPr lang="en-US" sz="24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s, p,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4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respectively. The following diagram maintaining 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4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s,p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), (</a:t>
            </a:r>
            <a:r>
              <a:rPr lang="en-US" sz="24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s,j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),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4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j,p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solidFill>
                  <a:srgbClr val="0033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doesn’t necessarily imply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an instance of 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4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s,j,p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exists in a ternary relationship. </a:t>
            </a:r>
          </a:p>
          <a:p>
            <a:pPr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8600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8600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ABFEB6-DD9E-8F76-C1F7-4068331F1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3415370"/>
            <a:ext cx="6450893" cy="324036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60F37-1D99-C688-D32F-9F84687A6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1E6D64E2-23E0-DBDF-1DCF-B1B895AF18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188640"/>
            <a:ext cx="8568630" cy="533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b="1" u="sng" dirty="0">
                <a:solidFill>
                  <a:srgbClr val="D34817"/>
                </a:solidFill>
                <a:latin typeface="Calibri" panose="020F0502020204030204" pitchFamily="34" charset="0"/>
              </a:rPr>
              <a:t>Ternary Relationship + Binary Relationships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89AB58A2-88F6-BB0B-C350-10D6E6F624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4013" y="692150"/>
            <a:ext cx="8466137" cy="4343400"/>
          </a:xfrm>
        </p:spPr>
        <p:txBody>
          <a:bodyPr/>
          <a:lstStyle/>
          <a:p>
            <a:pPr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 ternary relationship plus one or more of the binary relationships can be used in an ERD, if they represent different meanings and if all are needed by the application.</a:t>
            </a:r>
          </a:p>
          <a:p>
            <a:pPr marL="228600" indent="-228600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8600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4CCB18-6F00-8FFA-8FAE-9B4C40165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2132856"/>
            <a:ext cx="7538581" cy="44562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09441253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96530-AEBA-D84F-EFFF-12A4A9E85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F4029C9E-628D-F105-47E9-2013947741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44624"/>
            <a:ext cx="8568630" cy="533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b="1" u="sng" dirty="0">
                <a:solidFill>
                  <a:srgbClr val="D34817"/>
                </a:solidFill>
                <a:latin typeface="Calibri" panose="020F0502020204030204" pitchFamily="34" charset="0"/>
              </a:rPr>
              <a:t>Weak Entity in a Ternary Relationship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7D1C2F7C-60E7-57A9-3320-EFAEB661FD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4013" y="476672"/>
            <a:ext cx="8466137" cy="4343400"/>
          </a:xfrm>
        </p:spPr>
        <p:txBody>
          <a:bodyPr/>
          <a:lstStyle/>
          <a:p>
            <a:pPr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Weak entity with several owners.</a:t>
            </a:r>
          </a:p>
          <a:p>
            <a:pPr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INTERVIEW has two owners (CANDIDATE and COMPANY).</a:t>
            </a:r>
          </a:p>
          <a:p>
            <a:pPr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ERD that keeps track of candidates interviewing for jobs at various companies. A candidate can have multiple interviews with the same company but a job offer is made based on one of the interviews.</a:t>
            </a:r>
            <a:endParaRPr lang="en-US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8600"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A181FC-A5EA-70F8-1F87-C6B645BC0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58" y="2852936"/>
            <a:ext cx="8191698" cy="388123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7327400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FEC2598A-6152-413B-37B6-479E005B05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2750" y="1196975"/>
            <a:ext cx="8407400" cy="5535613"/>
          </a:xfrm>
        </p:spPr>
        <p:txBody>
          <a:bodyPr/>
          <a:lstStyle/>
          <a:p>
            <a:pPr marL="231775" indent="-231775" algn="just">
              <a:spcBef>
                <a:spcPts val="600"/>
              </a:spcBef>
              <a:defRPr/>
            </a:pPr>
            <a:r>
              <a:rPr lang="en-US" sz="2400" dirty="0"/>
              <a:t>An associative entity is a many to many relationship that is represented as an entity type.</a:t>
            </a:r>
          </a:p>
          <a:p>
            <a:pPr marL="231775" indent="-231775" algn="just">
              <a:spcBef>
                <a:spcPts val="600"/>
              </a:spcBef>
              <a:defRPr/>
            </a:pPr>
            <a:r>
              <a:rPr lang="en-US" sz="2400" dirty="0"/>
              <a:t>It is also called an entity in disguise or a </a:t>
            </a:r>
            <a:r>
              <a:rPr lang="en-US" sz="2400" dirty="0">
                <a:solidFill>
                  <a:schemeClr val="accent2"/>
                </a:solidFill>
              </a:rPr>
              <a:t>Composite or Bridge Entity. </a:t>
            </a:r>
          </a:p>
          <a:p>
            <a:pPr marL="231775" indent="-231775" algn="just">
              <a:spcBef>
                <a:spcPts val="600"/>
              </a:spcBef>
              <a:defRPr/>
            </a:pPr>
            <a:r>
              <a:rPr lang="en-US" sz="2400" dirty="0"/>
              <a:t>Associative entity is an entity derived from a relationship.</a:t>
            </a:r>
          </a:p>
          <a:p>
            <a:pPr marL="231775" indent="-231775" algn="just">
              <a:spcBef>
                <a:spcPts val="600"/>
              </a:spcBef>
              <a:defRPr/>
            </a:pPr>
            <a:r>
              <a:rPr lang="en-US" sz="2400" dirty="0"/>
              <a:t>It is represented by and Enclosed diamond symbol within entity box</a:t>
            </a:r>
          </a:p>
          <a:p>
            <a:pPr marL="231775" indent="-231775" algn="just">
              <a:spcBef>
                <a:spcPts val="600"/>
              </a:spcBef>
              <a:defRPr/>
            </a:pPr>
            <a:r>
              <a:rPr lang="en-US" sz="2400" dirty="0">
                <a:solidFill>
                  <a:schemeClr val="accent2"/>
                </a:solidFill>
              </a:rPr>
              <a:t>Examples (next slides) </a:t>
            </a:r>
          </a:p>
          <a:p>
            <a:pPr marL="609600" indent="-609600" algn="just">
              <a:spcBef>
                <a:spcPts val="600"/>
              </a:spcBef>
              <a:defRPr/>
            </a:pPr>
            <a:endParaRPr lang="en-US" sz="2400" dirty="0"/>
          </a:p>
        </p:txBody>
      </p:sp>
      <p:sp>
        <p:nvSpPr>
          <p:cNvPr id="38915" name="Rectangle 1">
            <a:extLst>
              <a:ext uri="{FF2B5EF4-FFF2-40B4-BE49-F238E27FC236}">
                <a16:creationId xmlns:a16="http://schemas.microsoft.com/office/drawing/2014/main" id="{E6AF3F36-404C-1782-9407-A12F19B5C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765175"/>
            <a:ext cx="2835275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609600" indent="-609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800000"/>
                </a:solidFill>
              </a:rPr>
              <a:t>Associative Entity</a:t>
            </a: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26AE154E-4816-9A81-4745-67BF70232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660400"/>
            <a:ext cx="2986087" cy="465138"/>
          </a:xfrm>
        </p:spPr>
        <p:txBody>
          <a:bodyPr/>
          <a:lstStyle/>
          <a:p>
            <a:r>
              <a:rPr lang="en-US" altLang="en-US" sz="2400" b="1" dirty="0">
                <a:solidFill>
                  <a:srgbClr val="800000"/>
                </a:solidFill>
              </a:rPr>
              <a:t>Associative Entity</a:t>
            </a:r>
            <a:endParaRPr lang="en-US" altLang="en-US" sz="2400" dirty="0"/>
          </a:p>
        </p:txBody>
      </p:sp>
      <p:pic>
        <p:nvPicPr>
          <p:cNvPr id="40963" name="Picture 2">
            <a:extLst>
              <a:ext uri="{FF2B5EF4-FFF2-40B4-BE49-F238E27FC236}">
                <a16:creationId xmlns:a16="http://schemas.microsoft.com/office/drawing/2014/main" id="{3B1E50A2-60D9-8CC6-7D05-40417BF000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075" y="1412875"/>
            <a:ext cx="3973513" cy="142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4" name="Picture 3">
            <a:extLst>
              <a:ext uri="{FF2B5EF4-FFF2-40B4-BE49-F238E27FC236}">
                <a16:creationId xmlns:a16="http://schemas.microsoft.com/office/drawing/2014/main" id="{DA9DD497-D1CC-7C67-25E6-BF20AF4125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3429000"/>
            <a:ext cx="8953500" cy="2386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589E0696-8255-AEC6-8D31-BC691F1FBB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692150"/>
            <a:ext cx="4138613" cy="431800"/>
          </a:xfrm>
        </p:spPr>
        <p:txBody>
          <a:bodyPr/>
          <a:lstStyle/>
          <a:p>
            <a:r>
              <a:rPr lang="en-US" altLang="en-US" sz="2400" b="1" dirty="0">
                <a:solidFill>
                  <a:srgbClr val="800000"/>
                </a:solidFill>
              </a:rPr>
              <a:t>Associative Entity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246EC748-288F-3D2B-3CB9-4CE8BDD3D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114800"/>
            <a:ext cx="19050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400"/>
              <a:t>EMPLOYEE</a:t>
            </a:r>
          </a:p>
        </p:txBody>
      </p:sp>
      <p:sp>
        <p:nvSpPr>
          <p:cNvPr id="41988" name="Rectangle 4">
            <a:extLst>
              <a:ext uri="{FF2B5EF4-FFF2-40B4-BE49-F238E27FC236}">
                <a16:creationId xmlns:a16="http://schemas.microsoft.com/office/drawing/2014/main" id="{720F2872-2553-8606-410D-580DAF46B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4038600"/>
            <a:ext cx="19050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400"/>
              <a:t>COURSE</a:t>
            </a:r>
          </a:p>
        </p:txBody>
      </p:sp>
      <p:sp>
        <p:nvSpPr>
          <p:cNvPr id="41989" name="Oval 5">
            <a:extLst>
              <a:ext uri="{FF2B5EF4-FFF2-40B4-BE49-F238E27FC236}">
                <a16:creationId xmlns:a16="http://schemas.microsoft.com/office/drawing/2014/main" id="{1A2AA151-EFE4-0E0A-F960-57A3B9A62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2590800"/>
            <a:ext cx="19050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/>
              <a:t>Employee_Name</a:t>
            </a:r>
          </a:p>
        </p:txBody>
      </p:sp>
      <p:sp>
        <p:nvSpPr>
          <p:cNvPr id="41990" name="Oval 6">
            <a:extLst>
              <a:ext uri="{FF2B5EF4-FFF2-40B4-BE49-F238E27FC236}">
                <a16:creationId xmlns:a16="http://schemas.microsoft.com/office/drawing/2014/main" id="{8865E158-35A6-645A-0408-CFF2B2F3AB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5410200"/>
            <a:ext cx="19050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/>
              <a:t>Birth_Date</a:t>
            </a:r>
          </a:p>
        </p:txBody>
      </p:sp>
      <p:sp>
        <p:nvSpPr>
          <p:cNvPr id="41991" name="Oval 7">
            <a:extLst>
              <a:ext uri="{FF2B5EF4-FFF2-40B4-BE49-F238E27FC236}">
                <a16:creationId xmlns:a16="http://schemas.microsoft.com/office/drawing/2014/main" id="{C8770C60-82BE-BB95-D842-ACAD8A5CB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2438400"/>
            <a:ext cx="19050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/>
              <a:t>Course_ID</a:t>
            </a:r>
          </a:p>
        </p:txBody>
      </p:sp>
      <p:sp>
        <p:nvSpPr>
          <p:cNvPr id="41992" name="Oval 8">
            <a:extLst>
              <a:ext uri="{FF2B5EF4-FFF2-40B4-BE49-F238E27FC236}">
                <a16:creationId xmlns:a16="http://schemas.microsoft.com/office/drawing/2014/main" id="{00D9EFA4-6058-DF04-267D-E374557E2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5105400"/>
            <a:ext cx="19050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/>
              <a:t>Topic</a:t>
            </a:r>
          </a:p>
        </p:txBody>
      </p:sp>
      <p:sp>
        <p:nvSpPr>
          <p:cNvPr id="41993" name="Oval 9">
            <a:extLst>
              <a:ext uri="{FF2B5EF4-FFF2-40B4-BE49-F238E27FC236}">
                <a16:creationId xmlns:a16="http://schemas.microsoft.com/office/drawing/2014/main" id="{585D6216-AE9F-BA3D-0F94-3FA59394B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5181600"/>
            <a:ext cx="19050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/>
              <a:t>Course_Title</a:t>
            </a:r>
          </a:p>
        </p:txBody>
      </p:sp>
      <p:cxnSp>
        <p:nvCxnSpPr>
          <p:cNvPr id="41994" name="AutoShape 10">
            <a:extLst>
              <a:ext uri="{FF2B5EF4-FFF2-40B4-BE49-F238E27FC236}">
                <a16:creationId xmlns:a16="http://schemas.microsoft.com/office/drawing/2014/main" id="{F4359DA8-C0CF-2BC6-33CF-2DC9767B625F}"/>
              </a:ext>
            </a:extLst>
          </p:cNvPr>
          <p:cNvCxnSpPr>
            <a:cxnSpLocks noChangeShapeType="1"/>
            <a:stCxn id="41987" idx="0"/>
            <a:endCxn id="42009" idx="4"/>
          </p:cNvCxnSpPr>
          <p:nvPr/>
        </p:nvCxnSpPr>
        <p:spPr bwMode="auto">
          <a:xfrm flipH="1" flipV="1">
            <a:off x="1104900" y="3505200"/>
            <a:ext cx="685800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95" name="AutoShape 11">
            <a:extLst>
              <a:ext uri="{FF2B5EF4-FFF2-40B4-BE49-F238E27FC236}">
                <a16:creationId xmlns:a16="http://schemas.microsoft.com/office/drawing/2014/main" id="{B6B940F8-69E9-03C7-D371-365505D351CB}"/>
              </a:ext>
            </a:extLst>
          </p:cNvPr>
          <p:cNvCxnSpPr>
            <a:cxnSpLocks noChangeShapeType="1"/>
            <a:stCxn id="41987" idx="0"/>
            <a:endCxn id="41989" idx="4"/>
          </p:cNvCxnSpPr>
          <p:nvPr/>
        </p:nvCxnSpPr>
        <p:spPr bwMode="auto">
          <a:xfrm flipV="1">
            <a:off x="1790700" y="3429000"/>
            <a:ext cx="129540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96" name="AutoShape 12">
            <a:extLst>
              <a:ext uri="{FF2B5EF4-FFF2-40B4-BE49-F238E27FC236}">
                <a16:creationId xmlns:a16="http://schemas.microsoft.com/office/drawing/2014/main" id="{93CC411C-138D-3DFC-FFAD-6C3C5DCD8D45}"/>
              </a:ext>
            </a:extLst>
          </p:cNvPr>
          <p:cNvCxnSpPr>
            <a:cxnSpLocks noChangeShapeType="1"/>
            <a:stCxn id="41987" idx="2"/>
            <a:endCxn id="41990" idx="0"/>
          </p:cNvCxnSpPr>
          <p:nvPr/>
        </p:nvCxnSpPr>
        <p:spPr bwMode="auto">
          <a:xfrm flipH="1">
            <a:off x="1257300" y="4876800"/>
            <a:ext cx="5334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97" name="AutoShape 13">
            <a:extLst>
              <a:ext uri="{FF2B5EF4-FFF2-40B4-BE49-F238E27FC236}">
                <a16:creationId xmlns:a16="http://schemas.microsoft.com/office/drawing/2014/main" id="{C286984D-D385-77A1-8010-4CAE36204F01}"/>
              </a:ext>
            </a:extLst>
          </p:cNvPr>
          <p:cNvCxnSpPr>
            <a:cxnSpLocks noChangeShapeType="1"/>
            <a:stCxn id="41988" idx="0"/>
            <a:endCxn id="41991" idx="4"/>
          </p:cNvCxnSpPr>
          <p:nvPr/>
        </p:nvCxnSpPr>
        <p:spPr bwMode="auto">
          <a:xfrm flipV="1">
            <a:off x="7353300" y="3276600"/>
            <a:ext cx="762000" cy="762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98" name="AutoShape 14">
            <a:extLst>
              <a:ext uri="{FF2B5EF4-FFF2-40B4-BE49-F238E27FC236}">
                <a16:creationId xmlns:a16="http://schemas.microsoft.com/office/drawing/2014/main" id="{268CB39E-D3DC-40F4-8EE0-60E0574BDA56}"/>
              </a:ext>
            </a:extLst>
          </p:cNvPr>
          <p:cNvCxnSpPr>
            <a:cxnSpLocks noChangeShapeType="1"/>
            <a:stCxn id="41988" idx="2"/>
            <a:endCxn id="41993" idx="0"/>
          </p:cNvCxnSpPr>
          <p:nvPr/>
        </p:nvCxnSpPr>
        <p:spPr bwMode="auto">
          <a:xfrm flipH="1">
            <a:off x="5753100" y="4800600"/>
            <a:ext cx="160020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99" name="AutoShape 15">
            <a:extLst>
              <a:ext uri="{FF2B5EF4-FFF2-40B4-BE49-F238E27FC236}">
                <a16:creationId xmlns:a16="http://schemas.microsoft.com/office/drawing/2014/main" id="{65D8CDBF-E27E-AF52-71D3-6D3ACE7849F8}"/>
              </a:ext>
            </a:extLst>
          </p:cNvPr>
          <p:cNvCxnSpPr>
            <a:cxnSpLocks noChangeShapeType="1"/>
            <a:stCxn id="41988" idx="2"/>
            <a:endCxn id="41992" idx="0"/>
          </p:cNvCxnSpPr>
          <p:nvPr/>
        </p:nvCxnSpPr>
        <p:spPr bwMode="auto">
          <a:xfrm>
            <a:off x="7353300" y="4800600"/>
            <a:ext cx="8382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2000" name="AutoShape 16">
            <a:extLst>
              <a:ext uri="{FF2B5EF4-FFF2-40B4-BE49-F238E27FC236}">
                <a16:creationId xmlns:a16="http://schemas.microsoft.com/office/drawing/2014/main" id="{E1678DAD-73CD-C1A5-2AB4-80A2547E4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4038600"/>
            <a:ext cx="1676400" cy="838200"/>
          </a:xfrm>
          <a:prstGeom prst="diamond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400"/>
              <a:t>CERTIFICATE</a:t>
            </a:r>
          </a:p>
        </p:txBody>
      </p:sp>
      <p:cxnSp>
        <p:nvCxnSpPr>
          <p:cNvPr id="42001" name="AutoShape 17">
            <a:extLst>
              <a:ext uri="{FF2B5EF4-FFF2-40B4-BE49-F238E27FC236}">
                <a16:creationId xmlns:a16="http://schemas.microsoft.com/office/drawing/2014/main" id="{273CD0C0-442F-41A0-0E9C-B4B397CA3AD9}"/>
              </a:ext>
            </a:extLst>
          </p:cNvPr>
          <p:cNvCxnSpPr>
            <a:cxnSpLocks noChangeShapeType="1"/>
            <a:stCxn id="41987" idx="3"/>
            <a:endCxn id="42010" idx="1"/>
          </p:cNvCxnSpPr>
          <p:nvPr/>
        </p:nvCxnSpPr>
        <p:spPr bwMode="auto">
          <a:xfrm flipV="1">
            <a:off x="2743200" y="4457700"/>
            <a:ext cx="1122363" cy="38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2" name="AutoShape 18">
            <a:extLst>
              <a:ext uri="{FF2B5EF4-FFF2-40B4-BE49-F238E27FC236}">
                <a16:creationId xmlns:a16="http://schemas.microsoft.com/office/drawing/2014/main" id="{2E086AFA-A117-19BD-C077-53D5EA779C3B}"/>
              </a:ext>
            </a:extLst>
          </p:cNvPr>
          <p:cNvCxnSpPr>
            <a:cxnSpLocks noChangeShapeType="1"/>
            <a:stCxn id="42010" idx="3"/>
            <a:endCxn id="41988" idx="1"/>
          </p:cNvCxnSpPr>
          <p:nvPr/>
        </p:nvCxnSpPr>
        <p:spPr bwMode="auto">
          <a:xfrm flipV="1">
            <a:off x="5465763" y="4419600"/>
            <a:ext cx="935037" cy="38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2003" name="Line 19">
            <a:extLst>
              <a:ext uri="{FF2B5EF4-FFF2-40B4-BE49-F238E27FC236}">
                <a16:creationId xmlns:a16="http://schemas.microsoft.com/office/drawing/2014/main" id="{8F08CCFC-C36B-DD4C-7FE1-8E34154AE348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42672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004" name="Line 20">
            <a:extLst>
              <a:ext uri="{FF2B5EF4-FFF2-40B4-BE49-F238E27FC236}">
                <a16:creationId xmlns:a16="http://schemas.microsoft.com/office/drawing/2014/main" id="{752C9F81-161A-44BC-1BEF-5872DBCB876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86400" y="44958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005" name="Line 21">
            <a:extLst>
              <a:ext uri="{FF2B5EF4-FFF2-40B4-BE49-F238E27FC236}">
                <a16:creationId xmlns:a16="http://schemas.microsoft.com/office/drawing/2014/main" id="{996F64CF-5183-583B-CAEA-109617A1748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57600" y="42672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006" name="Line 22">
            <a:extLst>
              <a:ext uri="{FF2B5EF4-FFF2-40B4-BE49-F238E27FC236}">
                <a16:creationId xmlns:a16="http://schemas.microsoft.com/office/drawing/2014/main" id="{191C1577-F94F-8941-B880-AEED67E44B4E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44958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007" name="Oval 23">
            <a:extLst>
              <a:ext uri="{FF2B5EF4-FFF2-40B4-BE49-F238E27FC236}">
                <a16:creationId xmlns:a16="http://schemas.microsoft.com/office/drawing/2014/main" id="{13402C58-2864-D932-3B86-0E55C3AC8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1752600"/>
            <a:ext cx="19050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/>
              <a:t>Date_Completed</a:t>
            </a:r>
          </a:p>
        </p:txBody>
      </p:sp>
      <p:cxnSp>
        <p:nvCxnSpPr>
          <p:cNvPr id="42008" name="AutoShape 24">
            <a:extLst>
              <a:ext uri="{FF2B5EF4-FFF2-40B4-BE49-F238E27FC236}">
                <a16:creationId xmlns:a16="http://schemas.microsoft.com/office/drawing/2014/main" id="{357D6B6F-CF28-1958-D3E1-5112FAAD3AE3}"/>
              </a:ext>
            </a:extLst>
          </p:cNvPr>
          <p:cNvCxnSpPr>
            <a:cxnSpLocks noChangeShapeType="1"/>
            <a:stCxn id="42007" idx="4"/>
            <a:endCxn id="42000" idx="0"/>
          </p:cNvCxnSpPr>
          <p:nvPr/>
        </p:nvCxnSpPr>
        <p:spPr bwMode="auto">
          <a:xfrm flipH="1">
            <a:off x="4648200" y="2590800"/>
            <a:ext cx="1485900" cy="1447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2009" name="Oval 25">
            <a:extLst>
              <a:ext uri="{FF2B5EF4-FFF2-40B4-BE49-F238E27FC236}">
                <a16:creationId xmlns:a16="http://schemas.microsoft.com/office/drawing/2014/main" id="{25723BB4-5BCA-A0F6-8318-E6756BA11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667000"/>
            <a:ext cx="19050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/>
              <a:t>Emploee_ID</a:t>
            </a:r>
          </a:p>
        </p:txBody>
      </p:sp>
      <p:sp>
        <p:nvSpPr>
          <p:cNvPr id="42010" name="Rectangle 26">
            <a:extLst>
              <a:ext uri="{FF2B5EF4-FFF2-40B4-BE49-F238E27FC236}">
                <a16:creationId xmlns:a16="http://schemas.microsoft.com/office/drawing/2014/main" id="{711E75E5-411D-1370-EF62-0373CA0EA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5563" y="4038600"/>
            <a:ext cx="1600200" cy="838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42011" name="Oval 27">
            <a:extLst>
              <a:ext uri="{FF2B5EF4-FFF2-40B4-BE49-F238E27FC236}">
                <a16:creationId xmlns:a16="http://schemas.microsoft.com/office/drawing/2014/main" id="{D3790671-54A7-BDE1-C432-E25390C85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1752600"/>
            <a:ext cx="19050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/>
              <a:t>Certificate_Number</a:t>
            </a:r>
          </a:p>
        </p:txBody>
      </p:sp>
      <p:cxnSp>
        <p:nvCxnSpPr>
          <p:cNvPr id="42012" name="AutoShape 28">
            <a:extLst>
              <a:ext uri="{FF2B5EF4-FFF2-40B4-BE49-F238E27FC236}">
                <a16:creationId xmlns:a16="http://schemas.microsoft.com/office/drawing/2014/main" id="{E1B16D85-D6BC-C1F9-7C3D-B5D2016BA9AF}"/>
              </a:ext>
            </a:extLst>
          </p:cNvPr>
          <p:cNvCxnSpPr>
            <a:cxnSpLocks noChangeShapeType="1"/>
            <a:stCxn id="42011" idx="4"/>
            <a:endCxn id="42010" idx="0"/>
          </p:cNvCxnSpPr>
          <p:nvPr/>
        </p:nvCxnSpPr>
        <p:spPr bwMode="auto">
          <a:xfrm>
            <a:off x="4076700" y="2590800"/>
            <a:ext cx="588963" cy="1447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2013" name="Text Box 29">
            <a:extLst>
              <a:ext uri="{FF2B5EF4-FFF2-40B4-BE49-F238E27FC236}">
                <a16:creationId xmlns:a16="http://schemas.microsoft.com/office/drawing/2014/main" id="{27BBC15A-EF96-F356-323F-7EE511D3FF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6172200"/>
            <a:ext cx="2057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Associative Entity</a:t>
            </a:r>
          </a:p>
        </p:txBody>
      </p:sp>
      <p:sp>
        <p:nvSpPr>
          <p:cNvPr id="42014" name="Line 30">
            <a:extLst>
              <a:ext uri="{FF2B5EF4-FFF2-40B4-BE49-F238E27FC236}">
                <a16:creationId xmlns:a16="http://schemas.microsoft.com/office/drawing/2014/main" id="{408DFB38-C97D-FE68-8FDA-860CA780AF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57600" y="4953000"/>
            <a:ext cx="685800" cy="1219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BFE73-5EA6-669C-7CB3-3B0B9DAC2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80058252-6AA6-8F25-08DA-1A43FF8132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8556" y="476672"/>
            <a:ext cx="6825732" cy="533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b="1" u="sng" dirty="0">
                <a:solidFill>
                  <a:srgbClr val="D34817"/>
                </a:solidFill>
                <a:latin typeface="Calibri" panose="020F0502020204030204" pitchFamily="34" charset="0"/>
              </a:rPr>
              <a:t>Associative Entity / Ternary Relationship</a:t>
            </a: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067012E0-C779-2D02-1F60-826DB5636A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978" y="1412776"/>
            <a:ext cx="8656043" cy="4176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1048956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A3310365-95C6-C171-7CDC-2511CE1A6E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733425"/>
            <a:ext cx="8459788" cy="392113"/>
          </a:xfrm>
          <a:noFill/>
        </p:spPr>
        <p:txBody>
          <a:bodyPr/>
          <a:lstStyle/>
          <a:p>
            <a:r>
              <a:rPr lang="en-US" altLang="en-US" sz="2800" b="1">
                <a:solidFill>
                  <a:srgbClr val="800000"/>
                </a:solidFill>
              </a:rPr>
              <a:t>Converting Relationship to an Associative Entity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FBB9F45A-502A-D9E2-ED10-4ED8E057FA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1488" y="1196975"/>
            <a:ext cx="8277225" cy="4641850"/>
          </a:xfrm>
        </p:spPr>
        <p:txBody>
          <a:bodyPr/>
          <a:lstStyle/>
          <a:p>
            <a:pPr algn="just"/>
            <a:r>
              <a:rPr lang="en-US" altLang="en-US" sz="2400"/>
              <a:t>Conditions are:</a:t>
            </a:r>
          </a:p>
          <a:p>
            <a:pPr lvl="1" algn="just"/>
            <a:r>
              <a:rPr lang="en-US" altLang="en-US"/>
              <a:t>All of the relationships for the participating entity types are “many” relationships</a:t>
            </a:r>
          </a:p>
          <a:p>
            <a:pPr lvl="1" algn="just"/>
            <a:r>
              <a:rPr lang="en-US" altLang="en-US"/>
              <a:t>The resulting associative entity has independent meaning to end users, &amp; preferably can be identified with a single-attribute identifier</a:t>
            </a:r>
          </a:p>
          <a:p>
            <a:pPr lvl="1" algn="just"/>
            <a:r>
              <a:rPr lang="en-US" altLang="en-US"/>
              <a:t>The associative entity has one or more attributes in addition to the identifier</a:t>
            </a:r>
          </a:p>
          <a:p>
            <a:pPr lvl="1" algn="just"/>
            <a:r>
              <a:rPr lang="en-US" altLang="en-US"/>
              <a:t>The associative entity participates in one or more relationships independent of the entities related in associated relationship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7314EEB8-B20C-D7C2-8B8C-65326E9484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91400" y="76200"/>
            <a:ext cx="1676400" cy="457200"/>
          </a:xfrm>
        </p:spPr>
        <p:txBody>
          <a:bodyPr/>
          <a:lstStyle/>
          <a:p>
            <a:r>
              <a:rPr lang="en-US" altLang="en-US" sz="2000" u="sng">
                <a:solidFill>
                  <a:schemeClr val="tx1"/>
                </a:solidFill>
              </a:rPr>
              <a:t>E-R Model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00360A22-BF53-BB9B-979B-F652267A23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6550" y="1230313"/>
            <a:ext cx="8412163" cy="4862512"/>
          </a:xfrm>
        </p:spPr>
        <p:txBody>
          <a:bodyPr/>
          <a:lstStyle/>
          <a:p>
            <a:pPr marL="228600" indent="-228600" algn="just">
              <a:spcBef>
                <a:spcPts val="600"/>
              </a:spcBef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 repeating group is a set of two or more multivalued attributes that are logically related. </a:t>
            </a:r>
          </a:p>
          <a:p>
            <a:pPr marL="228600" indent="-228600" algn="just">
              <a:spcBef>
                <a:spcPts val="600"/>
              </a:spcBef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 repeating groups is converted to a separate entity, and a  relationship is introduced between the new entity and the entity from which it is removed. </a:t>
            </a:r>
          </a:p>
          <a:p>
            <a:pPr marL="228600" indent="-228600" algn="just">
              <a:spcBef>
                <a:spcPts val="600"/>
              </a:spcBef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Examples</a:t>
            </a:r>
          </a:p>
          <a:p>
            <a:pPr marL="400050" lvl="1" indent="0" algn="just">
              <a:spcBef>
                <a:spcPts val="600"/>
              </a:spcBef>
              <a:buNone/>
              <a:defRPr/>
            </a:pPr>
            <a:r>
              <a:rPr lang="en-US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Emp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empno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ename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job, …, skill#*, skill-name*, s-level*)</a:t>
            </a:r>
          </a:p>
          <a:p>
            <a:pPr marL="400050" lvl="1" indent="0" algn="just">
              <a:spcBef>
                <a:spcPts val="600"/>
              </a:spcBef>
              <a:buNone/>
              <a:defRPr/>
            </a:pP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Student (Regno, </a:t>
            </a:r>
            <a:r>
              <a:rPr lang="en-US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sname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…, c-code*, c-title*, c-grade*)</a:t>
            </a:r>
          </a:p>
          <a:p>
            <a:pPr algn="just">
              <a:spcBef>
                <a:spcPts val="600"/>
              </a:spcBef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The idea behind introducing the new entity is that the new entity is of independent interest to the organization, rather than just an attribute of other entity types.</a:t>
            </a:r>
          </a:p>
          <a:p>
            <a:pPr algn="just">
              <a:spcBef>
                <a:spcPts val="600"/>
              </a:spcBef>
              <a:defRPr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8600" algn="just">
              <a:spcBef>
                <a:spcPts val="600"/>
              </a:spcBef>
              <a:defRPr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09600" indent="-609600">
              <a:spcBef>
                <a:spcPts val="600"/>
              </a:spcBef>
              <a:defRPr/>
            </a:pPr>
            <a:endParaRPr lang="en-US" sz="2400" dirty="0">
              <a:solidFill>
                <a:srgbClr val="FFCC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084" name="Rectangle 1">
            <a:extLst>
              <a:ext uri="{FF2B5EF4-FFF2-40B4-BE49-F238E27FC236}">
                <a16:creationId xmlns:a16="http://schemas.microsoft.com/office/drawing/2014/main" id="{AC20B9BB-C69A-8629-94F2-6E4BE4D9DB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" y="703263"/>
            <a:ext cx="53292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800000"/>
                </a:solidFill>
              </a:rPr>
              <a:t>Modeling Repeating Groups</a:t>
            </a: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08DF3B5D-C595-7F82-9CD0-FE0F154EF3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2750" y="1206500"/>
            <a:ext cx="8407400" cy="5535613"/>
          </a:xfrm>
        </p:spPr>
        <p:txBody>
          <a:bodyPr/>
          <a:lstStyle/>
          <a:p>
            <a:pPr marL="231775" indent="-231775" algn="just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 time variant data is a data whose values change over time.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Example: Price of a Product</a:t>
            </a:r>
          </a:p>
          <a:p>
            <a:pPr marL="231775" indent="-231775" algn="just">
              <a:lnSpc>
                <a:spcPct val="90000"/>
              </a:lnSpc>
              <a:defRPr/>
            </a:pPr>
            <a:r>
              <a:rPr lang="en-US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Product (P#, P-name, …, price)</a:t>
            </a:r>
          </a:p>
          <a:p>
            <a:pPr marL="231775" indent="-231775" algn="just">
              <a:lnSpc>
                <a:spcPct val="90000"/>
              </a:lnSpc>
              <a:defRPr/>
            </a:pPr>
            <a:r>
              <a:rPr lang="en-US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Product (</a:t>
            </a:r>
            <a:r>
              <a:rPr lang="en-US" u="sng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P#</a:t>
            </a:r>
            <a:r>
              <a:rPr lang="en-US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P-name, …, price*, </a:t>
            </a:r>
            <a:r>
              <a:rPr lang="en-US" u="sng" dirty="0" err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eff</a:t>
            </a:r>
            <a:r>
              <a:rPr lang="en-US" u="sng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-date*,P#</a:t>
            </a:r>
            <a:r>
              <a:rPr lang="en-US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231775" indent="-231775" algn="just">
              <a:lnSpc>
                <a:spcPct val="90000"/>
              </a:lnSpc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Each value of the attribute price is time stamped with its effective data.</a:t>
            </a:r>
          </a:p>
          <a:p>
            <a:pPr marL="231775" indent="-231775" algn="just">
              <a:lnSpc>
                <a:spcPct val="90000"/>
              </a:lnSpc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 Time Stamp is a time value associated with any data value.</a:t>
            </a:r>
          </a:p>
          <a:p>
            <a:pPr marL="231775" indent="-231775" algn="just">
              <a:lnSpc>
                <a:spcPct val="90000"/>
              </a:lnSpc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 time stamp is used when we need to maintain a history of data values that change over time.</a:t>
            </a:r>
          </a:p>
          <a:p>
            <a:pPr marL="609600" indent="-609600" algn="just">
              <a:lnSpc>
                <a:spcPct val="90000"/>
              </a:lnSpc>
              <a:defRPr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09600" indent="-609600" algn="just">
              <a:lnSpc>
                <a:spcPct val="90000"/>
              </a:lnSpc>
              <a:buFontTx/>
              <a:buNone/>
              <a:defRPr/>
            </a:pPr>
            <a:endParaRPr lang="en-US" dirty="0">
              <a:solidFill>
                <a:srgbClr val="FFCC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09600" indent="-609600" algn="just">
              <a:lnSpc>
                <a:spcPct val="90000"/>
              </a:lnSpc>
              <a:defRPr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131" name="Rectangle 1">
            <a:extLst>
              <a:ext uri="{FF2B5EF4-FFF2-40B4-BE49-F238E27FC236}">
                <a16:creationId xmlns:a16="http://schemas.microsoft.com/office/drawing/2014/main" id="{369B7DC7-4A3B-3DC8-7E2D-AFCF2CC4E4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765175"/>
            <a:ext cx="4195251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609600" indent="-609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rgbClr val="800000"/>
                </a:solidFill>
              </a:rPr>
              <a:t>Modeling Time Variant Data</a:t>
            </a: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8C4D4-5EEA-9A59-C120-9D094760B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3BA9753F-1B5C-E96D-EB4B-AB47BCD3E6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2750" y="1206500"/>
            <a:ext cx="8407400" cy="5535613"/>
          </a:xfrm>
        </p:spPr>
        <p:txBody>
          <a:bodyPr/>
          <a:lstStyle/>
          <a:p>
            <a:pPr marL="231775" indent="-231775" algn="just">
              <a:spcBef>
                <a:spcPts val="600"/>
              </a:spcBef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Following two problems or issues that may arise due to misinterpretation of the meaning of certain relationships.</a:t>
            </a:r>
          </a:p>
          <a:p>
            <a:pPr marL="514350" indent="-514350" algn="just">
              <a:spcBef>
                <a:spcPts val="600"/>
              </a:spcBef>
              <a:buFontTx/>
              <a:buAutoNum type="alphaLcParenR"/>
              <a:defRPr/>
            </a:pPr>
            <a:r>
              <a:rPr lang="en-US" sz="2400" b="1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Fan Traps: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>
              <a:spcBef>
                <a:spcPts val="600"/>
              </a:spcBef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 model represents a relationship between entity types, but the pathway between certain entity occurrences is ambiguous.</a:t>
            </a:r>
          </a:p>
          <a:p>
            <a:pPr algn="just">
              <a:spcBef>
                <a:spcPts val="600"/>
              </a:spcBef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 fan trap may exist where two or more 1:* relationships fan out from the same entity.</a:t>
            </a:r>
          </a:p>
          <a:p>
            <a:pPr marL="514350" indent="-514350" algn="just">
              <a:spcBef>
                <a:spcPts val="600"/>
              </a:spcBef>
              <a:buAutoNum type="alphaLcParenR"/>
              <a:defRPr/>
            </a:pPr>
            <a:r>
              <a:rPr lang="en-US" sz="2400" b="1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Chasm Trap: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 model suggests the existence of a relationship between entity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09600" indent="-609600" algn="just">
              <a:spcBef>
                <a:spcPts val="600"/>
              </a:spcBef>
              <a:buFontTx/>
              <a:buNone/>
              <a:defRPr/>
            </a:pPr>
            <a:endParaRPr lang="en-US" sz="2400" dirty="0">
              <a:solidFill>
                <a:srgbClr val="FFCC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09600" indent="-609600" algn="just">
              <a:spcBef>
                <a:spcPts val="600"/>
              </a:spcBef>
              <a:defRPr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131" name="Rectangle 1">
            <a:extLst>
              <a:ext uri="{FF2B5EF4-FFF2-40B4-BE49-F238E27FC236}">
                <a16:creationId xmlns:a16="http://schemas.microsoft.com/office/drawing/2014/main" id="{E1D5C14C-EC9F-C93A-DA4F-04F77A1A8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765175"/>
            <a:ext cx="4594206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609600" indent="-609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rgbClr val="800000"/>
                </a:solidFill>
              </a:rPr>
              <a:t>ER Traps or Connection Traps</a:t>
            </a:r>
          </a:p>
        </p:txBody>
      </p:sp>
    </p:spTree>
    <p:extLst>
      <p:ext uri="{BB962C8B-B14F-4D97-AF65-F5344CB8AC3E}">
        <p14:creationId xmlns:p14="http://schemas.microsoft.com/office/powerpoint/2010/main" val="1736586418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EAEC6-31A8-CA62-DCA8-E881AC548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22CEC6DA-697C-DEB2-BBA3-967AD3428B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2750" y="1206500"/>
            <a:ext cx="8407400" cy="5535613"/>
          </a:xfrm>
        </p:spPr>
        <p:txBody>
          <a:bodyPr/>
          <a:lstStyle/>
          <a:p>
            <a:pPr marL="231775" indent="-231775" algn="just">
              <a:spcBef>
                <a:spcPts val="600"/>
              </a:spcBef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Which members of staff work at a particular branch cannot be answered using ERD shown below.</a:t>
            </a:r>
          </a:p>
          <a:p>
            <a:pPr marL="231775" indent="-231775" algn="just">
              <a:spcBef>
                <a:spcPts val="600"/>
              </a:spcBef>
              <a:defRPr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1775" indent="-231775" algn="just">
              <a:spcBef>
                <a:spcPts val="600"/>
              </a:spcBef>
              <a:defRPr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1775" indent="-231775" algn="just">
              <a:spcBef>
                <a:spcPts val="600"/>
              </a:spcBef>
              <a:defRPr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1775" indent="-231775" algn="just">
              <a:spcBef>
                <a:spcPts val="600"/>
              </a:spcBef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The following ERD resolves the fan trap. 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09600" indent="-609600" algn="just">
              <a:spcBef>
                <a:spcPts val="600"/>
              </a:spcBef>
              <a:buFontTx/>
              <a:buNone/>
              <a:defRPr/>
            </a:pPr>
            <a:endParaRPr lang="en-US" sz="2400" dirty="0">
              <a:solidFill>
                <a:srgbClr val="FFCC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09600" indent="-609600" algn="just">
              <a:spcBef>
                <a:spcPts val="600"/>
              </a:spcBef>
              <a:defRPr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131" name="Rectangle 1">
            <a:extLst>
              <a:ext uri="{FF2B5EF4-FFF2-40B4-BE49-F238E27FC236}">
                <a16:creationId xmlns:a16="http://schemas.microsoft.com/office/drawing/2014/main" id="{A06F9520-13E7-B8B1-E81F-AD82DC443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765175"/>
            <a:ext cx="3313408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609600" indent="-609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rgbClr val="800000"/>
                </a:solidFill>
              </a:rPr>
              <a:t>ER Traps – Fan Traps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04C2D4-D0CF-5CC2-68B3-60A401DC5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665" y="2060848"/>
            <a:ext cx="8661823" cy="11521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84CC2D-601E-30E8-9DE3-338CF2D9FF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12" y="4015591"/>
            <a:ext cx="8856984" cy="2509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346026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60431-F82F-0AC7-D131-A7CD53EA9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2F0170DE-C6B2-7E8C-EC45-6B2017EE8B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2750" y="1206500"/>
            <a:ext cx="8407400" cy="5535613"/>
          </a:xfrm>
        </p:spPr>
        <p:txBody>
          <a:bodyPr/>
          <a:lstStyle/>
          <a:p>
            <a:pPr marL="231775" indent="-231775" algn="just">
              <a:spcBef>
                <a:spcPts val="600"/>
              </a:spcBef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Which properties are available at each branch cannot be answered using ERD shown below.</a:t>
            </a:r>
          </a:p>
          <a:p>
            <a:pPr marL="231775" indent="-231775" algn="just">
              <a:spcBef>
                <a:spcPts val="600"/>
              </a:spcBef>
              <a:defRPr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1775" indent="-231775" algn="just">
              <a:spcBef>
                <a:spcPts val="600"/>
              </a:spcBef>
              <a:defRPr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1775" indent="-231775" algn="just">
              <a:spcBef>
                <a:spcPts val="600"/>
              </a:spcBef>
              <a:defRPr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1775" indent="-231775" algn="just">
              <a:spcBef>
                <a:spcPts val="600"/>
              </a:spcBef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The following ERD resolves the chasm trap. 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09600" indent="-609600" algn="just">
              <a:spcBef>
                <a:spcPts val="600"/>
              </a:spcBef>
              <a:buFontTx/>
              <a:buNone/>
              <a:defRPr/>
            </a:pPr>
            <a:endParaRPr lang="en-US" sz="2400" dirty="0">
              <a:solidFill>
                <a:srgbClr val="FFCC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09600" indent="-609600" algn="just">
              <a:spcBef>
                <a:spcPts val="600"/>
              </a:spcBef>
              <a:defRPr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131" name="Rectangle 1">
            <a:extLst>
              <a:ext uri="{FF2B5EF4-FFF2-40B4-BE49-F238E27FC236}">
                <a16:creationId xmlns:a16="http://schemas.microsoft.com/office/drawing/2014/main" id="{02D371BA-7E07-0A08-682C-932C1CA0D3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765175"/>
            <a:ext cx="3794308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609600" indent="-609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rgbClr val="800000"/>
                </a:solidFill>
              </a:rPr>
              <a:t>ER Traps – Chasm Traps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A5D5F8-CE1D-57D9-4A39-C2265CDBC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66" y="2132856"/>
            <a:ext cx="8676455" cy="9746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D87824-DA27-8FBC-C8D7-CA279EEB45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18" y="3927125"/>
            <a:ext cx="8818162" cy="1446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662229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C5904A93-CB81-221B-5F0A-AB1BC4FDAB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73062" y="91480"/>
            <a:ext cx="6886575" cy="457200"/>
          </a:xfrm>
        </p:spPr>
        <p:txBody>
          <a:bodyPr/>
          <a:lstStyle/>
          <a:p>
            <a:pPr eaLnBrk="1" hangingPunct="1"/>
            <a:r>
              <a:rPr lang="en-US" altLang="en-US" sz="2400" b="1" u="sng" dirty="0">
                <a:solidFill>
                  <a:srgbClr val="D34817"/>
                </a:solidFill>
                <a:latin typeface="Calibri" panose="020F0502020204030204" pitchFamily="34" charset="0"/>
              </a:rPr>
              <a:t>Reading Material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87B319E3-B4CB-9CFB-2694-5EE6DD035B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" y="404664"/>
            <a:ext cx="8610600" cy="3063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914400" indent="-45720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822325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096963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13716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1828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286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2743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2004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rgbClr val="D34817"/>
              </a:buClr>
              <a:buSzPct val="85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Database Systems – Design, Implementation and Management: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Carlos Coronel, Steven Morris (13</a:t>
            </a:r>
            <a:r>
              <a:rPr kumimoji="0" lang="en-US" alt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th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 Ed.)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rgbClr val="D34817"/>
              </a:buClr>
              <a:buSzPct val="85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Modern Database Management: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Jeffery. A. Hoffer (12</a:t>
            </a:r>
            <a:r>
              <a:rPr kumimoji="0" lang="en-US" alt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th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 Ed.)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rgbClr val="D34817"/>
              </a:buClr>
              <a:buSzPct val="85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Database Systems: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Thomas M. Connolly (6</a:t>
            </a:r>
            <a:r>
              <a:rPr kumimoji="0" lang="en-US" alt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th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 Ed.)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rgbClr val="D34817"/>
              </a:buClr>
              <a:buSzPct val="85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Fundamentals of Database Systems: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Elmasri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 (7</a:t>
            </a:r>
            <a:r>
              <a:rPr kumimoji="0" lang="en-US" alt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th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 Ed.)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B2D1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 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rgbClr val="D34817"/>
              </a:buClr>
              <a:buSzPct val="85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Database System Concepts: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Abraham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Silberschatz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 (7</a:t>
            </a:r>
            <a:r>
              <a:rPr kumimoji="0" lang="en-US" alt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th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 Ed.)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rgbClr val="D34817"/>
              </a:buClr>
              <a:buSzPct val="85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Databases Illuminated: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Catherine M. Ricardo (3rd Ed.)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9B2D1F"/>
              </a:solidFill>
              <a:effectLst/>
              <a:uLnTx/>
              <a:uFillTx/>
              <a:latin typeface="Perpetua" panose="02020502060401020303" pitchFamily="18" charset="0"/>
              <a:ea typeface="+mn-ea"/>
              <a:cs typeface="+mn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D1B749A-3943-494C-697C-1066ED1569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2611229"/>
              </p:ext>
            </p:extLst>
          </p:nvPr>
        </p:nvGraphicFramePr>
        <p:xfrm>
          <a:off x="1547664" y="3429000"/>
          <a:ext cx="5832648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3534379763"/>
                    </a:ext>
                  </a:extLst>
                </a:gridCol>
                <a:gridCol w="4824536">
                  <a:extLst>
                    <a:ext uri="{9D8B030D-6E8A-4147-A177-3AD203B41FA5}">
                      <a16:colId xmlns:a16="http://schemas.microsoft.com/office/drawing/2014/main" val="947663522"/>
                    </a:ext>
                  </a:extLst>
                </a:gridCol>
              </a:tblGrid>
              <a:tr h="43197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FF00"/>
                          </a:solidFill>
                        </a:rPr>
                        <a:t>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FF00"/>
                          </a:solidFill>
                        </a:rPr>
                        <a:t>Section(s) / Chapter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3931968"/>
                  </a:ext>
                </a:extLst>
              </a:tr>
              <a:tr h="43197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4.1, 4.2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253150"/>
                  </a:ext>
                </a:extLst>
              </a:tr>
              <a:tr h="43197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Chapter 2 (Page 56 to 91)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5555299"/>
                  </a:ext>
                </a:extLst>
              </a:tr>
              <a:tr h="43197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12.1, 12.2, to 12.4 to 12.6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190129"/>
                  </a:ext>
                </a:extLst>
              </a:tr>
              <a:tr h="43197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Chapter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612469"/>
                  </a:ext>
                </a:extLst>
              </a:tr>
              <a:tr h="43197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6.1, 6.2, 6.4 to 6.6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9971778"/>
                  </a:ext>
                </a:extLst>
              </a:tr>
              <a:tr h="43197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3.1, 3.2, 3.5 to 3.8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96419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EC9FA089-5716-D48D-719E-6C4A263C36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1628775"/>
            <a:ext cx="8277225" cy="1219200"/>
          </a:xfrm>
        </p:spPr>
        <p:txBody>
          <a:bodyPr/>
          <a:lstStyle/>
          <a:p>
            <a:pPr algn="ctr" eaLnBrk="1" hangingPunct="1"/>
            <a:br>
              <a:rPr lang="de-AT" altLang="en-US" sz="3600">
                <a:latin typeface="Georgia" panose="02040502050405020303" pitchFamily="18" charset="0"/>
              </a:rPr>
            </a:br>
            <a:r>
              <a:rPr lang="de-AT" altLang="en-US" sz="3600">
                <a:latin typeface="Georgia" panose="02040502050405020303" pitchFamily="18" charset="0"/>
              </a:rPr>
              <a:t>Thank you for your attention.</a:t>
            </a:r>
          </a:p>
        </p:txBody>
      </p:sp>
      <p:sp>
        <p:nvSpPr>
          <p:cNvPr id="52227" name="Rectangle 8">
            <a:extLst>
              <a:ext uri="{FF2B5EF4-FFF2-40B4-BE49-F238E27FC236}">
                <a16:creationId xmlns:a16="http://schemas.microsoft.com/office/drawing/2014/main" id="{3D8AD237-8D2A-C8E2-B83A-BB4501682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3962400"/>
            <a:ext cx="4495800" cy="2130425"/>
          </a:xfrm>
          <a:prstGeom prst="rect">
            <a:avLst/>
          </a:prstGeom>
          <a:solidFill>
            <a:srgbClr val="FFFFCC"/>
          </a:solidFill>
          <a:ln w="38100">
            <a:solidFill>
              <a:srgbClr val="8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52228" name="Rectangle 9">
            <a:extLst>
              <a:ext uri="{FF2B5EF4-FFF2-40B4-BE49-F238E27FC236}">
                <a16:creationId xmlns:a16="http://schemas.microsoft.com/office/drawing/2014/main" id="{487E8A9B-69F4-B4D1-E2A4-76BCB1F83B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276475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/>
          </a:p>
          <a:p>
            <a:pPr eaLnBrk="1" hangingPunct="1"/>
            <a:endParaRPr lang="en-US" altLang="en-US" sz="2400"/>
          </a:p>
          <a:p>
            <a:pPr eaLnBrk="1" hangingPunct="1"/>
            <a:endParaRPr lang="en-US" altLang="en-US" sz="2400"/>
          </a:p>
          <a:p>
            <a:pPr eaLnBrk="1" hangingPunct="1"/>
            <a:endParaRPr lang="en-US" altLang="en-US" sz="2400"/>
          </a:p>
          <a:p>
            <a:pPr eaLnBrk="1" hangingPunct="1">
              <a:buFontTx/>
              <a:buNone/>
            </a:pPr>
            <a:r>
              <a:rPr lang="de-AT" altLang="en-US" sz="900" b="1">
                <a:solidFill>
                  <a:srgbClr val="000066"/>
                </a:solidFill>
              </a:rPr>
              <a:t>			</a:t>
            </a:r>
            <a:r>
              <a:rPr lang="de-AT" altLang="en-US" sz="1200" b="1">
                <a:solidFill>
                  <a:schemeClr val="accent2"/>
                </a:solidFill>
                <a:latin typeface="Georgia" panose="02040502050405020303" pitchFamily="18" charset="0"/>
              </a:rPr>
              <a:t>Asif Sohail</a:t>
            </a:r>
          </a:p>
          <a:p>
            <a:pPr eaLnBrk="1" hangingPunct="1">
              <a:buFontTx/>
              <a:buNone/>
            </a:pPr>
            <a:r>
              <a:rPr lang="de-AT" altLang="en-US" sz="1200" b="1">
                <a:solidFill>
                  <a:srgbClr val="0000FF"/>
                </a:solidFill>
                <a:latin typeface="Georgia" panose="02040502050405020303" pitchFamily="18" charset="0"/>
              </a:rPr>
              <a:t>			</a:t>
            </a:r>
          </a:p>
          <a:p>
            <a:pPr eaLnBrk="1" hangingPunct="1">
              <a:buFontTx/>
              <a:buNone/>
            </a:pPr>
            <a:r>
              <a:rPr lang="de-AT" altLang="en-US" sz="1200" b="1">
                <a:solidFill>
                  <a:srgbClr val="0000FF"/>
                </a:solidFill>
                <a:latin typeface="Georgia" panose="02040502050405020303" pitchFamily="18" charset="0"/>
              </a:rPr>
              <a:t>			</a:t>
            </a:r>
            <a:r>
              <a:rPr lang="de-AT" altLang="en-US" sz="1200" b="1">
                <a:solidFill>
                  <a:srgbClr val="800000"/>
                </a:solidFill>
                <a:latin typeface="Georgia" panose="02040502050405020303" pitchFamily="18" charset="0"/>
              </a:rPr>
              <a:t>Assistant Professor</a:t>
            </a:r>
            <a:endParaRPr lang="de-AT" altLang="en-US" sz="1200">
              <a:solidFill>
                <a:srgbClr val="800000"/>
              </a:solidFill>
              <a:latin typeface="Georgia" panose="02040502050405020303" pitchFamily="18" charset="0"/>
            </a:endParaRPr>
          </a:p>
          <a:p>
            <a:pPr eaLnBrk="1" hangingPunct="1">
              <a:buFontTx/>
              <a:buNone/>
            </a:pPr>
            <a:r>
              <a:rPr lang="de-AT" altLang="en-US" sz="1200" b="1">
                <a:solidFill>
                  <a:srgbClr val="0000FF"/>
                </a:solidFill>
                <a:latin typeface="Georgia" panose="02040502050405020303" pitchFamily="18" charset="0"/>
              </a:rPr>
              <a:t>			</a:t>
            </a:r>
            <a:r>
              <a:rPr lang="de-AT" altLang="en-US" sz="1200">
                <a:solidFill>
                  <a:srgbClr val="0000FF"/>
                </a:solidFill>
                <a:latin typeface="Georgia" panose="02040502050405020303" pitchFamily="18" charset="0"/>
              </a:rPr>
              <a:t>University of the Punjab</a:t>
            </a:r>
          </a:p>
          <a:p>
            <a:pPr eaLnBrk="1" hangingPunct="1">
              <a:buFontTx/>
              <a:buNone/>
            </a:pPr>
            <a:r>
              <a:rPr lang="de-AT" altLang="en-US" sz="1200">
                <a:solidFill>
                  <a:srgbClr val="0000FF"/>
                </a:solidFill>
                <a:latin typeface="Georgia" panose="02040502050405020303" pitchFamily="18" charset="0"/>
              </a:rPr>
              <a:t>			Punjab University College of Information Technology (PUCIT)</a:t>
            </a:r>
          </a:p>
          <a:p>
            <a:pPr eaLnBrk="1" hangingPunct="1">
              <a:buFontTx/>
              <a:buNone/>
            </a:pPr>
            <a:r>
              <a:rPr lang="de-AT" altLang="en-US" sz="1200">
                <a:solidFill>
                  <a:srgbClr val="0000FF"/>
                </a:solidFill>
                <a:latin typeface="Georgia" panose="02040502050405020303" pitchFamily="18" charset="0"/>
              </a:rPr>
              <a:t>			Allama Iqbal (Old) Campus, Anarkali</a:t>
            </a:r>
          </a:p>
          <a:p>
            <a:pPr eaLnBrk="1" hangingPunct="1">
              <a:buFontTx/>
              <a:buNone/>
            </a:pPr>
            <a:r>
              <a:rPr lang="de-AT" altLang="en-US" sz="1200">
                <a:solidFill>
                  <a:srgbClr val="0000FF"/>
                </a:solidFill>
                <a:latin typeface="Georgia" panose="02040502050405020303" pitchFamily="18" charset="0"/>
              </a:rPr>
              <a:t>			Lahore, Pakistan</a:t>
            </a:r>
          </a:p>
          <a:p>
            <a:pPr eaLnBrk="1" hangingPunct="1">
              <a:buFontTx/>
              <a:buNone/>
            </a:pPr>
            <a:r>
              <a:rPr lang="de-AT" altLang="en-US" sz="1200" b="1">
                <a:solidFill>
                  <a:srgbClr val="0000FF"/>
                </a:solidFill>
                <a:latin typeface="Georgia" panose="02040502050405020303" pitchFamily="18" charset="0"/>
              </a:rPr>
              <a:t>	</a:t>
            </a:r>
            <a:r>
              <a:rPr lang="de-AT" altLang="en-US" sz="1200">
                <a:solidFill>
                  <a:srgbClr val="0000FF"/>
                </a:solidFill>
                <a:latin typeface="Georgia" panose="02040502050405020303" pitchFamily="18" charset="0"/>
              </a:rPr>
              <a:t>		Tel:                  +92-(0)42-111-923-923    Ext. </a:t>
            </a:r>
            <a:r>
              <a:rPr lang="de-AT" altLang="en-US" sz="1200">
                <a:solidFill>
                  <a:srgbClr val="0000FF"/>
                </a:solidFill>
                <a:latin typeface="Times New Roman" panose="02020603050405020304" pitchFamily="18" charset="0"/>
              </a:rPr>
              <a:t>154</a:t>
            </a:r>
          </a:p>
          <a:p>
            <a:pPr eaLnBrk="1" hangingPunct="1">
              <a:buFontTx/>
              <a:buNone/>
            </a:pPr>
            <a:r>
              <a:rPr lang="de-AT" altLang="en-US" sz="1200">
                <a:solidFill>
                  <a:srgbClr val="0000FF"/>
                </a:solidFill>
                <a:latin typeface="Georgia" panose="02040502050405020303" pitchFamily="18" charset="0"/>
              </a:rPr>
              <a:t>			E-mail:           asif@pucit.edu.pk</a:t>
            </a:r>
          </a:p>
          <a:p>
            <a:pPr eaLnBrk="1" hangingPunct="1"/>
            <a:endParaRPr lang="en-US" altLang="en-US" sz="1200">
              <a:solidFill>
                <a:srgbClr val="0000FF"/>
              </a:solidFill>
              <a:latin typeface="Georgia" panose="02040502050405020303" pitchFamily="18" charset="0"/>
            </a:endParaRPr>
          </a:p>
        </p:txBody>
      </p:sp>
      <p:pic>
        <p:nvPicPr>
          <p:cNvPr id="52229" name="Picture 10">
            <a:extLst>
              <a:ext uri="{FF2B5EF4-FFF2-40B4-BE49-F238E27FC236}">
                <a16:creationId xmlns:a16="http://schemas.microsoft.com/office/drawing/2014/main" id="{05A035CB-C0FE-AD89-DC9A-352911232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25" y="0"/>
            <a:ext cx="803275" cy="112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30" name="Picture 12">
            <a:extLst>
              <a:ext uri="{FF2B5EF4-FFF2-40B4-BE49-F238E27FC236}">
                <a16:creationId xmlns:a16="http://schemas.microsoft.com/office/drawing/2014/main" id="{C3A4ED30-A310-DE43-B0DF-639432297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38" y="0"/>
            <a:ext cx="955675" cy="112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tandarddesign">
  <a:themeElements>
    <a:clrScheme name="Standard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Master">
  <a:themeElements>
    <a:clrScheme name="Master.po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Master.po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rgbClr val="3333CC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rgbClr val="3333CC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Master.po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.po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ster.po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.po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.po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.po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.po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Standarddesign">
  <a:themeElements>
    <a:clrScheme name="Standard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Overload Protection</Template>
  <TotalTime>14831</TotalTime>
  <Words>2230</Words>
  <Application>Microsoft Office PowerPoint</Application>
  <PresentationFormat>On-screen Show (4:3)</PresentationFormat>
  <Paragraphs>293</Paragraphs>
  <Slides>43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9" baseType="lpstr">
      <vt:lpstr>Arial</vt:lpstr>
      <vt:lpstr>Bookman Old Style</vt:lpstr>
      <vt:lpstr>Calibri</vt:lpstr>
      <vt:lpstr>Franklin Gothic Book</vt:lpstr>
      <vt:lpstr>Georgia</vt:lpstr>
      <vt:lpstr>Monotype Sorts</vt:lpstr>
      <vt:lpstr>Perpetua</vt:lpstr>
      <vt:lpstr>Times New Roman</vt:lpstr>
      <vt:lpstr>Wingdings</vt:lpstr>
      <vt:lpstr>Wingdings 2</vt:lpstr>
      <vt:lpstr>Standarddesign</vt:lpstr>
      <vt:lpstr>1_Master</vt:lpstr>
      <vt:lpstr>1_Standarddesign</vt:lpstr>
      <vt:lpstr>1_Equity</vt:lpstr>
      <vt:lpstr>Equity</vt:lpstr>
      <vt:lpstr>VISIO</vt:lpstr>
      <vt:lpstr> Unit - 6 Entity Relationship (ER) Model  </vt:lpstr>
      <vt:lpstr>Outline</vt:lpstr>
      <vt:lpstr>Entity Relationship (ER) Model</vt:lpstr>
      <vt:lpstr>ER Model – Basic Constructs</vt:lpstr>
      <vt:lpstr>ER Model – Notations</vt:lpstr>
      <vt:lpstr>Sample ERD</vt:lpstr>
      <vt:lpstr>Sample ERD</vt:lpstr>
      <vt:lpstr>Naming Entity Type</vt:lpstr>
      <vt:lpstr>E-R Model</vt:lpstr>
      <vt:lpstr>E-R Model</vt:lpstr>
      <vt:lpstr>E-R Model</vt:lpstr>
      <vt:lpstr>Cardinality of a Relationship</vt:lpstr>
      <vt:lpstr>Relationship Participation</vt:lpstr>
      <vt:lpstr>Relationship Participation</vt:lpstr>
      <vt:lpstr>Relationship Participation</vt:lpstr>
      <vt:lpstr>PowerPoint Presentation</vt:lpstr>
      <vt:lpstr>E-R Model</vt:lpstr>
      <vt:lpstr>E-R Model</vt:lpstr>
      <vt:lpstr>E-R Model</vt:lpstr>
      <vt:lpstr>PowerPoint Presentation</vt:lpstr>
      <vt:lpstr>PowerPoint Presentation</vt:lpstr>
      <vt:lpstr>E-R Model</vt:lpstr>
      <vt:lpstr>Weak Entity, Identifying Relationship</vt:lpstr>
      <vt:lpstr>PowerPoint Presentation</vt:lpstr>
      <vt:lpstr>E-R Model</vt:lpstr>
      <vt:lpstr>E-R Model</vt:lpstr>
      <vt:lpstr>E-R Model</vt:lpstr>
      <vt:lpstr>Ternary Relationship</vt:lpstr>
      <vt:lpstr>Ternary Relationship = Three Binary Relationships?</vt:lpstr>
      <vt:lpstr>Ternary Relationship + Binary Relationships</vt:lpstr>
      <vt:lpstr>Weak Entity in a Ternary Relationship</vt:lpstr>
      <vt:lpstr>PowerPoint Presentation</vt:lpstr>
      <vt:lpstr>Associative Entity</vt:lpstr>
      <vt:lpstr>Associative Entity</vt:lpstr>
      <vt:lpstr>Associative Entity / Ternary Relationship</vt:lpstr>
      <vt:lpstr>Converting Relationship to an Associative Entity</vt:lpstr>
      <vt:lpstr>E-R Model</vt:lpstr>
      <vt:lpstr>PowerPoint Presentation</vt:lpstr>
      <vt:lpstr>PowerPoint Presentation</vt:lpstr>
      <vt:lpstr>PowerPoint Presentation</vt:lpstr>
      <vt:lpstr>PowerPoint Presentation</vt:lpstr>
      <vt:lpstr>Reading Material</vt:lpstr>
      <vt:lpstr> Thank you for your attention.</vt:lpstr>
    </vt:vector>
  </TitlesOfParts>
  <Company>TU - Wien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Analytical Model for Performance Measurement of Queueing Systems</dc:title>
  <dc:creator>ssarwar</dc:creator>
  <cp:lastModifiedBy>Asif Sohail</cp:lastModifiedBy>
  <cp:revision>756</cp:revision>
  <dcterms:created xsi:type="dcterms:W3CDTF">2006-05-17T12:38:56Z</dcterms:created>
  <dcterms:modified xsi:type="dcterms:W3CDTF">2024-10-14T07:32:57Z</dcterms:modified>
</cp:coreProperties>
</file>