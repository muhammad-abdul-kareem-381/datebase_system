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920" r:id="rId2"/>
    <p:sldMasterId id="2147483933" r:id="rId3"/>
  </p:sldMasterIdLst>
  <p:notesMasterIdLst>
    <p:notesMasterId r:id="rId34"/>
  </p:notesMasterIdLst>
  <p:handoutMasterIdLst>
    <p:handoutMasterId r:id="rId35"/>
  </p:handoutMasterIdLst>
  <p:sldIdLst>
    <p:sldId id="256" r:id="rId4"/>
    <p:sldId id="425" r:id="rId5"/>
    <p:sldId id="414" r:id="rId6"/>
    <p:sldId id="412" r:id="rId7"/>
    <p:sldId id="428" r:id="rId8"/>
    <p:sldId id="429" r:id="rId9"/>
    <p:sldId id="418" r:id="rId10"/>
    <p:sldId id="474" r:id="rId11"/>
    <p:sldId id="415" r:id="rId12"/>
    <p:sldId id="419" r:id="rId13"/>
    <p:sldId id="420" r:id="rId14"/>
    <p:sldId id="421" r:id="rId15"/>
    <p:sldId id="422" r:id="rId16"/>
    <p:sldId id="423" r:id="rId17"/>
    <p:sldId id="490" r:id="rId18"/>
    <p:sldId id="433" r:id="rId19"/>
    <p:sldId id="434" r:id="rId20"/>
    <p:sldId id="452" r:id="rId21"/>
    <p:sldId id="453" r:id="rId22"/>
    <p:sldId id="438" r:id="rId23"/>
    <p:sldId id="439" r:id="rId24"/>
    <p:sldId id="440" r:id="rId25"/>
    <p:sldId id="441" r:id="rId26"/>
    <p:sldId id="489" r:id="rId27"/>
    <p:sldId id="488" r:id="rId28"/>
    <p:sldId id="491" r:id="rId29"/>
    <p:sldId id="457" r:id="rId30"/>
    <p:sldId id="456" r:id="rId31"/>
    <p:sldId id="473" r:id="rId32"/>
    <p:sldId id="492" r:id="rId33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800000"/>
    <a:srgbClr val="006600"/>
    <a:srgbClr val="FFFF66"/>
    <a:srgbClr val="FF0000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0" autoAdjust="0"/>
    <p:restoredTop sz="83597" autoAdjust="0"/>
  </p:normalViewPr>
  <p:slideViewPr>
    <p:cSldViewPr>
      <p:cViewPr varScale="1">
        <p:scale>
          <a:sx n="83" d="100"/>
          <a:sy n="83" d="100"/>
        </p:scale>
        <p:origin x="156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C4388169-52DB-0DF6-B356-36D842BEA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4DEACB86-61C8-3F93-A9B1-9F7EE7B34F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5795B2E1-BA1B-1B57-98B5-8BAD45F0514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559AD6F7-F069-1591-5BD4-933D3B82E75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63543D63-9FDD-4C5B-B361-A8BE00DD961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B08A17-05CF-E5B5-A12D-EDE06F5533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5E68A27-6EAB-FB83-2B4A-64A3AF67AA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8CBA73F-855A-F219-3EB4-09F74349AF3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88D5835-B281-C2AA-02E7-C751AB79458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DCEC83-D01B-EAAA-3EC9-683255A094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C0F951B-EC13-131E-8D29-19086EC4B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1F83F5EB-9B18-4642-B3FE-1BF4F4701F21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9EAEDC4-34A8-CA7C-B555-4D940CD281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406497-2EE2-4D24-91C4-B4428DAEDFBD}" type="slidenum">
              <a:rPr lang="de-AT" altLang="en-US"/>
              <a:pPr>
                <a:spcBef>
                  <a:spcPct val="0"/>
                </a:spcBef>
              </a:pPr>
              <a:t>1</a:t>
            </a:fld>
            <a:endParaRPr lang="de-AT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797A6CA-0AEA-FAE7-1484-B413AB221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1D30B3E-0556-992C-70C9-96BB683FC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709A3A3-FB91-2009-728A-90FE77D43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4E38D53-8395-5A00-0CE7-54E2D7B7C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4632325"/>
            <a:ext cx="4824413" cy="43894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5D3BED7-C837-27DE-ED0E-8EBABB5CAB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8B10B3F-983E-5822-9477-2E8E432E2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4632325"/>
            <a:ext cx="4824413" cy="43894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E35D723C-C9C7-A568-FCF7-4EB6D646C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7620E5-E56A-49FA-9155-1FDAD0A7E276}" type="slidenum">
              <a:rPr lang="de-AT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de-AT" altLang="en-US">
              <a:solidFill>
                <a:srgbClr val="000000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6836BE6-20E4-351B-BC60-248E1316E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FC398F3C-1D53-AF59-20A3-2AC1A709E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D5FABC-07D3-6948-517D-172B0E106F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43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1D18A8-62CE-EC27-9C98-6B62030FD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24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8424C2-D9AB-694C-63EF-99418EB6A7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81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65091-5DBC-04FA-7B92-C880DC8B3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02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81E322-2BB0-D85A-1B2C-ECED0D8FF5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22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AC4208-49B4-5A26-2CED-B3F24F9E4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038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1AE1640-7752-26B5-69CA-0A7925849A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89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1AC85-982D-9F32-3F98-FC94E12D5D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78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914A9-8F18-4558-75A7-97509EBE6A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14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6BFE0F-97E8-89B0-4E28-29AB306E6A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68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2100" y="228600"/>
            <a:ext cx="2068513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388" y="228600"/>
            <a:ext cx="6056312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8C24CF-BC29-8CE0-18FB-578FE1A264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3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33388" y="1524000"/>
            <a:ext cx="4062412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62413" cy="4641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32627-EA6C-2F15-0042-E6739796C3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984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246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30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68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20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34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144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88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25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76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4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278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1646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EABC10-8096-B392-8E28-794FBD3F495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6F00C893-4464-9E68-747B-76DCCFA5AA3D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0AEF5-E122-5199-83B9-109D07D9A13A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1B3DA-D001-1F07-C0D7-1B85B45A624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71ABC-2469-EC87-619C-9E94984D78B2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9E1F11EC-6D8C-0B06-A27F-18F0C316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03B8B0-006A-4C42-A34E-65E96B126238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742975DB-6EE1-D26C-8E3A-3AC74337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4243921B-A0AC-2B24-CCDB-553C8D15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FCD2EC-1622-4498-949E-A77678AEE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23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0596EB7-6B03-0CCE-FF75-0A4C6DC1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0C93A-40BF-42F8-94A1-B10DFBBB76B9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F3AF59-C77D-9558-FEE8-0EC59C27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DFAB3E34-36DB-61B3-5347-0BA00A3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1AEF2-00BE-4ACB-908F-6C5B9170E9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709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00BB6-2AEA-0405-ACCA-3EE562FBFED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F9D7071B-7C49-4FE5-B04D-66CCBA6F05A8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D9CC-DA7C-A4DA-62E7-9E02715AD49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84B7D-DA62-54AE-B5D6-18893A517726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12E63-CFA3-55AD-5E94-14EB9A7BAD99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8F3446-3673-616E-D1EF-415820D3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1A69C5-D665-4D69-ADF6-FDA97479E0D6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3ECEB32-4E6B-BC04-F753-45859E47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9843BEA-E03A-56C6-1F05-6C6A5623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C548B-73AB-4151-969D-C9A01E77FC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73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D0EDF11-59C3-B0CE-F83D-BAF757A7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2A11C7-3A94-46B1-9763-775E07EC9BDA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327C74-2B31-E410-B82C-D65BD41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E579B718-9FF1-1CE4-D879-6E110981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98DB8-2C30-49AF-8D9F-66ED2D4702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3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9E13318-3C2C-17D9-2780-B2AB9BD6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62E0D9-9325-4850-8126-2BB3F4FE17E3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E7F8279-C1C6-4491-378F-C5676129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A1FC29F-EA9A-36BA-9D21-F550ABF2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7D064-2A2D-459C-AA33-45E937364A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691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C43417C-FB32-AD5C-A1AB-5FE18F53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5445D6-AB86-43FA-9685-C935CF53BDF0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F20B94F-9A14-ECBE-A615-3EDE9EE3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B3EAFF6B-1D1A-D032-BE24-4EC0FB34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EF28A-C8E9-4921-B3EC-87F91712D3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338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178C3D91-967A-7765-909A-45CBD5D4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8BD775-47FB-49A6-91E2-2F5858D71BCC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CF2EE-0487-9042-237B-03B4B9F5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24BC4622-16B8-2D99-164C-5F0166AA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8C5B0-7618-4CAE-9C97-FA18CC613E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653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F1033D-F99D-D415-2D36-746C96DF209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19E83448-C57E-0EA4-0201-456791FF433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EBC332B-D7E4-8A68-D5EA-207A2135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B51583-DB4D-4CAA-9AD0-2975CA45AD5E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B2854A-A212-373B-5E20-D8CF5541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7871EA-3169-4AD8-4D64-84230DD5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8A646-FC6D-4BF3-9A3C-335ADF699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49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50C82-46A9-40E5-D89E-72ACBC78C8BE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EFAC6-B3C7-CC68-1EE0-FA41BBEE1713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ABAEAA-C345-59E6-CF29-43AC0AF55765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1DF1408-AFED-338E-5397-EF1E19CB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EAAE82-5681-426B-953E-519B972B319B}" type="datetime1">
              <a:rPr lang="en-US"/>
              <a:pPr>
                <a:defRPr/>
              </a:pPr>
              <a:t>10/20/2024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7AE38F8-EC5E-CFCB-714F-20D7AC98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28D2ED2-DB0B-B70A-CB28-EB7AB4E5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80832-9B40-4A2C-AF9D-BBEBF87E1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263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C5592A2A-3701-55CE-2BF7-A8097350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48C7B2-4C1D-4439-9CF4-D240B24FF89D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A7DEBC0-4BDB-B81C-3DC8-C7BFBAE2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BBB7BC0-8B72-71BF-D846-5501ED3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2E0D0-5A0B-415F-B869-CE5BF8D86E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3592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3F0B6342-F3B5-A0CA-40EB-4A10E250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A6CACF-EE64-4929-9768-38F8DCC2EBC4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85CD542-BA8D-1D09-D01D-D5FB0201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53DEDED-BD36-A3C4-AB12-6B0768E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DCB8F-B69A-4A4A-B5C5-D6961081BC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7232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C37F4C-0292-5E75-42AD-44F77B67CB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37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9134DA-07C2-475C-1184-409B261D9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33388" y="228600"/>
            <a:ext cx="8277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Titel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4D9485-95B7-1751-C1C8-E90A97AAF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3388" y="1524000"/>
            <a:ext cx="827722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Erste Ebene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A272124-8DC6-167B-7573-81C49F4ECF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14">
            <a:extLst>
              <a:ext uri="{FF2B5EF4-FFF2-40B4-BE49-F238E27FC236}">
                <a16:creationId xmlns:a16="http://schemas.microsoft.com/office/drawing/2014/main" id="{139046AB-BC2C-BA4D-B98D-871C14A49B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125538"/>
            <a:ext cx="8748712" cy="73025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0" name="Rectangle 10">
            <a:extLst>
              <a:ext uri="{FF2B5EF4-FFF2-40B4-BE49-F238E27FC236}">
                <a16:creationId xmlns:a16="http://schemas.microsoft.com/office/drawing/2014/main" id="{D44EFDD6-2AB3-D08A-657B-EAE458B1A5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69075"/>
            <a:ext cx="9167813" cy="3159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FF858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031" name="Text Box 11">
            <a:extLst>
              <a:ext uri="{FF2B5EF4-FFF2-40B4-BE49-F238E27FC236}">
                <a16:creationId xmlns:a16="http://schemas.microsoft.com/office/drawing/2014/main" id="{5D8DC1C8-3BE8-46C9-F1C1-FE3687678B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36513" y="6583363"/>
            <a:ext cx="5905501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de-DE" sz="1000">
                <a:solidFill>
                  <a:srgbClr val="FFFF00"/>
                </a:solidFill>
                <a:cs typeface="Arial" charset="0"/>
              </a:rPr>
              <a:t>Database Systems</a:t>
            </a:r>
            <a:endParaRPr lang="de-DE" sz="1000">
              <a:solidFill>
                <a:srgbClr val="FFFF00"/>
              </a:solidFill>
            </a:endParaRPr>
          </a:p>
        </p:txBody>
      </p:sp>
      <p:sp>
        <p:nvSpPr>
          <p:cNvPr id="1032" name="Rectangle 12">
            <a:extLst>
              <a:ext uri="{FF2B5EF4-FFF2-40B4-BE49-F238E27FC236}">
                <a16:creationId xmlns:a16="http://schemas.microsoft.com/office/drawing/2014/main" id="{54C9D716-D7CF-4AC3-676A-8E528B6D6D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596188" y="6640513"/>
            <a:ext cx="1905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en-US" sz="1000"/>
              <a:t>Slide </a:t>
            </a:r>
            <a:fld id="{65307273-A09F-4BFC-8C84-25396DDAFA85}" type="slidenum">
              <a:rPr lang="de-DE" altLang="en-US" sz="1000"/>
              <a:pPr algn="ctr" eaLnBrk="1" hangingPunct="1"/>
              <a:t>‹#›</a:t>
            </a:fld>
            <a:endParaRPr lang="de-DE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1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546855-5A2A-901A-F9CB-1D8CCA51A7F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768924DC-18A4-B812-6773-0925E2CB927E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52" name="Title Placeholder 21">
            <a:extLst>
              <a:ext uri="{FF2B5EF4-FFF2-40B4-BE49-F238E27FC236}">
                <a16:creationId xmlns:a16="http://schemas.microsoft.com/office/drawing/2014/main" id="{25698EBF-86B7-E47A-3C18-A10EA5B6E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3" name="Text Placeholder 12">
            <a:extLst>
              <a:ext uri="{FF2B5EF4-FFF2-40B4-BE49-F238E27FC236}">
                <a16:creationId xmlns:a16="http://schemas.microsoft.com/office/drawing/2014/main" id="{6E95D8BC-6557-DC12-FF85-225EFA47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15F4504-31BE-5531-9DA0-1E6F6C5F4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F4D158-3D15-44B9-B4CD-31DBF070DB2F}" type="datetime1">
              <a:rPr lang="en-US"/>
              <a:pPr>
                <a:defRPr/>
              </a:pPr>
              <a:t>10/20/2024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BBADE-AEDD-F5B2-9A83-5E73F4874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74B5963-C7ED-86E3-69D0-C8A16E38B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AD33D01-FB0C-4B77-98BE-7250A88D73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0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6DCBE2-9E13-33A6-0FA2-33C4C7DC91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0575" y="1557338"/>
            <a:ext cx="7669213" cy="2087562"/>
          </a:xfrm>
          <a:solidFill>
            <a:srgbClr val="FFFFCC">
              <a:alpha val="20000"/>
            </a:srgbClr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50000"/>
              </a:lnSpc>
            </a:pP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u="sng" dirty="0">
                <a:solidFill>
                  <a:srgbClr val="800000"/>
                </a:solidFill>
              </a:rPr>
              <a:t>Unit - 7</a:t>
            </a:r>
            <a:br>
              <a:rPr lang="en-US" altLang="en-US" sz="3200" b="1" dirty="0">
                <a:solidFill>
                  <a:srgbClr val="800000"/>
                </a:solidFill>
              </a:rPr>
            </a:br>
            <a:r>
              <a:rPr lang="en-US" altLang="en-US" sz="3200" b="1" dirty="0">
                <a:solidFill>
                  <a:schemeClr val="accent2"/>
                </a:solidFill>
              </a:rPr>
              <a:t>Extended or Enhanced ER Model</a:t>
            </a:r>
            <a:br>
              <a:rPr lang="en-US" altLang="en-US" sz="3200" b="1" dirty="0">
                <a:solidFill>
                  <a:schemeClr val="accent2"/>
                </a:solidFill>
              </a:rPr>
            </a:br>
            <a:br>
              <a:rPr lang="en-US" altLang="en-US" sz="2400" b="1" dirty="0">
                <a:solidFill>
                  <a:schemeClr val="folHlink"/>
                </a:solidFill>
              </a:rPr>
            </a:br>
            <a:endParaRPr lang="de-AT" altLang="en-US" sz="1400" dirty="0">
              <a:solidFill>
                <a:schemeClr val="accent2"/>
              </a:solidFill>
            </a:endParaRPr>
          </a:p>
        </p:txBody>
      </p:sp>
      <p:pic>
        <p:nvPicPr>
          <p:cNvPr id="5124" name="Picture 9">
            <a:extLst>
              <a:ext uri="{FF2B5EF4-FFF2-40B4-BE49-F238E27FC236}">
                <a16:creationId xmlns:a16="http://schemas.microsoft.com/office/drawing/2014/main" id="{79F2DB2B-E4C0-2DCE-FAE9-062F8A006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11">
            <a:extLst>
              <a:ext uri="{FF2B5EF4-FFF2-40B4-BE49-F238E27FC236}">
                <a16:creationId xmlns:a16="http://schemas.microsoft.com/office/drawing/2014/main" id="{6F961AD4-1210-9CC3-D508-526C72E11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2D64D2-1BE4-52E2-B256-E88AC8870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4084638"/>
            <a:ext cx="7669213" cy="1584325"/>
          </a:xfrm>
          <a:prstGeom prst="rect">
            <a:avLst/>
          </a:prstGeom>
          <a:solidFill>
            <a:srgbClr val="FFFFCC">
              <a:alpha val="20000"/>
            </a:srgbClr>
          </a:solidFill>
          <a:ln w="38100" cap="flat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endParaRPr lang="en-US" altLang="en-US" sz="2400" b="1" kern="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3200" kern="0" dirty="0">
                <a:solidFill>
                  <a:srgbClr val="800000"/>
                </a:solidFill>
              </a:rPr>
              <a:t>Dr. Asif Sohail</a:t>
            </a:r>
            <a:r>
              <a:rPr lang="en-US" altLang="en-US" sz="3200" kern="0" dirty="0">
                <a:solidFill>
                  <a:schemeClr val="folHlink"/>
                </a:solidFill>
              </a:rPr>
              <a:t> </a:t>
            </a:r>
            <a:br>
              <a:rPr lang="en-US" altLang="en-US" sz="3200" b="1" kern="0" dirty="0">
                <a:solidFill>
                  <a:schemeClr val="folHlink"/>
                </a:solidFill>
              </a:rPr>
            </a:br>
            <a:br>
              <a:rPr lang="en-US" altLang="en-US" sz="3200" b="1" kern="0" dirty="0"/>
            </a:br>
            <a:r>
              <a:rPr lang="en-US" altLang="en-US" sz="1800" b="1" kern="0" dirty="0"/>
              <a:t>University of the Punjab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lang="en-US" altLang="en-US" sz="1800" b="1" kern="0" dirty="0">
                <a:solidFill>
                  <a:schemeClr val="accent2"/>
                </a:solidFill>
              </a:rPr>
              <a:t>Department of Information Technology, FCIT</a:t>
            </a:r>
            <a:endParaRPr lang="de-AT" altLang="en-US" sz="1800" b="1" kern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91A130-0171-4247-CD72-BA7A75581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63575"/>
            <a:ext cx="5400675" cy="533400"/>
          </a:xfrm>
        </p:spPr>
        <p:txBody>
          <a:bodyPr/>
          <a:lstStyle/>
          <a:p>
            <a:r>
              <a:rPr lang="en-US" altLang="en-US" sz="2400" b="1">
                <a:solidFill>
                  <a:srgbClr val="800000"/>
                </a:solidFill>
              </a:rPr>
              <a:t>Extended or Enhanced ER Model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16CCA6C-1E56-CBFF-1BBA-8FAE34FBC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33488"/>
            <a:ext cx="8664575" cy="4427537"/>
          </a:xfrm>
        </p:spPr>
        <p:txBody>
          <a:bodyPr/>
          <a:lstStyle/>
          <a:p>
            <a:pPr algn="just"/>
            <a:r>
              <a:rPr lang="en-US" altLang="en-US" sz="2400" dirty="0"/>
              <a:t>It extends original E-R model with new modeling constructs.</a:t>
            </a:r>
          </a:p>
          <a:p>
            <a:pPr algn="just"/>
            <a:r>
              <a:rPr lang="en-US" altLang="en-US" sz="2400" dirty="0"/>
              <a:t>Used to cope with the dynamic and complex business environment.</a:t>
            </a:r>
          </a:p>
          <a:p>
            <a:pPr algn="just"/>
            <a:r>
              <a:rPr lang="en-US" altLang="en-US" sz="2400" dirty="0"/>
              <a:t>It uses the representations for </a:t>
            </a:r>
            <a:r>
              <a:rPr lang="en-US" altLang="en-US" sz="2400" dirty="0">
                <a:solidFill>
                  <a:schemeClr val="accent2"/>
                </a:solidFill>
              </a:rPr>
              <a:t>supertypes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chemeClr val="accent2"/>
                </a:solidFill>
              </a:rPr>
              <a:t>subtypes.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CBAAC8-9A3D-3274-82D0-B27AA3536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1400" y="152400"/>
            <a:ext cx="17526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graphicFrame>
        <p:nvGraphicFramePr>
          <p:cNvPr id="101380" name="Group 4">
            <a:extLst>
              <a:ext uri="{FF2B5EF4-FFF2-40B4-BE49-F238E27FC236}">
                <a16:creationId xmlns:a16="http://schemas.microsoft.com/office/drawing/2014/main" id="{DEEE4D7B-A6FB-1EA5-810A-22A6992B9B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03374306"/>
              </p:ext>
            </p:extLst>
          </p:nvPr>
        </p:nvGraphicFramePr>
        <p:xfrm>
          <a:off x="455613" y="1268413"/>
          <a:ext cx="8308975" cy="2284413"/>
        </p:xfrm>
        <a:graphic>
          <a:graphicData uri="http://schemas.openxmlformats.org/drawingml/2006/table">
            <a:tbl>
              <a:tblPr/>
              <a:tblGrid>
                <a:gridCol w="254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1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EMPLOYEE TYPE</a:t>
                      </a:r>
                    </a:p>
                  </a:txBody>
                  <a:tcPr marL="91450" marR="91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</a:t>
                      </a:r>
                    </a:p>
                  </a:txBody>
                  <a:tcPr marL="91450" marR="91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</a:rPr>
                        <a:t>1. Hourly</a:t>
                      </a:r>
                    </a:p>
                  </a:txBody>
                  <a:tcPr marL="91450" marR="914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ENo, EName, Address, Hire_Date,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Hourly_Rate</a:t>
                      </a:r>
                    </a:p>
                  </a:txBody>
                  <a:tcPr marL="91450" marR="914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</a:rPr>
                        <a:t>2. Salaried</a:t>
                      </a:r>
                    </a:p>
                  </a:txBody>
                  <a:tcPr marL="91450" marR="914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ENo, EName, Address, Hire_Date,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Salary </a:t>
                      </a:r>
                    </a:p>
                  </a:txBody>
                  <a:tcPr marL="91450" marR="914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</a:rPr>
                        <a:t>3. Contract</a:t>
                      </a:r>
                    </a:p>
                  </a:txBody>
                  <a:tcPr marL="91450" marR="9145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EName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Address,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Hire_Date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Rate </a:t>
                      </a:r>
                    </a:p>
                  </a:txBody>
                  <a:tcPr marL="91450" marR="914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212" name="Rectangle 21">
            <a:extLst>
              <a:ext uri="{FF2B5EF4-FFF2-40B4-BE49-F238E27FC236}">
                <a16:creationId xmlns:a16="http://schemas.microsoft.com/office/drawing/2014/main" id="{131CB431-122E-4F78-73F6-AFBE54D95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17925"/>
            <a:ext cx="89154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marL="341313" indent="-341313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000"/>
              <a:t>We have three choices for ER diagram:</a:t>
            </a:r>
          </a:p>
          <a:p>
            <a:pPr algn="just">
              <a:buFont typeface="Wingdings" panose="05000000000000000000" pitchFamily="2" charset="2"/>
              <a:buAutoNum type="arabicPeriod"/>
            </a:pPr>
            <a:r>
              <a:rPr lang="en-US" altLang="en-US" sz="2000"/>
              <a:t>Define a single entity type </a:t>
            </a:r>
            <a:r>
              <a:rPr lang="en-US" altLang="en-US" sz="2000">
                <a:solidFill>
                  <a:schemeClr val="accent2"/>
                </a:solidFill>
              </a:rPr>
              <a:t>Employee</a:t>
            </a:r>
            <a:r>
              <a:rPr lang="en-US" altLang="en-US" sz="2000"/>
              <a:t> with all the possible attributes in it.</a:t>
            </a:r>
          </a:p>
          <a:p>
            <a:pPr algn="just">
              <a:buFont typeface="Wingdings" panose="05000000000000000000" pitchFamily="2" charset="2"/>
              <a:buAutoNum type="arabicPeriod"/>
            </a:pPr>
            <a:r>
              <a:rPr lang="en-US" altLang="en-US" sz="2000"/>
              <a:t>Define a separate entity type for each employee type.</a:t>
            </a:r>
          </a:p>
          <a:p>
            <a:pPr algn="just">
              <a:buFont typeface="Wingdings" panose="05000000000000000000" pitchFamily="2" charset="2"/>
              <a:buAutoNum type="arabicPeriod"/>
            </a:pPr>
            <a:r>
              <a:rPr lang="en-US" altLang="en-US" sz="2000"/>
              <a:t>Define a supertype with all the common attributes and introduce its subtypes having only the applicable attributes.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</a:rPr>
              <a:t>	ER Diagram</a:t>
            </a:r>
          </a:p>
        </p:txBody>
      </p:sp>
      <p:sp>
        <p:nvSpPr>
          <p:cNvPr id="8213" name="Rectangle 1">
            <a:extLst>
              <a:ext uri="{FF2B5EF4-FFF2-40B4-BE49-F238E27FC236}">
                <a16:creationId xmlns:a16="http://schemas.microsoft.com/office/drawing/2014/main" id="{EEE12B82-FF36-D567-D1D0-3246B48B1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50875"/>
            <a:ext cx="5102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Super Types, Subtypes - Example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F166C19-E541-3B83-08CA-5BF20581E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1400" y="76200"/>
            <a:ext cx="17526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838551E-BA33-768B-753A-F3446E0A8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350" y="1169988"/>
            <a:ext cx="8288338" cy="4995862"/>
          </a:xfrm>
        </p:spPr>
        <p:txBody>
          <a:bodyPr/>
          <a:lstStyle/>
          <a:p>
            <a:pPr marL="231775" indent="-231775" algn="just">
              <a:defRPr/>
            </a:pPr>
            <a:r>
              <a:rPr lang="en-US" sz="2000" dirty="0">
                <a:latin typeface="Calibri" pitchFamily="34" charset="0"/>
              </a:rPr>
              <a:t>A Super type is a generic entity type that is subdivided into subtypes.</a:t>
            </a:r>
          </a:p>
          <a:p>
            <a:pPr marL="231775" indent="-231775" algn="just">
              <a:defRPr/>
            </a:pPr>
            <a:r>
              <a:rPr lang="en-US" sz="2000" dirty="0">
                <a:latin typeface="Calibri" pitchFamily="34" charset="0"/>
              </a:rPr>
              <a:t>A Subtype is a subset of a super type that shares the common attributes of the super type plus it has some of its own attributes that distinguish it from other subtypes.</a:t>
            </a:r>
          </a:p>
          <a:p>
            <a:pPr marL="231775" indent="-231775" algn="just">
              <a:defRPr/>
            </a:pPr>
            <a:r>
              <a:rPr lang="en-US" sz="2000" dirty="0">
                <a:latin typeface="Calibri" pitchFamily="34" charset="0"/>
              </a:rPr>
              <a:t>The super type and subtypes employ the concept of Generalization and Categorization.</a:t>
            </a:r>
          </a:p>
          <a:p>
            <a:pPr marL="231775" indent="-231775" algn="just">
              <a:defRPr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</a:rPr>
              <a:t>Generalization</a:t>
            </a:r>
            <a:r>
              <a:rPr lang="en-US" sz="2000" dirty="0">
                <a:latin typeface="Calibri" pitchFamily="34" charset="0"/>
              </a:rPr>
              <a:t> is the concept that some entities are subtypes of other more general entities. E.g. Bird, Vehicle etc.</a:t>
            </a:r>
          </a:p>
          <a:p>
            <a:pPr marL="231775" indent="-231775" algn="just">
              <a:defRPr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</a:rPr>
              <a:t>Categorization</a:t>
            </a:r>
            <a:r>
              <a:rPr lang="en-US" sz="2000" dirty="0">
                <a:latin typeface="Calibri" pitchFamily="34" charset="0"/>
              </a:rPr>
              <a:t> is the concept that an entity comes in various subtypes. </a:t>
            </a:r>
          </a:p>
          <a:p>
            <a:pPr marL="231775" indent="-231775" algn="just">
              <a:defRPr/>
            </a:pPr>
            <a:r>
              <a:rPr lang="en-US" sz="2000" dirty="0">
                <a:latin typeface="Calibri" pitchFamily="34" charset="0"/>
              </a:rPr>
              <a:t>Super type &amp; Subtype representation is used to represent the entities that are very much similar.</a:t>
            </a:r>
          </a:p>
          <a:p>
            <a:pPr marL="231775" indent="-231775" algn="just">
              <a:defRPr/>
            </a:pPr>
            <a:r>
              <a:rPr lang="en-US" sz="2000" dirty="0">
                <a:solidFill>
                  <a:schemeClr val="accent6"/>
                </a:solidFill>
                <a:latin typeface="Calibri" pitchFamily="34" charset="0"/>
              </a:rPr>
              <a:t>Attribute Inheritance:</a:t>
            </a:r>
          </a:p>
          <a:p>
            <a:pPr marL="231775" lvl="1" indent="-231775" algn="just">
              <a:defRPr/>
            </a:pPr>
            <a:r>
              <a:rPr lang="en-US" sz="2000" dirty="0">
                <a:latin typeface="Calibri" pitchFamily="34" charset="0"/>
              </a:rPr>
              <a:t>Subtype entities inherit values of all attributes of the </a:t>
            </a:r>
            <a:r>
              <a:rPr lang="en-US" sz="2000" dirty="0" err="1">
                <a:latin typeface="Calibri" pitchFamily="34" charset="0"/>
              </a:rPr>
              <a:t>supertype</a:t>
            </a:r>
            <a:endParaRPr lang="en-US" sz="2000" dirty="0">
              <a:latin typeface="Calibri" pitchFamily="34" charset="0"/>
            </a:endParaRPr>
          </a:p>
          <a:p>
            <a:pPr marL="231775" lvl="1" indent="-231775" algn="just">
              <a:defRPr/>
            </a:pPr>
            <a:r>
              <a:rPr lang="en-US" sz="2000" dirty="0">
                <a:latin typeface="Calibri" pitchFamily="34" charset="0"/>
              </a:rPr>
              <a:t>Subtype entities inherit their primary key from their </a:t>
            </a:r>
            <a:r>
              <a:rPr lang="en-US" sz="2000" dirty="0" err="1">
                <a:latin typeface="Calibri" pitchFamily="34" charset="0"/>
              </a:rPr>
              <a:t>supertype</a:t>
            </a:r>
            <a:endParaRPr lang="en-US" sz="2000" dirty="0">
              <a:latin typeface="Calibri" pitchFamily="34" charset="0"/>
            </a:endParaRPr>
          </a:p>
          <a:p>
            <a:pPr marL="231775" lvl="1" indent="-231775" algn="just">
              <a:defRPr/>
            </a:pPr>
            <a:r>
              <a:rPr lang="en-US" sz="2000" dirty="0">
                <a:latin typeface="Calibri" pitchFamily="34" charset="0"/>
              </a:rPr>
              <a:t>An instance of a subtype is also an instance of the </a:t>
            </a:r>
            <a:r>
              <a:rPr lang="en-US" sz="2000" dirty="0" err="1">
                <a:latin typeface="Calibri" pitchFamily="34" charset="0"/>
              </a:rPr>
              <a:t>supertype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9220" name="Rectangle 1">
            <a:extLst>
              <a:ext uri="{FF2B5EF4-FFF2-40B4-BE49-F238E27FC236}">
                <a16:creationId xmlns:a16="http://schemas.microsoft.com/office/drawing/2014/main" id="{30F0C3BE-B068-0F6F-21B6-550643FA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22313"/>
            <a:ext cx="3048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  <a:latin typeface="Calibri" panose="020F0502020204030204" pitchFamily="34" charset="0"/>
              </a:rPr>
              <a:t>Super Types, Subtypes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FIG04_01a">
            <a:extLst>
              <a:ext uri="{FF2B5EF4-FFF2-40B4-BE49-F238E27FC236}">
                <a16:creationId xmlns:a16="http://schemas.microsoft.com/office/drawing/2014/main" id="{CB3EC786-3AFB-B1C8-1C69-2950F309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666750"/>
            <a:ext cx="479107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540A1DD6-B830-77DE-2A5D-441DC3CC7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5811838"/>
            <a:ext cx="7315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99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Different modeling tools may have different notation for the same modeling constructs </a:t>
            </a:r>
          </a:p>
        </p:txBody>
      </p:sp>
      <p:pic>
        <p:nvPicPr>
          <p:cNvPr id="12291" name="Picture 3" descr="FIG04_01b">
            <a:extLst>
              <a:ext uri="{FF2B5EF4-FFF2-40B4-BE49-F238E27FC236}">
                <a16:creationId xmlns:a16="http://schemas.microsoft.com/office/drawing/2014/main" id="{A76D4013-D30D-3DBA-FFC9-09989F170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1374775"/>
            <a:ext cx="7620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>
            <a:extLst>
              <a:ext uri="{FF2B5EF4-FFF2-40B4-BE49-F238E27FC236}">
                <a16:creationId xmlns:a16="http://schemas.microsoft.com/office/drawing/2014/main" id="{2762394C-5391-F41C-F1A7-E8F221E0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92150"/>
            <a:ext cx="600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Basic Notations for Super Type/Subtype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FIG4-2">
            <a:extLst>
              <a:ext uri="{FF2B5EF4-FFF2-40B4-BE49-F238E27FC236}">
                <a16:creationId xmlns:a16="http://schemas.microsoft.com/office/drawing/2014/main" id="{7808D96C-BB1F-9C5C-CDC7-7D74A9579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>
            <a:extLst>
              <a:ext uri="{FF2B5EF4-FFF2-40B4-BE49-F238E27FC236}">
                <a16:creationId xmlns:a16="http://schemas.microsoft.com/office/drawing/2014/main" id="{F6E8A500-7AD2-981B-FC44-02EC8969F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740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Figure 4-2 – Employee supertype with three subtypes</a:t>
            </a:r>
          </a:p>
        </p:txBody>
      </p:sp>
      <p:sp>
        <p:nvSpPr>
          <p:cNvPr id="105476" name="Text Box 4">
            <a:extLst>
              <a:ext uri="{FF2B5EF4-FFF2-40B4-BE49-F238E27FC236}">
                <a16:creationId xmlns:a16="http://schemas.microsoft.com/office/drawing/2014/main" id="{51126BF2-B915-F69D-949F-2AC966531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066800"/>
            <a:ext cx="26828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990000"/>
                </a:solidFill>
                <a:latin typeface="Times New Roman" panose="02020603050405020304" pitchFamily="18" charset="0"/>
              </a:rPr>
              <a:t>All employee subtypes will have emp nbr, name, address, and date-hired</a:t>
            </a:r>
          </a:p>
        </p:txBody>
      </p:sp>
      <p:sp>
        <p:nvSpPr>
          <p:cNvPr id="105477" name="Text Box 5">
            <a:extLst>
              <a:ext uri="{FF2B5EF4-FFF2-40B4-BE49-F238E27FC236}">
                <a16:creationId xmlns:a16="http://schemas.microsoft.com/office/drawing/2014/main" id="{1BD87BF1-6ADE-C12F-8576-B2CC651A8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048000"/>
            <a:ext cx="26828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990000"/>
                </a:solidFill>
                <a:latin typeface="Times New Roman" panose="02020603050405020304" pitchFamily="18" charset="0"/>
              </a:rPr>
              <a:t>Each employee subtype will also have its own attributes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utoUpdateAnimBg="0"/>
      <p:bldP spid="10547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0EFA-58B2-41C9-E72C-3C00555A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>
            <a:extLst>
              <a:ext uri="{FF2B5EF4-FFF2-40B4-BE49-F238E27FC236}">
                <a16:creationId xmlns:a16="http://schemas.microsoft.com/office/drawing/2014/main" id="{837CBBD2-61F7-2543-D84B-4D1307605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620688"/>
            <a:ext cx="55675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800000"/>
                </a:solidFill>
              </a:rPr>
              <a:t>Faculty supertype with two subtypes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6290F-1602-552B-DBD8-FA686207D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237034"/>
            <a:ext cx="5341199" cy="531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2867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46FA03C-59E4-CE7C-B5D0-BA0D0B67C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1400" y="76200"/>
            <a:ext cx="1752600" cy="457200"/>
          </a:xfrm>
        </p:spPr>
        <p:txBody>
          <a:bodyPr/>
          <a:lstStyle/>
          <a:p>
            <a:r>
              <a:rPr lang="en-US" altLang="en-US" sz="2000" u="sng">
                <a:solidFill>
                  <a:schemeClr val="tx1"/>
                </a:solidFill>
              </a:rPr>
              <a:t>E-R Model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9B4EA2E-FAAC-2487-BCCF-EF3454417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53425" cy="5291138"/>
          </a:xfrm>
        </p:spPr>
        <p:txBody>
          <a:bodyPr/>
          <a:lstStyle/>
          <a:p>
            <a:pPr marL="231775" indent="-231775" algn="just"/>
            <a:r>
              <a:rPr lang="en-US" altLang="en-US" sz="2400">
                <a:latin typeface="Calibri" panose="020F0502020204030204" pitchFamily="34" charset="0"/>
              </a:rPr>
              <a:t>The relationship between each subtype and its super type is called </a:t>
            </a:r>
            <a:r>
              <a:rPr lang="en-US" altLang="en-US" sz="2400">
                <a:solidFill>
                  <a:schemeClr val="accent2"/>
                </a:solidFill>
                <a:latin typeface="Calibri" panose="020F0502020204030204" pitchFamily="34" charset="0"/>
              </a:rPr>
              <a:t>ISA relationship. </a:t>
            </a:r>
          </a:p>
          <a:p>
            <a:pPr marL="231775" indent="-231775" algn="just"/>
            <a:r>
              <a:rPr lang="en-US" altLang="en-US" sz="2400">
                <a:latin typeface="Calibri" panose="020F0502020204030204" pitchFamily="34" charset="0"/>
              </a:rPr>
              <a:t>The relationship is read from the subtype to the super type.</a:t>
            </a:r>
          </a:p>
          <a:p>
            <a:pPr marL="231775" indent="-231775" algn="just"/>
            <a:r>
              <a:rPr lang="en-US" altLang="en-US" sz="2400">
                <a:latin typeface="Calibri" panose="020F0502020204030204" pitchFamily="34" charset="0"/>
              </a:rPr>
              <a:t>The cardinality of the relationship from subtype to super type is always mandatory one  and from super type to subtype is optionally one. Henceforth, cardinality may be omitted in diagram.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030C43-0BFD-614B-EC86-6F60023BD5BC}"/>
              </a:ext>
            </a:extLst>
          </p:cNvPr>
          <p:cNvSpPr/>
          <p:nvPr/>
        </p:nvSpPr>
        <p:spPr>
          <a:xfrm>
            <a:off x="395288" y="620713"/>
            <a:ext cx="45720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609600" indent="-609600">
              <a:spcBef>
                <a:spcPct val="20000"/>
              </a:spcBef>
              <a:defRPr/>
            </a:pPr>
            <a:r>
              <a:rPr lang="en-US" b="1" kern="0" dirty="0">
                <a:solidFill>
                  <a:srgbClr val="800000"/>
                </a:solidFill>
                <a:latin typeface="Arial"/>
              </a:rPr>
              <a:t>Super Types, Subtypes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FIG4-3">
            <a:extLst>
              <a:ext uri="{FF2B5EF4-FFF2-40B4-BE49-F238E27FC236}">
                <a16:creationId xmlns:a16="http://schemas.microsoft.com/office/drawing/2014/main" id="{3AABEAA7-89CB-2DCD-FA48-28384C4E8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00088"/>
            <a:ext cx="8610600" cy="5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3">
            <a:extLst>
              <a:ext uri="{FF2B5EF4-FFF2-40B4-BE49-F238E27FC236}">
                <a16:creationId xmlns:a16="http://schemas.microsoft.com/office/drawing/2014/main" id="{D9C0A976-643E-016F-5F2C-05F98D535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647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Supertype/subtype relationships in a hospital</a:t>
            </a:r>
          </a:p>
        </p:txBody>
      </p:sp>
      <p:sp>
        <p:nvSpPr>
          <p:cNvPr id="106500" name="Text Box 4">
            <a:extLst>
              <a:ext uri="{FF2B5EF4-FFF2-40B4-BE49-F238E27FC236}">
                <a16:creationId xmlns:a16="http://schemas.microsoft.com/office/drawing/2014/main" id="{07D6A7F9-4EAC-64AE-489A-0CA4283AF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822325"/>
            <a:ext cx="2667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0000"/>
                </a:solidFill>
                <a:latin typeface="Times New Roman" panose="02020603050405020304" pitchFamily="18" charset="0"/>
              </a:rPr>
              <a:t>Both outpatients and resident patients are cared for by a responsible physician</a:t>
            </a:r>
          </a:p>
        </p:txBody>
      </p:sp>
      <p:sp>
        <p:nvSpPr>
          <p:cNvPr id="106501" name="Text Box 5">
            <a:extLst>
              <a:ext uri="{FF2B5EF4-FFF2-40B4-BE49-F238E27FC236}">
                <a16:creationId xmlns:a16="http://schemas.microsoft.com/office/drawing/2014/main" id="{B9A3B6FF-B8CE-87A6-626F-70724FA7F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860925"/>
            <a:ext cx="335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0000"/>
                </a:solidFill>
                <a:latin typeface="Times New Roman" panose="02020603050405020304" pitchFamily="18" charset="0"/>
              </a:rPr>
              <a:t>Only resident patients are assigned to a bed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 autoUpdateAnimBg="0"/>
      <p:bldP spid="10650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FIG4-4A">
            <a:extLst>
              <a:ext uri="{FF2B5EF4-FFF2-40B4-BE49-F238E27FC236}">
                <a16:creationId xmlns:a16="http://schemas.microsoft.com/office/drawing/2014/main" id="{B51A0181-E8B6-0295-CFA0-A9F0C8ACF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06513"/>
            <a:ext cx="8229600" cy="496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 Box 3">
            <a:extLst>
              <a:ext uri="{FF2B5EF4-FFF2-40B4-BE49-F238E27FC236}">
                <a16:creationId xmlns:a16="http://schemas.microsoft.com/office/drawing/2014/main" id="{13E51FBE-B4D7-409F-933B-AB2C9D16E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0"/>
            <a:ext cx="369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Example of generalization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8C739D57-5CF7-8FE1-1625-FDAEF608C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63" y="533400"/>
            <a:ext cx="7551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Three entity types: CAR, TRUCK, and MOTORCYCLE</a:t>
            </a:r>
          </a:p>
        </p:txBody>
      </p:sp>
      <p:sp>
        <p:nvSpPr>
          <p:cNvPr id="107525" name="Text Box 5">
            <a:extLst>
              <a:ext uri="{FF2B5EF4-FFF2-40B4-BE49-F238E27FC236}">
                <a16:creationId xmlns:a16="http://schemas.microsoft.com/office/drawing/2014/main" id="{3040D8EB-810A-F13A-83C6-6A70C57E8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495800"/>
            <a:ext cx="21494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0000"/>
                </a:solidFill>
                <a:latin typeface="Times New Roman" panose="02020603050405020304" pitchFamily="18" charset="0"/>
              </a:rPr>
              <a:t>All these types of vehicles have common attributes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FIG4-4B">
            <a:extLst>
              <a:ext uri="{FF2B5EF4-FFF2-40B4-BE49-F238E27FC236}">
                <a16:creationId xmlns:a16="http://schemas.microsoft.com/office/drawing/2014/main" id="{C553CE28-825F-8C33-23C6-DD5E69B3A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38175"/>
            <a:ext cx="716280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 Box 3">
            <a:extLst>
              <a:ext uri="{FF2B5EF4-FFF2-40B4-BE49-F238E27FC236}">
                <a16:creationId xmlns:a16="http://schemas.microsoft.com/office/drawing/2014/main" id="{898F9E4B-B494-E346-C968-310378156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52400"/>
            <a:ext cx="5303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Generalization to VEHICLE supertype</a:t>
            </a:r>
          </a:p>
        </p:txBody>
      </p:sp>
      <p:sp>
        <p:nvSpPr>
          <p:cNvPr id="108548" name="Text Box 4">
            <a:extLst>
              <a:ext uri="{FF2B5EF4-FFF2-40B4-BE49-F238E27FC236}">
                <a16:creationId xmlns:a16="http://schemas.microsoft.com/office/drawing/2014/main" id="{79FD95B5-208B-5252-83CC-E040794FB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1143000"/>
            <a:ext cx="16922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0000"/>
                </a:solidFill>
                <a:latin typeface="Times New Roman" panose="02020603050405020304" pitchFamily="18" charset="0"/>
              </a:rPr>
              <a:t>So we put the shared attributes in a supertype</a:t>
            </a:r>
          </a:p>
        </p:txBody>
      </p:sp>
      <p:sp>
        <p:nvSpPr>
          <p:cNvPr id="108549" name="Text Box 5">
            <a:extLst>
              <a:ext uri="{FF2B5EF4-FFF2-40B4-BE49-F238E27FC236}">
                <a16:creationId xmlns:a16="http://schemas.microsoft.com/office/drawing/2014/main" id="{8BC39CF7-1814-E8C2-E5CB-8FA32929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5867400"/>
            <a:ext cx="814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  <a:latin typeface="Times New Roman" panose="02020603050405020304" pitchFamily="18" charset="0"/>
              </a:rPr>
              <a:t>Note: no subtype for motorcycle, since it has no unique attributes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autoUpdateAnimBg="0"/>
      <p:bldP spid="10854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FIG4-5A">
            <a:extLst>
              <a:ext uri="{FF2B5EF4-FFF2-40B4-BE49-F238E27FC236}">
                <a16:creationId xmlns:a16="http://schemas.microsoft.com/office/drawing/2014/main" id="{BBDE3407-FFAA-475D-A23F-DF98C5513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3">
            <a:extLst>
              <a:ext uri="{FF2B5EF4-FFF2-40B4-BE49-F238E27FC236}">
                <a16:creationId xmlns:a16="http://schemas.microsoft.com/office/drawing/2014/main" id="{DD1E719E-51A2-968A-2642-847F72EDB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0"/>
            <a:ext cx="3627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Example of specialization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635A2AF1-C4B4-A187-C0A5-0020F9FC3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57200"/>
            <a:ext cx="258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 Entity type PART</a:t>
            </a:r>
          </a:p>
        </p:txBody>
      </p:sp>
      <p:sp>
        <p:nvSpPr>
          <p:cNvPr id="109573" name="Text Box 5">
            <a:extLst>
              <a:ext uri="{FF2B5EF4-FFF2-40B4-BE49-F238E27FC236}">
                <a16:creationId xmlns:a16="http://schemas.microsoft.com/office/drawing/2014/main" id="{B7396CD1-3001-2125-B2C1-B02217744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581400"/>
            <a:ext cx="1981200" cy="2101850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0000"/>
                </a:solidFill>
                <a:latin typeface="Times New Roman" panose="02020603050405020304" pitchFamily="18" charset="0"/>
              </a:rPr>
              <a:t>Only applies to manufactured parts</a:t>
            </a:r>
          </a:p>
        </p:txBody>
      </p:sp>
      <p:sp>
        <p:nvSpPr>
          <p:cNvPr id="109574" name="Rectangle 6">
            <a:extLst>
              <a:ext uri="{FF2B5EF4-FFF2-40B4-BE49-F238E27FC236}">
                <a16:creationId xmlns:a16="http://schemas.microsoft.com/office/drawing/2014/main" id="{C7DBBD33-64CD-B361-C8CC-6C54CC1AB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914400"/>
            <a:ext cx="5105400" cy="259080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0000"/>
                </a:solidFill>
                <a:latin typeface="Times New Roman" panose="02020603050405020304" pitchFamily="18" charset="0"/>
              </a:rPr>
              <a:t>Applies only to purchased parts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animBg="1" autoUpdateAnimBg="0"/>
      <p:bldP spid="10957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FIG4-5B">
            <a:extLst>
              <a:ext uri="{FF2B5EF4-FFF2-40B4-BE49-F238E27FC236}">
                <a16:creationId xmlns:a16="http://schemas.microsoft.com/office/drawing/2014/main" id="{833BD5A6-C783-A35A-35F3-79E7AF6E5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19138"/>
            <a:ext cx="7467600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3">
            <a:extLst>
              <a:ext uri="{FF2B5EF4-FFF2-40B4-BE49-F238E27FC236}">
                <a16:creationId xmlns:a16="http://schemas.microsoft.com/office/drawing/2014/main" id="{09681365-B90D-1BE2-B3EB-05116D2A1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2725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</a:rPr>
              <a:t>Specialization to MANUFACTURED PART and PURCHASED PART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491CA7C-E7F6-6FAD-9CE9-221098176BA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895600"/>
            <a:ext cx="7785100" cy="2987675"/>
            <a:chOff x="480" y="1824"/>
            <a:chExt cx="4904" cy="1882"/>
          </a:xfrm>
        </p:grpSpPr>
        <p:sp>
          <p:nvSpPr>
            <p:cNvPr id="20486" name="Text Box 5">
              <a:extLst>
                <a:ext uri="{FF2B5EF4-FFF2-40B4-BE49-F238E27FC236}">
                  <a16:creationId xmlns:a16="http://schemas.microsoft.com/office/drawing/2014/main" id="{B36E295B-54FE-32CB-46A4-38753CFA7F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456"/>
              <a:ext cx="49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rgbClr val="990000"/>
                  </a:solidFill>
                  <a:latin typeface="Times New Roman" panose="02020603050405020304" pitchFamily="18" charset="0"/>
                </a:rPr>
                <a:t>Note: multivalued attribute was replaced by a relationship to another entity</a:t>
              </a:r>
            </a:p>
          </p:txBody>
        </p:sp>
        <p:sp>
          <p:nvSpPr>
            <p:cNvPr id="20487" name="Rectangle 6">
              <a:extLst>
                <a:ext uri="{FF2B5EF4-FFF2-40B4-BE49-F238E27FC236}">
                  <a16:creationId xmlns:a16="http://schemas.microsoft.com/office/drawing/2014/main" id="{386D53CC-F322-D4F8-ED8E-6CAA9A0EE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824"/>
              <a:ext cx="1160" cy="1536"/>
            </a:xfrm>
            <a:prstGeom prst="rect">
              <a:avLst/>
            </a:prstGeom>
            <a:noFill/>
            <a:ln w="15875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990000"/>
                </a:solidFill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0599" name="Text Box 7">
            <a:extLst>
              <a:ext uri="{FF2B5EF4-FFF2-40B4-BE49-F238E27FC236}">
                <a16:creationId xmlns:a16="http://schemas.microsoft.com/office/drawing/2014/main" id="{62A9A141-A120-C862-0DB0-75BEE2928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114800"/>
            <a:ext cx="250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990000"/>
                </a:solidFill>
                <a:latin typeface="Times New Roman" panose="02020603050405020304" pitchFamily="18" charset="0"/>
              </a:rPr>
              <a:t>Created 2 subtypes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9C4D-85B8-206E-D24F-FDFE822B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D8DF6E4-FC67-58DB-D752-C22462C39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Generalization Constraints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7F616D8-8D9D-2FCE-B7C0-5C28B5FCD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618774"/>
            <a:ext cx="8640960" cy="4898458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Completeness Constraint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All the subtypes have been defined and there can’t be any further subtypes.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Exhaustive / Non-Exhaustive Subtypes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Disjointness Constraint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Exclusive / Non-Exclusive Subtypes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FE0797-7789-70BB-C419-310156B95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59520"/>
              </p:ext>
            </p:extLst>
          </p:nvPr>
        </p:nvGraphicFramePr>
        <p:xfrm>
          <a:off x="539552" y="2420888"/>
          <a:ext cx="835292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358">
                  <a:extLst>
                    <a:ext uri="{9D8B030D-6E8A-4147-A177-3AD203B41FA5}">
                      <a16:colId xmlns:a16="http://schemas.microsoft.com/office/drawing/2014/main" val="3472293431"/>
                    </a:ext>
                  </a:extLst>
                </a:gridCol>
                <a:gridCol w="912539">
                  <a:extLst>
                    <a:ext uri="{9D8B030D-6E8A-4147-A177-3AD203B41FA5}">
                      <a16:colId xmlns:a16="http://schemas.microsoft.com/office/drawing/2014/main" val="642294968"/>
                    </a:ext>
                  </a:extLst>
                </a:gridCol>
                <a:gridCol w="2527031">
                  <a:extLst>
                    <a:ext uri="{9D8B030D-6E8A-4147-A177-3AD203B41FA5}">
                      <a16:colId xmlns:a16="http://schemas.microsoft.com/office/drawing/2014/main" val="234967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Ans?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Rule / 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4304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  <a:cs typeface="Calibri" panose="020F0502020204030204" pitchFamily="34" charset="0"/>
                        </a:rPr>
                        <a:t>Each instance of a supertype must be a member of at least one subtype?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Total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984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Partial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0751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66A20A-7B92-40FA-498D-70F0C9076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19697"/>
              </p:ext>
            </p:extLst>
          </p:nvPr>
        </p:nvGraphicFramePr>
        <p:xfrm>
          <a:off x="539552" y="4725144"/>
          <a:ext cx="835292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358">
                  <a:extLst>
                    <a:ext uri="{9D8B030D-6E8A-4147-A177-3AD203B41FA5}">
                      <a16:colId xmlns:a16="http://schemas.microsoft.com/office/drawing/2014/main" val="3472293431"/>
                    </a:ext>
                  </a:extLst>
                </a:gridCol>
                <a:gridCol w="912539">
                  <a:extLst>
                    <a:ext uri="{9D8B030D-6E8A-4147-A177-3AD203B41FA5}">
                      <a16:colId xmlns:a16="http://schemas.microsoft.com/office/drawing/2014/main" val="642294968"/>
                    </a:ext>
                  </a:extLst>
                </a:gridCol>
                <a:gridCol w="2527031">
                  <a:extLst>
                    <a:ext uri="{9D8B030D-6E8A-4147-A177-3AD203B41FA5}">
                      <a16:colId xmlns:a16="http://schemas.microsoft.com/office/drawing/2014/main" val="234967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Ans?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Rule / 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4304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  <a:cs typeface="Calibri" panose="020F0502020204030204" pitchFamily="34" charset="0"/>
                        </a:rPr>
                        <a:t>Each instance of a super type is categorized as exactly one subtype?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Disjoint (d)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984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</a:rPr>
                        <a:t>Overlap (o)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075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4083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FIG4-6A">
            <a:extLst>
              <a:ext uri="{FF2B5EF4-FFF2-40B4-BE49-F238E27FC236}">
                <a16:creationId xmlns:a16="http://schemas.microsoft.com/office/drawing/2014/main" id="{286DEC6A-EE25-35FF-E657-30D436863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35125"/>
            <a:ext cx="8305800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4">
            <a:extLst>
              <a:ext uri="{FF2B5EF4-FFF2-40B4-BE49-F238E27FC236}">
                <a16:creationId xmlns:a16="http://schemas.microsoft.com/office/drawing/2014/main" id="{33C5D9D4-3228-DAF8-CB4E-35954D2D8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692150"/>
            <a:ext cx="3938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 Total  Specialization Rule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0CD42C8-4449-F5CD-20E3-CDD1B2AF600D}"/>
              </a:ext>
            </a:extLst>
          </p:cNvPr>
          <p:cNvGrpSpPr>
            <a:grpSpLocks/>
          </p:cNvGrpSpPr>
          <p:nvPr/>
        </p:nvGrpSpPr>
        <p:grpSpPr bwMode="auto">
          <a:xfrm>
            <a:off x="3520456" y="3480593"/>
            <a:ext cx="3373438" cy="1006475"/>
            <a:chOff x="1410" y="1908"/>
            <a:chExt cx="2125" cy="634"/>
          </a:xfrm>
        </p:grpSpPr>
        <p:sp>
          <p:nvSpPr>
            <p:cNvPr id="23557" name="AutoShape 6">
              <a:extLst>
                <a:ext uri="{FF2B5EF4-FFF2-40B4-BE49-F238E27FC236}">
                  <a16:creationId xmlns:a16="http://schemas.microsoft.com/office/drawing/2014/main" id="{F097908B-51E8-569D-3110-8D41981F1E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23188">
              <a:off x="1410" y="1946"/>
              <a:ext cx="390" cy="66"/>
            </a:xfrm>
            <a:prstGeom prst="leftArrow">
              <a:avLst>
                <a:gd name="adj1" fmla="val 50000"/>
                <a:gd name="adj2" fmla="val 62500"/>
              </a:avLst>
            </a:prstGeom>
            <a:solidFill>
              <a:srgbClr val="990000"/>
            </a:solidFill>
            <a:ln w="9525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3558" name="Text Box 7">
              <a:extLst>
                <a:ext uri="{FF2B5EF4-FFF2-40B4-BE49-F238E27FC236}">
                  <a16:creationId xmlns:a16="http://schemas.microsoft.com/office/drawing/2014/main" id="{D444CE27-C964-DABD-74F4-2D9E66AF3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908"/>
              <a:ext cx="169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A patient must be either an outpatient or a resident patient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FIG4-6B">
            <a:extLst>
              <a:ext uri="{FF2B5EF4-FFF2-40B4-BE49-F238E27FC236}">
                <a16:creationId xmlns:a16="http://schemas.microsoft.com/office/drawing/2014/main" id="{6984E9AF-3F59-C8FE-99A6-A1480CD45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71625"/>
            <a:ext cx="81534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907" name="Text Box 3">
            <a:extLst>
              <a:ext uri="{FF2B5EF4-FFF2-40B4-BE49-F238E27FC236}">
                <a16:creationId xmlns:a16="http://schemas.microsoft.com/office/drawing/2014/main" id="{E71C0791-BDE7-4498-72D6-65D571F13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3975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Partial Specialization Rule</a:t>
            </a:r>
          </a:p>
        </p:txBody>
      </p:sp>
      <p:sp>
        <p:nvSpPr>
          <p:cNvPr id="123908" name="Text Box 4">
            <a:extLst>
              <a:ext uri="{FF2B5EF4-FFF2-40B4-BE49-F238E27FC236}">
                <a16:creationId xmlns:a16="http://schemas.microsoft.com/office/drawing/2014/main" id="{696136CA-D9D6-A96A-DDB3-2A2AE4773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9144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218EA11-C832-1820-9DCE-E11493012058}"/>
              </a:ext>
            </a:extLst>
          </p:cNvPr>
          <p:cNvGrpSpPr>
            <a:grpSpLocks/>
          </p:cNvGrpSpPr>
          <p:nvPr/>
        </p:nvGrpSpPr>
        <p:grpSpPr bwMode="auto">
          <a:xfrm>
            <a:off x="5199758" y="3429000"/>
            <a:ext cx="3663951" cy="701675"/>
            <a:chOff x="3142" y="1526"/>
            <a:chExt cx="2308" cy="442"/>
          </a:xfrm>
        </p:grpSpPr>
        <p:sp>
          <p:nvSpPr>
            <p:cNvPr id="24582" name="AutoShape 6">
              <a:extLst>
                <a:ext uri="{FF2B5EF4-FFF2-40B4-BE49-F238E27FC236}">
                  <a16:creationId xmlns:a16="http://schemas.microsoft.com/office/drawing/2014/main" id="{BAE482B1-B5F8-D116-0E99-A02E655B7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058121">
              <a:off x="3142" y="1753"/>
              <a:ext cx="591" cy="188"/>
            </a:xfrm>
            <a:prstGeom prst="leftArrow">
              <a:avLst>
                <a:gd name="adj1" fmla="val 48880"/>
                <a:gd name="adj2" fmla="val 59488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583" name="Text Box 7">
              <a:extLst>
                <a:ext uri="{FF2B5EF4-FFF2-40B4-BE49-F238E27FC236}">
                  <a16:creationId xmlns:a16="http://schemas.microsoft.com/office/drawing/2014/main" id="{5DF7ED87-D56E-3B3B-557B-CBB615EBC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526"/>
              <a:ext cx="169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A vehicle could be a car, a truck, or neither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FIG4-7A">
            <a:extLst>
              <a:ext uri="{FF2B5EF4-FFF2-40B4-BE49-F238E27FC236}">
                <a16:creationId xmlns:a16="http://schemas.microsoft.com/office/drawing/2014/main" id="{B78C021F-97BF-B27C-DCBC-1993D8589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314450"/>
            <a:ext cx="86106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3">
            <a:extLst>
              <a:ext uri="{FF2B5EF4-FFF2-40B4-BE49-F238E27FC236}">
                <a16:creationId xmlns:a16="http://schemas.microsoft.com/office/drawing/2014/main" id="{B51BDFC7-0922-0079-9C2C-E07350E94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212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 Disjoint Rule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D66C808-709E-A35A-5205-55B0122C7BB5}"/>
              </a:ext>
            </a:extLst>
          </p:cNvPr>
          <p:cNvGrpSpPr>
            <a:grpSpLocks/>
          </p:cNvGrpSpPr>
          <p:nvPr/>
        </p:nvGrpSpPr>
        <p:grpSpPr bwMode="auto">
          <a:xfrm>
            <a:off x="3516313" y="3318892"/>
            <a:ext cx="4271963" cy="739775"/>
            <a:chOff x="1639" y="2136"/>
            <a:chExt cx="2691" cy="466"/>
          </a:xfrm>
        </p:grpSpPr>
        <p:sp>
          <p:nvSpPr>
            <p:cNvPr id="26629" name="AutoShape 6">
              <a:extLst>
                <a:ext uri="{FF2B5EF4-FFF2-40B4-BE49-F238E27FC236}">
                  <a16:creationId xmlns:a16="http://schemas.microsoft.com/office/drawing/2014/main" id="{1EBCB063-0C43-AF0D-0B3E-D6329B1FF6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51792">
              <a:off x="1639" y="2136"/>
              <a:ext cx="437" cy="121"/>
            </a:xfrm>
            <a:prstGeom prst="leftArrow">
              <a:avLst>
                <a:gd name="adj1" fmla="val 50000"/>
                <a:gd name="adj2" fmla="val 83333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6630" name="Text Box 7">
              <a:extLst>
                <a:ext uri="{FF2B5EF4-FFF2-40B4-BE49-F238E27FC236}">
                  <a16:creationId xmlns:a16="http://schemas.microsoft.com/office/drawing/2014/main" id="{6840D866-E435-07CE-DFCA-4E30E7DEE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7" y="2160"/>
              <a:ext cx="225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A patient can either be outpatient or resident, but not both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FIG4-7B">
            <a:extLst>
              <a:ext uri="{FF2B5EF4-FFF2-40B4-BE49-F238E27FC236}">
                <a16:creationId xmlns:a16="http://schemas.microsoft.com/office/drawing/2014/main" id="{D710CA10-393F-B672-732D-33661DCF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00188"/>
            <a:ext cx="86106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3">
            <a:extLst>
              <a:ext uri="{FF2B5EF4-FFF2-40B4-BE49-F238E27FC236}">
                <a16:creationId xmlns:a16="http://schemas.microsoft.com/office/drawing/2014/main" id="{DC4872DD-CE2D-0E10-F9A6-5C3816005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692150"/>
            <a:ext cx="206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800000"/>
                </a:solidFill>
              </a:rPr>
              <a:t>Overlap Rule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367E08D-3EEF-2907-375A-695A06F72DE2}"/>
              </a:ext>
            </a:extLst>
          </p:cNvPr>
          <p:cNvGrpSpPr>
            <a:grpSpLocks/>
          </p:cNvGrpSpPr>
          <p:nvPr/>
        </p:nvGrpSpPr>
        <p:grpSpPr bwMode="auto">
          <a:xfrm>
            <a:off x="3131840" y="3449117"/>
            <a:ext cx="2590800" cy="830262"/>
            <a:chOff x="1920" y="2544"/>
            <a:chExt cx="1632" cy="523"/>
          </a:xfrm>
        </p:grpSpPr>
        <p:sp>
          <p:nvSpPr>
            <p:cNvPr id="27653" name="AutoShape 5">
              <a:extLst>
                <a:ext uri="{FF2B5EF4-FFF2-40B4-BE49-F238E27FC236}">
                  <a16:creationId xmlns:a16="http://schemas.microsoft.com/office/drawing/2014/main" id="{A8F8916D-7AAA-462C-32FC-ED21797EE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640"/>
              <a:ext cx="348" cy="118"/>
            </a:xfrm>
            <a:prstGeom prst="leftArrow">
              <a:avLst>
                <a:gd name="adj1" fmla="val 50000"/>
                <a:gd name="adj2" fmla="val 45313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27654" name="Text Box 6">
              <a:extLst>
                <a:ext uri="{FF2B5EF4-FFF2-40B4-BE49-F238E27FC236}">
                  <a16:creationId xmlns:a16="http://schemas.microsoft.com/office/drawing/2014/main" id="{586ECA05-2A6C-4232-EA80-0EBE9BB35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544"/>
              <a:ext cx="122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A part may be both purchased and manufactured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8D4BF7-2C5C-D6BF-048F-838508D15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4392613" cy="463550"/>
          </a:xfrm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  <a:latin typeface="Calibri" panose="020F0502020204030204" pitchFamily="34" charset="0"/>
              </a:rPr>
              <a:t>Subtype Discriminators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ED06A80B-1A36-79E1-FBD5-11592A68AD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8" y="1268413"/>
            <a:ext cx="8277225" cy="4641850"/>
          </a:xfrm>
        </p:spPr>
        <p:txBody>
          <a:bodyPr/>
          <a:lstStyle/>
          <a:p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An attribute of the super type whose values determine the target subtype(s)</a:t>
            </a:r>
          </a:p>
          <a:p>
            <a:pPr lvl="1"/>
            <a:r>
              <a:rPr lang="en-US" altLang="en-US" b="1">
                <a:solidFill>
                  <a:schemeClr val="accent2"/>
                </a:solidFill>
                <a:latin typeface="Calibri" panose="020F0502020204030204" pitchFamily="34" charset="0"/>
              </a:rPr>
              <a:t>Disjoint</a:t>
            </a:r>
            <a:r>
              <a:rPr lang="en-US" altLang="en-US">
                <a:solidFill>
                  <a:schemeClr val="accent2"/>
                </a:solidFill>
                <a:latin typeface="Calibri" panose="020F0502020204030204" pitchFamily="34" charset="0"/>
              </a:rPr>
              <a:t> –</a:t>
            </a: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 a </a:t>
            </a:r>
            <a:r>
              <a:rPr lang="en-US" altLang="en-US" i="1">
                <a:solidFill>
                  <a:srgbClr val="000000"/>
                </a:solidFill>
                <a:latin typeface="Calibri" panose="020F0502020204030204" pitchFamily="34" charset="0"/>
              </a:rPr>
              <a:t>simple</a:t>
            </a: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 attribute with alternative values to indicate the possible subtypes</a:t>
            </a:r>
          </a:p>
          <a:p>
            <a:pPr lvl="1"/>
            <a:r>
              <a:rPr lang="en-US" altLang="en-US" b="1">
                <a:solidFill>
                  <a:schemeClr val="accent2"/>
                </a:solidFill>
                <a:latin typeface="Calibri" panose="020F0502020204030204" pitchFamily="34" charset="0"/>
              </a:rPr>
              <a:t>Overlapping</a:t>
            </a:r>
            <a:r>
              <a:rPr lang="en-US" altLang="en-US">
                <a:solidFill>
                  <a:schemeClr val="accent2"/>
                </a:solidFill>
                <a:latin typeface="Calibri" panose="020F0502020204030204" pitchFamily="34" charset="0"/>
              </a:rPr>
              <a:t> –</a:t>
            </a: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 a </a:t>
            </a:r>
            <a:r>
              <a:rPr lang="en-US" altLang="en-US" i="1">
                <a:solidFill>
                  <a:srgbClr val="000000"/>
                </a:solidFill>
                <a:latin typeface="Calibri" panose="020F0502020204030204" pitchFamily="34" charset="0"/>
              </a:rPr>
              <a:t>composite</a:t>
            </a:r>
            <a:r>
              <a:rPr lang="en-US" altLang="en-US">
                <a:solidFill>
                  <a:srgbClr val="000000"/>
                </a:solidFill>
                <a:latin typeface="Calibri" panose="020F0502020204030204" pitchFamily="34" charset="0"/>
              </a:rPr>
              <a:t> attribute whose subparts pertain to different subtypes. Each subpart contains a Boolean value to indicate whether or not the instance belongs to the associated subtype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FIG4-8">
            <a:extLst>
              <a:ext uri="{FF2B5EF4-FFF2-40B4-BE49-F238E27FC236}">
                <a16:creationId xmlns:a16="http://schemas.microsoft.com/office/drawing/2014/main" id="{A68FFBB7-2300-E97D-8B38-A10247432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52513"/>
            <a:ext cx="81534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3">
            <a:extLst>
              <a:ext uri="{FF2B5EF4-FFF2-40B4-BE49-F238E27FC236}">
                <a16:creationId xmlns:a16="http://schemas.microsoft.com/office/drawing/2014/main" id="{48371F34-46E7-906D-3CF5-40CC2167B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533400"/>
            <a:ext cx="619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800000"/>
                </a:solidFill>
              </a:rPr>
              <a:t>Subtype Discriminator (</a:t>
            </a:r>
            <a:r>
              <a:rPr lang="en-US" altLang="en-US" b="1" i="1">
                <a:solidFill>
                  <a:srgbClr val="800000"/>
                </a:solidFill>
              </a:rPr>
              <a:t>disjoint</a:t>
            </a:r>
            <a:r>
              <a:rPr lang="en-US" altLang="en-US">
                <a:solidFill>
                  <a:srgbClr val="800000"/>
                </a:solidFill>
              </a:rPr>
              <a:t> Rule)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F8F833D-7540-7FB1-D809-420DCE9C63BD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1077913"/>
            <a:ext cx="5867400" cy="3276600"/>
            <a:chOff x="1632" y="384"/>
            <a:chExt cx="3696" cy="2112"/>
          </a:xfrm>
        </p:grpSpPr>
        <p:sp>
          <p:nvSpPr>
            <p:cNvPr id="29701" name="Rectangle 5">
              <a:extLst>
                <a:ext uri="{FF2B5EF4-FFF2-40B4-BE49-F238E27FC236}">
                  <a16:creationId xmlns:a16="http://schemas.microsoft.com/office/drawing/2014/main" id="{82CFD128-F5A0-B429-5A7C-A213D2577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80"/>
              <a:ext cx="1584" cy="816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02" name="Rectangle 6">
              <a:extLst>
                <a:ext uri="{FF2B5EF4-FFF2-40B4-BE49-F238E27FC236}">
                  <a16:creationId xmlns:a16="http://schemas.microsoft.com/office/drawing/2014/main" id="{9CFB65CF-C0FF-1F2E-4359-0C3D8A23E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84"/>
              <a:ext cx="1056" cy="720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703" name="Text Box 7">
              <a:extLst>
                <a:ext uri="{FF2B5EF4-FFF2-40B4-BE49-F238E27FC236}">
                  <a16:creationId xmlns:a16="http://schemas.microsoft.com/office/drawing/2014/main" id="{6DB31198-879C-A70C-219E-E49F699B0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776"/>
              <a:ext cx="1584" cy="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A simple attribute with different possible values indicating the subtype</a:t>
              </a:r>
            </a:p>
          </p:txBody>
        </p:sp>
        <p:cxnSp>
          <p:nvCxnSpPr>
            <p:cNvPr id="29704" name="AutoShape 8">
              <a:extLst>
                <a:ext uri="{FF2B5EF4-FFF2-40B4-BE49-F238E27FC236}">
                  <a16:creationId xmlns:a16="http://schemas.microsoft.com/office/drawing/2014/main" id="{2E9D099E-6F64-7758-8CC3-78082C0F7537}"/>
                </a:ext>
              </a:extLst>
            </p:cNvPr>
            <p:cNvCxnSpPr>
              <a:cxnSpLocks noChangeShapeType="1"/>
              <a:stCxn id="29703" idx="0"/>
              <a:endCxn id="29702" idx="3"/>
            </p:cNvCxnSpPr>
            <p:nvPr/>
          </p:nvCxnSpPr>
          <p:spPr bwMode="auto">
            <a:xfrm rot="5400000" flipH="1">
              <a:off x="3724" y="964"/>
              <a:ext cx="1032" cy="592"/>
            </a:xfrm>
            <a:prstGeom prst="bentConnector2">
              <a:avLst/>
            </a:prstGeom>
            <a:noFill/>
            <a:ln w="9525">
              <a:solidFill>
                <a:srgbClr val="99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05" name="AutoShape 9">
              <a:extLst>
                <a:ext uri="{FF2B5EF4-FFF2-40B4-BE49-F238E27FC236}">
                  <a16:creationId xmlns:a16="http://schemas.microsoft.com/office/drawing/2014/main" id="{FA1E8199-51C2-B371-68F2-81C249AD1142}"/>
                </a:ext>
              </a:extLst>
            </p:cNvPr>
            <p:cNvCxnSpPr>
              <a:cxnSpLocks noChangeShapeType="1"/>
              <a:stCxn id="29703" idx="1"/>
              <a:endCxn id="29701" idx="3"/>
            </p:cNvCxnSpPr>
            <p:nvPr/>
          </p:nvCxnSpPr>
          <p:spPr bwMode="auto">
            <a:xfrm flipH="1">
              <a:off x="3224" y="2065"/>
              <a:ext cx="520" cy="23"/>
            </a:xfrm>
            <a:prstGeom prst="straightConnector1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FIG4-9">
            <a:extLst>
              <a:ext uri="{FF2B5EF4-FFF2-40B4-BE49-F238E27FC236}">
                <a16:creationId xmlns:a16="http://schemas.microsoft.com/office/drawing/2014/main" id="{F25CA271-6D65-90D2-DB95-1697D3270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47750"/>
            <a:ext cx="8763000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Text Box 3">
            <a:extLst>
              <a:ext uri="{FF2B5EF4-FFF2-40B4-BE49-F238E27FC236}">
                <a16:creationId xmlns:a16="http://schemas.microsoft.com/office/drawing/2014/main" id="{20C9BD02-E230-7764-0A65-D97F8BE29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76250"/>
            <a:ext cx="6192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800000"/>
                </a:solidFill>
              </a:rPr>
              <a:t>Subtype discriminator (</a:t>
            </a:r>
            <a:r>
              <a:rPr lang="en-US" altLang="en-US" b="1">
                <a:solidFill>
                  <a:srgbClr val="800000"/>
                </a:solidFill>
              </a:rPr>
              <a:t>O</a:t>
            </a:r>
            <a:r>
              <a:rPr lang="en-US" altLang="en-US" b="1" i="1">
                <a:solidFill>
                  <a:srgbClr val="800000"/>
                </a:solidFill>
              </a:rPr>
              <a:t>verlap</a:t>
            </a:r>
            <a:r>
              <a:rPr lang="en-US" altLang="en-US">
                <a:solidFill>
                  <a:srgbClr val="800000"/>
                </a:solidFill>
              </a:rPr>
              <a:t> Rule)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0FC8A09-02A0-D46F-06C3-1EE662E546F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162050"/>
            <a:ext cx="8077200" cy="4343400"/>
            <a:chOff x="672" y="384"/>
            <a:chExt cx="5088" cy="2736"/>
          </a:xfrm>
        </p:grpSpPr>
        <p:sp>
          <p:nvSpPr>
            <p:cNvPr id="30725" name="Rectangle 5">
              <a:extLst>
                <a:ext uri="{FF2B5EF4-FFF2-40B4-BE49-F238E27FC236}">
                  <a16:creationId xmlns:a16="http://schemas.microsoft.com/office/drawing/2014/main" id="{3CA6473D-7830-8985-9F91-FA214043B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52"/>
              <a:ext cx="2112" cy="768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30726" name="Text Box 6">
              <a:extLst>
                <a:ext uri="{FF2B5EF4-FFF2-40B4-BE49-F238E27FC236}">
                  <a16:creationId xmlns:a16="http://schemas.microsoft.com/office/drawing/2014/main" id="{72CCEC2F-8B98-D39A-97FD-81DF721EF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912"/>
              <a:ext cx="1584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A composite attribute with sub-attributes indicating “yes” or “no” to determine whether it is of each subtype</a:t>
              </a:r>
            </a:p>
          </p:txBody>
        </p:sp>
        <p:cxnSp>
          <p:nvCxnSpPr>
            <p:cNvPr id="30727" name="AutoShape 7">
              <a:extLst>
                <a:ext uri="{FF2B5EF4-FFF2-40B4-BE49-F238E27FC236}">
                  <a16:creationId xmlns:a16="http://schemas.microsoft.com/office/drawing/2014/main" id="{806E04E4-AA9E-8F9A-66A2-550FEF82B57C}"/>
                </a:ext>
              </a:extLst>
            </p:cNvPr>
            <p:cNvCxnSpPr>
              <a:cxnSpLocks noChangeShapeType="1"/>
              <a:stCxn id="30726" idx="1"/>
              <a:endCxn id="30725" idx="3"/>
            </p:cNvCxnSpPr>
            <p:nvPr/>
          </p:nvCxnSpPr>
          <p:spPr bwMode="auto">
            <a:xfrm flipH="1">
              <a:off x="2792" y="1374"/>
              <a:ext cx="1384" cy="1362"/>
            </a:xfrm>
            <a:prstGeom prst="straightConnector1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28" name="Freeform 8">
              <a:extLst>
                <a:ext uri="{FF2B5EF4-FFF2-40B4-BE49-F238E27FC236}">
                  <a16:creationId xmlns:a16="http://schemas.microsoft.com/office/drawing/2014/main" id="{B1CEB229-150F-B763-B7D9-F05E9F137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84"/>
              <a:ext cx="2112" cy="1248"/>
            </a:xfrm>
            <a:custGeom>
              <a:avLst/>
              <a:gdLst>
                <a:gd name="T0" fmla="*/ 2112 w 2112"/>
                <a:gd name="T1" fmla="*/ 1152 h 1248"/>
                <a:gd name="T2" fmla="*/ 2112 w 2112"/>
                <a:gd name="T3" fmla="*/ 0 h 1248"/>
                <a:gd name="T4" fmla="*/ 0 w 2112"/>
                <a:gd name="T5" fmla="*/ 0 h 1248"/>
                <a:gd name="T6" fmla="*/ 0 w 2112"/>
                <a:gd name="T7" fmla="*/ 480 h 1248"/>
                <a:gd name="T8" fmla="*/ 672 w 2112"/>
                <a:gd name="T9" fmla="*/ 672 h 1248"/>
                <a:gd name="T10" fmla="*/ 480 w 2112"/>
                <a:gd name="T11" fmla="*/ 1248 h 1248"/>
                <a:gd name="T12" fmla="*/ 2112 w 2112"/>
                <a:gd name="T13" fmla="*/ 1248 h 1248"/>
                <a:gd name="T14" fmla="*/ 2112 w 2112"/>
                <a:gd name="T15" fmla="*/ 1152 h 1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12"/>
                <a:gd name="T25" fmla="*/ 0 h 1248"/>
                <a:gd name="T26" fmla="*/ 2112 w 2112"/>
                <a:gd name="T27" fmla="*/ 1248 h 12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12" h="1248">
                  <a:moveTo>
                    <a:pt x="2112" y="1152"/>
                  </a:moveTo>
                  <a:lnTo>
                    <a:pt x="2112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672" y="672"/>
                  </a:lnTo>
                  <a:lnTo>
                    <a:pt x="480" y="1248"/>
                  </a:lnTo>
                  <a:lnTo>
                    <a:pt x="2112" y="1248"/>
                  </a:lnTo>
                  <a:lnTo>
                    <a:pt x="2112" y="1152"/>
                  </a:lnTo>
                  <a:close/>
                </a:path>
              </a:pathLst>
            </a:custGeom>
            <a:noFill/>
            <a:ln w="19050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Line 9">
              <a:extLst>
                <a:ext uri="{FF2B5EF4-FFF2-40B4-BE49-F238E27FC236}">
                  <a16:creationId xmlns:a16="http://schemas.microsoft.com/office/drawing/2014/main" id="{4BC67D45-3877-B9F9-24FE-641C23462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1008"/>
              <a:ext cx="336" cy="192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IG04_10">
            <a:extLst>
              <a:ext uri="{FF2B5EF4-FFF2-40B4-BE49-F238E27FC236}">
                <a16:creationId xmlns:a16="http://schemas.microsoft.com/office/drawing/2014/main" id="{01D015B3-1129-6A60-8403-D320DA161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01650"/>
            <a:ext cx="6096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1538-8076-61F0-0427-27758CB4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49A6F-747D-FC10-9B57-8CA66913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76506"/>
            <a:ext cx="7992888" cy="592084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BE2EAF7-E5E5-1F88-20A9-0A75E13F4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98246"/>
            <a:ext cx="89644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ts val="0"/>
              </a:spcBef>
              <a:spcAft>
                <a:spcPts val="300"/>
              </a:spcAft>
              <a:buFont typeface="Wingdings 2" panose="05020102010507070707" pitchFamily="18" charset="2"/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Specialization Hierarchy (Tree Structure or Strict Hierarchy)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ctr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ctr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1249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A1B6A3D-5C02-624C-0E8F-0BA23EDA7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Specialization Lattice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9D815EE-0668-C3BA-CC86-3CBD4FC6D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762790"/>
            <a:ext cx="2448272" cy="5334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Subset</a:t>
            </a:r>
          </a:p>
          <a:p>
            <a:pPr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 entity set that is a subset of two or more supersets.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11A9F-66FF-D505-B581-D2ADA404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620688"/>
            <a:ext cx="6354588" cy="59046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C43A-8EC5-CA46-21EF-197B0C73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B0B3B5E-270B-FA82-9C9C-958BADAF6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UNION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830A1DE-E6BB-AE14-5B27-F33CE152A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620688"/>
            <a:ext cx="8568630" cy="53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subtype is related to any one of the supertypes. </a:t>
            </a: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C2862-0C07-19D1-129A-144484A3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83" y="1124744"/>
            <a:ext cx="6303869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9585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3">
            <a:extLst>
              <a:ext uri="{FF2B5EF4-FFF2-40B4-BE49-F238E27FC236}">
                <a16:creationId xmlns:a16="http://schemas.microsoft.com/office/drawing/2014/main" id="{2B8CEB6B-0649-7B68-32FE-A82A59EF8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4450"/>
            <a:ext cx="7632700" cy="647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D0329E8-8056-8792-2111-AF1B1399A1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4392613" cy="463550"/>
          </a:xfrm>
        </p:spPr>
        <p:txBody>
          <a:bodyPr/>
          <a:lstStyle/>
          <a:p>
            <a:r>
              <a:rPr lang="en-US" altLang="en-US" sz="2800" b="1">
                <a:solidFill>
                  <a:srgbClr val="800000"/>
                </a:solidFill>
                <a:latin typeface="Calibri" panose="020F0502020204030204" pitchFamily="34" charset="0"/>
              </a:rPr>
              <a:t>Entity Clustering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D5608DA0-78D9-26C5-1C58-3C62FEE74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8" y="1268413"/>
            <a:ext cx="8277225" cy="4641850"/>
          </a:xfrm>
        </p:spPr>
        <p:txBody>
          <a:bodyPr/>
          <a:lstStyle/>
          <a:p>
            <a:pPr algn="just"/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Entity clustering is a useful way to present a data model a large and complex systems involving hundreds of entities. </a:t>
            </a:r>
          </a:p>
          <a:p>
            <a:pPr algn="just"/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An entity cluster is a </a:t>
            </a:r>
            <a:r>
              <a:rPr lang="en-US" altLang="en-US" sz="2400">
                <a:solidFill>
                  <a:schemeClr val="accent2"/>
                </a:solidFill>
                <a:latin typeface="Calibri" panose="020F0502020204030204" pitchFamily="34" charset="0"/>
              </a:rPr>
              <a:t>virtual entity type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 formed by combining multiple related entities. </a:t>
            </a:r>
          </a:p>
          <a:p>
            <a:pPr algn="just"/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Referring to the examples discussed, the entities related employee, patient, part can be clustered together. </a:t>
            </a:r>
          </a:p>
          <a:p>
            <a:pPr algn="just"/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 cardinalities of the relationships of the clustered entities with the other entities remain the same.</a:t>
            </a:r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91480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04664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 – Design, Implementation and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Carlos Coronel, Steven Morris (13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Modern Database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Jeffery. A. Hoffer (12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Thomas M. Connolly (6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Fundamentals of Database Systems: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Elmasri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B2D1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42018"/>
              </p:ext>
            </p:extLst>
          </p:nvPr>
        </p:nvGraphicFramePr>
        <p:xfrm>
          <a:off x="1547664" y="3429000"/>
          <a:ext cx="583264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5.1, 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5315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Pages 114 to 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529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12.1, 12.3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Chapter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246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97177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3.9 to 3.12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4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F131D2E-1643-2B0B-13E6-73A2652C4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628775"/>
            <a:ext cx="8277225" cy="1219200"/>
          </a:xfrm>
        </p:spPr>
        <p:txBody>
          <a:bodyPr/>
          <a:lstStyle/>
          <a:p>
            <a:pPr algn="ctr" eaLnBrk="1" hangingPunct="1"/>
            <a:br>
              <a:rPr lang="de-AT" altLang="en-US" sz="3600">
                <a:latin typeface="Georgia" panose="02040502050405020303" pitchFamily="18" charset="0"/>
              </a:rPr>
            </a:br>
            <a:r>
              <a:rPr lang="de-AT" altLang="en-US" sz="3600">
                <a:latin typeface="Georgia" panose="02040502050405020303" pitchFamily="18" charset="0"/>
              </a:rPr>
              <a:t>Thank you for your attention.</a:t>
            </a:r>
          </a:p>
        </p:txBody>
      </p:sp>
      <p:sp>
        <p:nvSpPr>
          <p:cNvPr id="97283" name="Rectangle 8">
            <a:extLst>
              <a:ext uri="{FF2B5EF4-FFF2-40B4-BE49-F238E27FC236}">
                <a16:creationId xmlns:a16="http://schemas.microsoft.com/office/drawing/2014/main" id="{1D2A0AC3-EA23-63ED-82E3-AC533EA2B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62400"/>
            <a:ext cx="4495800" cy="2130425"/>
          </a:xfrm>
          <a:prstGeom prst="rect">
            <a:avLst/>
          </a:prstGeom>
          <a:solidFill>
            <a:srgbClr val="FFFFCC"/>
          </a:solidFill>
          <a:ln w="381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97284" name="Rectangle 9">
            <a:extLst>
              <a:ext uri="{FF2B5EF4-FFF2-40B4-BE49-F238E27FC236}">
                <a16:creationId xmlns:a16="http://schemas.microsoft.com/office/drawing/2014/main" id="{102F474F-E7C3-2B43-FC45-D92EEF1DA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76475"/>
            <a:ext cx="7772400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/>
            <a:endParaRPr lang="en-US" altLang="en-US" sz="2400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</a:pPr>
            <a:r>
              <a:rPr lang="de-AT" altLang="en-US" sz="900" b="1" dirty="0">
                <a:solidFill>
                  <a:srgbClr val="000066"/>
                </a:solidFill>
              </a:rPr>
              <a:t>			</a:t>
            </a:r>
            <a:r>
              <a:rPr lang="de-AT" altLang="en-US" sz="2400" b="1" dirty="0">
                <a:solidFill>
                  <a:srgbClr val="3333CC"/>
                </a:solidFill>
                <a:latin typeface="Georgia" panose="02040502050405020303" pitchFamily="18" charset="0"/>
              </a:rPr>
              <a:t>Dr. Asif Sohail</a:t>
            </a:r>
            <a:endParaRPr lang="de-AT" altLang="en-US" sz="1200" b="1" dirty="0">
              <a:solidFill>
                <a:srgbClr val="3333CC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b="1" dirty="0">
                <a:solidFill>
                  <a:srgbClr val="800000"/>
                </a:solidFill>
                <a:latin typeface="Georgia" panose="02040502050405020303" pitchFamily="18" charset="0"/>
              </a:rPr>
              <a:t>Assistant Professor</a:t>
            </a:r>
            <a:endParaRPr lang="de-AT" altLang="en-US" sz="1200" dirty="0">
              <a:solidFill>
                <a:srgbClr val="800000"/>
              </a:solidFill>
              <a:latin typeface="Georgia" panose="02040502050405020303" pitchFamily="18" charset="0"/>
            </a:endParaRP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	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Department of Information Technology,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Faculty of Computing and Information Technology (FCIT)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University of the Punjab, Lahore, Pakistan</a:t>
            </a:r>
          </a:p>
          <a:p>
            <a:pPr eaLnBrk="1" hangingPunct="1">
              <a:buFontTx/>
              <a:buNone/>
            </a:pPr>
            <a:r>
              <a:rPr lang="de-AT" altLang="en-US" sz="1200" b="1" dirty="0">
                <a:solidFill>
                  <a:srgbClr val="0000FF"/>
                </a:solidFill>
                <a:latin typeface="Georgia" panose="02040502050405020303" pitchFamily="18" charset="0"/>
              </a:rPr>
              <a:t>	</a:t>
            </a: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Tel:                  +92-(0)42-111-923-923    Ext. </a:t>
            </a:r>
            <a:r>
              <a:rPr lang="de-AT" altLang="en-US" sz="1200" dirty="0">
                <a:solidFill>
                  <a:srgbClr val="0000FF"/>
                </a:solidFill>
                <a:latin typeface="Times New Roman" panose="02020603050405020304" pitchFamily="18" charset="0"/>
              </a:rPr>
              <a:t>154</a:t>
            </a:r>
          </a:p>
          <a:p>
            <a:pPr eaLnBrk="1" hangingPunct="1">
              <a:buFontTx/>
              <a:buNone/>
            </a:pPr>
            <a:r>
              <a:rPr lang="de-AT" altLang="en-US" sz="1200" dirty="0">
                <a:solidFill>
                  <a:srgbClr val="0000FF"/>
                </a:solidFill>
                <a:latin typeface="Georgia" panose="02040502050405020303" pitchFamily="18" charset="0"/>
              </a:rPr>
              <a:t>			E-mail:           asif@pucit.edu.pk</a:t>
            </a:r>
          </a:p>
          <a:p>
            <a:pPr eaLnBrk="1" hangingPunct="1"/>
            <a:endParaRPr lang="en-US" altLang="en-US" sz="1200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2E2F7CA-C894-0B39-5274-12A5FB95B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28D636A8-6BC8-F0E1-72F9-45439E09D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8" y="0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8249</TotalTime>
  <Words>1102</Words>
  <Application>Microsoft Office PowerPoint</Application>
  <PresentationFormat>On-screen Show (4:3)</PresentationFormat>
  <Paragraphs>158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Calibri</vt:lpstr>
      <vt:lpstr>Franklin Gothic Book</vt:lpstr>
      <vt:lpstr>Georgia</vt:lpstr>
      <vt:lpstr>Perpetua</vt:lpstr>
      <vt:lpstr>Tahoma</vt:lpstr>
      <vt:lpstr>Times New Roman</vt:lpstr>
      <vt:lpstr>Wingdings</vt:lpstr>
      <vt:lpstr>Wingdings 2</vt:lpstr>
      <vt:lpstr>Standarddesign</vt:lpstr>
      <vt:lpstr>1_Equity</vt:lpstr>
      <vt:lpstr>Equity</vt:lpstr>
      <vt:lpstr> Unit - 7 Extended or Enhanced ER Model  </vt:lpstr>
      <vt:lpstr>Extended or Enhanced ER Model</vt:lpstr>
      <vt:lpstr>E-R Model</vt:lpstr>
      <vt:lpstr>E-R Model</vt:lpstr>
      <vt:lpstr>PowerPoint Presentation</vt:lpstr>
      <vt:lpstr>PowerPoint Presentation</vt:lpstr>
      <vt:lpstr>PowerPoint Presentation</vt:lpstr>
      <vt:lpstr>PowerPoint Presentation</vt:lpstr>
      <vt:lpstr>E-R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Generalization Constraints</vt:lpstr>
      <vt:lpstr>PowerPoint Presentation</vt:lpstr>
      <vt:lpstr>PowerPoint Presentation</vt:lpstr>
      <vt:lpstr>PowerPoint Presentation</vt:lpstr>
      <vt:lpstr>PowerPoint Presentation</vt:lpstr>
      <vt:lpstr>Subtype Discriminators</vt:lpstr>
      <vt:lpstr>PowerPoint Presentation</vt:lpstr>
      <vt:lpstr>PowerPoint Presentation</vt:lpstr>
      <vt:lpstr>PowerPoint Presentation</vt:lpstr>
      <vt:lpstr>PowerPoint Presentation</vt:lpstr>
      <vt:lpstr>Specialization Lattice</vt:lpstr>
      <vt:lpstr>UNION</vt:lpstr>
      <vt:lpstr>PowerPoint Presentation</vt:lpstr>
      <vt:lpstr>Entity Clustering</vt:lpstr>
      <vt:lpstr>Reading Material</vt:lpstr>
      <vt:lpstr> Thank you for your attention.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Asif Sohail</cp:lastModifiedBy>
  <cp:revision>721</cp:revision>
  <dcterms:created xsi:type="dcterms:W3CDTF">2006-05-17T12:38:56Z</dcterms:created>
  <dcterms:modified xsi:type="dcterms:W3CDTF">2024-10-21T03:25:42Z</dcterms:modified>
</cp:coreProperties>
</file>