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  <p:sldMasterId id="2147483675" r:id="rId3"/>
  </p:sldMasterIdLst>
  <p:notesMasterIdLst>
    <p:notesMasterId r:id="rId24"/>
  </p:notesMasterIdLst>
  <p:handoutMasterIdLst>
    <p:handoutMasterId r:id="rId25"/>
  </p:handoutMasterIdLst>
  <p:sldIdLst>
    <p:sldId id="480" r:id="rId4"/>
    <p:sldId id="468" r:id="rId5"/>
    <p:sldId id="420" r:id="rId6"/>
    <p:sldId id="1031" r:id="rId7"/>
    <p:sldId id="443" r:id="rId8"/>
    <p:sldId id="477" r:id="rId9"/>
    <p:sldId id="444" r:id="rId10"/>
    <p:sldId id="445" r:id="rId11"/>
    <p:sldId id="461" r:id="rId12"/>
    <p:sldId id="493" r:id="rId13"/>
    <p:sldId id="462" r:id="rId14"/>
    <p:sldId id="478" r:id="rId15"/>
    <p:sldId id="463" r:id="rId16"/>
    <p:sldId id="464" r:id="rId17"/>
    <p:sldId id="1032" r:id="rId18"/>
    <p:sldId id="1033" r:id="rId19"/>
    <p:sldId id="466" r:id="rId20"/>
    <p:sldId id="467" r:id="rId21"/>
    <p:sldId id="473" r:id="rId22"/>
    <p:sldId id="492" r:id="rId23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0000"/>
    <a:srgbClr val="006600"/>
    <a:srgbClr val="FFFF66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13" autoAdjust="0"/>
    <p:restoredTop sz="95256" autoAdjust="0"/>
  </p:normalViewPr>
  <p:slideViewPr>
    <p:cSldViewPr>
      <p:cViewPr varScale="1">
        <p:scale>
          <a:sx n="83" d="100"/>
          <a:sy n="83" d="100"/>
        </p:scale>
        <p:origin x="110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D28D114C-3970-6717-448C-EE55CF87DB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A49F5F5-D1FF-04EC-BFFA-07545229B6B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370FFB60-ED1F-FA39-2E17-2019ACA36E0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6DEC4CAF-9327-5321-C1E6-D8BEC099EA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13C75FF7-CD42-483B-B6D0-719C3E947FA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1C6656-1B84-C4F9-DB68-6185057A26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29B1CC6-0300-7696-4A05-8B4093A056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4FEED01-3BC4-2A3D-5483-49E1547A63F3}"/>
              </a:ext>
            </a:extLst>
          </p:cNvPr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0AC4C51-3EB8-01C0-A70D-C38838E335A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3964A5D-7716-E510-AE28-70EC6083C8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7D5716C0-576A-C12D-78F9-4DD50E88C1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3B6F24BB-CA1B-478B-A09D-142BA492A082}" type="slidenum">
              <a:rPr lang="de-AT" altLang="en-US"/>
              <a:pPr>
                <a:defRPr/>
              </a:pPr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9EAEDC4-34A8-CA7C-B555-4D940CD281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89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406497-2EE2-4D24-91C4-B4428DAEDFBD}" type="slidenum">
              <a:rPr kumimoji="0" lang="de-AT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8921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AT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797A6CA-0AEA-FAE7-1484-B413AB221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1D30B3E-0556-992C-70C9-96BB683FC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980C-849B-F21C-A6FD-E9FC4751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4E805456-13AD-5FDB-34EC-4C55787B2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F7F10F25-16F4-A03E-2101-F8777DF06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F = {A → B,  A → C}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509B0698-D839-9F23-2231-1BCF83E17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CD6C1D-CDC0-43A4-B26D-BF17332DD192}" type="slidenum">
              <a:rPr lang="de-AT" altLang="en-US" smtClean="0"/>
              <a:pPr>
                <a:spcBef>
                  <a:spcPct val="0"/>
                </a:spcBef>
              </a:pPr>
              <a:t>15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439908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2BA9-F45B-D944-6899-AA5984B0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8DA22D06-713E-454A-5C15-EE9365EF4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BBDB0332-7421-919F-7829-2D88CBB0A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F = {A → B,  A → C}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AB92507F-097E-94CB-0313-E2D88F112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CD6C1D-CDC0-43A4-B26D-BF17332DD192}" type="slidenum">
              <a:rPr lang="de-AT" altLang="en-US" smtClean="0"/>
              <a:pPr>
                <a:spcBef>
                  <a:spcPct val="0"/>
                </a:spcBef>
              </a:pPr>
              <a:t>16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2915877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6F9BC29F-C2AD-9350-39DF-4C18EC9AD5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A2F674F9-9C94-E823-BA9C-2CADACA9D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</a:rPr>
              <a:t>F = {A → B,  A → C}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1B7DE67-CEBC-DB04-C653-3FA983079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CD6C1D-CDC0-43A4-B26D-BF17332DD192}" type="slidenum">
              <a:rPr lang="de-AT" altLang="en-US" smtClean="0"/>
              <a:pPr>
                <a:spcBef>
                  <a:spcPct val="0"/>
                </a:spcBef>
              </a:pPr>
              <a:t>17</a:t>
            </a:fld>
            <a:endParaRPr lang="de-AT" altLang="en-US"/>
          </a:p>
        </p:txBody>
      </p:sp>
    </p:spTree>
    <p:extLst>
      <p:ext uri="{BB962C8B-B14F-4D97-AF65-F5344CB8AC3E}">
        <p14:creationId xmlns:p14="http://schemas.microsoft.com/office/powerpoint/2010/main" val="520059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35D723C-C9C7-A568-FCF7-4EB6D646C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7620E5-E56A-49FA-9155-1FDAD0A7E276}" type="slidenum">
              <a:rPr lang="de-AT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de-AT" altLang="en-US">
              <a:solidFill>
                <a:srgbClr val="000000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6836BE6-20E4-351B-BC60-248E1316E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C398F3C-1D53-AF59-20A3-2AC1A709E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521059-6778-5F60-1086-45CEED048C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44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71C488-7D10-FE96-7303-3FB3E8C904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39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5D5076-4D8D-8196-7D6D-859DD9213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49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A89B4-0F1F-5A40-7A17-5B78C5C01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77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DB3F49-B8D1-1DED-D0C5-DE65A82FA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62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D58CA2-24D6-CBBA-D646-9421EB86F7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48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E1C250-646A-50D4-AEA1-D0530EB73E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26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0F5B7-E924-6664-1CEB-368A5CCD7A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12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C8406-D65D-6061-38D3-E4E87065E4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59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FF159-79E2-7162-54D5-A17BF9F0CF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5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17629B-C1EC-E324-A6A9-19D7F38F2C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42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3058F-5E3F-252E-B178-E1A8F4698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621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D5FABC-07D3-6948-517D-172B0E106F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393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1D18A8-62CE-EC27-9C98-6B62030FD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8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8424C2-D9AB-694C-63EF-99418EB6A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419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65091-5DBC-04FA-7B92-C880DC8B3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3126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81E322-2BB0-D85A-1B2C-ECED0D8FF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497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AC4208-49B4-5A26-2CED-B3F24F9E4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539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1AE1640-7752-26B5-69CA-0A7925849A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212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1AC85-982D-9F32-3F98-FC94E12D5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973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914A9-8F18-4558-75A7-97509EBE6A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901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6BFE0F-97E8-89B0-4E28-29AB306E6A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049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8C24CF-BC29-8CE0-18FB-578FE1A264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8308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32627-EA6C-2F15-0042-E6739796C3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361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607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630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73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739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2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92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7519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75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299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554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988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92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8D8596-5C8D-4BD2-D3F8-CE941716D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B09042-A068-E57A-7017-794853C43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C770BC1-C191-5F46-DD45-84E0E45529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1EDEBA8E-7C68-61D4-264A-A4DAF1B7E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C7E98C6C-6C5F-0592-2409-B2BBCADC7A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97B06EB5-74DC-7F65-912C-F634534A7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EE644693-908C-4E7C-B8CE-C9AA84F242F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en-US" sz="1000"/>
              <a:t>Slide </a:t>
            </a:r>
            <a:fld id="{C889DD0C-9343-4F9F-BF85-6DBC498356A0}" type="slidenum">
              <a:rPr lang="de-DE" altLang="en-US" sz="1000" smtClean="0"/>
              <a:pPr algn="ctr" eaLnBrk="1" hangingPunct="1">
                <a:defRPr/>
              </a:pPr>
              <a:t>‹#›</a:t>
            </a:fld>
            <a:endParaRPr lang="de-DE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9134DA-07C2-475C-1184-409B261D9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4D9485-95B7-1751-C1C8-E90A97AAF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A272124-8DC6-167B-7573-81C49F4ECF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139046AB-BC2C-BA4D-B98D-871C14A49B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D44EFDD6-2AB3-D08A-657B-EAE458B1A5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5D8DC1C8-3BE8-46C9-F1C1-FE3687678B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54C9D716-D7CF-4AC3-676A-8E528B6D6D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sz="1000"/>
              <a:t>Slide </a:t>
            </a:r>
            <a:fld id="{65307273-A09F-4BFC-8C84-25396DDAFA85}" type="slidenum">
              <a:rPr lang="de-DE" altLang="en-US" sz="1000"/>
              <a:pPr algn="ctr" eaLnBrk="1" hangingPunct="1"/>
              <a:t>‹#›</a:t>
            </a:fld>
            <a:endParaRPr lang="de-DE" altLang="en-US" sz="1000"/>
          </a:p>
        </p:txBody>
      </p:sp>
    </p:spTree>
    <p:extLst>
      <p:ext uri="{BB962C8B-B14F-4D97-AF65-F5344CB8AC3E}">
        <p14:creationId xmlns:p14="http://schemas.microsoft.com/office/powerpoint/2010/main" val="11227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10/29/2024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6DCBE2-9E13-33A6-0FA2-33C4C7DC91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0575" y="1557338"/>
            <a:ext cx="7669213" cy="2087562"/>
          </a:xfrm>
          <a:solidFill>
            <a:srgbClr val="FFFFCC">
              <a:alpha val="20000"/>
            </a:srgbClr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u="sng" dirty="0">
                <a:solidFill>
                  <a:srgbClr val="800000"/>
                </a:solidFill>
              </a:rPr>
              <a:t>Unit - 9</a:t>
            </a: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dirty="0">
                <a:solidFill>
                  <a:schemeClr val="accent2"/>
                </a:solidFill>
              </a:rPr>
              <a:t>Function Dependencies &amp; </a:t>
            </a:r>
            <a:br>
              <a:rPr lang="en-US" altLang="en-US" sz="3200" b="1" dirty="0">
                <a:solidFill>
                  <a:schemeClr val="accent2"/>
                </a:solidFill>
              </a:rPr>
            </a:br>
            <a:r>
              <a:rPr lang="en-US" altLang="en-US" sz="3200" b="1" dirty="0">
                <a:solidFill>
                  <a:schemeClr val="accent2"/>
                </a:solidFill>
              </a:rPr>
              <a:t>Inference Rules (Armstrong Axioms)</a:t>
            </a:r>
            <a:br>
              <a:rPr lang="en-US" altLang="en-US" sz="3200" b="1" dirty="0">
                <a:solidFill>
                  <a:schemeClr val="accent2"/>
                </a:solidFill>
              </a:rPr>
            </a:br>
            <a:br>
              <a:rPr lang="en-US" altLang="en-US" sz="2400" b="1" dirty="0">
                <a:solidFill>
                  <a:schemeClr val="folHlink"/>
                </a:solidFill>
              </a:rPr>
            </a:br>
            <a:endParaRPr lang="de-AT" altLang="en-US" sz="1400" dirty="0">
              <a:solidFill>
                <a:schemeClr val="accent2"/>
              </a:solidFill>
            </a:endParaRPr>
          </a:p>
        </p:txBody>
      </p:sp>
      <p:pic>
        <p:nvPicPr>
          <p:cNvPr id="5124" name="Picture 9">
            <a:extLst>
              <a:ext uri="{FF2B5EF4-FFF2-40B4-BE49-F238E27FC236}">
                <a16:creationId xmlns:a16="http://schemas.microsoft.com/office/drawing/2014/main" id="{79F2DB2B-E4C0-2DCE-FAE9-062F8A006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11">
            <a:extLst>
              <a:ext uri="{FF2B5EF4-FFF2-40B4-BE49-F238E27FC236}">
                <a16:creationId xmlns:a16="http://schemas.microsoft.com/office/drawing/2014/main" id="{6F961AD4-1210-9CC3-D508-526C72E11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2D64D2-1BE4-52E2-B256-E88AC8870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084638"/>
            <a:ext cx="7669213" cy="1584325"/>
          </a:xfrm>
          <a:prstGeom prst="rect">
            <a:avLst/>
          </a:prstGeom>
          <a:solidFill>
            <a:srgbClr val="FFFFCC">
              <a:alpha val="20000"/>
            </a:srgbClr>
          </a:solidFill>
          <a:ln w="38100" cap="flat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Dr. Asif Sohail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b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b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University of the Punjab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Information Technology, FCIT</a:t>
            </a:r>
            <a:endParaRPr kumimoji="0" lang="de-AT" altLang="en-US" sz="18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74D5D14-A5EF-DE3F-C260-89A526395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Functional Dependency (FD)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7E5EE58-6A50-67D1-5F46-DBF145551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43595"/>
            <a:ext cx="8497888" cy="5165725"/>
          </a:xfrm>
        </p:spPr>
        <p:txBody>
          <a:bodyPr/>
          <a:lstStyle/>
          <a:p>
            <a:pPr marL="225425" indent="-225425" algn="just"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Functional Dependency (FD) is a relationship between two attributes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A &amp; B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of a relation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such that attribute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B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is said to be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functionally dependent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on attribute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if A uniquely determines the values of B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.(A-&gt;B)</a:t>
            </a:r>
          </a:p>
          <a:p>
            <a:pPr marL="225425" indent="-225425" algn="just">
              <a:defRPr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The attribute on the left-hand side of the arrow in a functional dependency is called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Determinant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and on the right are called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Dependents. </a:t>
            </a:r>
          </a:p>
          <a:p>
            <a:pPr marL="225425" indent="-225425" algn="just"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 marL="225425" indent="-225425" algn="just"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 marL="225425" indent="-225425" algn="just">
              <a:defRPr/>
            </a:pPr>
            <a:endParaRPr lang="en-US" sz="1600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 marL="225425" indent="-225425" algn="just">
              <a:defRPr/>
            </a:pPr>
            <a:r>
              <a:rPr lang="en-US" sz="2000" dirty="0">
                <a:latin typeface="Calibri" pitchFamily="34" charset="0"/>
                <a:cs typeface="Calibri" pitchFamily="34" charset="0"/>
                <a:sym typeface="Wingdings" pitchFamily="2" charset="2"/>
              </a:rPr>
              <a:t>An attribute may be functionally dependent on more than one attributes.</a:t>
            </a: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225425" indent="-225425" algn="just"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 algn="just">
              <a:defRPr/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225425" indent="-225425" algn="just">
              <a:defRPr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defRPr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2B7D1E43-ECEC-15BB-9C3C-E0C2FC9892F7}"/>
              </a:ext>
            </a:extLst>
          </p:cNvPr>
          <p:cNvGrpSpPr>
            <a:grpSpLocks/>
          </p:cNvGrpSpPr>
          <p:nvPr/>
        </p:nvGrpSpPr>
        <p:grpSpPr bwMode="auto">
          <a:xfrm>
            <a:off x="2433638" y="3933056"/>
            <a:ext cx="6477000" cy="609600"/>
            <a:chOff x="384" y="1584"/>
            <a:chExt cx="4080" cy="384"/>
          </a:xfrm>
        </p:grpSpPr>
        <p:grpSp>
          <p:nvGrpSpPr>
            <p:cNvPr id="13321" name="Group 5">
              <a:extLst>
                <a:ext uri="{FF2B5EF4-FFF2-40B4-BE49-F238E27FC236}">
                  <a16:creationId xmlns:a16="http://schemas.microsoft.com/office/drawing/2014/main" id="{E92F79B9-165F-EBD6-767E-215E1456B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584"/>
              <a:ext cx="3024" cy="384"/>
              <a:chOff x="144" y="3840"/>
              <a:chExt cx="3024" cy="384"/>
            </a:xfrm>
          </p:grpSpPr>
          <p:sp>
            <p:nvSpPr>
              <p:cNvPr id="13323" name="Rectangle 6">
                <a:extLst>
                  <a:ext uri="{FF2B5EF4-FFF2-40B4-BE49-F238E27FC236}">
                    <a16:creationId xmlns:a16="http://schemas.microsoft.com/office/drawing/2014/main" id="{AE755EF9-9857-ADD7-5D07-140725E09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u="sng"/>
                  <a:t>EMP_ID </a:t>
                </a:r>
              </a:p>
            </p:txBody>
          </p:sp>
          <p:sp>
            <p:nvSpPr>
              <p:cNvPr id="13324" name="Rectangle 7">
                <a:extLst>
                  <a:ext uri="{FF2B5EF4-FFF2-40B4-BE49-F238E27FC236}">
                    <a16:creationId xmlns:a16="http://schemas.microsoft.com/office/drawing/2014/main" id="{E73CC289-9E12-7C12-CC7B-D184D48F8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Name</a:t>
                </a:r>
              </a:p>
            </p:txBody>
          </p:sp>
          <p:sp>
            <p:nvSpPr>
              <p:cNvPr id="13325" name="Rectangle 8">
                <a:extLst>
                  <a:ext uri="{FF2B5EF4-FFF2-40B4-BE49-F238E27FC236}">
                    <a16:creationId xmlns:a16="http://schemas.microsoft.com/office/drawing/2014/main" id="{A79AACCD-F610-AE82-19F1-43F4EF919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Dept_Name</a:t>
                </a:r>
              </a:p>
            </p:txBody>
          </p:sp>
        </p:grpSp>
        <p:sp>
          <p:nvSpPr>
            <p:cNvPr id="13322" name="Rectangle 9">
              <a:extLst>
                <a:ext uri="{FF2B5EF4-FFF2-40B4-BE49-F238E27FC236}">
                  <a16:creationId xmlns:a16="http://schemas.microsoft.com/office/drawing/2014/main" id="{8E6EA0FD-50FA-C796-E3B5-B4FE3125C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84"/>
              <a:ext cx="1056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Salary</a:t>
              </a:r>
            </a:p>
          </p:txBody>
        </p:sp>
      </p:grpSp>
      <p:sp>
        <p:nvSpPr>
          <p:cNvPr id="13317" name="Text Box 10">
            <a:extLst>
              <a:ext uri="{FF2B5EF4-FFF2-40B4-BE49-F238E27FC236}">
                <a16:creationId xmlns:a16="http://schemas.microsoft.com/office/drawing/2014/main" id="{F341960D-C8B4-01EB-6BAC-9BD696BE7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118793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/>
              <a:t>EMPLOYEE1</a:t>
            </a:r>
          </a:p>
        </p:txBody>
      </p:sp>
      <p:cxnSp>
        <p:nvCxnSpPr>
          <p:cNvPr id="13318" name="AutoShape 23">
            <a:extLst>
              <a:ext uri="{FF2B5EF4-FFF2-40B4-BE49-F238E27FC236}">
                <a16:creationId xmlns:a16="http://schemas.microsoft.com/office/drawing/2014/main" id="{18AF504C-1077-D5CE-D7A7-F0E9D30AAE29}"/>
              </a:ext>
            </a:extLst>
          </p:cNvPr>
          <p:cNvCxnSpPr>
            <a:cxnSpLocks noChangeShapeType="1"/>
            <a:stCxn id="13323" idx="2"/>
            <a:endCxn id="13322" idx="2"/>
          </p:cNvCxnSpPr>
          <p:nvPr/>
        </p:nvCxnSpPr>
        <p:spPr bwMode="auto">
          <a:xfrm rot="16200000" flipH="1">
            <a:off x="5652294" y="2124100"/>
            <a:ext cx="1587" cy="4838700"/>
          </a:xfrm>
          <a:prstGeom prst="bent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19" name="Line 24">
            <a:extLst>
              <a:ext uri="{FF2B5EF4-FFF2-40B4-BE49-F238E27FC236}">
                <a16:creationId xmlns:a16="http://schemas.microsoft.com/office/drawing/2014/main" id="{87865A27-0843-6720-79C7-7D9788F3B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9638" y="45426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25">
            <a:extLst>
              <a:ext uri="{FF2B5EF4-FFF2-40B4-BE49-F238E27FC236}">
                <a16:creationId xmlns:a16="http://schemas.microsoft.com/office/drawing/2014/main" id="{966B42D1-14B1-9240-8C69-A7B450B939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6038" y="45426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2183E7D-CBA7-1BFB-FF44-A1CA8CC906C9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5661248"/>
            <a:ext cx="8785223" cy="609600"/>
            <a:chOff x="48" y="2832"/>
            <a:chExt cx="5712" cy="38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582436A-6524-0141-3F9D-18FBA174C5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832"/>
              <a:ext cx="4080" cy="384"/>
              <a:chOff x="384" y="1584"/>
              <a:chExt cx="4080" cy="384"/>
            </a:xfrm>
          </p:grpSpPr>
          <p:grpSp>
            <p:nvGrpSpPr>
              <p:cNvPr id="6" name="Group 14">
                <a:extLst>
                  <a:ext uri="{FF2B5EF4-FFF2-40B4-BE49-F238E27FC236}">
                    <a16:creationId xmlns:a16="http://schemas.microsoft.com/office/drawing/2014/main" id="{5759073F-2FB9-CE03-E17A-5E20394B35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584"/>
                <a:ext cx="3024" cy="384"/>
                <a:chOff x="144" y="3840"/>
                <a:chExt cx="3024" cy="384"/>
              </a:xfrm>
            </p:grpSpPr>
            <p:sp>
              <p:nvSpPr>
                <p:cNvPr id="8" name="Rectangle 15">
                  <a:extLst>
                    <a:ext uri="{FF2B5EF4-FFF2-40B4-BE49-F238E27FC236}">
                      <a16:creationId xmlns:a16="http://schemas.microsoft.com/office/drawing/2014/main" id="{E1C67D12-388F-4F95-F510-1E8FF4F6A3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" y="3840"/>
                  <a:ext cx="1008" cy="384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u="sng"/>
                    <a:t>EMP_ID </a:t>
                  </a:r>
                </a:p>
              </p:txBody>
            </p:sp>
            <p:sp>
              <p:nvSpPr>
                <p:cNvPr id="9" name="Rectangle 16">
                  <a:extLst>
                    <a:ext uri="{FF2B5EF4-FFF2-40B4-BE49-F238E27FC236}">
                      <a16:creationId xmlns:a16="http://schemas.microsoft.com/office/drawing/2014/main" id="{54405E93-3C6F-3A37-383F-F0F2BDA9B3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3840"/>
                  <a:ext cx="1008" cy="384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u="sng" dirty="0"/>
                    <a:t>Project Code</a:t>
                  </a:r>
                </a:p>
              </p:txBody>
            </p:sp>
            <p:sp>
              <p:nvSpPr>
                <p:cNvPr id="10" name="Rectangle 17">
                  <a:extLst>
                    <a:ext uri="{FF2B5EF4-FFF2-40B4-BE49-F238E27FC236}">
                      <a16:creationId xmlns:a16="http://schemas.microsoft.com/office/drawing/2014/main" id="{770CF104-0FD9-CE3B-7BF9-A7AA54DDA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3840"/>
                  <a:ext cx="1008" cy="384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/>
                    <a:t>Name</a:t>
                  </a:r>
                </a:p>
              </p:txBody>
            </p:sp>
          </p:grpSp>
          <p:sp>
            <p:nvSpPr>
              <p:cNvPr id="7" name="Rectangle 18">
                <a:extLst>
                  <a:ext uri="{FF2B5EF4-FFF2-40B4-BE49-F238E27FC236}">
                    <a16:creationId xmlns:a16="http://schemas.microsoft.com/office/drawing/2014/main" id="{E6F38C59-03E8-6749-F5B5-6494D2BDF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584"/>
                <a:ext cx="1056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/>
                  <a:t>Dept_Name</a:t>
                </a:r>
              </a:p>
            </p:txBody>
          </p:sp>
        </p:grpSp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2F7DA444-9B9C-CDB1-FE66-92B2AE70D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32"/>
              <a:ext cx="62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Salary</a:t>
              </a:r>
            </a:p>
          </p:txBody>
        </p:sp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DD0B3EF1-EEF5-D790-F134-081DDEC08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832"/>
              <a:ext cx="1056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/>
                <a:t>Emp_Role</a:t>
              </a:r>
              <a:endParaRPr lang="en-US" altLang="en-US" sz="1600" dirty="0"/>
            </a:p>
          </p:txBody>
        </p:sp>
      </p:grpSp>
      <p:cxnSp>
        <p:nvCxnSpPr>
          <p:cNvPr id="11" name="AutoShape 21">
            <a:extLst>
              <a:ext uri="{FF2B5EF4-FFF2-40B4-BE49-F238E27FC236}">
                <a16:creationId xmlns:a16="http://schemas.microsoft.com/office/drawing/2014/main" id="{01924E43-EC94-E58D-9FBA-CD95352BECE3}"/>
              </a:ext>
            </a:extLst>
          </p:cNvPr>
          <p:cNvCxnSpPr>
            <a:cxnSpLocks noChangeShapeType="1"/>
            <a:stCxn id="5" idx="2"/>
            <a:endCxn id="8" idx="2"/>
          </p:cNvCxnSpPr>
          <p:nvPr/>
        </p:nvCxnSpPr>
        <p:spPr bwMode="auto">
          <a:xfrm rot="5400000">
            <a:off x="4553668" y="2671860"/>
            <a:ext cx="12700" cy="7197977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22">
            <a:extLst>
              <a:ext uri="{FF2B5EF4-FFF2-40B4-BE49-F238E27FC236}">
                <a16:creationId xmlns:a16="http://schemas.microsoft.com/office/drawing/2014/main" id="{07EF03B3-9D6B-EF09-BACB-27EFCB41821C}"/>
              </a:ext>
            </a:extLst>
          </p:cNvPr>
          <p:cNvCxnSpPr>
            <a:cxnSpLocks noChangeShapeType="1"/>
            <a:stCxn id="5" idx="2"/>
            <a:endCxn id="9" idx="2"/>
          </p:cNvCxnSpPr>
          <p:nvPr/>
        </p:nvCxnSpPr>
        <p:spPr bwMode="auto">
          <a:xfrm rot="5400000">
            <a:off x="5328834" y="3447026"/>
            <a:ext cx="12700" cy="5647644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miter lim="800000"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26">
            <a:extLst>
              <a:ext uri="{FF2B5EF4-FFF2-40B4-BE49-F238E27FC236}">
                <a16:creationId xmlns:a16="http://schemas.microsoft.com/office/drawing/2014/main" id="{3877BE3B-3E31-36C5-8C50-3E3483F5F173}"/>
              </a:ext>
            </a:extLst>
          </p:cNvPr>
          <p:cNvCxnSpPr>
            <a:cxnSpLocks noChangeShapeType="1"/>
            <a:stCxn id="8" idx="0"/>
            <a:endCxn id="4" idx="0"/>
          </p:cNvCxnSpPr>
          <p:nvPr/>
        </p:nvCxnSpPr>
        <p:spPr bwMode="auto">
          <a:xfrm rot="5400000" flipH="1" flipV="1">
            <a:off x="3944607" y="2671320"/>
            <a:ext cx="12700" cy="5979857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Line 27">
            <a:extLst>
              <a:ext uri="{FF2B5EF4-FFF2-40B4-BE49-F238E27FC236}">
                <a16:creationId xmlns:a16="http://schemas.microsoft.com/office/drawing/2014/main" id="{78FCBC8B-522A-B224-B313-25C6BF922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3525" y="544522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19383311-52AE-0A6F-1403-B87093313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7525" y="544522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D2353D6-F645-E38F-444D-95E8269F2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Functional Dependency (FD)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F11482A1-BC3D-00A5-B30A-C151AA204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15603"/>
            <a:ext cx="8497888" cy="5165725"/>
          </a:xfrm>
        </p:spPr>
        <p:txBody>
          <a:bodyPr/>
          <a:lstStyle/>
          <a:p>
            <a:pPr algn="just">
              <a:defRPr/>
            </a:pPr>
            <a:r>
              <a:rPr lang="en-US" dirty="0">
                <a:latin typeface="Calibri" pitchFamily="34" charset="0"/>
                <a:cs typeface="Calibri" pitchFamily="34" charset="0"/>
              </a:rPr>
              <a:t>A functional dependency, denoted by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 → Y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between two sets of attributes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en-US" dirty="0">
                <a:latin typeface="Calibri" pitchFamily="34" charset="0"/>
                <a:cs typeface="Calibri" pitchFamily="34" charset="0"/>
              </a:rPr>
              <a:t> of a relation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en-US" dirty="0">
                <a:latin typeface="Calibri" pitchFamily="34" charset="0"/>
                <a:cs typeface="Calibri" pitchFamily="34" charset="0"/>
              </a:rPr>
              <a:t> specifies a constraint that, for any two tuples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t1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in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en-US" dirty="0">
                <a:latin typeface="Calibri" pitchFamily="34" charset="0"/>
                <a:cs typeface="Calibri" pitchFamily="34" charset="0"/>
              </a:rPr>
              <a:t> that have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t1[X] = t2[X]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they must also have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t1[Y] = t2[Y]</a:t>
            </a:r>
            <a:r>
              <a:rPr lang="en-US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>
              <a:defRPr/>
            </a:pPr>
            <a:r>
              <a:rPr lang="en-US" dirty="0">
                <a:latin typeface="Calibri" pitchFamily="34" charset="0"/>
                <a:cs typeface="Calibri" pitchFamily="34" charset="0"/>
              </a:rPr>
              <a:t>If a constraint on R states that there cannot be more than one tuple with a given X-value in any relation instance r(R), i.e.,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 is a candidate key of R</a:t>
            </a:r>
            <a:r>
              <a:rPr lang="en-US" dirty="0">
                <a:latin typeface="Calibri" pitchFamily="34" charset="0"/>
                <a:cs typeface="Calibri" pitchFamily="34" charset="0"/>
              </a:rPr>
              <a:t> - this implies that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 → Y</a:t>
            </a:r>
            <a:r>
              <a:rPr lang="en-US" dirty="0">
                <a:latin typeface="Calibri" pitchFamily="34" charset="0"/>
                <a:cs typeface="Calibri" pitchFamily="34" charset="0"/>
              </a:rPr>
              <a:t> for any subset of attributes Y of R.</a:t>
            </a:r>
            <a:endParaRPr lang="en-US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algn="just">
              <a:defRPr/>
            </a:pPr>
            <a:endParaRPr lang="en-US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225425" indent="-225425" algn="just">
              <a:defRPr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609600" indent="-609600" algn="just">
              <a:defRPr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609600" indent="-609600" algn="just">
              <a:defRPr/>
            </a:pPr>
            <a:endParaRPr lang="en-US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D3854F1-9AE0-BC1F-B3F8-97F4B374B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05750" cy="504825"/>
          </a:xfrm>
          <a:noFill/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Identification of Functional Dependencies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B42AD36-BCA7-56BB-7900-24289784A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spcBef>
                <a:spcPts val="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Consider the following dataset:</a:t>
            </a: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12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of the following functional dependencies may hold or do not hold?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-&gt; C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 -&gt; B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 -&gt; C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-&gt; B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CD -&gt; B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	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sz="2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99A0E0-5D4B-EF6D-0AA7-C09B6D3F6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05793"/>
              </p:ext>
            </p:extLst>
          </p:nvPr>
        </p:nvGraphicFramePr>
        <p:xfrm>
          <a:off x="2819400" y="1628800"/>
          <a:ext cx="35052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11751099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8519701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26202268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913128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088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21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62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8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c4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58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64272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3A11B55-DBEB-3342-E00B-34974E019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6911975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 or Armstrong Axioms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7D4449F-3EF2-A337-DCF4-C044B089E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47211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Using the given set F of functional dependencies, additional functional dependencies can be derived using Inference Rules for functional dependencies, called </a:t>
            </a: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inference axioms or Armstrong axioms</a:t>
            </a:r>
            <a:r>
              <a:rPr lang="en-US" sz="2400" dirty="0">
                <a:latin typeface="Calibri" pitchFamily="34" charset="0"/>
              </a:rPr>
              <a:t>, after their developer, can be used to find all the FDs logically implied by a set of FDs.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  <a:sym typeface="Wingdings" pitchFamily="2" charset="2"/>
              </a:rPr>
              <a:t>Armstrong axioms are </a:t>
            </a:r>
            <a:r>
              <a:rPr lang="en-US" sz="2400" b="1" dirty="0">
                <a:solidFill>
                  <a:schemeClr val="accent6"/>
                </a:solidFill>
                <a:latin typeface="Calibri" pitchFamily="34" charset="0"/>
                <a:sym typeface="Wingdings" pitchFamily="2" charset="2"/>
              </a:rPr>
              <a:t>sound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and </a:t>
            </a:r>
            <a:r>
              <a:rPr lang="en-US" sz="2400" b="1" dirty="0">
                <a:solidFill>
                  <a:schemeClr val="accent6"/>
                </a:solidFill>
                <a:latin typeface="Calibri" pitchFamily="34" charset="0"/>
                <a:sym typeface="Wingdings" pitchFamily="2" charset="2"/>
              </a:rPr>
              <a:t>complete.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  <a:sym typeface="Wingdings" pitchFamily="2" charset="2"/>
              </a:rPr>
              <a:t>An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FD X → Y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is inferred from or implied by a set of dependencies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F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specified on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R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if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X → Y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holds in every relation state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r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of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R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; that is, whenever r satisfies all the dependencies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F, X → Y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also holds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r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  <a:sym typeface="Wingdings" pitchFamily="2" charset="2"/>
              </a:rPr>
              <a:t>Inference rules are helpful in identifying the </a:t>
            </a:r>
            <a:r>
              <a:rPr lang="en-US" sz="2400" u="sng" dirty="0">
                <a:solidFill>
                  <a:schemeClr val="accent2"/>
                </a:solidFill>
                <a:latin typeface="Calibri" pitchFamily="34" charset="0"/>
                <a:sym typeface="Wingdings" pitchFamily="2" charset="2"/>
              </a:rPr>
              <a:t>keys</a:t>
            </a:r>
            <a:r>
              <a:rPr lang="en-US" sz="2400" dirty="0">
                <a:latin typeface="Calibri" pitchFamily="34" charset="0"/>
                <a:sym typeface="Wingdings" pitchFamily="2" charset="2"/>
              </a:rPr>
              <a:t> of a relation and to replace a relation with a collection of smaller relations.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  <a:sym typeface="Wingdings" pitchFamily="2" charset="2"/>
              </a:rPr>
              <a:t>An attribute or set of attributes is a key, if it can functionally determine the other attributes of the relation.</a:t>
            </a: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CAD1AA4-1EB4-62F4-18D7-9D4769D1A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E073511-C68E-38A1-7359-E5B273479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497888" cy="547211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 sz="2400">
                <a:latin typeface="Calibri" panose="020F0502020204030204" pitchFamily="34" charset="0"/>
              </a:rPr>
              <a:t>There are the following inference rules: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Reflexivity			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Augmentation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Transitivity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Additivity or union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Projectivity or Decomposition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>
                <a:solidFill>
                  <a:srgbClr val="2D2DB9"/>
                </a:solidFill>
                <a:latin typeface="Calibri" panose="020F0502020204030204" pitchFamily="34" charset="0"/>
              </a:rPr>
              <a:t>Pseudo transitivity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AutoNum type="alphaLcParenR"/>
            </a:pPr>
            <a:endParaRPr lang="en-US" altLang="en-US" sz="2400">
              <a:solidFill>
                <a:srgbClr val="2D2DB9"/>
              </a:solidFill>
              <a:latin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AutoNum type="alphaLcParenR"/>
            </a:pPr>
            <a:endParaRPr lang="en-US" altLang="en-US" sz="2400">
              <a:solidFill>
                <a:srgbClr val="2D2DB9"/>
              </a:solidFill>
              <a:latin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AutoNum type="alphaLcParenR"/>
            </a:pPr>
            <a:endParaRPr lang="en-US" altLang="en-US" sz="2400">
              <a:solidFill>
                <a:srgbClr val="2D2DB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F6BF933-2F56-FD6A-B9D7-51FA62D84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8CF64DCA-3CCA-2FF0-2522-4F3F7BA12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497887" cy="516572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a) Reflexivity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Calibri" pitchFamily="34" charset="0"/>
              </a:rPr>
              <a:t>If X ⊇ Y, then X → Y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For Example: </a:t>
            </a:r>
            <a:r>
              <a:rPr lang="en-US" sz="2400" dirty="0" err="1">
                <a:latin typeface="Calibri" pitchFamily="34" charset="0"/>
              </a:rPr>
              <a:t>StName,stAdr</a:t>
            </a:r>
            <a:r>
              <a:rPr lang="en-US" sz="2400" dirty="0">
                <a:latin typeface="Calibri" pitchFamily="34" charset="0"/>
              </a:rPr>
              <a:t> →  </a:t>
            </a:r>
            <a:r>
              <a:rPr lang="en-US" sz="2400" dirty="0" err="1">
                <a:latin typeface="Calibri" pitchFamily="34" charset="0"/>
              </a:rPr>
              <a:t>stName</a:t>
            </a:r>
            <a:endParaRPr lang="en-US" sz="2400" dirty="0">
              <a:latin typeface="Calibri" pitchFamily="34" charset="0"/>
            </a:endParaRPr>
          </a:p>
          <a:p>
            <a:pPr marL="457200" indent="-457200">
              <a:lnSpc>
                <a:spcPct val="120000"/>
              </a:lnSpc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b) Augmentation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we have A → B then AC → BC. For Example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</a:t>
            </a:r>
            <a:r>
              <a:rPr lang="en-US" sz="2400" dirty="0" err="1">
                <a:latin typeface="Calibri" pitchFamily="34" charset="0"/>
              </a:rPr>
              <a:t>stId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stName</a:t>
            </a:r>
            <a:r>
              <a:rPr lang="en-US" sz="2400" dirty="0">
                <a:latin typeface="Calibri" pitchFamily="34" charset="0"/>
              </a:rPr>
              <a:t> then</a:t>
            </a:r>
          </a:p>
          <a:p>
            <a:pPr>
              <a:defRPr/>
            </a:pPr>
            <a:r>
              <a:rPr lang="en-US" sz="2400" dirty="0" err="1">
                <a:latin typeface="Calibri" pitchFamily="34" charset="0"/>
              </a:rPr>
              <a:t>StId,stAdr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stName,stAdr</a:t>
            </a: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>
              <a:lnSpc>
                <a:spcPct val="120000"/>
              </a:lnSpc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c) Transitivity 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A → B and B → C, then A → C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</a:t>
            </a:r>
            <a:r>
              <a:rPr lang="en-US" sz="2400" dirty="0" err="1">
                <a:latin typeface="Calibri" pitchFamily="34" charset="0"/>
              </a:rPr>
              <a:t>stId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prName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dirty="0" err="1">
                <a:latin typeface="Calibri" pitchFamily="34" charset="0"/>
              </a:rPr>
              <a:t>prName</a:t>
            </a:r>
            <a:r>
              <a:rPr lang="en-US" sz="2400" dirty="0">
                <a:latin typeface="Calibri" pitchFamily="34" charset="0"/>
              </a:rPr>
              <a:t> → credits then</a:t>
            </a:r>
          </a:p>
          <a:p>
            <a:pPr>
              <a:defRPr/>
            </a:pPr>
            <a:r>
              <a:rPr lang="en-US" sz="2400" dirty="0" err="1">
                <a:latin typeface="Calibri" pitchFamily="34" charset="0"/>
              </a:rPr>
              <a:t>stId</a:t>
            </a:r>
            <a:r>
              <a:rPr lang="en-US" sz="2400" dirty="0">
                <a:latin typeface="Calibri" pitchFamily="34" charset="0"/>
              </a:rPr>
              <a:t> → credits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33F71E8-542C-46C5-008B-3ECB5BF87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B44F13F-0352-782D-9591-639A8FB08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43000"/>
            <a:ext cx="8497887" cy="516572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d) Additivity or Union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A → B and A → C, then A → BC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</a:t>
            </a: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eName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qual</a:t>
            </a:r>
            <a:r>
              <a:rPr lang="en-US" sz="2400" dirty="0">
                <a:latin typeface="Calibri" pitchFamily="34" charset="0"/>
              </a:rPr>
              <a:t> Then we can write it as </a:t>
            </a: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eName</a:t>
            </a:r>
            <a:r>
              <a:rPr lang="en-US" sz="2400" dirty="0">
                <a:latin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</a:rPr>
              <a:t>qual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e) Projectivity or Decomposition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A → BC then A → B and A → C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</a:t>
            </a: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eName,qual</a:t>
            </a:r>
            <a:r>
              <a:rPr lang="en-US" sz="2400" dirty="0">
                <a:latin typeface="Calibri" pitchFamily="34" charset="0"/>
              </a:rPr>
              <a:t> Then we can write it as</a:t>
            </a:r>
          </a:p>
          <a:p>
            <a:pPr>
              <a:defRPr/>
            </a:pP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eName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dirty="0" err="1">
                <a:latin typeface="Calibri" pitchFamily="34" charset="0"/>
              </a:rPr>
              <a:t>empID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qual</a:t>
            </a: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>
              <a:buFontTx/>
              <a:buNone/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f) Pseudo transitivity: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A → B and BC → D, then AC → D</a:t>
            </a:r>
          </a:p>
          <a:p>
            <a:pPr>
              <a:defRPr/>
            </a:pPr>
            <a:r>
              <a:rPr lang="en-US" sz="2400" dirty="0">
                <a:latin typeface="Calibri" pitchFamily="34" charset="0"/>
              </a:rPr>
              <a:t>If </a:t>
            </a:r>
            <a:r>
              <a:rPr lang="en-US" sz="2400" dirty="0" err="1">
                <a:latin typeface="Calibri" pitchFamily="34" charset="0"/>
              </a:rPr>
              <a:t>stID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stName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dirty="0" err="1">
                <a:latin typeface="Calibri" pitchFamily="34" charset="0"/>
              </a:rPr>
              <a:t>stName,fName</a:t>
            </a:r>
            <a:r>
              <a:rPr lang="en-US" sz="2400" dirty="0">
                <a:latin typeface="Calibri" pitchFamily="34" charset="0"/>
              </a:rPr>
              <a:t> → </a:t>
            </a:r>
            <a:r>
              <a:rPr lang="en-US" sz="2400" dirty="0" err="1">
                <a:latin typeface="Calibri" pitchFamily="34" charset="0"/>
              </a:rPr>
              <a:t>stAdr</a:t>
            </a:r>
            <a:r>
              <a:rPr lang="en-US" sz="2400" dirty="0">
                <a:latin typeface="Calibri" pitchFamily="34" charset="0"/>
              </a:rPr>
              <a:t> Then we can write it as </a:t>
            </a:r>
            <a:r>
              <a:rPr lang="en-US" sz="2400" dirty="0" err="1">
                <a:latin typeface="Calibri" pitchFamily="34" charset="0"/>
              </a:rPr>
              <a:t>StId,fName</a:t>
            </a:r>
            <a:r>
              <a:rPr lang="en-US" sz="2400" dirty="0">
                <a:latin typeface="Calibri" pitchFamily="34" charset="0"/>
              </a:rPr>
              <a:t>  → </a:t>
            </a:r>
            <a:r>
              <a:rPr lang="en-US" sz="2400" dirty="0" err="1">
                <a:latin typeface="Calibri" pitchFamily="34" charset="0"/>
              </a:rPr>
              <a:t>stAdr</a:t>
            </a: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01B8E2C-1895-CDF5-5FA3-C31E7F9A4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148263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 - Summary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8075D8E-386E-1A0D-C761-E6AF34F46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325" y="1341438"/>
          <a:ext cx="7494588" cy="4967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</a:rPr>
                        <a:t>Rule </a:t>
                      </a:r>
                    </a:p>
                  </a:txBody>
                  <a:tcPr marL="91448" marR="9144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2"/>
                          </a:solidFill>
                          <a:latin typeface="Calibri" pitchFamily="34" charset="0"/>
                        </a:rPr>
                        <a:t>Example</a:t>
                      </a:r>
                    </a:p>
                  </a:txBody>
                  <a:tcPr marL="91448" marR="91448" marT="45713" marB="4571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7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+mj-lt"/>
                        <a:buNone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a) Reflexivity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A,  ABC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 AB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349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+mj-lt"/>
                        <a:buNone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b) Augmentation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itchFamily="34" charset="0"/>
                        </a:rPr>
                        <a:t>If A → B then AC → BC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349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+mj-lt"/>
                        <a:buNone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c) Transitivity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itchFamily="34" charset="0"/>
                        </a:rPr>
                        <a:t>If A → B and B → C, then A → C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3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d)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Additivity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or union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If A → B and A → C, then A → BC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349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+mj-lt"/>
                        <a:buNone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e)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Projectivity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 or Decomposition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itchFamily="34" charset="0"/>
                        </a:rPr>
                        <a:t>If A → BC then A → B and A → C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51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f) Pseudo transitivity</a:t>
                      </a:r>
                    </a:p>
                  </a:txBody>
                  <a:tcPr marL="91448" marR="914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itchFamily="34" charset="0"/>
                        </a:rPr>
                        <a:t>If A → B and BC → D, then AC → D</a:t>
                      </a:r>
                    </a:p>
                  </a:txBody>
                  <a:tcPr marL="91448" marR="91448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E229-4F05-0132-CCB5-4876063A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19BA79F-51A5-AF46-4575-60B532B7D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400675" cy="504825"/>
          </a:xfrm>
          <a:noFill/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Closure of F (F</a:t>
            </a:r>
            <a:r>
              <a:rPr lang="en-US" altLang="en-US" sz="2800" b="1" baseline="30000" dirty="0">
                <a:solidFill>
                  <a:srgbClr val="800000"/>
                </a:solidFill>
              </a:rPr>
              <a:t>+</a:t>
            </a:r>
            <a:r>
              <a:rPr lang="en-US" altLang="en-US" sz="2800" b="1" dirty="0">
                <a:solidFill>
                  <a:srgbClr val="800000"/>
                </a:solidFill>
              </a:rPr>
              <a:t>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FBF2384C-103E-7E28-932D-B2BEF48F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43000"/>
            <a:ext cx="8497888" cy="5165725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F-closure</a:t>
            </a:r>
            <a:r>
              <a:rPr lang="en-US" sz="2400" dirty="0">
                <a:latin typeface="Calibri" pitchFamily="34" charset="0"/>
              </a:rPr>
              <a:t> is a set of FDs logically implied from given FDs.</a:t>
            </a:r>
          </a:p>
          <a:p>
            <a:pPr algn="just">
              <a:spcBef>
                <a:spcPts val="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</a:rPr>
              <a:t>Algorithm</a:t>
            </a:r>
            <a:r>
              <a:rPr lang="en-US" sz="2400" dirty="0">
                <a:latin typeface="Calibri" pitchFamily="34" charset="0"/>
              </a:rPr>
              <a:t> for determining F</a:t>
            </a:r>
            <a:r>
              <a:rPr lang="en-US" sz="2400" baseline="30000" dirty="0">
                <a:latin typeface="Calibri" pitchFamily="34" charset="0"/>
              </a:rPr>
              <a:t>+</a:t>
            </a:r>
            <a:endParaRPr lang="en-US" sz="2400" dirty="0">
              <a:latin typeface="Calibri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Input:</a:t>
            </a:r>
            <a:r>
              <a:rPr lang="en-US" sz="2400" dirty="0">
                <a:latin typeface="Calibri" pitchFamily="34" charset="0"/>
              </a:rPr>
              <a:t> A set F of FDs on a relation schema R, and a set of attributes X, which is a subset of R.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F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:= F;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Apply the reflexivity rule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repeat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for each functional dependency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dirty="0">
                <a:latin typeface="Calibri" pitchFamily="34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	apply the augmentation rule on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	add the resulting functional dependencies to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</a:t>
            </a:r>
            <a:endParaRPr 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for each pair of functional dependencies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i="1" baseline="-25000" dirty="0">
                <a:solidFill>
                  <a:srgbClr val="FF0000"/>
                </a:solidFill>
                <a:latin typeface="Calibri" pitchFamily="34" charset="0"/>
              </a:rPr>
              <a:t>1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i="1" baseline="-25000" dirty="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sz="2400" dirty="0">
                <a:latin typeface="Calibri" pitchFamily="34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</a:t>
            </a:r>
            <a:endParaRPr 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	if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i="1" baseline="-25000" dirty="0">
                <a:solidFill>
                  <a:srgbClr val="FF0000"/>
                </a:solidFill>
                <a:latin typeface="Calibri" pitchFamily="34" charset="0"/>
              </a:rPr>
              <a:t>1</a:t>
            </a:r>
            <a:r>
              <a:rPr lang="en-US" sz="2400" dirty="0">
                <a:latin typeface="Calibri" pitchFamily="34" charset="0"/>
              </a:rPr>
              <a:t> and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i="1" baseline="-25000" dirty="0">
                <a:solidFill>
                  <a:srgbClr val="FF0000"/>
                </a:solidFill>
                <a:latin typeface="Calibri" pitchFamily="34" charset="0"/>
              </a:rPr>
              <a:t>2</a:t>
            </a:r>
            <a:r>
              <a:rPr lang="en-US" sz="2400" dirty="0">
                <a:latin typeface="Calibri" pitchFamily="34" charset="0"/>
              </a:rPr>
              <a:t> can be combined using transitivity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		add the resulting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</a:rPr>
              <a:t>fd</a:t>
            </a:r>
            <a:r>
              <a:rPr lang="en-US" sz="2400" dirty="0">
                <a:latin typeface="Calibri" pitchFamily="34" charset="0"/>
              </a:rPr>
              <a:t> to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</a:t>
            </a:r>
            <a:endParaRPr 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until</a:t>
            </a:r>
            <a:r>
              <a:rPr lang="en-US" sz="2400" dirty="0">
                <a:latin typeface="Calibri" pitchFamily="34" charset="0"/>
              </a:rPr>
              <a:t> F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does not change any further</a:t>
            </a:r>
          </a:p>
          <a:p>
            <a:pPr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844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2C2DF0E-D697-E911-8403-8BF7CA511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400675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Closure of F (F</a:t>
            </a:r>
            <a:r>
              <a:rPr lang="en-US" altLang="en-US" sz="2800" b="1" baseline="30000">
                <a:solidFill>
                  <a:srgbClr val="800000"/>
                </a:solidFill>
              </a:rPr>
              <a:t>+</a:t>
            </a:r>
            <a:r>
              <a:rPr lang="en-US" altLang="en-US" sz="2800" b="1">
                <a:solidFill>
                  <a:srgbClr val="800000"/>
                </a:solidFill>
              </a:rPr>
              <a:t>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CBD9B8D1-E462-81F5-AF65-C1B7DCB21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6346" y="1143000"/>
            <a:ext cx="8820150" cy="516572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chemeClr val="accent6"/>
                </a:solidFill>
                <a:latin typeface="Calibri" pitchFamily="34" charset="0"/>
              </a:rPr>
              <a:t>Example 1:</a:t>
            </a:r>
            <a:r>
              <a:rPr lang="en-US" sz="2400" dirty="0">
                <a:latin typeface="Calibri" pitchFamily="34" charset="0"/>
              </a:rPr>
              <a:t> Consider a relation R(A,B,C,D,E) with the following FDs: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FD {A → BC,  CD → E, B → D, E → A} 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Reflexivity: </a:t>
            </a:r>
            <a:r>
              <a:rPr lang="en-US" sz="2400" dirty="0">
                <a:latin typeface="Calibri" pitchFamily="34" charset="0"/>
              </a:rPr>
              <a:t>A → A,  B → B, C → C, D → D, E → E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Decomposition:</a:t>
            </a:r>
            <a:r>
              <a:rPr lang="en-US" sz="2400" dirty="0">
                <a:latin typeface="Calibri" pitchFamily="34" charset="0"/>
              </a:rPr>
              <a:t> A → BC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B and A → C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Transitivity:</a:t>
            </a:r>
            <a:r>
              <a:rPr lang="en-US" sz="2400" dirty="0">
                <a:latin typeface="Calibri" pitchFamily="34" charset="0"/>
              </a:rPr>
              <a:t> A → B and B → D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D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Union:</a:t>
            </a:r>
            <a:r>
              <a:rPr lang="en-US" sz="2400" dirty="0">
                <a:latin typeface="Calibri" pitchFamily="34" charset="0"/>
              </a:rPr>
              <a:t> A → C and A → D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CD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accent6"/>
                </a:solidFill>
                <a:latin typeface="Calibri" pitchFamily="34" charset="0"/>
              </a:rPr>
              <a:t>Transitivity: </a:t>
            </a:r>
            <a:r>
              <a:rPr lang="en-US" sz="2400" dirty="0">
                <a:latin typeface="Calibri" pitchFamily="34" charset="0"/>
              </a:rPr>
              <a:t>A → CD and CD → E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E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It concludes that A → ABCDE and hence A is a key.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E → A implies that E → ABCDE and hence E is also a key.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CD → E implies that CD → ABCDE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B → D implies BC → CD and hence BC → ABCDE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chemeClr val="accent6"/>
                </a:solidFill>
                <a:latin typeface="Calibri" pitchFamily="34" charset="0"/>
              </a:rPr>
              <a:t>Example 2:</a:t>
            </a:r>
            <a:r>
              <a:rPr lang="en-US" sz="2400" dirty="0">
                <a:latin typeface="Calibri" pitchFamily="34" charset="0"/>
              </a:rPr>
              <a:t> Find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of {A → B, A → C, CG → H, CG → I, B → H} </a:t>
            </a:r>
            <a:endParaRPr lang="en-US" sz="2400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0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0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4CD63CC-0B49-F9CB-0DEA-E677F6FD1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327650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Closure of X (X</a:t>
            </a:r>
            <a:r>
              <a:rPr lang="en-US" altLang="en-US" sz="2800" b="1" baseline="30000">
                <a:solidFill>
                  <a:srgbClr val="800000"/>
                </a:solidFill>
              </a:rPr>
              <a:t>+</a:t>
            </a:r>
            <a:r>
              <a:rPr lang="en-US" altLang="en-US" sz="2800" b="1">
                <a:solidFill>
                  <a:srgbClr val="800000"/>
                </a:solidFill>
              </a:rPr>
              <a:t>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5C3A058F-4407-1DB9-1BE1-24B128AED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For attribute(s) X, we can determine a set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of attributes that are functionally dependent on X based of a given set F of functional dependencies.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is called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X-closure or closure of X under F.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</a:rPr>
              <a:t>Algorithm</a:t>
            </a:r>
            <a:r>
              <a:rPr lang="en-US" sz="2400" dirty="0">
                <a:latin typeface="Calibri" pitchFamily="34" charset="0"/>
              </a:rPr>
              <a:t> for determining X</a:t>
            </a:r>
            <a:r>
              <a:rPr lang="en-US" sz="2400" baseline="30000" dirty="0">
                <a:latin typeface="Calibri" pitchFamily="34" charset="0"/>
              </a:rPr>
              <a:t>+</a:t>
            </a:r>
            <a:endParaRPr lang="en-US" sz="2400" dirty="0">
              <a:latin typeface="Calibri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Input:</a:t>
            </a:r>
            <a:r>
              <a:rPr lang="en-US" sz="2400" dirty="0">
                <a:latin typeface="Calibri" pitchFamily="34" charset="0"/>
              </a:rPr>
              <a:t> A set F of FDs on a relation schema R, and a set of attributes X, which is a subset of R.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:= X;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repeat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old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:=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for each functional dependency Y → Z in F do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	if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⊇ Y then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:=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∪ Z;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until (X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old X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);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6D0AB73-3395-DB1B-56CF-624515CBE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5327650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Closure of X (X</a:t>
            </a:r>
            <a:r>
              <a:rPr lang="en-US" altLang="en-US" sz="2800" b="1" baseline="30000">
                <a:solidFill>
                  <a:srgbClr val="800000"/>
                </a:solidFill>
              </a:rPr>
              <a:t>+</a:t>
            </a:r>
            <a:r>
              <a:rPr lang="en-US" altLang="en-US" sz="2800" b="1">
                <a:solidFill>
                  <a:srgbClr val="800000"/>
                </a:solidFill>
              </a:rPr>
              <a:t>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CF4BBC58-C32F-9B6E-5F24-F65244A78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Let R(A,B,C,D,E) and FD = {A → D,  D → B, B → C, E → B}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A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ADBC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B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C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D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DBC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E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EBC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None of the above attribute is a key and hence we need to have a composite key.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AE</a:t>
            </a:r>
            <a:r>
              <a:rPr lang="en-US" sz="2400" baseline="30000" dirty="0">
                <a:latin typeface="Calibri" pitchFamily="34" charset="0"/>
              </a:rPr>
              <a:t>+</a:t>
            </a:r>
            <a:r>
              <a:rPr lang="en-US" sz="2400" dirty="0">
                <a:latin typeface="Calibri" pitchFamily="34" charset="0"/>
              </a:rPr>
              <a:t> = ABCDE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013931F-A286-8005-6B48-5D57F93B6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Equivalent Dependencies (Cover)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C8936EC9-5C2E-04AB-8621-B10F9D5A3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44588"/>
            <a:ext cx="8497888" cy="5380037"/>
          </a:xfrm>
        </p:spPr>
        <p:txBody>
          <a:bodyPr/>
          <a:lstStyle/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Given two sets F and G of functional dependencies, then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If F = G</a:t>
            </a:r>
            <a:r>
              <a:rPr lang="en-US" sz="2400" baseline="30000" dirty="0">
                <a:latin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</a:rPr>
              <a:t>, then F and G are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equivalent.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If F </a:t>
            </a:r>
            <a:r>
              <a:rPr lang="en-US" sz="2400" dirty="0">
                <a:latin typeface="Calibri" pitchFamily="34" charset="0"/>
                <a:sym typeface="Symbol"/>
              </a:rPr>
              <a:t></a:t>
            </a:r>
            <a:r>
              <a:rPr lang="en-US" sz="2400" dirty="0">
                <a:latin typeface="Calibri" pitchFamily="34" charset="0"/>
              </a:rPr>
              <a:t> G</a:t>
            </a:r>
            <a:r>
              <a:rPr lang="en-US" sz="2400" baseline="30000" dirty="0">
                <a:latin typeface="Calibri" pitchFamily="34" charset="0"/>
              </a:rPr>
              <a:t>+ </a:t>
            </a:r>
            <a:r>
              <a:rPr lang="en-US" sz="2400" dirty="0">
                <a:latin typeface="Calibri" pitchFamily="34" charset="0"/>
              </a:rPr>
              <a:t>, then G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covers</a:t>
            </a:r>
            <a:r>
              <a:rPr lang="en-US" sz="2400" dirty="0">
                <a:latin typeface="Calibri" pitchFamily="34" charset="0"/>
              </a:rPr>
              <a:t>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F </a:t>
            </a:r>
            <a:r>
              <a:rPr lang="en-US" sz="2400" dirty="0">
                <a:latin typeface="Calibri" pitchFamily="34" charset="0"/>
                <a:sym typeface="Symbol"/>
              </a:rPr>
              <a:t></a:t>
            </a:r>
            <a:r>
              <a:rPr lang="en-US" sz="2400" dirty="0">
                <a:latin typeface="Calibri" pitchFamily="34" charset="0"/>
              </a:rPr>
              <a:t> G</a:t>
            </a:r>
            <a:r>
              <a:rPr lang="en-US" sz="2400" baseline="30000" dirty="0">
                <a:latin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</a:rPr>
              <a:t>, If F </a:t>
            </a:r>
            <a:r>
              <a:rPr lang="en-US" sz="2400" dirty="0">
                <a:latin typeface="Calibri" pitchFamily="34" charset="0"/>
                <a:sym typeface="Symbol"/>
              </a:rPr>
              <a:t></a:t>
            </a:r>
            <a:r>
              <a:rPr lang="en-US" sz="2400" dirty="0">
                <a:latin typeface="Calibri" pitchFamily="34" charset="0"/>
              </a:rPr>
              <a:t> G</a:t>
            </a:r>
            <a:r>
              <a:rPr lang="en-US" sz="2400" baseline="30000" dirty="0">
                <a:latin typeface="Calibri" pitchFamily="34" charset="0"/>
              </a:rPr>
              <a:t>+ </a:t>
            </a:r>
            <a:r>
              <a:rPr lang="en-US" sz="2400" dirty="0">
                <a:latin typeface="Calibri" pitchFamily="34" charset="0"/>
              </a:rPr>
              <a:t>and  G </a:t>
            </a:r>
            <a:r>
              <a:rPr lang="en-US" sz="2400" dirty="0">
                <a:latin typeface="Calibri" pitchFamily="34" charset="0"/>
                <a:sym typeface="Symbol"/>
              </a:rPr>
              <a:t></a:t>
            </a:r>
            <a:r>
              <a:rPr lang="en-US" sz="2400" dirty="0">
                <a:latin typeface="Calibri" pitchFamily="34" charset="0"/>
              </a:rPr>
              <a:t> F</a:t>
            </a:r>
            <a:r>
              <a:rPr lang="en-US" sz="2400" baseline="30000" dirty="0">
                <a:latin typeface="Calibri" pitchFamily="34" charset="0"/>
              </a:rPr>
              <a:t>+ </a:t>
            </a: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A set of functional dependencies F is said to cover another set of functional dependencies G if every FD in G is also in F</a:t>
            </a:r>
            <a:r>
              <a:rPr lang="en-US" sz="2400" baseline="30000" dirty="0">
                <a:latin typeface="Calibri" pitchFamily="34" charset="0"/>
              </a:rPr>
              <a:t>+ </a:t>
            </a:r>
            <a:r>
              <a:rPr lang="en-US" sz="2400" dirty="0">
                <a:latin typeface="Calibri" pitchFamily="34" charset="0"/>
              </a:rPr>
              <a:t>; that is, if every dependency in G can be inferred from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We can determine whether G covers F by calculating X</a:t>
            </a:r>
            <a:r>
              <a:rPr lang="en-US" sz="2400" baseline="30000" dirty="0">
                <a:latin typeface="Calibri" pitchFamily="34" charset="0"/>
              </a:rPr>
              <a:t>+ </a:t>
            </a:r>
            <a:r>
              <a:rPr lang="en-US" sz="2400" dirty="0">
                <a:latin typeface="Calibri" pitchFamily="34" charset="0"/>
              </a:rPr>
              <a:t>with respect to F using FDs in G. If we can get dependents for every FD in F using FDs of G , then G covers F. 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Let R(A,B,C) and F = {A → B,  B → C, C → A} and </a:t>
            </a:r>
          </a:p>
          <a:p>
            <a:pPr marL="0" indent="0" algn="just">
              <a:spcBef>
                <a:spcPts val="20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     G = {C → B,  B → A, A → C}</a:t>
            </a:r>
          </a:p>
          <a:p>
            <a:pPr algn="just">
              <a:spcBef>
                <a:spcPts val="200"/>
              </a:spcBef>
              <a:defRPr/>
            </a:pPr>
            <a:r>
              <a:rPr lang="en-US" sz="2400" dirty="0">
                <a:latin typeface="Calibri" pitchFamily="34" charset="0"/>
              </a:rPr>
              <a:t>F = {A → C,  AC → D, E → AD, E → H} and </a:t>
            </a:r>
          </a:p>
          <a:p>
            <a:pPr marL="0" indent="0" algn="just">
              <a:spcBef>
                <a:spcPts val="20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     G = {A → CD,  E → AH}</a:t>
            </a: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20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2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2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4CDF-4777-F9D1-7BEA-54FA407F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A813116-DA6B-096C-48F2-71211ED2F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Minimal or Canonical Cover of FDs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FB65922-EE2B-A821-8A9B-CEAB7F5E8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Minimal cover is a minimum and the simplified set of FDs.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Minimal cover for a given set of FDs is obtained after performing the following three transformation in order: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Calibri" pitchFamily="34" charset="0"/>
              </a:rPr>
              <a:t>Singleton RHS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Calibri" pitchFamily="34" charset="0"/>
              </a:rPr>
              <a:t>No extraneous LHS attributes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Calibri" pitchFamily="34" charset="0"/>
              </a:rPr>
              <a:t>No redundant FDs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Removing an attribute from the left side of a functional dependency could make it a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stronger constraint.</a:t>
            </a:r>
            <a:r>
              <a:rPr lang="en-US" sz="2400" dirty="0">
                <a:latin typeface="Calibri" pitchFamily="34" charset="0"/>
              </a:rPr>
              <a:t> For example, if we have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AB → C</a:t>
            </a:r>
            <a:r>
              <a:rPr lang="en-US" sz="2400" dirty="0">
                <a:latin typeface="Calibri" pitchFamily="34" charset="0"/>
              </a:rPr>
              <a:t> and remove B, we get the possibly stronger result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C.</a:t>
            </a:r>
            <a:r>
              <a:rPr lang="en-US" sz="2400" dirty="0">
                <a:latin typeface="Calibri" pitchFamily="34" charset="0"/>
              </a:rPr>
              <a:t> It may be stronger because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C</a:t>
            </a:r>
            <a:r>
              <a:rPr lang="en-US" sz="2400" dirty="0">
                <a:latin typeface="Calibri" pitchFamily="34" charset="0"/>
              </a:rPr>
              <a:t> logically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AB → C,</a:t>
            </a:r>
            <a:r>
              <a:rPr lang="en-US" sz="2400" dirty="0">
                <a:latin typeface="Calibri" pitchFamily="34" charset="0"/>
              </a:rPr>
              <a:t> but AB → C does not, on its own, logically imply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C.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For example, suppose that the set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F = {AB → C, A → D, D → C}.</a:t>
            </a:r>
            <a:r>
              <a:rPr lang="en-US" sz="2400" dirty="0">
                <a:latin typeface="Calibri" pitchFamily="34" charset="0"/>
              </a:rPr>
              <a:t> Then we can show that F logically implies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 → C,</a:t>
            </a:r>
            <a:r>
              <a:rPr lang="en-US" sz="2400" dirty="0">
                <a:latin typeface="Calibri" pitchFamily="34" charset="0"/>
              </a:rPr>
              <a:t> making B extraneous in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AB → C.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625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0A1C-A195-DB84-1469-CDEF66B8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A60268C-F75C-5B41-C06C-0D5BAEEAC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Minimal or Canonical Cover of FDs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5F850D2-FDA1-AB82-37E1-6D19A4D0A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Removing an attribute from the right side of a functional dependency could make it a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weaker constraint.</a:t>
            </a:r>
            <a:r>
              <a:rPr lang="en-US" sz="2400" dirty="0">
                <a:latin typeface="Calibri" pitchFamily="34" charset="0"/>
              </a:rPr>
              <a:t> For example, if we have AB → CD and remove C, we get AB → D. It may be weaker because using just AB → D, we can no longer infer AB → C.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For example, suppose that F = {AB → CD, A → C}. Then we can show that even after replacing AB → CD by AB → D, we can still infer AB → C and thus AB → CD.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9987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9A94C14-99FE-8661-FB09-F0813C3B8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7920038" cy="504825"/>
          </a:xfrm>
          <a:noFill/>
        </p:spPr>
        <p:txBody>
          <a:bodyPr/>
          <a:lstStyle/>
          <a:p>
            <a:r>
              <a:rPr lang="en-US" altLang="en-US" sz="2800" b="1" dirty="0">
                <a:solidFill>
                  <a:srgbClr val="800000"/>
                </a:solidFill>
              </a:rPr>
              <a:t>Minimal or Canonical Cover of FDs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C83BA877-798C-F2D1-E8AF-93AD419A6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Let R(A,B,C) and F = {A → B,  AB → C}. Minimal cover of F is ____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Let R(A,B,C) and F = {A → B,  B → C, A → C}. Minimal cover of F is F = {A → B,  B → C}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Let R(A,B,C,D,E) and </a:t>
            </a:r>
          </a:p>
          <a:p>
            <a:pPr marL="0" indent="0" algn="just">
              <a:spcBef>
                <a:spcPts val="30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     F = {A → D,  BC → AD, C → B,  E → A, E → D} </a:t>
            </a:r>
            <a:r>
              <a:rPr lang="en-US" sz="2000" dirty="0">
                <a:latin typeface="Calibri" pitchFamily="34" charset="0"/>
              </a:rPr>
              <a:t>(compute B</a:t>
            </a:r>
            <a:r>
              <a:rPr lang="en-US" sz="2000" baseline="30000" dirty="0">
                <a:latin typeface="Calibri" pitchFamily="34" charset="0"/>
              </a:rPr>
              <a:t>+ </a:t>
            </a:r>
            <a:r>
              <a:rPr lang="en-US" sz="2000" dirty="0">
                <a:latin typeface="Calibri" pitchFamily="34" charset="0"/>
              </a:rPr>
              <a:t>and C</a:t>
            </a:r>
            <a:r>
              <a:rPr lang="en-US" sz="2000" baseline="30000" dirty="0">
                <a:latin typeface="Calibri" pitchFamily="34" charset="0"/>
              </a:rPr>
              <a:t>+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The minimal cover of F = {A → D,  C → A, C → B,  E → A}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libri" pitchFamily="34" charset="0"/>
              </a:rPr>
              <a:t>Find minimal cover of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F = {A → BC,  B → C, A → B, AB → C}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spcBef>
                <a:spcPts val="30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5335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4C32425-18A6-2352-2EA7-CD5BEEADD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6551613" cy="504825"/>
          </a:xfrm>
          <a:noFill/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</a:rPr>
              <a:t>Inference Rules – Sample Problems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2DE3C8F-3A38-D38E-C868-CAEBAC441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97888" cy="523716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Find F-closure, A</a:t>
            </a:r>
            <a:r>
              <a:rPr lang="en-US" sz="2400" baseline="30000" dirty="0">
                <a:latin typeface="Calibri" pitchFamily="34" charset="0"/>
              </a:rPr>
              <a:t>+ </a:t>
            </a:r>
            <a:r>
              <a:rPr lang="en-US" sz="2400" dirty="0">
                <a:latin typeface="Calibri" pitchFamily="34" charset="0"/>
              </a:rPr>
              <a:t>, and B</a:t>
            </a:r>
            <a:r>
              <a:rPr lang="en-US" sz="2400" baseline="30000" dirty="0">
                <a:latin typeface="Calibri" pitchFamily="34" charset="0"/>
              </a:rPr>
              <a:t>+  </a:t>
            </a:r>
            <a:r>
              <a:rPr lang="en-US" sz="2400" dirty="0">
                <a:latin typeface="Calibri" pitchFamily="34" charset="0"/>
              </a:rPr>
              <a:t>for R(A,B,C,D,E) with FDs: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{AB → C,  BC → D, CD → E, DE → A, AE → B}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Determine the key(s) for R(A,B,C,D,E) with FDs: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	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  <a:sym typeface="Wingdings" pitchFamily="2" charset="2"/>
              </a:rPr>
              <a:t>F = {A -&gt; D, D -&gt; B, B -&gt; C, E -&gt; B}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	 G =  {D → C,  CE → A, D → A, AE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Determine the key(s) for R(A,B,C,D,E,F) with FDs: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latin typeface="Calibri" pitchFamily="34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{CDE → B,  ACD → F, BEF → C, B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Determine whether or not the following two sets of dependencies F and G is equivalent: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     F = {A → C,  AC → D, E → AD, E → H}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     G = {A → CD,  E → AH}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400" dirty="0">
                <a:latin typeface="Calibri" pitchFamily="34" charset="0"/>
              </a:rPr>
              <a:t>Find minimal cover of </a:t>
            </a: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F = {B → A,  D → A, AB → D}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</a:endParaRPr>
          </a:p>
          <a:p>
            <a:pPr marL="457200" lvl="1" indent="0" algn="just">
              <a:buFontTx/>
              <a:buNone/>
              <a:defRPr/>
            </a:pPr>
            <a:endParaRPr lang="en-US" dirty="0">
              <a:solidFill>
                <a:srgbClr val="FF0000"/>
              </a:solidFill>
              <a:latin typeface="Calibri" pitchFamily="34" charset="0"/>
              <a:sym typeface="Wingdings" pitchFamily="2" charset="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endParaRPr lang="en-US" sz="2400" dirty="0">
              <a:solidFill>
                <a:schemeClr val="accent2"/>
              </a:solidFill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latin typeface="Calibri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0"/>
              </a:spcBef>
              <a:buFontTx/>
              <a:buAutoNum type="alphaLcParenR"/>
              <a:defRPr/>
            </a:pPr>
            <a:endParaRPr lang="en-US" sz="2400" dirty="0">
              <a:solidFill>
                <a:schemeClr val="accent6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260648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725760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Thomas M. Connolly (6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Fundamentals of Database Systems: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Elmasri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B2D1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055111"/>
              </p:ext>
            </p:extLst>
          </p:nvPr>
        </p:nvGraphicFramePr>
        <p:xfrm>
          <a:off x="1547664" y="2638128"/>
          <a:ext cx="58326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14.4, 15.1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14.2, 15.1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246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7.4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97177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4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F131D2E-1643-2B0B-13E6-73A2652C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628775"/>
            <a:ext cx="8277225" cy="1219200"/>
          </a:xfrm>
        </p:spPr>
        <p:txBody>
          <a:bodyPr/>
          <a:lstStyle/>
          <a:p>
            <a:pPr algn="ctr" eaLnBrk="1" hangingPunct="1"/>
            <a:br>
              <a:rPr lang="de-AT" altLang="en-US" sz="3600">
                <a:latin typeface="Georgia" panose="02040502050405020303" pitchFamily="18" charset="0"/>
              </a:rPr>
            </a:br>
            <a:r>
              <a:rPr lang="de-AT" altLang="en-US" sz="3600">
                <a:latin typeface="Georgia" panose="02040502050405020303" pitchFamily="18" charset="0"/>
              </a:rPr>
              <a:t>Thank you for your attention.</a:t>
            </a:r>
          </a:p>
        </p:txBody>
      </p:sp>
      <p:sp>
        <p:nvSpPr>
          <p:cNvPr id="97283" name="Rectangle 8">
            <a:extLst>
              <a:ext uri="{FF2B5EF4-FFF2-40B4-BE49-F238E27FC236}">
                <a16:creationId xmlns:a16="http://schemas.microsoft.com/office/drawing/2014/main" id="{1D2A0AC3-EA23-63ED-82E3-AC533EA2B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4495800" cy="2130425"/>
          </a:xfrm>
          <a:prstGeom prst="rect">
            <a:avLst/>
          </a:prstGeom>
          <a:solidFill>
            <a:srgbClr val="FFFFCC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7284" name="Rectangle 9">
            <a:extLst>
              <a:ext uri="{FF2B5EF4-FFF2-40B4-BE49-F238E27FC236}">
                <a16:creationId xmlns:a16="http://schemas.microsoft.com/office/drawing/2014/main" id="{102F474F-E7C3-2B43-FC45-D92EEF1D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7724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de-AT" altLang="en-US" sz="900" b="1" dirty="0">
                <a:solidFill>
                  <a:srgbClr val="000066"/>
                </a:solidFill>
              </a:rPr>
              <a:t>			</a:t>
            </a:r>
            <a:r>
              <a:rPr lang="de-AT" altLang="en-US" sz="2400" b="1" dirty="0">
                <a:solidFill>
                  <a:srgbClr val="3333CC"/>
                </a:solidFill>
                <a:latin typeface="Georgia" panose="02040502050405020303" pitchFamily="18" charset="0"/>
              </a:rPr>
              <a:t>Dr. Asif Sohail</a:t>
            </a:r>
            <a:endParaRPr lang="de-AT" altLang="en-US" sz="1200" b="1" dirty="0">
              <a:solidFill>
                <a:srgbClr val="3333CC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b="1" dirty="0">
                <a:solidFill>
                  <a:srgbClr val="800000"/>
                </a:solidFill>
                <a:latin typeface="Georgia" panose="02040502050405020303" pitchFamily="18" charset="0"/>
              </a:rPr>
              <a:t>Assistant Professor</a:t>
            </a:r>
            <a:endParaRPr lang="de-AT" altLang="en-US" sz="1200" dirty="0">
              <a:solidFill>
                <a:srgbClr val="800000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Department of Information Technology,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Faculty of Computing and Information Technology (FCIT)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University of the Punjab, Lahore, Pakistan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Tel:                  +92-(0)42-111-923-923    Ext. </a:t>
            </a:r>
            <a:r>
              <a:rPr lang="de-AT" altLang="en-US" sz="1200" dirty="0">
                <a:solidFill>
                  <a:srgbClr val="0000FF"/>
                </a:solidFill>
                <a:latin typeface="Times New Roman" panose="02020603050405020304" pitchFamily="18" charset="0"/>
              </a:rPr>
              <a:t>154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E-mail:           asif@pucit.edu.pk</a:t>
            </a:r>
          </a:p>
          <a:p>
            <a:pPr eaLnBrk="1" hangingPunct="1"/>
            <a:endParaRPr lang="en-US" altLang="en-US" sz="1200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2E2F7CA-C894-0B39-5274-12A5FB95B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28D636A8-6BC8-F0E1-72F9-45439E09D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3236</TotalTime>
  <Words>2373</Words>
  <Application>Microsoft Office PowerPoint</Application>
  <PresentationFormat>On-screen Show (4:3)</PresentationFormat>
  <Paragraphs>288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Wingdings</vt:lpstr>
      <vt:lpstr>+mj-lt</vt:lpstr>
      <vt:lpstr>Symbol</vt:lpstr>
      <vt:lpstr>Georgia</vt:lpstr>
      <vt:lpstr>Times New Roman</vt:lpstr>
      <vt:lpstr>Standarddesign</vt:lpstr>
      <vt:lpstr>1_Standarddesign</vt:lpstr>
      <vt:lpstr>1_Equity</vt:lpstr>
      <vt:lpstr> Unit - 9 Function Dependencies &amp;  Inference Rules (Armstrong Axioms)  </vt:lpstr>
      <vt:lpstr>Functional Dependency (FD)</vt:lpstr>
      <vt:lpstr>Functional Dependency (FD)</vt:lpstr>
      <vt:lpstr>Identification of Functional Dependencies</vt:lpstr>
      <vt:lpstr>Inference Rules or Armstrong Axioms</vt:lpstr>
      <vt:lpstr>Inference Rules</vt:lpstr>
      <vt:lpstr>Inference Rules</vt:lpstr>
      <vt:lpstr>Inference Rules</vt:lpstr>
      <vt:lpstr>Inference Rules - Summary</vt:lpstr>
      <vt:lpstr>Closure of F (F+)</vt:lpstr>
      <vt:lpstr>Closure of F (F+)</vt:lpstr>
      <vt:lpstr>Closure of X (X+)</vt:lpstr>
      <vt:lpstr>Closure of X (X+)</vt:lpstr>
      <vt:lpstr>Equivalent Dependencies (Cover)</vt:lpstr>
      <vt:lpstr>Minimal or Canonical Cover of FDs</vt:lpstr>
      <vt:lpstr>Minimal or Canonical Cover of FDs</vt:lpstr>
      <vt:lpstr>Minimal or Canonical Cover of FDs</vt:lpstr>
      <vt:lpstr>Inference Rules – Sample Problems</vt:lpstr>
      <vt:lpstr>Reading Material</vt:lpstr>
      <vt:lpstr> Thank you for your attention.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Asif Sohail</cp:lastModifiedBy>
  <cp:revision>852</cp:revision>
  <dcterms:created xsi:type="dcterms:W3CDTF">2006-05-17T12:38:56Z</dcterms:created>
  <dcterms:modified xsi:type="dcterms:W3CDTF">2024-10-30T06:01:14Z</dcterms:modified>
</cp:coreProperties>
</file>