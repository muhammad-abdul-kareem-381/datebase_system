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2"/>
  </p:notesMasterIdLst>
  <p:handoutMasterIdLst>
    <p:handoutMasterId r:id="rId43"/>
  </p:handoutMasterIdLst>
  <p:sldIdLst>
    <p:sldId id="256" r:id="rId2"/>
    <p:sldId id="467" r:id="rId3"/>
    <p:sldId id="444" r:id="rId4"/>
    <p:sldId id="445" r:id="rId5"/>
    <p:sldId id="489" r:id="rId6"/>
    <p:sldId id="446" r:id="rId7"/>
    <p:sldId id="447" r:id="rId8"/>
    <p:sldId id="449" r:id="rId9"/>
    <p:sldId id="471" r:id="rId10"/>
    <p:sldId id="488" r:id="rId11"/>
    <p:sldId id="481" r:id="rId12"/>
    <p:sldId id="450" r:id="rId13"/>
    <p:sldId id="453" r:id="rId14"/>
    <p:sldId id="436" r:id="rId15"/>
    <p:sldId id="490" r:id="rId16"/>
    <p:sldId id="494" r:id="rId17"/>
    <p:sldId id="452" r:id="rId18"/>
    <p:sldId id="457" r:id="rId19"/>
    <p:sldId id="472" r:id="rId20"/>
    <p:sldId id="473" r:id="rId21"/>
    <p:sldId id="458" r:id="rId22"/>
    <p:sldId id="475" r:id="rId23"/>
    <p:sldId id="474" r:id="rId24"/>
    <p:sldId id="465" r:id="rId25"/>
    <p:sldId id="466" r:id="rId26"/>
    <p:sldId id="478" r:id="rId27"/>
    <p:sldId id="468" r:id="rId28"/>
    <p:sldId id="469" r:id="rId29"/>
    <p:sldId id="460" r:id="rId30"/>
    <p:sldId id="479" r:id="rId31"/>
    <p:sldId id="461" r:id="rId32"/>
    <p:sldId id="480" r:id="rId33"/>
    <p:sldId id="482" r:id="rId34"/>
    <p:sldId id="484" r:id="rId35"/>
    <p:sldId id="486" r:id="rId36"/>
    <p:sldId id="491" r:id="rId37"/>
    <p:sldId id="492" r:id="rId38"/>
    <p:sldId id="493" r:id="rId39"/>
    <p:sldId id="485" r:id="rId40"/>
    <p:sldId id="341" r:id="rId41"/>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6600"/>
    <a:srgbClr val="FFFF66"/>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30" autoAdjust="0"/>
    <p:restoredTop sz="85572" autoAdjust="0"/>
  </p:normalViewPr>
  <p:slideViewPr>
    <p:cSldViewPr>
      <p:cViewPr varScale="1">
        <p:scale>
          <a:sx n="83" d="100"/>
          <a:sy n="83" d="100"/>
        </p:scale>
        <p:origin x="109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0EB5BCB3-6E38-2AC3-60BB-69517156C31C}"/>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A80D0CFD-569A-E994-C518-CC4E7D911069}"/>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9AC98A21-D7E9-B872-31F3-AD0D90A4C1F8}"/>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4A8F8E53-5C0A-A157-37C1-CE122BF9DEA1}"/>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C6754DC0-CE16-410D-B0F9-8ED4C706B7E8}"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EC19E9F-973B-7388-EBBC-4091FDE8EACB}"/>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8B63CB7C-3292-1302-6D87-EAE5EEB686C1}"/>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456D1AD4-A474-722E-4750-CC4319E95AB0}"/>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0B3F7FC-E3D4-1608-A352-01E79BF97923}"/>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91DD0294-77C2-A68B-A96D-B6D896DA46A0}"/>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DF885E0-8A18-EF61-01F1-02AFE2F28F13}"/>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350A18B0-A384-4461-A62A-ECE580065CD1}"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image" Target="../media/image3.wmf"/></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FEFF974-538C-D080-9473-97CD5FE454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CD68E5-11C7-4638-A15E-D47C4C6552DC}" type="slidenum">
              <a:rPr lang="de-AT" altLang="en-US" smtClean="0"/>
              <a:pPr>
                <a:spcBef>
                  <a:spcPct val="0"/>
                </a:spcBef>
              </a:pPr>
              <a:t>1</a:t>
            </a:fld>
            <a:endParaRPr lang="de-AT" altLang="en-US"/>
          </a:p>
        </p:txBody>
      </p:sp>
      <p:sp>
        <p:nvSpPr>
          <p:cNvPr id="5123" name="Rectangle 2">
            <a:extLst>
              <a:ext uri="{FF2B5EF4-FFF2-40B4-BE49-F238E27FC236}">
                <a16:creationId xmlns:a16="http://schemas.microsoft.com/office/drawing/2014/main" id="{DD0995E4-ABCC-6C01-FF0B-77F89AC36917}"/>
              </a:ext>
            </a:extLst>
          </p:cNvPr>
          <p:cNvSpPr>
            <a:spLocks noGrp="1" noRot="1" noChangeArrowheads="1" noTextEdit="1"/>
          </p:cNvSpPr>
          <p:nvPr>
            <p:ph type="sldImg"/>
          </p:nvPr>
        </p:nvSpPr>
        <p:spPr>
          <a:ln/>
        </p:spPr>
      </p:sp>
      <p:sp>
        <p:nvSpPr>
          <p:cNvPr id="5124" name="Rectangle 3">
            <a:extLst>
              <a:ext uri="{FF2B5EF4-FFF2-40B4-BE49-F238E27FC236}">
                <a16:creationId xmlns:a16="http://schemas.microsoft.com/office/drawing/2014/main" id="{79977488-76F1-EC86-48B6-699953DE4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7CC7A68-DD0B-27E7-00F0-B3EB9322B985}"/>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195" name="Rectangle 3">
            <a:extLst>
              <a:ext uri="{FF2B5EF4-FFF2-40B4-BE49-F238E27FC236}">
                <a16:creationId xmlns:a16="http://schemas.microsoft.com/office/drawing/2014/main" id="{45A6AC25-9A9F-048B-BE82-165453F0CCED}"/>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196" name="Rectangle 4">
            <a:extLst>
              <a:ext uri="{FF2B5EF4-FFF2-40B4-BE49-F238E27FC236}">
                <a16:creationId xmlns:a16="http://schemas.microsoft.com/office/drawing/2014/main" id="{66566CE3-8CBB-709C-B002-CC2E284D0F8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Data from Multiple Tables</a:t>
            </a:r>
          </a:p>
          <a:p>
            <a:pPr lvl="1"/>
            <a:r>
              <a:rPr lang="en-US" altLang="en-US">
                <a:latin typeface="Arial" panose="020B0604020202020204" pitchFamily="34" charset="0"/>
              </a:rPr>
              <a:t>Sometimes you need to use data from more than one table. In the slide example, the report displays data from two separate tables.</a:t>
            </a:r>
          </a:p>
          <a:p>
            <a:pPr lvl="2"/>
            <a:r>
              <a:rPr lang="en-US" altLang="en-US">
                <a:latin typeface="Arial" panose="020B0604020202020204" pitchFamily="34" charset="0"/>
              </a:rPr>
              <a:t>EMPNO exists in the EMP table.</a:t>
            </a:r>
          </a:p>
          <a:p>
            <a:pPr lvl="2"/>
            <a:r>
              <a:rPr lang="en-US" altLang="en-US">
                <a:latin typeface="Arial" panose="020B0604020202020204" pitchFamily="34" charset="0"/>
              </a:rPr>
              <a:t>DEPTNO exists in both the EMP and DEPT the tables.</a:t>
            </a:r>
          </a:p>
          <a:p>
            <a:pPr lvl="2"/>
            <a:r>
              <a:rPr lang="en-US" altLang="en-US">
                <a:latin typeface="Arial" panose="020B0604020202020204" pitchFamily="34" charset="0"/>
              </a:rPr>
              <a:t>LOC exists in the DEPT table.</a:t>
            </a:r>
          </a:p>
          <a:p>
            <a:pPr lvl="1"/>
            <a:r>
              <a:rPr lang="en-US" altLang="en-US">
                <a:latin typeface="Arial" panose="020B0604020202020204" pitchFamily="34" charset="0"/>
              </a:rPr>
              <a:t>To produce the report, you need to link EMP and DEPT tables and access data from both of them.</a:t>
            </a: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In the slide, the DEPTNO column can come from either the EMP or the DEPT table.</a:t>
            </a:r>
            <a:r>
              <a:rPr lang="en-US" altLang="en-US">
                <a:latin typeface="Arial" panose="020B0604020202020204" pitchFamily="34" charset="0"/>
              </a:rPr>
              <a:t> </a:t>
            </a:r>
          </a:p>
        </p:txBody>
      </p:sp>
      <p:sp>
        <p:nvSpPr>
          <p:cNvPr id="8197" name="Rectangle 5">
            <a:extLst>
              <a:ext uri="{FF2B5EF4-FFF2-40B4-BE49-F238E27FC236}">
                <a16:creationId xmlns:a16="http://schemas.microsoft.com/office/drawing/2014/main" id="{00301C48-37EF-19E8-E9E1-DB2CA458B5F9}"/>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3AB788E-9360-CEEE-94AA-06FDA04CD652}"/>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0243" name="Rectangle 3">
            <a:extLst>
              <a:ext uri="{FF2B5EF4-FFF2-40B4-BE49-F238E27FC236}">
                <a16:creationId xmlns:a16="http://schemas.microsoft.com/office/drawing/2014/main" id="{2FE275C8-04AB-C553-FF2E-8A26288C3035}"/>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0244" name="Rectangle 4">
            <a:extLst>
              <a:ext uri="{FF2B5EF4-FFF2-40B4-BE49-F238E27FC236}">
                <a16:creationId xmlns:a16="http://schemas.microsoft.com/office/drawing/2014/main" id="{A89A2794-915F-9166-ABAB-9A908120A61C}"/>
              </a:ext>
            </a:extLst>
          </p:cNvPr>
          <p:cNvSpPr>
            <a:spLocks noGrp="1" noChangeArrowheads="1"/>
          </p:cNvSpPr>
          <p:nvPr>
            <p:ph type="body" idx="1"/>
          </p:nvPr>
        </p:nvSpPr>
        <p:spPr>
          <a:xfrm>
            <a:off x="412750" y="4789488"/>
            <a:ext cx="6029325" cy="3817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tabLst>
                <a:tab pos="444500" algn="l"/>
              </a:tabLst>
            </a:pPr>
            <a:r>
              <a:rPr lang="en-US" altLang="en-US">
                <a:latin typeface="Arial" panose="020B0604020202020204" pitchFamily="34" charset="0"/>
              </a:rPr>
              <a:t>Defining Joins</a:t>
            </a:r>
          </a:p>
          <a:p>
            <a:pPr marL="114300" lvl="1" defTabSz="384175">
              <a:tabLst>
                <a:tab pos="444500" algn="l"/>
              </a:tabLst>
            </a:pPr>
            <a:r>
              <a:rPr lang="en-US" altLang="en-US">
                <a:latin typeface="Times" panose="02020603050405020304" pitchFamily="18" charset="0"/>
              </a:rPr>
              <a:t>When data from more than one table in the database is required, a </a:t>
            </a:r>
            <a:r>
              <a:rPr lang="en-US" altLang="en-US" i="1">
                <a:latin typeface="Times" panose="02020603050405020304" pitchFamily="18" charset="0"/>
              </a:rPr>
              <a:t>join</a:t>
            </a:r>
            <a:r>
              <a:rPr lang="en-US" altLang="en-US">
                <a:latin typeface="Times" panose="02020603050405020304" pitchFamily="18" charset="0"/>
              </a:rPr>
              <a:t> condition is used. Rows in one table can be joined to rows in another table according to common values existing in corresponding columns, that is, usually primary and foreign key columns. </a:t>
            </a:r>
          </a:p>
          <a:p>
            <a:pPr marL="114300" lvl="1" defTabSz="384175">
              <a:tabLst>
                <a:tab pos="444500" algn="l"/>
              </a:tabLst>
            </a:pPr>
            <a:r>
              <a:rPr lang="en-US" altLang="en-US">
                <a:latin typeface="Times" panose="02020603050405020304" pitchFamily="18" charset="0"/>
              </a:rPr>
              <a:t>To display data from two or more related tables, write a simple </a:t>
            </a:r>
            <a:r>
              <a:rPr lang="en-US" altLang="en-US">
                <a:solidFill>
                  <a:srgbClr val="FC0128"/>
                </a:solidFill>
                <a:latin typeface="Times" panose="02020603050405020304" pitchFamily="18" charset="0"/>
              </a:rPr>
              <a:t>join </a:t>
            </a:r>
            <a:r>
              <a:rPr lang="en-US" altLang="en-US">
                <a:latin typeface="Times" panose="02020603050405020304" pitchFamily="18" charset="0"/>
              </a:rPr>
              <a:t>condition in the WHERE clause. In the syntax:</a:t>
            </a:r>
          </a:p>
          <a:p>
            <a:pPr marL="114300" lvl="1" defTabSz="384175">
              <a:tabLst>
                <a:tab pos="444500" algn="l"/>
              </a:tabLst>
            </a:pPr>
            <a:r>
              <a:rPr lang="en-US" altLang="en-US">
                <a:latin typeface="Times" panose="02020603050405020304" pitchFamily="18" charset="0"/>
              </a:rPr>
              <a:t>	</a:t>
            </a:r>
            <a:r>
              <a:rPr lang="en-US" altLang="en-US" i="1">
                <a:latin typeface="Times" panose="02020603050405020304" pitchFamily="18" charset="0"/>
              </a:rPr>
              <a:t>table1.column	</a:t>
            </a:r>
            <a:r>
              <a:rPr lang="en-US" altLang="en-US">
                <a:latin typeface="Times" panose="02020603050405020304" pitchFamily="18" charset="0"/>
              </a:rPr>
              <a:t>denotes the table and column from which data is retrieved</a:t>
            </a:r>
          </a:p>
          <a:p>
            <a:pPr marL="114300" lvl="1" defTabSz="384175">
              <a:tabLst>
                <a:tab pos="444500" algn="l"/>
              </a:tabLst>
            </a:pPr>
            <a:r>
              <a:rPr lang="en-US" altLang="en-US">
                <a:latin typeface="Times" panose="02020603050405020304" pitchFamily="18" charset="0"/>
              </a:rPr>
              <a:t>	</a:t>
            </a:r>
            <a:r>
              <a:rPr lang="en-US" altLang="en-US" i="1">
                <a:latin typeface="Times" panose="02020603050405020304" pitchFamily="18" charset="0"/>
              </a:rPr>
              <a:t>table1.column1</a:t>
            </a:r>
            <a:r>
              <a:rPr lang="en-US" altLang="en-US">
                <a:latin typeface="Times" panose="02020603050405020304" pitchFamily="18" charset="0"/>
              </a:rPr>
              <a:t> =	is the condition that joins (or relates) the tables together</a:t>
            </a:r>
            <a:br>
              <a:rPr lang="en-US" altLang="en-US">
                <a:latin typeface="Times" panose="02020603050405020304" pitchFamily="18" charset="0"/>
              </a:rPr>
            </a:br>
            <a:r>
              <a:rPr lang="en-US" altLang="en-US">
                <a:latin typeface="Times" panose="02020603050405020304" pitchFamily="18" charset="0"/>
              </a:rPr>
              <a:t>	</a:t>
            </a:r>
            <a:r>
              <a:rPr lang="en-US" altLang="en-US" i="1">
                <a:latin typeface="Times" panose="02020603050405020304" pitchFamily="18" charset="0"/>
              </a:rPr>
              <a:t>table2.column2	</a:t>
            </a:r>
          </a:p>
          <a:p>
            <a:pPr defTabSz="384175">
              <a:tabLst>
                <a:tab pos="444500" algn="l"/>
              </a:tabLst>
            </a:pPr>
            <a:r>
              <a:rPr lang="en-US" altLang="en-US">
                <a:latin typeface="Arial" panose="020B0604020202020204" pitchFamily="34" charset="0"/>
              </a:rPr>
              <a:t>Guidelines</a:t>
            </a:r>
          </a:p>
          <a:p>
            <a:pPr marL="444500" lvl="2" indent="-215900" defTabSz="384175">
              <a:tabLst>
                <a:tab pos="444500" algn="l"/>
              </a:tabLst>
            </a:pPr>
            <a:r>
              <a:rPr lang="en-US" altLang="en-US">
                <a:latin typeface="Arial" panose="020B0604020202020204" pitchFamily="34" charset="0"/>
              </a:rPr>
              <a:t>When writing a SELECT statement that joins tables, precede the column name with the table name for clarity and to enhance database access.</a:t>
            </a:r>
          </a:p>
          <a:p>
            <a:pPr marL="444500" lvl="2" indent="-215900" defTabSz="384175">
              <a:tabLst>
                <a:tab pos="444500" algn="l"/>
              </a:tabLst>
            </a:pPr>
            <a:r>
              <a:rPr lang="en-US" altLang="en-US">
                <a:latin typeface="Arial" panose="020B0604020202020204" pitchFamily="34" charset="0"/>
              </a:rPr>
              <a:t>If the same column name appears in more than one table, the column name must be prefixed with the table name.</a:t>
            </a:r>
          </a:p>
          <a:p>
            <a:pPr marL="444500" lvl="2" indent="-215900" defTabSz="384175">
              <a:tabLst>
                <a:tab pos="444500" algn="l"/>
              </a:tabLst>
            </a:pPr>
            <a:r>
              <a:rPr lang="en-US" altLang="en-US">
                <a:latin typeface="Arial" panose="020B0604020202020204" pitchFamily="34" charset="0"/>
              </a:rPr>
              <a:t>To join </a:t>
            </a:r>
            <a:r>
              <a:rPr lang="en-US" altLang="en-US" i="1">
                <a:latin typeface="Arial" panose="020B0604020202020204" pitchFamily="34" charset="0"/>
              </a:rPr>
              <a:t>n</a:t>
            </a:r>
            <a:r>
              <a:rPr lang="en-US" altLang="en-US">
                <a:latin typeface="Arial" panose="020B0604020202020204" pitchFamily="34" charset="0"/>
              </a:rPr>
              <a:t> tables together, you need a minimum of (</a:t>
            </a:r>
            <a:r>
              <a:rPr lang="en-US" altLang="en-US" i="1">
                <a:latin typeface="Arial" panose="020B0604020202020204" pitchFamily="34" charset="0"/>
              </a:rPr>
              <a:t>n-1</a:t>
            </a:r>
            <a:r>
              <a:rPr lang="en-US" altLang="en-US">
                <a:latin typeface="Arial" panose="020B0604020202020204" pitchFamily="34" charset="0"/>
              </a:rPr>
              <a:t>) join conditions. Therefore, to join four tables, a minimum of three joins are required. This rule may not apply if your table has a concatenated primary key, in which case more than one column is required to uniquely identify each row.</a:t>
            </a:r>
          </a:p>
          <a:p>
            <a:pPr algn="just" defTabSz="384175">
              <a:spcBef>
                <a:spcPct val="3000"/>
              </a:spcBef>
              <a:tabLst>
                <a:tab pos="444500" algn="l"/>
              </a:tabLst>
            </a:pPr>
            <a:r>
              <a:rPr lang="en-US" altLang="en-US" b="1">
                <a:latin typeface="Times" panose="02020603050405020304" pitchFamily="18" charset="0"/>
              </a:rPr>
              <a:t>For more information, see</a:t>
            </a:r>
          </a:p>
          <a:p>
            <a:pPr algn="just" defTabSz="384175">
              <a:spcBef>
                <a:spcPct val="3000"/>
              </a:spcBef>
              <a:spcAft>
                <a:spcPct val="999000"/>
              </a:spcAft>
              <a:tabLst>
                <a:tab pos="444500" algn="l"/>
              </a:tabLst>
            </a:pPr>
            <a:r>
              <a:rPr lang="en-US" altLang="en-US" b="1" i="1">
                <a:latin typeface="Times" panose="02020603050405020304" pitchFamily="18" charset="0"/>
              </a:rPr>
              <a:t>Oracle Server SQL Reference Manual, </a:t>
            </a:r>
            <a:r>
              <a:rPr lang="en-US" altLang="en-US" b="1">
                <a:latin typeface="Times" panose="02020603050405020304" pitchFamily="18" charset="0"/>
              </a:rPr>
              <a:t>Release 8</a:t>
            </a:r>
            <a:r>
              <a:rPr lang="en-US" altLang="en-US" b="1" i="1">
                <a:latin typeface="Times" panose="02020603050405020304" pitchFamily="18" charset="0"/>
              </a:rPr>
              <a:t>, </a:t>
            </a:r>
            <a:r>
              <a:rPr lang="en-US" altLang="en-US" b="1">
                <a:latin typeface="Arial" panose="020B0604020202020204" pitchFamily="34" charset="0"/>
              </a:rPr>
              <a:t>“</a:t>
            </a:r>
            <a:r>
              <a:rPr lang="en-US" altLang="en-US" b="1">
                <a:latin typeface="Times" panose="02020603050405020304" pitchFamily="18" charset="0"/>
              </a:rPr>
              <a:t>SELECT.</a:t>
            </a:r>
            <a:r>
              <a:rPr lang="en-US" altLang="en-US" b="1">
                <a:latin typeface="Arial" panose="020B0604020202020204" pitchFamily="34" charset="0"/>
              </a:rPr>
              <a:t>”</a:t>
            </a:r>
            <a:endParaRPr lang="en-US" altLang="en-US" b="1">
              <a:latin typeface="Times" panose="02020603050405020304" pitchFamily="18" charset="0"/>
            </a:endParaRPr>
          </a:p>
        </p:txBody>
      </p:sp>
      <p:sp>
        <p:nvSpPr>
          <p:cNvPr id="10245" name="Rectangle 5">
            <a:extLst>
              <a:ext uri="{FF2B5EF4-FFF2-40B4-BE49-F238E27FC236}">
                <a16:creationId xmlns:a16="http://schemas.microsoft.com/office/drawing/2014/main" id="{CB4CC168-EEBB-3852-05C7-2D477E4B3F22}"/>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10246" name="Group 6">
            <a:extLst>
              <a:ext uri="{FF2B5EF4-FFF2-40B4-BE49-F238E27FC236}">
                <a16:creationId xmlns:a16="http://schemas.microsoft.com/office/drawing/2014/main" id="{F6F53010-1F6F-79B3-BEB0-806F7AF66D43}"/>
              </a:ext>
            </a:extLst>
          </p:cNvPr>
          <p:cNvGrpSpPr>
            <a:grpSpLocks/>
          </p:cNvGrpSpPr>
          <p:nvPr/>
        </p:nvGrpSpPr>
        <p:grpSpPr bwMode="auto">
          <a:xfrm>
            <a:off x="139700" y="8362950"/>
            <a:ext cx="298450" cy="295275"/>
            <a:chOff x="87" y="5173"/>
            <a:chExt cx="187" cy="182"/>
          </a:xfrm>
        </p:grpSpPr>
        <p:sp>
          <p:nvSpPr>
            <p:cNvPr id="10247" name="Freeform 7">
              <a:extLst>
                <a:ext uri="{FF2B5EF4-FFF2-40B4-BE49-F238E27FC236}">
                  <a16:creationId xmlns:a16="http://schemas.microsoft.com/office/drawing/2014/main" id="{98C0918F-C5FE-0812-17AB-71BB0D032F12}"/>
                </a:ext>
              </a:extLst>
            </p:cNvPr>
            <p:cNvSpPr>
              <a:spLocks/>
            </p:cNvSpPr>
            <p:nvPr/>
          </p:nvSpPr>
          <p:spPr bwMode="auto">
            <a:xfrm>
              <a:off x="87" y="5173"/>
              <a:ext cx="179" cy="177"/>
            </a:xfrm>
            <a:custGeom>
              <a:avLst/>
              <a:gdLst>
                <a:gd name="T0" fmla="*/ 178 w 179"/>
                <a:gd name="T1" fmla="*/ 176 h 177"/>
                <a:gd name="T2" fmla="*/ 178 w 179"/>
                <a:gd name="T3" fmla="*/ 0 h 177"/>
                <a:gd name="T4" fmla="*/ 0 w 179"/>
                <a:gd name="T5" fmla="*/ 0 h 177"/>
                <a:gd name="T6" fmla="*/ 0 w 179"/>
                <a:gd name="T7" fmla="*/ 176 h 177"/>
                <a:gd name="T8" fmla="*/ 178 w 179"/>
                <a:gd name="T9" fmla="*/ 176 h 177"/>
                <a:gd name="T10" fmla="*/ 0 60000 65536"/>
                <a:gd name="T11" fmla="*/ 0 60000 65536"/>
                <a:gd name="T12" fmla="*/ 0 60000 65536"/>
                <a:gd name="T13" fmla="*/ 0 60000 65536"/>
                <a:gd name="T14" fmla="*/ 0 60000 65536"/>
                <a:gd name="T15" fmla="*/ 0 w 179"/>
                <a:gd name="T16" fmla="*/ 0 h 177"/>
                <a:gd name="T17" fmla="*/ 179 w 179"/>
                <a:gd name="T18" fmla="*/ 177 h 177"/>
              </a:gdLst>
              <a:ahLst/>
              <a:cxnLst>
                <a:cxn ang="T10">
                  <a:pos x="T0" y="T1"/>
                </a:cxn>
                <a:cxn ang="T11">
                  <a:pos x="T2" y="T3"/>
                </a:cxn>
                <a:cxn ang="T12">
                  <a:pos x="T4" y="T5"/>
                </a:cxn>
                <a:cxn ang="T13">
                  <a:pos x="T6" y="T7"/>
                </a:cxn>
                <a:cxn ang="T14">
                  <a:pos x="T8" y="T9"/>
                </a:cxn>
              </a:cxnLst>
              <a:rect l="T15" t="T16" r="T17" b="T18"/>
              <a:pathLst>
                <a:path w="179" h="177">
                  <a:moveTo>
                    <a:pt x="178" y="176"/>
                  </a:moveTo>
                  <a:lnTo>
                    <a:pt x="178" y="0"/>
                  </a:lnTo>
                  <a:lnTo>
                    <a:pt x="0" y="0"/>
                  </a:lnTo>
                  <a:lnTo>
                    <a:pt x="0" y="176"/>
                  </a:lnTo>
                  <a:lnTo>
                    <a:pt x="178"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48" name="Freeform 8">
              <a:extLst>
                <a:ext uri="{FF2B5EF4-FFF2-40B4-BE49-F238E27FC236}">
                  <a16:creationId xmlns:a16="http://schemas.microsoft.com/office/drawing/2014/main" id="{13A5C010-6F62-31B1-724D-09B17D3DDA0F}"/>
                </a:ext>
              </a:extLst>
            </p:cNvPr>
            <p:cNvSpPr>
              <a:spLocks/>
            </p:cNvSpPr>
            <p:nvPr/>
          </p:nvSpPr>
          <p:spPr bwMode="auto">
            <a:xfrm>
              <a:off x="150" y="5239"/>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 name="T10" fmla="*/ 0 60000 65536"/>
                <a:gd name="T11" fmla="*/ 0 60000 65536"/>
                <a:gd name="T12" fmla="*/ 0 60000 65536"/>
                <a:gd name="T13" fmla="*/ 0 60000 65536"/>
                <a:gd name="T14" fmla="*/ 0 60000 65536"/>
                <a:gd name="T15" fmla="*/ 0 w 69"/>
                <a:gd name="T16" fmla="*/ 0 h 38"/>
                <a:gd name="T17" fmla="*/ 69 w 69"/>
                <a:gd name="T18" fmla="*/ 38 h 38"/>
              </a:gdLst>
              <a:ahLst/>
              <a:cxnLst>
                <a:cxn ang="T10">
                  <a:pos x="T0" y="T1"/>
                </a:cxn>
                <a:cxn ang="T11">
                  <a:pos x="T2" y="T3"/>
                </a:cxn>
                <a:cxn ang="T12">
                  <a:pos x="T4" y="T5"/>
                </a:cxn>
                <a:cxn ang="T13">
                  <a:pos x="T6" y="T7"/>
                </a:cxn>
                <a:cxn ang="T14">
                  <a:pos x="T8" y="T9"/>
                </a:cxn>
              </a:cxnLst>
              <a:rect l="T15" t="T16" r="T17" b="T18"/>
              <a:pathLst>
                <a:path w="69" h="38">
                  <a:moveTo>
                    <a:pt x="68" y="7"/>
                  </a:moveTo>
                  <a:lnTo>
                    <a:pt x="65" y="0"/>
                  </a:lnTo>
                  <a:lnTo>
                    <a:pt x="0" y="29"/>
                  </a:lnTo>
                  <a:lnTo>
                    <a:pt x="3" y="37"/>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49" name="Freeform 9">
              <a:extLst>
                <a:ext uri="{FF2B5EF4-FFF2-40B4-BE49-F238E27FC236}">
                  <a16:creationId xmlns:a16="http://schemas.microsoft.com/office/drawing/2014/main" id="{D5908F05-69D4-6F14-145D-2D0AECE8B501}"/>
                </a:ext>
              </a:extLst>
            </p:cNvPr>
            <p:cNvSpPr>
              <a:spLocks/>
            </p:cNvSpPr>
            <p:nvPr/>
          </p:nvSpPr>
          <p:spPr bwMode="auto">
            <a:xfrm>
              <a:off x="159" y="5255"/>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0" name="Freeform 10">
              <a:extLst>
                <a:ext uri="{FF2B5EF4-FFF2-40B4-BE49-F238E27FC236}">
                  <a16:creationId xmlns:a16="http://schemas.microsoft.com/office/drawing/2014/main" id="{CE350B66-4E59-9996-EC59-C1C3EABF09DB}"/>
                </a:ext>
              </a:extLst>
            </p:cNvPr>
            <p:cNvSpPr>
              <a:spLocks/>
            </p:cNvSpPr>
            <p:nvPr/>
          </p:nvSpPr>
          <p:spPr bwMode="auto">
            <a:xfrm>
              <a:off x="164" y="5272"/>
              <a:ext cx="69" cy="34"/>
            </a:xfrm>
            <a:custGeom>
              <a:avLst/>
              <a:gdLst>
                <a:gd name="T0" fmla="*/ 68 w 69"/>
                <a:gd name="T1" fmla="*/ 6 h 34"/>
                <a:gd name="T2" fmla="*/ 65 w 69"/>
                <a:gd name="T3" fmla="*/ 0 h 34"/>
                <a:gd name="T4" fmla="*/ 0 w 69"/>
                <a:gd name="T5" fmla="*/ 26 h 34"/>
                <a:gd name="T6" fmla="*/ 3 w 69"/>
                <a:gd name="T7" fmla="*/ 33 h 34"/>
                <a:gd name="T8" fmla="*/ 68 w 69"/>
                <a:gd name="T9" fmla="*/ 6 h 34"/>
                <a:gd name="T10" fmla="*/ 0 60000 65536"/>
                <a:gd name="T11" fmla="*/ 0 60000 65536"/>
                <a:gd name="T12" fmla="*/ 0 60000 65536"/>
                <a:gd name="T13" fmla="*/ 0 60000 65536"/>
                <a:gd name="T14" fmla="*/ 0 60000 65536"/>
                <a:gd name="T15" fmla="*/ 0 w 69"/>
                <a:gd name="T16" fmla="*/ 0 h 34"/>
                <a:gd name="T17" fmla="*/ 69 w 69"/>
                <a:gd name="T18" fmla="*/ 34 h 34"/>
              </a:gdLst>
              <a:ahLst/>
              <a:cxnLst>
                <a:cxn ang="T10">
                  <a:pos x="T0" y="T1"/>
                </a:cxn>
                <a:cxn ang="T11">
                  <a:pos x="T2" y="T3"/>
                </a:cxn>
                <a:cxn ang="T12">
                  <a:pos x="T4" y="T5"/>
                </a:cxn>
                <a:cxn ang="T13">
                  <a:pos x="T6" y="T7"/>
                </a:cxn>
                <a:cxn ang="T14">
                  <a:pos x="T8" y="T9"/>
                </a:cxn>
              </a:cxnLst>
              <a:rect l="T15" t="T16" r="T17" b="T18"/>
              <a:pathLst>
                <a:path w="69" h="34">
                  <a:moveTo>
                    <a:pt x="68" y="6"/>
                  </a:moveTo>
                  <a:lnTo>
                    <a:pt x="65" y="0"/>
                  </a:lnTo>
                  <a:lnTo>
                    <a:pt x="0" y="26"/>
                  </a:lnTo>
                  <a:lnTo>
                    <a:pt x="3" y="33"/>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1" name="Freeform 11">
              <a:extLst>
                <a:ext uri="{FF2B5EF4-FFF2-40B4-BE49-F238E27FC236}">
                  <a16:creationId xmlns:a16="http://schemas.microsoft.com/office/drawing/2014/main" id="{E9D81727-E576-9961-610F-5BE895CFDCFC}"/>
                </a:ext>
              </a:extLst>
            </p:cNvPr>
            <p:cNvSpPr>
              <a:spLocks/>
            </p:cNvSpPr>
            <p:nvPr/>
          </p:nvSpPr>
          <p:spPr bwMode="auto">
            <a:xfrm>
              <a:off x="172" y="5287"/>
              <a:ext cx="72" cy="36"/>
            </a:xfrm>
            <a:custGeom>
              <a:avLst/>
              <a:gdLst>
                <a:gd name="T0" fmla="*/ 71 w 72"/>
                <a:gd name="T1" fmla="*/ 6 h 36"/>
                <a:gd name="T2" fmla="*/ 67 w 72"/>
                <a:gd name="T3" fmla="*/ 0 h 36"/>
                <a:gd name="T4" fmla="*/ 0 w 72"/>
                <a:gd name="T5" fmla="*/ 28 h 36"/>
                <a:gd name="T6" fmla="*/ 3 w 72"/>
                <a:gd name="T7" fmla="*/ 35 h 36"/>
                <a:gd name="T8" fmla="*/ 71 w 72"/>
                <a:gd name="T9" fmla="*/ 6 h 36"/>
                <a:gd name="T10" fmla="*/ 0 60000 65536"/>
                <a:gd name="T11" fmla="*/ 0 60000 65536"/>
                <a:gd name="T12" fmla="*/ 0 60000 65536"/>
                <a:gd name="T13" fmla="*/ 0 60000 65536"/>
                <a:gd name="T14" fmla="*/ 0 60000 65536"/>
                <a:gd name="T15" fmla="*/ 0 w 72"/>
                <a:gd name="T16" fmla="*/ 0 h 36"/>
                <a:gd name="T17" fmla="*/ 72 w 72"/>
                <a:gd name="T18" fmla="*/ 36 h 36"/>
              </a:gdLst>
              <a:ahLst/>
              <a:cxnLst>
                <a:cxn ang="T10">
                  <a:pos x="T0" y="T1"/>
                </a:cxn>
                <a:cxn ang="T11">
                  <a:pos x="T2" y="T3"/>
                </a:cxn>
                <a:cxn ang="T12">
                  <a:pos x="T4" y="T5"/>
                </a:cxn>
                <a:cxn ang="T13">
                  <a:pos x="T6" y="T7"/>
                </a:cxn>
                <a:cxn ang="T14">
                  <a:pos x="T8" y="T9"/>
                </a:cxn>
              </a:cxnLst>
              <a:rect l="T15" t="T16" r="T17" b="T18"/>
              <a:pathLst>
                <a:path w="72" h="36">
                  <a:moveTo>
                    <a:pt x="71" y="6"/>
                  </a:moveTo>
                  <a:lnTo>
                    <a:pt x="67" y="0"/>
                  </a:lnTo>
                  <a:lnTo>
                    <a:pt x="0" y="28"/>
                  </a:lnTo>
                  <a:lnTo>
                    <a:pt x="3" y="35"/>
                  </a:lnTo>
                  <a:lnTo>
                    <a:pt x="71"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2" name="Freeform 12">
              <a:extLst>
                <a:ext uri="{FF2B5EF4-FFF2-40B4-BE49-F238E27FC236}">
                  <a16:creationId xmlns:a16="http://schemas.microsoft.com/office/drawing/2014/main" id="{DA695316-0673-53ED-B5CB-A97795646390}"/>
                </a:ext>
              </a:extLst>
            </p:cNvPr>
            <p:cNvSpPr>
              <a:spLocks/>
            </p:cNvSpPr>
            <p:nvPr/>
          </p:nvSpPr>
          <p:spPr bwMode="auto">
            <a:xfrm>
              <a:off x="180" y="5303"/>
              <a:ext cx="70" cy="39"/>
            </a:xfrm>
            <a:custGeom>
              <a:avLst/>
              <a:gdLst>
                <a:gd name="T0" fmla="*/ 69 w 70"/>
                <a:gd name="T1" fmla="*/ 7 h 39"/>
                <a:gd name="T2" fmla="*/ 65 w 70"/>
                <a:gd name="T3" fmla="*/ 0 h 39"/>
                <a:gd name="T4" fmla="*/ 0 w 70"/>
                <a:gd name="T5" fmla="*/ 30 h 39"/>
                <a:gd name="T6" fmla="*/ 3 w 70"/>
                <a:gd name="T7" fmla="*/ 38 h 39"/>
                <a:gd name="T8" fmla="*/ 69 w 70"/>
                <a:gd name="T9" fmla="*/ 7 h 39"/>
                <a:gd name="T10" fmla="*/ 0 60000 65536"/>
                <a:gd name="T11" fmla="*/ 0 60000 65536"/>
                <a:gd name="T12" fmla="*/ 0 60000 65536"/>
                <a:gd name="T13" fmla="*/ 0 60000 65536"/>
                <a:gd name="T14" fmla="*/ 0 60000 65536"/>
                <a:gd name="T15" fmla="*/ 0 w 70"/>
                <a:gd name="T16" fmla="*/ 0 h 39"/>
                <a:gd name="T17" fmla="*/ 70 w 70"/>
                <a:gd name="T18" fmla="*/ 39 h 39"/>
              </a:gdLst>
              <a:ahLst/>
              <a:cxnLst>
                <a:cxn ang="T10">
                  <a:pos x="T0" y="T1"/>
                </a:cxn>
                <a:cxn ang="T11">
                  <a:pos x="T2" y="T3"/>
                </a:cxn>
                <a:cxn ang="T12">
                  <a:pos x="T4" y="T5"/>
                </a:cxn>
                <a:cxn ang="T13">
                  <a:pos x="T6" y="T7"/>
                </a:cxn>
                <a:cxn ang="T14">
                  <a:pos x="T8" y="T9"/>
                </a:cxn>
              </a:cxnLst>
              <a:rect l="T15" t="T16" r="T17" b="T18"/>
              <a:pathLst>
                <a:path w="70" h="39">
                  <a:moveTo>
                    <a:pt x="69" y="7"/>
                  </a:moveTo>
                  <a:lnTo>
                    <a:pt x="65" y="0"/>
                  </a:lnTo>
                  <a:lnTo>
                    <a:pt x="0" y="30"/>
                  </a:lnTo>
                  <a:lnTo>
                    <a:pt x="3" y="38"/>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3" name="Freeform 13">
              <a:extLst>
                <a:ext uri="{FF2B5EF4-FFF2-40B4-BE49-F238E27FC236}">
                  <a16:creationId xmlns:a16="http://schemas.microsoft.com/office/drawing/2014/main" id="{F19F2B39-A4B8-6A67-88A6-117AFD9547BD}"/>
                </a:ext>
              </a:extLst>
            </p:cNvPr>
            <p:cNvSpPr>
              <a:spLocks/>
            </p:cNvSpPr>
            <p:nvPr/>
          </p:nvSpPr>
          <p:spPr bwMode="auto">
            <a:xfrm>
              <a:off x="110" y="5202"/>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4" name="Freeform 14">
              <a:extLst>
                <a:ext uri="{FF2B5EF4-FFF2-40B4-BE49-F238E27FC236}">
                  <a16:creationId xmlns:a16="http://schemas.microsoft.com/office/drawing/2014/main" id="{65B0F829-F203-D981-DC1E-275AC0BD7AAF}"/>
                </a:ext>
              </a:extLst>
            </p:cNvPr>
            <p:cNvSpPr>
              <a:spLocks/>
            </p:cNvSpPr>
            <p:nvPr/>
          </p:nvSpPr>
          <p:spPr bwMode="auto">
            <a:xfrm>
              <a:off x="91" y="5190"/>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5" name="Freeform 15">
              <a:extLst>
                <a:ext uri="{FF2B5EF4-FFF2-40B4-BE49-F238E27FC236}">
                  <a16:creationId xmlns:a16="http://schemas.microsoft.com/office/drawing/2014/main" id="{4C553767-36CE-F154-D1A2-E2FDD5BDA558}"/>
                </a:ext>
              </a:extLst>
            </p:cNvPr>
            <p:cNvSpPr>
              <a:spLocks/>
            </p:cNvSpPr>
            <p:nvPr/>
          </p:nvSpPr>
          <p:spPr bwMode="auto">
            <a:xfrm>
              <a:off x="219" y="5204"/>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6" name="Freeform 16">
              <a:extLst>
                <a:ext uri="{FF2B5EF4-FFF2-40B4-BE49-F238E27FC236}">
                  <a16:creationId xmlns:a16="http://schemas.microsoft.com/office/drawing/2014/main" id="{50E83064-409C-2C00-8C0A-E309C0322270}"/>
                </a:ext>
              </a:extLst>
            </p:cNvPr>
            <p:cNvSpPr>
              <a:spLocks/>
            </p:cNvSpPr>
            <p:nvPr/>
          </p:nvSpPr>
          <p:spPr bwMode="auto">
            <a:xfrm>
              <a:off x="110" y="5249"/>
              <a:ext cx="53" cy="106"/>
            </a:xfrm>
            <a:custGeom>
              <a:avLst/>
              <a:gdLst>
                <a:gd name="T0" fmla="*/ 45 w 53"/>
                <a:gd name="T1" fmla="*/ 105 h 106"/>
                <a:gd name="T2" fmla="*/ 52 w 53"/>
                <a:gd name="T3" fmla="*/ 101 h 106"/>
                <a:gd name="T4" fmla="*/ 6 w 53"/>
                <a:gd name="T5" fmla="*/ 0 h 106"/>
                <a:gd name="T6" fmla="*/ 0 w 53"/>
                <a:gd name="T7" fmla="*/ 3 h 106"/>
                <a:gd name="T8" fmla="*/ 45 w 53"/>
                <a:gd name="T9" fmla="*/ 105 h 106"/>
                <a:gd name="T10" fmla="*/ 0 60000 65536"/>
                <a:gd name="T11" fmla="*/ 0 60000 65536"/>
                <a:gd name="T12" fmla="*/ 0 60000 65536"/>
                <a:gd name="T13" fmla="*/ 0 60000 65536"/>
                <a:gd name="T14" fmla="*/ 0 60000 65536"/>
                <a:gd name="T15" fmla="*/ 0 w 53"/>
                <a:gd name="T16" fmla="*/ 0 h 106"/>
                <a:gd name="T17" fmla="*/ 53 w 53"/>
                <a:gd name="T18" fmla="*/ 106 h 106"/>
              </a:gdLst>
              <a:ahLst/>
              <a:cxnLst>
                <a:cxn ang="T10">
                  <a:pos x="T0" y="T1"/>
                </a:cxn>
                <a:cxn ang="T11">
                  <a:pos x="T2" y="T3"/>
                </a:cxn>
                <a:cxn ang="T12">
                  <a:pos x="T4" y="T5"/>
                </a:cxn>
                <a:cxn ang="T13">
                  <a:pos x="T6" y="T7"/>
                </a:cxn>
                <a:cxn ang="T14">
                  <a:pos x="T8" y="T9"/>
                </a:cxn>
              </a:cxnLst>
              <a:rect l="T15" t="T16" r="T17" b="T18"/>
              <a:pathLst>
                <a:path w="53" h="106">
                  <a:moveTo>
                    <a:pt x="45" y="105"/>
                  </a:moveTo>
                  <a:lnTo>
                    <a:pt x="52" y="101"/>
                  </a:lnTo>
                  <a:lnTo>
                    <a:pt x="6" y="0"/>
                  </a:lnTo>
                  <a:lnTo>
                    <a:pt x="0" y="3"/>
                  </a:lnTo>
                  <a:lnTo>
                    <a:pt x="45" y="10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7" name="Freeform 17">
              <a:extLst>
                <a:ext uri="{FF2B5EF4-FFF2-40B4-BE49-F238E27FC236}">
                  <a16:creationId xmlns:a16="http://schemas.microsoft.com/office/drawing/2014/main" id="{3214294B-91F4-CFF4-DB38-A6882064024A}"/>
                </a:ext>
              </a:extLst>
            </p:cNvPr>
            <p:cNvSpPr>
              <a:spLocks/>
            </p:cNvSpPr>
            <p:nvPr/>
          </p:nvSpPr>
          <p:spPr bwMode="auto">
            <a:xfrm>
              <a:off x="87" y="5241"/>
              <a:ext cx="60" cy="114"/>
            </a:xfrm>
            <a:custGeom>
              <a:avLst/>
              <a:gdLst>
                <a:gd name="T0" fmla="*/ 51 w 60"/>
                <a:gd name="T1" fmla="*/ 113 h 114"/>
                <a:gd name="T2" fmla="*/ 59 w 60"/>
                <a:gd name="T3" fmla="*/ 110 h 114"/>
                <a:gd name="T4" fmla="*/ 6 w 60"/>
                <a:gd name="T5" fmla="*/ 0 h 114"/>
                <a:gd name="T6" fmla="*/ 0 w 60"/>
                <a:gd name="T7" fmla="*/ 2 h 114"/>
                <a:gd name="T8" fmla="*/ 51 w 60"/>
                <a:gd name="T9" fmla="*/ 113 h 114"/>
                <a:gd name="T10" fmla="*/ 0 60000 65536"/>
                <a:gd name="T11" fmla="*/ 0 60000 65536"/>
                <a:gd name="T12" fmla="*/ 0 60000 65536"/>
                <a:gd name="T13" fmla="*/ 0 60000 65536"/>
                <a:gd name="T14" fmla="*/ 0 60000 65536"/>
                <a:gd name="T15" fmla="*/ 0 w 60"/>
                <a:gd name="T16" fmla="*/ 0 h 114"/>
                <a:gd name="T17" fmla="*/ 60 w 60"/>
                <a:gd name="T18" fmla="*/ 114 h 114"/>
              </a:gdLst>
              <a:ahLst/>
              <a:cxnLst>
                <a:cxn ang="T10">
                  <a:pos x="T0" y="T1"/>
                </a:cxn>
                <a:cxn ang="T11">
                  <a:pos x="T2" y="T3"/>
                </a:cxn>
                <a:cxn ang="T12">
                  <a:pos x="T4" y="T5"/>
                </a:cxn>
                <a:cxn ang="T13">
                  <a:pos x="T6" y="T7"/>
                </a:cxn>
                <a:cxn ang="T14">
                  <a:pos x="T8" y="T9"/>
                </a:cxn>
              </a:cxnLst>
              <a:rect l="T15" t="T16" r="T17" b="T18"/>
              <a:pathLst>
                <a:path w="60" h="114">
                  <a:moveTo>
                    <a:pt x="51" y="113"/>
                  </a:moveTo>
                  <a:lnTo>
                    <a:pt x="59" y="110"/>
                  </a:lnTo>
                  <a:lnTo>
                    <a:pt x="6" y="0"/>
                  </a:lnTo>
                  <a:lnTo>
                    <a:pt x="0" y="2"/>
                  </a:lnTo>
                  <a:lnTo>
                    <a:pt x="51" y="11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8" name="Freeform 18">
              <a:extLst>
                <a:ext uri="{FF2B5EF4-FFF2-40B4-BE49-F238E27FC236}">
                  <a16:creationId xmlns:a16="http://schemas.microsoft.com/office/drawing/2014/main" id="{10DBFE6F-0B6D-9287-0C1F-0992B83BBAEF}"/>
                </a:ext>
              </a:extLst>
            </p:cNvPr>
            <p:cNvSpPr>
              <a:spLocks/>
            </p:cNvSpPr>
            <p:nvPr/>
          </p:nvSpPr>
          <p:spPr bwMode="auto">
            <a:xfrm>
              <a:off x="90" y="5241"/>
              <a:ext cx="30" cy="18"/>
            </a:xfrm>
            <a:custGeom>
              <a:avLst/>
              <a:gdLst>
                <a:gd name="T0" fmla="*/ 25 w 30"/>
                <a:gd name="T1" fmla="*/ 17 h 18"/>
                <a:gd name="T2" fmla="*/ 29 w 30"/>
                <a:gd name="T3" fmla="*/ 10 h 18"/>
                <a:gd name="T4" fmla="*/ 4 w 30"/>
                <a:gd name="T5" fmla="*/ 0 h 18"/>
                <a:gd name="T6" fmla="*/ 0 w 30"/>
                <a:gd name="T7" fmla="*/ 6 h 18"/>
                <a:gd name="T8" fmla="*/ 25 w 30"/>
                <a:gd name="T9" fmla="*/ 17 h 18"/>
                <a:gd name="T10" fmla="*/ 0 60000 65536"/>
                <a:gd name="T11" fmla="*/ 0 60000 65536"/>
                <a:gd name="T12" fmla="*/ 0 60000 65536"/>
                <a:gd name="T13" fmla="*/ 0 60000 65536"/>
                <a:gd name="T14" fmla="*/ 0 60000 65536"/>
                <a:gd name="T15" fmla="*/ 0 w 30"/>
                <a:gd name="T16" fmla="*/ 0 h 18"/>
                <a:gd name="T17" fmla="*/ 30 w 30"/>
                <a:gd name="T18" fmla="*/ 18 h 18"/>
              </a:gdLst>
              <a:ahLst/>
              <a:cxnLst>
                <a:cxn ang="T10">
                  <a:pos x="T0" y="T1"/>
                </a:cxn>
                <a:cxn ang="T11">
                  <a:pos x="T2" y="T3"/>
                </a:cxn>
                <a:cxn ang="T12">
                  <a:pos x="T4" y="T5"/>
                </a:cxn>
                <a:cxn ang="T13">
                  <a:pos x="T6" y="T7"/>
                </a:cxn>
                <a:cxn ang="T14">
                  <a:pos x="T8" y="T9"/>
                </a:cxn>
              </a:cxnLst>
              <a:rect l="T15" t="T16" r="T17" b="T18"/>
              <a:pathLst>
                <a:path w="30" h="18">
                  <a:moveTo>
                    <a:pt x="25" y="17"/>
                  </a:moveTo>
                  <a:lnTo>
                    <a:pt x="29" y="10"/>
                  </a:lnTo>
                  <a:lnTo>
                    <a:pt x="4" y="0"/>
                  </a:lnTo>
                  <a:lnTo>
                    <a:pt x="0" y="6"/>
                  </a:lnTo>
                  <a:lnTo>
                    <a:pt x="25"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0259" name="Freeform 19">
              <a:extLst>
                <a:ext uri="{FF2B5EF4-FFF2-40B4-BE49-F238E27FC236}">
                  <a16:creationId xmlns:a16="http://schemas.microsoft.com/office/drawing/2014/main" id="{0A4BA092-494A-2905-E879-9796F9715C71}"/>
                </a:ext>
              </a:extLst>
            </p:cNvPr>
            <p:cNvSpPr>
              <a:spLocks/>
            </p:cNvSpPr>
            <p:nvPr/>
          </p:nvSpPr>
          <p:spPr bwMode="auto">
            <a:xfrm>
              <a:off x="200" y="5197"/>
              <a:ext cx="27" cy="18"/>
            </a:xfrm>
            <a:custGeom>
              <a:avLst/>
              <a:gdLst>
                <a:gd name="T0" fmla="*/ 22 w 27"/>
                <a:gd name="T1" fmla="*/ 17 h 18"/>
                <a:gd name="T2" fmla="*/ 26 w 27"/>
                <a:gd name="T3" fmla="*/ 10 h 18"/>
                <a:gd name="T4" fmla="*/ 4 w 27"/>
                <a:gd name="T5" fmla="*/ 0 h 18"/>
                <a:gd name="T6" fmla="*/ 0 w 27"/>
                <a:gd name="T7" fmla="*/ 5 h 18"/>
                <a:gd name="T8" fmla="*/ 22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2" y="17"/>
                  </a:moveTo>
                  <a:lnTo>
                    <a:pt x="26" y="10"/>
                  </a:lnTo>
                  <a:lnTo>
                    <a:pt x="4" y="0"/>
                  </a:lnTo>
                  <a:lnTo>
                    <a:pt x="0" y="5"/>
                  </a:lnTo>
                  <a:lnTo>
                    <a:pt x="22"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286E5-D748-6C3B-F160-D67AF8AE4284}"/>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2291" name="Rectangle 3">
            <a:extLst>
              <a:ext uri="{FF2B5EF4-FFF2-40B4-BE49-F238E27FC236}">
                <a16:creationId xmlns:a16="http://schemas.microsoft.com/office/drawing/2014/main" id="{D8CF4D27-0396-5947-A630-2CCB845C5F42}"/>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2292" name="Rectangle 4">
            <a:extLst>
              <a:ext uri="{FF2B5EF4-FFF2-40B4-BE49-F238E27FC236}">
                <a16:creationId xmlns:a16="http://schemas.microsoft.com/office/drawing/2014/main" id="{38BB8859-B2ED-AACC-FB40-2151B740DD7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Types of Joins</a:t>
            </a:r>
          </a:p>
          <a:p>
            <a:pPr lvl="1"/>
            <a:r>
              <a:rPr lang="en-US" altLang="en-US">
                <a:latin typeface="Arial" panose="020B0604020202020204" pitchFamily="34" charset="0"/>
              </a:rPr>
              <a:t>There are two main types of join conditions:</a:t>
            </a:r>
          </a:p>
          <a:p>
            <a:pPr lvl="2"/>
            <a:r>
              <a:rPr lang="en-US" altLang="en-US">
                <a:latin typeface="Arial" panose="020B0604020202020204" pitchFamily="34" charset="0"/>
              </a:rPr>
              <a:t>Equijoins</a:t>
            </a:r>
          </a:p>
          <a:p>
            <a:pPr lvl="2"/>
            <a:r>
              <a:rPr lang="en-US" altLang="en-US">
                <a:latin typeface="Arial" panose="020B0604020202020204" pitchFamily="34" charset="0"/>
              </a:rPr>
              <a:t>Non-equijoins</a:t>
            </a:r>
          </a:p>
          <a:p>
            <a:pPr lvl="1"/>
            <a:r>
              <a:rPr lang="en-US" altLang="en-US">
                <a:latin typeface="Arial" panose="020B0604020202020204" pitchFamily="34" charset="0"/>
              </a:rPr>
              <a:t>Additional join methods include the following:</a:t>
            </a:r>
          </a:p>
          <a:p>
            <a:pPr lvl="2"/>
            <a:r>
              <a:rPr lang="en-US" altLang="en-US">
                <a:latin typeface="Arial" panose="020B0604020202020204" pitchFamily="34" charset="0"/>
              </a:rPr>
              <a:t>Outer joins</a:t>
            </a:r>
          </a:p>
          <a:p>
            <a:pPr lvl="2"/>
            <a:r>
              <a:rPr lang="en-US" altLang="en-US">
                <a:latin typeface="Arial" panose="020B0604020202020204" pitchFamily="34" charset="0"/>
              </a:rPr>
              <a:t>Self joins</a:t>
            </a:r>
          </a:p>
          <a:p>
            <a:pPr lvl="2"/>
            <a:r>
              <a:rPr lang="en-US" altLang="en-US">
                <a:latin typeface="Arial" panose="020B0604020202020204" pitchFamily="34" charset="0"/>
              </a:rPr>
              <a:t>Set operators</a:t>
            </a:r>
          </a:p>
          <a:p>
            <a:pPr lvl="1"/>
            <a:r>
              <a:rPr lang="en-US" altLang="en-US" b="1">
                <a:latin typeface="Arial" panose="020B0604020202020204" pitchFamily="34" charset="0"/>
              </a:rPr>
              <a:t>Note: </a:t>
            </a:r>
            <a:r>
              <a:rPr lang="en-US" altLang="en-US">
                <a:latin typeface="Arial" panose="020B0604020202020204" pitchFamily="34" charset="0"/>
              </a:rPr>
              <a:t>Set operators are not covered in this course. They are covered in another SQL course.</a:t>
            </a:r>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Do not get into details of all the types of joins. Explain each join one by one as is done in the following slides.</a:t>
            </a:r>
          </a:p>
        </p:txBody>
      </p:sp>
      <p:sp>
        <p:nvSpPr>
          <p:cNvPr id="12293" name="Rectangle 5">
            <a:extLst>
              <a:ext uri="{FF2B5EF4-FFF2-40B4-BE49-F238E27FC236}">
                <a16:creationId xmlns:a16="http://schemas.microsoft.com/office/drawing/2014/main" id="{EFC47B19-75EA-EA39-64B7-753C9514794B}"/>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666A286-EA6A-C216-1ECC-152DA29DEFD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Cartesian Product</a:t>
            </a:r>
          </a:p>
          <a:p>
            <a:pPr lvl="1"/>
            <a:r>
              <a:rPr lang="en-US" altLang="en-US">
                <a:latin typeface="Arial" panose="020B0604020202020204" pitchFamily="34" charset="0"/>
              </a:rPr>
              <a:t>When a join condition is invalid or omitted completely, the result is a </a:t>
            </a:r>
            <a:r>
              <a:rPr lang="en-US" altLang="en-US" i="1">
                <a:latin typeface="Arial" panose="020B0604020202020204" pitchFamily="34" charset="0"/>
              </a:rPr>
              <a:t>Cartesian product</a:t>
            </a:r>
            <a:r>
              <a:rPr lang="en-US" altLang="en-US">
                <a:latin typeface="Arial" panose="020B0604020202020204" pitchFamily="34" charset="0"/>
              </a:rPr>
              <a:t> in which all combinations of rows will be displayed. All rows in the first table are joined to all rows in the second table.</a:t>
            </a:r>
          </a:p>
          <a:p>
            <a:pPr lvl="1"/>
            <a:r>
              <a:rPr lang="en-US" altLang="en-US">
                <a:latin typeface="Arial" panose="020B0604020202020204" pitchFamily="34" charset="0"/>
              </a:rPr>
              <a:t>A </a:t>
            </a:r>
            <a:r>
              <a:rPr lang="en-US" altLang="en-US">
                <a:solidFill>
                  <a:srgbClr val="FC0128"/>
                </a:solidFill>
                <a:latin typeface="Arial" panose="020B0604020202020204" pitchFamily="34" charset="0"/>
              </a:rPr>
              <a:t>Cartesian product </a:t>
            </a:r>
            <a:r>
              <a:rPr lang="en-US" altLang="en-US">
                <a:latin typeface="Arial" panose="020B0604020202020204" pitchFamily="34" charset="0"/>
              </a:rPr>
              <a:t>tends to generate a large number of rows, and its result is rarely useful. You should always include a valid join condition in a WHERE clause, unless you have a specific need to combine all rows from all tables.</a:t>
            </a:r>
          </a:p>
          <a:p>
            <a:endParaRPr lang="en-US" altLang="en-US" b="1">
              <a:latin typeface="Times New Roman" panose="02020603050405020304" pitchFamily="18" charset="0"/>
            </a:endParaRPr>
          </a:p>
        </p:txBody>
      </p:sp>
      <p:sp>
        <p:nvSpPr>
          <p:cNvPr id="14339" name="Rectangle 3">
            <a:extLst>
              <a:ext uri="{FF2B5EF4-FFF2-40B4-BE49-F238E27FC236}">
                <a16:creationId xmlns:a16="http://schemas.microsoft.com/office/drawing/2014/main" id="{8831190A-6221-3AE0-D019-776986308FDE}"/>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304A065-3439-83FB-7D82-6D37592922E6}"/>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6387" name="Rectangle 3">
            <a:extLst>
              <a:ext uri="{FF2B5EF4-FFF2-40B4-BE49-F238E27FC236}">
                <a16:creationId xmlns:a16="http://schemas.microsoft.com/office/drawing/2014/main" id="{22CFC5E6-7629-F2BE-9293-F7D46B6B6EB7}"/>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6388" name="Rectangle 4">
            <a:extLst>
              <a:ext uri="{FF2B5EF4-FFF2-40B4-BE49-F238E27FC236}">
                <a16:creationId xmlns:a16="http://schemas.microsoft.com/office/drawing/2014/main" id="{E8CF9604-6EA8-1B1E-65E6-95264B034A57}"/>
              </a:ext>
            </a:extLst>
          </p:cNvPr>
          <p:cNvSpPr>
            <a:spLocks noGrp="1" noChangeArrowheads="1"/>
          </p:cNvSpPr>
          <p:nvPr>
            <p:ph type="body" idx="1"/>
          </p:nvPr>
        </p:nvSpPr>
        <p:spPr>
          <a:xfrm>
            <a:off x="455613" y="4849813"/>
            <a:ext cx="60150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Cartesian Product (continued)</a:t>
            </a:r>
          </a:p>
          <a:p>
            <a:pPr marL="114300" lvl="1" defTabSz="377825">
              <a:tabLst>
                <a:tab pos="441325" algn="l"/>
              </a:tabLst>
            </a:pPr>
            <a:r>
              <a:rPr lang="en-US" altLang="en-US">
                <a:latin typeface="Arial" panose="020B0604020202020204" pitchFamily="34" charset="0"/>
              </a:rPr>
              <a:t>A Cartesian product is generated if a join condition is omitted. The example on the slide displays employee name and department name from EMP and DEPT tables. Because no WHERE clause has been specified, all rows (14 rows) from the EMP table are joined with all rows (4 rows) in the DEPT table, thereby generating 56 rows in the output.</a:t>
            </a:r>
          </a:p>
          <a:p>
            <a:pPr defTabSz="377825">
              <a:tabLst>
                <a:tab pos="441325" algn="l"/>
              </a:tabLst>
            </a:pPr>
            <a:endParaRPr lang="en-US" altLang="en-US">
              <a:latin typeface="Arial" panose="020B0604020202020204" pitchFamily="34" charset="0"/>
            </a:endParaRPr>
          </a:p>
          <a:p>
            <a:pPr marL="114300" lvl="1" defTabSz="377825">
              <a:tabLst>
                <a:tab pos="441325" algn="l"/>
              </a:tabLst>
            </a:pPr>
            <a:endParaRPr lang="en-US" altLang="en-US">
              <a:latin typeface="Arial" panose="020B0604020202020204" pitchFamily="34" charset="0"/>
            </a:endParaRPr>
          </a:p>
          <a:p>
            <a:pPr marL="114300" lvl="1" defTabSz="377825">
              <a:tabLst>
                <a:tab pos="441325" algn="l"/>
              </a:tabLst>
            </a:pPr>
            <a:endParaRPr lang="en-US" altLang="en-US">
              <a:latin typeface="Arial" panose="020B0604020202020204" pitchFamily="34" charset="0"/>
            </a:endParaRPr>
          </a:p>
          <a:p>
            <a:pPr marL="114300" lvl="1" defTabSz="377825">
              <a:tabLst>
                <a:tab pos="441325" algn="l"/>
              </a:tabLst>
            </a:pPr>
            <a:endParaRPr lang="en-US" altLang="en-US">
              <a:latin typeface="Arial" panose="020B0604020202020204" pitchFamily="34" charset="0"/>
            </a:endParaRPr>
          </a:p>
          <a:p>
            <a:pPr marL="114300" lvl="1" defTabSz="377825">
              <a:tabLst>
                <a:tab pos="441325" algn="l"/>
              </a:tabLst>
            </a:pPr>
            <a:endParaRPr lang="en-US" altLang="en-US">
              <a:latin typeface="Arial" panose="020B0604020202020204" pitchFamily="34" charset="0"/>
            </a:endParaRPr>
          </a:p>
          <a:p>
            <a:pPr marL="114300" lvl="1" defTabSz="377825">
              <a:tabLst>
                <a:tab pos="441325" algn="l"/>
              </a:tabLst>
            </a:pPr>
            <a:endParaRPr lang="en-US" altLang="en-US">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sz="800">
              <a:solidFill>
                <a:schemeClr val="accent2"/>
              </a:solidFill>
              <a:latin typeface="Arial" panose="020B0604020202020204" pitchFamily="34" charset="0"/>
            </a:endParaRPr>
          </a:p>
          <a:p>
            <a:pPr defTabSz="377825">
              <a:spcBef>
                <a:spcPct val="65000"/>
              </a:spcBef>
              <a:tabLst>
                <a:tab pos="441325" algn="l"/>
              </a:tabLst>
            </a:pPr>
            <a:r>
              <a:rPr lang="en-US" altLang="en-US">
                <a:solidFill>
                  <a:schemeClr val="accent2"/>
                </a:solidFill>
                <a:latin typeface="Arial" panose="020B0604020202020204" pitchFamily="34" charset="0"/>
              </a:rPr>
              <a:t>Class Management Note</a:t>
            </a:r>
          </a:p>
          <a:p>
            <a:pPr marL="114300" lvl="1" defTabSz="377825">
              <a:lnSpc>
                <a:spcPct val="95000"/>
              </a:lnSpc>
              <a:tabLst>
                <a:tab pos="441325" algn="l"/>
              </a:tabLst>
            </a:pPr>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l4cart.sql</a:t>
            </a:r>
          </a:p>
          <a:p>
            <a:pPr marL="114300" lvl="1" defTabSz="377825">
              <a:lnSpc>
                <a:spcPct val="95000"/>
              </a:lnSpc>
              <a:tabLst>
                <a:tab pos="441325" algn="l"/>
              </a:tabLst>
            </a:pPr>
            <a:r>
              <a:rPr lang="en-US" altLang="en-US">
                <a:solidFill>
                  <a:schemeClr val="accent2"/>
                </a:solidFill>
                <a:latin typeface="Arial" panose="020B0604020202020204" pitchFamily="34" charset="0"/>
              </a:rPr>
              <a:t>Purpose: To illustrate executing a Cartesian product.</a:t>
            </a:r>
            <a:r>
              <a:rPr lang="en-US" altLang="en-US" i="1">
                <a:solidFill>
                  <a:schemeClr val="accent2"/>
                </a:solidFill>
                <a:latin typeface="Arial" panose="020B0604020202020204" pitchFamily="34" charset="0"/>
              </a:rPr>
              <a:t> </a:t>
            </a:r>
          </a:p>
        </p:txBody>
      </p:sp>
      <p:sp>
        <p:nvSpPr>
          <p:cNvPr id="16389" name="Rectangle 5">
            <a:extLst>
              <a:ext uri="{FF2B5EF4-FFF2-40B4-BE49-F238E27FC236}">
                <a16:creationId xmlns:a16="http://schemas.microsoft.com/office/drawing/2014/main" id="{7A00CE33-DCD4-FD0F-C2B5-0EEBC313616C}"/>
              </a:ext>
            </a:extLst>
          </p:cNvPr>
          <p:cNvSpPr>
            <a:spLocks noGrp="1" noRot="1" noChangeArrowheads="1" noTextEdit="1"/>
          </p:cNvSpPr>
          <p:nvPr>
            <p:ph type="sldImg"/>
          </p:nvPr>
        </p:nvSpPr>
        <p:spPr>
          <a:xfrm>
            <a:off x="411163" y="176213"/>
            <a:ext cx="6030912" cy="4522787"/>
          </a:xfrm>
          <a:ln w="12700" cap="flat">
            <a:solidFill>
              <a:schemeClr val="tx1"/>
            </a:solidFill>
          </a:ln>
        </p:spPr>
      </p:sp>
      <p:sp>
        <p:nvSpPr>
          <p:cNvPr id="16390" name="Rectangle 6">
            <a:extLst>
              <a:ext uri="{FF2B5EF4-FFF2-40B4-BE49-F238E27FC236}">
                <a16:creationId xmlns:a16="http://schemas.microsoft.com/office/drawing/2014/main" id="{C6D0679D-9BEB-7746-D6C6-070BE4C12648}"/>
              </a:ext>
            </a:extLst>
          </p:cNvPr>
          <p:cNvSpPr>
            <a:spLocks noChangeArrowheads="1"/>
          </p:cNvSpPr>
          <p:nvPr/>
        </p:nvSpPr>
        <p:spPr bwMode="auto">
          <a:xfrm>
            <a:off x="674688" y="5870575"/>
            <a:ext cx="5603875"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tabLst>
                <a:tab pos="1054100" algn="l"/>
              </a:tabLst>
              <a:defRPr sz="1200">
                <a:solidFill>
                  <a:schemeClr val="tx1"/>
                </a:solidFill>
                <a:latin typeface="Arial" panose="020B0604020202020204" pitchFamily="34" charset="0"/>
              </a:defRPr>
            </a:lvl1pPr>
            <a:lvl2pPr marL="742950" indent="-285750" defTabSz="955675">
              <a:spcBef>
                <a:spcPct val="30000"/>
              </a:spcBef>
              <a:tabLst>
                <a:tab pos="1054100" algn="l"/>
              </a:tabLst>
              <a:defRPr sz="1200">
                <a:solidFill>
                  <a:schemeClr val="tx1"/>
                </a:solidFill>
                <a:latin typeface="Arial" panose="020B0604020202020204" pitchFamily="34" charset="0"/>
              </a:defRPr>
            </a:lvl2pPr>
            <a:lvl3pPr marL="1143000" indent="-228600" defTabSz="955675">
              <a:spcBef>
                <a:spcPct val="30000"/>
              </a:spcBef>
              <a:tabLst>
                <a:tab pos="1054100" algn="l"/>
              </a:tabLst>
              <a:defRPr sz="1200">
                <a:solidFill>
                  <a:schemeClr val="tx1"/>
                </a:solidFill>
                <a:latin typeface="Arial" panose="020B0604020202020204" pitchFamily="34" charset="0"/>
              </a:defRPr>
            </a:lvl3pPr>
            <a:lvl4pPr marL="1600200" indent="-228600" defTabSz="955675">
              <a:spcBef>
                <a:spcPct val="30000"/>
              </a:spcBef>
              <a:tabLst>
                <a:tab pos="1054100" algn="l"/>
              </a:tabLst>
              <a:defRPr sz="1200">
                <a:solidFill>
                  <a:schemeClr val="tx1"/>
                </a:solidFill>
                <a:latin typeface="Arial" panose="020B0604020202020204" pitchFamily="34" charset="0"/>
              </a:defRPr>
            </a:lvl4pPr>
            <a:lvl5pPr marL="2057400" indent="-228600" defTabSz="955675">
              <a:spcBef>
                <a:spcPct val="30000"/>
              </a:spcBef>
              <a:tabLst>
                <a:tab pos="1054100" algn="l"/>
              </a:tabLst>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tabLst>
                <a:tab pos="1054100" algn="l"/>
              </a:tabLs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tabLst>
                <a:tab pos="1054100" algn="l"/>
              </a:tabLs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tabLst>
                <a:tab pos="1054100" algn="l"/>
              </a:tabLs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tabLst>
                <a:tab pos="1054100" algn="l"/>
              </a:tabLs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ename, dname</a:t>
            </a:r>
          </a:p>
          <a:p>
            <a:pPr>
              <a:spcBef>
                <a:spcPct val="0"/>
              </a:spcBef>
            </a:pPr>
            <a:r>
              <a:rPr lang="en-US" altLang="en-US" sz="1100" b="1">
                <a:latin typeface="Courier New" panose="02070309020205020404" pitchFamily="49" charset="0"/>
              </a:rPr>
              <a:t>  2  FROM 	emp, dept;</a:t>
            </a:r>
          </a:p>
          <a:p>
            <a:pPr>
              <a:spcBef>
                <a:spcPct val="0"/>
              </a:spcBef>
            </a:pPr>
            <a:r>
              <a:rPr lang="en-US" altLang="en-US" sz="1100">
                <a:latin typeface="Courier New" panose="02070309020205020404" pitchFamily="49" charset="0"/>
              </a:rPr>
              <a:t> </a:t>
            </a:r>
          </a:p>
          <a:p>
            <a:pPr>
              <a:spcBef>
                <a:spcPct val="0"/>
              </a:spcBef>
            </a:pPr>
            <a:endParaRPr lang="en-US" altLang="en-US" sz="1100">
              <a:latin typeface="Courier New" panose="02070309020205020404" pitchFamily="49" charset="0"/>
            </a:endParaRPr>
          </a:p>
        </p:txBody>
      </p:sp>
      <p:sp>
        <p:nvSpPr>
          <p:cNvPr id="16391" name="Rectangle 7">
            <a:extLst>
              <a:ext uri="{FF2B5EF4-FFF2-40B4-BE49-F238E27FC236}">
                <a16:creationId xmlns:a16="http://schemas.microsoft.com/office/drawing/2014/main" id="{32FD432C-DAAF-EE1E-887E-34413881827F}"/>
              </a:ext>
            </a:extLst>
          </p:cNvPr>
          <p:cNvSpPr>
            <a:spLocks noChangeArrowheads="1"/>
          </p:cNvSpPr>
          <p:nvPr/>
        </p:nvSpPr>
        <p:spPr bwMode="auto">
          <a:xfrm>
            <a:off x="674688" y="6418263"/>
            <a:ext cx="5603875" cy="15811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ENAME      DNAME</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KING       ACCOUNTING</a:t>
            </a:r>
          </a:p>
          <a:p>
            <a:pPr>
              <a:spcBef>
                <a:spcPct val="0"/>
              </a:spcBef>
            </a:pPr>
            <a:r>
              <a:rPr lang="en-US" altLang="en-US" sz="1100">
                <a:latin typeface="Courier New" panose="02070309020205020404" pitchFamily="49" charset="0"/>
              </a:rPr>
              <a:t>BLAKE      ACCOUNTING</a:t>
            </a:r>
          </a:p>
          <a:p>
            <a:pPr>
              <a:spcBef>
                <a:spcPct val="0"/>
              </a:spcBef>
            </a:pP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KING       RESEARCH</a:t>
            </a:r>
          </a:p>
          <a:p>
            <a:pPr>
              <a:spcBef>
                <a:spcPct val="0"/>
              </a:spcBef>
            </a:pPr>
            <a:r>
              <a:rPr lang="en-US" altLang="en-US" sz="1100">
                <a:latin typeface="Courier New" panose="02070309020205020404" pitchFamily="49" charset="0"/>
              </a:rPr>
              <a:t>BLAKE      RESEARCH</a:t>
            </a:r>
          </a:p>
          <a:p>
            <a:pPr>
              <a:spcBef>
                <a:spcPct val="0"/>
              </a:spcBef>
            </a:pP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56 rows selected.</a:t>
            </a:r>
          </a:p>
          <a:p>
            <a:pPr>
              <a:spcBef>
                <a:spcPct val="0"/>
              </a:spcBef>
            </a:pPr>
            <a:endParaRPr lang="en-US" altLang="en-US" sz="1100">
              <a:latin typeface="Courier New" panose="02070309020205020404" pitchFamily="49"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5715C1B-6F2B-CA3E-EE5C-41C73AF109B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Equijoins</a:t>
            </a:r>
          </a:p>
          <a:p>
            <a:pPr marL="114300" lvl="1" defTabSz="384175"/>
            <a:r>
              <a:rPr lang="en-US" altLang="en-US">
                <a:latin typeface="Arial" panose="020B0604020202020204" pitchFamily="34" charset="0"/>
              </a:rPr>
              <a:t>To determine the name of an employee’s department, you compare the value in the DEPTNO column in the EMP table with the DEPTNO values in the DEPT table. The relationship between the EMP and DEPT tables is an </a:t>
            </a:r>
            <a:r>
              <a:rPr lang="en-US" altLang="en-US" i="1">
                <a:latin typeface="Arial" panose="020B0604020202020204" pitchFamily="34" charset="0"/>
              </a:rPr>
              <a:t>equijoin</a:t>
            </a:r>
            <a:r>
              <a:rPr lang="en-US" altLang="en-US">
                <a:latin typeface="Arial" panose="020B0604020202020204" pitchFamily="34" charset="0"/>
              </a:rPr>
              <a:t>—that is, values in the DEPTNO column on both tables must be equal. Frequently, this type of join involves primary and foreign key complements.</a:t>
            </a:r>
          </a:p>
          <a:p>
            <a:pPr marL="114300" lvl="1" defTabSz="384175"/>
            <a:r>
              <a:rPr lang="en-US" altLang="en-US" b="1">
                <a:latin typeface="Arial" panose="020B0604020202020204" pitchFamily="34" charset="0"/>
              </a:rPr>
              <a:t>Note:</a:t>
            </a:r>
            <a:r>
              <a:rPr lang="en-US" altLang="en-US">
                <a:latin typeface="Arial" panose="020B0604020202020204" pitchFamily="34" charset="0"/>
              </a:rPr>
              <a:t> </a:t>
            </a:r>
            <a:r>
              <a:rPr lang="en-US" altLang="en-US">
                <a:solidFill>
                  <a:srgbClr val="FC0128"/>
                </a:solidFill>
                <a:latin typeface="Arial" panose="020B0604020202020204" pitchFamily="34" charset="0"/>
              </a:rPr>
              <a:t>Equijoins </a:t>
            </a:r>
            <a:r>
              <a:rPr lang="en-US" altLang="en-US">
                <a:latin typeface="Arial" panose="020B0604020202020204" pitchFamily="34" charset="0"/>
              </a:rPr>
              <a:t>are also called </a:t>
            </a:r>
            <a:r>
              <a:rPr lang="en-US" altLang="en-US" i="1">
                <a:latin typeface="Arial" panose="020B0604020202020204" pitchFamily="34" charset="0"/>
              </a:rPr>
              <a:t>simple joins</a:t>
            </a:r>
            <a:r>
              <a:rPr lang="en-US" altLang="en-US">
                <a:latin typeface="Arial" panose="020B0604020202020204" pitchFamily="34" charset="0"/>
              </a:rPr>
              <a:t> or </a:t>
            </a:r>
            <a:r>
              <a:rPr lang="en-US" altLang="en-US" i="1">
                <a:latin typeface="Arial" panose="020B0604020202020204" pitchFamily="34" charset="0"/>
              </a:rPr>
              <a:t>inner joins</a:t>
            </a:r>
            <a:r>
              <a:rPr lang="en-US" altLang="en-US">
                <a:latin typeface="Arial" panose="020B0604020202020204" pitchFamily="34" charset="0"/>
              </a:rPr>
              <a:t>.</a:t>
            </a:r>
          </a:p>
          <a:p>
            <a:pPr defTabSz="384175"/>
            <a:endParaRPr lang="en-US" altLang="en-US">
              <a:latin typeface="Arial" panose="020B0604020202020204" pitchFamily="34" charset="0"/>
            </a:endParaRPr>
          </a:p>
          <a:p>
            <a:pPr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Explain the use of decision matrix for simplifying writing joins. For example, if you want to display the name and department number of all the employees who are in the same department as Smith, you can start by making the following decision tree:</a:t>
            </a:r>
          </a:p>
          <a:p>
            <a:pPr marL="114300" lvl="1" defTabSz="384175"/>
            <a:endParaRPr lang="en-US" altLang="en-US">
              <a:solidFill>
                <a:schemeClr val="accent2"/>
              </a:solidFill>
              <a:latin typeface="Arial" panose="020B0604020202020204" pitchFamily="34" charset="0"/>
            </a:endParaRPr>
          </a:p>
          <a:p>
            <a:pPr marL="114300" lvl="1" defTabSz="384175"/>
            <a:endParaRPr lang="en-US" altLang="en-US">
              <a:solidFill>
                <a:schemeClr val="accent2"/>
              </a:solidFill>
              <a:latin typeface="Arial" panose="020B0604020202020204" pitchFamily="34" charset="0"/>
            </a:endParaRPr>
          </a:p>
          <a:p>
            <a:pPr marL="114300" lvl="1" defTabSz="384175"/>
            <a:endParaRPr lang="en-US" altLang="en-US">
              <a:solidFill>
                <a:schemeClr val="accent2"/>
              </a:solidFill>
              <a:latin typeface="Arial" panose="020B0604020202020204" pitchFamily="34" charset="0"/>
            </a:endParaRPr>
          </a:p>
          <a:p>
            <a:pPr marL="114300" lvl="1" defTabSz="384175"/>
            <a:endParaRPr lang="en-US" altLang="en-US" sz="500">
              <a:solidFill>
                <a:schemeClr val="accent2"/>
              </a:solidFill>
              <a:latin typeface="Arial" panose="020B0604020202020204" pitchFamily="34" charset="0"/>
            </a:endParaRPr>
          </a:p>
          <a:p>
            <a:pPr marL="114300" lvl="1" defTabSz="384175"/>
            <a:r>
              <a:rPr lang="en-US" altLang="en-US">
                <a:solidFill>
                  <a:schemeClr val="accent2"/>
                </a:solidFill>
                <a:latin typeface="Arial" panose="020B0604020202020204" pitchFamily="34" charset="0"/>
              </a:rPr>
              <a:t>Now the SQL statement can be easily formulated by looking at the decision matrix. The first column gives the column list in the SELECT statement, the second column gives the tables for the FROM clause, and the third column gives the condition for the WHERE clause.</a:t>
            </a:r>
          </a:p>
        </p:txBody>
      </p:sp>
      <p:sp>
        <p:nvSpPr>
          <p:cNvPr id="18435" name="Rectangle 3">
            <a:extLst>
              <a:ext uri="{FF2B5EF4-FFF2-40B4-BE49-F238E27FC236}">
                <a16:creationId xmlns:a16="http://schemas.microsoft.com/office/drawing/2014/main" id="{569A7D8F-65DB-F268-A6A2-AB64AE207EEE}"/>
              </a:ext>
            </a:extLst>
          </p:cNvPr>
          <p:cNvSpPr>
            <a:spLocks noGrp="1" noRot="1" noChangeArrowheads="1" noTextEdit="1"/>
          </p:cNvSpPr>
          <p:nvPr>
            <p:ph type="sldImg"/>
          </p:nvPr>
        </p:nvSpPr>
        <p:spPr>
          <a:xfrm>
            <a:off x="441325" y="165100"/>
            <a:ext cx="5970588" cy="4478338"/>
          </a:xfrm>
          <a:ln w="12700" cap="flat">
            <a:solidFill>
              <a:schemeClr val="tx1"/>
            </a:solidFill>
          </a:ln>
        </p:spPr>
      </p:sp>
      <p:graphicFrame>
        <p:nvGraphicFramePr>
          <p:cNvPr id="18436" name="Object 4">
            <a:extLst>
              <a:ext uri="{FF2B5EF4-FFF2-40B4-BE49-F238E27FC236}">
                <a16:creationId xmlns:a16="http://schemas.microsoft.com/office/drawing/2014/main" id="{CF4843AA-589C-C474-0D43-14468EC08EBE}"/>
              </a:ext>
            </a:extLst>
          </p:cNvPr>
          <p:cNvGraphicFramePr>
            <a:graphicFrameLocks/>
          </p:cNvGraphicFramePr>
          <p:nvPr/>
        </p:nvGraphicFramePr>
        <p:xfrm>
          <a:off x="612775" y="7281863"/>
          <a:ext cx="5878513" cy="900112"/>
        </p:xfrm>
        <a:graphic>
          <a:graphicData uri="http://schemas.openxmlformats.org/presentationml/2006/ole">
            <mc:AlternateContent xmlns:mc="http://schemas.openxmlformats.org/markup-compatibility/2006">
              <mc:Choice xmlns:v="urn:schemas-microsoft-com:vml" Requires="v">
                <p:oleObj name="Document" r:id="rId3" imgW="5843016" imgH="883920" progId="Word.Document.6">
                  <p:embed/>
                </p:oleObj>
              </mc:Choice>
              <mc:Fallback>
                <p:oleObj name="Document" r:id="rId3" imgW="5843016" imgH="883920"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7281863"/>
                        <a:ext cx="5878513"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B8D9A13-2597-759A-D8B8-03BD297A37EC}"/>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0483" name="Rectangle 3">
            <a:extLst>
              <a:ext uri="{FF2B5EF4-FFF2-40B4-BE49-F238E27FC236}">
                <a16:creationId xmlns:a16="http://schemas.microsoft.com/office/drawing/2014/main" id="{75C2014A-F3A3-4405-632E-BB02E860B54D}"/>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0484" name="Rectangle 4">
            <a:extLst>
              <a:ext uri="{FF2B5EF4-FFF2-40B4-BE49-F238E27FC236}">
                <a16:creationId xmlns:a16="http://schemas.microsoft.com/office/drawing/2014/main" id="{04F50059-E021-1744-954B-6A3CB606A37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Qualifying Ambiguous Column Names</a:t>
            </a:r>
            <a:endParaRPr lang="en-US" altLang="en-US">
              <a:latin typeface="Times" panose="02020603050405020304" pitchFamily="18" charset="0"/>
            </a:endParaRPr>
          </a:p>
          <a:p>
            <a:pPr marL="114300" lvl="1" defTabSz="384175"/>
            <a:r>
              <a:rPr lang="en-US" altLang="en-US">
                <a:latin typeface="Arial" panose="020B0604020202020204" pitchFamily="34" charset="0"/>
              </a:rPr>
              <a:t>You need to qualify the names of the columns in the WHERE clause with the table name to avoid ambiguity. Without the table prefixes, the DEPTNO column could be from either the DEPT table or the EMP table. It is necessary to add the table prefix to execute your query.</a:t>
            </a:r>
          </a:p>
          <a:p>
            <a:pPr marL="114300" lvl="1" defTabSz="384175"/>
            <a:r>
              <a:rPr lang="en-US" altLang="en-US">
                <a:latin typeface="Arial" panose="020B0604020202020204" pitchFamily="34" charset="0"/>
              </a:rPr>
              <a:t>If there are no common column names between the two tables, there is no need to qualify the columns. However, you will gain improved performance by using the table prefix because you tell the Oracle Server exactly where to go to find columns.</a:t>
            </a:r>
          </a:p>
          <a:p>
            <a:pPr marL="114300" lvl="1" defTabSz="384175"/>
            <a:r>
              <a:rPr lang="en-US" altLang="en-US">
                <a:latin typeface="Arial" panose="020B0604020202020204" pitchFamily="34" charset="0"/>
              </a:rPr>
              <a:t>The requirement to qualify ambiguous column names is also applicable to columns that may be ambiguous in other clauses, such as the SELECT clause or the ORDER BY clause.</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l4loc.sql</a:t>
            </a:r>
          </a:p>
          <a:p>
            <a:pPr marL="114300" lvl="1" defTabSz="384175"/>
            <a:r>
              <a:rPr lang="en-US" altLang="en-US">
                <a:solidFill>
                  <a:schemeClr val="accent2"/>
                </a:solidFill>
                <a:latin typeface="Arial" panose="020B0604020202020204" pitchFamily="34" charset="0"/>
              </a:rPr>
              <a:t>Purpose: To illustrate a SELECT clause with no aliases.</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20485" name="Rectangle 5">
            <a:extLst>
              <a:ext uri="{FF2B5EF4-FFF2-40B4-BE49-F238E27FC236}">
                <a16:creationId xmlns:a16="http://schemas.microsoft.com/office/drawing/2014/main" id="{16841B8B-8054-DFB6-44F1-7FD4514F7A31}"/>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20486" name="Group 6">
            <a:extLst>
              <a:ext uri="{FF2B5EF4-FFF2-40B4-BE49-F238E27FC236}">
                <a16:creationId xmlns:a16="http://schemas.microsoft.com/office/drawing/2014/main" id="{B88A1EC5-6424-536F-CD28-64F48342035E}"/>
              </a:ext>
            </a:extLst>
          </p:cNvPr>
          <p:cNvGrpSpPr>
            <a:grpSpLocks/>
          </p:cNvGrpSpPr>
          <p:nvPr/>
        </p:nvGrpSpPr>
        <p:grpSpPr bwMode="auto">
          <a:xfrm>
            <a:off x="231775" y="6273800"/>
            <a:ext cx="280988" cy="295275"/>
            <a:chOff x="145" y="3880"/>
            <a:chExt cx="176" cy="183"/>
          </a:xfrm>
        </p:grpSpPr>
        <p:sp>
          <p:nvSpPr>
            <p:cNvPr id="20487" name="Freeform 7">
              <a:extLst>
                <a:ext uri="{FF2B5EF4-FFF2-40B4-BE49-F238E27FC236}">
                  <a16:creationId xmlns:a16="http://schemas.microsoft.com/office/drawing/2014/main" id="{AE126D43-BF53-B6F4-7319-5BD89F4B3A1F}"/>
                </a:ext>
              </a:extLst>
            </p:cNvPr>
            <p:cNvSpPr>
              <a:spLocks/>
            </p:cNvSpPr>
            <p:nvPr/>
          </p:nvSpPr>
          <p:spPr bwMode="auto">
            <a:xfrm>
              <a:off x="145" y="3880"/>
              <a:ext cx="176" cy="183"/>
            </a:xfrm>
            <a:custGeom>
              <a:avLst/>
              <a:gdLst>
                <a:gd name="T0" fmla="*/ 175 w 176"/>
                <a:gd name="T1" fmla="*/ 182 h 183"/>
                <a:gd name="T2" fmla="*/ 175 w 176"/>
                <a:gd name="T3" fmla="*/ 0 h 183"/>
                <a:gd name="T4" fmla="*/ 0 w 176"/>
                <a:gd name="T5" fmla="*/ 0 h 183"/>
                <a:gd name="T6" fmla="*/ 0 w 176"/>
                <a:gd name="T7" fmla="*/ 182 h 183"/>
                <a:gd name="T8" fmla="*/ 175 w 176"/>
                <a:gd name="T9" fmla="*/ 182 h 183"/>
                <a:gd name="T10" fmla="*/ 0 60000 65536"/>
                <a:gd name="T11" fmla="*/ 0 60000 65536"/>
                <a:gd name="T12" fmla="*/ 0 60000 65536"/>
                <a:gd name="T13" fmla="*/ 0 60000 65536"/>
                <a:gd name="T14" fmla="*/ 0 60000 65536"/>
                <a:gd name="T15" fmla="*/ 0 w 176"/>
                <a:gd name="T16" fmla="*/ 0 h 183"/>
                <a:gd name="T17" fmla="*/ 176 w 176"/>
                <a:gd name="T18" fmla="*/ 183 h 183"/>
              </a:gdLst>
              <a:ahLst/>
              <a:cxnLst>
                <a:cxn ang="T10">
                  <a:pos x="T0" y="T1"/>
                </a:cxn>
                <a:cxn ang="T11">
                  <a:pos x="T2" y="T3"/>
                </a:cxn>
                <a:cxn ang="T12">
                  <a:pos x="T4" y="T5"/>
                </a:cxn>
                <a:cxn ang="T13">
                  <a:pos x="T6" y="T7"/>
                </a:cxn>
                <a:cxn ang="T14">
                  <a:pos x="T8" y="T9"/>
                </a:cxn>
              </a:cxnLst>
              <a:rect l="T15" t="T16" r="T17" b="T18"/>
              <a:pathLst>
                <a:path w="176" h="183">
                  <a:moveTo>
                    <a:pt x="175" y="182"/>
                  </a:moveTo>
                  <a:lnTo>
                    <a:pt x="175" y="0"/>
                  </a:lnTo>
                  <a:lnTo>
                    <a:pt x="0" y="0"/>
                  </a:lnTo>
                  <a:lnTo>
                    <a:pt x="0" y="182"/>
                  </a:lnTo>
                  <a:lnTo>
                    <a:pt x="175"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0488" name="Freeform 8">
              <a:extLst>
                <a:ext uri="{FF2B5EF4-FFF2-40B4-BE49-F238E27FC236}">
                  <a16:creationId xmlns:a16="http://schemas.microsoft.com/office/drawing/2014/main" id="{D4339A20-F798-C1A5-5C79-0B8BA73F28D8}"/>
                </a:ext>
              </a:extLst>
            </p:cNvPr>
            <p:cNvSpPr>
              <a:spLocks/>
            </p:cNvSpPr>
            <p:nvPr/>
          </p:nvSpPr>
          <p:spPr bwMode="auto">
            <a:xfrm>
              <a:off x="154" y="3888"/>
              <a:ext cx="162" cy="163"/>
            </a:xfrm>
            <a:custGeom>
              <a:avLst/>
              <a:gdLst>
                <a:gd name="T0" fmla="*/ 82 w 162"/>
                <a:gd name="T1" fmla="*/ 0 h 163"/>
                <a:gd name="T2" fmla="*/ 0 w 162"/>
                <a:gd name="T3" fmla="*/ 162 h 163"/>
                <a:gd name="T4" fmla="*/ 161 w 162"/>
                <a:gd name="T5" fmla="*/ 162 h 163"/>
                <a:gd name="T6" fmla="*/ 82 w 162"/>
                <a:gd name="T7" fmla="*/ 0 h 163"/>
                <a:gd name="T8" fmla="*/ 0 60000 65536"/>
                <a:gd name="T9" fmla="*/ 0 60000 65536"/>
                <a:gd name="T10" fmla="*/ 0 60000 65536"/>
                <a:gd name="T11" fmla="*/ 0 60000 65536"/>
                <a:gd name="T12" fmla="*/ 0 w 162"/>
                <a:gd name="T13" fmla="*/ 0 h 163"/>
                <a:gd name="T14" fmla="*/ 162 w 162"/>
                <a:gd name="T15" fmla="*/ 163 h 163"/>
              </a:gdLst>
              <a:ahLst/>
              <a:cxnLst>
                <a:cxn ang="T8">
                  <a:pos x="T0" y="T1"/>
                </a:cxn>
                <a:cxn ang="T9">
                  <a:pos x="T2" y="T3"/>
                </a:cxn>
                <a:cxn ang="T10">
                  <a:pos x="T4" y="T5"/>
                </a:cxn>
                <a:cxn ang="T11">
                  <a:pos x="T6" y="T7"/>
                </a:cxn>
              </a:cxnLst>
              <a:rect l="T12" t="T13" r="T14" b="T15"/>
              <a:pathLst>
                <a:path w="162" h="163">
                  <a:moveTo>
                    <a:pt x="82" y="0"/>
                  </a:moveTo>
                  <a:lnTo>
                    <a:pt x="0" y="162"/>
                  </a:lnTo>
                  <a:lnTo>
                    <a:pt x="161" y="162"/>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0489" name="Freeform 9">
              <a:extLst>
                <a:ext uri="{FF2B5EF4-FFF2-40B4-BE49-F238E27FC236}">
                  <a16:creationId xmlns:a16="http://schemas.microsoft.com/office/drawing/2014/main" id="{2AF533CF-C144-5292-D2F9-98F0E13C8251}"/>
                </a:ext>
              </a:extLst>
            </p:cNvPr>
            <p:cNvSpPr>
              <a:spLocks/>
            </p:cNvSpPr>
            <p:nvPr/>
          </p:nvSpPr>
          <p:spPr bwMode="auto">
            <a:xfrm>
              <a:off x="171" y="390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0490" name="Freeform 10">
              <a:extLst>
                <a:ext uri="{FF2B5EF4-FFF2-40B4-BE49-F238E27FC236}">
                  <a16:creationId xmlns:a16="http://schemas.microsoft.com/office/drawing/2014/main" id="{673D4205-4E4A-2063-BF80-03366C998D79}"/>
                </a:ext>
              </a:extLst>
            </p:cNvPr>
            <p:cNvSpPr>
              <a:spLocks/>
            </p:cNvSpPr>
            <p:nvPr/>
          </p:nvSpPr>
          <p:spPr bwMode="auto">
            <a:xfrm>
              <a:off x="228" y="401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0491" name="Freeform 11">
              <a:extLst>
                <a:ext uri="{FF2B5EF4-FFF2-40B4-BE49-F238E27FC236}">
                  <a16:creationId xmlns:a16="http://schemas.microsoft.com/office/drawing/2014/main" id="{9244D153-A690-33DC-4C26-0115DDA1665C}"/>
                </a:ext>
              </a:extLst>
            </p:cNvPr>
            <p:cNvSpPr>
              <a:spLocks/>
            </p:cNvSpPr>
            <p:nvPr/>
          </p:nvSpPr>
          <p:spPr bwMode="auto">
            <a:xfrm>
              <a:off x="228" y="393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E3AC516-3CBB-9FB4-11BA-AC525A448FB3}"/>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2531" name="Rectangle 3">
            <a:extLst>
              <a:ext uri="{FF2B5EF4-FFF2-40B4-BE49-F238E27FC236}">
                <a16:creationId xmlns:a16="http://schemas.microsoft.com/office/drawing/2014/main" id="{7A915B3B-5E60-DDDC-0EE5-EB78CA81DD69}"/>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2532" name="Rectangle 4">
            <a:extLst>
              <a:ext uri="{FF2B5EF4-FFF2-40B4-BE49-F238E27FC236}">
                <a16:creationId xmlns:a16="http://schemas.microsoft.com/office/drawing/2014/main" id="{741F5627-D2FC-86EB-EBF4-D9B63B1365C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Qualifying Ambiguous Column Names</a:t>
            </a:r>
            <a:endParaRPr lang="en-US" altLang="en-US">
              <a:latin typeface="Times" panose="02020603050405020304" pitchFamily="18" charset="0"/>
            </a:endParaRPr>
          </a:p>
          <a:p>
            <a:pPr marL="114300" lvl="1" defTabSz="384175"/>
            <a:r>
              <a:rPr lang="en-US" altLang="en-US">
                <a:latin typeface="Arial" panose="020B0604020202020204" pitchFamily="34" charset="0"/>
              </a:rPr>
              <a:t>You need to qualify the names of the columns in the WHERE clause with the table name to avoid ambiguity. Without the table prefixes, the DEPTNO column could be from either the DEPT table or the EMP table. It is necessary to add the table prefix to execute your query.</a:t>
            </a:r>
          </a:p>
          <a:p>
            <a:pPr marL="114300" lvl="1" defTabSz="384175"/>
            <a:r>
              <a:rPr lang="en-US" altLang="en-US">
                <a:latin typeface="Arial" panose="020B0604020202020204" pitchFamily="34" charset="0"/>
              </a:rPr>
              <a:t>If there are no common column names between the two tables, there is no need to qualify the columns. However, you will gain improved performance by using the table prefix because you tell the Oracle Server exactly where to go to find columns.</a:t>
            </a:r>
          </a:p>
          <a:p>
            <a:pPr marL="114300" lvl="1" defTabSz="384175"/>
            <a:r>
              <a:rPr lang="en-US" altLang="en-US">
                <a:latin typeface="Arial" panose="020B0604020202020204" pitchFamily="34" charset="0"/>
              </a:rPr>
              <a:t>The requirement to qualify ambiguous column names is also applicable to columns that may be ambiguous in other clauses, such as the SELECT clause or the ORDER BY clause.</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l4loc.sql</a:t>
            </a:r>
          </a:p>
          <a:p>
            <a:pPr marL="114300" lvl="1" defTabSz="384175"/>
            <a:r>
              <a:rPr lang="en-US" altLang="en-US">
                <a:solidFill>
                  <a:schemeClr val="accent2"/>
                </a:solidFill>
                <a:latin typeface="Arial" panose="020B0604020202020204" pitchFamily="34" charset="0"/>
              </a:rPr>
              <a:t>Purpose: To illustrate a SELECT clause with no aliases.</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22533" name="Rectangle 5">
            <a:extLst>
              <a:ext uri="{FF2B5EF4-FFF2-40B4-BE49-F238E27FC236}">
                <a16:creationId xmlns:a16="http://schemas.microsoft.com/office/drawing/2014/main" id="{6768A62D-9E1A-7522-6521-66E0E5B5C255}"/>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grpSp>
        <p:nvGrpSpPr>
          <p:cNvPr id="22534" name="Group 6">
            <a:extLst>
              <a:ext uri="{FF2B5EF4-FFF2-40B4-BE49-F238E27FC236}">
                <a16:creationId xmlns:a16="http://schemas.microsoft.com/office/drawing/2014/main" id="{7894D77E-558B-8E54-AE83-99422A1117A9}"/>
              </a:ext>
            </a:extLst>
          </p:cNvPr>
          <p:cNvGrpSpPr>
            <a:grpSpLocks/>
          </p:cNvGrpSpPr>
          <p:nvPr/>
        </p:nvGrpSpPr>
        <p:grpSpPr bwMode="auto">
          <a:xfrm>
            <a:off x="231775" y="6273800"/>
            <a:ext cx="280988" cy="295275"/>
            <a:chOff x="145" y="3880"/>
            <a:chExt cx="176" cy="183"/>
          </a:xfrm>
        </p:grpSpPr>
        <p:sp>
          <p:nvSpPr>
            <p:cNvPr id="22535" name="Freeform 7">
              <a:extLst>
                <a:ext uri="{FF2B5EF4-FFF2-40B4-BE49-F238E27FC236}">
                  <a16:creationId xmlns:a16="http://schemas.microsoft.com/office/drawing/2014/main" id="{3F6475D6-BE6E-A58E-6FC7-747D384B611C}"/>
                </a:ext>
              </a:extLst>
            </p:cNvPr>
            <p:cNvSpPr>
              <a:spLocks/>
            </p:cNvSpPr>
            <p:nvPr/>
          </p:nvSpPr>
          <p:spPr bwMode="auto">
            <a:xfrm>
              <a:off x="145" y="3880"/>
              <a:ext cx="176" cy="183"/>
            </a:xfrm>
            <a:custGeom>
              <a:avLst/>
              <a:gdLst>
                <a:gd name="T0" fmla="*/ 175 w 176"/>
                <a:gd name="T1" fmla="*/ 182 h 183"/>
                <a:gd name="T2" fmla="*/ 175 w 176"/>
                <a:gd name="T3" fmla="*/ 0 h 183"/>
                <a:gd name="T4" fmla="*/ 0 w 176"/>
                <a:gd name="T5" fmla="*/ 0 h 183"/>
                <a:gd name="T6" fmla="*/ 0 w 176"/>
                <a:gd name="T7" fmla="*/ 182 h 183"/>
                <a:gd name="T8" fmla="*/ 175 w 176"/>
                <a:gd name="T9" fmla="*/ 182 h 183"/>
                <a:gd name="T10" fmla="*/ 0 60000 65536"/>
                <a:gd name="T11" fmla="*/ 0 60000 65536"/>
                <a:gd name="T12" fmla="*/ 0 60000 65536"/>
                <a:gd name="T13" fmla="*/ 0 60000 65536"/>
                <a:gd name="T14" fmla="*/ 0 60000 65536"/>
                <a:gd name="T15" fmla="*/ 0 w 176"/>
                <a:gd name="T16" fmla="*/ 0 h 183"/>
                <a:gd name="T17" fmla="*/ 176 w 176"/>
                <a:gd name="T18" fmla="*/ 183 h 183"/>
              </a:gdLst>
              <a:ahLst/>
              <a:cxnLst>
                <a:cxn ang="T10">
                  <a:pos x="T0" y="T1"/>
                </a:cxn>
                <a:cxn ang="T11">
                  <a:pos x="T2" y="T3"/>
                </a:cxn>
                <a:cxn ang="T12">
                  <a:pos x="T4" y="T5"/>
                </a:cxn>
                <a:cxn ang="T13">
                  <a:pos x="T6" y="T7"/>
                </a:cxn>
                <a:cxn ang="T14">
                  <a:pos x="T8" y="T9"/>
                </a:cxn>
              </a:cxnLst>
              <a:rect l="T15" t="T16" r="T17" b="T18"/>
              <a:pathLst>
                <a:path w="176" h="183">
                  <a:moveTo>
                    <a:pt x="175" y="182"/>
                  </a:moveTo>
                  <a:lnTo>
                    <a:pt x="175" y="0"/>
                  </a:lnTo>
                  <a:lnTo>
                    <a:pt x="0" y="0"/>
                  </a:lnTo>
                  <a:lnTo>
                    <a:pt x="0" y="182"/>
                  </a:lnTo>
                  <a:lnTo>
                    <a:pt x="175"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2536" name="Freeform 8">
              <a:extLst>
                <a:ext uri="{FF2B5EF4-FFF2-40B4-BE49-F238E27FC236}">
                  <a16:creationId xmlns:a16="http://schemas.microsoft.com/office/drawing/2014/main" id="{2D506A77-40FB-F0EB-4F65-439345F4FDF6}"/>
                </a:ext>
              </a:extLst>
            </p:cNvPr>
            <p:cNvSpPr>
              <a:spLocks/>
            </p:cNvSpPr>
            <p:nvPr/>
          </p:nvSpPr>
          <p:spPr bwMode="auto">
            <a:xfrm>
              <a:off x="154" y="3888"/>
              <a:ext cx="162" cy="163"/>
            </a:xfrm>
            <a:custGeom>
              <a:avLst/>
              <a:gdLst>
                <a:gd name="T0" fmla="*/ 82 w 162"/>
                <a:gd name="T1" fmla="*/ 0 h 163"/>
                <a:gd name="T2" fmla="*/ 0 w 162"/>
                <a:gd name="T3" fmla="*/ 162 h 163"/>
                <a:gd name="T4" fmla="*/ 161 w 162"/>
                <a:gd name="T5" fmla="*/ 162 h 163"/>
                <a:gd name="T6" fmla="*/ 82 w 162"/>
                <a:gd name="T7" fmla="*/ 0 h 163"/>
                <a:gd name="T8" fmla="*/ 0 60000 65536"/>
                <a:gd name="T9" fmla="*/ 0 60000 65536"/>
                <a:gd name="T10" fmla="*/ 0 60000 65536"/>
                <a:gd name="T11" fmla="*/ 0 60000 65536"/>
                <a:gd name="T12" fmla="*/ 0 w 162"/>
                <a:gd name="T13" fmla="*/ 0 h 163"/>
                <a:gd name="T14" fmla="*/ 162 w 162"/>
                <a:gd name="T15" fmla="*/ 163 h 163"/>
              </a:gdLst>
              <a:ahLst/>
              <a:cxnLst>
                <a:cxn ang="T8">
                  <a:pos x="T0" y="T1"/>
                </a:cxn>
                <a:cxn ang="T9">
                  <a:pos x="T2" y="T3"/>
                </a:cxn>
                <a:cxn ang="T10">
                  <a:pos x="T4" y="T5"/>
                </a:cxn>
                <a:cxn ang="T11">
                  <a:pos x="T6" y="T7"/>
                </a:cxn>
              </a:cxnLst>
              <a:rect l="T12" t="T13" r="T14" b="T15"/>
              <a:pathLst>
                <a:path w="162" h="163">
                  <a:moveTo>
                    <a:pt x="82" y="0"/>
                  </a:moveTo>
                  <a:lnTo>
                    <a:pt x="0" y="162"/>
                  </a:lnTo>
                  <a:lnTo>
                    <a:pt x="161" y="162"/>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2537" name="Freeform 9">
              <a:extLst>
                <a:ext uri="{FF2B5EF4-FFF2-40B4-BE49-F238E27FC236}">
                  <a16:creationId xmlns:a16="http://schemas.microsoft.com/office/drawing/2014/main" id="{6B3FF9B4-69DE-22D9-E62B-7F134D6293AC}"/>
                </a:ext>
              </a:extLst>
            </p:cNvPr>
            <p:cNvSpPr>
              <a:spLocks/>
            </p:cNvSpPr>
            <p:nvPr/>
          </p:nvSpPr>
          <p:spPr bwMode="auto">
            <a:xfrm>
              <a:off x="171" y="390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2538" name="Freeform 10">
              <a:extLst>
                <a:ext uri="{FF2B5EF4-FFF2-40B4-BE49-F238E27FC236}">
                  <a16:creationId xmlns:a16="http://schemas.microsoft.com/office/drawing/2014/main" id="{ADAFA310-18D4-7A44-AAD1-FDE921B41FA7}"/>
                </a:ext>
              </a:extLst>
            </p:cNvPr>
            <p:cNvSpPr>
              <a:spLocks/>
            </p:cNvSpPr>
            <p:nvPr/>
          </p:nvSpPr>
          <p:spPr bwMode="auto">
            <a:xfrm>
              <a:off x="228" y="401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2539" name="Freeform 11">
              <a:extLst>
                <a:ext uri="{FF2B5EF4-FFF2-40B4-BE49-F238E27FC236}">
                  <a16:creationId xmlns:a16="http://schemas.microsoft.com/office/drawing/2014/main" id="{995C35CD-2A06-5F80-089C-7E2EEF2E95B8}"/>
                </a:ext>
              </a:extLst>
            </p:cNvPr>
            <p:cNvSpPr>
              <a:spLocks/>
            </p:cNvSpPr>
            <p:nvPr/>
          </p:nvSpPr>
          <p:spPr bwMode="auto">
            <a:xfrm>
              <a:off x="228" y="393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B4AF2B0-B925-2225-4967-4F28083EEA6F}"/>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solidFill>
                <a:srgbClr val="000000"/>
              </a:solidFill>
            </a:endParaRPr>
          </a:p>
        </p:txBody>
      </p:sp>
      <p:sp>
        <p:nvSpPr>
          <p:cNvPr id="24579" name="Rectangle 3">
            <a:extLst>
              <a:ext uri="{FF2B5EF4-FFF2-40B4-BE49-F238E27FC236}">
                <a16:creationId xmlns:a16="http://schemas.microsoft.com/office/drawing/2014/main" id="{593E80C7-F83C-97A2-921B-07FE04555681}"/>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solidFill>
                <a:srgbClr val="000000"/>
              </a:solidFill>
            </a:endParaRPr>
          </a:p>
        </p:txBody>
      </p:sp>
      <p:sp>
        <p:nvSpPr>
          <p:cNvPr id="24580" name="Rectangle 4">
            <a:extLst>
              <a:ext uri="{FF2B5EF4-FFF2-40B4-BE49-F238E27FC236}">
                <a16:creationId xmlns:a16="http://schemas.microsoft.com/office/drawing/2014/main" id="{B5A0BEDB-7D49-4BE1-D53D-6E2FD12EEEA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Qualifying Ambiguous Column Names</a:t>
            </a:r>
            <a:endParaRPr lang="en-US" altLang="en-US">
              <a:latin typeface="Times" panose="02020603050405020304" pitchFamily="18" charset="0"/>
            </a:endParaRPr>
          </a:p>
          <a:p>
            <a:pPr marL="114300" lvl="1" defTabSz="384175"/>
            <a:r>
              <a:rPr lang="en-US" altLang="en-US">
                <a:latin typeface="Arial" panose="020B0604020202020204" pitchFamily="34" charset="0"/>
              </a:rPr>
              <a:t>You need to qualify the names of the columns in the WHERE clause with the table name to avoid ambiguity. Without the table prefixes, the DEPTNO column could be from either the DEPT table or the EMP table. It is necessary to add the table prefix to execute your query.</a:t>
            </a:r>
          </a:p>
          <a:p>
            <a:pPr marL="114300" lvl="1" defTabSz="384175"/>
            <a:r>
              <a:rPr lang="en-US" altLang="en-US">
                <a:latin typeface="Arial" panose="020B0604020202020204" pitchFamily="34" charset="0"/>
              </a:rPr>
              <a:t>If there are no common column names between the two tables, there is no need to qualify the columns. However, you will gain improved performance by using the table prefix because you tell the Oracle Server exactly where to go to find columns.</a:t>
            </a:r>
          </a:p>
          <a:p>
            <a:pPr marL="114300" lvl="1" defTabSz="384175"/>
            <a:r>
              <a:rPr lang="en-US" altLang="en-US">
                <a:latin typeface="Arial" panose="020B0604020202020204" pitchFamily="34" charset="0"/>
              </a:rPr>
              <a:t>The requirement to qualify ambiguous column names is also applicable to columns that may be ambiguous in other clauses, such as the SELECT clause or the ORDER BY clause.</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l4loc.sql</a:t>
            </a:r>
          </a:p>
          <a:p>
            <a:pPr marL="114300" lvl="1" defTabSz="384175"/>
            <a:r>
              <a:rPr lang="en-US" altLang="en-US">
                <a:solidFill>
                  <a:schemeClr val="accent2"/>
                </a:solidFill>
                <a:latin typeface="Arial" panose="020B0604020202020204" pitchFamily="34" charset="0"/>
              </a:rPr>
              <a:t>Purpose: To illustrate a SELECT clause with no aliases.</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24581" name="Rectangle 5">
            <a:extLst>
              <a:ext uri="{FF2B5EF4-FFF2-40B4-BE49-F238E27FC236}">
                <a16:creationId xmlns:a16="http://schemas.microsoft.com/office/drawing/2014/main" id="{4A5D13E8-8DAE-3453-CF1C-070471E0421B}"/>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24582" name="Group 6">
            <a:extLst>
              <a:ext uri="{FF2B5EF4-FFF2-40B4-BE49-F238E27FC236}">
                <a16:creationId xmlns:a16="http://schemas.microsoft.com/office/drawing/2014/main" id="{7A6AC003-6DDC-244A-D6D9-CA02E4A7577B}"/>
              </a:ext>
            </a:extLst>
          </p:cNvPr>
          <p:cNvGrpSpPr>
            <a:grpSpLocks/>
          </p:cNvGrpSpPr>
          <p:nvPr/>
        </p:nvGrpSpPr>
        <p:grpSpPr bwMode="auto">
          <a:xfrm>
            <a:off x="231775" y="6273800"/>
            <a:ext cx="280988" cy="295275"/>
            <a:chOff x="145" y="3880"/>
            <a:chExt cx="176" cy="183"/>
          </a:xfrm>
        </p:grpSpPr>
        <p:sp>
          <p:nvSpPr>
            <p:cNvPr id="24583" name="Freeform 7">
              <a:extLst>
                <a:ext uri="{FF2B5EF4-FFF2-40B4-BE49-F238E27FC236}">
                  <a16:creationId xmlns:a16="http://schemas.microsoft.com/office/drawing/2014/main" id="{7069E248-B0A9-726C-85AD-622DBC3F1E11}"/>
                </a:ext>
              </a:extLst>
            </p:cNvPr>
            <p:cNvSpPr>
              <a:spLocks/>
            </p:cNvSpPr>
            <p:nvPr/>
          </p:nvSpPr>
          <p:spPr bwMode="auto">
            <a:xfrm>
              <a:off x="145" y="3880"/>
              <a:ext cx="176" cy="183"/>
            </a:xfrm>
            <a:custGeom>
              <a:avLst/>
              <a:gdLst>
                <a:gd name="T0" fmla="*/ 175 w 176"/>
                <a:gd name="T1" fmla="*/ 182 h 183"/>
                <a:gd name="T2" fmla="*/ 175 w 176"/>
                <a:gd name="T3" fmla="*/ 0 h 183"/>
                <a:gd name="T4" fmla="*/ 0 w 176"/>
                <a:gd name="T5" fmla="*/ 0 h 183"/>
                <a:gd name="T6" fmla="*/ 0 w 176"/>
                <a:gd name="T7" fmla="*/ 182 h 183"/>
                <a:gd name="T8" fmla="*/ 175 w 176"/>
                <a:gd name="T9" fmla="*/ 182 h 183"/>
                <a:gd name="T10" fmla="*/ 0 60000 65536"/>
                <a:gd name="T11" fmla="*/ 0 60000 65536"/>
                <a:gd name="T12" fmla="*/ 0 60000 65536"/>
                <a:gd name="T13" fmla="*/ 0 60000 65536"/>
                <a:gd name="T14" fmla="*/ 0 60000 65536"/>
                <a:gd name="T15" fmla="*/ 0 w 176"/>
                <a:gd name="T16" fmla="*/ 0 h 183"/>
                <a:gd name="T17" fmla="*/ 176 w 176"/>
                <a:gd name="T18" fmla="*/ 183 h 183"/>
              </a:gdLst>
              <a:ahLst/>
              <a:cxnLst>
                <a:cxn ang="T10">
                  <a:pos x="T0" y="T1"/>
                </a:cxn>
                <a:cxn ang="T11">
                  <a:pos x="T2" y="T3"/>
                </a:cxn>
                <a:cxn ang="T12">
                  <a:pos x="T4" y="T5"/>
                </a:cxn>
                <a:cxn ang="T13">
                  <a:pos x="T6" y="T7"/>
                </a:cxn>
                <a:cxn ang="T14">
                  <a:pos x="T8" y="T9"/>
                </a:cxn>
              </a:cxnLst>
              <a:rect l="T15" t="T16" r="T17" b="T18"/>
              <a:pathLst>
                <a:path w="176" h="183">
                  <a:moveTo>
                    <a:pt x="175" y="182"/>
                  </a:moveTo>
                  <a:lnTo>
                    <a:pt x="175" y="0"/>
                  </a:lnTo>
                  <a:lnTo>
                    <a:pt x="0" y="0"/>
                  </a:lnTo>
                  <a:lnTo>
                    <a:pt x="0" y="182"/>
                  </a:lnTo>
                  <a:lnTo>
                    <a:pt x="175"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4584" name="Freeform 8">
              <a:extLst>
                <a:ext uri="{FF2B5EF4-FFF2-40B4-BE49-F238E27FC236}">
                  <a16:creationId xmlns:a16="http://schemas.microsoft.com/office/drawing/2014/main" id="{74FE22AC-F838-AA83-D234-767D05EA0754}"/>
                </a:ext>
              </a:extLst>
            </p:cNvPr>
            <p:cNvSpPr>
              <a:spLocks/>
            </p:cNvSpPr>
            <p:nvPr/>
          </p:nvSpPr>
          <p:spPr bwMode="auto">
            <a:xfrm>
              <a:off x="154" y="3888"/>
              <a:ext cx="162" cy="163"/>
            </a:xfrm>
            <a:custGeom>
              <a:avLst/>
              <a:gdLst>
                <a:gd name="T0" fmla="*/ 82 w 162"/>
                <a:gd name="T1" fmla="*/ 0 h 163"/>
                <a:gd name="T2" fmla="*/ 0 w 162"/>
                <a:gd name="T3" fmla="*/ 162 h 163"/>
                <a:gd name="T4" fmla="*/ 161 w 162"/>
                <a:gd name="T5" fmla="*/ 162 h 163"/>
                <a:gd name="T6" fmla="*/ 82 w 162"/>
                <a:gd name="T7" fmla="*/ 0 h 163"/>
                <a:gd name="T8" fmla="*/ 0 60000 65536"/>
                <a:gd name="T9" fmla="*/ 0 60000 65536"/>
                <a:gd name="T10" fmla="*/ 0 60000 65536"/>
                <a:gd name="T11" fmla="*/ 0 60000 65536"/>
                <a:gd name="T12" fmla="*/ 0 w 162"/>
                <a:gd name="T13" fmla="*/ 0 h 163"/>
                <a:gd name="T14" fmla="*/ 162 w 162"/>
                <a:gd name="T15" fmla="*/ 163 h 163"/>
              </a:gdLst>
              <a:ahLst/>
              <a:cxnLst>
                <a:cxn ang="T8">
                  <a:pos x="T0" y="T1"/>
                </a:cxn>
                <a:cxn ang="T9">
                  <a:pos x="T2" y="T3"/>
                </a:cxn>
                <a:cxn ang="T10">
                  <a:pos x="T4" y="T5"/>
                </a:cxn>
                <a:cxn ang="T11">
                  <a:pos x="T6" y="T7"/>
                </a:cxn>
              </a:cxnLst>
              <a:rect l="T12" t="T13" r="T14" b="T15"/>
              <a:pathLst>
                <a:path w="162" h="163">
                  <a:moveTo>
                    <a:pt x="82" y="0"/>
                  </a:moveTo>
                  <a:lnTo>
                    <a:pt x="0" y="162"/>
                  </a:lnTo>
                  <a:lnTo>
                    <a:pt x="161" y="162"/>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4585" name="Freeform 9">
              <a:extLst>
                <a:ext uri="{FF2B5EF4-FFF2-40B4-BE49-F238E27FC236}">
                  <a16:creationId xmlns:a16="http://schemas.microsoft.com/office/drawing/2014/main" id="{A0FB1323-0B7E-B425-32F8-538AD2FFBDC2}"/>
                </a:ext>
              </a:extLst>
            </p:cNvPr>
            <p:cNvSpPr>
              <a:spLocks/>
            </p:cNvSpPr>
            <p:nvPr/>
          </p:nvSpPr>
          <p:spPr bwMode="auto">
            <a:xfrm>
              <a:off x="171" y="390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4586" name="Freeform 10">
              <a:extLst>
                <a:ext uri="{FF2B5EF4-FFF2-40B4-BE49-F238E27FC236}">
                  <a16:creationId xmlns:a16="http://schemas.microsoft.com/office/drawing/2014/main" id="{74D1D0FC-41EC-8D9D-D26E-A5A87BDFA702}"/>
                </a:ext>
              </a:extLst>
            </p:cNvPr>
            <p:cNvSpPr>
              <a:spLocks/>
            </p:cNvSpPr>
            <p:nvPr/>
          </p:nvSpPr>
          <p:spPr bwMode="auto">
            <a:xfrm>
              <a:off x="228" y="401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4587" name="Freeform 11">
              <a:extLst>
                <a:ext uri="{FF2B5EF4-FFF2-40B4-BE49-F238E27FC236}">
                  <a16:creationId xmlns:a16="http://schemas.microsoft.com/office/drawing/2014/main" id="{24FA8A5F-F19B-DDA5-BB69-A82659666608}"/>
                </a:ext>
              </a:extLst>
            </p:cNvPr>
            <p:cNvSpPr>
              <a:spLocks/>
            </p:cNvSpPr>
            <p:nvPr/>
          </p:nvSpPr>
          <p:spPr bwMode="auto">
            <a:xfrm>
              <a:off x="228" y="393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BBCED06-AE67-5E01-316C-A79CE6BC1533}"/>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6627" name="Rectangle 3">
            <a:extLst>
              <a:ext uri="{FF2B5EF4-FFF2-40B4-BE49-F238E27FC236}">
                <a16:creationId xmlns:a16="http://schemas.microsoft.com/office/drawing/2014/main" id="{553656DD-ED9A-51F8-9674-4474406F5F07}"/>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6628" name="Rectangle 4">
            <a:extLst>
              <a:ext uri="{FF2B5EF4-FFF2-40B4-BE49-F238E27FC236}">
                <a16:creationId xmlns:a16="http://schemas.microsoft.com/office/drawing/2014/main" id="{BC976900-6C91-5BB8-870F-7E8590011CC8}"/>
              </a:ext>
            </a:extLst>
          </p:cNvPr>
          <p:cNvSpPr>
            <a:spLocks noGrp="1" noChangeArrowheads="1"/>
          </p:cNvSpPr>
          <p:nvPr>
            <p:ph type="body" idx="1"/>
          </p:nvPr>
        </p:nvSpPr>
        <p:spPr>
          <a:xfrm>
            <a:off x="455613" y="4849813"/>
            <a:ext cx="53419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Retrieving Records with Equijoins</a:t>
            </a:r>
          </a:p>
          <a:p>
            <a:pPr marL="114300" lvl="1" defTabSz="377825">
              <a:tabLst>
                <a:tab pos="441325" algn="l"/>
              </a:tabLst>
            </a:pPr>
            <a:r>
              <a:rPr lang="en-US" altLang="en-US">
                <a:latin typeface="Arial" panose="020B0604020202020204" pitchFamily="34" charset="0"/>
              </a:rPr>
              <a:t>In the slide example:</a:t>
            </a:r>
          </a:p>
          <a:p>
            <a:pPr marL="434975" lvl="2" indent="-206375" defTabSz="377825">
              <a:tabLst>
                <a:tab pos="441325" algn="l"/>
              </a:tabLst>
            </a:pPr>
            <a:r>
              <a:rPr lang="en-US" altLang="en-US">
                <a:latin typeface="Arial" panose="020B0604020202020204" pitchFamily="34" charset="0"/>
              </a:rPr>
              <a:t>The SELECT clause specifies the column names to retrieve:</a:t>
            </a:r>
          </a:p>
          <a:p>
            <a:pPr marL="822325" lvl="3" indent="-206375" defTabSz="377825">
              <a:tabLst>
                <a:tab pos="441325" algn="l"/>
              </a:tabLst>
            </a:pPr>
            <a:r>
              <a:rPr lang="en-US" altLang="en-US">
                <a:latin typeface="Arial" panose="020B0604020202020204" pitchFamily="34" charset="0"/>
              </a:rPr>
              <a:t>employee name, employee number, and department number, which are columns in the EMP table</a:t>
            </a:r>
          </a:p>
          <a:p>
            <a:pPr marL="822325" lvl="3" indent="-206375" defTabSz="377825">
              <a:tabLst>
                <a:tab pos="441325" algn="l"/>
              </a:tabLst>
            </a:pPr>
            <a:r>
              <a:rPr lang="en-US" altLang="en-US">
                <a:latin typeface="Arial" panose="020B0604020202020204" pitchFamily="34" charset="0"/>
              </a:rPr>
              <a:t>department number, department name, and location, which are columns in the DEPT table</a:t>
            </a:r>
          </a:p>
          <a:p>
            <a:pPr marL="434975" lvl="2" indent="-206375" defTabSz="377825">
              <a:tabLst>
                <a:tab pos="441325" algn="l"/>
              </a:tabLst>
            </a:pPr>
            <a:r>
              <a:rPr lang="en-US" altLang="en-US">
                <a:latin typeface="Arial" panose="020B0604020202020204" pitchFamily="34" charset="0"/>
              </a:rPr>
              <a:t>The FROM clause specifies the two tables that the database must access:</a:t>
            </a:r>
          </a:p>
          <a:p>
            <a:pPr marL="822325" lvl="3" indent="-206375" defTabSz="377825">
              <a:tabLst>
                <a:tab pos="441325" algn="l"/>
              </a:tabLst>
            </a:pPr>
            <a:r>
              <a:rPr lang="en-US" altLang="en-US">
                <a:latin typeface="Arial" panose="020B0604020202020204" pitchFamily="34" charset="0"/>
              </a:rPr>
              <a:t>EMP table</a:t>
            </a:r>
          </a:p>
          <a:p>
            <a:pPr marL="822325" lvl="3" indent="-206375" defTabSz="377825">
              <a:tabLst>
                <a:tab pos="441325" algn="l"/>
              </a:tabLst>
            </a:pPr>
            <a:r>
              <a:rPr lang="en-US" altLang="en-US">
                <a:latin typeface="Arial" panose="020B0604020202020204" pitchFamily="34" charset="0"/>
              </a:rPr>
              <a:t>DEPT table</a:t>
            </a:r>
          </a:p>
          <a:p>
            <a:pPr marL="434975" lvl="2" indent="-206375" defTabSz="377825">
              <a:tabLst>
                <a:tab pos="441325" algn="l"/>
              </a:tabLst>
            </a:pPr>
            <a:r>
              <a:rPr lang="en-US" altLang="en-US">
                <a:latin typeface="Arial" panose="020B0604020202020204" pitchFamily="34" charset="0"/>
              </a:rPr>
              <a:t>The WHERE clause specifies how the tables are to be joined:</a:t>
            </a:r>
          </a:p>
          <a:p>
            <a:pPr marL="822325" lvl="3" indent="-206375" defTabSz="377825">
              <a:tabLst>
                <a:tab pos="441325" algn="l"/>
              </a:tabLst>
            </a:pPr>
            <a:r>
              <a:rPr lang="en-US" altLang="en-US">
                <a:latin typeface="Arial" panose="020B0604020202020204" pitchFamily="34" charset="0"/>
              </a:rPr>
              <a:t>EMP.DEPTNO=DEPT.DEPTNO </a:t>
            </a:r>
          </a:p>
          <a:p>
            <a:pPr marL="114300" lvl="1" defTabSz="377825">
              <a:tabLst>
                <a:tab pos="441325" algn="l"/>
              </a:tabLst>
            </a:pPr>
            <a:r>
              <a:rPr lang="en-US" altLang="en-US">
                <a:latin typeface="Arial" panose="020B0604020202020204" pitchFamily="34" charset="0"/>
              </a:rPr>
              <a:t>Because the DEPTNO column is common to both tables, it must be prefixed by the table name to avoid ambiguity. </a:t>
            </a:r>
          </a:p>
        </p:txBody>
      </p:sp>
      <p:sp>
        <p:nvSpPr>
          <p:cNvPr id="26629" name="Rectangle 5">
            <a:extLst>
              <a:ext uri="{FF2B5EF4-FFF2-40B4-BE49-F238E27FC236}">
                <a16:creationId xmlns:a16="http://schemas.microsoft.com/office/drawing/2014/main" id="{06B9CC79-3A2E-B8EE-4F20-253D200ED64B}"/>
              </a:ext>
            </a:extLst>
          </p:cNvPr>
          <p:cNvSpPr>
            <a:spLocks noGrp="1" noRot="1" noChangeArrowheads="1" noTextEdit="1"/>
          </p:cNvSpPr>
          <p:nvPr>
            <p:ph type="sldImg"/>
          </p:nvPr>
        </p:nvSpPr>
        <p:spPr>
          <a:xfrm>
            <a:off x="411163" y="176213"/>
            <a:ext cx="6030912" cy="4522787"/>
          </a:xfrm>
          <a:ln w="12700" cap="flat">
            <a:solidFill>
              <a:schemeClr val="tx1"/>
            </a:solid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0ED3A08-A6FE-F9D7-9599-9054D38B7636}"/>
              </a:ext>
            </a:extLst>
          </p:cNvPr>
          <p:cNvSpPr>
            <a:spLocks noGrp="1" noRot="1" noChangeArrowheads="1" noTextEdit="1"/>
          </p:cNvSpPr>
          <p:nvPr>
            <p:ph type="sldImg"/>
          </p:nvPr>
        </p:nvSpPr>
        <p:spPr>
          <a:xfrm>
            <a:off x="411163" y="176213"/>
            <a:ext cx="6030912" cy="4522787"/>
          </a:xfrm>
          <a:ln w="12700" cap="flat">
            <a:solidFill>
              <a:schemeClr val="tx1"/>
            </a:solidFill>
          </a:ln>
        </p:spPr>
      </p:sp>
      <p:sp>
        <p:nvSpPr>
          <p:cNvPr id="34819" name="Rectangle 3">
            <a:extLst>
              <a:ext uri="{FF2B5EF4-FFF2-40B4-BE49-F238E27FC236}">
                <a16:creationId xmlns:a16="http://schemas.microsoft.com/office/drawing/2014/main" id="{58B2DBF5-52B4-1190-5815-8E103632E038}"/>
              </a:ext>
            </a:extLst>
          </p:cNvPr>
          <p:cNvSpPr>
            <a:spLocks noGrp="1" noChangeArrowheads="1"/>
          </p:cNvSpPr>
          <p:nvPr>
            <p:ph type="body" idx="1"/>
          </p:nvPr>
        </p:nvSpPr>
        <p:spPr>
          <a:xfrm>
            <a:off x="455613" y="4849813"/>
            <a:ext cx="5961062"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Table Aliases</a:t>
            </a:r>
          </a:p>
          <a:p>
            <a:pPr marL="114300" lvl="1" defTabSz="377825">
              <a:tabLst>
                <a:tab pos="441325" algn="l"/>
              </a:tabLst>
            </a:pPr>
            <a:r>
              <a:rPr lang="en-US" altLang="en-US">
                <a:latin typeface="Arial" panose="020B0604020202020204" pitchFamily="34" charset="0"/>
              </a:rPr>
              <a:t>Qualifying column names with table names can be very time consuming, particularly if table names are lengthy. You can use table </a:t>
            </a:r>
            <a:r>
              <a:rPr lang="en-US" altLang="en-US" i="1">
                <a:latin typeface="Arial" panose="020B0604020202020204" pitchFamily="34" charset="0"/>
              </a:rPr>
              <a:t>aliases</a:t>
            </a:r>
            <a:r>
              <a:rPr lang="en-US" altLang="en-US">
                <a:latin typeface="Arial" panose="020B0604020202020204" pitchFamily="34" charset="0"/>
              </a:rPr>
              <a:t> instead of table names. Just as a column alias gives a column another name, a </a:t>
            </a:r>
            <a:r>
              <a:rPr lang="en-US" altLang="en-US">
                <a:solidFill>
                  <a:srgbClr val="FC0128"/>
                </a:solidFill>
                <a:latin typeface="Arial" panose="020B0604020202020204" pitchFamily="34" charset="0"/>
              </a:rPr>
              <a:t>table alias </a:t>
            </a:r>
            <a:r>
              <a:rPr lang="en-US" altLang="en-US">
                <a:latin typeface="Arial" panose="020B0604020202020204" pitchFamily="34" charset="0"/>
              </a:rPr>
              <a:t>gives a table another name. Table aliases help to keep SQL code smaller, therefore using less memory.</a:t>
            </a:r>
          </a:p>
          <a:p>
            <a:pPr marL="114300" lvl="1" defTabSz="377825">
              <a:tabLst>
                <a:tab pos="441325" algn="l"/>
              </a:tabLst>
            </a:pPr>
            <a:r>
              <a:rPr lang="en-US" altLang="en-US">
                <a:latin typeface="Arial" panose="020B0604020202020204" pitchFamily="34" charset="0"/>
              </a:rPr>
              <a:t>Notice how table aliases are identified in the FROM clause in the example. The table name is specified in full, followed by a space and then the table alias. The EMP table has been given an alias of E, whereas the DEPT table has an alias of D.</a:t>
            </a:r>
          </a:p>
          <a:p>
            <a:pPr defTabSz="377825">
              <a:tabLst>
                <a:tab pos="441325" algn="l"/>
              </a:tabLst>
            </a:pPr>
            <a:r>
              <a:rPr lang="en-US" altLang="en-US">
                <a:latin typeface="Arial" panose="020B0604020202020204" pitchFamily="34" charset="0"/>
              </a:rPr>
              <a:t>Guidelines</a:t>
            </a:r>
          </a:p>
          <a:p>
            <a:pPr marL="434975" lvl="2" indent="-206375" defTabSz="377825">
              <a:tabLst>
                <a:tab pos="441325" algn="l"/>
              </a:tabLst>
            </a:pPr>
            <a:r>
              <a:rPr lang="en-US" altLang="en-US">
                <a:latin typeface="Arial" panose="020B0604020202020204" pitchFamily="34" charset="0"/>
              </a:rPr>
              <a:t>	Table aliases can be up to 30 characters in length, but the shorter they are the better. </a:t>
            </a:r>
          </a:p>
          <a:p>
            <a:pPr marL="434975" lvl="2" indent="-206375" defTabSz="377825">
              <a:tabLst>
                <a:tab pos="441325" algn="l"/>
              </a:tabLst>
            </a:pPr>
            <a:r>
              <a:rPr lang="en-US" altLang="en-US">
                <a:latin typeface="Arial" panose="020B0604020202020204" pitchFamily="34" charset="0"/>
              </a:rPr>
              <a:t>	If a table alias is used for a particular table name in the FROM clause, then that table alias must be substituted for the table name throughout the SELECT statement.</a:t>
            </a:r>
          </a:p>
          <a:p>
            <a:pPr marL="434975" lvl="2" indent="-206375" defTabSz="377825">
              <a:tabLst>
                <a:tab pos="441325" algn="l"/>
              </a:tabLst>
            </a:pPr>
            <a:r>
              <a:rPr lang="en-US" altLang="en-US">
                <a:latin typeface="Arial" panose="020B0604020202020204" pitchFamily="34" charset="0"/>
              </a:rPr>
              <a:t>	Table aliases should be meaningful.</a:t>
            </a:r>
          </a:p>
          <a:p>
            <a:pPr marL="434975" lvl="2" indent="-206375" defTabSz="377825">
              <a:tabLst>
                <a:tab pos="441325" algn="l"/>
              </a:tabLst>
            </a:pPr>
            <a:r>
              <a:rPr lang="en-US" altLang="en-US">
                <a:latin typeface="Arial" panose="020B0604020202020204" pitchFamily="34" charset="0"/>
              </a:rPr>
              <a:t>	The table alias is valid only for the current SELECT statement.</a:t>
            </a:r>
          </a:p>
          <a:p>
            <a:pPr defTabSz="377825">
              <a:tabLst>
                <a:tab pos="441325" algn="l"/>
              </a:tabLst>
            </a:pPr>
            <a:endParaRPr lang="en-US" altLang="en-US" b="1">
              <a:latin typeface="Times New Roman" panose="02020603050405020304" pitchFamily="18" charset="0"/>
            </a:endParaRPr>
          </a:p>
        </p:txBody>
      </p:sp>
    </p:spTree>
    <p:extLst>
      <p:ext uri="{BB962C8B-B14F-4D97-AF65-F5344CB8AC3E}">
        <p14:creationId xmlns:p14="http://schemas.microsoft.com/office/powerpoint/2010/main" val="871851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FC8D0EA-9A7C-AF39-D3E4-33B535A80DE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3225"/>
            <a:r>
              <a:rPr lang="en-US" altLang="en-US">
                <a:latin typeface="Arial" panose="020B0604020202020204" pitchFamily="34" charset="0"/>
              </a:rPr>
              <a:t>Illegal Queries Using Group Functions</a:t>
            </a:r>
          </a:p>
          <a:p>
            <a:pPr marL="114300" lvl="1" defTabSz="403225"/>
            <a:r>
              <a:rPr lang="en-US" altLang="en-US">
                <a:latin typeface="Arial" panose="020B0604020202020204" pitchFamily="34" charset="0"/>
              </a:rPr>
              <a:t>Whenever you use a mixture of individual items (DEPTNO) and group functions (COUNT) in the same SELECT statement, you must include a GROUP BY clause that specifies the individual items (in this case, DEPTNO). If the GROUP BY clause is missing, then the error message “not a single-group group function” appears and an asterisk (*) points to the offending column. You can correct the error on the slide by adding the GROUP BY clause. </a:t>
            </a: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marL="114300" lvl="1" defTabSz="403225">
              <a:spcBef>
                <a:spcPct val="55000"/>
              </a:spcBef>
            </a:pPr>
            <a:r>
              <a:rPr lang="en-US" altLang="en-US">
                <a:latin typeface="Arial" panose="020B0604020202020204" pitchFamily="34" charset="0"/>
              </a:rPr>
              <a:t>Any column or expression in the SELECT list that is not an aggregate function must be in the GROUP BY clause.</a:t>
            </a:r>
          </a:p>
          <a:p>
            <a:pPr defTabSz="403225">
              <a:lnSpc>
                <a:spcPct val="90000"/>
              </a:lnSpc>
              <a:spcBef>
                <a:spcPct val="0"/>
              </a:spcBef>
            </a:pPr>
            <a:r>
              <a:rPr lang="en-US" altLang="en-US">
                <a:solidFill>
                  <a:schemeClr val="accent2"/>
                </a:solidFill>
                <a:latin typeface="Arial" panose="020B0604020202020204" pitchFamily="34" charset="0"/>
              </a:rPr>
              <a:t>Class Management Note</a:t>
            </a:r>
          </a:p>
          <a:p>
            <a:pPr marL="114300" lvl="1" defTabSz="403225">
              <a:lnSpc>
                <a:spcPct val="90000"/>
              </a:lnSpc>
              <a:spcBef>
                <a:spcPct val="0"/>
              </a:spcBef>
            </a:pPr>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l5error.sql</a:t>
            </a:r>
          </a:p>
          <a:p>
            <a:pPr marL="114300" lvl="1" defTabSz="403225">
              <a:lnSpc>
                <a:spcPct val="90000"/>
              </a:lnSpc>
              <a:spcBef>
                <a:spcPct val="0"/>
              </a:spcBef>
            </a:pPr>
            <a:r>
              <a:rPr lang="en-US" altLang="en-US">
                <a:solidFill>
                  <a:schemeClr val="accent2"/>
                </a:solidFill>
                <a:latin typeface="Arial" panose="020B0604020202020204" pitchFamily="34" charset="0"/>
              </a:rPr>
              <a:t>Purpose: To illustrate executing a SELECT statement with no GROUP BY clause. </a:t>
            </a:r>
          </a:p>
        </p:txBody>
      </p:sp>
      <p:sp>
        <p:nvSpPr>
          <p:cNvPr id="28675" name="Rectangle 3">
            <a:extLst>
              <a:ext uri="{FF2B5EF4-FFF2-40B4-BE49-F238E27FC236}">
                <a16:creationId xmlns:a16="http://schemas.microsoft.com/office/drawing/2014/main" id="{C0702E9C-A78C-6A3C-A63E-745DCDC0E2E6}"/>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28676" name="Rectangle 4">
            <a:extLst>
              <a:ext uri="{FF2B5EF4-FFF2-40B4-BE49-F238E27FC236}">
                <a16:creationId xmlns:a16="http://schemas.microsoft.com/office/drawing/2014/main" id="{D7B60B70-8B0D-4A52-47A5-2A21D7DB9127}"/>
              </a:ext>
            </a:extLst>
          </p:cNvPr>
          <p:cNvSpPr>
            <a:spLocks noChangeArrowheads="1"/>
          </p:cNvSpPr>
          <p:nvPr/>
        </p:nvSpPr>
        <p:spPr bwMode="auto">
          <a:xfrm>
            <a:off x="649288" y="5997575"/>
            <a:ext cx="5594350" cy="6413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8677" name="Rectangle 5">
            <a:extLst>
              <a:ext uri="{FF2B5EF4-FFF2-40B4-BE49-F238E27FC236}">
                <a16:creationId xmlns:a16="http://schemas.microsoft.com/office/drawing/2014/main" id="{2F315840-4F0B-37E8-FAF3-778E9F3C00C0}"/>
              </a:ext>
            </a:extLst>
          </p:cNvPr>
          <p:cNvSpPr>
            <a:spLocks noChangeArrowheads="1"/>
          </p:cNvSpPr>
          <p:nvPr/>
        </p:nvSpPr>
        <p:spPr bwMode="auto">
          <a:xfrm>
            <a:off x="192088" y="6013450"/>
            <a:ext cx="3659187"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b="1">
                <a:latin typeface="Courier New" panose="02070309020205020404" pitchFamily="49" charset="0"/>
              </a:rPr>
              <a:t>SQL&gt; SELECT	deptno, COUNT(ename)</a:t>
            </a:r>
          </a:p>
          <a:p>
            <a:pPr lvl="1">
              <a:spcBef>
                <a:spcPct val="0"/>
              </a:spcBef>
            </a:pPr>
            <a:r>
              <a:rPr lang="en-US" altLang="en-US" sz="1100" b="1">
                <a:latin typeface="Courier New" panose="02070309020205020404" pitchFamily="49" charset="0"/>
              </a:rPr>
              <a:t>  2  FROM	emp</a:t>
            </a:r>
          </a:p>
          <a:p>
            <a:pPr lvl="1">
              <a:spcBef>
                <a:spcPct val="0"/>
              </a:spcBef>
            </a:pPr>
            <a:r>
              <a:rPr lang="en-US" altLang="en-US" sz="1100" b="1">
                <a:latin typeface="Courier New" panose="02070309020205020404" pitchFamily="49" charset="0"/>
              </a:rPr>
              <a:t>  3  GROUP BY	deptno;</a:t>
            </a:r>
          </a:p>
        </p:txBody>
      </p:sp>
      <p:grpSp>
        <p:nvGrpSpPr>
          <p:cNvPr id="28678" name="Group 6">
            <a:extLst>
              <a:ext uri="{FF2B5EF4-FFF2-40B4-BE49-F238E27FC236}">
                <a16:creationId xmlns:a16="http://schemas.microsoft.com/office/drawing/2014/main" id="{7F841526-D08C-F207-8934-4E1BAE5DDE02}"/>
              </a:ext>
            </a:extLst>
          </p:cNvPr>
          <p:cNvGrpSpPr>
            <a:grpSpLocks/>
          </p:cNvGrpSpPr>
          <p:nvPr/>
        </p:nvGrpSpPr>
        <p:grpSpPr bwMode="auto">
          <a:xfrm>
            <a:off x="228600" y="7826375"/>
            <a:ext cx="284163" cy="296863"/>
            <a:chOff x="143" y="4841"/>
            <a:chExt cx="178" cy="183"/>
          </a:xfrm>
        </p:grpSpPr>
        <p:sp>
          <p:nvSpPr>
            <p:cNvPr id="28681" name="Freeform 7">
              <a:extLst>
                <a:ext uri="{FF2B5EF4-FFF2-40B4-BE49-F238E27FC236}">
                  <a16:creationId xmlns:a16="http://schemas.microsoft.com/office/drawing/2014/main" id="{F558BBE2-6C3A-7AF0-1504-DBDA6927F8B6}"/>
                </a:ext>
              </a:extLst>
            </p:cNvPr>
            <p:cNvSpPr>
              <a:spLocks/>
            </p:cNvSpPr>
            <p:nvPr/>
          </p:nvSpPr>
          <p:spPr bwMode="auto">
            <a:xfrm>
              <a:off x="143" y="4841"/>
              <a:ext cx="178" cy="183"/>
            </a:xfrm>
            <a:custGeom>
              <a:avLst/>
              <a:gdLst>
                <a:gd name="T0" fmla="*/ 177 w 178"/>
                <a:gd name="T1" fmla="*/ 182 h 183"/>
                <a:gd name="T2" fmla="*/ 177 w 178"/>
                <a:gd name="T3" fmla="*/ 0 h 183"/>
                <a:gd name="T4" fmla="*/ 0 w 178"/>
                <a:gd name="T5" fmla="*/ 0 h 183"/>
                <a:gd name="T6" fmla="*/ 0 w 178"/>
                <a:gd name="T7" fmla="*/ 182 h 183"/>
                <a:gd name="T8" fmla="*/ 177 w 178"/>
                <a:gd name="T9" fmla="*/ 182 h 183"/>
                <a:gd name="T10" fmla="*/ 0 60000 65536"/>
                <a:gd name="T11" fmla="*/ 0 60000 65536"/>
                <a:gd name="T12" fmla="*/ 0 60000 65536"/>
                <a:gd name="T13" fmla="*/ 0 60000 65536"/>
                <a:gd name="T14" fmla="*/ 0 60000 65536"/>
                <a:gd name="T15" fmla="*/ 0 w 178"/>
                <a:gd name="T16" fmla="*/ 0 h 183"/>
                <a:gd name="T17" fmla="*/ 178 w 178"/>
                <a:gd name="T18" fmla="*/ 183 h 183"/>
              </a:gdLst>
              <a:ahLst/>
              <a:cxnLst>
                <a:cxn ang="T10">
                  <a:pos x="T0" y="T1"/>
                </a:cxn>
                <a:cxn ang="T11">
                  <a:pos x="T2" y="T3"/>
                </a:cxn>
                <a:cxn ang="T12">
                  <a:pos x="T4" y="T5"/>
                </a:cxn>
                <a:cxn ang="T13">
                  <a:pos x="T6" y="T7"/>
                </a:cxn>
                <a:cxn ang="T14">
                  <a:pos x="T8" y="T9"/>
                </a:cxn>
              </a:cxnLst>
              <a:rect l="T15" t="T16" r="T17" b="T18"/>
              <a:pathLst>
                <a:path w="178" h="183">
                  <a:moveTo>
                    <a:pt x="177" y="182"/>
                  </a:moveTo>
                  <a:lnTo>
                    <a:pt x="177" y="0"/>
                  </a:lnTo>
                  <a:lnTo>
                    <a:pt x="0" y="0"/>
                  </a:lnTo>
                  <a:lnTo>
                    <a:pt x="0" y="182"/>
                  </a:lnTo>
                  <a:lnTo>
                    <a:pt x="177"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8682" name="Freeform 8">
              <a:extLst>
                <a:ext uri="{FF2B5EF4-FFF2-40B4-BE49-F238E27FC236}">
                  <a16:creationId xmlns:a16="http://schemas.microsoft.com/office/drawing/2014/main" id="{8B91277B-E938-17CF-E114-BF66C577462A}"/>
                </a:ext>
              </a:extLst>
            </p:cNvPr>
            <p:cNvSpPr>
              <a:spLocks/>
            </p:cNvSpPr>
            <p:nvPr/>
          </p:nvSpPr>
          <p:spPr bwMode="auto">
            <a:xfrm>
              <a:off x="153" y="4849"/>
              <a:ext cx="162" cy="164"/>
            </a:xfrm>
            <a:custGeom>
              <a:avLst/>
              <a:gdLst>
                <a:gd name="T0" fmla="*/ 82 w 162"/>
                <a:gd name="T1" fmla="*/ 0 h 164"/>
                <a:gd name="T2" fmla="*/ 0 w 162"/>
                <a:gd name="T3" fmla="*/ 163 h 164"/>
                <a:gd name="T4" fmla="*/ 161 w 162"/>
                <a:gd name="T5" fmla="*/ 163 h 164"/>
                <a:gd name="T6" fmla="*/ 82 w 162"/>
                <a:gd name="T7" fmla="*/ 0 h 164"/>
                <a:gd name="T8" fmla="*/ 0 60000 65536"/>
                <a:gd name="T9" fmla="*/ 0 60000 65536"/>
                <a:gd name="T10" fmla="*/ 0 60000 65536"/>
                <a:gd name="T11" fmla="*/ 0 60000 65536"/>
                <a:gd name="T12" fmla="*/ 0 w 162"/>
                <a:gd name="T13" fmla="*/ 0 h 164"/>
                <a:gd name="T14" fmla="*/ 162 w 162"/>
                <a:gd name="T15" fmla="*/ 164 h 164"/>
              </a:gdLst>
              <a:ahLst/>
              <a:cxnLst>
                <a:cxn ang="T8">
                  <a:pos x="T0" y="T1"/>
                </a:cxn>
                <a:cxn ang="T9">
                  <a:pos x="T2" y="T3"/>
                </a:cxn>
                <a:cxn ang="T10">
                  <a:pos x="T4" y="T5"/>
                </a:cxn>
                <a:cxn ang="T11">
                  <a:pos x="T6" y="T7"/>
                </a:cxn>
              </a:cxnLst>
              <a:rect l="T12" t="T13" r="T14" b="T15"/>
              <a:pathLst>
                <a:path w="162" h="164">
                  <a:moveTo>
                    <a:pt x="82" y="0"/>
                  </a:moveTo>
                  <a:lnTo>
                    <a:pt x="0" y="163"/>
                  </a:lnTo>
                  <a:lnTo>
                    <a:pt x="161" y="163"/>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8683" name="Freeform 9">
              <a:extLst>
                <a:ext uri="{FF2B5EF4-FFF2-40B4-BE49-F238E27FC236}">
                  <a16:creationId xmlns:a16="http://schemas.microsoft.com/office/drawing/2014/main" id="{C1573446-759F-3036-1D06-F1AA23221827}"/>
                </a:ext>
              </a:extLst>
            </p:cNvPr>
            <p:cNvSpPr>
              <a:spLocks/>
            </p:cNvSpPr>
            <p:nvPr/>
          </p:nvSpPr>
          <p:spPr bwMode="auto">
            <a:xfrm>
              <a:off x="171" y="486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8684" name="Freeform 10">
              <a:extLst>
                <a:ext uri="{FF2B5EF4-FFF2-40B4-BE49-F238E27FC236}">
                  <a16:creationId xmlns:a16="http://schemas.microsoft.com/office/drawing/2014/main" id="{D035283D-0906-0982-56E0-9B4C40570091}"/>
                </a:ext>
              </a:extLst>
            </p:cNvPr>
            <p:cNvSpPr>
              <a:spLocks/>
            </p:cNvSpPr>
            <p:nvPr/>
          </p:nvSpPr>
          <p:spPr bwMode="auto">
            <a:xfrm>
              <a:off x="227" y="497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8685" name="Freeform 11">
              <a:extLst>
                <a:ext uri="{FF2B5EF4-FFF2-40B4-BE49-F238E27FC236}">
                  <a16:creationId xmlns:a16="http://schemas.microsoft.com/office/drawing/2014/main" id="{0E75C820-9CA8-4ECB-6E38-5A8154F198C8}"/>
                </a:ext>
              </a:extLst>
            </p:cNvPr>
            <p:cNvSpPr>
              <a:spLocks/>
            </p:cNvSpPr>
            <p:nvPr/>
          </p:nvSpPr>
          <p:spPr bwMode="auto">
            <a:xfrm>
              <a:off x="227" y="489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28679" name="Rectangle 12">
            <a:extLst>
              <a:ext uri="{FF2B5EF4-FFF2-40B4-BE49-F238E27FC236}">
                <a16:creationId xmlns:a16="http://schemas.microsoft.com/office/drawing/2014/main" id="{34B3763D-EF2C-7664-89F6-9E9BFE841666}"/>
              </a:ext>
            </a:extLst>
          </p:cNvPr>
          <p:cNvSpPr>
            <a:spLocks noChangeArrowheads="1"/>
          </p:cNvSpPr>
          <p:nvPr/>
        </p:nvSpPr>
        <p:spPr bwMode="auto">
          <a:xfrm>
            <a:off x="649288" y="6731000"/>
            <a:ext cx="5594350" cy="9747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8680" name="Rectangle 13">
            <a:extLst>
              <a:ext uri="{FF2B5EF4-FFF2-40B4-BE49-F238E27FC236}">
                <a16:creationId xmlns:a16="http://schemas.microsoft.com/office/drawing/2014/main" id="{48397284-798F-F6F0-4574-DC5DF666EAC6}"/>
              </a:ext>
            </a:extLst>
          </p:cNvPr>
          <p:cNvSpPr>
            <a:spLocks noChangeArrowheads="1"/>
          </p:cNvSpPr>
          <p:nvPr/>
        </p:nvSpPr>
        <p:spPr bwMode="auto">
          <a:xfrm>
            <a:off x="192088" y="6724650"/>
            <a:ext cx="36591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tabLst>
                <a:tab pos="2376488" algn="r"/>
              </a:tabLst>
              <a:defRPr sz="1200">
                <a:solidFill>
                  <a:schemeClr val="tx1"/>
                </a:solidFill>
                <a:latin typeface="Arial" panose="020B0604020202020204" pitchFamily="34" charset="0"/>
              </a:defRPr>
            </a:lvl1pPr>
            <a:lvl2pPr marL="450850" defTabSz="881063">
              <a:spcBef>
                <a:spcPct val="30000"/>
              </a:spcBef>
              <a:tabLst>
                <a:tab pos="2376488" algn="r"/>
              </a:tabLst>
              <a:defRPr sz="1200">
                <a:solidFill>
                  <a:schemeClr val="tx1"/>
                </a:solidFill>
                <a:latin typeface="Arial" panose="020B0604020202020204" pitchFamily="34" charset="0"/>
              </a:defRPr>
            </a:lvl2pPr>
            <a:lvl3pPr marL="1143000" indent="-228600" defTabSz="881063">
              <a:spcBef>
                <a:spcPct val="30000"/>
              </a:spcBef>
              <a:tabLst>
                <a:tab pos="2376488" algn="r"/>
              </a:tabLst>
              <a:defRPr sz="1200">
                <a:solidFill>
                  <a:schemeClr val="tx1"/>
                </a:solidFill>
                <a:latin typeface="Arial" panose="020B0604020202020204" pitchFamily="34" charset="0"/>
              </a:defRPr>
            </a:lvl3pPr>
            <a:lvl4pPr marL="1600200" indent="-228600" defTabSz="881063">
              <a:spcBef>
                <a:spcPct val="30000"/>
              </a:spcBef>
              <a:tabLst>
                <a:tab pos="2376488" algn="r"/>
              </a:tabLst>
              <a:defRPr sz="1200">
                <a:solidFill>
                  <a:schemeClr val="tx1"/>
                </a:solidFill>
                <a:latin typeface="Arial" panose="020B0604020202020204" pitchFamily="34" charset="0"/>
              </a:defRPr>
            </a:lvl4pPr>
            <a:lvl5pPr marL="2057400" indent="-228600" defTabSz="881063">
              <a:spcBef>
                <a:spcPct val="30000"/>
              </a:spcBef>
              <a:tabLst>
                <a:tab pos="2376488" algn="r"/>
              </a:tabLst>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9pPr>
          </a:lstStyle>
          <a:p>
            <a:pPr lvl="1">
              <a:spcBef>
                <a:spcPct val="0"/>
              </a:spcBef>
            </a:pPr>
            <a:r>
              <a:rPr lang="en-US" altLang="en-US" sz="1100">
                <a:latin typeface="Courier New" panose="02070309020205020404" pitchFamily="49" charset="0"/>
              </a:rPr>
              <a:t>    DEPTNO	 COUNT(ENAME)</a:t>
            </a:r>
          </a:p>
          <a:p>
            <a:pPr lvl="1">
              <a:spcBef>
                <a:spcPct val="0"/>
              </a:spcBef>
            </a:pPr>
            <a:r>
              <a:rPr lang="en-US" altLang="en-US" sz="1100">
                <a:latin typeface="Courier New" panose="02070309020205020404" pitchFamily="49" charset="0"/>
              </a:rPr>
              <a:t>---------- ------------</a:t>
            </a:r>
          </a:p>
          <a:p>
            <a:pPr lvl="1">
              <a:spcBef>
                <a:spcPct val="0"/>
              </a:spcBef>
            </a:pPr>
            <a:r>
              <a:rPr lang="en-US" altLang="en-US" sz="1100">
                <a:latin typeface="Courier New" panose="02070309020205020404" pitchFamily="49" charset="0"/>
              </a:rPr>
              <a:t>        10	      3</a:t>
            </a:r>
          </a:p>
          <a:p>
            <a:pPr lvl="1">
              <a:spcBef>
                <a:spcPct val="0"/>
              </a:spcBef>
            </a:pPr>
            <a:r>
              <a:rPr lang="en-US" altLang="en-US" sz="1100">
                <a:latin typeface="Courier New" panose="02070309020205020404" pitchFamily="49" charset="0"/>
              </a:rPr>
              <a:t>        20	      5</a:t>
            </a:r>
          </a:p>
          <a:p>
            <a:pPr lvl="1">
              <a:spcBef>
                <a:spcPct val="0"/>
              </a:spcBef>
            </a:pPr>
            <a:r>
              <a:rPr lang="en-US" altLang="en-US" sz="1100">
                <a:latin typeface="Courier New" panose="02070309020205020404" pitchFamily="49" charset="0"/>
              </a:rPr>
              <a:t>        30 	      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BB94757-EC3D-583A-8CB6-6619BB1E2B5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3225"/>
            <a:r>
              <a:rPr lang="en-US" altLang="en-US">
                <a:latin typeface="Arial" panose="020B0604020202020204" pitchFamily="34" charset="0"/>
              </a:rPr>
              <a:t>Illegal Queries Using Group Functions</a:t>
            </a:r>
          </a:p>
          <a:p>
            <a:pPr marL="114300" lvl="1" defTabSz="403225"/>
            <a:r>
              <a:rPr lang="en-US" altLang="en-US">
                <a:latin typeface="Arial" panose="020B0604020202020204" pitchFamily="34" charset="0"/>
              </a:rPr>
              <a:t>Whenever you use a mixture of individual items (DEPTNO) and group functions (COUNT) in the same SELECT statement, you must include a GROUP BY clause that specifies the individual items (in this case, DEPTNO). If the GROUP BY clause is missing, then the error message “not a single-group group function” appears and an asterisk (*) points to the offending column. You can correct the error on the slide by adding the GROUP BY clause. </a:t>
            </a: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marL="114300" lvl="1" defTabSz="403225">
              <a:spcBef>
                <a:spcPct val="55000"/>
              </a:spcBef>
            </a:pPr>
            <a:r>
              <a:rPr lang="en-US" altLang="en-US">
                <a:latin typeface="Arial" panose="020B0604020202020204" pitchFamily="34" charset="0"/>
              </a:rPr>
              <a:t>Any column or expression in the SELECT list that is not an aggregate function must be in the GROUP BY clause.</a:t>
            </a:r>
          </a:p>
          <a:p>
            <a:pPr defTabSz="403225">
              <a:lnSpc>
                <a:spcPct val="90000"/>
              </a:lnSpc>
              <a:spcBef>
                <a:spcPct val="0"/>
              </a:spcBef>
            </a:pPr>
            <a:r>
              <a:rPr lang="en-US" altLang="en-US">
                <a:solidFill>
                  <a:schemeClr val="accent2"/>
                </a:solidFill>
                <a:latin typeface="Arial" panose="020B0604020202020204" pitchFamily="34" charset="0"/>
              </a:rPr>
              <a:t>Class Management Note</a:t>
            </a:r>
          </a:p>
          <a:p>
            <a:pPr marL="114300" lvl="1" defTabSz="403225">
              <a:lnSpc>
                <a:spcPct val="90000"/>
              </a:lnSpc>
              <a:spcBef>
                <a:spcPct val="0"/>
              </a:spcBef>
            </a:pPr>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l5error.sql</a:t>
            </a:r>
          </a:p>
          <a:p>
            <a:pPr marL="114300" lvl="1" defTabSz="403225">
              <a:lnSpc>
                <a:spcPct val="90000"/>
              </a:lnSpc>
              <a:spcBef>
                <a:spcPct val="0"/>
              </a:spcBef>
            </a:pPr>
            <a:r>
              <a:rPr lang="en-US" altLang="en-US">
                <a:solidFill>
                  <a:schemeClr val="accent2"/>
                </a:solidFill>
                <a:latin typeface="Arial" panose="020B0604020202020204" pitchFamily="34" charset="0"/>
              </a:rPr>
              <a:t>Purpose: To illustrate executing a SELECT statement with no GROUP BY clause. </a:t>
            </a:r>
          </a:p>
        </p:txBody>
      </p:sp>
      <p:sp>
        <p:nvSpPr>
          <p:cNvPr id="32771" name="Rectangle 3">
            <a:extLst>
              <a:ext uri="{FF2B5EF4-FFF2-40B4-BE49-F238E27FC236}">
                <a16:creationId xmlns:a16="http://schemas.microsoft.com/office/drawing/2014/main" id="{4DBEADF3-EAE0-B5F6-352F-133CB603F8E3}"/>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32772" name="Rectangle 4">
            <a:extLst>
              <a:ext uri="{FF2B5EF4-FFF2-40B4-BE49-F238E27FC236}">
                <a16:creationId xmlns:a16="http://schemas.microsoft.com/office/drawing/2014/main" id="{0BF78C29-5C69-ADDB-23E4-0F6140B2C0DC}"/>
              </a:ext>
            </a:extLst>
          </p:cNvPr>
          <p:cNvSpPr>
            <a:spLocks noChangeArrowheads="1"/>
          </p:cNvSpPr>
          <p:nvPr/>
        </p:nvSpPr>
        <p:spPr bwMode="auto">
          <a:xfrm>
            <a:off x="649288" y="5997575"/>
            <a:ext cx="5594350" cy="6413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2773" name="Rectangle 5">
            <a:extLst>
              <a:ext uri="{FF2B5EF4-FFF2-40B4-BE49-F238E27FC236}">
                <a16:creationId xmlns:a16="http://schemas.microsoft.com/office/drawing/2014/main" id="{4571A924-FFEA-3535-9B11-4E1DE73C35BC}"/>
              </a:ext>
            </a:extLst>
          </p:cNvPr>
          <p:cNvSpPr>
            <a:spLocks noChangeArrowheads="1"/>
          </p:cNvSpPr>
          <p:nvPr/>
        </p:nvSpPr>
        <p:spPr bwMode="auto">
          <a:xfrm>
            <a:off x="192088" y="6013450"/>
            <a:ext cx="3659187"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b="1">
                <a:latin typeface="Courier New" panose="02070309020205020404" pitchFamily="49" charset="0"/>
              </a:rPr>
              <a:t>SQL&gt; SELECT	deptno, COUNT(ename)</a:t>
            </a:r>
          </a:p>
          <a:p>
            <a:pPr lvl="1">
              <a:spcBef>
                <a:spcPct val="0"/>
              </a:spcBef>
            </a:pPr>
            <a:r>
              <a:rPr lang="en-US" altLang="en-US" sz="1100" b="1">
                <a:latin typeface="Courier New" panose="02070309020205020404" pitchFamily="49" charset="0"/>
              </a:rPr>
              <a:t>  2  FROM	emp</a:t>
            </a:r>
          </a:p>
          <a:p>
            <a:pPr lvl="1">
              <a:spcBef>
                <a:spcPct val="0"/>
              </a:spcBef>
            </a:pPr>
            <a:r>
              <a:rPr lang="en-US" altLang="en-US" sz="1100" b="1">
                <a:latin typeface="Courier New" panose="02070309020205020404" pitchFamily="49" charset="0"/>
              </a:rPr>
              <a:t>  3  GROUP BY	deptno;</a:t>
            </a:r>
          </a:p>
        </p:txBody>
      </p:sp>
      <p:grpSp>
        <p:nvGrpSpPr>
          <p:cNvPr id="32774" name="Group 6">
            <a:extLst>
              <a:ext uri="{FF2B5EF4-FFF2-40B4-BE49-F238E27FC236}">
                <a16:creationId xmlns:a16="http://schemas.microsoft.com/office/drawing/2014/main" id="{4C72BC6C-7061-FEB8-06DF-13D3ACEB3A19}"/>
              </a:ext>
            </a:extLst>
          </p:cNvPr>
          <p:cNvGrpSpPr>
            <a:grpSpLocks/>
          </p:cNvGrpSpPr>
          <p:nvPr/>
        </p:nvGrpSpPr>
        <p:grpSpPr bwMode="auto">
          <a:xfrm>
            <a:off x="228600" y="7826375"/>
            <a:ext cx="284163" cy="296863"/>
            <a:chOff x="143" y="4841"/>
            <a:chExt cx="178" cy="183"/>
          </a:xfrm>
        </p:grpSpPr>
        <p:sp>
          <p:nvSpPr>
            <p:cNvPr id="32777" name="Freeform 7">
              <a:extLst>
                <a:ext uri="{FF2B5EF4-FFF2-40B4-BE49-F238E27FC236}">
                  <a16:creationId xmlns:a16="http://schemas.microsoft.com/office/drawing/2014/main" id="{193E9E1A-DA90-C679-29B1-9CC3AA930126}"/>
                </a:ext>
              </a:extLst>
            </p:cNvPr>
            <p:cNvSpPr>
              <a:spLocks/>
            </p:cNvSpPr>
            <p:nvPr/>
          </p:nvSpPr>
          <p:spPr bwMode="auto">
            <a:xfrm>
              <a:off x="143" y="4841"/>
              <a:ext cx="178" cy="183"/>
            </a:xfrm>
            <a:custGeom>
              <a:avLst/>
              <a:gdLst>
                <a:gd name="T0" fmla="*/ 177 w 178"/>
                <a:gd name="T1" fmla="*/ 182 h 183"/>
                <a:gd name="T2" fmla="*/ 177 w 178"/>
                <a:gd name="T3" fmla="*/ 0 h 183"/>
                <a:gd name="T4" fmla="*/ 0 w 178"/>
                <a:gd name="T5" fmla="*/ 0 h 183"/>
                <a:gd name="T6" fmla="*/ 0 w 178"/>
                <a:gd name="T7" fmla="*/ 182 h 183"/>
                <a:gd name="T8" fmla="*/ 177 w 178"/>
                <a:gd name="T9" fmla="*/ 182 h 183"/>
                <a:gd name="T10" fmla="*/ 0 60000 65536"/>
                <a:gd name="T11" fmla="*/ 0 60000 65536"/>
                <a:gd name="T12" fmla="*/ 0 60000 65536"/>
                <a:gd name="T13" fmla="*/ 0 60000 65536"/>
                <a:gd name="T14" fmla="*/ 0 60000 65536"/>
                <a:gd name="T15" fmla="*/ 0 w 178"/>
                <a:gd name="T16" fmla="*/ 0 h 183"/>
                <a:gd name="T17" fmla="*/ 178 w 178"/>
                <a:gd name="T18" fmla="*/ 183 h 183"/>
              </a:gdLst>
              <a:ahLst/>
              <a:cxnLst>
                <a:cxn ang="T10">
                  <a:pos x="T0" y="T1"/>
                </a:cxn>
                <a:cxn ang="T11">
                  <a:pos x="T2" y="T3"/>
                </a:cxn>
                <a:cxn ang="T12">
                  <a:pos x="T4" y="T5"/>
                </a:cxn>
                <a:cxn ang="T13">
                  <a:pos x="T6" y="T7"/>
                </a:cxn>
                <a:cxn ang="T14">
                  <a:pos x="T8" y="T9"/>
                </a:cxn>
              </a:cxnLst>
              <a:rect l="T15" t="T16" r="T17" b="T18"/>
              <a:pathLst>
                <a:path w="178" h="183">
                  <a:moveTo>
                    <a:pt x="177" y="182"/>
                  </a:moveTo>
                  <a:lnTo>
                    <a:pt x="177" y="0"/>
                  </a:lnTo>
                  <a:lnTo>
                    <a:pt x="0" y="0"/>
                  </a:lnTo>
                  <a:lnTo>
                    <a:pt x="0" y="182"/>
                  </a:lnTo>
                  <a:lnTo>
                    <a:pt x="177"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78" name="Freeform 8">
              <a:extLst>
                <a:ext uri="{FF2B5EF4-FFF2-40B4-BE49-F238E27FC236}">
                  <a16:creationId xmlns:a16="http://schemas.microsoft.com/office/drawing/2014/main" id="{FB3F9BCA-C51F-68DB-A4B5-986E4CCA408C}"/>
                </a:ext>
              </a:extLst>
            </p:cNvPr>
            <p:cNvSpPr>
              <a:spLocks/>
            </p:cNvSpPr>
            <p:nvPr/>
          </p:nvSpPr>
          <p:spPr bwMode="auto">
            <a:xfrm>
              <a:off x="153" y="4849"/>
              <a:ext cx="162" cy="164"/>
            </a:xfrm>
            <a:custGeom>
              <a:avLst/>
              <a:gdLst>
                <a:gd name="T0" fmla="*/ 82 w 162"/>
                <a:gd name="T1" fmla="*/ 0 h 164"/>
                <a:gd name="T2" fmla="*/ 0 w 162"/>
                <a:gd name="T3" fmla="*/ 163 h 164"/>
                <a:gd name="T4" fmla="*/ 161 w 162"/>
                <a:gd name="T5" fmla="*/ 163 h 164"/>
                <a:gd name="T6" fmla="*/ 82 w 162"/>
                <a:gd name="T7" fmla="*/ 0 h 164"/>
                <a:gd name="T8" fmla="*/ 0 60000 65536"/>
                <a:gd name="T9" fmla="*/ 0 60000 65536"/>
                <a:gd name="T10" fmla="*/ 0 60000 65536"/>
                <a:gd name="T11" fmla="*/ 0 60000 65536"/>
                <a:gd name="T12" fmla="*/ 0 w 162"/>
                <a:gd name="T13" fmla="*/ 0 h 164"/>
                <a:gd name="T14" fmla="*/ 162 w 162"/>
                <a:gd name="T15" fmla="*/ 164 h 164"/>
              </a:gdLst>
              <a:ahLst/>
              <a:cxnLst>
                <a:cxn ang="T8">
                  <a:pos x="T0" y="T1"/>
                </a:cxn>
                <a:cxn ang="T9">
                  <a:pos x="T2" y="T3"/>
                </a:cxn>
                <a:cxn ang="T10">
                  <a:pos x="T4" y="T5"/>
                </a:cxn>
                <a:cxn ang="T11">
                  <a:pos x="T6" y="T7"/>
                </a:cxn>
              </a:cxnLst>
              <a:rect l="T12" t="T13" r="T14" b="T15"/>
              <a:pathLst>
                <a:path w="162" h="164">
                  <a:moveTo>
                    <a:pt x="82" y="0"/>
                  </a:moveTo>
                  <a:lnTo>
                    <a:pt x="0" y="163"/>
                  </a:lnTo>
                  <a:lnTo>
                    <a:pt x="161" y="163"/>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79" name="Freeform 9">
              <a:extLst>
                <a:ext uri="{FF2B5EF4-FFF2-40B4-BE49-F238E27FC236}">
                  <a16:creationId xmlns:a16="http://schemas.microsoft.com/office/drawing/2014/main" id="{F5FCC41F-C7ED-B792-2173-8A2238FD70C0}"/>
                </a:ext>
              </a:extLst>
            </p:cNvPr>
            <p:cNvSpPr>
              <a:spLocks/>
            </p:cNvSpPr>
            <p:nvPr/>
          </p:nvSpPr>
          <p:spPr bwMode="auto">
            <a:xfrm>
              <a:off x="171" y="486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80" name="Freeform 10">
              <a:extLst>
                <a:ext uri="{FF2B5EF4-FFF2-40B4-BE49-F238E27FC236}">
                  <a16:creationId xmlns:a16="http://schemas.microsoft.com/office/drawing/2014/main" id="{6CA3752C-C8F7-9060-1274-231C0AF86D0B}"/>
                </a:ext>
              </a:extLst>
            </p:cNvPr>
            <p:cNvSpPr>
              <a:spLocks/>
            </p:cNvSpPr>
            <p:nvPr/>
          </p:nvSpPr>
          <p:spPr bwMode="auto">
            <a:xfrm>
              <a:off x="227" y="497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81" name="Freeform 11">
              <a:extLst>
                <a:ext uri="{FF2B5EF4-FFF2-40B4-BE49-F238E27FC236}">
                  <a16:creationId xmlns:a16="http://schemas.microsoft.com/office/drawing/2014/main" id="{55EE510C-7D04-F7C8-38C6-F6F9C78A9AE1}"/>
                </a:ext>
              </a:extLst>
            </p:cNvPr>
            <p:cNvSpPr>
              <a:spLocks/>
            </p:cNvSpPr>
            <p:nvPr/>
          </p:nvSpPr>
          <p:spPr bwMode="auto">
            <a:xfrm>
              <a:off x="227" y="489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32775" name="Rectangle 12">
            <a:extLst>
              <a:ext uri="{FF2B5EF4-FFF2-40B4-BE49-F238E27FC236}">
                <a16:creationId xmlns:a16="http://schemas.microsoft.com/office/drawing/2014/main" id="{A381A39D-9FFF-CB63-0897-879E869E30BF}"/>
              </a:ext>
            </a:extLst>
          </p:cNvPr>
          <p:cNvSpPr>
            <a:spLocks noChangeArrowheads="1"/>
          </p:cNvSpPr>
          <p:nvPr/>
        </p:nvSpPr>
        <p:spPr bwMode="auto">
          <a:xfrm>
            <a:off x="649288" y="6731000"/>
            <a:ext cx="5594350" cy="9747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2776" name="Rectangle 13">
            <a:extLst>
              <a:ext uri="{FF2B5EF4-FFF2-40B4-BE49-F238E27FC236}">
                <a16:creationId xmlns:a16="http://schemas.microsoft.com/office/drawing/2014/main" id="{6D7B45A8-04BE-F534-2FF9-50337A80770D}"/>
              </a:ext>
            </a:extLst>
          </p:cNvPr>
          <p:cNvSpPr>
            <a:spLocks noChangeArrowheads="1"/>
          </p:cNvSpPr>
          <p:nvPr/>
        </p:nvSpPr>
        <p:spPr bwMode="auto">
          <a:xfrm>
            <a:off x="192088" y="6724650"/>
            <a:ext cx="36591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tabLst>
                <a:tab pos="2376488" algn="r"/>
              </a:tabLst>
              <a:defRPr sz="1200">
                <a:solidFill>
                  <a:schemeClr val="tx1"/>
                </a:solidFill>
                <a:latin typeface="Arial" panose="020B0604020202020204" pitchFamily="34" charset="0"/>
              </a:defRPr>
            </a:lvl1pPr>
            <a:lvl2pPr marL="450850" defTabSz="881063">
              <a:spcBef>
                <a:spcPct val="30000"/>
              </a:spcBef>
              <a:tabLst>
                <a:tab pos="2376488" algn="r"/>
              </a:tabLst>
              <a:defRPr sz="1200">
                <a:solidFill>
                  <a:schemeClr val="tx1"/>
                </a:solidFill>
                <a:latin typeface="Arial" panose="020B0604020202020204" pitchFamily="34" charset="0"/>
              </a:defRPr>
            </a:lvl2pPr>
            <a:lvl3pPr marL="1143000" indent="-228600" defTabSz="881063">
              <a:spcBef>
                <a:spcPct val="30000"/>
              </a:spcBef>
              <a:tabLst>
                <a:tab pos="2376488" algn="r"/>
              </a:tabLst>
              <a:defRPr sz="1200">
                <a:solidFill>
                  <a:schemeClr val="tx1"/>
                </a:solidFill>
                <a:latin typeface="Arial" panose="020B0604020202020204" pitchFamily="34" charset="0"/>
              </a:defRPr>
            </a:lvl3pPr>
            <a:lvl4pPr marL="1600200" indent="-228600" defTabSz="881063">
              <a:spcBef>
                <a:spcPct val="30000"/>
              </a:spcBef>
              <a:tabLst>
                <a:tab pos="2376488" algn="r"/>
              </a:tabLst>
              <a:defRPr sz="1200">
                <a:solidFill>
                  <a:schemeClr val="tx1"/>
                </a:solidFill>
                <a:latin typeface="Arial" panose="020B0604020202020204" pitchFamily="34" charset="0"/>
              </a:defRPr>
            </a:lvl4pPr>
            <a:lvl5pPr marL="2057400" indent="-228600" defTabSz="881063">
              <a:spcBef>
                <a:spcPct val="30000"/>
              </a:spcBef>
              <a:tabLst>
                <a:tab pos="2376488" algn="r"/>
              </a:tabLst>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9pPr>
          </a:lstStyle>
          <a:p>
            <a:pPr lvl="1">
              <a:spcBef>
                <a:spcPct val="0"/>
              </a:spcBef>
            </a:pPr>
            <a:r>
              <a:rPr lang="en-US" altLang="en-US" sz="1100">
                <a:latin typeface="Courier New" panose="02070309020205020404" pitchFamily="49" charset="0"/>
              </a:rPr>
              <a:t>    DEPTNO	 COUNT(ENAME)</a:t>
            </a:r>
          </a:p>
          <a:p>
            <a:pPr lvl="1">
              <a:spcBef>
                <a:spcPct val="0"/>
              </a:spcBef>
            </a:pPr>
            <a:r>
              <a:rPr lang="en-US" altLang="en-US" sz="1100">
                <a:latin typeface="Courier New" panose="02070309020205020404" pitchFamily="49" charset="0"/>
              </a:rPr>
              <a:t>---------- ------------</a:t>
            </a:r>
          </a:p>
          <a:p>
            <a:pPr lvl="1">
              <a:spcBef>
                <a:spcPct val="0"/>
              </a:spcBef>
            </a:pPr>
            <a:r>
              <a:rPr lang="en-US" altLang="en-US" sz="1100">
                <a:latin typeface="Courier New" panose="02070309020205020404" pitchFamily="49" charset="0"/>
              </a:rPr>
              <a:t>        10	      3</a:t>
            </a:r>
          </a:p>
          <a:p>
            <a:pPr lvl="1">
              <a:spcBef>
                <a:spcPct val="0"/>
              </a:spcBef>
            </a:pPr>
            <a:r>
              <a:rPr lang="en-US" altLang="en-US" sz="1100">
                <a:latin typeface="Courier New" panose="02070309020205020404" pitchFamily="49" charset="0"/>
              </a:rPr>
              <a:t>        20	      5</a:t>
            </a:r>
          </a:p>
          <a:p>
            <a:pPr lvl="1">
              <a:spcBef>
                <a:spcPct val="0"/>
              </a:spcBef>
            </a:pPr>
            <a:r>
              <a:rPr lang="en-US" altLang="en-US" sz="1100">
                <a:latin typeface="Courier New" panose="02070309020205020404" pitchFamily="49" charset="0"/>
              </a:rPr>
              <a:t>        30 	      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7A0-2F66-330C-45D7-EC4B1E91A8A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CF84837-23DB-5BEF-E2B5-AB3BCB09C1E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3225"/>
            <a:r>
              <a:rPr lang="en-US" altLang="en-US">
                <a:latin typeface="Arial" panose="020B0604020202020204" pitchFamily="34" charset="0"/>
              </a:rPr>
              <a:t>Illegal Queries Using Group Functions</a:t>
            </a:r>
          </a:p>
          <a:p>
            <a:pPr marL="114300" lvl="1" defTabSz="403225"/>
            <a:r>
              <a:rPr lang="en-US" altLang="en-US">
                <a:latin typeface="Arial" panose="020B0604020202020204" pitchFamily="34" charset="0"/>
              </a:rPr>
              <a:t>Whenever you use a mixture of individual items (DEPTNO) and group functions (COUNT) in the same SELECT statement, you must include a GROUP BY clause that specifies the individual items (in this case, DEPTNO). If the GROUP BY clause is missing, then the error message “not a single-group group function” appears and an asterisk (*) points to the offending column. You can correct the error on the slide by adding the GROUP BY clause. </a:t>
            </a: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marL="114300" lvl="1" defTabSz="403225"/>
            <a:endParaRPr lang="en-US" altLang="en-US">
              <a:latin typeface="Arial" panose="020B0604020202020204" pitchFamily="34"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defTabSz="403225">
              <a:lnSpc>
                <a:spcPct val="112000"/>
              </a:lnSpc>
              <a:spcAft>
                <a:spcPct val="24000"/>
              </a:spcAft>
            </a:pPr>
            <a:endParaRPr lang="en-US" altLang="en-US" b="1">
              <a:latin typeface="Times" panose="02020603050405020304" pitchFamily="18" charset="0"/>
            </a:endParaRPr>
          </a:p>
          <a:p>
            <a:pPr marL="114300" lvl="1" defTabSz="403225">
              <a:spcBef>
                <a:spcPct val="55000"/>
              </a:spcBef>
            </a:pPr>
            <a:r>
              <a:rPr lang="en-US" altLang="en-US">
                <a:latin typeface="Arial" panose="020B0604020202020204" pitchFamily="34" charset="0"/>
              </a:rPr>
              <a:t>Any column or expression in the SELECT list that is not an aggregate function must be in the GROUP BY clause.</a:t>
            </a:r>
          </a:p>
          <a:p>
            <a:pPr defTabSz="403225">
              <a:lnSpc>
                <a:spcPct val="90000"/>
              </a:lnSpc>
              <a:spcBef>
                <a:spcPct val="0"/>
              </a:spcBef>
            </a:pPr>
            <a:r>
              <a:rPr lang="en-US" altLang="en-US">
                <a:solidFill>
                  <a:schemeClr val="accent2"/>
                </a:solidFill>
                <a:latin typeface="Arial" panose="020B0604020202020204" pitchFamily="34" charset="0"/>
              </a:rPr>
              <a:t>Class Management Note</a:t>
            </a:r>
          </a:p>
          <a:p>
            <a:pPr marL="114300" lvl="1" defTabSz="403225">
              <a:lnSpc>
                <a:spcPct val="90000"/>
              </a:lnSpc>
              <a:spcBef>
                <a:spcPct val="0"/>
              </a:spcBef>
            </a:pPr>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l5error.sql</a:t>
            </a:r>
          </a:p>
          <a:p>
            <a:pPr marL="114300" lvl="1" defTabSz="403225">
              <a:lnSpc>
                <a:spcPct val="90000"/>
              </a:lnSpc>
              <a:spcBef>
                <a:spcPct val="0"/>
              </a:spcBef>
            </a:pPr>
            <a:r>
              <a:rPr lang="en-US" altLang="en-US">
                <a:solidFill>
                  <a:schemeClr val="accent2"/>
                </a:solidFill>
                <a:latin typeface="Arial" panose="020B0604020202020204" pitchFamily="34" charset="0"/>
              </a:rPr>
              <a:t>Purpose: To illustrate executing a SELECT statement with no GROUP BY clause. </a:t>
            </a:r>
          </a:p>
        </p:txBody>
      </p:sp>
      <p:sp>
        <p:nvSpPr>
          <p:cNvPr id="32771" name="Rectangle 3">
            <a:extLst>
              <a:ext uri="{FF2B5EF4-FFF2-40B4-BE49-F238E27FC236}">
                <a16:creationId xmlns:a16="http://schemas.microsoft.com/office/drawing/2014/main" id="{394AA185-8443-1EF3-D171-49D913B58954}"/>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32772" name="Rectangle 4">
            <a:extLst>
              <a:ext uri="{FF2B5EF4-FFF2-40B4-BE49-F238E27FC236}">
                <a16:creationId xmlns:a16="http://schemas.microsoft.com/office/drawing/2014/main" id="{D1CC4A45-9804-B3EA-BF7F-46A69DC26B09}"/>
              </a:ext>
            </a:extLst>
          </p:cNvPr>
          <p:cNvSpPr>
            <a:spLocks noChangeArrowheads="1"/>
          </p:cNvSpPr>
          <p:nvPr/>
        </p:nvSpPr>
        <p:spPr bwMode="auto">
          <a:xfrm>
            <a:off x="649288" y="5997575"/>
            <a:ext cx="5594350" cy="6413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2773" name="Rectangle 5">
            <a:extLst>
              <a:ext uri="{FF2B5EF4-FFF2-40B4-BE49-F238E27FC236}">
                <a16:creationId xmlns:a16="http://schemas.microsoft.com/office/drawing/2014/main" id="{B8E0295F-D600-FE5E-79D2-E51D39ADAB85}"/>
              </a:ext>
            </a:extLst>
          </p:cNvPr>
          <p:cNvSpPr>
            <a:spLocks noChangeArrowheads="1"/>
          </p:cNvSpPr>
          <p:nvPr/>
        </p:nvSpPr>
        <p:spPr bwMode="auto">
          <a:xfrm>
            <a:off x="192088" y="6013450"/>
            <a:ext cx="3659187"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b="1">
                <a:latin typeface="Courier New" panose="02070309020205020404" pitchFamily="49" charset="0"/>
              </a:rPr>
              <a:t>SQL&gt; SELECT	deptno, COUNT(ename)</a:t>
            </a:r>
          </a:p>
          <a:p>
            <a:pPr lvl="1">
              <a:spcBef>
                <a:spcPct val="0"/>
              </a:spcBef>
            </a:pPr>
            <a:r>
              <a:rPr lang="en-US" altLang="en-US" sz="1100" b="1">
                <a:latin typeface="Courier New" panose="02070309020205020404" pitchFamily="49" charset="0"/>
              </a:rPr>
              <a:t>  2  FROM	emp</a:t>
            </a:r>
          </a:p>
          <a:p>
            <a:pPr lvl="1">
              <a:spcBef>
                <a:spcPct val="0"/>
              </a:spcBef>
            </a:pPr>
            <a:r>
              <a:rPr lang="en-US" altLang="en-US" sz="1100" b="1">
                <a:latin typeface="Courier New" panose="02070309020205020404" pitchFamily="49" charset="0"/>
              </a:rPr>
              <a:t>  3  GROUP BY	deptno;</a:t>
            </a:r>
          </a:p>
        </p:txBody>
      </p:sp>
      <p:grpSp>
        <p:nvGrpSpPr>
          <p:cNvPr id="32774" name="Group 6">
            <a:extLst>
              <a:ext uri="{FF2B5EF4-FFF2-40B4-BE49-F238E27FC236}">
                <a16:creationId xmlns:a16="http://schemas.microsoft.com/office/drawing/2014/main" id="{17E3CAD4-346B-75B9-4D7E-98A2A938BB17}"/>
              </a:ext>
            </a:extLst>
          </p:cNvPr>
          <p:cNvGrpSpPr>
            <a:grpSpLocks/>
          </p:cNvGrpSpPr>
          <p:nvPr/>
        </p:nvGrpSpPr>
        <p:grpSpPr bwMode="auto">
          <a:xfrm>
            <a:off x="228600" y="7826375"/>
            <a:ext cx="284163" cy="296863"/>
            <a:chOff x="143" y="4841"/>
            <a:chExt cx="178" cy="183"/>
          </a:xfrm>
        </p:grpSpPr>
        <p:sp>
          <p:nvSpPr>
            <p:cNvPr id="32777" name="Freeform 7">
              <a:extLst>
                <a:ext uri="{FF2B5EF4-FFF2-40B4-BE49-F238E27FC236}">
                  <a16:creationId xmlns:a16="http://schemas.microsoft.com/office/drawing/2014/main" id="{45171576-FDD1-A33E-364E-3E9994837967}"/>
                </a:ext>
              </a:extLst>
            </p:cNvPr>
            <p:cNvSpPr>
              <a:spLocks/>
            </p:cNvSpPr>
            <p:nvPr/>
          </p:nvSpPr>
          <p:spPr bwMode="auto">
            <a:xfrm>
              <a:off x="143" y="4841"/>
              <a:ext cx="178" cy="183"/>
            </a:xfrm>
            <a:custGeom>
              <a:avLst/>
              <a:gdLst>
                <a:gd name="T0" fmla="*/ 177 w 178"/>
                <a:gd name="T1" fmla="*/ 182 h 183"/>
                <a:gd name="T2" fmla="*/ 177 w 178"/>
                <a:gd name="T3" fmla="*/ 0 h 183"/>
                <a:gd name="T4" fmla="*/ 0 w 178"/>
                <a:gd name="T5" fmla="*/ 0 h 183"/>
                <a:gd name="T6" fmla="*/ 0 w 178"/>
                <a:gd name="T7" fmla="*/ 182 h 183"/>
                <a:gd name="T8" fmla="*/ 177 w 178"/>
                <a:gd name="T9" fmla="*/ 182 h 183"/>
                <a:gd name="T10" fmla="*/ 0 60000 65536"/>
                <a:gd name="T11" fmla="*/ 0 60000 65536"/>
                <a:gd name="T12" fmla="*/ 0 60000 65536"/>
                <a:gd name="T13" fmla="*/ 0 60000 65536"/>
                <a:gd name="T14" fmla="*/ 0 60000 65536"/>
                <a:gd name="T15" fmla="*/ 0 w 178"/>
                <a:gd name="T16" fmla="*/ 0 h 183"/>
                <a:gd name="T17" fmla="*/ 178 w 178"/>
                <a:gd name="T18" fmla="*/ 183 h 183"/>
              </a:gdLst>
              <a:ahLst/>
              <a:cxnLst>
                <a:cxn ang="T10">
                  <a:pos x="T0" y="T1"/>
                </a:cxn>
                <a:cxn ang="T11">
                  <a:pos x="T2" y="T3"/>
                </a:cxn>
                <a:cxn ang="T12">
                  <a:pos x="T4" y="T5"/>
                </a:cxn>
                <a:cxn ang="T13">
                  <a:pos x="T6" y="T7"/>
                </a:cxn>
                <a:cxn ang="T14">
                  <a:pos x="T8" y="T9"/>
                </a:cxn>
              </a:cxnLst>
              <a:rect l="T15" t="T16" r="T17" b="T18"/>
              <a:pathLst>
                <a:path w="178" h="183">
                  <a:moveTo>
                    <a:pt x="177" y="182"/>
                  </a:moveTo>
                  <a:lnTo>
                    <a:pt x="177" y="0"/>
                  </a:lnTo>
                  <a:lnTo>
                    <a:pt x="0" y="0"/>
                  </a:lnTo>
                  <a:lnTo>
                    <a:pt x="0" y="182"/>
                  </a:lnTo>
                  <a:lnTo>
                    <a:pt x="177"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78" name="Freeform 8">
              <a:extLst>
                <a:ext uri="{FF2B5EF4-FFF2-40B4-BE49-F238E27FC236}">
                  <a16:creationId xmlns:a16="http://schemas.microsoft.com/office/drawing/2014/main" id="{392D2CCB-5EFF-5609-9417-97F7F000B784}"/>
                </a:ext>
              </a:extLst>
            </p:cNvPr>
            <p:cNvSpPr>
              <a:spLocks/>
            </p:cNvSpPr>
            <p:nvPr/>
          </p:nvSpPr>
          <p:spPr bwMode="auto">
            <a:xfrm>
              <a:off x="153" y="4849"/>
              <a:ext cx="162" cy="164"/>
            </a:xfrm>
            <a:custGeom>
              <a:avLst/>
              <a:gdLst>
                <a:gd name="T0" fmla="*/ 82 w 162"/>
                <a:gd name="T1" fmla="*/ 0 h 164"/>
                <a:gd name="T2" fmla="*/ 0 w 162"/>
                <a:gd name="T3" fmla="*/ 163 h 164"/>
                <a:gd name="T4" fmla="*/ 161 w 162"/>
                <a:gd name="T5" fmla="*/ 163 h 164"/>
                <a:gd name="T6" fmla="*/ 82 w 162"/>
                <a:gd name="T7" fmla="*/ 0 h 164"/>
                <a:gd name="T8" fmla="*/ 0 60000 65536"/>
                <a:gd name="T9" fmla="*/ 0 60000 65536"/>
                <a:gd name="T10" fmla="*/ 0 60000 65536"/>
                <a:gd name="T11" fmla="*/ 0 60000 65536"/>
                <a:gd name="T12" fmla="*/ 0 w 162"/>
                <a:gd name="T13" fmla="*/ 0 h 164"/>
                <a:gd name="T14" fmla="*/ 162 w 162"/>
                <a:gd name="T15" fmla="*/ 164 h 164"/>
              </a:gdLst>
              <a:ahLst/>
              <a:cxnLst>
                <a:cxn ang="T8">
                  <a:pos x="T0" y="T1"/>
                </a:cxn>
                <a:cxn ang="T9">
                  <a:pos x="T2" y="T3"/>
                </a:cxn>
                <a:cxn ang="T10">
                  <a:pos x="T4" y="T5"/>
                </a:cxn>
                <a:cxn ang="T11">
                  <a:pos x="T6" y="T7"/>
                </a:cxn>
              </a:cxnLst>
              <a:rect l="T12" t="T13" r="T14" b="T15"/>
              <a:pathLst>
                <a:path w="162" h="164">
                  <a:moveTo>
                    <a:pt x="82" y="0"/>
                  </a:moveTo>
                  <a:lnTo>
                    <a:pt x="0" y="163"/>
                  </a:lnTo>
                  <a:lnTo>
                    <a:pt x="161" y="163"/>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79" name="Freeform 9">
              <a:extLst>
                <a:ext uri="{FF2B5EF4-FFF2-40B4-BE49-F238E27FC236}">
                  <a16:creationId xmlns:a16="http://schemas.microsoft.com/office/drawing/2014/main" id="{26C1263D-DD6D-CDCF-5E16-CA384B0E9D96}"/>
                </a:ext>
              </a:extLst>
            </p:cNvPr>
            <p:cNvSpPr>
              <a:spLocks/>
            </p:cNvSpPr>
            <p:nvPr/>
          </p:nvSpPr>
          <p:spPr bwMode="auto">
            <a:xfrm>
              <a:off x="171" y="486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80" name="Freeform 10">
              <a:extLst>
                <a:ext uri="{FF2B5EF4-FFF2-40B4-BE49-F238E27FC236}">
                  <a16:creationId xmlns:a16="http://schemas.microsoft.com/office/drawing/2014/main" id="{3BB72350-EDE6-62D5-C464-C80DFF9899FB}"/>
                </a:ext>
              </a:extLst>
            </p:cNvPr>
            <p:cNvSpPr>
              <a:spLocks/>
            </p:cNvSpPr>
            <p:nvPr/>
          </p:nvSpPr>
          <p:spPr bwMode="auto">
            <a:xfrm>
              <a:off x="227" y="497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2781" name="Freeform 11">
              <a:extLst>
                <a:ext uri="{FF2B5EF4-FFF2-40B4-BE49-F238E27FC236}">
                  <a16:creationId xmlns:a16="http://schemas.microsoft.com/office/drawing/2014/main" id="{E024FCA3-3383-1ED1-0C68-C9E5D79BCE59}"/>
                </a:ext>
              </a:extLst>
            </p:cNvPr>
            <p:cNvSpPr>
              <a:spLocks/>
            </p:cNvSpPr>
            <p:nvPr/>
          </p:nvSpPr>
          <p:spPr bwMode="auto">
            <a:xfrm>
              <a:off x="227" y="489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32775" name="Rectangle 12">
            <a:extLst>
              <a:ext uri="{FF2B5EF4-FFF2-40B4-BE49-F238E27FC236}">
                <a16:creationId xmlns:a16="http://schemas.microsoft.com/office/drawing/2014/main" id="{B58A8E0E-53FC-670C-B9DF-76EC7E4A7839}"/>
              </a:ext>
            </a:extLst>
          </p:cNvPr>
          <p:cNvSpPr>
            <a:spLocks noChangeArrowheads="1"/>
          </p:cNvSpPr>
          <p:nvPr/>
        </p:nvSpPr>
        <p:spPr bwMode="auto">
          <a:xfrm>
            <a:off x="649288" y="6731000"/>
            <a:ext cx="5594350" cy="9747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2776" name="Rectangle 13">
            <a:extLst>
              <a:ext uri="{FF2B5EF4-FFF2-40B4-BE49-F238E27FC236}">
                <a16:creationId xmlns:a16="http://schemas.microsoft.com/office/drawing/2014/main" id="{DBAE2D18-3A38-636D-D932-A289DA5327C9}"/>
              </a:ext>
            </a:extLst>
          </p:cNvPr>
          <p:cNvSpPr>
            <a:spLocks noChangeArrowheads="1"/>
          </p:cNvSpPr>
          <p:nvPr/>
        </p:nvSpPr>
        <p:spPr bwMode="auto">
          <a:xfrm>
            <a:off x="192088" y="6724650"/>
            <a:ext cx="36591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tabLst>
                <a:tab pos="2376488" algn="r"/>
              </a:tabLst>
              <a:defRPr sz="1200">
                <a:solidFill>
                  <a:schemeClr val="tx1"/>
                </a:solidFill>
                <a:latin typeface="Arial" panose="020B0604020202020204" pitchFamily="34" charset="0"/>
              </a:defRPr>
            </a:lvl1pPr>
            <a:lvl2pPr marL="450850" defTabSz="881063">
              <a:spcBef>
                <a:spcPct val="30000"/>
              </a:spcBef>
              <a:tabLst>
                <a:tab pos="2376488" algn="r"/>
              </a:tabLst>
              <a:defRPr sz="1200">
                <a:solidFill>
                  <a:schemeClr val="tx1"/>
                </a:solidFill>
                <a:latin typeface="Arial" panose="020B0604020202020204" pitchFamily="34" charset="0"/>
              </a:defRPr>
            </a:lvl2pPr>
            <a:lvl3pPr marL="1143000" indent="-228600" defTabSz="881063">
              <a:spcBef>
                <a:spcPct val="30000"/>
              </a:spcBef>
              <a:tabLst>
                <a:tab pos="2376488" algn="r"/>
              </a:tabLst>
              <a:defRPr sz="1200">
                <a:solidFill>
                  <a:schemeClr val="tx1"/>
                </a:solidFill>
                <a:latin typeface="Arial" panose="020B0604020202020204" pitchFamily="34" charset="0"/>
              </a:defRPr>
            </a:lvl3pPr>
            <a:lvl4pPr marL="1600200" indent="-228600" defTabSz="881063">
              <a:spcBef>
                <a:spcPct val="30000"/>
              </a:spcBef>
              <a:tabLst>
                <a:tab pos="2376488" algn="r"/>
              </a:tabLst>
              <a:defRPr sz="1200">
                <a:solidFill>
                  <a:schemeClr val="tx1"/>
                </a:solidFill>
                <a:latin typeface="Arial" panose="020B0604020202020204" pitchFamily="34" charset="0"/>
              </a:defRPr>
            </a:lvl4pPr>
            <a:lvl5pPr marL="2057400" indent="-228600" defTabSz="881063">
              <a:spcBef>
                <a:spcPct val="30000"/>
              </a:spcBef>
              <a:tabLst>
                <a:tab pos="2376488" algn="r"/>
              </a:tabLst>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tabLst>
                <a:tab pos="2376488" algn="r"/>
              </a:tabLst>
              <a:defRPr sz="1200">
                <a:solidFill>
                  <a:schemeClr val="tx1"/>
                </a:solidFill>
                <a:latin typeface="Arial" panose="020B0604020202020204" pitchFamily="34" charset="0"/>
              </a:defRPr>
            </a:lvl9pPr>
          </a:lstStyle>
          <a:p>
            <a:pPr lvl="1">
              <a:spcBef>
                <a:spcPct val="0"/>
              </a:spcBef>
            </a:pPr>
            <a:r>
              <a:rPr lang="en-US" altLang="en-US" sz="1100">
                <a:latin typeface="Courier New" panose="02070309020205020404" pitchFamily="49" charset="0"/>
              </a:rPr>
              <a:t>    DEPTNO	 COUNT(ENAME)</a:t>
            </a:r>
          </a:p>
          <a:p>
            <a:pPr lvl="1">
              <a:spcBef>
                <a:spcPct val="0"/>
              </a:spcBef>
            </a:pPr>
            <a:r>
              <a:rPr lang="en-US" altLang="en-US" sz="1100">
                <a:latin typeface="Courier New" panose="02070309020205020404" pitchFamily="49" charset="0"/>
              </a:rPr>
              <a:t>---------- ------------</a:t>
            </a:r>
          </a:p>
          <a:p>
            <a:pPr lvl="1">
              <a:spcBef>
                <a:spcPct val="0"/>
              </a:spcBef>
            </a:pPr>
            <a:r>
              <a:rPr lang="en-US" altLang="en-US" sz="1100">
                <a:latin typeface="Courier New" panose="02070309020205020404" pitchFamily="49" charset="0"/>
              </a:rPr>
              <a:t>        10	      3</a:t>
            </a:r>
          </a:p>
          <a:p>
            <a:pPr lvl="1">
              <a:spcBef>
                <a:spcPct val="0"/>
              </a:spcBef>
            </a:pPr>
            <a:r>
              <a:rPr lang="en-US" altLang="en-US" sz="1100">
                <a:latin typeface="Courier New" panose="02070309020205020404" pitchFamily="49" charset="0"/>
              </a:rPr>
              <a:t>        20	      5</a:t>
            </a:r>
          </a:p>
          <a:p>
            <a:pPr lvl="1">
              <a:spcBef>
                <a:spcPct val="0"/>
              </a:spcBef>
            </a:pPr>
            <a:r>
              <a:rPr lang="en-US" altLang="en-US" sz="1100">
                <a:latin typeface="Courier New" panose="02070309020205020404" pitchFamily="49" charset="0"/>
              </a:rPr>
              <a:t>        30 	      6</a:t>
            </a:r>
          </a:p>
        </p:txBody>
      </p:sp>
    </p:spTree>
    <p:extLst>
      <p:ext uri="{BB962C8B-B14F-4D97-AF65-F5344CB8AC3E}">
        <p14:creationId xmlns:p14="http://schemas.microsoft.com/office/powerpoint/2010/main" val="1438291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35DD56D-453D-B3A0-8A0E-558EBFCF56F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Additional Search Conditions</a:t>
            </a:r>
            <a:endParaRPr lang="en-US" altLang="en-US">
              <a:latin typeface="Times" panose="02020603050405020304" pitchFamily="18" charset="0"/>
            </a:endParaRPr>
          </a:p>
          <a:p>
            <a:pPr marL="114300" lvl="1" defTabSz="384175"/>
            <a:r>
              <a:rPr lang="en-US" altLang="en-US">
                <a:latin typeface="Arial" panose="020B0604020202020204" pitchFamily="34" charset="0"/>
              </a:rPr>
              <a:t>In addition to the join, you may have criteria for your WHERE clause. For example, to display employee King’s employee number, name, department number, and department location, you need an additional condition in the WHERE clause. </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endParaRPr lang="en-US" altLang="en-US" b="1">
              <a:latin typeface="Times New Roman" panose="02020603050405020304" pitchFamily="18" charset="0"/>
            </a:endParaRPr>
          </a:p>
        </p:txBody>
      </p:sp>
      <p:sp>
        <p:nvSpPr>
          <p:cNvPr id="36867" name="Rectangle 3">
            <a:extLst>
              <a:ext uri="{FF2B5EF4-FFF2-40B4-BE49-F238E27FC236}">
                <a16:creationId xmlns:a16="http://schemas.microsoft.com/office/drawing/2014/main" id="{76B893B8-AD38-9A28-6628-54AE782309C3}"/>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36868" name="Rectangle 4">
            <a:extLst>
              <a:ext uri="{FF2B5EF4-FFF2-40B4-BE49-F238E27FC236}">
                <a16:creationId xmlns:a16="http://schemas.microsoft.com/office/drawing/2014/main" id="{BEC4E058-2CB3-B249-883F-DAD95358FE70}"/>
              </a:ext>
            </a:extLst>
          </p:cNvPr>
          <p:cNvSpPr>
            <a:spLocks noChangeArrowheads="1"/>
          </p:cNvSpPr>
          <p:nvPr/>
        </p:nvSpPr>
        <p:spPr bwMode="auto">
          <a:xfrm>
            <a:off x="622300" y="5678488"/>
            <a:ext cx="5567363" cy="8080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empno, ename, emp.deptno, loc</a:t>
            </a:r>
          </a:p>
          <a:p>
            <a:pPr>
              <a:spcBef>
                <a:spcPct val="0"/>
              </a:spcBef>
            </a:pPr>
            <a:r>
              <a:rPr lang="en-US" altLang="en-US" sz="1100" b="1">
                <a:latin typeface="Courier New" panose="02070309020205020404" pitchFamily="49" charset="0"/>
              </a:rPr>
              <a:t>  2  FROM	 emp, dept</a:t>
            </a:r>
          </a:p>
          <a:p>
            <a:pPr>
              <a:spcBef>
                <a:spcPct val="0"/>
              </a:spcBef>
            </a:pPr>
            <a:r>
              <a:rPr lang="en-US" altLang="en-US" sz="1100" b="1">
                <a:latin typeface="Courier New" panose="02070309020205020404" pitchFamily="49" charset="0"/>
              </a:rPr>
              <a:t>  3  WHERE	 emp.deptno = dept.deptno</a:t>
            </a:r>
          </a:p>
          <a:p>
            <a:pPr>
              <a:spcBef>
                <a:spcPct val="0"/>
              </a:spcBef>
            </a:pPr>
            <a:r>
              <a:rPr lang="en-US" altLang="en-US" sz="1100" b="1">
                <a:latin typeface="Courier New" panose="02070309020205020404" pitchFamily="49" charset="0"/>
              </a:rPr>
              <a:t>  4  AND	 INITCAP(ename) = 'King';</a:t>
            </a:r>
          </a:p>
          <a:p>
            <a:pPr>
              <a:spcBef>
                <a:spcPct val="0"/>
              </a:spcBef>
            </a:pPr>
            <a:endParaRPr lang="en-US" altLang="en-US" sz="1100" b="1">
              <a:latin typeface="Courier New" panose="02070309020205020404" pitchFamily="49" charset="0"/>
            </a:endParaRP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a:t>
            </a:r>
          </a:p>
        </p:txBody>
      </p:sp>
      <p:sp>
        <p:nvSpPr>
          <p:cNvPr id="36869" name="Rectangle 5">
            <a:extLst>
              <a:ext uri="{FF2B5EF4-FFF2-40B4-BE49-F238E27FC236}">
                <a16:creationId xmlns:a16="http://schemas.microsoft.com/office/drawing/2014/main" id="{58F7C05F-9216-CA03-6803-1DF8013C5AA4}"/>
              </a:ext>
            </a:extLst>
          </p:cNvPr>
          <p:cNvSpPr>
            <a:spLocks noChangeArrowheads="1"/>
          </p:cNvSpPr>
          <p:nvPr/>
        </p:nvSpPr>
        <p:spPr bwMode="auto">
          <a:xfrm>
            <a:off x="622300" y="6605588"/>
            <a:ext cx="5567363" cy="6286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    EMPNO ENAME         DEPTNO LOC</a:t>
            </a:r>
          </a:p>
          <a:p>
            <a:pPr>
              <a:spcBef>
                <a:spcPct val="0"/>
              </a:spcBef>
            </a:pPr>
            <a:r>
              <a:rPr lang="en-US" altLang="en-US" sz="1100">
                <a:latin typeface="Courier New" panose="02070309020205020404" pitchFamily="49" charset="0"/>
              </a:rPr>
              <a:t>--------- ---------- --------- -------------</a:t>
            </a:r>
          </a:p>
          <a:p>
            <a:pPr>
              <a:spcBef>
                <a:spcPct val="0"/>
              </a:spcBef>
            </a:pPr>
            <a:r>
              <a:rPr lang="en-US" altLang="en-US" sz="1100">
                <a:latin typeface="Courier New" panose="02070309020205020404" pitchFamily="49" charset="0"/>
              </a:rPr>
              <a:t>     7839 KING              10 NEW YORK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1AC96F6-5ED9-F20C-1DA9-C242749F84B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a:t>
            </a:r>
            <a:endParaRPr lang="en-US" altLang="en-US">
              <a:latin typeface="Times" panose="02020603050405020304" pitchFamily="18" charset="0"/>
            </a:endParaRPr>
          </a:p>
          <a:p>
            <a:pPr marL="114300" lvl="1" defTabSz="384175"/>
            <a:r>
              <a:rPr lang="en-US" altLang="en-US">
                <a:latin typeface="Arial" panose="020B0604020202020204" pitchFamily="34" charset="0"/>
              </a:rPr>
              <a:t>If a row does not satisfy a join condition, the row will not appear in the query result. For example, in the equijoin condition of EMP and DEPT tables, department OPERATIONS does not appear because no one works in that department.</a:t>
            </a:r>
          </a:p>
        </p:txBody>
      </p:sp>
      <p:sp>
        <p:nvSpPr>
          <p:cNvPr id="38915" name="Rectangle 3">
            <a:extLst>
              <a:ext uri="{FF2B5EF4-FFF2-40B4-BE49-F238E27FC236}">
                <a16:creationId xmlns:a16="http://schemas.microsoft.com/office/drawing/2014/main" id="{B1584B75-ADB8-BE5B-095A-8C6734E1A8A7}"/>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38916" name="Rectangle 4">
            <a:extLst>
              <a:ext uri="{FF2B5EF4-FFF2-40B4-BE49-F238E27FC236}">
                <a16:creationId xmlns:a16="http://schemas.microsoft.com/office/drawing/2014/main" id="{142C47D1-C9C3-5627-A43E-CC5EA07D40FA}"/>
              </a:ext>
            </a:extLst>
          </p:cNvPr>
          <p:cNvSpPr>
            <a:spLocks noChangeArrowheads="1"/>
          </p:cNvSpPr>
          <p:nvPr/>
        </p:nvSpPr>
        <p:spPr bwMode="auto">
          <a:xfrm>
            <a:off x="619125" y="5678488"/>
            <a:ext cx="5665788" cy="6127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e.ename, e.deptno, d.dname</a:t>
            </a:r>
          </a:p>
          <a:p>
            <a:pPr>
              <a:spcBef>
                <a:spcPct val="0"/>
              </a:spcBef>
            </a:pPr>
            <a:r>
              <a:rPr lang="en-US" altLang="en-US" sz="1100" b="1">
                <a:latin typeface="Courier New" panose="02070309020205020404" pitchFamily="49" charset="0"/>
              </a:rPr>
              <a:t>  2  FROM   emp e, dept d</a:t>
            </a:r>
          </a:p>
          <a:p>
            <a:pPr>
              <a:spcBef>
                <a:spcPct val="0"/>
              </a:spcBef>
            </a:pPr>
            <a:r>
              <a:rPr lang="en-US" altLang="en-US" sz="1100" b="1">
                <a:latin typeface="Courier New" panose="02070309020205020404" pitchFamily="49" charset="0"/>
              </a:rPr>
              <a:t>  3  WHERE  e.deptno = d.deptno;</a:t>
            </a:r>
          </a:p>
        </p:txBody>
      </p:sp>
      <p:sp>
        <p:nvSpPr>
          <p:cNvPr id="38917" name="Rectangle 5">
            <a:extLst>
              <a:ext uri="{FF2B5EF4-FFF2-40B4-BE49-F238E27FC236}">
                <a16:creationId xmlns:a16="http://schemas.microsoft.com/office/drawing/2014/main" id="{FA301702-774B-51CB-587D-C896AE12E6BC}"/>
              </a:ext>
            </a:extLst>
          </p:cNvPr>
          <p:cNvSpPr>
            <a:spLocks noChangeArrowheads="1"/>
          </p:cNvSpPr>
          <p:nvPr/>
        </p:nvSpPr>
        <p:spPr bwMode="auto">
          <a:xfrm>
            <a:off x="619125" y="6418263"/>
            <a:ext cx="5665788" cy="21240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ENAME         DEPTNO DNAME</a:t>
            </a:r>
          </a:p>
          <a:p>
            <a:pPr>
              <a:spcBef>
                <a:spcPct val="0"/>
              </a:spcBef>
            </a:pPr>
            <a:r>
              <a:rPr lang="en-US" altLang="en-US" sz="1100">
                <a:latin typeface="Courier New" panose="02070309020205020404" pitchFamily="49" charset="0"/>
              </a:rPr>
              <a:t>---------- --------- -------------</a:t>
            </a:r>
          </a:p>
          <a:p>
            <a:pPr>
              <a:spcBef>
                <a:spcPct val="0"/>
              </a:spcBef>
            </a:pPr>
            <a:r>
              <a:rPr lang="en-US" altLang="en-US" sz="1100">
                <a:latin typeface="Courier New" panose="02070309020205020404" pitchFamily="49" charset="0"/>
              </a:rPr>
              <a:t>KING              10 ACCOUNTING</a:t>
            </a:r>
          </a:p>
          <a:p>
            <a:pPr>
              <a:spcBef>
                <a:spcPct val="0"/>
              </a:spcBef>
            </a:pPr>
            <a:r>
              <a:rPr lang="en-US" altLang="en-US" sz="1100">
                <a:latin typeface="Courier New" panose="02070309020205020404" pitchFamily="49" charset="0"/>
              </a:rPr>
              <a:t>BLAKE             30 SALES</a:t>
            </a:r>
          </a:p>
          <a:p>
            <a:pPr>
              <a:spcBef>
                <a:spcPct val="0"/>
              </a:spcBef>
            </a:pPr>
            <a:r>
              <a:rPr lang="en-US" altLang="en-US" sz="1100">
                <a:latin typeface="Courier New" panose="02070309020205020404" pitchFamily="49" charset="0"/>
              </a:rPr>
              <a:t>CLARK             10 ACCOUNTING</a:t>
            </a:r>
          </a:p>
          <a:p>
            <a:pPr>
              <a:spcBef>
                <a:spcPct val="0"/>
              </a:spcBef>
            </a:pPr>
            <a:r>
              <a:rPr lang="en-US" altLang="en-US" sz="1100">
                <a:latin typeface="Courier New" panose="02070309020205020404" pitchFamily="49" charset="0"/>
              </a:rPr>
              <a:t>JONES             20 RESEARCH</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ALLEN             30 SALES</a:t>
            </a:r>
          </a:p>
          <a:p>
            <a:pPr>
              <a:spcBef>
                <a:spcPct val="0"/>
              </a:spcBef>
            </a:pPr>
            <a:r>
              <a:rPr lang="en-US" altLang="en-US" sz="1100">
                <a:latin typeface="Courier New" panose="02070309020205020404" pitchFamily="49" charset="0"/>
              </a:rPr>
              <a:t>TURNER            30 SALES</a:t>
            </a:r>
          </a:p>
          <a:p>
            <a:pPr>
              <a:spcBef>
                <a:spcPct val="0"/>
              </a:spcBef>
            </a:pPr>
            <a:r>
              <a:rPr lang="en-US" altLang="en-US" sz="1100">
                <a:latin typeface="Courier New" panose="02070309020205020404" pitchFamily="49" charset="0"/>
              </a:rPr>
              <a:t>JAMES             30 SALES</a:t>
            </a:r>
          </a:p>
          <a:p>
            <a:pPr>
              <a:spcBef>
                <a:spcPct val="0"/>
              </a:spcBef>
            </a:pP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14 rows selected.</a:t>
            </a:r>
          </a:p>
          <a:p>
            <a:pPr>
              <a:spcBef>
                <a:spcPct val="0"/>
              </a:spcBef>
            </a:pPr>
            <a:endParaRPr lang="en-US" altLang="en-US" sz="1100">
              <a:latin typeface="Courier New" panose="02070309020205020404" pitchFamily="49"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94735B5-3623-9E2C-D0E4-FC2357A65E1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a:t>
            </a:r>
          </a:p>
          <a:p>
            <a:pPr marL="114300" lvl="1" defTabSz="384175"/>
            <a:r>
              <a:rPr lang="en-US" altLang="en-US">
                <a:latin typeface="Arial" panose="020B0604020202020204" pitchFamily="34" charset="0"/>
              </a:rPr>
              <a:t>The missing row(s) can be returned if an </a:t>
            </a:r>
            <a:r>
              <a:rPr lang="en-US" altLang="en-US" i="1">
                <a:solidFill>
                  <a:srgbClr val="FC0128"/>
                </a:solidFill>
                <a:latin typeface="Arial" panose="020B0604020202020204" pitchFamily="34" charset="0"/>
              </a:rPr>
              <a:t>outer join</a:t>
            </a:r>
            <a:r>
              <a:rPr lang="en-US" altLang="en-US">
                <a:solidFill>
                  <a:srgbClr val="FC0128"/>
                </a:solidFill>
                <a:latin typeface="Arial" panose="020B0604020202020204" pitchFamily="34" charset="0"/>
              </a:rPr>
              <a:t> </a:t>
            </a:r>
            <a:r>
              <a:rPr lang="en-US" altLang="en-US">
                <a:latin typeface="Arial" panose="020B0604020202020204" pitchFamily="34" charset="0"/>
              </a:rPr>
              <a:t>operator is used in the join condition. The operator is a plus sign enclosed in parentheses </a:t>
            </a:r>
            <a:r>
              <a:rPr lang="en-US" altLang="en-US">
                <a:solidFill>
                  <a:srgbClr val="FC0128"/>
                </a:solidFill>
                <a:latin typeface="Arial" panose="020B0604020202020204" pitchFamily="34" charset="0"/>
              </a:rPr>
              <a:t>(+),</a:t>
            </a:r>
            <a:r>
              <a:rPr lang="en-US" altLang="en-US">
                <a:latin typeface="Arial" panose="020B0604020202020204" pitchFamily="34" charset="0"/>
              </a:rPr>
              <a:t> and it is </a:t>
            </a:r>
            <a:r>
              <a:rPr lang="en-US" altLang="en-US" i="1">
                <a:latin typeface="Arial" panose="020B0604020202020204" pitchFamily="34" charset="0"/>
              </a:rPr>
              <a:t>placed on the </a:t>
            </a:r>
            <a:r>
              <a:rPr lang="en-US" altLang="en-US">
                <a:latin typeface="Arial" panose="020B0604020202020204" pitchFamily="34" charset="0"/>
              </a:rPr>
              <a:t>“</a:t>
            </a:r>
            <a:r>
              <a:rPr lang="en-US" altLang="en-US" i="1">
                <a:latin typeface="Arial" panose="020B0604020202020204" pitchFamily="34" charset="0"/>
              </a:rPr>
              <a:t>side</a:t>
            </a:r>
            <a:r>
              <a:rPr lang="en-US" altLang="en-US">
                <a:latin typeface="Arial" panose="020B0604020202020204" pitchFamily="34" charset="0"/>
              </a:rPr>
              <a:t>” </a:t>
            </a:r>
            <a:r>
              <a:rPr lang="en-US" altLang="en-US" i="1">
                <a:latin typeface="Arial" panose="020B0604020202020204" pitchFamily="34" charset="0"/>
              </a:rPr>
              <a:t>of the join that is deficient in information</a:t>
            </a:r>
            <a:r>
              <a:rPr lang="en-US" altLang="en-US">
                <a:latin typeface="Arial" panose="020B0604020202020204" pitchFamily="34" charset="0"/>
              </a:rPr>
              <a:t>. This operator has the effect of creating one or more null rows, to which one or more rows from the nondeficient table can be joined.</a:t>
            </a:r>
          </a:p>
          <a:p>
            <a:pPr marL="114300" lvl="1" defTabSz="384175"/>
            <a:r>
              <a:rPr lang="en-US" altLang="en-US">
                <a:latin typeface="Arial" panose="020B0604020202020204" pitchFamily="34" charset="0"/>
              </a:rPr>
              <a:t>In the syntax:</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table1.column =</a:t>
            </a:r>
            <a:r>
              <a:rPr lang="en-US" altLang="en-US">
                <a:latin typeface="Times" panose="02020603050405020304" pitchFamily="18" charset="0"/>
              </a:rPr>
              <a:t>		is the condition that joins (or relates) the tables together. 		</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table2.column</a:t>
            </a:r>
            <a:r>
              <a:rPr lang="en-US" altLang="en-US">
                <a:latin typeface="Times" panose="02020603050405020304" pitchFamily="18" charset="0"/>
              </a:rPr>
              <a:t> (+)		is the outer join symbol, which can be placed on either side of the</a:t>
            </a:r>
            <a:br>
              <a:rPr lang="en-US" altLang="en-US">
                <a:latin typeface="Times" panose="02020603050405020304" pitchFamily="18" charset="0"/>
              </a:rPr>
            </a:br>
            <a:r>
              <a:rPr lang="en-US" altLang="en-US">
                <a:latin typeface="Times" panose="02020603050405020304" pitchFamily="18" charset="0"/>
              </a:rPr>
              <a:t>					WHERE clause condition, but not on both sides (Place the outer</a:t>
            </a:r>
            <a:br>
              <a:rPr lang="en-US" altLang="en-US">
                <a:latin typeface="Times" panose="02020603050405020304" pitchFamily="18" charset="0"/>
              </a:rPr>
            </a:br>
            <a:r>
              <a:rPr lang="en-US" altLang="en-US">
                <a:latin typeface="Times" panose="02020603050405020304" pitchFamily="18" charset="0"/>
              </a:rPr>
              <a:t>					join symbol following the name of the column in the table without 						the matching rows.)</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l4ejoin.sql</a:t>
            </a:r>
          </a:p>
          <a:p>
            <a:pPr marL="114300" lvl="1" defTabSz="384175"/>
            <a:r>
              <a:rPr lang="en-US" altLang="en-US">
                <a:solidFill>
                  <a:schemeClr val="accent2"/>
                </a:solidFill>
                <a:latin typeface="Arial" panose="020B0604020202020204" pitchFamily="34" charset="0"/>
              </a:rPr>
              <a:t>Purpose: To illustrate an equijoin leading to an outer join.</a:t>
            </a:r>
            <a:endParaRPr lang="en-US" altLang="en-US" i="1">
              <a:latin typeface="Arial" panose="020B0604020202020204" pitchFamily="34" charset="0"/>
            </a:endParaRPr>
          </a:p>
          <a:p>
            <a:pPr defTabSz="384175"/>
            <a:endParaRPr lang="en-US" altLang="en-US">
              <a:latin typeface="Arial" panose="020B0604020202020204" pitchFamily="34" charset="0"/>
            </a:endParaRPr>
          </a:p>
          <a:p>
            <a:pPr defTabSz="384175"/>
            <a:endParaRPr lang="en-US" altLang="en-US">
              <a:latin typeface="Arial" panose="020B0604020202020204" pitchFamily="34" charset="0"/>
            </a:endParaRPr>
          </a:p>
        </p:txBody>
      </p:sp>
      <p:sp>
        <p:nvSpPr>
          <p:cNvPr id="40963" name="Rectangle 3">
            <a:extLst>
              <a:ext uri="{FF2B5EF4-FFF2-40B4-BE49-F238E27FC236}">
                <a16:creationId xmlns:a16="http://schemas.microsoft.com/office/drawing/2014/main" id="{71B21BFB-9F18-40E2-D143-DDB60465D6B8}"/>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F3C956B-2EEF-28DE-CB83-1C4BBB32D57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a:t>
            </a:r>
          </a:p>
          <a:p>
            <a:pPr marL="114300" lvl="1" defTabSz="384175"/>
            <a:r>
              <a:rPr lang="en-US" altLang="en-US">
                <a:latin typeface="Arial" panose="020B0604020202020204" pitchFamily="34" charset="0"/>
              </a:rPr>
              <a:t>The missing row(s) can be returned if an </a:t>
            </a:r>
            <a:r>
              <a:rPr lang="en-US" altLang="en-US" i="1">
                <a:solidFill>
                  <a:srgbClr val="FC0128"/>
                </a:solidFill>
                <a:latin typeface="Arial" panose="020B0604020202020204" pitchFamily="34" charset="0"/>
              </a:rPr>
              <a:t>outer join</a:t>
            </a:r>
            <a:r>
              <a:rPr lang="en-US" altLang="en-US">
                <a:solidFill>
                  <a:srgbClr val="FC0128"/>
                </a:solidFill>
                <a:latin typeface="Arial" panose="020B0604020202020204" pitchFamily="34" charset="0"/>
              </a:rPr>
              <a:t> </a:t>
            </a:r>
            <a:r>
              <a:rPr lang="en-US" altLang="en-US">
                <a:latin typeface="Arial" panose="020B0604020202020204" pitchFamily="34" charset="0"/>
              </a:rPr>
              <a:t>operator is used in the join condition. The operator is a plus sign enclosed in parentheses </a:t>
            </a:r>
            <a:r>
              <a:rPr lang="en-US" altLang="en-US">
                <a:solidFill>
                  <a:srgbClr val="FC0128"/>
                </a:solidFill>
                <a:latin typeface="Arial" panose="020B0604020202020204" pitchFamily="34" charset="0"/>
              </a:rPr>
              <a:t>(+),</a:t>
            </a:r>
            <a:r>
              <a:rPr lang="en-US" altLang="en-US">
                <a:latin typeface="Arial" panose="020B0604020202020204" pitchFamily="34" charset="0"/>
              </a:rPr>
              <a:t> and it is </a:t>
            </a:r>
            <a:r>
              <a:rPr lang="en-US" altLang="en-US" i="1">
                <a:latin typeface="Arial" panose="020B0604020202020204" pitchFamily="34" charset="0"/>
              </a:rPr>
              <a:t>placed on the </a:t>
            </a:r>
            <a:r>
              <a:rPr lang="en-US" altLang="en-US">
                <a:latin typeface="Arial" panose="020B0604020202020204" pitchFamily="34" charset="0"/>
              </a:rPr>
              <a:t>“</a:t>
            </a:r>
            <a:r>
              <a:rPr lang="en-US" altLang="en-US" i="1">
                <a:latin typeface="Arial" panose="020B0604020202020204" pitchFamily="34" charset="0"/>
              </a:rPr>
              <a:t>side</a:t>
            </a:r>
            <a:r>
              <a:rPr lang="en-US" altLang="en-US">
                <a:latin typeface="Arial" panose="020B0604020202020204" pitchFamily="34" charset="0"/>
              </a:rPr>
              <a:t>” </a:t>
            </a:r>
            <a:r>
              <a:rPr lang="en-US" altLang="en-US" i="1">
                <a:latin typeface="Arial" panose="020B0604020202020204" pitchFamily="34" charset="0"/>
              </a:rPr>
              <a:t>of the join that is deficient in information</a:t>
            </a:r>
            <a:r>
              <a:rPr lang="en-US" altLang="en-US">
                <a:latin typeface="Arial" panose="020B0604020202020204" pitchFamily="34" charset="0"/>
              </a:rPr>
              <a:t>. This operator has the effect of creating one or more null rows, to which one or more rows from the nondeficient table can be joined.</a:t>
            </a:r>
          </a:p>
          <a:p>
            <a:pPr marL="114300" lvl="1" defTabSz="384175"/>
            <a:r>
              <a:rPr lang="en-US" altLang="en-US">
                <a:latin typeface="Arial" panose="020B0604020202020204" pitchFamily="34" charset="0"/>
              </a:rPr>
              <a:t>In the syntax:</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table1.column =</a:t>
            </a:r>
            <a:r>
              <a:rPr lang="en-US" altLang="en-US">
                <a:latin typeface="Times" panose="02020603050405020304" pitchFamily="18" charset="0"/>
              </a:rPr>
              <a:t>		is the condition that joins (or relates) the tables together. 		</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table2.column</a:t>
            </a:r>
            <a:r>
              <a:rPr lang="en-US" altLang="en-US">
                <a:latin typeface="Times" panose="02020603050405020304" pitchFamily="18" charset="0"/>
              </a:rPr>
              <a:t> (+)		is the outer join symbol, which can be placed on either side of the</a:t>
            </a:r>
            <a:br>
              <a:rPr lang="en-US" altLang="en-US">
                <a:latin typeface="Times" panose="02020603050405020304" pitchFamily="18" charset="0"/>
              </a:rPr>
            </a:br>
            <a:r>
              <a:rPr lang="en-US" altLang="en-US">
                <a:latin typeface="Times" panose="02020603050405020304" pitchFamily="18" charset="0"/>
              </a:rPr>
              <a:t>					WHERE clause condition, but not on both sides (Place the outer</a:t>
            </a:r>
            <a:br>
              <a:rPr lang="en-US" altLang="en-US">
                <a:latin typeface="Times" panose="02020603050405020304" pitchFamily="18" charset="0"/>
              </a:rPr>
            </a:br>
            <a:r>
              <a:rPr lang="en-US" altLang="en-US">
                <a:latin typeface="Times" panose="02020603050405020304" pitchFamily="18" charset="0"/>
              </a:rPr>
              <a:t>					join symbol following the name of the column in the table without 						the matching rows.)</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l4ejoin.sql</a:t>
            </a:r>
          </a:p>
          <a:p>
            <a:pPr marL="114300" lvl="1" defTabSz="384175"/>
            <a:r>
              <a:rPr lang="en-US" altLang="en-US">
                <a:solidFill>
                  <a:schemeClr val="accent2"/>
                </a:solidFill>
                <a:latin typeface="Arial" panose="020B0604020202020204" pitchFamily="34" charset="0"/>
              </a:rPr>
              <a:t>Purpose: To illustrate an equijoin leading to an outer join.</a:t>
            </a:r>
            <a:endParaRPr lang="en-US" altLang="en-US" i="1">
              <a:latin typeface="Arial" panose="020B0604020202020204" pitchFamily="34" charset="0"/>
            </a:endParaRPr>
          </a:p>
          <a:p>
            <a:pPr defTabSz="384175"/>
            <a:endParaRPr lang="en-US" altLang="en-US">
              <a:latin typeface="Arial" panose="020B0604020202020204" pitchFamily="34" charset="0"/>
            </a:endParaRPr>
          </a:p>
          <a:p>
            <a:pPr defTabSz="384175"/>
            <a:endParaRPr lang="en-US" altLang="en-US">
              <a:latin typeface="Arial" panose="020B0604020202020204" pitchFamily="34" charset="0"/>
            </a:endParaRPr>
          </a:p>
        </p:txBody>
      </p:sp>
      <p:sp>
        <p:nvSpPr>
          <p:cNvPr id="43011" name="Rectangle 3">
            <a:extLst>
              <a:ext uri="{FF2B5EF4-FFF2-40B4-BE49-F238E27FC236}">
                <a16:creationId xmlns:a16="http://schemas.microsoft.com/office/drawing/2014/main" id="{4528DC3D-D14D-E96D-10D4-ABCC61256074}"/>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BD8B3B9-039E-1BFC-8802-9D48A08A330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a:t>
            </a:r>
          </a:p>
          <a:p>
            <a:pPr marL="114300" lvl="1" defTabSz="384175"/>
            <a:r>
              <a:rPr lang="en-US" altLang="en-US">
                <a:latin typeface="Arial" panose="020B0604020202020204" pitchFamily="34" charset="0"/>
              </a:rPr>
              <a:t>The missing row(s) can be returned if an </a:t>
            </a:r>
            <a:r>
              <a:rPr lang="en-US" altLang="en-US" i="1">
                <a:solidFill>
                  <a:srgbClr val="FC0128"/>
                </a:solidFill>
                <a:latin typeface="Arial" panose="020B0604020202020204" pitchFamily="34" charset="0"/>
              </a:rPr>
              <a:t>outer join</a:t>
            </a:r>
            <a:r>
              <a:rPr lang="en-US" altLang="en-US">
                <a:solidFill>
                  <a:srgbClr val="FC0128"/>
                </a:solidFill>
                <a:latin typeface="Arial" panose="020B0604020202020204" pitchFamily="34" charset="0"/>
              </a:rPr>
              <a:t> </a:t>
            </a:r>
            <a:r>
              <a:rPr lang="en-US" altLang="en-US">
                <a:latin typeface="Arial" panose="020B0604020202020204" pitchFamily="34" charset="0"/>
              </a:rPr>
              <a:t>operator is used in the join condition. The operator is a plus sign enclosed in parentheses </a:t>
            </a:r>
            <a:r>
              <a:rPr lang="en-US" altLang="en-US">
                <a:solidFill>
                  <a:srgbClr val="FC0128"/>
                </a:solidFill>
                <a:latin typeface="Arial" panose="020B0604020202020204" pitchFamily="34" charset="0"/>
              </a:rPr>
              <a:t>(+),</a:t>
            </a:r>
            <a:r>
              <a:rPr lang="en-US" altLang="en-US">
                <a:latin typeface="Arial" panose="020B0604020202020204" pitchFamily="34" charset="0"/>
              </a:rPr>
              <a:t> and it is </a:t>
            </a:r>
            <a:r>
              <a:rPr lang="en-US" altLang="en-US" i="1">
                <a:latin typeface="Arial" panose="020B0604020202020204" pitchFamily="34" charset="0"/>
              </a:rPr>
              <a:t>placed on the </a:t>
            </a:r>
            <a:r>
              <a:rPr lang="en-US" altLang="en-US">
                <a:latin typeface="Arial" panose="020B0604020202020204" pitchFamily="34" charset="0"/>
              </a:rPr>
              <a:t>“</a:t>
            </a:r>
            <a:r>
              <a:rPr lang="en-US" altLang="en-US" i="1">
                <a:latin typeface="Arial" panose="020B0604020202020204" pitchFamily="34" charset="0"/>
              </a:rPr>
              <a:t>side</a:t>
            </a:r>
            <a:r>
              <a:rPr lang="en-US" altLang="en-US">
                <a:latin typeface="Arial" panose="020B0604020202020204" pitchFamily="34" charset="0"/>
              </a:rPr>
              <a:t>” </a:t>
            </a:r>
            <a:r>
              <a:rPr lang="en-US" altLang="en-US" i="1">
                <a:latin typeface="Arial" panose="020B0604020202020204" pitchFamily="34" charset="0"/>
              </a:rPr>
              <a:t>of the join that is deficient in information</a:t>
            </a:r>
            <a:r>
              <a:rPr lang="en-US" altLang="en-US">
                <a:latin typeface="Arial" panose="020B0604020202020204" pitchFamily="34" charset="0"/>
              </a:rPr>
              <a:t>. This operator has the effect of creating one or more null rows, to which one or more rows from the nondeficient table can be joined.</a:t>
            </a:r>
          </a:p>
          <a:p>
            <a:pPr marL="114300" lvl="1" defTabSz="384175"/>
            <a:r>
              <a:rPr lang="en-US" altLang="en-US">
                <a:latin typeface="Arial" panose="020B0604020202020204" pitchFamily="34" charset="0"/>
              </a:rPr>
              <a:t>In the syntax:</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table1.column =</a:t>
            </a:r>
            <a:r>
              <a:rPr lang="en-US" altLang="en-US">
                <a:latin typeface="Times" panose="02020603050405020304" pitchFamily="18" charset="0"/>
              </a:rPr>
              <a:t>		is the condition that joins (or relates) the tables together. 		</a:t>
            </a:r>
          </a:p>
          <a:p>
            <a:pPr marL="114300" lvl="1" defTabSz="384175">
              <a:spcBef>
                <a:spcPct val="20000"/>
              </a:spcBef>
            </a:pPr>
            <a:r>
              <a:rPr lang="en-US" altLang="en-US">
                <a:latin typeface="Times" panose="02020603050405020304" pitchFamily="18" charset="0"/>
              </a:rPr>
              <a:t>	</a:t>
            </a:r>
            <a:r>
              <a:rPr lang="en-US" altLang="en-US" i="1">
                <a:latin typeface="Times" panose="02020603050405020304" pitchFamily="18" charset="0"/>
              </a:rPr>
              <a:t>table2.column</a:t>
            </a:r>
            <a:r>
              <a:rPr lang="en-US" altLang="en-US">
                <a:latin typeface="Times" panose="02020603050405020304" pitchFamily="18" charset="0"/>
              </a:rPr>
              <a:t> (+)		is the outer join symbol, which can be placed on either side of the</a:t>
            </a:r>
            <a:br>
              <a:rPr lang="en-US" altLang="en-US">
                <a:latin typeface="Times" panose="02020603050405020304" pitchFamily="18" charset="0"/>
              </a:rPr>
            </a:br>
            <a:r>
              <a:rPr lang="en-US" altLang="en-US">
                <a:latin typeface="Times" panose="02020603050405020304" pitchFamily="18" charset="0"/>
              </a:rPr>
              <a:t>					WHERE clause condition, but not on both sides (Place the outer</a:t>
            </a:r>
            <a:br>
              <a:rPr lang="en-US" altLang="en-US">
                <a:latin typeface="Times" panose="02020603050405020304" pitchFamily="18" charset="0"/>
              </a:rPr>
            </a:br>
            <a:r>
              <a:rPr lang="en-US" altLang="en-US">
                <a:latin typeface="Times" panose="02020603050405020304" pitchFamily="18" charset="0"/>
              </a:rPr>
              <a:t>					join symbol following the name of the column in the table without 						the matching rows.)</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l4ejoin.sql</a:t>
            </a:r>
          </a:p>
          <a:p>
            <a:pPr marL="114300" lvl="1" defTabSz="384175"/>
            <a:r>
              <a:rPr lang="en-US" altLang="en-US">
                <a:solidFill>
                  <a:schemeClr val="accent2"/>
                </a:solidFill>
                <a:latin typeface="Arial" panose="020B0604020202020204" pitchFamily="34" charset="0"/>
              </a:rPr>
              <a:t>Purpose: To illustrate an equijoin leading to an outer join.</a:t>
            </a:r>
            <a:endParaRPr lang="en-US" altLang="en-US" i="1">
              <a:latin typeface="Arial" panose="020B0604020202020204" pitchFamily="34" charset="0"/>
            </a:endParaRPr>
          </a:p>
          <a:p>
            <a:pPr defTabSz="384175"/>
            <a:endParaRPr lang="en-US" altLang="en-US">
              <a:latin typeface="Arial" panose="020B0604020202020204" pitchFamily="34" charset="0"/>
            </a:endParaRPr>
          </a:p>
          <a:p>
            <a:pPr defTabSz="384175"/>
            <a:endParaRPr lang="en-US" altLang="en-US">
              <a:latin typeface="Arial" panose="020B0604020202020204" pitchFamily="34" charset="0"/>
            </a:endParaRPr>
          </a:p>
        </p:txBody>
      </p:sp>
      <p:sp>
        <p:nvSpPr>
          <p:cNvPr id="45059" name="Rectangle 3">
            <a:extLst>
              <a:ext uri="{FF2B5EF4-FFF2-40B4-BE49-F238E27FC236}">
                <a16:creationId xmlns:a16="http://schemas.microsoft.com/office/drawing/2014/main" id="{189AE767-1BC7-42EC-1074-7DE6A24C45F1}"/>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1C1895D-5F67-1B97-D249-BFE7543BC6FD}"/>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7107" name="Rectangle 3">
            <a:extLst>
              <a:ext uri="{FF2B5EF4-FFF2-40B4-BE49-F238E27FC236}">
                <a16:creationId xmlns:a16="http://schemas.microsoft.com/office/drawing/2014/main" id="{0BCDFB65-C00B-6F05-C0DF-CED07074DFA2}"/>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7108" name="Rectangle 4">
            <a:extLst>
              <a:ext uri="{FF2B5EF4-FFF2-40B4-BE49-F238E27FC236}">
                <a16:creationId xmlns:a16="http://schemas.microsoft.com/office/drawing/2014/main" id="{93351EBA-98E8-93F9-7D58-76A8C5CFC08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 (continued)</a:t>
            </a:r>
          </a:p>
          <a:p>
            <a:pPr marL="114300" lvl="1" defTabSz="384175"/>
            <a:r>
              <a:rPr lang="en-US" altLang="en-US">
                <a:latin typeface="Arial" panose="020B0604020202020204" pitchFamily="34" charset="0"/>
              </a:rPr>
              <a:t>The slide example displays numbers and names for all the departments. The OPERATIONS department, which does not have any employees, is also displayed.</a:t>
            </a:r>
          </a:p>
          <a:p>
            <a:pPr defTabSz="384175"/>
            <a:r>
              <a:rPr lang="en-US" altLang="en-US">
                <a:latin typeface="Arial" panose="020B0604020202020204" pitchFamily="34" charset="0"/>
              </a:rPr>
              <a:t>Outer Join Restrictions</a:t>
            </a:r>
          </a:p>
          <a:p>
            <a:pPr marL="438150" lvl="2" indent="-209550" defTabSz="384175"/>
            <a:r>
              <a:rPr lang="en-US" altLang="en-US">
                <a:latin typeface="Arial" panose="020B0604020202020204" pitchFamily="34" charset="0"/>
              </a:rPr>
              <a:t>The outer join operator can appear on only </a:t>
            </a:r>
            <a:r>
              <a:rPr lang="en-US" altLang="en-US" i="1">
                <a:latin typeface="Arial" panose="020B0604020202020204" pitchFamily="34" charset="0"/>
              </a:rPr>
              <a:t>one</a:t>
            </a:r>
            <a:r>
              <a:rPr lang="en-US" altLang="en-US">
                <a:latin typeface="Arial" panose="020B0604020202020204" pitchFamily="34" charset="0"/>
              </a:rPr>
              <a:t> side of the expression—the side that has information missing. It returns those rows from one table that have no direct match in the other table.</a:t>
            </a:r>
          </a:p>
          <a:p>
            <a:pPr marL="438150" lvl="2" indent="-209550" defTabSz="384175"/>
            <a:r>
              <a:rPr lang="en-US" altLang="en-US">
                <a:latin typeface="Arial" panose="020B0604020202020204" pitchFamily="34" charset="0"/>
              </a:rPr>
              <a:t>A condition involving an outer join cannot use the IN operator or be linked to another condition by the OR operator.</a:t>
            </a: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l4ojoin.sql</a:t>
            </a:r>
          </a:p>
          <a:p>
            <a:pPr marL="114300" lvl="1" defTabSz="384175"/>
            <a:r>
              <a:rPr lang="en-US" altLang="en-US">
                <a:solidFill>
                  <a:schemeClr val="accent2"/>
                </a:solidFill>
                <a:latin typeface="Arial" panose="020B0604020202020204" pitchFamily="34" charset="0"/>
              </a:rPr>
              <a:t>Purpose: To illustrate an outer join.</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47109" name="Rectangle 5">
            <a:extLst>
              <a:ext uri="{FF2B5EF4-FFF2-40B4-BE49-F238E27FC236}">
                <a16:creationId xmlns:a16="http://schemas.microsoft.com/office/drawing/2014/main" id="{EE68A31B-891F-AE2C-2B6C-8D8FDA0F4419}"/>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C267AD7-F329-5CEB-0BAC-23FFAD9257D5}"/>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9155" name="Rectangle 3">
            <a:extLst>
              <a:ext uri="{FF2B5EF4-FFF2-40B4-BE49-F238E27FC236}">
                <a16:creationId xmlns:a16="http://schemas.microsoft.com/office/drawing/2014/main" id="{5656E357-A91C-21B2-30E2-14557FCF4967}"/>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9156" name="Rectangle 4">
            <a:extLst>
              <a:ext uri="{FF2B5EF4-FFF2-40B4-BE49-F238E27FC236}">
                <a16:creationId xmlns:a16="http://schemas.microsoft.com/office/drawing/2014/main" id="{C0A6D1EE-691E-11E1-AAEB-2450731BD41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Returning Records with No Direct Match with Outer Joins (continued)</a:t>
            </a:r>
          </a:p>
          <a:p>
            <a:pPr marL="114300" lvl="1" defTabSz="384175"/>
            <a:r>
              <a:rPr lang="en-US" altLang="en-US">
                <a:latin typeface="Arial" panose="020B0604020202020204" pitchFamily="34" charset="0"/>
              </a:rPr>
              <a:t>The slide example displays numbers and names for all the departments. The OPERATIONS department, which does not have any employees, is also displayed.</a:t>
            </a:r>
          </a:p>
          <a:p>
            <a:pPr defTabSz="384175"/>
            <a:r>
              <a:rPr lang="en-US" altLang="en-US">
                <a:latin typeface="Arial" panose="020B0604020202020204" pitchFamily="34" charset="0"/>
              </a:rPr>
              <a:t>Outer Join Restrictions</a:t>
            </a:r>
          </a:p>
          <a:p>
            <a:pPr marL="438150" lvl="2" indent="-209550" defTabSz="384175"/>
            <a:r>
              <a:rPr lang="en-US" altLang="en-US">
                <a:latin typeface="Arial" panose="020B0604020202020204" pitchFamily="34" charset="0"/>
              </a:rPr>
              <a:t>The outer join operator can appear on only </a:t>
            </a:r>
            <a:r>
              <a:rPr lang="en-US" altLang="en-US" i="1">
                <a:latin typeface="Arial" panose="020B0604020202020204" pitchFamily="34" charset="0"/>
              </a:rPr>
              <a:t>one</a:t>
            </a:r>
            <a:r>
              <a:rPr lang="en-US" altLang="en-US">
                <a:latin typeface="Arial" panose="020B0604020202020204" pitchFamily="34" charset="0"/>
              </a:rPr>
              <a:t> side of the expression—the side that has information missing. It returns those rows from one table that have no direct match in the other table.</a:t>
            </a:r>
          </a:p>
          <a:p>
            <a:pPr marL="438150" lvl="2" indent="-209550" defTabSz="384175"/>
            <a:r>
              <a:rPr lang="en-US" altLang="en-US">
                <a:latin typeface="Arial" panose="020B0604020202020204" pitchFamily="34" charset="0"/>
              </a:rPr>
              <a:t>A condition involving an outer join cannot use the IN operator or be linked to another condition by the OR operator.</a:t>
            </a: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marL="438150" lvl="2" indent="-209550"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l4ojoin.sql</a:t>
            </a:r>
          </a:p>
          <a:p>
            <a:pPr marL="114300" lvl="1" defTabSz="384175"/>
            <a:r>
              <a:rPr lang="en-US" altLang="en-US">
                <a:solidFill>
                  <a:schemeClr val="accent2"/>
                </a:solidFill>
                <a:latin typeface="Arial" panose="020B0604020202020204" pitchFamily="34" charset="0"/>
              </a:rPr>
              <a:t>Purpose: To illustrate an outer join.</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49157" name="Rectangle 5">
            <a:extLst>
              <a:ext uri="{FF2B5EF4-FFF2-40B4-BE49-F238E27FC236}">
                <a16:creationId xmlns:a16="http://schemas.microsoft.com/office/drawing/2014/main" id="{B31EEC69-03BC-D4F0-5E1D-CECBB6AD6BB2}"/>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745BDBB-1C09-D936-12C9-B444B40A81EB}"/>
              </a:ext>
            </a:extLst>
          </p:cNvPr>
          <p:cNvSpPr>
            <a:spLocks noChangeArrowheads="1"/>
          </p:cNvSpPr>
          <p:nvPr/>
        </p:nvSpPr>
        <p:spPr bwMode="auto">
          <a:xfrm>
            <a:off x="3881438" y="0"/>
            <a:ext cx="297815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1203" name="Rectangle 3">
            <a:extLst>
              <a:ext uri="{FF2B5EF4-FFF2-40B4-BE49-F238E27FC236}">
                <a16:creationId xmlns:a16="http://schemas.microsoft.com/office/drawing/2014/main" id="{58E1FDAD-D2BB-E683-16EF-469BF4B20A8C}"/>
              </a:ext>
            </a:extLst>
          </p:cNvPr>
          <p:cNvSpPr>
            <a:spLocks noChangeArrowheads="1"/>
          </p:cNvSpPr>
          <p:nvPr/>
        </p:nvSpPr>
        <p:spPr bwMode="auto">
          <a:xfrm>
            <a:off x="-3175" y="0"/>
            <a:ext cx="29749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1204" name="Rectangle 4">
            <a:extLst>
              <a:ext uri="{FF2B5EF4-FFF2-40B4-BE49-F238E27FC236}">
                <a16:creationId xmlns:a16="http://schemas.microsoft.com/office/drawing/2014/main" id="{2505C3E6-718E-F104-33DE-9F790D5B228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3225"/>
            <a:r>
              <a:rPr lang="en-US" altLang="en-US">
                <a:latin typeface="Arial" panose="020B0604020202020204" pitchFamily="34" charset="0"/>
              </a:rPr>
              <a:t>   </a:t>
            </a:r>
          </a:p>
        </p:txBody>
      </p:sp>
      <p:sp>
        <p:nvSpPr>
          <p:cNvPr id="51205" name="Rectangle 5">
            <a:extLst>
              <a:ext uri="{FF2B5EF4-FFF2-40B4-BE49-F238E27FC236}">
                <a16:creationId xmlns:a16="http://schemas.microsoft.com/office/drawing/2014/main" id="{2ACC512E-B2C1-D715-8878-19E987A2D97D}"/>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51206" name="Rectangle 6">
            <a:extLst>
              <a:ext uri="{FF2B5EF4-FFF2-40B4-BE49-F238E27FC236}">
                <a16:creationId xmlns:a16="http://schemas.microsoft.com/office/drawing/2014/main" id="{8FD2FE02-74E7-6D55-AAFE-8E42782B9104}"/>
              </a:ext>
            </a:extLst>
          </p:cNvPr>
          <p:cNvSpPr>
            <a:spLocks noChangeArrowheads="1"/>
          </p:cNvSpPr>
          <p:nvPr/>
        </p:nvSpPr>
        <p:spPr bwMode="auto">
          <a:xfrm>
            <a:off x="458788" y="4833938"/>
            <a:ext cx="6030912"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lvl1pPr defTabSz="407988">
              <a:spcBef>
                <a:spcPct val="30000"/>
              </a:spcBef>
              <a:defRPr sz="1200">
                <a:solidFill>
                  <a:schemeClr val="tx1"/>
                </a:solidFill>
                <a:latin typeface="Arial" panose="020B0604020202020204" pitchFamily="34" charset="0"/>
              </a:defRPr>
            </a:lvl1pPr>
            <a:lvl2pPr marL="115888" defTabSz="407988">
              <a:spcBef>
                <a:spcPct val="30000"/>
              </a:spcBef>
              <a:defRPr sz="1200">
                <a:solidFill>
                  <a:schemeClr val="tx1"/>
                </a:solidFill>
                <a:latin typeface="Arial" panose="020B0604020202020204" pitchFamily="34" charset="0"/>
              </a:defRPr>
            </a:lvl2pPr>
            <a:lvl3pPr marL="1143000" indent="-228600" defTabSz="407988">
              <a:spcBef>
                <a:spcPct val="30000"/>
              </a:spcBef>
              <a:defRPr sz="1200">
                <a:solidFill>
                  <a:schemeClr val="tx1"/>
                </a:solidFill>
                <a:latin typeface="Arial" panose="020B0604020202020204" pitchFamily="34" charset="0"/>
              </a:defRPr>
            </a:lvl3pPr>
            <a:lvl4pPr marL="1600200" indent="-228600" defTabSz="407988">
              <a:spcBef>
                <a:spcPct val="30000"/>
              </a:spcBef>
              <a:defRPr sz="1200">
                <a:solidFill>
                  <a:schemeClr val="tx1"/>
                </a:solidFill>
                <a:latin typeface="Arial" panose="020B0604020202020204" pitchFamily="34" charset="0"/>
              </a:defRPr>
            </a:lvl4pPr>
            <a:lvl5pPr marL="2057400" indent="-228600" defTabSz="407988">
              <a:spcBef>
                <a:spcPct val="30000"/>
              </a:spcBef>
              <a:defRPr sz="1200">
                <a:solidFill>
                  <a:schemeClr val="tx1"/>
                </a:solidFill>
                <a:latin typeface="Arial" panose="020B0604020202020204" pitchFamily="34" charset="0"/>
              </a:defRPr>
            </a:lvl5pPr>
            <a:lvl6pPr marL="2514600" indent="-228600" defTabSz="407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07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07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07988"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t>Illegal Queries Using Group Functions (continued)</a:t>
            </a:r>
          </a:p>
          <a:p>
            <a:pPr lvl="1"/>
            <a:r>
              <a:rPr lang="en-US" altLang="en-US" sz="1100">
                <a:latin typeface="Times New Roman" panose="02020603050405020304" pitchFamily="18" charset="0"/>
              </a:rPr>
              <a:t>The WHERE clause cannot be used to restrict groups. The SELECT statement on the slide results in an error because it uses the WHERE clause to restrict the display of average salaries of those departments that have an average salary greater than $2000.</a:t>
            </a:r>
          </a:p>
          <a:p>
            <a:pPr lvl="1"/>
            <a:r>
              <a:rPr lang="en-US" altLang="en-US" sz="1100">
                <a:latin typeface="Times New Roman" panose="02020603050405020304" pitchFamily="18" charset="0"/>
              </a:rPr>
              <a:t>You can correct the slide error by using the HAVING clause to restrict groups. </a:t>
            </a:r>
          </a:p>
          <a:p>
            <a:pPr lvl="1"/>
            <a:endParaRPr lang="en-US" altLang="en-US" sz="1100">
              <a:latin typeface="Times New Roman" panose="02020603050405020304" pitchFamily="18" charset="0"/>
            </a:endParaRPr>
          </a:p>
          <a:p>
            <a:endParaRPr lang="en-US" altLang="en-US" sz="1100">
              <a:latin typeface="Times New Roman" panose="02020603050405020304" pitchFamily="18" charset="0"/>
            </a:endParaRPr>
          </a:p>
        </p:txBody>
      </p:sp>
      <p:sp>
        <p:nvSpPr>
          <p:cNvPr id="51207" name="Rectangle 7">
            <a:extLst>
              <a:ext uri="{FF2B5EF4-FFF2-40B4-BE49-F238E27FC236}">
                <a16:creationId xmlns:a16="http://schemas.microsoft.com/office/drawing/2014/main" id="{FFA7CEFC-5536-5C5D-BA1B-9C1302E85CD1}"/>
              </a:ext>
            </a:extLst>
          </p:cNvPr>
          <p:cNvSpPr>
            <a:spLocks noChangeArrowheads="1"/>
          </p:cNvSpPr>
          <p:nvPr/>
        </p:nvSpPr>
        <p:spPr bwMode="auto">
          <a:xfrm>
            <a:off x="681038" y="5888038"/>
            <a:ext cx="5562600" cy="7397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1208" name="Rectangle 8">
            <a:extLst>
              <a:ext uri="{FF2B5EF4-FFF2-40B4-BE49-F238E27FC236}">
                <a16:creationId xmlns:a16="http://schemas.microsoft.com/office/drawing/2014/main" id="{4DA734E0-2872-0ED4-3668-2467558641AF}"/>
              </a:ext>
            </a:extLst>
          </p:cNvPr>
          <p:cNvSpPr>
            <a:spLocks noChangeArrowheads="1"/>
          </p:cNvSpPr>
          <p:nvPr/>
        </p:nvSpPr>
        <p:spPr bwMode="auto">
          <a:xfrm>
            <a:off x="241300" y="5889625"/>
            <a:ext cx="36576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b="1">
                <a:latin typeface="Courier New" panose="02070309020205020404" pitchFamily="49" charset="0"/>
              </a:rPr>
              <a:t>SQL&gt;	SELECT	deptno, AVG(sal)</a:t>
            </a:r>
          </a:p>
          <a:p>
            <a:pPr lvl="1">
              <a:spcBef>
                <a:spcPct val="0"/>
              </a:spcBef>
            </a:pPr>
            <a:r>
              <a:rPr lang="en-US" altLang="en-US" sz="1100" b="1">
                <a:latin typeface="Courier New" panose="02070309020205020404" pitchFamily="49" charset="0"/>
              </a:rPr>
              <a:t>  2	FROM	emp</a:t>
            </a:r>
          </a:p>
          <a:p>
            <a:pPr lvl="1">
              <a:spcBef>
                <a:spcPct val="0"/>
              </a:spcBef>
            </a:pPr>
            <a:r>
              <a:rPr lang="en-US" altLang="en-US" sz="1100" b="1">
                <a:latin typeface="Courier New" panose="02070309020205020404" pitchFamily="49" charset="0"/>
              </a:rPr>
              <a:t>  3	GROUP BY	deptno</a:t>
            </a:r>
          </a:p>
          <a:p>
            <a:pPr lvl="1">
              <a:spcBef>
                <a:spcPct val="0"/>
              </a:spcBef>
            </a:pPr>
            <a:r>
              <a:rPr lang="en-US" altLang="en-US" sz="1100" b="1">
                <a:latin typeface="Courier New" panose="02070309020205020404" pitchFamily="49" charset="0"/>
              </a:rPr>
              <a:t>  4	HAVING	AVG(sal) &gt; 2000;</a:t>
            </a:r>
          </a:p>
        </p:txBody>
      </p:sp>
      <p:grpSp>
        <p:nvGrpSpPr>
          <p:cNvPr id="51209" name="Group 9">
            <a:extLst>
              <a:ext uri="{FF2B5EF4-FFF2-40B4-BE49-F238E27FC236}">
                <a16:creationId xmlns:a16="http://schemas.microsoft.com/office/drawing/2014/main" id="{C2C1FEBF-335D-D853-BFBA-940FF0FC7617}"/>
              </a:ext>
            </a:extLst>
          </p:cNvPr>
          <p:cNvGrpSpPr>
            <a:grpSpLocks/>
          </p:cNvGrpSpPr>
          <p:nvPr/>
        </p:nvGrpSpPr>
        <p:grpSpPr bwMode="auto">
          <a:xfrm>
            <a:off x="266700" y="6743700"/>
            <a:ext cx="5976938" cy="779463"/>
            <a:chOff x="167" y="4171"/>
            <a:chExt cx="3743" cy="482"/>
          </a:xfrm>
        </p:grpSpPr>
        <p:sp>
          <p:nvSpPr>
            <p:cNvPr id="51210" name="Rectangle 10">
              <a:extLst>
                <a:ext uri="{FF2B5EF4-FFF2-40B4-BE49-F238E27FC236}">
                  <a16:creationId xmlns:a16="http://schemas.microsoft.com/office/drawing/2014/main" id="{CAA4B1CB-2F3A-92DB-FB20-3B1748B0694E}"/>
                </a:ext>
              </a:extLst>
            </p:cNvPr>
            <p:cNvSpPr>
              <a:spLocks noChangeArrowheads="1"/>
            </p:cNvSpPr>
            <p:nvPr/>
          </p:nvSpPr>
          <p:spPr bwMode="auto">
            <a:xfrm>
              <a:off x="427" y="4171"/>
              <a:ext cx="3483" cy="4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1211" name="Rectangle 11">
              <a:extLst>
                <a:ext uri="{FF2B5EF4-FFF2-40B4-BE49-F238E27FC236}">
                  <a16:creationId xmlns:a16="http://schemas.microsoft.com/office/drawing/2014/main" id="{C3FF6040-5560-0EDA-4697-4E664E38675E}"/>
                </a:ext>
              </a:extLst>
            </p:cNvPr>
            <p:cNvSpPr>
              <a:spLocks noChangeArrowheads="1"/>
            </p:cNvSpPr>
            <p:nvPr/>
          </p:nvSpPr>
          <p:spPr bwMode="auto">
            <a:xfrm>
              <a:off x="167" y="4173"/>
              <a:ext cx="229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a:latin typeface="Courier New" panose="02070309020205020404" pitchFamily="49" charset="0"/>
                </a:rPr>
                <a:t>    DEPTNO	 AVG(SAL)</a:t>
              </a:r>
            </a:p>
            <a:p>
              <a:pPr lvl="1">
                <a:spcBef>
                  <a:spcPct val="0"/>
                </a:spcBef>
              </a:pPr>
              <a:r>
                <a:rPr lang="en-US" altLang="en-US" sz="1100">
                  <a:latin typeface="Courier New" panose="02070309020205020404" pitchFamily="49" charset="0"/>
                </a:rPr>
                <a:t>---------- --------------</a:t>
              </a:r>
            </a:p>
            <a:p>
              <a:pPr lvl="1">
                <a:spcBef>
                  <a:spcPct val="0"/>
                </a:spcBef>
              </a:pPr>
              <a:r>
                <a:rPr lang="en-US" altLang="en-US" sz="1100">
                  <a:latin typeface="Courier New" panose="02070309020205020404" pitchFamily="49" charset="0"/>
                </a:rPr>
                <a:t>        10	2916.6667</a:t>
              </a:r>
            </a:p>
            <a:p>
              <a:pPr lvl="1">
                <a:spcBef>
                  <a:spcPct val="0"/>
                </a:spcBef>
              </a:pPr>
              <a:r>
                <a:rPr lang="en-US" altLang="en-US" sz="1100">
                  <a:latin typeface="Courier New" panose="02070309020205020404" pitchFamily="49" charset="0"/>
                </a:rPr>
                <a:t>        20	     2175</a:t>
              </a:r>
            </a:p>
          </p:txBody>
        </p:sp>
      </p:gr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777E67F-CAD3-00D8-A883-B64AE9A1C99E}"/>
              </a:ext>
            </a:extLst>
          </p:cNvPr>
          <p:cNvSpPr>
            <a:spLocks noChangeArrowheads="1"/>
          </p:cNvSpPr>
          <p:nvPr/>
        </p:nvSpPr>
        <p:spPr bwMode="auto">
          <a:xfrm>
            <a:off x="3881438" y="0"/>
            <a:ext cx="297815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3251" name="Rectangle 3">
            <a:extLst>
              <a:ext uri="{FF2B5EF4-FFF2-40B4-BE49-F238E27FC236}">
                <a16:creationId xmlns:a16="http://schemas.microsoft.com/office/drawing/2014/main" id="{E49057D1-67EE-3E2A-06F1-45EE4B091FC9}"/>
              </a:ext>
            </a:extLst>
          </p:cNvPr>
          <p:cNvSpPr>
            <a:spLocks noChangeArrowheads="1"/>
          </p:cNvSpPr>
          <p:nvPr/>
        </p:nvSpPr>
        <p:spPr bwMode="auto">
          <a:xfrm>
            <a:off x="-3175" y="0"/>
            <a:ext cx="29749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3252" name="Rectangle 4">
            <a:extLst>
              <a:ext uri="{FF2B5EF4-FFF2-40B4-BE49-F238E27FC236}">
                <a16:creationId xmlns:a16="http://schemas.microsoft.com/office/drawing/2014/main" id="{2C88715B-81E3-E176-8913-2562139B76E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3225"/>
            <a:r>
              <a:rPr lang="en-US" altLang="en-US">
                <a:latin typeface="Arial" panose="020B0604020202020204" pitchFamily="34" charset="0"/>
              </a:rPr>
              <a:t>   </a:t>
            </a:r>
          </a:p>
        </p:txBody>
      </p:sp>
      <p:sp>
        <p:nvSpPr>
          <p:cNvPr id="53253" name="Rectangle 5">
            <a:extLst>
              <a:ext uri="{FF2B5EF4-FFF2-40B4-BE49-F238E27FC236}">
                <a16:creationId xmlns:a16="http://schemas.microsoft.com/office/drawing/2014/main" id="{C61EC8A6-448A-FEE2-8742-59C7B1DFCB8E}"/>
              </a:ext>
            </a:extLst>
          </p:cNvPr>
          <p:cNvSpPr>
            <a:spLocks noGrp="1" noRot="1" noChangeArrowheads="1" noTextEdit="1"/>
          </p:cNvSpPr>
          <p:nvPr>
            <p:ph type="sldImg"/>
          </p:nvPr>
        </p:nvSpPr>
        <p:spPr>
          <a:xfrm>
            <a:off x="436563" y="158750"/>
            <a:ext cx="5980112" cy="4484688"/>
          </a:xfrm>
          <a:ln w="12700" cap="flat">
            <a:solidFill>
              <a:schemeClr val="tx1"/>
            </a:solidFill>
          </a:ln>
        </p:spPr>
      </p:sp>
      <p:sp>
        <p:nvSpPr>
          <p:cNvPr id="53254" name="Rectangle 6">
            <a:extLst>
              <a:ext uri="{FF2B5EF4-FFF2-40B4-BE49-F238E27FC236}">
                <a16:creationId xmlns:a16="http://schemas.microsoft.com/office/drawing/2014/main" id="{4D5F23FD-5EE8-E185-6B3F-187A7642C514}"/>
              </a:ext>
            </a:extLst>
          </p:cNvPr>
          <p:cNvSpPr>
            <a:spLocks noChangeArrowheads="1"/>
          </p:cNvSpPr>
          <p:nvPr/>
        </p:nvSpPr>
        <p:spPr bwMode="auto">
          <a:xfrm>
            <a:off x="458788" y="4833938"/>
            <a:ext cx="6030912"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lvl1pPr defTabSz="407988">
              <a:spcBef>
                <a:spcPct val="30000"/>
              </a:spcBef>
              <a:defRPr sz="1200">
                <a:solidFill>
                  <a:schemeClr val="tx1"/>
                </a:solidFill>
                <a:latin typeface="Arial" panose="020B0604020202020204" pitchFamily="34" charset="0"/>
              </a:defRPr>
            </a:lvl1pPr>
            <a:lvl2pPr marL="115888" defTabSz="407988">
              <a:spcBef>
                <a:spcPct val="30000"/>
              </a:spcBef>
              <a:defRPr sz="1200">
                <a:solidFill>
                  <a:schemeClr val="tx1"/>
                </a:solidFill>
                <a:latin typeface="Arial" panose="020B0604020202020204" pitchFamily="34" charset="0"/>
              </a:defRPr>
            </a:lvl2pPr>
            <a:lvl3pPr marL="1143000" indent="-228600" defTabSz="407988">
              <a:spcBef>
                <a:spcPct val="30000"/>
              </a:spcBef>
              <a:defRPr sz="1200">
                <a:solidFill>
                  <a:schemeClr val="tx1"/>
                </a:solidFill>
                <a:latin typeface="Arial" panose="020B0604020202020204" pitchFamily="34" charset="0"/>
              </a:defRPr>
            </a:lvl3pPr>
            <a:lvl4pPr marL="1600200" indent="-228600" defTabSz="407988">
              <a:spcBef>
                <a:spcPct val="30000"/>
              </a:spcBef>
              <a:defRPr sz="1200">
                <a:solidFill>
                  <a:schemeClr val="tx1"/>
                </a:solidFill>
                <a:latin typeface="Arial" panose="020B0604020202020204" pitchFamily="34" charset="0"/>
              </a:defRPr>
            </a:lvl4pPr>
            <a:lvl5pPr marL="2057400" indent="-228600" defTabSz="407988">
              <a:spcBef>
                <a:spcPct val="30000"/>
              </a:spcBef>
              <a:defRPr sz="1200">
                <a:solidFill>
                  <a:schemeClr val="tx1"/>
                </a:solidFill>
                <a:latin typeface="Arial" panose="020B0604020202020204" pitchFamily="34" charset="0"/>
              </a:defRPr>
            </a:lvl5pPr>
            <a:lvl6pPr marL="2514600" indent="-228600" defTabSz="407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07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07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07988" eaLnBrk="0" fontAlgn="base" hangingPunct="0">
              <a:spcBef>
                <a:spcPct val="30000"/>
              </a:spcBef>
              <a:spcAft>
                <a:spcPct val="0"/>
              </a:spcAft>
              <a:defRPr sz="1200">
                <a:solidFill>
                  <a:schemeClr val="tx1"/>
                </a:solidFill>
                <a:latin typeface="Arial" panose="020B0604020202020204" pitchFamily="34" charset="0"/>
              </a:defRPr>
            </a:lvl9pPr>
          </a:lstStyle>
          <a:p>
            <a:r>
              <a:rPr lang="en-US" altLang="en-US" sz="1100" b="1"/>
              <a:t>Illegal Queries Using Group Functions (continued)</a:t>
            </a:r>
          </a:p>
          <a:p>
            <a:pPr lvl="1"/>
            <a:r>
              <a:rPr lang="en-US" altLang="en-US" sz="1100">
                <a:latin typeface="Times New Roman" panose="02020603050405020304" pitchFamily="18" charset="0"/>
              </a:rPr>
              <a:t>The WHERE clause cannot be used to restrict groups. The SELECT statement on the slide results in an error because it uses the WHERE clause to restrict the display of average salaries of those departments that have an average salary greater than $2000.</a:t>
            </a:r>
          </a:p>
          <a:p>
            <a:pPr lvl="1"/>
            <a:r>
              <a:rPr lang="en-US" altLang="en-US" sz="1100">
                <a:latin typeface="Times New Roman" panose="02020603050405020304" pitchFamily="18" charset="0"/>
              </a:rPr>
              <a:t>You can correct the slide error by using the HAVING clause to restrict groups. </a:t>
            </a:r>
          </a:p>
          <a:p>
            <a:pPr lvl="1"/>
            <a:endParaRPr lang="en-US" altLang="en-US" sz="1100">
              <a:latin typeface="Times New Roman" panose="02020603050405020304" pitchFamily="18" charset="0"/>
            </a:endParaRPr>
          </a:p>
          <a:p>
            <a:endParaRPr lang="en-US" altLang="en-US" sz="1100">
              <a:latin typeface="Times New Roman" panose="02020603050405020304" pitchFamily="18" charset="0"/>
            </a:endParaRPr>
          </a:p>
        </p:txBody>
      </p:sp>
      <p:sp>
        <p:nvSpPr>
          <p:cNvPr id="53255" name="Rectangle 7">
            <a:extLst>
              <a:ext uri="{FF2B5EF4-FFF2-40B4-BE49-F238E27FC236}">
                <a16:creationId xmlns:a16="http://schemas.microsoft.com/office/drawing/2014/main" id="{794DBF74-956D-0C4D-7D85-AE0CAF50FCF0}"/>
              </a:ext>
            </a:extLst>
          </p:cNvPr>
          <p:cNvSpPr>
            <a:spLocks noChangeArrowheads="1"/>
          </p:cNvSpPr>
          <p:nvPr/>
        </p:nvSpPr>
        <p:spPr bwMode="auto">
          <a:xfrm>
            <a:off x="681038" y="5888038"/>
            <a:ext cx="5562600" cy="7397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3256" name="Rectangle 8">
            <a:extLst>
              <a:ext uri="{FF2B5EF4-FFF2-40B4-BE49-F238E27FC236}">
                <a16:creationId xmlns:a16="http://schemas.microsoft.com/office/drawing/2014/main" id="{7B4A6468-2933-1EBE-5041-EE41380EDA4F}"/>
              </a:ext>
            </a:extLst>
          </p:cNvPr>
          <p:cNvSpPr>
            <a:spLocks noChangeArrowheads="1"/>
          </p:cNvSpPr>
          <p:nvPr/>
        </p:nvSpPr>
        <p:spPr bwMode="auto">
          <a:xfrm>
            <a:off x="241300" y="5889625"/>
            <a:ext cx="36576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b="1">
                <a:latin typeface="Courier New" panose="02070309020205020404" pitchFamily="49" charset="0"/>
              </a:rPr>
              <a:t>SQL&gt;	SELECT	deptno, AVG(sal)</a:t>
            </a:r>
          </a:p>
          <a:p>
            <a:pPr lvl="1">
              <a:spcBef>
                <a:spcPct val="0"/>
              </a:spcBef>
            </a:pPr>
            <a:r>
              <a:rPr lang="en-US" altLang="en-US" sz="1100" b="1">
                <a:latin typeface="Courier New" panose="02070309020205020404" pitchFamily="49" charset="0"/>
              </a:rPr>
              <a:t>  2	FROM	emp</a:t>
            </a:r>
          </a:p>
          <a:p>
            <a:pPr lvl="1">
              <a:spcBef>
                <a:spcPct val="0"/>
              </a:spcBef>
            </a:pPr>
            <a:r>
              <a:rPr lang="en-US" altLang="en-US" sz="1100" b="1">
                <a:latin typeface="Courier New" panose="02070309020205020404" pitchFamily="49" charset="0"/>
              </a:rPr>
              <a:t>  3	GROUP BY	deptno</a:t>
            </a:r>
          </a:p>
          <a:p>
            <a:pPr lvl="1">
              <a:spcBef>
                <a:spcPct val="0"/>
              </a:spcBef>
            </a:pPr>
            <a:r>
              <a:rPr lang="en-US" altLang="en-US" sz="1100" b="1">
                <a:latin typeface="Courier New" panose="02070309020205020404" pitchFamily="49" charset="0"/>
              </a:rPr>
              <a:t>  4	HAVING	AVG(sal) &gt; 2000;</a:t>
            </a:r>
          </a:p>
        </p:txBody>
      </p:sp>
      <p:grpSp>
        <p:nvGrpSpPr>
          <p:cNvPr id="53257" name="Group 9">
            <a:extLst>
              <a:ext uri="{FF2B5EF4-FFF2-40B4-BE49-F238E27FC236}">
                <a16:creationId xmlns:a16="http://schemas.microsoft.com/office/drawing/2014/main" id="{02255C12-0623-8884-F9DA-CC6D5C5C97E6}"/>
              </a:ext>
            </a:extLst>
          </p:cNvPr>
          <p:cNvGrpSpPr>
            <a:grpSpLocks/>
          </p:cNvGrpSpPr>
          <p:nvPr/>
        </p:nvGrpSpPr>
        <p:grpSpPr bwMode="auto">
          <a:xfrm>
            <a:off x="266700" y="6743700"/>
            <a:ext cx="5976938" cy="779463"/>
            <a:chOff x="167" y="4171"/>
            <a:chExt cx="3743" cy="482"/>
          </a:xfrm>
        </p:grpSpPr>
        <p:sp>
          <p:nvSpPr>
            <p:cNvPr id="53258" name="Rectangle 10">
              <a:extLst>
                <a:ext uri="{FF2B5EF4-FFF2-40B4-BE49-F238E27FC236}">
                  <a16:creationId xmlns:a16="http://schemas.microsoft.com/office/drawing/2014/main" id="{519DF0D3-689F-C9BE-18EA-3BD29595D87D}"/>
                </a:ext>
              </a:extLst>
            </p:cNvPr>
            <p:cNvSpPr>
              <a:spLocks noChangeArrowheads="1"/>
            </p:cNvSpPr>
            <p:nvPr/>
          </p:nvSpPr>
          <p:spPr bwMode="auto">
            <a:xfrm>
              <a:off x="427" y="4171"/>
              <a:ext cx="3483" cy="45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3259" name="Rectangle 11">
              <a:extLst>
                <a:ext uri="{FF2B5EF4-FFF2-40B4-BE49-F238E27FC236}">
                  <a16:creationId xmlns:a16="http://schemas.microsoft.com/office/drawing/2014/main" id="{13546B27-3FEF-5254-092E-8C08D3D2C998}"/>
                </a:ext>
              </a:extLst>
            </p:cNvPr>
            <p:cNvSpPr>
              <a:spLocks noChangeArrowheads="1"/>
            </p:cNvSpPr>
            <p:nvPr/>
          </p:nvSpPr>
          <p:spPr bwMode="auto">
            <a:xfrm>
              <a:off x="167" y="4173"/>
              <a:ext cx="229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spAutoFit/>
            </a:bodyPr>
            <a:lstStyle>
              <a:lvl1pPr marL="342900" indent="-342900" defTabSz="881063">
                <a:spcBef>
                  <a:spcPct val="30000"/>
                </a:spcBef>
                <a:defRPr sz="1200">
                  <a:solidFill>
                    <a:schemeClr val="tx1"/>
                  </a:solidFill>
                  <a:latin typeface="Arial" panose="020B0604020202020204" pitchFamily="34" charset="0"/>
                </a:defRPr>
              </a:lvl1pPr>
              <a:lvl2pPr marL="4508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lvl="1">
                <a:spcBef>
                  <a:spcPct val="0"/>
                </a:spcBef>
              </a:pPr>
              <a:r>
                <a:rPr lang="en-US" altLang="en-US" sz="1100">
                  <a:latin typeface="Courier New" panose="02070309020205020404" pitchFamily="49" charset="0"/>
                </a:rPr>
                <a:t>    DEPTNO	 AVG(SAL)</a:t>
              </a:r>
            </a:p>
            <a:p>
              <a:pPr lvl="1">
                <a:spcBef>
                  <a:spcPct val="0"/>
                </a:spcBef>
              </a:pPr>
              <a:r>
                <a:rPr lang="en-US" altLang="en-US" sz="1100">
                  <a:latin typeface="Courier New" panose="02070309020205020404" pitchFamily="49" charset="0"/>
                </a:rPr>
                <a:t>---------- --------------</a:t>
              </a:r>
            </a:p>
            <a:p>
              <a:pPr lvl="1">
                <a:spcBef>
                  <a:spcPct val="0"/>
                </a:spcBef>
              </a:pPr>
              <a:r>
                <a:rPr lang="en-US" altLang="en-US" sz="1100">
                  <a:latin typeface="Courier New" panose="02070309020205020404" pitchFamily="49" charset="0"/>
                </a:rPr>
                <a:t>        10	2916.6667</a:t>
              </a:r>
            </a:p>
            <a:p>
              <a:pPr lvl="1">
                <a:spcBef>
                  <a:spcPct val="0"/>
                </a:spcBef>
              </a:pPr>
              <a:r>
                <a:rPr lang="en-US" altLang="en-US" sz="1100">
                  <a:latin typeface="Courier New" panose="02070309020205020404" pitchFamily="49" charset="0"/>
                </a:rPr>
                <a:t>        20	     2175</a:t>
              </a:r>
            </a:p>
          </p:txBody>
        </p:sp>
      </p:gr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3A3E5C7-5BED-BE7B-6C4E-2F255CC612EB}"/>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5299" name="Rectangle 3">
            <a:extLst>
              <a:ext uri="{FF2B5EF4-FFF2-40B4-BE49-F238E27FC236}">
                <a16:creationId xmlns:a16="http://schemas.microsoft.com/office/drawing/2014/main" id="{2AFBBED2-A66F-41CE-CBA7-7E562CE66789}"/>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5300" name="Rectangle 4">
            <a:extLst>
              <a:ext uri="{FF2B5EF4-FFF2-40B4-BE49-F238E27FC236}">
                <a16:creationId xmlns:a16="http://schemas.microsoft.com/office/drawing/2014/main" id="{FEEAEC33-2832-11E4-5790-4262877D1944}"/>
              </a:ext>
            </a:extLst>
          </p:cNvPr>
          <p:cNvSpPr>
            <a:spLocks noGrp="1" noChangeArrowheads="1"/>
          </p:cNvSpPr>
          <p:nvPr>
            <p:ph type="body" idx="1"/>
          </p:nvPr>
        </p:nvSpPr>
        <p:spPr>
          <a:xfrm>
            <a:off x="455613" y="4849813"/>
            <a:ext cx="53419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Non-Equijoins</a:t>
            </a:r>
          </a:p>
          <a:p>
            <a:pPr marL="114300" lvl="1" defTabSz="377825">
              <a:tabLst>
                <a:tab pos="441325" algn="l"/>
              </a:tabLst>
            </a:pPr>
            <a:r>
              <a:rPr lang="en-US" altLang="en-US">
                <a:latin typeface="Arial" panose="020B0604020202020204" pitchFamily="34" charset="0"/>
              </a:rPr>
              <a:t>The relationship between the EMP table and the SALGRADE table is a </a:t>
            </a:r>
            <a:r>
              <a:rPr lang="en-US" altLang="en-US">
                <a:solidFill>
                  <a:srgbClr val="FC0128"/>
                </a:solidFill>
                <a:latin typeface="Arial" panose="020B0604020202020204" pitchFamily="34" charset="0"/>
              </a:rPr>
              <a:t>non-equijoin,</a:t>
            </a:r>
            <a:r>
              <a:rPr lang="en-US" altLang="en-US">
                <a:latin typeface="Arial" panose="020B0604020202020204" pitchFamily="34" charset="0"/>
              </a:rPr>
              <a:t> meaning that no column in the EMP table corresponds directly to a column in the SALGRADE table. The relationship between the two tables is that the SAL column in the EMP table is between the LOSAL and HISAL column of the SALGRADE table. The relationship is obtained using an operator other than equal (=). </a:t>
            </a:r>
          </a:p>
        </p:txBody>
      </p:sp>
      <p:sp>
        <p:nvSpPr>
          <p:cNvPr id="55301" name="Rectangle 5">
            <a:extLst>
              <a:ext uri="{FF2B5EF4-FFF2-40B4-BE49-F238E27FC236}">
                <a16:creationId xmlns:a16="http://schemas.microsoft.com/office/drawing/2014/main" id="{0AC5F281-66DD-1F74-4F41-3626662821E8}"/>
              </a:ext>
            </a:extLst>
          </p:cNvPr>
          <p:cNvSpPr>
            <a:spLocks noGrp="1" noRot="1" noChangeArrowheads="1" noTextEdit="1"/>
          </p:cNvSpPr>
          <p:nvPr>
            <p:ph type="sldImg"/>
          </p:nvPr>
        </p:nvSpPr>
        <p:spPr>
          <a:xfrm>
            <a:off x="411163" y="176213"/>
            <a:ext cx="6030912" cy="4522787"/>
          </a:xfrm>
          <a:ln w="12700" cap="flat">
            <a:solidFill>
              <a:schemeClr val="tx1"/>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1275345-DE21-385F-C86F-D7117CAFA00D}"/>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7347" name="Rectangle 3">
            <a:extLst>
              <a:ext uri="{FF2B5EF4-FFF2-40B4-BE49-F238E27FC236}">
                <a16:creationId xmlns:a16="http://schemas.microsoft.com/office/drawing/2014/main" id="{5EFCF30B-F4BA-E50C-BE4A-E318CC18AAB3}"/>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7348" name="Rectangle 4">
            <a:extLst>
              <a:ext uri="{FF2B5EF4-FFF2-40B4-BE49-F238E27FC236}">
                <a16:creationId xmlns:a16="http://schemas.microsoft.com/office/drawing/2014/main" id="{94A5A884-F4F3-E96E-A386-0CDAAEBBCCBA}"/>
              </a:ext>
            </a:extLst>
          </p:cNvPr>
          <p:cNvSpPr>
            <a:spLocks noGrp="1" noChangeArrowheads="1"/>
          </p:cNvSpPr>
          <p:nvPr>
            <p:ph type="body" idx="1"/>
          </p:nvPr>
        </p:nvSpPr>
        <p:spPr>
          <a:xfrm>
            <a:off x="455613" y="4849813"/>
            <a:ext cx="53419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Non-Equijoins</a:t>
            </a:r>
          </a:p>
          <a:p>
            <a:pPr marL="114300" lvl="1" defTabSz="377825">
              <a:tabLst>
                <a:tab pos="441325" algn="l"/>
              </a:tabLst>
            </a:pPr>
            <a:r>
              <a:rPr lang="en-US" altLang="en-US">
                <a:latin typeface="Arial" panose="020B0604020202020204" pitchFamily="34" charset="0"/>
              </a:rPr>
              <a:t>The relationship between the EMP table and the SALGRADE table is a </a:t>
            </a:r>
            <a:r>
              <a:rPr lang="en-US" altLang="en-US">
                <a:solidFill>
                  <a:srgbClr val="FC0128"/>
                </a:solidFill>
                <a:latin typeface="Arial" panose="020B0604020202020204" pitchFamily="34" charset="0"/>
              </a:rPr>
              <a:t>non-equijoin,</a:t>
            </a:r>
            <a:r>
              <a:rPr lang="en-US" altLang="en-US">
                <a:latin typeface="Arial" panose="020B0604020202020204" pitchFamily="34" charset="0"/>
              </a:rPr>
              <a:t> meaning that no column in the EMP table corresponds directly to a column in the SALGRADE table. The relationship between the two tables is that the SAL column in the EMP table is between the LOSAL and HISAL column of the SALGRADE table. The relationship is obtained using an operator other than equal (=). </a:t>
            </a:r>
          </a:p>
        </p:txBody>
      </p:sp>
      <p:sp>
        <p:nvSpPr>
          <p:cNvPr id="57349" name="Rectangle 5">
            <a:extLst>
              <a:ext uri="{FF2B5EF4-FFF2-40B4-BE49-F238E27FC236}">
                <a16:creationId xmlns:a16="http://schemas.microsoft.com/office/drawing/2014/main" id="{9B6D5F82-6DE2-DE89-2764-77976CEA6E09}"/>
              </a:ext>
            </a:extLst>
          </p:cNvPr>
          <p:cNvSpPr>
            <a:spLocks noGrp="1" noRot="1" noChangeArrowheads="1" noTextEdit="1"/>
          </p:cNvSpPr>
          <p:nvPr>
            <p:ph type="sldImg"/>
          </p:nvPr>
        </p:nvSpPr>
        <p:spPr>
          <a:xfrm>
            <a:off x="411163" y="176213"/>
            <a:ext cx="6030912" cy="4522787"/>
          </a:xfrm>
          <a:ln w="12700" cap="flat">
            <a:solidFill>
              <a:schemeClr val="tx1"/>
            </a:solid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7348ABD-9B31-743D-A983-E7293E428961}"/>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59395" name="Rectangle 3">
            <a:extLst>
              <a:ext uri="{FF2B5EF4-FFF2-40B4-BE49-F238E27FC236}">
                <a16:creationId xmlns:a16="http://schemas.microsoft.com/office/drawing/2014/main" id="{C6212D87-2EAB-4AFE-0674-32CCFE9C36E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Non-Equijoins (continued)</a:t>
            </a:r>
          </a:p>
          <a:p>
            <a:pPr lvl="1"/>
            <a:r>
              <a:rPr lang="en-US" altLang="en-US">
                <a:latin typeface="Arial" panose="020B0604020202020204" pitchFamily="34" charset="0"/>
              </a:rPr>
              <a:t>The slide example creates a non-equijoin to evaluate an employee’s salary grade. The salary must be </a:t>
            </a:r>
            <a:r>
              <a:rPr lang="en-US" altLang="en-US" i="1">
                <a:latin typeface="Arial" panose="020B0604020202020204" pitchFamily="34" charset="0"/>
              </a:rPr>
              <a:t>between</a:t>
            </a:r>
            <a:r>
              <a:rPr lang="en-US" altLang="en-US">
                <a:latin typeface="Arial" panose="020B0604020202020204" pitchFamily="34" charset="0"/>
              </a:rPr>
              <a:t> any pair of the low and high salary ranges. </a:t>
            </a:r>
          </a:p>
          <a:p>
            <a:pPr lvl="1"/>
            <a:r>
              <a:rPr lang="en-US" altLang="en-US">
                <a:solidFill>
                  <a:srgbClr val="000000"/>
                </a:solidFill>
                <a:latin typeface="Arial" panose="020B0604020202020204" pitchFamily="34" charset="0"/>
              </a:rPr>
              <a:t>It is important to note that all employees appear exactly once when this query is executed. No employee is repeated in the list. There are two reasons for this:</a:t>
            </a:r>
          </a:p>
          <a:p>
            <a:pPr lvl="2"/>
            <a:r>
              <a:rPr lang="en-US" altLang="en-US">
                <a:solidFill>
                  <a:srgbClr val="000000"/>
                </a:solidFill>
                <a:latin typeface="Arial" panose="020B0604020202020204" pitchFamily="34" charset="0"/>
              </a:rPr>
              <a:t>None of the rows in the salary grade table contain grades that overlap. That is, the salary value for an employee can only lie between the low salary and high salary values of one of the rows in the salary grade table. </a:t>
            </a:r>
          </a:p>
          <a:p>
            <a:pPr lvl="2"/>
            <a:r>
              <a:rPr lang="en-US" altLang="en-US">
                <a:solidFill>
                  <a:srgbClr val="000000"/>
                </a:solidFill>
                <a:latin typeface="Arial" panose="020B0604020202020204" pitchFamily="34" charset="0"/>
              </a:rPr>
              <a:t>All of the employees’ salaries lie within the limits provided by the salary grade table. That is, no employee earns less than the lowest value contained in the LOSAL column or more than the highest value contained in the HISAL column.</a:t>
            </a:r>
            <a:endParaRPr lang="en-US" altLang="en-US" b="1">
              <a:latin typeface="Arial" panose="020B0604020202020204" pitchFamily="34" charset="0"/>
            </a:endParaRPr>
          </a:p>
          <a:p>
            <a:pPr lvl="1"/>
            <a:r>
              <a:rPr lang="en-US" altLang="en-US" b="1">
                <a:latin typeface="Arial" panose="020B0604020202020204" pitchFamily="34" charset="0"/>
              </a:rPr>
              <a:t>Note:</a:t>
            </a:r>
            <a:r>
              <a:rPr lang="en-US" altLang="en-US">
                <a:latin typeface="Arial" panose="020B0604020202020204" pitchFamily="34" charset="0"/>
              </a:rPr>
              <a:t> Other operators such as &lt;= and &gt;= could be used, but BETWEEN is the simplest. Remember to specify the low value first and the high value last when using BETWEEN. Table aliases have been specified for performance reasons, not because of possible ambiguity.</a:t>
            </a:r>
            <a:endParaRPr lang="en-US" altLang="en-US" b="1">
              <a:latin typeface="Arial" panose="020B0604020202020204" pitchFamily="34" charset="0"/>
            </a:endParaRPr>
          </a:p>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37B0CA7-DB38-BC19-6771-C1994F28A5B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4175"/>
            <a:r>
              <a:rPr lang="en-US" altLang="en-US">
                <a:latin typeface="Arial" panose="020B0604020202020204" pitchFamily="34" charset="0"/>
              </a:rPr>
              <a:t>Joining a Table to Itself</a:t>
            </a:r>
          </a:p>
          <a:p>
            <a:pPr marL="114300" lvl="1" defTabSz="384175"/>
            <a:r>
              <a:rPr lang="en-US" altLang="en-US">
                <a:latin typeface="Arial" panose="020B0604020202020204" pitchFamily="34" charset="0"/>
              </a:rPr>
              <a:t>Sometimes you need to join a table to itself. To find the name of each employee’s manager, you need to join the EMP table to itself, or perform a </a:t>
            </a:r>
            <a:r>
              <a:rPr lang="en-US" altLang="en-US">
                <a:solidFill>
                  <a:srgbClr val="FC0128"/>
                </a:solidFill>
                <a:latin typeface="Arial" panose="020B0604020202020204" pitchFamily="34" charset="0"/>
              </a:rPr>
              <a:t>self join.</a:t>
            </a:r>
            <a:r>
              <a:rPr lang="en-US" altLang="en-US">
                <a:latin typeface="Arial" panose="020B0604020202020204" pitchFamily="34" charset="0"/>
              </a:rPr>
              <a:t> For example, to find the name of Blake’s manager, you need to:</a:t>
            </a:r>
          </a:p>
          <a:p>
            <a:pPr marL="438150" lvl="2" indent="-209550" defTabSz="384175"/>
            <a:r>
              <a:rPr lang="en-US" altLang="en-US">
                <a:latin typeface="Arial" panose="020B0604020202020204" pitchFamily="34" charset="0"/>
              </a:rPr>
              <a:t>Find Blake in the EMP table by looking at the ENAME column.</a:t>
            </a:r>
          </a:p>
          <a:p>
            <a:pPr marL="438150" lvl="2" indent="-209550" defTabSz="384175"/>
            <a:r>
              <a:rPr lang="en-US" altLang="en-US">
                <a:latin typeface="Arial" panose="020B0604020202020204" pitchFamily="34" charset="0"/>
              </a:rPr>
              <a:t>Find the manager number for Blake by looking at the MGR column. Blake’s manager number is 7839.</a:t>
            </a:r>
          </a:p>
          <a:p>
            <a:pPr marL="438150" lvl="2" indent="-209550" defTabSz="384175"/>
            <a:r>
              <a:rPr lang="en-US" altLang="en-US">
                <a:latin typeface="Arial" panose="020B0604020202020204" pitchFamily="34" charset="0"/>
              </a:rPr>
              <a:t>Find the name of the manager with EMPNO 7839 by looking at the ENAME column. King’s employee number is 7839, so King is Blake’s manager.</a:t>
            </a:r>
          </a:p>
          <a:p>
            <a:pPr marL="114300" lvl="1" defTabSz="384175"/>
            <a:r>
              <a:rPr lang="en-US" altLang="en-US">
                <a:latin typeface="Arial" panose="020B0604020202020204" pitchFamily="34" charset="0"/>
              </a:rPr>
              <a:t>In this process, you look in the table twice. The first time you look in the table to find Blake in the ENAME column and MGR value of 7839. The second time you look in the EMPNO column to find 7839 and the ENAME column to find King.  </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Show the data from the EMP table and point out how each manager is also an employee.</a:t>
            </a:r>
          </a:p>
        </p:txBody>
      </p:sp>
      <p:sp>
        <p:nvSpPr>
          <p:cNvPr id="61443" name="Rectangle 3">
            <a:extLst>
              <a:ext uri="{FF2B5EF4-FFF2-40B4-BE49-F238E27FC236}">
                <a16:creationId xmlns:a16="http://schemas.microsoft.com/office/drawing/2014/main" id="{6375C655-D648-CB6A-59F2-C03A6F6DA80D}"/>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78CDEA4-5E48-9480-A852-E3D20FA5CE96}"/>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3491" name="Rectangle 3">
            <a:extLst>
              <a:ext uri="{FF2B5EF4-FFF2-40B4-BE49-F238E27FC236}">
                <a16:creationId xmlns:a16="http://schemas.microsoft.com/office/drawing/2014/main" id="{A878C8F6-0957-F664-B886-19A048F6D294}"/>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3492" name="Rectangle 4">
            <a:extLst>
              <a:ext uri="{FF2B5EF4-FFF2-40B4-BE49-F238E27FC236}">
                <a16:creationId xmlns:a16="http://schemas.microsoft.com/office/drawing/2014/main" id="{3CAEAC7D-C4D4-F691-F293-706218B9D8D3}"/>
              </a:ext>
            </a:extLst>
          </p:cNvPr>
          <p:cNvSpPr>
            <a:spLocks noGrp="1" noChangeArrowheads="1"/>
          </p:cNvSpPr>
          <p:nvPr>
            <p:ph type="body" idx="1"/>
          </p:nvPr>
        </p:nvSpPr>
        <p:spPr>
          <a:xfrm>
            <a:off x="455613" y="4849813"/>
            <a:ext cx="59848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Joining a Table to Itself (continued)</a:t>
            </a:r>
          </a:p>
          <a:p>
            <a:pPr marL="114300" lvl="1" defTabSz="377825">
              <a:tabLst>
                <a:tab pos="441325" algn="l"/>
              </a:tabLst>
            </a:pPr>
            <a:r>
              <a:rPr lang="en-US" altLang="en-US">
                <a:latin typeface="Arial" panose="020B0604020202020204" pitchFamily="34" charset="0"/>
              </a:rPr>
              <a:t>The slide example joins the EMP table to itself. To simulate two tables in the FROM clause, there are two aliases, namely WORKER and MANAGER, for the same table, EMP. </a:t>
            </a:r>
          </a:p>
          <a:p>
            <a:pPr marL="114300" lvl="1" defTabSz="377825">
              <a:tabLst>
                <a:tab pos="441325" algn="l"/>
              </a:tabLst>
            </a:pPr>
            <a:r>
              <a:rPr lang="en-US" altLang="en-US">
                <a:latin typeface="Arial" panose="020B0604020202020204" pitchFamily="34" charset="0"/>
              </a:rPr>
              <a:t>In this example, the WHERE clause contains the join that means “where a worker’s manager number matches the employee number for the manager.”</a:t>
            </a:r>
          </a:p>
          <a:p>
            <a:pPr marL="114300" lvl="1" defTabSz="377825">
              <a:tabLst>
                <a:tab pos="441325" algn="l"/>
              </a:tabLst>
            </a:pPr>
            <a:endParaRPr lang="en-US" altLang="en-US">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r>
              <a:rPr lang="en-US" altLang="en-US">
                <a:solidFill>
                  <a:schemeClr val="accent2"/>
                </a:solidFill>
                <a:latin typeface="Arial" panose="020B0604020202020204" pitchFamily="34" charset="0"/>
              </a:rPr>
              <a:t>Class Management Note</a:t>
            </a:r>
          </a:p>
          <a:p>
            <a:pPr marL="114300" lvl="1" defTabSz="377825">
              <a:tabLst>
                <a:tab pos="441325" algn="l"/>
              </a:tabLst>
            </a:pPr>
            <a:r>
              <a:rPr lang="en-US" altLang="en-US">
                <a:solidFill>
                  <a:schemeClr val="accent2"/>
                </a:solidFill>
                <a:latin typeface="Arial" panose="020B0604020202020204" pitchFamily="34" charset="0"/>
              </a:rPr>
              <a:t>Point out the following to the students:</a:t>
            </a:r>
          </a:p>
          <a:p>
            <a:pPr marL="434975" lvl="2" indent="-206375" defTabSz="377825">
              <a:tabLst>
                <a:tab pos="441325" algn="l"/>
              </a:tabLst>
            </a:pPr>
            <a:r>
              <a:rPr lang="en-US" altLang="en-US">
                <a:solidFill>
                  <a:schemeClr val="accent2"/>
                </a:solidFill>
                <a:latin typeface="Arial" panose="020B0604020202020204" pitchFamily="34" charset="0"/>
              </a:rPr>
              <a:t>The column heading in the result of the query on the slide seems meaningless. A meaningful column alias should have been used instead.</a:t>
            </a:r>
          </a:p>
          <a:p>
            <a:pPr marL="434975" lvl="2" indent="-206375" defTabSz="377825">
              <a:tabLst>
                <a:tab pos="441325" algn="l"/>
              </a:tabLst>
            </a:pPr>
            <a:r>
              <a:rPr lang="en-US" altLang="en-US">
                <a:solidFill>
                  <a:schemeClr val="accent2"/>
                </a:solidFill>
                <a:latin typeface="Arial" panose="020B0604020202020204" pitchFamily="34" charset="0"/>
              </a:rPr>
              <a:t>There are only 13 rows in the output, but there are 14 rows in the EMP table. This occurs because employee King, who is the president, does not have a manager.</a:t>
            </a:r>
            <a:r>
              <a:rPr lang="en-US" altLang="en-US">
                <a:latin typeface="Arial" panose="020B0604020202020204" pitchFamily="34" charset="0"/>
              </a:rPr>
              <a:t> </a:t>
            </a:r>
          </a:p>
        </p:txBody>
      </p:sp>
      <p:sp>
        <p:nvSpPr>
          <p:cNvPr id="63493" name="Rectangle 5">
            <a:extLst>
              <a:ext uri="{FF2B5EF4-FFF2-40B4-BE49-F238E27FC236}">
                <a16:creationId xmlns:a16="http://schemas.microsoft.com/office/drawing/2014/main" id="{EAF48A24-AB7C-66A0-BF00-B55764192D83}"/>
              </a:ext>
            </a:extLst>
          </p:cNvPr>
          <p:cNvSpPr>
            <a:spLocks noGrp="1" noRot="1" noChangeArrowheads="1" noTextEdit="1"/>
          </p:cNvSpPr>
          <p:nvPr>
            <p:ph type="sldImg"/>
          </p:nvPr>
        </p:nvSpPr>
        <p:spPr>
          <a:xfrm>
            <a:off x="411163" y="187325"/>
            <a:ext cx="6030912" cy="4522788"/>
          </a:xfrm>
          <a:ln w="12700" cap="flat">
            <a:solidFill>
              <a:schemeClr val="tx1"/>
            </a:solid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6011B99-3C53-68D6-DF45-634350085702}"/>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5539" name="Rectangle 3">
            <a:extLst>
              <a:ext uri="{FF2B5EF4-FFF2-40B4-BE49-F238E27FC236}">
                <a16:creationId xmlns:a16="http://schemas.microsoft.com/office/drawing/2014/main" id="{0D00D1F3-BB7B-FE4C-A6C0-9A8C4DE607AB}"/>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5540" name="Rectangle 4">
            <a:extLst>
              <a:ext uri="{FF2B5EF4-FFF2-40B4-BE49-F238E27FC236}">
                <a16:creationId xmlns:a16="http://schemas.microsoft.com/office/drawing/2014/main" id="{4A0B6E68-626A-4D11-AB09-85FECF259A11}"/>
              </a:ext>
            </a:extLst>
          </p:cNvPr>
          <p:cNvSpPr>
            <a:spLocks noGrp="1" noChangeArrowheads="1"/>
          </p:cNvSpPr>
          <p:nvPr>
            <p:ph type="body" idx="1"/>
          </p:nvPr>
        </p:nvSpPr>
        <p:spPr>
          <a:xfrm>
            <a:off x="455613" y="4849813"/>
            <a:ext cx="59848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Joining a Table to Itself (continued)</a:t>
            </a:r>
          </a:p>
          <a:p>
            <a:pPr marL="114300" lvl="1" defTabSz="377825">
              <a:tabLst>
                <a:tab pos="441325" algn="l"/>
              </a:tabLst>
            </a:pPr>
            <a:r>
              <a:rPr lang="en-US" altLang="en-US">
                <a:latin typeface="Arial" panose="020B0604020202020204" pitchFamily="34" charset="0"/>
              </a:rPr>
              <a:t>The slide example joins the EMP table to itself. To simulate two tables in the FROM clause, there are two aliases, namely WORKER and MANAGER, for the same table, EMP. </a:t>
            </a:r>
          </a:p>
          <a:p>
            <a:pPr marL="114300" lvl="1" defTabSz="377825">
              <a:tabLst>
                <a:tab pos="441325" algn="l"/>
              </a:tabLst>
            </a:pPr>
            <a:r>
              <a:rPr lang="en-US" altLang="en-US">
                <a:latin typeface="Arial" panose="020B0604020202020204" pitchFamily="34" charset="0"/>
              </a:rPr>
              <a:t>In this example, the WHERE clause contains the join that means “where a worker’s manager number matches the employee number for the manager.”</a:t>
            </a:r>
          </a:p>
          <a:p>
            <a:pPr marL="114300" lvl="1" defTabSz="377825">
              <a:tabLst>
                <a:tab pos="441325" algn="l"/>
              </a:tabLst>
            </a:pPr>
            <a:endParaRPr lang="en-US" altLang="en-US">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r>
              <a:rPr lang="en-US" altLang="en-US">
                <a:solidFill>
                  <a:schemeClr val="accent2"/>
                </a:solidFill>
                <a:latin typeface="Arial" panose="020B0604020202020204" pitchFamily="34" charset="0"/>
              </a:rPr>
              <a:t>Class Management Note</a:t>
            </a:r>
          </a:p>
          <a:p>
            <a:pPr marL="114300" lvl="1" defTabSz="377825">
              <a:tabLst>
                <a:tab pos="441325" algn="l"/>
              </a:tabLst>
            </a:pPr>
            <a:r>
              <a:rPr lang="en-US" altLang="en-US">
                <a:solidFill>
                  <a:schemeClr val="accent2"/>
                </a:solidFill>
                <a:latin typeface="Arial" panose="020B0604020202020204" pitchFamily="34" charset="0"/>
              </a:rPr>
              <a:t>Point out the following to the students:</a:t>
            </a:r>
          </a:p>
          <a:p>
            <a:pPr marL="434975" lvl="2" indent="-206375" defTabSz="377825">
              <a:tabLst>
                <a:tab pos="441325" algn="l"/>
              </a:tabLst>
            </a:pPr>
            <a:r>
              <a:rPr lang="en-US" altLang="en-US">
                <a:solidFill>
                  <a:schemeClr val="accent2"/>
                </a:solidFill>
                <a:latin typeface="Arial" panose="020B0604020202020204" pitchFamily="34" charset="0"/>
              </a:rPr>
              <a:t>The column heading in the result of the query on the slide seems meaningless. A meaningful column alias should have been used instead.</a:t>
            </a:r>
          </a:p>
          <a:p>
            <a:pPr marL="434975" lvl="2" indent="-206375" defTabSz="377825">
              <a:tabLst>
                <a:tab pos="441325" algn="l"/>
              </a:tabLst>
            </a:pPr>
            <a:r>
              <a:rPr lang="en-US" altLang="en-US">
                <a:solidFill>
                  <a:schemeClr val="accent2"/>
                </a:solidFill>
                <a:latin typeface="Arial" panose="020B0604020202020204" pitchFamily="34" charset="0"/>
              </a:rPr>
              <a:t>There are only 13 rows in the output, but there are 14 rows in the EMP table. This occurs because employee King, who is the president, does not have a manager.</a:t>
            </a:r>
            <a:r>
              <a:rPr lang="en-US" altLang="en-US">
                <a:latin typeface="Arial" panose="020B0604020202020204" pitchFamily="34" charset="0"/>
              </a:rPr>
              <a:t> </a:t>
            </a:r>
          </a:p>
        </p:txBody>
      </p:sp>
      <p:sp>
        <p:nvSpPr>
          <p:cNvPr id="65541" name="Rectangle 5">
            <a:extLst>
              <a:ext uri="{FF2B5EF4-FFF2-40B4-BE49-F238E27FC236}">
                <a16:creationId xmlns:a16="http://schemas.microsoft.com/office/drawing/2014/main" id="{0CDF1C7F-D4EF-2139-BD2E-AACF8D64C820}"/>
              </a:ext>
            </a:extLst>
          </p:cNvPr>
          <p:cNvSpPr>
            <a:spLocks noGrp="1" noRot="1" noChangeArrowheads="1" noTextEdit="1"/>
          </p:cNvSpPr>
          <p:nvPr>
            <p:ph type="sldImg"/>
          </p:nvPr>
        </p:nvSpPr>
        <p:spPr>
          <a:xfrm>
            <a:off x="411163" y="187325"/>
            <a:ext cx="6030912" cy="4522788"/>
          </a:xfrm>
          <a:ln w="12700" cap="flat">
            <a:solidFill>
              <a:schemeClr val="tx1"/>
            </a:solid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7E42EDF-C177-AC22-489C-1AAC800A3D7C}"/>
              </a:ext>
            </a:extLst>
          </p:cNvPr>
          <p:cNvSpPr>
            <a:spLocks noChangeArrowheads="1"/>
          </p:cNvSpPr>
          <p:nvPr/>
        </p:nvSpPr>
        <p:spPr bwMode="auto">
          <a:xfrm>
            <a:off x="3883025" y="-1588"/>
            <a:ext cx="2974975"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7587" name="Rectangle 3">
            <a:extLst>
              <a:ext uri="{FF2B5EF4-FFF2-40B4-BE49-F238E27FC236}">
                <a16:creationId xmlns:a16="http://schemas.microsoft.com/office/drawing/2014/main" id="{1AD01104-0FAD-DCB3-0F9A-BC41F0F2269D}"/>
              </a:ext>
            </a:extLst>
          </p:cNvPr>
          <p:cNvSpPr>
            <a:spLocks noChangeArrowheads="1"/>
          </p:cNvSpPr>
          <p:nvPr/>
        </p:nvSpPr>
        <p:spPr bwMode="auto">
          <a:xfrm>
            <a:off x="-1588" y="-1588"/>
            <a:ext cx="2971801"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7588" name="Rectangle 4">
            <a:extLst>
              <a:ext uri="{FF2B5EF4-FFF2-40B4-BE49-F238E27FC236}">
                <a16:creationId xmlns:a16="http://schemas.microsoft.com/office/drawing/2014/main" id="{8F92DBDC-A678-CFC3-72E1-8AA47BA0119A}"/>
              </a:ext>
            </a:extLst>
          </p:cNvPr>
          <p:cNvSpPr>
            <a:spLocks noGrp="1" noChangeArrowheads="1"/>
          </p:cNvSpPr>
          <p:nvPr>
            <p:ph type="body" idx="1"/>
          </p:nvPr>
        </p:nvSpPr>
        <p:spPr>
          <a:xfrm>
            <a:off x="455613" y="4849813"/>
            <a:ext cx="59848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1325" algn="l"/>
              </a:tabLst>
            </a:pPr>
            <a:r>
              <a:rPr lang="en-US" altLang="en-US">
                <a:latin typeface="Arial" panose="020B0604020202020204" pitchFamily="34" charset="0"/>
              </a:rPr>
              <a:t>Joining a Table to Itself (continued)</a:t>
            </a:r>
          </a:p>
          <a:p>
            <a:pPr marL="114300" lvl="1" defTabSz="377825">
              <a:tabLst>
                <a:tab pos="441325" algn="l"/>
              </a:tabLst>
            </a:pPr>
            <a:r>
              <a:rPr lang="en-US" altLang="en-US">
                <a:latin typeface="Arial" panose="020B0604020202020204" pitchFamily="34" charset="0"/>
              </a:rPr>
              <a:t>The slide example joins the EMP table to itself. To simulate two tables in the FROM clause, there are two aliases, namely WORKER and MANAGER, for the same table, EMP. </a:t>
            </a:r>
          </a:p>
          <a:p>
            <a:pPr marL="114300" lvl="1" defTabSz="377825">
              <a:tabLst>
                <a:tab pos="441325" algn="l"/>
              </a:tabLst>
            </a:pPr>
            <a:r>
              <a:rPr lang="en-US" altLang="en-US">
                <a:latin typeface="Arial" panose="020B0604020202020204" pitchFamily="34" charset="0"/>
              </a:rPr>
              <a:t>In this example, the WHERE clause contains the join that means “where a worker’s manager number matches the employee number for the manager.”</a:t>
            </a:r>
          </a:p>
          <a:p>
            <a:pPr marL="114300" lvl="1" defTabSz="377825">
              <a:tabLst>
                <a:tab pos="441325" algn="l"/>
              </a:tabLst>
            </a:pPr>
            <a:endParaRPr lang="en-US" altLang="en-US">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endParaRPr lang="en-US" altLang="en-US">
              <a:solidFill>
                <a:schemeClr val="accent2"/>
              </a:solidFill>
              <a:latin typeface="Arial" panose="020B0604020202020204" pitchFamily="34" charset="0"/>
            </a:endParaRPr>
          </a:p>
          <a:p>
            <a:pPr defTabSz="377825">
              <a:tabLst>
                <a:tab pos="441325" algn="l"/>
              </a:tabLst>
            </a:pPr>
            <a:r>
              <a:rPr lang="en-US" altLang="en-US">
                <a:solidFill>
                  <a:schemeClr val="accent2"/>
                </a:solidFill>
                <a:latin typeface="Arial" panose="020B0604020202020204" pitchFamily="34" charset="0"/>
              </a:rPr>
              <a:t>Class Management Note</a:t>
            </a:r>
          </a:p>
          <a:p>
            <a:pPr marL="114300" lvl="1" defTabSz="377825">
              <a:tabLst>
                <a:tab pos="441325" algn="l"/>
              </a:tabLst>
            </a:pPr>
            <a:r>
              <a:rPr lang="en-US" altLang="en-US">
                <a:solidFill>
                  <a:schemeClr val="accent2"/>
                </a:solidFill>
                <a:latin typeface="Arial" panose="020B0604020202020204" pitchFamily="34" charset="0"/>
              </a:rPr>
              <a:t>Point out the following to the students:</a:t>
            </a:r>
          </a:p>
          <a:p>
            <a:pPr marL="434975" lvl="2" indent="-206375" defTabSz="377825">
              <a:tabLst>
                <a:tab pos="441325" algn="l"/>
              </a:tabLst>
            </a:pPr>
            <a:r>
              <a:rPr lang="en-US" altLang="en-US">
                <a:solidFill>
                  <a:schemeClr val="accent2"/>
                </a:solidFill>
                <a:latin typeface="Arial" panose="020B0604020202020204" pitchFamily="34" charset="0"/>
              </a:rPr>
              <a:t>The column heading in the result of the query on the slide seems meaningless. A meaningful column alias should have been used instead.</a:t>
            </a:r>
          </a:p>
          <a:p>
            <a:pPr marL="434975" lvl="2" indent="-206375" defTabSz="377825">
              <a:tabLst>
                <a:tab pos="441325" algn="l"/>
              </a:tabLst>
            </a:pPr>
            <a:r>
              <a:rPr lang="en-US" altLang="en-US">
                <a:solidFill>
                  <a:schemeClr val="accent2"/>
                </a:solidFill>
                <a:latin typeface="Arial" panose="020B0604020202020204" pitchFamily="34" charset="0"/>
              </a:rPr>
              <a:t>There are only 13 rows in the output, but there are 14 rows in the EMP table. This occurs because employee King, who is the president, does not have a manager.</a:t>
            </a:r>
            <a:r>
              <a:rPr lang="en-US" altLang="en-US">
                <a:latin typeface="Arial" panose="020B0604020202020204" pitchFamily="34" charset="0"/>
              </a:rPr>
              <a:t> </a:t>
            </a:r>
          </a:p>
        </p:txBody>
      </p:sp>
      <p:sp>
        <p:nvSpPr>
          <p:cNvPr id="67589" name="Rectangle 5">
            <a:extLst>
              <a:ext uri="{FF2B5EF4-FFF2-40B4-BE49-F238E27FC236}">
                <a16:creationId xmlns:a16="http://schemas.microsoft.com/office/drawing/2014/main" id="{CA52BDDC-F903-FB22-1FA3-331F6697A05C}"/>
              </a:ext>
            </a:extLst>
          </p:cNvPr>
          <p:cNvSpPr>
            <a:spLocks noGrp="1" noRot="1" noChangeArrowheads="1" noTextEdit="1"/>
          </p:cNvSpPr>
          <p:nvPr>
            <p:ph type="sldImg"/>
          </p:nvPr>
        </p:nvSpPr>
        <p:spPr>
          <a:xfrm>
            <a:off x="411163" y="187325"/>
            <a:ext cx="6030912" cy="4522788"/>
          </a:xfrm>
          <a:ln w="12700" cap="flat">
            <a:solidFill>
              <a:schemeClr val="tx1"/>
            </a:solid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13A006A-E966-754D-D427-20B66F9D1578}"/>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69635" name="Rectangle 3">
            <a:extLst>
              <a:ext uri="{FF2B5EF4-FFF2-40B4-BE49-F238E27FC236}">
                <a16:creationId xmlns:a16="http://schemas.microsoft.com/office/drawing/2014/main" id="{9662C686-8A44-43D7-4FEA-BA2193D370B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Additional Search Conditions</a:t>
            </a:r>
          </a:p>
          <a:p>
            <a:pPr lvl="1"/>
            <a:r>
              <a:rPr lang="en-US" altLang="en-US">
                <a:latin typeface="Arial" panose="020B0604020202020204" pitchFamily="34" charset="0"/>
              </a:rPr>
              <a:t>Sometimes you may need to join more than two tables. For example, to display the name, the orders placed, the item numbers, the total for each item, and the total for each order for customer TKB SPORT SHOP, you will have to join the CUSTOMER, ORD, and ITEM tables.  </a:t>
            </a:r>
          </a:p>
          <a:p>
            <a:endParaRPr lang="en-US" altLang="en-US">
              <a:latin typeface="Arial" panose="020B0604020202020204" pitchFamily="34" charset="0"/>
            </a:endParaRPr>
          </a:p>
          <a:p>
            <a:endParaRPr lang="en-US" altLang="en-US">
              <a:latin typeface="Arial" panose="020B0604020202020204" pitchFamily="34" charset="0"/>
            </a:endParaRPr>
          </a:p>
        </p:txBody>
      </p:sp>
      <p:sp>
        <p:nvSpPr>
          <p:cNvPr id="69636" name="Rectangle 4">
            <a:extLst>
              <a:ext uri="{FF2B5EF4-FFF2-40B4-BE49-F238E27FC236}">
                <a16:creationId xmlns:a16="http://schemas.microsoft.com/office/drawing/2014/main" id="{20895162-BE42-E608-9A06-4C41DB54D772}"/>
              </a:ext>
            </a:extLst>
          </p:cNvPr>
          <p:cNvSpPr>
            <a:spLocks noChangeArrowheads="1"/>
          </p:cNvSpPr>
          <p:nvPr/>
        </p:nvSpPr>
        <p:spPr bwMode="auto">
          <a:xfrm>
            <a:off x="619125" y="5683250"/>
            <a:ext cx="5665788" cy="10080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c.name, o.ordid, i.itemid, i.itemtot, o.total</a:t>
            </a:r>
          </a:p>
          <a:p>
            <a:pPr>
              <a:spcBef>
                <a:spcPct val="0"/>
              </a:spcBef>
            </a:pPr>
            <a:r>
              <a:rPr lang="en-US" altLang="en-US" sz="1100" b="1">
                <a:latin typeface="Courier New" panose="02070309020205020404" pitchFamily="49" charset="0"/>
              </a:rPr>
              <a:t>  2  FROM 	customer c, ord o, item i</a:t>
            </a:r>
          </a:p>
          <a:p>
            <a:pPr>
              <a:spcBef>
                <a:spcPct val="0"/>
              </a:spcBef>
            </a:pPr>
            <a:r>
              <a:rPr lang="en-US" altLang="en-US" sz="1100" b="1">
                <a:latin typeface="Courier New" panose="02070309020205020404" pitchFamily="49" charset="0"/>
              </a:rPr>
              <a:t>  3  WHERE	c.custid = o.custid</a:t>
            </a:r>
          </a:p>
          <a:p>
            <a:pPr>
              <a:spcBef>
                <a:spcPct val="0"/>
              </a:spcBef>
            </a:pPr>
            <a:r>
              <a:rPr lang="en-US" altLang="en-US" sz="1100" b="1">
                <a:latin typeface="Courier New" panose="02070309020205020404" pitchFamily="49" charset="0"/>
              </a:rPr>
              <a:t>  4  AND	o.ordid = i.ordid</a:t>
            </a:r>
          </a:p>
          <a:p>
            <a:pPr>
              <a:spcBef>
                <a:spcPct val="0"/>
              </a:spcBef>
            </a:pPr>
            <a:r>
              <a:rPr lang="en-US" altLang="en-US" sz="1100" b="1">
                <a:latin typeface="Courier New" panose="02070309020205020404" pitchFamily="49" charset="0"/>
              </a:rPr>
              <a:t>  5  AND	c.name = 'TKB SPORT SHOP';</a:t>
            </a:r>
          </a:p>
        </p:txBody>
      </p:sp>
      <p:sp>
        <p:nvSpPr>
          <p:cNvPr id="69637" name="Rectangle 5">
            <a:extLst>
              <a:ext uri="{FF2B5EF4-FFF2-40B4-BE49-F238E27FC236}">
                <a16:creationId xmlns:a16="http://schemas.microsoft.com/office/drawing/2014/main" id="{52364665-16DB-F422-FF45-5EB5F9906D01}"/>
              </a:ext>
            </a:extLst>
          </p:cNvPr>
          <p:cNvSpPr>
            <a:spLocks noChangeArrowheads="1"/>
          </p:cNvSpPr>
          <p:nvPr/>
        </p:nvSpPr>
        <p:spPr bwMode="auto">
          <a:xfrm>
            <a:off x="619125" y="6805613"/>
            <a:ext cx="5665788" cy="9540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NAME             ORDID    ITEMID   ITEMTOT     TOTAL</a:t>
            </a:r>
          </a:p>
          <a:p>
            <a:pPr>
              <a:spcBef>
                <a:spcPct val="0"/>
              </a:spcBef>
            </a:pPr>
            <a:r>
              <a:rPr lang="en-US" altLang="en-US" sz="1100">
                <a:latin typeface="Courier New" panose="02070309020205020404" pitchFamily="49" charset="0"/>
              </a:rPr>
              <a:t>------------ --------- --------- --------- ---------</a:t>
            </a:r>
          </a:p>
          <a:p>
            <a:pPr>
              <a:spcBef>
                <a:spcPct val="0"/>
              </a:spcBef>
            </a:pPr>
            <a:r>
              <a:rPr lang="en-US" altLang="en-US" sz="1100">
                <a:latin typeface="Courier New" panose="02070309020205020404" pitchFamily="49" charset="0"/>
              </a:rPr>
              <a:t>TKB SPORT SHOP     610         3        58     101.4</a:t>
            </a:r>
          </a:p>
          <a:p>
            <a:pPr>
              <a:spcBef>
                <a:spcPct val="0"/>
              </a:spcBef>
            </a:pPr>
            <a:r>
              <a:rPr lang="en-US" altLang="en-US" sz="1100">
                <a:latin typeface="Courier New" panose="02070309020205020404" pitchFamily="49" charset="0"/>
              </a:rPr>
              <a:t>TKB SPORT SHOP     610         1        35     101.4</a:t>
            </a:r>
          </a:p>
          <a:p>
            <a:pPr>
              <a:spcBef>
                <a:spcPct val="0"/>
              </a:spcBef>
            </a:pPr>
            <a:r>
              <a:rPr lang="en-US" altLang="en-US" sz="1100">
                <a:latin typeface="Courier New" panose="02070309020205020404" pitchFamily="49" charset="0"/>
              </a:rPr>
              <a:t>TKB SPORT SHOP     610         2       8.4     101.4</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89B3482-61D2-D862-B287-74A941677BC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Additional Search Conditions</a:t>
            </a:r>
            <a:endParaRPr lang="en-US" altLang="en-US">
              <a:latin typeface="Times" panose="02020603050405020304" pitchFamily="18" charset="0"/>
            </a:endParaRPr>
          </a:p>
          <a:p>
            <a:pPr marL="114300" lvl="1" defTabSz="384175"/>
            <a:r>
              <a:rPr lang="en-US" altLang="en-US">
                <a:latin typeface="Arial" panose="020B0604020202020204" pitchFamily="34" charset="0"/>
              </a:rPr>
              <a:t>In addition to the join, you may have criteria for your WHERE clause. For example, to display employee King’s employee number, name, department number, and department location, you need an additional condition in the WHERE clause. </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endParaRPr lang="en-US" altLang="en-US" b="1">
              <a:latin typeface="Times New Roman" panose="02020603050405020304" pitchFamily="18" charset="0"/>
            </a:endParaRPr>
          </a:p>
        </p:txBody>
      </p:sp>
      <p:sp>
        <p:nvSpPr>
          <p:cNvPr id="71683" name="Rectangle 3">
            <a:extLst>
              <a:ext uri="{FF2B5EF4-FFF2-40B4-BE49-F238E27FC236}">
                <a16:creationId xmlns:a16="http://schemas.microsoft.com/office/drawing/2014/main" id="{05172CE3-075B-23DD-DD23-69968D2590FF}"/>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71684" name="Rectangle 4">
            <a:extLst>
              <a:ext uri="{FF2B5EF4-FFF2-40B4-BE49-F238E27FC236}">
                <a16:creationId xmlns:a16="http://schemas.microsoft.com/office/drawing/2014/main" id="{82726EC6-9363-7DDD-82AD-DED3460D4218}"/>
              </a:ext>
            </a:extLst>
          </p:cNvPr>
          <p:cNvSpPr>
            <a:spLocks noChangeArrowheads="1"/>
          </p:cNvSpPr>
          <p:nvPr/>
        </p:nvSpPr>
        <p:spPr bwMode="auto">
          <a:xfrm>
            <a:off x="622300" y="5678488"/>
            <a:ext cx="5567363" cy="8080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solidFill>
                  <a:srgbClr val="000000"/>
                </a:solidFill>
                <a:latin typeface="Courier New" panose="02070309020205020404" pitchFamily="49" charset="0"/>
              </a:rPr>
              <a:t>SQL&gt; SELECT	 empno, ename, emp.deptno, loc</a:t>
            </a:r>
          </a:p>
          <a:p>
            <a:pPr>
              <a:spcBef>
                <a:spcPct val="0"/>
              </a:spcBef>
            </a:pPr>
            <a:r>
              <a:rPr lang="en-US" altLang="en-US" sz="1100" b="1">
                <a:solidFill>
                  <a:srgbClr val="000000"/>
                </a:solidFill>
                <a:latin typeface="Courier New" panose="02070309020205020404" pitchFamily="49" charset="0"/>
              </a:rPr>
              <a:t>  2  FROM	 emp, dept</a:t>
            </a:r>
          </a:p>
          <a:p>
            <a:pPr>
              <a:spcBef>
                <a:spcPct val="0"/>
              </a:spcBef>
            </a:pPr>
            <a:r>
              <a:rPr lang="en-US" altLang="en-US" sz="1100" b="1">
                <a:solidFill>
                  <a:srgbClr val="000000"/>
                </a:solidFill>
                <a:latin typeface="Courier New" panose="02070309020205020404" pitchFamily="49" charset="0"/>
              </a:rPr>
              <a:t>  3  WHERE	 emp.deptno = dept.deptno</a:t>
            </a:r>
          </a:p>
          <a:p>
            <a:pPr>
              <a:spcBef>
                <a:spcPct val="0"/>
              </a:spcBef>
            </a:pPr>
            <a:r>
              <a:rPr lang="en-US" altLang="en-US" sz="1100" b="1">
                <a:solidFill>
                  <a:srgbClr val="000000"/>
                </a:solidFill>
                <a:latin typeface="Courier New" panose="02070309020205020404" pitchFamily="49" charset="0"/>
              </a:rPr>
              <a:t>  4  AND	 INITCAP(ename) = 'King';</a:t>
            </a:r>
          </a:p>
          <a:p>
            <a:pPr>
              <a:spcBef>
                <a:spcPct val="0"/>
              </a:spcBef>
            </a:pPr>
            <a:endParaRPr lang="en-US" altLang="en-US" sz="1100" b="1">
              <a:solidFill>
                <a:srgbClr val="000000"/>
              </a:solidFill>
              <a:latin typeface="Courier New" panose="02070309020205020404" pitchFamily="49" charset="0"/>
            </a:endParaRPr>
          </a:p>
          <a:p>
            <a:pPr>
              <a:spcBef>
                <a:spcPct val="0"/>
              </a:spcBef>
            </a:pPr>
            <a:r>
              <a:rPr lang="en-US" altLang="en-US" sz="1100">
                <a:solidFill>
                  <a:srgbClr val="000000"/>
                </a:solidFill>
                <a:latin typeface="Courier New" panose="02070309020205020404" pitchFamily="49" charset="0"/>
              </a:rPr>
              <a:t> </a:t>
            </a:r>
          </a:p>
          <a:p>
            <a:pPr>
              <a:spcBef>
                <a:spcPct val="0"/>
              </a:spcBef>
            </a:pPr>
            <a:r>
              <a:rPr lang="en-US" altLang="en-US" sz="1100">
                <a:solidFill>
                  <a:srgbClr val="000000"/>
                </a:solidFill>
                <a:latin typeface="Courier New" panose="02070309020205020404" pitchFamily="49" charset="0"/>
              </a:rPr>
              <a:t>    </a:t>
            </a:r>
          </a:p>
        </p:txBody>
      </p:sp>
      <p:sp>
        <p:nvSpPr>
          <p:cNvPr id="71685" name="Rectangle 5">
            <a:extLst>
              <a:ext uri="{FF2B5EF4-FFF2-40B4-BE49-F238E27FC236}">
                <a16:creationId xmlns:a16="http://schemas.microsoft.com/office/drawing/2014/main" id="{FD57EB8B-52F4-683C-1530-5A949774574A}"/>
              </a:ext>
            </a:extLst>
          </p:cNvPr>
          <p:cNvSpPr>
            <a:spLocks noChangeArrowheads="1"/>
          </p:cNvSpPr>
          <p:nvPr/>
        </p:nvSpPr>
        <p:spPr bwMode="auto">
          <a:xfrm>
            <a:off x="622300" y="6605588"/>
            <a:ext cx="5567363" cy="6286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solidFill>
                  <a:srgbClr val="000000"/>
                </a:solidFill>
                <a:latin typeface="Courier New" panose="02070309020205020404" pitchFamily="49" charset="0"/>
              </a:rPr>
              <a:t>    EMPNO ENAME         DEPTNO LOC</a:t>
            </a:r>
          </a:p>
          <a:p>
            <a:pPr>
              <a:spcBef>
                <a:spcPct val="0"/>
              </a:spcBef>
            </a:pPr>
            <a:r>
              <a:rPr lang="en-US" altLang="en-US" sz="1100">
                <a:solidFill>
                  <a:srgbClr val="000000"/>
                </a:solidFill>
                <a:latin typeface="Courier New" panose="02070309020205020404" pitchFamily="49" charset="0"/>
              </a:rPr>
              <a:t>--------- ---------- --------- -------------</a:t>
            </a:r>
          </a:p>
          <a:p>
            <a:pPr>
              <a:spcBef>
                <a:spcPct val="0"/>
              </a:spcBef>
            </a:pPr>
            <a:r>
              <a:rPr lang="en-US" altLang="en-US" sz="1100">
                <a:solidFill>
                  <a:srgbClr val="000000"/>
                </a:solidFill>
                <a:latin typeface="Courier New" panose="02070309020205020404" pitchFamily="49" charset="0"/>
              </a:rPr>
              <a:t>     7839 KING              10 NEW YORK</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B012AFF-A8EA-D5DE-A982-C5E44F88EAB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Additional Search Conditions</a:t>
            </a:r>
            <a:endParaRPr lang="en-US" altLang="en-US">
              <a:latin typeface="Times" panose="02020603050405020304" pitchFamily="18" charset="0"/>
            </a:endParaRPr>
          </a:p>
          <a:p>
            <a:pPr marL="114300" lvl="1" defTabSz="384175"/>
            <a:r>
              <a:rPr lang="en-US" altLang="en-US">
                <a:latin typeface="Arial" panose="020B0604020202020204" pitchFamily="34" charset="0"/>
              </a:rPr>
              <a:t>In addition to the join, you may have criteria for your WHERE clause. For example, to display employee King’s employee number, name, department number, and department location, you need an additional condition in the WHERE clause. </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endParaRPr lang="en-US" altLang="en-US" b="1">
              <a:latin typeface="Times New Roman" panose="02020603050405020304" pitchFamily="18" charset="0"/>
            </a:endParaRPr>
          </a:p>
        </p:txBody>
      </p:sp>
      <p:sp>
        <p:nvSpPr>
          <p:cNvPr id="73731" name="Rectangle 3">
            <a:extLst>
              <a:ext uri="{FF2B5EF4-FFF2-40B4-BE49-F238E27FC236}">
                <a16:creationId xmlns:a16="http://schemas.microsoft.com/office/drawing/2014/main" id="{51A88F78-3482-4FCC-CAE5-40369E3FC651}"/>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73732" name="Rectangle 4">
            <a:extLst>
              <a:ext uri="{FF2B5EF4-FFF2-40B4-BE49-F238E27FC236}">
                <a16:creationId xmlns:a16="http://schemas.microsoft.com/office/drawing/2014/main" id="{813B8E38-6840-35FA-3543-96455C2780B1}"/>
              </a:ext>
            </a:extLst>
          </p:cNvPr>
          <p:cNvSpPr>
            <a:spLocks noChangeArrowheads="1"/>
          </p:cNvSpPr>
          <p:nvPr/>
        </p:nvSpPr>
        <p:spPr bwMode="auto">
          <a:xfrm>
            <a:off x="622300" y="5678488"/>
            <a:ext cx="5567363" cy="8080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solidFill>
                  <a:srgbClr val="000000"/>
                </a:solidFill>
                <a:latin typeface="Courier New" panose="02070309020205020404" pitchFamily="49" charset="0"/>
              </a:rPr>
              <a:t>SQL&gt; SELECT	 empno, ename, emp.deptno, loc</a:t>
            </a:r>
          </a:p>
          <a:p>
            <a:pPr>
              <a:spcBef>
                <a:spcPct val="0"/>
              </a:spcBef>
            </a:pPr>
            <a:r>
              <a:rPr lang="en-US" altLang="en-US" sz="1100" b="1">
                <a:solidFill>
                  <a:srgbClr val="000000"/>
                </a:solidFill>
                <a:latin typeface="Courier New" panose="02070309020205020404" pitchFamily="49" charset="0"/>
              </a:rPr>
              <a:t>  2  FROM	 emp, dept</a:t>
            </a:r>
          </a:p>
          <a:p>
            <a:pPr>
              <a:spcBef>
                <a:spcPct val="0"/>
              </a:spcBef>
            </a:pPr>
            <a:r>
              <a:rPr lang="en-US" altLang="en-US" sz="1100" b="1">
                <a:solidFill>
                  <a:srgbClr val="000000"/>
                </a:solidFill>
                <a:latin typeface="Courier New" panose="02070309020205020404" pitchFamily="49" charset="0"/>
              </a:rPr>
              <a:t>  3  WHERE	 emp.deptno = dept.deptno</a:t>
            </a:r>
          </a:p>
          <a:p>
            <a:pPr>
              <a:spcBef>
                <a:spcPct val="0"/>
              </a:spcBef>
            </a:pPr>
            <a:r>
              <a:rPr lang="en-US" altLang="en-US" sz="1100" b="1">
                <a:solidFill>
                  <a:srgbClr val="000000"/>
                </a:solidFill>
                <a:latin typeface="Courier New" panose="02070309020205020404" pitchFamily="49" charset="0"/>
              </a:rPr>
              <a:t>  4  AND	 INITCAP(ename) = 'King';</a:t>
            </a:r>
          </a:p>
          <a:p>
            <a:pPr>
              <a:spcBef>
                <a:spcPct val="0"/>
              </a:spcBef>
            </a:pPr>
            <a:endParaRPr lang="en-US" altLang="en-US" sz="1100" b="1">
              <a:solidFill>
                <a:srgbClr val="000000"/>
              </a:solidFill>
              <a:latin typeface="Courier New" panose="02070309020205020404" pitchFamily="49" charset="0"/>
            </a:endParaRPr>
          </a:p>
          <a:p>
            <a:pPr>
              <a:spcBef>
                <a:spcPct val="0"/>
              </a:spcBef>
            </a:pPr>
            <a:r>
              <a:rPr lang="en-US" altLang="en-US" sz="1100">
                <a:solidFill>
                  <a:srgbClr val="000000"/>
                </a:solidFill>
                <a:latin typeface="Courier New" panose="02070309020205020404" pitchFamily="49" charset="0"/>
              </a:rPr>
              <a:t> </a:t>
            </a:r>
          </a:p>
          <a:p>
            <a:pPr>
              <a:spcBef>
                <a:spcPct val="0"/>
              </a:spcBef>
            </a:pPr>
            <a:r>
              <a:rPr lang="en-US" altLang="en-US" sz="1100">
                <a:solidFill>
                  <a:srgbClr val="000000"/>
                </a:solidFill>
                <a:latin typeface="Courier New" panose="02070309020205020404" pitchFamily="49" charset="0"/>
              </a:rPr>
              <a:t>    </a:t>
            </a:r>
          </a:p>
        </p:txBody>
      </p:sp>
      <p:sp>
        <p:nvSpPr>
          <p:cNvPr id="73733" name="Rectangle 5">
            <a:extLst>
              <a:ext uri="{FF2B5EF4-FFF2-40B4-BE49-F238E27FC236}">
                <a16:creationId xmlns:a16="http://schemas.microsoft.com/office/drawing/2014/main" id="{E2721159-EA1D-1EFF-348A-84DAC64723A8}"/>
              </a:ext>
            </a:extLst>
          </p:cNvPr>
          <p:cNvSpPr>
            <a:spLocks noChangeArrowheads="1"/>
          </p:cNvSpPr>
          <p:nvPr/>
        </p:nvSpPr>
        <p:spPr bwMode="auto">
          <a:xfrm>
            <a:off x="622300" y="6605588"/>
            <a:ext cx="5567363" cy="6286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8244" rIns="94881" bIns="48244"/>
          <a:lstStyle>
            <a:lvl1pPr defTabSz="955675">
              <a:spcBef>
                <a:spcPct val="30000"/>
              </a:spcBef>
              <a:defRPr sz="1200">
                <a:solidFill>
                  <a:schemeClr val="tx1"/>
                </a:solidFill>
                <a:latin typeface="Arial" panose="020B0604020202020204" pitchFamily="34" charset="0"/>
              </a:defRPr>
            </a:lvl1pPr>
            <a:lvl2pPr marL="742950" indent="-285750" defTabSz="955675">
              <a:spcBef>
                <a:spcPct val="30000"/>
              </a:spcBef>
              <a:defRPr sz="1200">
                <a:solidFill>
                  <a:schemeClr val="tx1"/>
                </a:solidFill>
                <a:latin typeface="Arial" panose="020B0604020202020204" pitchFamily="34" charset="0"/>
              </a:defRPr>
            </a:lvl2pPr>
            <a:lvl3pPr marL="1143000" indent="-228600" defTabSz="955675">
              <a:spcBef>
                <a:spcPct val="30000"/>
              </a:spcBef>
              <a:defRPr sz="1200">
                <a:solidFill>
                  <a:schemeClr val="tx1"/>
                </a:solidFill>
                <a:latin typeface="Arial" panose="020B0604020202020204" pitchFamily="34" charset="0"/>
              </a:defRPr>
            </a:lvl3pPr>
            <a:lvl4pPr marL="1600200" indent="-228600" defTabSz="955675">
              <a:spcBef>
                <a:spcPct val="30000"/>
              </a:spcBef>
              <a:defRPr sz="1200">
                <a:solidFill>
                  <a:schemeClr val="tx1"/>
                </a:solidFill>
                <a:latin typeface="Arial" panose="020B0604020202020204" pitchFamily="34" charset="0"/>
              </a:defRPr>
            </a:lvl4pPr>
            <a:lvl5pPr marL="2057400" indent="-228600" defTabSz="955675">
              <a:spcBef>
                <a:spcPct val="30000"/>
              </a:spcBef>
              <a:defRPr sz="1200">
                <a:solidFill>
                  <a:schemeClr val="tx1"/>
                </a:solidFill>
                <a:latin typeface="Arial" panose="020B0604020202020204" pitchFamily="34" charset="0"/>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solidFill>
                  <a:srgbClr val="000000"/>
                </a:solidFill>
                <a:latin typeface="Courier New" panose="02070309020205020404" pitchFamily="49" charset="0"/>
              </a:rPr>
              <a:t>    EMPNO ENAME         DEPTNO LOC</a:t>
            </a:r>
          </a:p>
          <a:p>
            <a:pPr>
              <a:spcBef>
                <a:spcPct val="0"/>
              </a:spcBef>
            </a:pPr>
            <a:r>
              <a:rPr lang="en-US" altLang="en-US" sz="1100">
                <a:solidFill>
                  <a:srgbClr val="000000"/>
                </a:solidFill>
                <a:latin typeface="Courier New" panose="02070309020205020404" pitchFamily="49" charset="0"/>
              </a:rPr>
              <a:t>--------- ---------- --------- -------------</a:t>
            </a:r>
          </a:p>
          <a:p>
            <a:pPr>
              <a:spcBef>
                <a:spcPct val="0"/>
              </a:spcBef>
            </a:pPr>
            <a:r>
              <a:rPr lang="en-US" altLang="en-US" sz="1100">
                <a:solidFill>
                  <a:srgbClr val="000000"/>
                </a:solidFill>
                <a:latin typeface="Courier New" panose="02070309020205020404" pitchFamily="49" charset="0"/>
              </a:rPr>
              <a:t>     7839 KING              10 NEW YORK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46540FB4-3079-6B5C-5685-68ECFDC3104D}"/>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7827" name="Rectangle 3">
            <a:extLst>
              <a:ext uri="{FF2B5EF4-FFF2-40B4-BE49-F238E27FC236}">
                <a16:creationId xmlns:a16="http://schemas.microsoft.com/office/drawing/2014/main" id="{AEE11B52-F3F9-D4F7-3AC1-29C53BCDBFE1}"/>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7828" name="Rectangle 4">
            <a:extLst>
              <a:ext uri="{FF2B5EF4-FFF2-40B4-BE49-F238E27FC236}">
                <a16:creationId xmlns:a16="http://schemas.microsoft.com/office/drawing/2014/main" id="{9F6CAEBF-057B-56A5-19F9-F2529197EFF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Types of Joins</a:t>
            </a:r>
          </a:p>
          <a:p>
            <a:pPr lvl="1"/>
            <a:r>
              <a:rPr lang="en-US" altLang="en-US">
                <a:latin typeface="Arial" panose="020B0604020202020204" pitchFamily="34" charset="0"/>
              </a:rPr>
              <a:t>There are two main types of join conditions:</a:t>
            </a:r>
          </a:p>
          <a:p>
            <a:pPr lvl="2"/>
            <a:r>
              <a:rPr lang="en-US" altLang="en-US">
                <a:latin typeface="Arial" panose="020B0604020202020204" pitchFamily="34" charset="0"/>
              </a:rPr>
              <a:t>Equijoins</a:t>
            </a:r>
          </a:p>
          <a:p>
            <a:pPr lvl="2"/>
            <a:r>
              <a:rPr lang="en-US" altLang="en-US">
                <a:latin typeface="Arial" panose="020B0604020202020204" pitchFamily="34" charset="0"/>
              </a:rPr>
              <a:t>Non-equijoins</a:t>
            </a:r>
          </a:p>
          <a:p>
            <a:pPr lvl="1"/>
            <a:r>
              <a:rPr lang="en-US" altLang="en-US">
                <a:latin typeface="Arial" panose="020B0604020202020204" pitchFamily="34" charset="0"/>
              </a:rPr>
              <a:t>Additional join methods include the following:</a:t>
            </a:r>
          </a:p>
          <a:p>
            <a:pPr lvl="2"/>
            <a:r>
              <a:rPr lang="en-US" altLang="en-US">
                <a:latin typeface="Arial" panose="020B0604020202020204" pitchFamily="34" charset="0"/>
              </a:rPr>
              <a:t>Outer joins</a:t>
            </a:r>
          </a:p>
          <a:p>
            <a:pPr lvl="2"/>
            <a:r>
              <a:rPr lang="en-US" altLang="en-US">
                <a:latin typeface="Arial" panose="020B0604020202020204" pitchFamily="34" charset="0"/>
              </a:rPr>
              <a:t>Self joins</a:t>
            </a:r>
          </a:p>
          <a:p>
            <a:pPr lvl="2"/>
            <a:r>
              <a:rPr lang="en-US" altLang="en-US">
                <a:latin typeface="Arial" panose="020B0604020202020204" pitchFamily="34" charset="0"/>
              </a:rPr>
              <a:t>Set operators</a:t>
            </a:r>
          </a:p>
          <a:p>
            <a:pPr lvl="1"/>
            <a:r>
              <a:rPr lang="en-US" altLang="en-US" b="1">
                <a:latin typeface="Arial" panose="020B0604020202020204" pitchFamily="34" charset="0"/>
              </a:rPr>
              <a:t>Note: </a:t>
            </a:r>
            <a:r>
              <a:rPr lang="en-US" altLang="en-US">
                <a:latin typeface="Arial" panose="020B0604020202020204" pitchFamily="34" charset="0"/>
              </a:rPr>
              <a:t>Set operators are not covered in this course. They are covered in another SQL course.</a:t>
            </a:r>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Do not get into details of all the types of joins. Explain each join one by one as is done in the following slides.</a:t>
            </a:r>
          </a:p>
        </p:txBody>
      </p:sp>
      <p:sp>
        <p:nvSpPr>
          <p:cNvPr id="77829" name="Rectangle 5">
            <a:extLst>
              <a:ext uri="{FF2B5EF4-FFF2-40B4-BE49-F238E27FC236}">
                <a16:creationId xmlns:a16="http://schemas.microsoft.com/office/drawing/2014/main" id="{6C48FE00-7F50-E6C8-DE4E-7101AB0AE1AD}"/>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D508C92-721F-4F72-644E-78744C55A8E2}"/>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9875" name="Rectangle 3">
            <a:extLst>
              <a:ext uri="{FF2B5EF4-FFF2-40B4-BE49-F238E27FC236}">
                <a16:creationId xmlns:a16="http://schemas.microsoft.com/office/drawing/2014/main" id="{DEC3EFCE-5561-071C-FCE0-1AE8201F59D9}"/>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9876" name="Rectangle 4">
            <a:extLst>
              <a:ext uri="{FF2B5EF4-FFF2-40B4-BE49-F238E27FC236}">
                <a16:creationId xmlns:a16="http://schemas.microsoft.com/office/drawing/2014/main" id="{62B0D3E7-DC98-E7FB-D975-874561D702F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Types of Joins</a:t>
            </a:r>
          </a:p>
          <a:p>
            <a:pPr lvl="1"/>
            <a:r>
              <a:rPr lang="en-US" altLang="en-US">
                <a:latin typeface="Arial" panose="020B0604020202020204" pitchFamily="34" charset="0"/>
              </a:rPr>
              <a:t>There are two main types of join conditions:</a:t>
            </a:r>
          </a:p>
          <a:p>
            <a:pPr lvl="2"/>
            <a:r>
              <a:rPr lang="en-US" altLang="en-US">
                <a:latin typeface="Arial" panose="020B0604020202020204" pitchFamily="34" charset="0"/>
              </a:rPr>
              <a:t>Equijoins</a:t>
            </a:r>
          </a:p>
          <a:p>
            <a:pPr lvl="2"/>
            <a:r>
              <a:rPr lang="en-US" altLang="en-US">
                <a:latin typeface="Arial" panose="020B0604020202020204" pitchFamily="34" charset="0"/>
              </a:rPr>
              <a:t>Non-equijoins</a:t>
            </a:r>
          </a:p>
          <a:p>
            <a:pPr lvl="1"/>
            <a:r>
              <a:rPr lang="en-US" altLang="en-US">
                <a:latin typeface="Arial" panose="020B0604020202020204" pitchFamily="34" charset="0"/>
              </a:rPr>
              <a:t>Additional join methods include the following:</a:t>
            </a:r>
          </a:p>
          <a:p>
            <a:pPr lvl="2"/>
            <a:r>
              <a:rPr lang="en-US" altLang="en-US">
                <a:latin typeface="Arial" panose="020B0604020202020204" pitchFamily="34" charset="0"/>
              </a:rPr>
              <a:t>Outer joins</a:t>
            </a:r>
          </a:p>
          <a:p>
            <a:pPr lvl="2"/>
            <a:r>
              <a:rPr lang="en-US" altLang="en-US">
                <a:latin typeface="Arial" panose="020B0604020202020204" pitchFamily="34" charset="0"/>
              </a:rPr>
              <a:t>Self joins</a:t>
            </a:r>
          </a:p>
          <a:p>
            <a:pPr lvl="2"/>
            <a:r>
              <a:rPr lang="en-US" altLang="en-US">
                <a:latin typeface="Arial" panose="020B0604020202020204" pitchFamily="34" charset="0"/>
              </a:rPr>
              <a:t>Set operators</a:t>
            </a:r>
          </a:p>
          <a:p>
            <a:pPr lvl="1"/>
            <a:r>
              <a:rPr lang="en-US" altLang="en-US" b="1">
                <a:latin typeface="Arial" panose="020B0604020202020204" pitchFamily="34" charset="0"/>
              </a:rPr>
              <a:t>Note: </a:t>
            </a:r>
            <a:r>
              <a:rPr lang="en-US" altLang="en-US">
                <a:latin typeface="Arial" panose="020B0604020202020204" pitchFamily="34" charset="0"/>
              </a:rPr>
              <a:t>Set operators are not covered in this course. They are covered in another SQL course.</a:t>
            </a:r>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Do not get into details of all the types of joins. Explain each join one by one as is done in the following slides.</a:t>
            </a:r>
          </a:p>
        </p:txBody>
      </p:sp>
      <p:sp>
        <p:nvSpPr>
          <p:cNvPr id="79877" name="Rectangle 5">
            <a:extLst>
              <a:ext uri="{FF2B5EF4-FFF2-40B4-BE49-F238E27FC236}">
                <a16:creationId xmlns:a16="http://schemas.microsoft.com/office/drawing/2014/main" id="{CB85F06D-2A18-A099-142E-956BA386C6F9}"/>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D5DAD1D6-C5CB-F4C7-CA1A-93C711AE28A3}"/>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1923" name="Rectangle 3">
            <a:extLst>
              <a:ext uri="{FF2B5EF4-FFF2-40B4-BE49-F238E27FC236}">
                <a16:creationId xmlns:a16="http://schemas.microsoft.com/office/drawing/2014/main" id="{38F676E5-7F7A-CAFC-0573-FD999FE8D425}"/>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1924" name="Rectangle 4">
            <a:extLst>
              <a:ext uri="{FF2B5EF4-FFF2-40B4-BE49-F238E27FC236}">
                <a16:creationId xmlns:a16="http://schemas.microsoft.com/office/drawing/2014/main" id="{4CD1CD60-AC45-3232-3E3C-6382EB01F37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Types of Joins</a:t>
            </a:r>
          </a:p>
          <a:p>
            <a:pPr lvl="1"/>
            <a:r>
              <a:rPr lang="en-US" altLang="en-US">
                <a:latin typeface="Arial" panose="020B0604020202020204" pitchFamily="34" charset="0"/>
              </a:rPr>
              <a:t>There are two main types of join conditions:</a:t>
            </a:r>
          </a:p>
          <a:p>
            <a:pPr lvl="2"/>
            <a:r>
              <a:rPr lang="en-US" altLang="en-US">
                <a:latin typeface="Arial" panose="020B0604020202020204" pitchFamily="34" charset="0"/>
              </a:rPr>
              <a:t>Equijoins</a:t>
            </a:r>
          </a:p>
          <a:p>
            <a:pPr lvl="2"/>
            <a:r>
              <a:rPr lang="en-US" altLang="en-US">
                <a:latin typeface="Arial" panose="020B0604020202020204" pitchFamily="34" charset="0"/>
              </a:rPr>
              <a:t>Non-equijoins</a:t>
            </a:r>
          </a:p>
          <a:p>
            <a:pPr lvl="1"/>
            <a:r>
              <a:rPr lang="en-US" altLang="en-US">
                <a:latin typeface="Arial" panose="020B0604020202020204" pitchFamily="34" charset="0"/>
              </a:rPr>
              <a:t>Additional join methods include the following:</a:t>
            </a:r>
          </a:p>
          <a:p>
            <a:pPr lvl="2"/>
            <a:r>
              <a:rPr lang="en-US" altLang="en-US">
                <a:latin typeface="Arial" panose="020B0604020202020204" pitchFamily="34" charset="0"/>
              </a:rPr>
              <a:t>Outer joins</a:t>
            </a:r>
          </a:p>
          <a:p>
            <a:pPr lvl="2"/>
            <a:r>
              <a:rPr lang="en-US" altLang="en-US">
                <a:latin typeface="Arial" panose="020B0604020202020204" pitchFamily="34" charset="0"/>
              </a:rPr>
              <a:t>Self joins</a:t>
            </a:r>
          </a:p>
          <a:p>
            <a:pPr lvl="2"/>
            <a:r>
              <a:rPr lang="en-US" altLang="en-US">
                <a:latin typeface="Arial" panose="020B0604020202020204" pitchFamily="34" charset="0"/>
              </a:rPr>
              <a:t>Set operators</a:t>
            </a:r>
          </a:p>
          <a:p>
            <a:pPr lvl="1"/>
            <a:r>
              <a:rPr lang="en-US" altLang="en-US" b="1">
                <a:latin typeface="Arial" panose="020B0604020202020204" pitchFamily="34" charset="0"/>
              </a:rPr>
              <a:t>Note: </a:t>
            </a:r>
            <a:r>
              <a:rPr lang="en-US" altLang="en-US">
                <a:latin typeface="Arial" panose="020B0604020202020204" pitchFamily="34" charset="0"/>
              </a:rPr>
              <a:t>Set operators are not covered in this course. They are covered in another SQL course.</a:t>
            </a:r>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Do not get into details of all the types of joins. Explain each join one by one as is done in the following slides.</a:t>
            </a:r>
          </a:p>
        </p:txBody>
      </p:sp>
      <p:sp>
        <p:nvSpPr>
          <p:cNvPr id="81925" name="Rectangle 5">
            <a:extLst>
              <a:ext uri="{FF2B5EF4-FFF2-40B4-BE49-F238E27FC236}">
                <a16:creationId xmlns:a16="http://schemas.microsoft.com/office/drawing/2014/main" id="{A1D909D1-53B2-1F8A-59FF-F2794E399694}"/>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9B17AA13-B05F-680C-6550-B5DF8A83D136}"/>
              </a:ext>
            </a:extLst>
          </p:cNvPr>
          <p:cNvSpPr>
            <a:spLocks noChangeArrowheads="1"/>
          </p:cNvSpPr>
          <p:nvPr/>
        </p:nvSpPr>
        <p:spPr bwMode="auto">
          <a:xfrm>
            <a:off x="3881438" y="0"/>
            <a:ext cx="29781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solidFill>
                <a:srgbClr val="000000"/>
              </a:solidFill>
            </a:endParaRPr>
          </a:p>
        </p:txBody>
      </p:sp>
      <p:sp>
        <p:nvSpPr>
          <p:cNvPr id="83971" name="Rectangle 3">
            <a:extLst>
              <a:ext uri="{FF2B5EF4-FFF2-40B4-BE49-F238E27FC236}">
                <a16:creationId xmlns:a16="http://schemas.microsoft.com/office/drawing/2014/main" id="{6B30A612-E253-909B-A661-B642029EFCF8}"/>
              </a:ext>
            </a:extLst>
          </p:cNvPr>
          <p:cNvSpPr>
            <a:spLocks noChangeArrowheads="1"/>
          </p:cNvSpPr>
          <p:nvPr/>
        </p:nvSpPr>
        <p:spPr bwMode="auto">
          <a:xfrm>
            <a:off x="-3175" y="0"/>
            <a:ext cx="297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solidFill>
                <a:srgbClr val="000000"/>
              </a:solidFill>
            </a:endParaRPr>
          </a:p>
        </p:txBody>
      </p:sp>
      <p:sp>
        <p:nvSpPr>
          <p:cNvPr id="83972" name="Rectangle 4">
            <a:extLst>
              <a:ext uri="{FF2B5EF4-FFF2-40B4-BE49-F238E27FC236}">
                <a16:creationId xmlns:a16="http://schemas.microsoft.com/office/drawing/2014/main" id="{FC803AFE-6BE4-D396-8B54-6C7F7677B69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algn="just" defTabSz="384175"/>
            <a:r>
              <a:rPr lang="en-US" altLang="en-US">
                <a:latin typeface="Arial" panose="020B0604020202020204" pitchFamily="34" charset="0"/>
              </a:rPr>
              <a:t>Qualifying Ambiguous Column Names</a:t>
            </a:r>
            <a:endParaRPr lang="en-US" altLang="en-US">
              <a:latin typeface="Times" panose="02020603050405020304" pitchFamily="18" charset="0"/>
            </a:endParaRPr>
          </a:p>
          <a:p>
            <a:pPr marL="114300" lvl="1" defTabSz="384175"/>
            <a:r>
              <a:rPr lang="en-US" altLang="en-US">
                <a:latin typeface="Arial" panose="020B0604020202020204" pitchFamily="34" charset="0"/>
              </a:rPr>
              <a:t>You need to qualify the names of the columns in the WHERE clause with the table name to avoid ambiguity. Without the table prefixes, the DEPTNO column could be from either the DEPT table or the EMP table. It is necessary to add the table prefix to execute your query.</a:t>
            </a:r>
          </a:p>
          <a:p>
            <a:pPr marL="114300" lvl="1" defTabSz="384175"/>
            <a:r>
              <a:rPr lang="en-US" altLang="en-US">
                <a:latin typeface="Arial" panose="020B0604020202020204" pitchFamily="34" charset="0"/>
              </a:rPr>
              <a:t>If there are no common column names between the two tables, there is no need to qualify the columns. However, you will gain improved performance by using the table prefix because you tell the Oracle Server exactly where to go to find columns.</a:t>
            </a:r>
          </a:p>
          <a:p>
            <a:pPr marL="114300" lvl="1" defTabSz="384175"/>
            <a:r>
              <a:rPr lang="en-US" altLang="en-US">
                <a:latin typeface="Arial" panose="020B0604020202020204" pitchFamily="34" charset="0"/>
              </a:rPr>
              <a:t>The requirement to qualify ambiguous column names is also applicable to columns that may be ambiguous in other clauses, such as the SELECT clause or the ORDER BY clause.</a:t>
            </a: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marL="114300" lvl="1" defTabSz="384175"/>
            <a:endParaRPr lang="en-US" altLang="en-US">
              <a:latin typeface="Arial" panose="020B0604020202020204" pitchFamily="34" charset="0"/>
            </a:endParaRPr>
          </a:p>
          <a:p>
            <a:pPr defTabSz="384175"/>
            <a:r>
              <a:rPr lang="en-US" altLang="en-US">
                <a:solidFill>
                  <a:schemeClr val="accent2"/>
                </a:solidFill>
                <a:latin typeface="Arial" panose="020B0604020202020204" pitchFamily="34" charset="0"/>
              </a:rPr>
              <a:t>Class Management Note</a:t>
            </a:r>
          </a:p>
          <a:p>
            <a:pPr marL="114300" lvl="1" defTabSz="384175"/>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l4loc.sql</a:t>
            </a:r>
          </a:p>
          <a:p>
            <a:pPr marL="114300" lvl="1" defTabSz="384175"/>
            <a:r>
              <a:rPr lang="en-US" altLang="en-US">
                <a:solidFill>
                  <a:schemeClr val="accent2"/>
                </a:solidFill>
                <a:latin typeface="Arial" panose="020B0604020202020204" pitchFamily="34" charset="0"/>
              </a:rPr>
              <a:t>Purpose: To illustrate a SELECT clause with no aliases.</a:t>
            </a:r>
            <a:endParaRPr lang="en-US" altLang="en-US" i="1">
              <a:latin typeface="Arial" panose="020B0604020202020204" pitchFamily="34" charset="0"/>
            </a:endParaRPr>
          </a:p>
          <a:p>
            <a:pPr defTabSz="384175"/>
            <a:endParaRPr lang="en-US" altLang="en-US" b="1" i="1">
              <a:latin typeface="Times New Roman" panose="02020603050405020304" pitchFamily="18" charset="0"/>
            </a:endParaRPr>
          </a:p>
        </p:txBody>
      </p:sp>
      <p:sp>
        <p:nvSpPr>
          <p:cNvPr id="83973" name="Rectangle 5">
            <a:extLst>
              <a:ext uri="{FF2B5EF4-FFF2-40B4-BE49-F238E27FC236}">
                <a16:creationId xmlns:a16="http://schemas.microsoft.com/office/drawing/2014/main" id="{C6EC457C-39C0-9B53-5070-790DFA0F00F9}"/>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83974" name="Group 6">
            <a:extLst>
              <a:ext uri="{FF2B5EF4-FFF2-40B4-BE49-F238E27FC236}">
                <a16:creationId xmlns:a16="http://schemas.microsoft.com/office/drawing/2014/main" id="{D39AC7A6-74A3-62A5-3F0B-760A42FA9AC2}"/>
              </a:ext>
            </a:extLst>
          </p:cNvPr>
          <p:cNvGrpSpPr>
            <a:grpSpLocks/>
          </p:cNvGrpSpPr>
          <p:nvPr/>
        </p:nvGrpSpPr>
        <p:grpSpPr bwMode="auto">
          <a:xfrm>
            <a:off x="231775" y="6273800"/>
            <a:ext cx="280988" cy="295275"/>
            <a:chOff x="145" y="3880"/>
            <a:chExt cx="176" cy="183"/>
          </a:xfrm>
        </p:grpSpPr>
        <p:sp>
          <p:nvSpPr>
            <p:cNvPr id="83975" name="Freeform 7">
              <a:extLst>
                <a:ext uri="{FF2B5EF4-FFF2-40B4-BE49-F238E27FC236}">
                  <a16:creationId xmlns:a16="http://schemas.microsoft.com/office/drawing/2014/main" id="{8E82347C-D931-5598-A3D2-405F77C4149F}"/>
                </a:ext>
              </a:extLst>
            </p:cNvPr>
            <p:cNvSpPr>
              <a:spLocks/>
            </p:cNvSpPr>
            <p:nvPr/>
          </p:nvSpPr>
          <p:spPr bwMode="auto">
            <a:xfrm>
              <a:off x="145" y="3880"/>
              <a:ext cx="176" cy="183"/>
            </a:xfrm>
            <a:custGeom>
              <a:avLst/>
              <a:gdLst>
                <a:gd name="T0" fmla="*/ 175 w 176"/>
                <a:gd name="T1" fmla="*/ 182 h 183"/>
                <a:gd name="T2" fmla="*/ 175 w 176"/>
                <a:gd name="T3" fmla="*/ 0 h 183"/>
                <a:gd name="T4" fmla="*/ 0 w 176"/>
                <a:gd name="T5" fmla="*/ 0 h 183"/>
                <a:gd name="T6" fmla="*/ 0 w 176"/>
                <a:gd name="T7" fmla="*/ 182 h 183"/>
                <a:gd name="T8" fmla="*/ 175 w 176"/>
                <a:gd name="T9" fmla="*/ 182 h 183"/>
                <a:gd name="T10" fmla="*/ 0 60000 65536"/>
                <a:gd name="T11" fmla="*/ 0 60000 65536"/>
                <a:gd name="T12" fmla="*/ 0 60000 65536"/>
                <a:gd name="T13" fmla="*/ 0 60000 65536"/>
                <a:gd name="T14" fmla="*/ 0 60000 65536"/>
                <a:gd name="T15" fmla="*/ 0 w 176"/>
                <a:gd name="T16" fmla="*/ 0 h 183"/>
                <a:gd name="T17" fmla="*/ 176 w 176"/>
                <a:gd name="T18" fmla="*/ 183 h 183"/>
              </a:gdLst>
              <a:ahLst/>
              <a:cxnLst>
                <a:cxn ang="T10">
                  <a:pos x="T0" y="T1"/>
                </a:cxn>
                <a:cxn ang="T11">
                  <a:pos x="T2" y="T3"/>
                </a:cxn>
                <a:cxn ang="T12">
                  <a:pos x="T4" y="T5"/>
                </a:cxn>
                <a:cxn ang="T13">
                  <a:pos x="T6" y="T7"/>
                </a:cxn>
                <a:cxn ang="T14">
                  <a:pos x="T8" y="T9"/>
                </a:cxn>
              </a:cxnLst>
              <a:rect l="T15" t="T16" r="T17" b="T18"/>
              <a:pathLst>
                <a:path w="176" h="183">
                  <a:moveTo>
                    <a:pt x="175" y="182"/>
                  </a:moveTo>
                  <a:lnTo>
                    <a:pt x="175" y="0"/>
                  </a:lnTo>
                  <a:lnTo>
                    <a:pt x="0" y="0"/>
                  </a:lnTo>
                  <a:lnTo>
                    <a:pt x="0" y="182"/>
                  </a:lnTo>
                  <a:lnTo>
                    <a:pt x="175"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3976" name="Freeform 8">
              <a:extLst>
                <a:ext uri="{FF2B5EF4-FFF2-40B4-BE49-F238E27FC236}">
                  <a16:creationId xmlns:a16="http://schemas.microsoft.com/office/drawing/2014/main" id="{C0B2AA18-1405-2E0C-902F-039537745316}"/>
                </a:ext>
              </a:extLst>
            </p:cNvPr>
            <p:cNvSpPr>
              <a:spLocks/>
            </p:cNvSpPr>
            <p:nvPr/>
          </p:nvSpPr>
          <p:spPr bwMode="auto">
            <a:xfrm>
              <a:off x="154" y="3888"/>
              <a:ext cx="162" cy="163"/>
            </a:xfrm>
            <a:custGeom>
              <a:avLst/>
              <a:gdLst>
                <a:gd name="T0" fmla="*/ 82 w 162"/>
                <a:gd name="T1" fmla="*/ 0 h 163"/>
                <a:gd name="T2" fmla="*/ 0 w 162"/>
                <a:gd name="T3" fmla="*/ 162 h 163"/>
                <a:gd name="T4" fmla="*/ 161 w 162"/>
                <a:gd name="T5" fmla="*/ 162 h 163"/>
                <a:gd name="T6" fmla="*/ 82 w 162"/>
                <a:gd name="T7" fmla="*/ 0 h 163"/>
                <a:gd name="T8" fmla="*/ 0 60000 65536"/>
                <a:gd name="T9" fmla="*/ 0 60000 65536"/>
                <a:gd name="T10" fmla="*/ 0 60000 65536"/>
                <a:gd name="T11" fmla="*/ 0 60000 65536"/>
                <a:gd name="T12" fmla="*/ 0 w 162"/>
                <a:gd name="T13" fmla="*/ 0 h 163"/>
                <a:gd name="T14" fmla="*/ 162 w 162"/>
                <a:gd name="T15" fmla="*/ 163 h 163"/>
              </a:gdLst>
              <a:ahLst/>
              <a:cxnLst>
                <a:cxn ang="T8">
                  <a:pos x="T0" y="T1"/>
                </a:cxn>
                <a:cxn ang="T9">
                  <a:pos x="T2" y="T3"/>
                </a:cxn>
                <a:cxn ang="T10">
                  <a:pos x="T4" y="T5"/>
                </a:cxn>
                <a:cxn ang="T11">
                  <a:pos x="T6" y="T7"/>
                </a:cxn>
              </a:cxnLst>
              <a:rect l="T12" t="T13" r="T14" b="T15"/>
              <a:pathLst>
                <a:path w="162" h="163">
                  <a:moveTo>
                    <a:pt x="82" y="0"/>
                  </a:moveTo>
                  <a:lnTo>
                    <a:pt x="0" y="162"/>
                  </a:lnTo>
                  <a:lnTo>
                    <a:pt x="161" y="162"/>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3977" name="Freeform 9">
              <a:extLst>
                <a:ext uri="{FF2B5EF4-FFF2-40B4-BE49-F238E27FC236}">
                  <a16:creationId xmlns:a16="http://schemas.microsoft.com/office/drawing/2014/main" id="{5AC1E8D2-A835-109D-93C0-ABCB17F38C3A}"/>
                </a:ext>
              </a:extLst>
            </p:cNvPr>
            <p:cNvSpPr>
              <a:spLocks/>
            </p:cNvSpPr>
            <p:nvPr/>
          </p:nvSpPr>
          <p:spPr bwMode="auto">
            <a:xfrm>
              <a:off x="171" y="390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3978" name="Freeform 10">
              <a:extLst>
                <a:ext uri="{FF2B5EF4-FFF2-40B4-BE49-F238E27FC236}">
                  <a16:creationId xmlns:a16="http://schemas.microsoft.com/office/drawing/2014/main" id="{696EDDB8-96F0-F9F4-21BD-DEB2A1BA66CB}"/>
                </a:ext>
              </a:extLst>
            </p:cNvPr>
            <p:cNvSpPr>
              <a:spLocks/>
            </p:cNvSpPr>
            <p:nvPr/>
          </p:nvSpPr>
          <p:spPr bwMode="auto">
            <a:xfrm>
              <a:off x="228" y="4018"/>
              <a:ext cx="20" cy="19"/>
            </a:xfrm>
            <a:custGeom>
              <a:avLst/>
              <a:gdLst>
                <a:gd name="T0" fmla="*/ 9 w 20"/>
                <a:gd name="T1" fmla="*/ 18 h 19"/>
                <a:gd name="T2" fmla="*/ 10 w 20"/>
                <a:gd name="T3" fmla="*/ 16 h 19"/>
                <a:gd name="T4" fmla="*/ 12 w 20"/>
                <a:gd name="T5" fmla="*/ 16 h 19"/>
                <a:gd name="T6" fmla="*/ 14 w 20"/>
                <a:gd name="T7" fmla="*/ 15 h 19"/>
                <a:gd name="T8" fmla="*/ 15 w 20"/>
                <a:gd name="T9" fmla="*/ 14 h 19"/>
                <a:gd name="T10" fmla="*/ 16 w 20"/>
                <a:gd name="T11" fmla="*/ 13 h 19"/>
                <a:gd name="T12" fmla="*/ 17 w 20"/>
                <a:gd name="T13" fmla="*/ 11 h 19"/>
                <a:gd name="T14" fmla="*/ 17 w 20"/>
                <a:gd name="T15" fmla="*/ 10 h 19"/>
                <a:gd name="T16" fmla="*/ 19 w 20"/>
                <a:gd name="T17" fmla="*/ 8 h 19"/>
                <a:gd name="T18" fmla="*/ 17 w 20"/>
                <a:gd name="T19" fmla="*/ 6 h 19"/>
                <a:gd name="T20" fmla="*/ 17 w 20"/>
                <a:gd name="T21" fmla="*/ 5 h 19"/>
                <a:gd name="T22" fmla="*/ 16 w 20"/>
                <a:gd name="T23" fmla="*/ 3 h 19"/>
                <a:gd name="T24" fmla="*/ 15 w 20"/>
                <a:gd name="T25" fmla="*/ 2 h 19"/>
                <a:gd name="T26" fmla="*/ 14 w 20"/>
                <a:gd name="T27" fmla="*/ 1 h 19"/>
                <a:gd name="T28" fmla="*/ 12 w 20"/>
                <a:gd name="T29" fmla="*/ 0 h 19"/>
                <a:gd name="T30" fmla="*/ 10 w 20"/>
                <a:gd name="T31" fmla="*/ 0 h 19"/>
                <a:gd name="T32" fmla="*/ 9 w 20"/>
                <a:gd name="T33" fmla="*/ 0 h 19"/>
                <a:gd name="T34" fmla="*/ 7 w 20"/>
                <a:gd name="T35" fmla="*/ 0 h 19"/>
                <a:gd name="T36" fmla="*/ 5 w 20"/>
                <a:gd name="T37" fmla="*/ 0 h 19"/>
                <a:gd name="T38" fmla="*/ 4 w 20"/>
                <a:gd name="T39" fmla="*/ 1 h 19"/>
                <a:gd name="T40" fmla="*/ 2 w 20"/>
                <a:gd name="T41" fmla="*/ 2 h 19"/>
                <a:gd name="T42" fmla="*/ 1 w 20"/>
                <a:gd name="T43" fmla="*/ 3 h 19"/>
                <a:gd name="T44" fmla="*/ 1 w 20"/>
                <a:gd name="T45" fmla="*/ 5 h 19"/>
                <a:gd name="T46" fmla="*/ 0 w 20"/>
                <a:gd name="T47" fmla="*/ 6 h 19"/>
                <a:gd name="T48" fmla="*/ 0 w 20"/>
                <a:gd name="T49" fmla="*/ 8 h 19"/>
                <a:gd name="T50" fmla="*/ 0 w 20"/>
                <a:gd name="T51" fmla="*/ 10 h 19"/>
                <a:gd name="T52" fmla="*/ 1 w 20"/>
                <a:gd name="T53" fmla="*/ 11 h 19"/>
                <a:gd name="T54" fmla="*/ 1 w 20"/>
                <a:gd name="T55" fmla="*/ 13 h 19"/>
                <a:gd name="T56" fmla="*/ 2 w 20"/>
                <a:gd name="T57" fmla="*/ 14 h 19"/>
                <a:gd name="T58" fmla="*/ 4 w 20"/>
                <a:gd name="T59" fmla="*/ 15 h 19"/>
                <a:gd name="T60" fmla="*/ 5 w 20"/>
                <a:gd name="T61" fmla="*/ 16 h 19"/>
                <a:gd name="T62" fmla="*/ 7 w 20"/>
                <a:gd name="T63" fmla="*/ 16 h 19"/>
                <a:gd name="T64" fmla="*/ 9 w 20"/>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9"/>
                <a:gd name="T101" fmla="*/ 20 w 20"/>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9">
                  <a:moveTo>
                    <a:pt x="9" y="18"/>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3979" name="Freeform 11">
              <a:extLst>
                <a:ext uri="{FF2B5EF4-FFF2-40B4-BE49-F238E27FC236}">
                  <a16:creationId xmlns:a16="http://schemas.microsoft.com/office/drawing/2014/main" id="{3BCCB956-EF6A-517E-A7F1-A4BD61DB5FC3}"/>
                </a:ext>
              </a:extLst>
            </p:cNvPr>
            <p:cNvSpPr>
              <a:spLocks/>
            </p:cNvSpPr>
            <p:nvPr/>
          </p:nvSpPr>
          <p:spPr bwMode="auto">
            <a:xfrm>
              <a:off x="228" y="3935"/>
              <a:ext cx="19" cy="80"/>
            </a:xfrm>
            <a:custGeom>
              <a:avLst/>
              <a:gdLst>
                <a:gd name="T0" fmla="*/ 10 w 19"/>
                <a:gd name="T1" fmla="*/ 0 h 80"/>
                <a:gd name="T2" fmla="*/ 11 w 19"/>
                <a:gd name="T3" fmla="*/ 0 h 80"/>
                <a:gd name="T4" fmla="*/ 13 w 19"/>
                <a:gd name="T5" fmla="*/ 0 h 80"/>
                <a:gd name="T6" fmla="*/ 15 w 19"/>
                <a:gd name="T7" fmla="*/ 2 h 80"/>
                <a:gd name="T8" fmla="*/ 17 w 19"/>
                <a:gd name="T9" fmla="*/ 7 h 80"/>
                <a:gd name="T10" fmla="*/ 18 w 19"/>
                <a:gd name="T11" fmla="*/ 15 h 80"/>
                <a:gd name="T12" fmla="*/ 18 w 19"/>
                <a:gd name="T13" fmla="*/ 29 h 80"/>
                <a:gd name="T14" fmla="*/ 15 w 19"/>
                <a:gd name="T15" fmla="*/ 50 h 80"/>
                <a:gd name="T16" fmla="*/ 10 w 19"/>
                <a:gd name="T17" fmla="*/ 79 h 80"/>
                <a:gd name="T18" fmla="*/ 5 w 19"/>
                <a:gd name="T19" fmla="*/ 63 h 80"/>
                <a:gd name="T20" fmla="*/ 2 w 19"/>
                <a:gd name="T21" fmla="*/ 48 h 80"/>
                <a:gd name="T22" fmla="*/ 0 w 19"/>
                <a:gd name="T23" fmla="*/ 34 h 80"/>
                <a:gd name="T24" fmla="*/ 0 w 19"/>
                <a:gd name="T25" fmla="*/ 22 h 80"/>
                <a:gd name="T26" fmla="*/ 1 w 19"/>
                <a:gd name="T27" fmla="*/ 11 h 80"/>
                <a:gd name="T28" fmla="*/ 4 w 19"/>
                <a:gd name="T29" fmla="*/ 4 h 80"/>
                <a:gd name="T30" fmla="*/ 7 w 19"/>
                <a:gd name="T31" fmla="*/ 0 h 80"/>
                <a:gd name="T32" fmla="*/ 10 w 19"/>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80"/>
                <a:gd name="T53" fmla="*/ 19 w 19"/>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80">
                  <a:moveTo>
                    <a:pt x="10" y="0"/>
                  </a:moveTo>
                  <a:lnTo>
                    <a:pt x="11" y="0"/>
                  </a:lnTo>
                  <a:lnTo>
                    <a:pt x="13" y="0"/>
                  </a:lnTo>
                  <a:lnTo>
                    <a:pt x="15" y="2"/>
                  </a:lnTo>
                  <a:lnTo>
                    <a:pt x="17" y="7"/>
                  </a:lnTo>
                  <a:lnTo>
                    <a:pt x="18" y="15"/>
                  </a:lnTo>
                  <a:lnTo>
                    <a:pt x="18"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0B0B1180-283C-2B38-47BD-2E5C524D35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109D97-502E-4FF8-8297-B1BD3EDC4CEA}" type="slidenum">
              <a:rPr lang="de-AT" altLang="en-US" smtClean="0"/>
              <a:pPr>
                <a:spcBef>
                  <a:spcPct val="0"/>
                </a:spcBef>
              </a:pPr>
              <a:t>40</a:t>
            </a:fld>
            <a:endParaRPr lang="de-AT" altLang="en-US"/>
          </a:p>
        </p:txBody>
      </p:sp>
      <p:sp>
        <p:nvSpPr>
          <p:cNvPr id="86019" name="Rectangle 2">
            <a:extLst>
              <a:ext uri="{FF2B5EF4-FFF2-40B4-BE49-F238E27FC236}">
                <a16:creationId xmlns:a16="http://schemas.microsoft.com/office/drawing/2014/main" id="{9358A40D-ECCA-656B-3978-ADAB3B3B3A8E}"/>
              </a:ext>
            </a:extLst>
          </p:cNvPr>
          <p:cNvSpPr>
            <a:spLocks noGrp="1" noRot="1" noChangeArrowheads="1" noTextEdit="1"/>
          </p:cNvSpPr>
          <p:nvPr>
            <p:ph type="sldImg"/>
          </p:nvPr>
        </p:nvSpPr>
        <p:spPr>
          <a:ln/>
        </p:spPr>
      </p:sp>
      <p:sp>
        <p:nvSpPr>
          <p:cNvPr id="86020" name="Rectangle 3">
            <a:extLst>
              <a:ext uri="{FF2B5EF4-FFF2-40B4-BE49-F238E27FC236}">
                <a16:creationId xmlns:a16="http://schemas.microsoft.com/office/drawing/2014/main" id="{B4999A0C-3075-AA8B-1CC1-9E7CB39675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5AE8EF8-C629-B5F5-78F4-B9B8D0CE16E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337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43A1D04-FF64-45F3-325F-7F6461DDC00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128440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74CDA3F-0E61-F4EF-3569-741D51D2142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581699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DC7553-4BF3-BDFC-CAF4-1093875D24D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271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803F819-9CDD-ED5A-3289-EE377B0B1C9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131256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888EFAE-E949-68FF-F2F7-F659965B7F7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82034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D5F9AE9-162A-6D6D-5778-674D3BDF3E6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231243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D1FECD2-FAD3-8373-DECF-423658A4DDA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32004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433B038-0748-07C7-4654-EA43792F67E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803565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322C588-2DC0-2E5F-651E-C7B2D69294B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49276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AFA2F37-3FB2-8C81-4B0D-646DE36C9BE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70292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FA7C1F5-5D13-13AE-92D4-2B8FF21E8EF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027595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3C803BB-19EF-D2E4-B733-DD7E461C28F8}"/>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8A43F864-CBDB-4239-6813-41D27B8DF3AB}"/>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5AE50FB2-72EA-A2C9-E126-BBA912E4A74C}"/>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345DE8A9-0A23-5CDE-858D-FD949FA3BA9A}"/>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en-US" altLang="en-US"/>
          </a:p>
        </p:txBody>
      </p:sp>
      <p:sp>
        <p:nvSpPr>
          <p:cNvPr id="1030" name="Rectangle 10">
            <a:extLst>
              <a:ext uri="{FF2B5EF4-FFF2-40B4-BE49-F238E27FC236}">
                <a16:creationId xmlns:a16="http://schemas.microsoft.com/office/drawing/2014/main" id="{33198125-8F11-AA64-07E9-26BE105A405C}"/>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en-US" altLang="en-US"/>
          </a:p>
        </p:txBody>
      </p:sp>
      <p:sp>
        <p:nvSpPr>
          <p:cNvPr id="1031" name="Text Box 11">
            <a:extLst>
              <a:ext uri="{FF2B5EF4-FFF2-40B4-BE49-F238E27FC236}">
                <a16:creationId xmlns:a16="http://schemas.microsoft.com/office/drawing/2014/main" id="{63DB395D-A82E-21CC-51D7-4F95400C9ABF}"/>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de-DE" sz="1000">
                <a:solidFill>
                  <a:schemeClr val="bg1"/>
                </a:solidFill>
                <a:cs typeface="Arial" charset="0"/>
              </a:rPr>
              <a:t>© 2009</a:t>
            </a:r>
            <a:r>
              <a:rPr lang="de-DE" sz="1000">
                <a:solidFill>
                  <a:srgbClr val="FFFF00"/>
                </a:solidFill>
                <a:cs typeface="Arial"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A71A95A2-70AA-D776-0423-BE8810B4E470}"/>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de-AT" sz="1000">
                <a:solidFill>
                  <a:srgbClr val="0000CC"/>
                </a:solidFill>
              </a:rPr>
              <a:t>       </a:t>
            </a:r>
            <a:r>
              <a:rPr lang="de-AT" sz="1000"/>
              <a:t>September 8, 2009</a:t>
            </a:r>
          </a:p>
        </p:txBody>
      </p:sp>
      <p:sp>
        <p:nvSpPr>
          <p:cNvPr id="1033" name="Rectangle 12">
            <a:extLst>
              <a:ext uri="{FF2B5EF4-FFF2-40B4-BE49-F238E27FC236}">
                <a16:creationId xmlns:a16="http://schemas.microsoft.com/office/drawing/2014/main" id="{65807823-9132-C93E-847F-54DCBFDD6D8B}"/>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4BC895B3-BC9E-49D3-ADAB-8360C23AB7DE}"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CBEDD71-1CD1-F12E-05D5-1A49C0F657F2}"/>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r>
              <a:rPr lang="en-US" altLang="en-US" u="sng">
                <a:solidFill>
                  <a:srgbClr val="800000"/>
                </a:solidFill>
              </a:rPr>
              <a:t> (SQL) </a:t>
            </a:r>
            <a:br>
              <a:rPr lang="en-US" altLang="en-US" u="sng">
                <a:solidFill>
                  <a:srgbClr val="800000"/>
                </a:solidFill>
              </a:rPr>
            </a:br>
            <a:r>
              <a:rPr lang="en-US" altLang="en-US">
                <a:solidFill>
                  <a:schemeClr val="accent2"/>
                </a:solidFill>
              </a:rPr>
              <a:t>Displaying Data </a:t>
            </a:r>
            <a:br>
              <a:rPr lang="en-US" altLang="en-US">
                <a:solidFill>
                  <a:schemeClr val="accent2"/>
                </a:solidFill>
              </a:rPr>
            </a:br>
            <a:r>
              <a:rPr lang="en-US" altLang="en-US">
                <a:solidFill>
                  <a:schemeClr val="accent2"/>
                </a:solidFill>
              </a:rPr>
              <a:t>from Multiple Tables</a:t>
            </a:r>
            <a:endParaRPr lang="de-AT" altLang="en-US">
              <a:solidFill>
                <a:schemeClr val="accent2"/>
              </a:solidFill>
            </a:endParaRPr>
          </a:p>
        </p:txBody>
      </p:sp>
      <p:pic>
        <p:nvPicPr>
          <p:cNvPr id="4099" name="Picture 9">
            <a:extLst>
              <a:ext uri="{FF2B5EF4-FFF2-40B4-BE49-F238E27FC236}">
                <a16:creationId xmlns:a16="http://schemas.microsoft.com/office/drawing/2014/main" id="{C75C563A-A2E9-8BD1-2CFF-42CC54E60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11">
            <a:extLst>
              <a:ext uri="{FF2B5EF4-FFF2-40B4-BE49-F238E27FC236}">
                <a16:creationId xmlns:a16="http://schemas.microsoft.com/office/drawing/2014/main" id="{74F9C560-FB84-B01B-A3C4-F0FC72CEB4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AEF3B402-1F8C-3FDC-A2E5-BC7DD01F236F}"/>
              </a:ext>
            </a:extLst>
          </p:cNvPr>
          <p:cNvSpPr txBox="1">
            <a:spLocks noChangeArrowheads="1"/>
          </p:cNvSpPr>
          <p:nvPr/>
        </p:nvSpPr>
        <p:spPr bwMode="auto">
          <a:xfrm>
            <a:off x="790575" y="4084638"/>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F5B980F-06B7-50CC-62A5-A4CC089E3D39}"/>
              </a:ext>
            </a:extLst>
          </p:cNvPr>
          <p:cNvSpPr>
            <a:spLocks noGrp="1" noChangeArrowheads="1"/>
          </p:cNvSpPr>
          <p:nvPr>
            <p:ph type="title" idx="4294967295"/>
          </p:nvPr>
        </p:nvSpPr>
        <p:spPr>
          <a:xfrm>
            <a:off x="444500" y="693738"/>
            <a:ext cx="1966913" cy="358775"/>
          </a:xfrm>
        </p:spPr>
        <p:txBody>
          <a:bodyPr/>
          <a:lstStyle/>
          <a:p>
            <a:r>
              <a:rPr lang="en-US" altLang="en-US" sz="2400" b="1">
                <a:solidFill>
                  <a:srgbClr val="800000"/>
                </a:solidFill>
              </a:rPr>
              <a:t>Objectives</a:t>
            </a:r>
          </a:p>
        </p:txBody>
      </p:sp>
      <p:sp>
        <p:nvSpPr>
          <p:cNvPr id="116739" name="Rectangle 3">
            <a:extLst>
              <a:ext uri="{FF2B5EF4-FFF2-40B4-BE49-F238E27FC236}">
                <a16:creationId xmlns:a16="http://schemas.microsoft.com/office/drawing/2014/main" id="{9B33169E-CC3C-F58C-616E-344D94156885}"/>
              </a:ext>
            </a:extLst>
          </p:cNvPr>
          <p:cNvSpPr>
            <a:spLocks noGrp="1" noChangeArrowheads="1"/>
          </p:cNvSpPr>
          <p:nvPr>
            <p:ph type="body" idx="4294967295"/>
          </p:nvPr>
        </p:nvSpPr>
        <p:spPr>
          <a:xfrm>
            <a:off x="436563" y="1289050"/>
            <a:ext cx="8312150" cy="5019675"/>
          </a:xfrm>
        </p:spPr>
        <p:txBody>
          <a:bodyPr/>
          <a:lstStyle/>
          <a:p>
            <a:pPr algn="just">
              <a:spcBef>
                <a:spcPct val="0"/>
              </a:spcBef>
              <a:buFont typeface="Arial" pitchFamily="34" charset="0"/>
              <a:buNone/>
              <a:defRPr/>
            </a:pPr>
            <a:r>
              <a:rPr lang="en-US" dirty="0"/>
              <a:t>After completing this lesson, you should be able to </a:t>
            </a:r>
          </a:p>
          <a:p>
            <a:pPr algn="just">
              <a:spcBef>
                <a:spcPct val="0"/>
              </a:spcBef>
              <a:buFont typeface="Arial" pitchFamily="34" charset="0"/>
              <a:buNone/>
              <a:defRPr/>
            </a:pPr>
            <a:r>
              <a:rPr lang="en-US" dirty="0"/>
              <a:t>do the following:</a:t>
            </a:r>
          </a:p>
          <a:p>
            <a:pPr algn="just">
              <a:defRPr/>
            </a:pPr>
            <a:r>
              <a:rPr lang="en-US" dirty="0"/>
              <a:t>Write </a:t>
            </a:r>
            <a:r>
              <a:rPr lang="en-US" dirty="0">
                <a:latin typeface="Courier New" pitchFamily="49" charset="0"/>
              </a:rPr>
              <a:t>SELECT</a:t>
            </a:r>
            <a:r>
              <a:rPr lang="en-US" dirty="0"/>
              <a:t> statements to access data from more than one table using equality and non-equality joins</a:t>
            </a:r>
          </a:p>
          <a:p>
            <a:pPr algn="just">
              <a:defRPr/>
            </a:pPr>
            <a:r>
              <a:rPr lang="en-US" dirty="0"/>
              <a:t>View data that generally does not meet a join condition by using outer joins</a:t>
            </a:r>
          </a:p>
          <a:p>
            <a:pPr algn="just">
              <a:defRPr/>
            </a:pPr>
            <a:r>
              <a:rPr lang="en-US" dirty="0"/>
              <a:t>Join a table to itself by using a self join</a:t>
            </a:r>
            <a:endParaRPr lang="en-US" dirty="0">
              <a:solidFill>
                <a:schemeClr val="tx2"/>
              </a:solidFill>
            </a:endParaRPr>
          </a:p>
          <a:p>
            <a:pPr marL="533400" indent="-533400" algn="just">
              <a:buFont typeface="Wingdings" pitchFamily="2" charset="2"/>
              <a:buChar char="l"/>
              <a:defRPr/>
            </a:pPr>
            <a:endParaRPr lang="en-US" dirty="0">
              <a:solidFill>
                <a:schemeClr val="tx2"/>
              </a:solidFill>
            </a:endParaRPr>
          </a:p>
        </p:txBody>
      </p:sp>
    </p:spTree>
  </p:cSld>
  <p:clrMapOvr>
    <a:masterClrMapping/>
  </p:clrMapOvr>
  <p:transition spd="med">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3CF4DAD-7EBE-9256-425A-196D35FC94B6}"/>
              </a:ext>
            </a:extLst>
          </p:cNvPr>
          <p:cNvSpPr>
            <a:spLocks noChangeArrowheads="1"/>
          </p:cNvSpPr>
          <p:nvPr/>
        </p:nvSpPr>
        <p:spPr bwMode="blackWhite">
          <a:xfrm>
            <a:off x="831850" y="1593850"/>
            <a:ext cx="3505200"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171" name="Rectangle 3">
            <a:extLst>
              <a:ext uri="{FF2B5EF4-FFF2-40B4-BE49-F238E27FC236}">
                <a16:creationId xmlns:a16="http://schemas.microsoft.com/office/drawing/2014/main" id="{246B468C-957D-D1A6-5132-200C874CA35F}"/>
              </a:ext>
            </a:extLst>
          </p:cNvPr>
          <p:cNvSpPr>
            <a:spLocks noChangeArrowheads="1"/>
          </p:cNvSpPr>
          <p:nvPr/>
        </p:nvSpPr>
        <p:spPr bwMode="blackWhite">
          <a:xfrm>
            <a:off x="4506913" y="160020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172" name="Rectangle 4">
            <a:extLst>
              <a:ext uri="{FF2B5EF4-FFF2-40B4-BE49-F238E27FC236}">
                <a16:creationId xmlns:a16="http://schemas.microsoft.com/office/drawing/2014/main" id="{D138985D-E2B0-F29B-11E5-8417E9FE2B94}"/>
              </a:ext>
            </a:extLst>
          </p:cNvPr>
          <p:cNvSpPr>
            <a:spLocks noChangeArrowheads="1"/>
          </p:cNvSpPr>
          <p:nvPr/>
        </p:nvSpPr>
        <p:spPr bwMode="blackWhite">
          <a:xfrm>
            <a:off x="2357438" y="3857625"/>
            <a:ext cx="4113212" cy="2451100"/>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54463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54463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9pPr>
          </a:lstStyle>
          <a:p>
            <a:pPr>
              <a:lnSpc>
                <a:spcPct val="85000"/>
              </a:lnSpc>
              <a:spcBef>
                <a:spcPct val="0"/>
              </a:spcBef>
              <a:buFontTx/>
              <a:buNone/>
            </a:pPr>
            <a:r>
              <a:rPr lang="en-US" altLang="en-US" sz="1800" b="1">
                <a:solidFill>
                  <a:srgbClr val="000000"/>
                </a:solidFill>
                <a:latin typeface="Courier New" panose="02070309020205020404" pitchFamily="49" charset="0"/>
              </a:rPr>
              <a:t>EMPNO 	DEPTNO 	LOC</a:t>
            </a:r>
          </a:p>
          <a:p>
            <a:pPr>
              <a:lnSpc>
                <a:spcPct val="85000"/>
              </a:lnSpc>
              <a:spcBef>
                <a:spcPct val="0"/>
              </a:spcBef>
              <a:buFontTx/>
              <a:buNone/>
            </a:pPr>
            <a:r>
              <a:rPr lang="en-US" altLang="en-US" sz="1800" b="1">
                <a:solidFill>
                  <a:srgbClr val="000000"/>
                </a:solidFill>
                <a:latin typeface="Courier New" panose="02070309020205020404" pitchFamily="49" charset="0"/>
              </a:rPr>
              <a:t>----- ------- -------- </a:t>
            </a:r>
          </a:p>
          <a:p>
            <a:pPr>
              <a:lnSpc>
                <a:spcPct val="85000"/>
              </a:lnSpc>
              <a:spcBef>
                <a:spcPct val="0"/>
              </a:spcBef>
              <a:buFontTx/>
              <a:buNone/>
            </a:pPr>
            <a:r>
              <a:rPr lang="en-US" altLang="en-US" sz="1800" b="1">
                <a:solidFill>
                  <a:srgbClr val="000000"/>
                </a:solidFill>
                <a:latin typeface="Courier New" panose="02070309020205020404" pitchFamily="49" charset="0"/>
              </a:rPr>
              <a:t> 7839      	10 NEW YORK</a:t>
            </a:r>
          </a:p>
          <a:p>
            <a:pPr>
              <a:lnSpc>
                <a:spcPct val="85000"/>
              </a:lnSpc>
              <a:spcBef>
                <a:spcPct val="0"/>
              </a:spcBef>
              <a:buFontTx/>
              <a:buNone/>
            </a:pPr>
            <a:r>
              <a:rPr lang="en-US" altLang="en-US" sz="1800" b="1">
                <a:solidFill>
                  <a:srgbClr val="000000"/>
                </a:solidFill>
                <a:latin typeface="Courier New" panose="02070309020205020404" pitchFamily="49" charset="0"/>
              </a:rPr>
              <a:t> 7698 	    	30 CHICAGO</a:t>
            </a:r>
          </a:p>
          <a:p>
            <a:pPr>
              <a:lnSpc>
                <a:spcPct val="85000"/>
              </a:lnSpc>
              <a:spcBef>
                <a:spcPct val="0"/>
              </a:spcBef>
              <a:buFontTx/>
              <a:buNone/>
            </a:pPr>
            <a:r>
              <a:rPr lang="en-US" altLang="en-US" sz="1800" b="1">
                <a:solidFill>
                  <a:srgbClr val="000000"/>
                </a:solidFill>
                <a:latin typeface="Courier New" panose="02070309020205020404" pitchFamily="49" charset="0"/>
              </a:rPr>
              <a:t> 7782  	10 NEW YORK</a:t>
            </a:r>
          </a:p>
          <a:p>
            <a:pPr>
              <a:lnSpc>
                <a:spcPct val="85000"/>
              </a:lnSpc>
              <a:spcBef>
                <a:spcPct val="0"/>
              </a:spcBef>
              <a:buFontTx/>
              <a:buNone/>
            </a:pPr>
            <a:r>
              <a:rPr lang="en-US" altLang="en-US" sz="1800" b="1">
                <a:solidFill>
                  <a:srgbClr val="000000"/>
                </a:solidFill>
                <a:latin typeface="Courier New" panose="02070309020205020404" pitchFamily="49" charset="0"/>
              </a:rPr>
              <a:t> 7566  	20 DALLAS</a:t>
            </a:r>
          </a:p>
          <a:p>
            <a:pPr>
              <a:lnSpc>
                <a:spcPct val="85000"/>
              </a:lnSpc>
              <a:spcBef>
                <a:spcPct val="0"/>
              </a:spcBef>
              <a:buFontTx/>
              <a:buNone/>
            </a:pPr>
            <a:r>
              <a:rPr lang="en-US" altLang="en-US" sz="1800" b="1">
                <a:solidFill>
                  <a:srgbClr val="000000"/>
                </a:solidFill>
                <a:latin typeface="Courier New" panose="02070309020205020404" pitchFamily="49" charset="0"/>
              </a:rPr>
              <a:t> 7654 	    	30 CHICAGO</a:t>
            </a:r>
          </a:p>
          <a:p>
            <a:pPr>
              <a:lnSpc>
                <a:spcPct val="85000"/>
              </a:lnSpc>
              <a:spcBef>
                <a:spcPct val="0"/>
              </a:spcBef>
              <a:buFontTx/>
              <a:buNone/>
            </a:pPr>
            <a:r>
              <a:rPr lang="en-US" altLang="en-US" sz="1800" b="1">
                <a:solidFill>
                  <a:srgbClr val="000000"/>
                </a:solidFill>
                <a:latin typeface="Courier New" panose="02070309020205020404" pitchFamily="49" charset="0"/>
              </a:rPr>
              <a:t> 7499  	30 CHICAGO</a:t>
            </a:r>
          </a:p>
          <a:p>
            <a:pPr>
              <a:lnSpc>
                <a:spcPct val="85000"/>
              </a:lnSpc>
              <a:spcBef>
                <a:spcPct val="0"/>
              </a:spcBef>
              <a:buFontTx/>
              <a:buNone/>
            </a:pPr>
            <a:r>
              <a:rPr lang="en-US" altLang="en-US" sz="1800" b="1">
                <a:solidFill>
                  <a:srgbClr val="000000"/>
                </a:solidFill>
                <a:latin typeface="Courier New" panose="02070309020205020404" pitchFamily="49" charset="0"/>
              </a:rPr>
              <a:t>...</a:t>
            </a:r>
          </a:p>
          <a:p>
            <a:pPr>
              <a:lnSpc>
                <a:spcPct val="85000"/>
              </a:lnSpc>
              <a:spcBef>
                <a:spcPct val="0"/>
              </a:spcBef>
              <a:buFontTx/>
              <a:buNone/>
            </a:pPr>
            <a:r>
              <a:rPr lang="en-US" altLang="en-US" sz="1800" b="1">
                <a:solidFill>
                  <a:srgbClr val="000000"/>
                </a:solidFill>
                <a:latin typeface="Courier New" panose="02070309020205020404" pitchFamily="49" charset="0"/>
              </a:rPr>
              <a:t>14 rows selected.</a:t>
            </a:r>
          </a:p>
        </p:txBody>
      </p:sp>
      <p:sp>
        <p:nvSpPr>
          <p:cNvPr id="7173" name="Rectangle 5">
            <a:extLst>
              <a:ext uri="{FF2B5EF4-FFF2-40B4-BE49-F238E27FC236}">
                <a16:creationId xmlns:a16="http://schemas.microsoft.com/office/drawing/2014/main" id="{617C49C8-1FE5-5C1B-B834-302C7D976E1A}"/>
              </a:ext>
            </a:extLst>
          </p:cNvPr>
          <p:cNvSpPr>
            <a:spLocks noGrp="1" noChangeArrowheads="1"/>
          </p:cNvSpPr>
          <p:nvPr>
            <p:ph type="title"/>
          </p:nvPr>
        </p:nvSpPr>
        <p:spPr>
          <a:xfrm>
            <a:off x="431800" y="620713"/>
            <a:ext cx="5940425" cy="541337"/>
          </a:xfrm>
          <a:noFill/>
        </p:spPr>
        <p:txBody>
          <a:bodyPr lIns="92075" tIns="46038" rIns="92075" bIns="46038" anchor="t"/>
          <a:lstStyle/>
          <a:p>
            <a:r>
              <a:rPr lang="en-US" altLang="en-US" sz="2800">
                <a:solidFill>
                  <a:srgbClr val="800000"/>
                </a:solidFill>
              </a:rPr>
              <a:t>Obtaining Data from Multiple Tables</a:t>
            </a:r>
          </a:p>
        </p:txBody>
      </p:sp>
      <p:sp>
        <p:nvSpPr>
          <p:cNvPr id="239622" name="Rectangle 6">
            <a:extLst>
              <a:ext uri="{FF2B5EF4-FFF2-40B4-BE49-F238E27FC236}">
                <a16:creationId xmlns:a16="http://schemas.microsoft.com/office/drawing/2014/main" id="{67B0BF23-A110-644F-59C9-E8B081803730}"/>
              </a:ext>
            </a:extLst>
          </p:cNvPr>
          <p:cNvSpPr>
            <a:spLocks noChangeArrowheads="1"/>
          </p:cNvSpPr>
          <p:nvPr/>
        </p:nvSpPr>
        <p:spPr bwMode="auto">
          <a:xfrm>
            <a:off x="742950" y="1236663"/>
            <a:ext cx="804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EMP </a:t>
            </a:r>
          </a:p>
        </p:txBody>
      </p:sp>
      <p:sp>
        <p:nvSpPr>
          <p:cNvPr id="239623" name="Rectangle 7">
            <a:extLst>
              <a:ext uri="{FF2B5EF4-FFF2-40B4-BE49-F238E27FC236}">
                <a16:creationId xmlns:a16="http://schemas.microsoft.com/office/drawing/2014/main" id="{14256C35-FA93-6CB1-E193-7C0C2EDC8B15}"/>
              </a:ext>
            </a:extLst>
          </p:cNvPr>
          <p:cNvSpPr>
            <a:spLocks noChangeArrowheads="1"/>
          </p:cNvSpPr>
          <p:nvPr/>
        </p:nvSpPr>
        <p:spPr bwMode="auto">
          <a:xfrm>
            <a:off x="4419600" y="123666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DEPT </a:t>
            </a:r>
          </a:p>
        </p:txBody>
      </p:sp>
      <p:grpSp>
        <p:nvGrpSpPr>
          <p:cNvPr id="2" name="Group 8">
            <a:extLst>
              <a:ext uri="{FF2B5EF4-FFF2-40B4-BE49-F238E27FC236}">
                <a16:creationId xmlns:a16="http://schemas.microsoft.com/office/drawing/2014/main" id="{277C65C9-998E-8E00-55FC-C345750B08B7}"/>
              </a:ext>
            </a:extLst>
          </p:cNvPr>
          <p:cNvGrpSpPr>
            <a:grpSpLocks/>
          </p:cNvGrpSpPr>
          <p:nvPr/>
        </p:nvGrpSpPr>
        <p:grpSpPr bwMode="auto">
          <a:xfrm>
            <a:off x="895350" y="1654175"/>
            <a:ext cx="7313613" cy="1573213"/>
            <a:chOff x="564" y="948"/>
            <a:chExt cx="4607" cy="991"/>
          </a:xfrm>
        </p:grpSpPr>
        <p:sp>
          <p:nvSpPr>
            <p:cNvPr id="7182" name="Rectangle 9">
              <a:extLst>
                <a:ext uri="{FF2B5EF4-FFF2-40B4-BE49-F238E27FC236}">
                  <a16:creationId xmlns:a16="http://schemas.microsoft.com/office/drawing/2014/main" id="{1AAE802B-FC45-EA4C-6420-75B73C816599}"/>
                </a:ext>
              </a:extLst>
            </p:cNvPr>
            <p:cNvSpPr>
              <a:spLocks noChangeArrowheads="1"/>
            </p:cNvSpPr>
            <p:nvPr/>
          </p:nvSpPr>
          <p:spPr bwMode="ltGray">
            <a:xfrm>
              <a:off x="564" y="948"/>
              <a:ext cx="56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183" name="Rectangle 10">
              <a:extLst>
                <a:ext uri="{FF2B5EF4-FFF2-40B4-BE49-F238E27FC236}">
                  <a16:creationId xmlns:a16="http://schemas.microsoft.com/office/drawing/2014/main" id="{690030DF-95EA-40AB-E2CB-53FA11DA6371}"/>
                </a:ext>
              </a:extLst>
            </p:cNvPr>
            <p:cNvSpPr>
              <a:spLocks noChangeArrowheads="1"/>
            </p:cNvSpPr>
            <p:nvPr/>
          </p:nvSpPr>
          <p:spPr bwMode="ltGray">
            <a:xfrm>
              <a:off x="2110" y="948"/>
              <a:ext cx="56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184" name="Rectangle 11">
              <a:extLst>
                <a:ext uri="{FF2B5EF4-FFF2-40B4-BE49-F238E27FC236}">
                  <a16:creationId xmlns:a16="http://schemas.microsoft.com/office/drawing/2014/main" id="{F91C6CFE-1461-7DDE-0CFF-1D648EDDC249}"/>
                </a:ext>
              </a:extLst>
            </p:cNvPr>
            <p:cNvSpPr>
              <a:spLocks noChangeArrowheads="1"/>
            </p:cNvSpPr>
            <p:nvPr/>
          </p:nvSpPr>
          <p:spPr bwMode="ltGray">
            <a:xfrm>
              <a:off x="4419" y="948"/>
              <a:ext cx="75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 name="Group 12">
            <a:extLst>
              <a:ext uri="{FF2B5EF4-FFF2-40B4-BE49-F238E27FC236}">
                <a16:creationId xmlns:a16="http://schemas.microsoft.com/office/drawing/2014/main" id="{25081795-9187-9732-B958-D5AFEC64EF6B}"/>
              </a:ext>
            </a:extLst>
          </p:cNvPr>
          <p:cNvGrpSpPr>
            <a:grpSpLocks/>
          </p:cNvGrpSpPr>
          <p:nvPr/>
        </p:nvGrpSpPr>
        <p:grpSpPr bwMode="auto">
          <a:xfrm>
            <a:off x="3937000" y="3362325"/>
            <a:ext cx="966788" cy="473075"/>
            <a:chOff x="2480" y="2024"/>
            <a:chExt cx="609" cy="298"/>
          </a:xfrm>
        </p:grpSpPr>
        <p:sp>
          <p:nvSpPr>
            <p:cNvPr id="7180" name="Line 13">
              <a:extLst>
                <a:ext uri="{FF2B5EF4-FFF2-40B4-BE49-F238E27FC236}">
                  <a16:creationId xmlns:a16="http://schemas.microsoft.com/office/drawing/2014/main" id="{1ADD1450-1775-5FBE-7A5F-0E777A586E27}"/>
                </a:ext>
              </a:extLst>
            </p:cNvPr>
            <p:cNvSpPr>
              <a:spLocks noChangeShapeType="1"/>
            </p:cNvSpPr>
            <p:nvPr/>
          </p:nvSpPr>
          <p:spPr bwMode="auto">
            <a:xfrm flipV="1">
              <a:off x="2480"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7181" name="Line 14">
              <a:extLst>
                <a:ext uri="{FF2B5EF4-FFF2-40B4-BE49-F238E27FC236}">
                  <a16:creationId xmlns:a16="http://schemas.microsoft.com/office/drawing/2014/main" id="{AD0BE5D0-C8C9-E690-64FA-369616827DE6}"/>
                </a:ext>
              </a:extLst>
            </p:cNvPr>
            <p:cNvSpPr>
              <a:spLocks noChangeShapeType="1"/>
            </p:cNvSpPr>
            <p:nvPr/>
          </p:nvSpPr>
          <p:spPr bwMode="auto">
            <a:xfrm flipV="1">
              <a:off x="3089"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7178" name="Rectangle 15">
            <a:extLst>
              <a:ext uri="{FF2B5EF4-FFF2-40B4-BE49-F238E27FC236}">
                <a16:creationId xmlns:a16="http://schemas.microsoft.com/office/drawing/2014/main" id="{9B4F2CC7-E8B8-8BFE-5821-12897A88F28A}"/>
              </a:ext>
            </a:extLst>
          </p:cNvPr>
          <p:cNvSpPr>
            <a:spLocks noChangeArrowheads="1"/>
          </p:cNvSpPr>
          <p:nvPr/>
        </p:nvSpPr>
        <p:spPr bwMode="blackWhite">
          <a:xfrm>
            <a:off x="844550" y="1625600"/>
            <a:ext cx="347980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	DEPTNO</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	...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7839	KING	...	    10</a:t>
            </a:r>
          </a:p>
          <a:p>
            <a:pPr>
              <a:lnSpc>
                <a:spcPct val="95000"/>
              </a:lnSpc>
              <a:spcBef>
                <a:spcPct val="0"/>
              </a:spcBef>
              <a:buFontTx/>
              <a:buNone/>
            </a:pPr>
            <a:r>
              <a:rPr lang="en-US" altLang="en-US" sz="1800" b="1">
                <a:solidFill>
                  <a:srgbClr val="000000"/>
                </a:solidFill>
                <a:latin typeface="Courier New" panose="02070309020205020404" pitchFamily="49" charset="0"/>
              </a:rPr>
              <a:t>  7698	BLAKE	...	    30</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7934	MILLER	...	    10</a:t>
            </a:r>
          </a:p>
        </p:txBody>
      </p:sp>
      <p:sp>
        <p:nvSpPr>
          <p:cNvPr id="7179" name="Rectangle 16">
            <a:extLst>
              <a:ext uri="{FF2B5EF4-FFF2-40B4-BE49-F238E27FC236}">
                <a16:creationId xmlns:a16="http://schemas.microsoft.com/office/drawing/2014/main" id="{5DE22222-DE55-5C8B-5AE3-8A6A829FF0E4}"/>
              </a:ext>
            </a:extLst>
          </p:cNvPr>
          <p:cNvSpPr>
            <a:spLocks noChangeArrowheads="1"/>
          </p:cNvSpPr>
          <p:nvPr/>
        </p:nvSpPr>
        <p:spPr bwMode="blackWhite">
          <a:xfrm>
            <a:off x="4519613" y="163195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85FF0CA-0EF9-BD28-A2EB-0106471D2914}"/>
              </a:ext>
            </a:extLst>
          </p:cNvPr>
          <p:cNvSpPr>
            <a:spLocks noGrp="1" noChangeArrowheads="1"/>
          </p:cNvSpPr>
          <p:nvPr>
            <p:ph type="title"/>
          </p:nvPr>
        </p:nvSpPr>
        <p:spPr>
          <a:xfrm>
            <a:off x="323850" y="620713"/>
            <a:ext cx="2770188" cy="536575"/>
          </a:xfrm>
          <a:noFill/>
        </p:spPr>
        <p:txBody>
          <a:bodyPr lIns="92075" tIns="46038" rIns="92075" bIns="46038" anchor="t"/>
          <a:lstStyle/>
          <a:p>
            <a:r>
              <a:rPr lang="en-US" altLang="en-US" sz="2800">
                <a:solidFill>
                  <a:srgbClr val="800000"/>
                </a:solidFill>
              </a:rPr>
              <a:t>What Is a Join?</a:t>
            </a:r>
          </a:p>
        </p:txBody>
      </p:sp>
      <p:sp>
        <p:nvSpPr>
          <p:cNvPr id="9219" name="Rectangle 3">
            <a:extLst>
              <a:ext uri="{FF2B5EF4-FFF2-40B4-BE49-F238E27FC236}">
                <a16:creationId xmlns:a16="http://schemas.microsoft.com/office/drawing/2014/main" id="{4AFB73DD-B721-A73E-9622-2446AB92D5F0}"/>
              </a:ext>
            </a:extLst>
          </p:cNvPr>
          <p:cNvSpPr>
            <a:spLocks noGrp="1" noChangeArrowheads="1"/>
          </p:cNvSpPr>
          <p:nvPr>
            <p:ph type="body" idx="1"/>
          </p:nvPr>
        </p:nvSpPr>
        <p:spPr>
          <a:xfrm>
            <a:off x="395288" y="1185863"/>
            <a:ext cx="8280400" cy="5448300"/>
          </a:xfrm>
          <a:noFill/>
        </p:spPr>
        <p:txBody>
          <a:bodyPr lIns="92075" tIns="46038" rIns="92075" bIns="46038">
            <a:spAutoFit/>
          </a:bodyPr>
          <a:lstStyle/>
          <a:p>
            <a:r>
              <a:rPr lang="en-US" altLang="en-US" sz="2000"/>
              <a:t>Use a join to query data from more than one table.</a:t>
            </a:r>
          </a:p>
          <a:p>
            <a:endParaRPr lang="en-US" altLang="en-US" sz="2000"/>
          </a:p>
          <a:p>
            <a:endParaRPr lang="en-US" altLang="en-US" sz="2000"/>
          </a:p>
          <a:p>
            <a:endParaRPr lang="en-US" altLang="en-US" sz="2000"/>
          </a:p>
          <a:p>
            <a:endParaRPr lang="en-US" altLang="en-US" sz="2000"/>
          </a:p>
          <a:p>
            <a:pPr lvl="1"/>
            <a:r>
              <a:rPr lang="en-US" altLang="en-US" sz="2000"/>
              <a:t>Write the join condition in the WHERE clause.</a:t>
            </a:r>
          </a:p>
          <a:p>
            <a:pPr lvl="1"/>
            <a:r>
              <a:rPr lang="en-US" altLang="en-US" sz="2000"/>
              <a:t>Prefix the column name with the table name when the same column name appears in more than one table.</a:t>
            </a:r>
          </a:p>
          <a:p>
            <a:r>
              <a:rPr lang="en-US" altLang="en-US" sz="2000"/>
              <a:t>An alternate syntax for join operation introduced with </a:t>
            </a:r>
            <a:r>
              <a:rPr lang="en-US" altLang="en-US" sz="2000">
                <a:solidFill>
                  <a:srgbClr val="FF0000"/>
                </a:solidFill>
              </a:rPr>
              <a:t>oracle 9i (ANSI syntax):</a:t>
            </a:r>
          </a:p>
          <a:p>
            <a:pPr lvl="1"/>
            <a:endParaRPr lang="en-US" altLang="en-US" sz="2000"/>
          </a:p>
          <a:p>
            <a:pPr lvl="1"/>
            <a:endParaRPr lang="en-US" altLang="en-US" sz="2000"/>
          </a:p>
          <a:p>
            <a:pPr lvl="1"/>
            <a:endParaRPr lang="en-US" altLang="en-US" sz="2000"/>
          </a:p>
          <a:p>
            <a:pPr lvl="1"/>
            <a:endParaRPr lang="en-US" altLang="en-US" sz="2000"/>
          </a:p>
          <a:p>
            <a:r>
              <a:rPr lang="en-US" altLang="en-US" sz="2000">
                <a:solidFill>
                  <a:schemeClr val="accent2"/>
                </a:solidFill>
              </a:rPr>
              <a:t>Join type </a:t>
            </a:r>
            <a:r>
              <a:rPr lang="en-US" altLang="en-US" sz="2000"/>
              <a:t>can be </a:t>
            </a:r>
            <a:r>
              <a:rPr lang="en-US" altLang="en-US" sz="2000">
                <a:solidFill>
                  <a:schemeClr val="accent2"/>
                </a:solidFill>
              </a:rPr>
              <a:t>INNNER (EQUI), LEFT, RIGHT, FULL OUTER…</a:t>
            </a:r>
          </a:p>
        </p:txBody>
      </p:sp>
      <p:sp>
        <p:nvSpPr>
          <p:cNvPr id="9220" name="Rectangle 4">
            <a:extLst>
              <a:ext uri="{FF2B5EF4-FFF2-40B4-BE49-F238E27FC236}">
                <a16:creationId xmlns:a16="http://schemas.microsoft.com/office/drawing/2014/main" id="{80EA606D-2971-0CB5-6619-09358F0B3C73}"/>
              </a:ext>
            </a:extLst>
          </p:cNvPr>
          <p:cNvSpPr>
            <a:spLocks noChangeArrowheads="1"/>
          </p:cNvSpPr>
          <p:nvPr/>
        </p:nvSpPr>
        <p:spPr bwMode="blackWhite">
          <a:xfrm>
            <a:off x="1030288" y="1700213"/>
            <a:ext cx="7091362" cy="1187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table1.column, table2.column</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table1, table2</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table1.column1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 table2.column2</a:t>
            </a:r>
            <a:r>
              <a:rPr lang="en-US" altLang="en-US" sz="1800" b="1">
                <a:solidFill>
                  <a:srgbClr val="000000"/>
                </a:solidFill>
                <a:latin typeface="Courier New" panose="02070309020205020404" pitchFamily="49" charset="0"/>
              </a:rPr>
              <a:t>;</a:t>
            </a:r>
          </a:p>
        </p:txBody>
      </p:sp>
      <p:sp>
        <p:nvSpPr>
          <p:cNvPr id="9221" name="Rectangle 4">
            <a:extLst>
              <a:ext uri="{FF2B5EF4-FFF2-40B4-BE49-F238E27FC236}">
                <a16:creationId xmlns:a16="http://schemas.microsoft.com/office/drawing/2014/main" id="{3C945432-44D9-08FB-CB81-23E5F5E331DE}"/>
              </a:ext>
            </a:extLst>
          </p:cNvPr>
          <p:cNvSpPr>
            <a:spLocks noChangeArrowheads="1"/>
          </p:cNvSpPr>
          <p:nvPr/>
        </p:nvSpPr>
        <p:spPr bwMode="blackWhite">
          <a:xfrm>
            <a:off x="1009650" y="4833938"/>
            <a:ext cx="7091363" cy="1187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table1.column, table2.column</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table1 </a:t>
            </a:r>
            <a:r>
              <a:rPr lang="en-US" altLang="en-US" sz="1800" b="1" i="1">
                <a:solidFill>
                  <a:schemeClr val="accent2"/>
                </a:solidFill>
                <a:latin typeface="Courier New" panose="02070309020205020404" pitchFamily="49" charset="0"/>
              </a:rPr>
              <a:t>{join type} JOIN </a:t>
            </a:r>
            <a:r>
              <a:rPr lang="en-US" altLang="en-US" sz="1800" b="1" i="1">
                <a:solidFill>
                  <a:srgbClr val="000000"/>
                </a:solidFill>
                <a:latin typeface="Courier New" panose="02070309020205020404" pitchFamily="49" charset="0"/>
              </a:rPr>
              <a:t>table2</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[ON 	</a:t>
            </a:r>
            <a:r>
              <a:rPr lang="en-US" altLang="en-US" sz="1800" b="1" i="1">
                <a:solidFill>
                  <a:srgbClr val="000000"/>
                </a:solidFill>
                <a:latin typeface="Courier New" panose="02070309020205020404" pitchFamily="49" charset="0"/>
              </a:rPr>
              <a:t>table1.column1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 table2.column2]</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01C299C-8701-6F4A-23A9-B7BAB4285EB1}"/>
              </a:ext>
            </a:extLst>
          </p:cNvPr>
          <p:cNvSpPr>
            <a:spLocks noGrp="1" noChangeArrowheads="1"/>
          </p:cNvSpPr>
          <p:nvPr>
            <p:ph type="title"/>
          </p:nvPr>
        </p:nvSpPr>
        <p:spPr>
          <a:xfrm>
            <a:off x="323850" y="660400"/>
            <a:ext cx="2625725" cy="536575"/>
          </a:xfrm>
        </p:spPr>
        <p:txBody>
          <a:bodyPr lIns="92075" tIns="46038" rIns="92075" bIns="46038" anchor="t"/>
          <a:lstStyle/>
          <a:p>
            <a:r>
              <a:rPr lang="en-US" altLang="en-US" sz="2800">
                <a:solidFill>
                  <a:srgbClr val="800000"/>
                </a:solidFill>
              </a:rPr>
              <a:t>Types of Joins</a:t>
            </a:r>
          </a:p>
        </p:txBody>
      </p:sp>
      <p:graphicFrame>
        <p:nvGraphicFramePr>
          <p:cNvPr id="2" name="Table 2">
            <a:extLst>
              <a:ext uri="{FF2B5EF4-FFF2-40B4-BE49-F238E27FC236}">
                <a16:creationId xmlns:a16="http://schemas.microsoft.com/office/drawing/2014/main" id="{CB03EBE3-5D7A-C51D-F028-8B8BBA26E740}"/>
              </a:ext>
            </a:extLst>
          </p:cNvPr>
          <p:cNvGraphicFramePr>
            <a:graphicFrameLocks noGrp="1"/>
          </p:cNvGraphicFramePr>
          <p:nvPr/>
        </p:nvGraphicFramePr>
        <p:xfrm>
          <a:off x="395288" y="1268413"/>
          <a:ext cx="7224712" cy="5184774"/>
        </p:xfrm>
        <a:graphic>
          <a:graphicData uri="http://schemas.openxmlformats.org/drawingml/2006/table">
            <a:tbl>
              <a:tblPr firstRow="1" bandRow="1">
                <a:tableStyleId>{5C22544A-7EE6-4342-B048-85BDC9FD1C3A}</a:tableStyleId>
              </a:tblPr>
              <a:tblGrid>
                <a:gridCol w="3612356">
                  <a:extLst>
                    <a:ext uri="{9D8B030D-6E8A-4147-A177-3AD203B41FA5}">
                      <a16:colId xmlns:a16="http://schemas.microsoft.com/office/drawing/2014/main" val="20000"/>
                    </a:ext>
                  </a:extLst>
                </a:gridCol>
                <a:gridCol w="3612356">
                  <a:extLst>
                    <a:ext uri="{9D8B030D-6E8A-4147-A177-3AD203B41FA5}">
                      <a16:colId xmlns:a16="http://schemas.microsoft.com/office/drawing/2014/main" val="20001"/>
                    </a:ext>
                  </a:extLst>
                </a:gridCol>
              </a:tblGrid>
              <a:tr h="864129">
                <a:tc>
                  <a:txBody>
                    <a:bodyPr/>
                    <a:lstStyle/>
                    <a:p>
                      <a:pPr algn="ctr"/>
                      <a:r>
                        <a:rPr lang="en-US" sz="2800" b="0" dirty="0">
                          <a:solidFill>
                            <a:srgbClr val="FF0000"/>
                          </a:solidFill>
                        </a:rPr>
                        <a:t>Cartesian</a:t>
                      </a:r>
                      <a:r>
                        <a:rPr lang="en-US" sz="2800" b="0" dirty="0">
                          <a:solidFill>
                            <a:schemeClr val="tx1"/>
                          </a:solidFill>
                        </a:rPr>
                        <a:t> Join</a:t>
                      </a:r>
                      <a:endParaRPr lang="en-US" sz="1800" b="0" dirty="0">
                        <a:solidFill>
                          <a:schemeClr val="tx1"/>
                        </a:solidFill>
                      </a:endParaRPr>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rgbClr val="FF0000"/>
                          </a:solidFill>
                          <a:latin typeface="+mn-lt"/>
                          <a:ea typeface="+mn-ea"/>
                          <a:cs typeface="+mn-cs"/>
                        </a:rPr>
                        <a:t>Natural</a:t>
                      </a:r>
                      <a:r>
                        <a:rPr lang="en-US" sz="2800" b="0" kern="1200" dirty="0">
                          <a:solidFill>
                            <a:schemeClr val="tx1"/>
                          </a:solidFill>
                          <a:latin typeface="+mn-lt"/>
                          <a:ea typeface="+mn-ea"/>
                          <a:cs typeface="+mn-cs"/>
                        </a:rPr>
                        <a:t> Join</a:t>
                      </a:r>
                      <a:endParaRPr lang="en-US" sz="24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err="1">
                          <a:solidFill>
                            <a:srgbClr val="FF0000"/>
                          </a:solidFill>
                          <a:latin typeface="+mn-lt"/>
                          <a:ea typeface="+mn-ea"/>
                          <a:cs typeface="+mn-cs"/>
                        </a:rPr>
                        <a:t>Equi</a:t>
                      </a:r>
                      <a:r>
                        <a:rPr lang="en-US" sz="2800" b="0" kern="1200" dirty="0">
                          <a:solidFill>
                            <a:schemeClr val="tx1"/>
                          </a:solidFill>
                          <a:latin typeface="+mn-lt"/>
                          <a:ea typeface="+mn-ea"/>
                          <a:cs typeface="+mn-cs"/>
                        </a:rPr>
                        <a:t> or </a:t>
                      </a:r>
                      <a:r>
                        <a:rPr lang="en-US" sz="2800" b="0" kern="1200" dirty="0">
                          <a:solidFill>
                            <a:srgbClr val="FF0000"/>
                          </a:solidFill>
                          <a:latin typeface="+mn-lt"/>
                          <a:ea typeface="+mn-ea"/>
                          <a:cs typeface="+mn-cs"/>
                        </a:rPr>
                        <a:t>Inner</a:t>
                      </a:r>
                      <a:r>
                        <a:rPr lang="en-US" sz="2800" b="0" kern="1200" dirty="0">
                          <a:solidFill>
                            <a:schemeClr val="tx1"/>
                          </a:solidFill>
                          <a:latin typeface="+mn-lt"/>
                          <a:ea typeface="+mn-ea"/>
                          <a:cs typeface="+mn-cs"/>
                        </a:rPr>
                        <a:t> Join</a:t>
                      </a:r>
                      <a:endParaRPr lang="en-US" sz="1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Outer</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rgbClr val="FF0000"/>
                          </a:solidFill>
                          <a:latin typeface="+mn-lt"/>
                          <a:ea typeface="+mn-ea"/>
                          <a:cs typeface="+mn-cs"/>
                        </a:rPr>
                        <a:t>Non-</a:t>
                      </a:r>
                      <a:r>
                        <a:rPr lang="en-US" sz="2800" b="0" kern="1200" dirty="0" err="1">
                          <a:solidFill>
                            <a:srgbClr val="FF0000"/>
                          </a:solidFill>
                          <a:latin typeface="+mn-lt"/>
                          <a:ea typeface="+mn-ea"/>
                          <a:cs typeface="+mn-cs"/>
                        </a:rPr>
                        <a:t>Equi</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Self</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1290" name="Group 1">
            <a:extLst>
              <a:ext uri="{FF2B5EF4-FFF2-40B4-BE49-F238E27FC236}">
                <a16:creationId xmlns:a16="http://schemas.microsoft.com/office/drawing/2014/main" id="{4DC3085C-63B7-1FA6-8EE9-49186573DE92}"/>
              </a:ext>
            </a:extLst>
          </p:cNvPr>
          <p:cNvGrpSpPr>
            <a:grpSpLocks/>
          </p:cNvGrpSpPr>
          <p:nvPr/>
        </p:nvGrpSpPr>
        <p:grpSpPr bwMode="auto">
          <a:xfrm>
            <a:off x="4932363" y="1325563"/>
            <a:ext cx="1701800" cy="638175"/>
            <a:chOff x="773113" y="3726929"/>
            <a:chExt cx="1701800" cy="638175"/>
          </a:xfrm>
        </p:grpSpPr>
        <p:sp>
          <p:nvSpPr>
            <p:cNvPr id="11320" name="Rectangle 11">
              <a:extLst>
                <a:ext uri="{FF2B5EF4-FFF2-40B4-BE49-F238E27FC236}">
                  <a16:creationId xmlns:a16="http://schemas.microsoft.com/office/drawing/2014/main" id="{26B47A2B-51F1-2D2E-79D1-72CA631A834F}"/>
                </a:ext>
              </a:extLst>
            </p:cNvPr>
            <p:cNvSpPr>
              <a:spLocks noChangeArrowheads="1"/>
            </p:cNvSpPr>
            <p:nvPr/>
          </p:nvSpPr>
          <p:spPr bwMode="blackWhite">
            <a:xfrm>
              <a:off x="773113"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21" name="Rectangle 12">
              <a:extLst>
                <a:ext uri="{FF2B5EF4-FFF2-40B4-BE49-F238E27FC236}">
                  <a16:creationId xmlns:a16="http://schemas.microsoft.com/office/drawing/2014/main" id="{B987D191-C8DB-42AD-ADF7-7F416E7FD7FC}"/>
                </a:ext>
              </a:extLst>
            </p:cNvPr>
            <p:cNvSpPr>
              <a:spLocks noChangeArrowheads="1"/>
            </p:cNvSpPr>
            <p:nvPr/>
          </p:nvSpPr>
          <p:spPr bwMode="blackWhite">
            <a:xfrm>
              <a:off x="1697038"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22" name="Line 15">
              <a:extLst>
                <a:ext uri="{FF2B5EF4-FFF2-40B4-BE49-F238E27FC236}">
                  <a16:creationId xmlns:a16="http://schemas.microsoft.com/office/drawing/2014/main" id="{79E50721-A945-D0E6-2807-01A8DF7D5E8D}"/>
                </a:ext>
              </a:extLst>
            </p:cNvPr>
            <p:cNvSpPr>
              <a:spLocks noChangeShapeType="1"/>
            </p:cNvSpPr>
            <p:nvPr/>
          </p:nvSpPr>
          <p:spPr bwMode="blackWhite">
            <a:xfrm>
              <a:off x="1290638" y="4060304"/>
              <a:ext cx="650875"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11291" name="Group 10">
            <a:extLst>
              <a:ext uri="{FF2B5EF4-FFF2-40B4-BE49-F238E27FC236}">
                <a16:creationId xmlns:a16="http://schemas.microsoft.com/office/drawing/2014/main" id="{206743D3-736C-D460-2C3A-65229C7D294B}"/>
              </a:ext>
            </a:extLst>
          </p:cNvPr>
          <p:cNvGrpSpPr>
            <a:grpSpLocks/>
          </p:cNvGrpSpPr>
          <p:nvPr/>
        </p:nvGrpSpPr>
        <p:grpSpPr bwMode="auto">
          <a:xfrm>
            <a:off x="4924425" y="3078163"/>
            <a:ext cx="1701800" cy="638175"/>
            <a:chOff x="391" y="1632"/>
            <a:chExt cx="1072" cy="402"/>
          </a:xfrm>
        </p:grpSpPr>
        <p:sp>
          <p:nvSpPr>
            <p:cNvPr id="11315" name="Rectangle 11">
              <a:extLst>
                <a:ext uri="{FF2B5EF4-FFF2-40B4-BE49-F238E27FC236}">
                  <a16:creationId xmlns:a16="http://schemas.microsoft.com/office/drawing/2014/main" id="{396AB6A9-6B27-513B-B80B-0FA4667B7A0B}"/>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6" name="Rectangle 12">
              <a:extLst>
                <a:ext uri="{FF2B5EF4-FFF2-40B4-BE49-F238E27FC236}">
                  <a16:creationId xmlns:a16="http://schemas.microsoft.com/office/drawing/2014/main" id="{43760DBB-5A4F-91DC-98F2-2FEE1674139E}"/>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7" name="Oval 13">
              <a:extLst>
                <a:ext uri="{FF2B5EF4-FFF2-40B4-BE49-F238E27FC236}">
                  <a16:creationId xmlns:a16="http://schemas.microsoft.com/office/drawing/2014/main" id="{FD46A017-4814-AEC9-96D8-391257860155}"/>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8" name="Oval 14">
              <a:extLst>
                <a:ext uri="{FF2B5EF4-FFF2-40B4-BE49-F238E27FC236}">
                  <a16:creationId xmlns:a16="http://schemas.microsoft.com/office/drawing/2014/main" id="{4F633D39-3CBE-2ADC-A8E8-97BC833C9085}"/>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9" name="Line 15">
              <a:extLst>
                <a:ext uri="{FF2B5EF4-FFF2-40B4-BE49-F238E27FC236}">
                  <a16:creationId xmlns:a16="http://schemas.microsoft.com/office/drawing/2014/main" id="{91A6640B-6DA8-E40C-E76F-DF6BF08F2D09}"/>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11292" name="Group 16">
            <a:extLst>
              <a:ext uri="{FF2B5EF4-FFF2-40B4-BE49-F238E27FC236}">
                <a16:creationId xmlns:a16="http://schemas.microsoft.com/office/drawing/2014/main" id="{D2F14C16-CFF1-03FB-177B-45815E37F950}"/>
              </a:ext>
            </a:extLst>
          </p:cNvPr>
          <p:cNvGrpSpPr>
            <a:grpSpLocks/>
          </p:cNvGrpSpPr>
          <p:nvPr/>
        </p:nvGrpSpPr>
        <p:grpSpPr bwMode="auto">
          <a:xfrm>
            <a:off x="4932363" y="3943350"/>
            <a:ext cx="1701800" cy="638175"/>
            <a:chOff x="3135" y="1632"/>
            <a:chExt cx="1072" cy="402"/>
          </a:xfrm>
        </p:grpSpPr>
        <p:sp>
          <p:nvSpPr>
            <p:cNvPr id="11310" name="Rectangle 17">
              <a:extLst>
                <a:ext uri="{FF2B5EF4-FFF2-40B4-BE49-F238E27FC236}">
                  <a16:creationId xmlns:a16="http://schemas.microsoft.com/office/drawing/2014/main" id="{8D07F000-BFC7-35E0-FBCC-ED798274EAD9}"/>
                </a:ext>
              </a:extLst>
            </p:cNvPr>
            <p:cNvSpPr>
              <a:spLocks noChangeArrowheads="1"/>
            </p:cNvSpPr>
            <p:nvPr/>
          </p:nvSpPr>
          <p:spPr bwMode="blackWhite">
            <a:xfrm>
              <a:off x="3135"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1" name="Rectangle 18">
              <a:extLst>
                <a:ext uri="{FF2B5EF4-FFF2-40B4-BE49-F238E27FC236}">
                  <a16:creationId xmlns:a16="http://schemas.microsoft.com/office/drawing/2014/main" id="{B73948A5-8571-601A-DA81-1770B8DA9332}"/>
                </a:ext>
              </a:extLst>
            </p:cNvPr>
            <p:cNvSpPr>
              <a:spLocks noChangeArrowheads="1"/>
            </p:cNvSpPr>
            <p:nvPr/>
          </p:nvSpPr>
          <p:spPr bwMode="blackWhite">
            <a:xfrm>
              <a:off x="3717"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2" name="Oval 19">
              <a:extLst>
                <a:ext uri="{FF2B5EF4-FFF2-40B4-BE49-F238E27FC236}">
                  <a16:creationId xmlns:a16="http://schemas.microsoft.com/office/drawing/2014/main" id="{91252C4D-2F7F-83B8-09B4-FF72FDDFC4EA}"/>
                </a:ext>
              </a:extLst>
            </p:cNvPr>
            <p:cNvSpPr>
              <a:spLocks noChangeArrowheads="1"/>
            </p:cNvSpPr>
            <p:nvPr/>
          </p:nvSpPr>
          <p:spPr bwMode="blackWhite">
            <a:xfrm>
              <a:off x="3325" y="1785"/>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3" name="Oval 20">
              <a:extLst>
                <a:ext uri="{FF2B5EF4-FFF2-40B4-BE49-F238E27FC236}">
                  <a16:creationId xmlns:a16="http://schemas.microsoft.com/office/drawing/2014/main" id="{BF0963BA-0314-6D72-5A06-CC09F55609DD}"/>
                </a:ext>
              </a:extLst>
            </p:cNvPr>
            <p:cNvSpPr>
              <a:spLocks noChangeArrowheads="1"/>
            </p:cNvSpPr>
            <p:nvPr/>
          </p:nvSpPr>
          <p:spPr bwMode="blackWhite">
            <a:xfrm>
              <a:off x="3912" y="1785"/>
              <a:ext cx="88" cy="88"/>
            </a:xfrm>
            <a:prstGeom prst="ellipse">
              <a:avLst/>
            </a:prstGeom>
            <a:gradFill rotWithShape="0">
              <a:gsLst>
                <a:gs pos="0">
                  <a:srgbClr val="002EB7"/>
                </a:gs>
                <a:gs pos="50000">
                  <a:srgbClr val="0033CC"/>
                </a:gs>
                <a:gs pos="100000">
                  <a:srgbClr val="002EB7"/>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14" name="Line 21">
              <a:extLst>
                <a:ext uri="{FF2B5EF4-FFF2-40B4-BE49-F238E27FC236}">
                  <a16:creationId xmlns:a16="http://schemas.microsoft.com/office/drawing/2014/main" id="{1C2C3FE4-E048-40E6-BE46-456125B1494C}"/>
                </a:ext>
              </a:extLst>
            </p:cNvPr>
            <p:cNvSpPr>
              <a:spLocks noChangeShapeType="1"/>
            </p:cNvSpPr>
            <p:nvPr/>
          </p:nvSpPr>
          <p:spPr bwMode="blackWhite">
            <a:xfrm>
              <a:off x="3461" y="183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11293" name="Group 4">
            <a:extLst>
              <a:ext uri="{FF2B5EF4-FFF2-40B4-BE49-F238E27FC236}">
                <a16:creationId xmlns:a16="http://schemas.microsoft.com/office/drawing/2014/main" id="{D5DF234F-0F19-F946-C899-CA1559575004}"/>
              </a:ext>
            </a:extLst>
          </p:cNvPr>
          <p:cNvGrpSpPr>
            <a:grpSpLocks/>
          </p:cNvGrpSpPr>
          <p:nvPr/>
        </p:nvGrpSpPr>
        <p:grpSpPr bwMode="auto">
          <a:xfrm>
            <a:off x="4960938" y="4805363"/>
            <a:ext cx="1701800" cy="639762"/>
            <a:chOff x="1752" y="1632"/>
            <a:chExt cx="1072" cy="403"/>
          </a:xfrm>
        </p:grpSpPr>
        <p:sp>
          <p:nvSpPr>
            <p:cNvPr id="11305" name="Rectangle 5">
              <a:extLst>
                <a:ext uri="{FF2B5EF4-FFF2-40B4-BE49-F238E27FC236}">
                  <a16:creationId xmlns:a16="http://schemas.microsoft.com/office/drawing/2014/main" id="{B7D966A0-7E8E-F8F6-A133-3945D7755CE4}"/>
                </a:ext>
              </a:extLst>
            </p:cNvPr>
            <p:cNvSpPr>
              <a:spLocks noChangeArrowheads="1"/>
            </p:cNvSpPr>
            <p:nvPr/>
          </p:nvSpPr>
          <p:spPr bwMode="blackWhite">
            <a:xfrm>
              <a:off x="1752"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6" name="Rectangle 6">
              <a:extLst>
                <a:ext uri="{FF2B5EF4-FFF2-40B4-BE49-F238E27FC236}">
                  <a16:creationId xmlns:a16="http://schemas.microsoft.com/office/drawing/2014/main" id="{183EC6B9-531B-63A0-8DD3-ABF12E421938}"/>
                </a:ext>
              </a:extLst>
            </p:cNvPr>
            <p:cNvSpPr>
              <a:spLocks noChangeArrowheads="1"/>
            </p:cNvSpPr>
            <p:nvPr/>
          </p:nvSpPr>
          <p:spPr bwMode="blackWhite">
            <a:xfrm>
              <a:off x="2334"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7" name="Oval 7">
              <a:extLst>
                <a:ext uri="{FF2B5EF4-FFF2-40B4-BE49-F238E27FC236}">
                  <a16:creationId xmlns:a16="http://schemas.microsoft.com/office/drawing/2014/main" id="{8C838D8C-C80F-2743-C7DE-C985BC644CCB}"/>
                </a:ext>
              </a:extLst>
            </p:cNvPr>
            <p:cNvSpPr>
              <a:spLocks noChangeArrowheads="1"/>
            </p:cNvSpPr>
            <p:nvPr/>
          </p:nvSpPr>
          <p:spPr bwMode="blackWhite">
            <a:xfrm>
              <a:off x="1947" y="1794"/>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8" name="Line 8">
              <a:extLst>
                <a:ext uri="{FF2B5EF4-FFF2-40B4-BE49-F238E27FC236}">
                  <a16:creationId xmlns:a16="http://schemas.microsoft.com/office/drawing/2014/main" id="{7F2DC392-1CC0-43A5-F922-9E7EE875826B}"/>
                </a:ext>
              </a:extLst>
            </p:cNvPr>
            <p:cNvSpPr>
              <a:spLocks noChangeShapeType="1"/>
            </p:cNvSpPr>
            <p:nvPr/>
          </p:nvSpPr>
          <p:spPr bwMode="blackWhite">
            <a:xfrm>
              <a:off x="2078" y="1838"/>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1309" name="Rectangle 9">
              <a:extLst>
                <a:ext uri="{FF2B5EF4-FFF2-40B4-BE49-F238E27FC236}">
                  <a16:creationId xmlns:a16="http://schemas.microsoft.com/office/drawing/2014/main" id="{977FFCE9-EC6E-8601-4752-38501DA1C318}"/>
                </a:ext>
              </a:extLst>
            </p:cNvPr>
            <p:cNvSpPr>
              <a:spLocks noChangeArrowheads="1"/>
            </p:cNvSpPr>
            <p:nvPr/>
          </p:nvSpPr>
          <p:spPr bwMode="blackWhite">
            <a:xfrm>
              <a:off x="2520" y="1794"/>
              <a:ext cx="87" cy="87"/>
            </a:xfrm>
            <a:prstGeom prst="rect">
              <a:avLst/>
            </a:prstGeom>
            <a:solidFill>
              <a:srgbClr val="0099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11294" name="Group 22">
            <a:extLst>
              <a:ext uri="{FF2B5EF4-FFF2-40B4-BE49-F238E27FC236}">
                <a16:creationId xmlns:a16="http://schemas.microsoft.com/office/drawing/2014/main" id="{F530E74E-33AF-B4FD-D548-E0DE89AE8052}"/>
              </a:ext>
            </a:extLst>
          </p:cNvPr>
          <p:cNvGrpSpPr>
            <a:grpSpLocks/>
          </p:cNvGrpSpPr>
          <p:nvPr/>
        </p:nvGrpSpPr>
        <p:grpSpPr bwMode="auto">
          <a:xfrm>
            <a:off x="5233988" y="5670550"/>
            <a:ext cx="1200150" cy="638175"/>
            <a:chOff x="4477" y="1632"/>
            <a:chExt cx="756" cy="402"/>
          </a:xfrm>
        </p:grpSpPr>
        <p:sp>
          <p:nvSpPr>
            <p:cNvPr id="11301" name="Rectangle 23">
              <a:extLst>
                <a:ext uri="{FF2B5EF4-FFF2-40B4-BE49-F238E27FC236}">
                  <a16:creationId xmlns:a16="http://schemas.microsoft.com/office/drawing/2014/main" id="{D4E1AE76-EFB4-B703-BD94-F5C4BA2C39BC}"/>
                </a:ext>
              </a:extLst>
            </p:cNvPr>
            <p:cNvSpPr>
              <a:spLocks noChangeArrowheads="1"/>
            </p:cNvSpPr>
            <p:nvPr/>
          </p:nvSpPr>
          <p:spPr bwMode="blackWhite">
            <a:xfrm>
              <a:off x="4477" y="1632"/>
              <a:ext cx="756"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2" name="Oval 24">
              <a:extLst>
                <a:ext uri="{FF2B5EF4-FFF2-40B4-BE49-F238E27FC236}">
                  <a16:creationId xmlns:a16="http://schemas.microsoft.com/office/drawing/2014/main" id="{E7DCDB5A-BDB6-4A6F-3CD3-797FE60F7C6B}"/>
                </a:ext>
              </a:extLst>
            </p:cNvPr>
            <p:cNvSpPr>
              <a:spLocks noChangeArrowheads="1"/>
            </p:cNvSpPr>
            <p:nvPr/>
          </p:nvSpPr>
          <p:spPr bwMode="blackWhite">
            <a:xfrm>
              <a:off x="5104" y="1785"/>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3" name="Oval 25">
              <a:extLst>
                <a:ext uri="{FF2B5EF4-FFF2-40B4-BE49-F238E27FC236}">
                  <a16:creationId xmlns:a16="http://schemas.microsoft.com/office/drawing/2014/main" id="{2595F787-BAC2-8446-CB2A-DA508DE1C362}"/>
                </a:ext>
              </a:extLst>
            </p:cNvPr>
            <p:cNvSpPr>
              <a:spLocks noChangeArrowheads="1"/>
            </p:cNvSpPr>
            <p:nvPr/>
          </p:nvSpPr>
          <p:spPr bwMode="blackWhite">
            <a:xfrm>
              <a:off x="4515" y="1783"/>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4" name="Line 26">
              <a:extLst>
                <a:ext uri="{FF2B5EF4-FFF2-40B4-BE49-F238E27FC236}">
                  <a16:creationId xmlns:a16="http://schemas.microsoft.com/office/drawing/2014/main" id="{FDCB4A19-560F-DBAA-D606-E2DCE5C5747C}"/>
                </a:ext>
              </a:extLst>
            </p:cNvPr>
            <p:cNvSpPr>
              <a:spLocks noChangeShapeType="1"/>
            </p:cNvSpPr>
            <p:nvPr/>
          </p:nvSpPr>
          <p:spPr bwMode="blackWhite">
            <a:xfrm>
              <a:off x="4651" y="1830"/>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11295" name="Group 10">
            <a:extLst>
              <a:ext uri="{FF2B5EF4-FFF2-40B4-BE49-F238E27FC236}">
                <a16:creationId xmlns:a16="http://schemas.microsoft.com/office/drawing/2014/main" id="{5F4535CC-9914-F2EC-802C-C160A8E4E28B}"/>
              </a:ext>
            </a:extLst>
          </p:cNvPr>
          <p:cNvGrpSpPr>
            <a:grpSpLocks/>
          </p:cNvGrpSpPr>
          <p:nvPr/>
        </p:nvGrpSpPr>
        <p:grpSpPr bwMode="auto">
          <a:xfrm>
            <a:off x="4932363" y="2205038"/>
            <a:ext cx="1701800" cy="638175"/>
            <a:chOff x="391" y="1632"/>
            <a:chExt cx="1072" cy="402"/>
          </a:xfrm>
        </p:grpSpPr>
        <p:sp>
          <p:nvSpPr>
            <p:cNvPr id="11296" name="Rectangle 11">
              <a:extLst>
                <a:ext uri="{FF2B5EF4-FFF2-40B4-BE49-F238E27FC236}">
                  <a16:creationId xmlns:a16="http://schemas.microsoft.com/office/drawing/2014/main" id="{0F1DB893-2900-44BE-9D98-700CC44B1567}"/>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297" name="Rectangle 12">
              <a:extLst>
                <a:ext uri="{FF2B5EF4-FFF2-40B4-BE49-F238E27FC236}">
                  <a16:creationId xmlns:a16="http://schemas.microsoft.com/office/drawing/2014/main" id="{8D0DD656-4FED-E11C-9F11-FD1D71FE7B4C}"/>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298" name="Oval 13">
              <a:extLst>
                <a:ext uri="{FF2B5EF4-FFF2-40B4-BE49-F238E27FC236}">
                  <a16:creationId xmlns:a16="http://schemas.microsoft.com/office/drawing/2014/main" id="{E8247A76-8F3E-5816-EEB4-9DC20EA83734}"/>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299" name="Oval 14">
              <a:extLst>
                <a:ext uri="{FF2B5EF4-FFF2-40B4-BE49-F238E27FC236}">
                  <a16:creationId xmlns:a16="http://schemas.microsoft.com/office/drawing/2014/main" id="{20CCE857-574B-D91E-0ADF-8DDE3C63CC85}"/>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300" name="Line 15">
              <a:extLst>
                <a:ext uri="{FF2B5EF4-FFF2-40B4-BE49-F238E27FC236}">
                  <a16:creationId xmlns:a16="http://schemas.microsoft.com/office/drawing/2014/main" id="{2A1B03D9-F438-A217-84FC-0E297C89F833}"/>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3136954-8F15-5008-578A-8A1749C4FF87}"/>
              </a:ext>
            </a:extLst>
          </p:cNvPr>
          <p:cNvSpPr>
            <a:spLocks noGrp="1" noChangeArrowheads="1"/>
          </p:cNvSpPr>
          <p:nvPr>
            <p:ph type="title"/>
          </p:nvPr>
        </p:nvSpPr>
        <p:spPr>
          <a:xfrm>
            <a:off x="323850" y="660400"/>
            <a:ext cx="6335713" cy="536575"/>
          </a:xfrm>
          <a:noFill/>
        </p:spPr>
        <p:txBody>
          <a:bodyPr lIns="92075" tIns="46038" rIns="92075" bIns="46038" anchor="t"/>
          <a:lstStyle/>
          <a:p>
            <a:r>
              <a:rPr lang="en-US" altLang="en-US" sz="2800">
                <a:solidFill>
                  <a:srgbClr val="800000"/>
                </a:solidFill>
              </a:rPr>
              <a:t>1. Cross Join or Cartesian Product</a:t>
            </a:r>
          </a:p>
        </p:txBody>
      </p:sp>
      <p:sp>
        <p:nvSpPr>
          <p:cNvPr id="13315" name="Rectangle 3">
            <a:extLst>
              <a:ext uri="{FF2B5EF4-FFF2-40B4-BE49-F238E27FC236}">
                <a16:creationId xmlns:a16="http://schemas.microsoft.com/office/drawing/2014/main" id="{B79AEADF-8E32-CF1C-79D6-DCD77E9F529C}"/>
              </a:ext>
            </a:extLst>
          </p:cNvPr>
          <p:cNvSpPr>
            <a:spLocks noGrp="1" noChangeArrowheads="1"/>
          </p:cNvSpPr>
          <p:nvPr>
            <p:ph type="body" idx="1"/>
          </p:nvPr>
        </p:nvSpPr>
        <p:spPr>
          <a:xfrm>
            <a:off x="323850" y="1268413"/>
            <a:ext cx="8351838" cy="4524375"/>
          </a:xfrm>
          <a:noFill/>
        </p:spPr>
        <p:txBody>
          <a:bodyPr lIns="92075" tIns="46038" rIns="92075" bIns="46038">
            <a:spAutoFit/>
          </a:bodyPr>
          <a:lstStyle/>
          <a:p>
            <a:pPr lvl="1" algn="just"/>
            <a:r>
              <a:rPr lang="en-US" altLang="en-US"/>
              <a:t>A Cartesian product is formed when:</a:t>
            </a:r>
          </a:p>
          <a:p>
            <a:pPr lvl="2" algn="just"/>
            <a:r>
              <a:rPr lang="en-US" altLang="en-US"/>
              <a:t>A join condition is omitted</a:t>
            </a:r>
          </a:p>
          <a:p>
            <a:pPr lvl="2" algn="just"/>
            <a:r>
              <a:rPr lang="en-US" altLang="en-US"/>
              <a:t>A join condition is invalid</a:t>
            </a:r>
          </a:p>
          <a:p>
            <a:pPr lvl="1" algn="just"/>
            <a:r>
              <a:rPr lang="en-US" altLang="en-US">
                <a:solidFill>
                  <a:schemeClr val="accent2"/>
                </a:solidFill>
              </a:rPr>
              <a:t>Select ename, dname from emp,dept;	</a:t>
            </a:r>
            <a:r>
              <a:rPr lang="en-US" altLang="en-US"/>
              <a:t>OR</a:t>
            </a:r>
          </a:p>
          <a:p>
            <a:pPr lvl="1" algn="just"/>
            <a:r>
              <a:rPr lang="en-US" altLang="en-US">
                <a:solidFill>
                  <a:schemeClr val="accent2"/>
                </a:solidFill>
              </a:rPr>
              <a:t>Select ename, dname from emp </a:t>
            </a:r>
            <a:r>
              <a:rPr lang="en-US" altLang="en-US">
                <a:solidFill>
                  <a:srgbClr val="FF0000"/>
                </a:solidFill>
              </a:rPr>
              <a:t>cross join</a:t>
            </a:r>
            <a:r>
              <a:rPr lang="en-US" altLang="en-US">
                <a:solidFill>
                  <a:schemeClr val="accent2"/>
                </a:solidFill>
              </a:rPr>
              <a:t> dept;	</a:t>
            </a:r>
          </a:p>
          <a:p>
            <a:pPr lvl="1" algn="just"/>
            <a:r>
              <a:rPr lang="en-US" altLang="en-US"/>
              <a:t>All rows in the first table are joined to all rows in the second table</a:t>
            </a:r>
          </a:p>
          <a:p>
            <a:pPr lvl="1" algn="just"/>
            <a:r>
              <a:rPr lang="en-US" altLang="en-US"/>
              <a:t>The number of rows returned by cross join is the product of the number of rows in each table.</a:t>
            </a:r>
          </a:p>
          <a:p>
            <a:pPr lvl="1" algn="just"/>
            <a:r>
              <a:rPr lang="en-US" altLang="en-US"/>
              <a:t>To avoid a Cartesian product, always include a valid join condition in a WHERE clause.</a:t>
            </a:r>
          </a:p>
        </p:txBody>
      </p:sp>
      <p:grpSp>
        <p:nvGrpSpPr>
          <p:cNvPr id="13316" name="Group 3">
            <a:extLst>
              <a:ext uri="{FF2B5EF4-FFF2-40B4-BE49-F238E27FC236}">
                <a16:creationId xmlns:a16="http://schemas.microsoft.com/office/drawing/2014/main" id="{9FE1B31E-80C6-6914-29FC-983EDD7D18C4}"/>
              </a:ext>
            </a:extLst>
          </p:cNvPr>
          <p:cNvGrpSpPr>
            <a:grpSpLocks/>
          </p:cNvGrpSpPr>
          <p:nvPr/>
        </p:nvGrpSpPr>
        <p:grpSpPr bwMode="auto">
          <a:xfrm>
            <a:off x="6732588" y="404813"/>
            <a:ext cx="1701800" cy="638175"/>
            <a:chOff x="773113" y="3726929"/>
            <a:chExt cx="1701800" cy="638175"/>
          </a:xfrm>
        </p:grpSpPr>
        <p:sp>
          <p:nvSpPr>
            <p:cNvPr id="13317" name="Rectangle 11">
              <a:extLst>
                <a:ext uri="{FF2B5EF4-FFF2-40B4-BE49-F238E27FC236}">
                  <a16:creationId xmlns:a16="http://schemas.microsoft.com/office/drawing/2014/main" id="{3E8741D2-5355-4F7A-86AE-A0F7213A9E46}"/>
                </a:ext>
              </a:extLst>
            </p:cNvPr>
            <p:cNvSpPr>
              <a:spLocks noChangeArrowheads="1"/>
            </p:cNvSpPr>
            <p:nvPr/>
          </p:nvSpPr>
          <p:spPr bwMode="blackWhite">
            <a:xfrm>
              <a:off x="773113"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3318" name="Rectangle 12">
              <a:extLst>
                <a:ext uri="{FF2B5EF4-FFF2-40B4-BE49-F238E27FC236}">
                  <a16:creationId xmlns:a16="http://schemas.microsoft.com/office/drawing/2014/main" id="{8AF6D735-15AE-4D6A-D139-1E4637F59248}"/>
                </a:ext>
              </a:extLst>
            </p:cNvPr>
            <p:cNvSpPr>
              <a:spLocks noChangeArrowheads="1"/>
            </p:cNvSpPr>
            <p:nvPr/>
          </p:nvSpPr>
          <p:spPr bwMode="blackWhite">
            <a:xfrm>
              <a:off x="1697038"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3319" name="Line 15">
              <a:extLst>
                <a:ext uri="{FF2B5EF4-FFF2-40B4-BE49-F238E27FC236}">
                  <a16:creationId xmlns:a16="http://schemas.microsoft.com/office/drawing/2014/main" id="{31C2CD39-84F0-B310-726F-A836D5279B45}"/>
                </a:ext>
              </a:extLst>
            </p:cNvPr>
            <p:cNvSpPr>
              <a:spLocks noChangeShapeType="1"/>
            </p:cNvSpPr>
            <p:nvPr/>
          </p:nvSpPr>
          <p:spPr bwMode="blackWhite">
            <a:xfrm>
              <a:off x="1290638" y="4060304"/>
              <a:ext cx="650875"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21D1165-7A01-E619-5152-26E5E9181F47}"/>
              </a:ext>
            </a:extLst>
          </p:cNvPr>
          <p:cNvSpPr>
            <a:spLocks noGrp="1" noChangeArrowheads="1"/>
          </p:cNvSpPr>
          <p:nvPr>
            <p:ph type="title"/>
          </p:nvPr>
        </p:nvSpPr>
        <p:spPr>
          <a:xfrm>
            <a:off x="323850" y="660400"/>
            <a:ext cx="5218113" cy="536575"/>
          </a:xfrm>
          <a:noFill/>
        </p:spPr>
        <p:txBody>
          <a:bodyPr lIns="92075" tIns="46038" rIns="92075" bIns="46038" anchor="t"/>
          <a:lstStyle/>
          <a:p>
            <a:r>
              <a:rPr lang="en-US" altLang="en-US" sz="2800">
                <a:solidFill>
                  <a:srgbClr val="800000"/>
                </a:solidFill>
              </a:rPr>
              <a:t>Generating a Cartesian Product</a:t>
            </a:r>
          </a:p>
        </p:txBody>
      </p:sp>
      <p:sp>
        <p:nvSpPr>
          <p:cNvPr id="15363" name="Rectangle 3">
            <a:extLst>
              <a:ext uri="{FF2B5EF4-FFF2-40B4-BE49-F238E27FC236}">
                <a16:creationId xmlns:a16="http://schemas.microsoft.com/office/drawing/2014/main" id="{6C1D17B9-B053-4E34-09BE-26E33BC92450}"/>
              </a:ext>
            </a:extLst>
          </p:cNvPr>
          <p:cNvSpPr>
            <a:spLocks noChangeArrowheads="1"/>
          </p:cNvSpPr>
          <p:nvPr/>
        </p:nvSpPr>
        <p:spPr bwMode="blackWhite">
          <a:xfrm>
            <a:off x="3081338" y="3921125"/>
            <a:ext cx="2849562" cy="24606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25730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25730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ENAME    	DNAME</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KING		ACCOUNTING</a:t>
            </a:r>
          </a:p>
          <a:p>
            <a:pPr>
              <a:lnSpc>
                <a:spcPct val="95000"/>
              </a:lnSpc>
              <a:spcBef>
                <a:spcPct val="0"/>
              </a:spcBef>
              <a:buFontTx/>
              <a:buNone/>
            </a:pPr>
            <a:r>
              <a:rPr lang="en-US" altLang="en-US" sz="1800" b="1">
                <a:solidFill>
                  <a:srgbClr val="000000"/>
                </a:solidFill>
                <a:latin typeface="Courier New" panose="02070309020205020404" pitchFamily="49" charset="0"/>
              </a:rPr>
              <a:t>BLAKE	  	ACCOUNTING </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KING		RESEARCH</a:t>
            </a:r>
          </a:p>
          <a:p>
            <a:pPr>
              <a:lnSpc>
                <a:spcPct val="95000"/>
              </a:lnSpc>
              <a:spcBef>
                <a:spcPct val="0"/>
              </a:spcBef>
              <a:buFontTx/>
              <a:buNone/>
            </a:pPr>
            <a:r>
              <a:rPr lang="en-US" altLang="en-US" sz="1800" b="1">
                <a:solidFill>
                  <a:srgbClr val="000000"/>
                </a:solidFill>
                <a:latin typeface="Courier New" panose="02070309020205020404" pitchFamily="49" charset="0"/>
              </a:rPr>
              <a:t>BLAKE	  	RESEARCH</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56 rows selected.</a:t>
            </a:r>
          </a:p>
        </p:txBody>
      </p:sp>
      <p:sp>
        <p:nvSpPr>
          <p:cNvPr id="245764" name="Rectangle 4">
            <a:extLst>
              <a:ext uri="{FF2B5EF4-FFF2-40B4-BE49-F238E27FC236}">
                <a16:creationId xmlns:a16="http://schemas.microsoft.com/office/drawing/2014/main" id="{5178C5E3-6058-93BC-CC04-FC2882DDB647}"/>
              </a:ext>
            </a:extLst>
          </p:cNvPr>
          <p:cNvSpPr>
            <a:spLocks noChangeArrowheads="1"/>
          </p:cNvSpPr>
          <p:nvPr/>
        </p:nvSpPr>
        <p:spPr bwMode="auto">
          <a:xfrm>
            <a:off x="757238" y="1293813"/>
            <a:ext cx="1987550"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EMP (14 rows) </a:t>
            </a:r>
          </a:p>
        </p:txBody>
      </p:sp>
      <p:sp>
        <p:nvSpPr>
          <p:cNvPr id="245765" name="Rectangle 5">
            <a:extLst>
              <a:ext uri="{FF2B5EF4-FFF2-40B4-BE49-F238E27FC236}">
                <a16:creationId xmlns:a16="http://schemas.microsoft.com/office/drawing/2014/main" id="{A8793EC9-52FC-FD44-002D-9D01CB5369FA}"/>
              </a:ext>
            </a:extLst>
          </p:cNvPr>
          <p:cNvSpPr>
            <a:spLocks noChangeArrowheads="1"/>
          </p:cNvSpPr>
          <p:nvPr/>
        </p:nvSpPr>
        <p:spPr bwMode="auto">
          <a:xfrm>
            <a:off x="4433888" y="1293813"/>
            <a:ext cx="1976437"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DEPT (4 rows) </a:t>
            </a:r>
          </a:p>
        </p:txBody>
      </p:sp>
      <p:sp>
        <p:nvSpPr>
          <p:cNvPr id="15366" name="Rectangle 6">
            <a:extLst>
              <a:ext uri="{FF2B5EF4-FFF2-40B4-BE49-F238E27FC236}">
                <a16:creationId xmlns:a16="http://schemas.microsoft.com/office/drawing/2014/main" id="{04D90935-E2F4-026E-66F9-E00432ECD343}"/>
              </a:ext>
            </a:extLst>
          </p:cNvPr>
          <p:cNvSpPr>
            <a:spLocks noChangeArrowheads="1"/>
          </p:cNvSpPr>
          <p:nvPr/>
        </p:nvSpPr>
        <p:spPr bwMode="blackWhite">
          <a:xfrm>
            <a:off x="831850" y="1698625"/>
            <a:ext cx="3505200"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	DEPTNO</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	...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7839	KING	...	    10</a:t>
            </a:r>
          </a:p>
          <a:p>
            <a:pPr>
              <a:lnSpc>
                <a:spcPct val="95000"/>
              </a:lnSpc>
              <a:spcBef>
                <a:spcPct val="0"/>
              </a:spcBef>
              <a:buFontTx/>
              <a:buNone/>
            </a:pPr>
            <a:r>
              <a:rPr lang="en-US" altLang="en-US" sz="1800" b="1">
                <a:solidFill>
                  <a:srgbClr val="000000"/>
                </a:solidFill>
                <a:latin typeface="Courier New" panose="02070309020205020404" pitchFamily="49" charset="0"/>
              </a:rPr>
              <a:t>  7698	BLAKE	...	    30</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7934	MILLER	...	    10</a:t>
            </a:r>
          </a:p>
        </p:txBody>
      </p:sp>
      <p:sp>
        <p:nvSpPr>
          <p:cNvPr id="15367" name="Rectangle 7">
            <a:extLst>
              <a:ext uri="{FF2B5EF4-FFF2-40B4-BE49-F238E27FC236}">
                <a16:creationId xmlns:a16="http://schemas.microsoft.com/office/drawing/2014/main" id="{CCE9FDDE-52F9-FC8E-5FF4-6B7215CAB9DA}"/>
              </a:ext>
            </a:extLst>
          </p:cNvPr>
          <p:cNvSpPr>
            <a:spLocks noChangeArrowheads="1"/>
          </p:cNvSpPr>
          <p:nvPr/>
        </p:nvSpPr>
        <p:spPr bwMode="blackWhite">
          <a:xfrm>
            <a:off x="4506913" y="1704975"/>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grpSp>
        <p:nvGrpSpPr>
          <p:cNvPr id="2" name="Group 8">
            <a:extLst>
              <a:ext uri="{FF2B5EF4-FFF2-40B4-BE49-F238E27FC236}">
                <a16:creationId xmlns:a16="http://schemas.microsoft.com/office/drawing/2014/main" id="{66E0769E-F270-2D38-87B5-076E1AF28EB1}"/>
              </a:ext>
            </a:extLst>
          </p:cNvPr>
          <p:cNvGrpSpPr>
            <a:grpSpLocks/>
          </p:cNvGrpSpPr>
          <p:nvPr/>
        </p:nvGrpSpPr>
        <p:grpSpPr bwMode="auto">
          <a:xfrm>
            <a:off x="3937000" y="3448050"/>
            <a:ext cx="966788" cy="473075"/>
            <a:chOff x="2480" y="2024"/>
            <a:chExt cx="609" cy="298"/>
          </a:xfrm>
        </p:grpSpPr>
        <p:sp>
          <p:nvSpPr>
            <p:cNvPr id="15372" name="Line 9">
              <a:extLst>
                <a:ext uri="{FF2B5EF4-FFF2-40B4-BE49-F238E27FC236}">
                  <a16:creationId xmlns:a16="http://schemas.microsoft.com/office/drawing/2014/main" id="{936D70D4-8F8B-B8ED-0327-D65B8AAD6A2B}"/>
                </a:ext>
              </a:extLst>
            </p:cNvPr>
            <p:cNvSpPr>
              <a:spLocks noChangeShapeType="1"/>
            </p:cNvSpPr>
            <p:nvPr/>
          </p:nvSpPr>
          <p:spPr bwMode="auto">
            <a:xfrm flipV="1">
              <a:off x="2480"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5373" name="Line 10">
              <a:extLst>
                <a:ext uri="{FF2B5EF4-FFF2-40B4-BE49-F238E27FC236}">
                  <a16:creationId xmlns:a16="http://schemas.microsoft.com/office/drawing/2014/main" id="{F1F6B54F-1FA7-0A4E-2BF0-A5651C703B43}"/>
                </a:ext>
              </a:extLst>
            </p:cNvPr>
            <p:cNvSpPr>
              <a:spLocks noChangeShapeType="1"/>
            </p:cNvSpPr>
            <p:nvPr/>
          </p:nvSpPr>
          <p:spPr bwMode="auto">
            <a:xfrm flipV="1">
              <a:off x="3089"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3" name="Group 11">
            <a:extLst>
              <a:ext uri="{FF2B5EF4-FFF2-40B4-BE49-F238E27FC236}">
                <a16:creationId xmlns:a16="http://schemas.microsoft.com/office/drawing/2014/main" id="{2243CB44-B768-27D3-49ED-5C6680635992}"/>
              </a:ext>
            </a:extLst>
          </p:cNvPr>
          <p:cNvGrpSpPr>
            <a:grpSpLocks/>
          </p:cNvGrpSpPr>
          <p:nvPr/>
        </p:nvGrpSpPr>
        <p:grpSpPr bwMode="auto">
          <a:xfrm>
            <a:off x="415925" y="4641850"/>
            <a:ext cx="2611438" cy="1096963"/>
            <a:chOff x="262" y="2776"/>
            <a:chExt cx="1645" cy="691"/>
          </a:xfrm>
        </p:grpSpPr>
        <p:sp>
          <p:nvSpPr>
            <p:cNvPr id="245772" name="Rectangle 12">
              <a:extLst>
                <a:ext uri="{FF2B5EF4-FFF2-40B4-BE49-F238E27FC236}">
                  <a16:creationId xmlns:a16="http://schemas.microsoft.com/office/drawing/2014/main" id="{9E9DF082-0DDE-190F-43FC-06DC15D20C1C}"/>
                </a:ext>
              </a:extLst>
            </p:cNvPr>
            <p:cNvSpPr>
              <a:spLocks noChangeArrowheads="1"/>
            </p:cNvSpPr>
            <p:nvPr/>
          </p:nvSpPr>
          <p:spPr bwMode="auto">
            <a:xfrm>
              <a:off x="262" y="2776"/>
              <a:ext cx="1350" cy="691"/>
            </a:xfrm>
            <a:prstGeom prst="rect">
              <a:avLst/>
            </a:prstGeom>
            <a:noFill/>
            <a:ln w="9525">
              <a:noFill/>
              <a:miter lim="800000"/>
              <a:headEnd/>
              <a:tailEnd/>
            </a:ln>
            <a:effectLst/>
          </p:spPr>
          <p:txBody>
            <a:bodyPr lIns="92075" tIns="46038" rIns="92075" bIns="46038">
              <a:spAutoFit/>
            </a:bodyPr>
            <a:lstStyle/>
            <a:p>
              <a:pPr algn="r">
                <a:lnSpc>
                  <a:spcPct val="110000"/>
                </a:lnSpc>
                <a:defRPr/>
              </a:pPr>
              <a:r>
                <a:rPr lang="en-US" sz="2000" b="1">
                  <a:solidFill>
                    <a:schemeClr val="accent2"/>
                  </a:solidFill>
                  <a:effectLst>
                    <a:outerShdw blurRad="38100" dist="38100" dir="2700000" algn="tl">
                      <a:srgbClr val="000000"/>
                    </a:outerShdw>
                  </a:effectLst>
                </a:rPr>
                <a:t>“Cartesian</a:t>
              </a:r>
              <a:br>
                <a:rPr lang="en-US" sz="2000" b="1">
                  <a:solidFill>
                    <a:schemeClr val="accent2"/>
                  </a:solidFill>
                  <a:effectLst>
                    <a:outerShdw blurRad="38100" dist="38100" dir="2700000" algn="tl">
                      <a:srgbClr val="000000"/>
                    </a:outerShdw>
                  </a:effectLst>
                </a:rPr>
              </a:br>
              <a:r>
                <a:rPr lang="en-US" sz="2000" b="1">
                  <a:solidFill>
                    <a:schemeClr val="accent2"/>
                  </a:solidFill>
                  <a:effectLst>
                    <a:outerShdw blurRad="38100" dist="38100" dir="2700000" algn="tl">
                      <a:srgbClr val="000000"/>
                    </a:outerShdw>
                  </a:effectLst>
                </a:rPr>
                <a:t>product: </a:t>
              </a:r>
              <a:br>
                <a:rPr lang="en-US" sz="2000" b="1">
                  <a:solidFill>
                    <a:schemeClr val="accent2"/>
                  </a:solidFill>
                  <a:effectLst>
                    <a:outerShdw blurRad="38100" dist="38100" dir="2700000" algn="tl">
                      <a:srgbClr val="000000"/>
                    </a:outerShdw>
                  </a:effectLst>
                </a:rPr>
              </a:br>
              <a:r>
                <a:rPr lang="en-US" sz="2000" b="1">
                  <a:solidFill>
                    <a:schemeClr val="accent2"/>
                  </a:solidFill>
                  <a:effectLst>
                    <a:outerShdw blurRad="38100" dist="38100" dir="2700000" algn="tl">
                      <a:srgbClr val="000000"/>
                    </a:outerShdw>
                  </a:effectLst>
                </a:rPr>
                <a:t>14*4=56 rows”</a:t>
              </a:r>
            </a:p>
          </p:txBody>
        </p:sp>
        <p:sp>
          <p:nvSpPr>
            <p:cNvPr id="15371" name="Line 13">
              <a:extLst>
                <a:ext uri="{FF2B5EF4-FFF2-40B4-BE49-F238E27FC236}">
                  <a16:creationId xmlns:a16="http://schemas.microsoft.com/office/drawing/2014/main" id="{0642FD01-DB42-9171-DB0F-BBC8302E93A0}"/>
                </a:ext>
              </a:extLst>
            </p:cNvPr>
            <p:cNvSpPr>
              <a:spLocks noChangeShapeType="1"/>
            </p:cNvSpPr>
            <p:nvPr/>
          </p:nvSpPr>
          <p:spPr bwMode="auto">
            <a:xfrm flipH="1">
              <a:off x="1609" y="3133"/>
              <a:ext cx="298" cy="0"/>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CA5D168-A090-4A30-C6BA-765000160C3C}"/>
              </a:ext>
            </a:extLst>
          </p:cNvPr>
          <p:cNvSpPr>
            <a:spLocks noChangeArrowheads="1"/>
          </p:cNvSpPr>
          <p:nvPr/>
        </p:nvSpPr>
        <p:spPr bwMode="blackWhite">
          <a:xfrm>
            <a:off x="795338" y="2000250"/>
            <a:ext cx="3384550" cy="40227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17411" name="Rectangle 3">
            <a:extLst>
              <a:ext uri="{FF2B5EF4-FFF2-40B4-BE49-F238E27FC236}">
                <a16:creationId xmlns:a16="http://schemas.microsoft.com/office/drawing/2014/main" id="{B2B569BC-7802-1F71-07AB-F5CE5B0E6336}"/>
              </a:ext>
            </a:extLst>
          </p:cNvPr>
          <p:cNvSpPr>
            <a:spLocks noChangeArrowheads="1"/>
          </p:cNvSpPr>
          <p:nvPr/>
        </p:nvSpPr>
        <p:spPr bwMode="blackWhite">
          <a:xfrm>
            <a:off x="4284663" y="2011363"/>
            <a:ext cx="3978275" cy="40227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627313"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627313"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17412" name="Rectangle 4">
            <a:extLst>
              <a:ext uri="{FF2B5EF4-FFF2-40B4-BE49-F238E27FC236}">
                <a16:creationId xmlns:a16="http://schemas.microsoft.com/office/drawing/2014/main" id="{4E646528-6306-645A-5061-FDCB3CCBC7D2}"/>
              </a:ext>
            </a:extLst>
          </p:cNvPr>
          <p:cNvSpPr>
            <a:spLocks noGrp="1" noChangeArrowheads="1"/>
          </p:cNvSpPr>
          <p:nvPr>
            <p:ph type="title"/>
          </p:nvPr>
        </p:nvSpPr>
        <p:spPr>
          <a:xfrm>
            <a:off x="323850" y="620713"/>
            <a:ext cx="6508750" cy="536575"/>
          </a:xfrm>
          <a:noFill/>
        </p:spPr>
        <p:txBody>
          <a:bodyPr lIns="92075" tIns="46038" rIns="92075" bIns="46038" anchor="t"/>
          <a:lstStyle/>
          <a:p>
            <a:r>
              <a:rPr lang="en-US" altLang="en-US" sz="2400">
                <a:solidFill>
                  <a:srgbClr val="800000"/>
                </a:solidFill>
              </a:rPr>
              <a:t>Joining Tables with Common Columns</a:t>
            </a:r>
          </a:p>
        </p:txBody>
      </p:sp>
      <p:sp>
        <p:nvSpPr>
          <p:cNvPr id="249861" name="Rectangle 5">
            <a:extLst>
              <a:ext uri="{FF2B5EF4-FFF2-40B4-BE49-F238E27FC236}">
                <a16:creationId xmlns:a16="http://schemas.microsoft.com/office/drawing/2014/main" id="{2EA5D440-F854-3C00-E22D-68FB8A8E44D4}"/>
              </a:ext>
            </a:extLst>
          </p:cNvPr>
          <p:cNvSpPr>
            <a:spLocks noChangeArrowheads="1"/>
          </p:cNvSpPr>
          <p:nvPr/>
        </p:nvSpPr>
        <p:spPr bwMode="auto">
          <a:xfrm>
            <a:off x="781050" y="1490663"/>
            <a:ext cx="804863" cy="396875"/>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chemeClr val="accent2"/>
                </a:solidFill>
                <a:effectLst>
                  <a:outerShdw blurRad="38100" dist="38100" dir="2700000" algn="tl">
                    <a:srgbClr val="000000"/>
                  </a:outerShdw>
                </a:effectLst>
              </a:rPr>
              <a:t>EMP </a:t>
            </a:r>
          </a:p>
        </p:txBody>
      </p:sp>
      <p:sp>
        <p:nvSpPr>
          <p:cNvPr id="249862" name="Rectangle 6">
            <a:extLst>
              <a:ext uri="{FF2B5EF4-FFF2-40B4-BE49-F238E27FC236}">
                <a16:creationId xmlns:a16="http://schemas.microsoft.com/office/drawing/2014/main" id="{3A345EFA-6A53-35E1-A327-D0E74FCB48A6}"/>
              </a:ext>
            </a:extLst>
          </p:cNvPr>
          <p:cNvSpPr>
            <a:spLocks noChangeArrowheads="1"/>
          </p:cNvSpPr>
          <p:nvPr/>
        </p:nvSpPr>
        <p:spPr bwMode="auto">
          <a:xfrm>
            <a:off x="4476750" y="1535113"/>
            <a:ext cx="863600" cy="401637"/>
          </a:xfrm>
          <a:prstGeom prst="rect">
            <a:avLst/>
          </a:prstGeom>
          <a:noFill/>
          <a:ln w="9525">
            <a:noFill/>
            <a:miter lim="800000"/>
            <a:headEnd/>
            <a:tailEnd/>
          </a:ln>
          <a:effectLst/>
        </p:spPr>
        <p:txBody>
          <a:bodyPr lIns="92075" tIns="46038" rIns="92075" bIns="46038">
            <a:spAutoFit/>
          </a:bodyPr>
          <a:lstStyle/>
          <a:p>
            <a:pPr>
              <a:defRPr/>
            </a:pPr>
            <a:r>
              <a:rPr lang="en-US" sz="2000" b="1" dirty="0">
                <a:solidFill>
                  <a:schemeClr val="accent2"/>
                </a:solidFill>
                <a:effectLst>
                  <a:outerShdw blurRad="38100" dist="38100" dir="2700000" algn="tl">
                    <a:srgbClr val="000000"/>
                  </a:outerShdw>
                </a:effectLst>
              </a:rPr>
              <a:t>DEPT </a:t>
            </a:r>
          </a:p>
        </p:txBody>
      </p:sp>
      <p:grpSp>
        <p:nvGrpSpPr>
          <p:cNvPr id="2" name="Group 7">
            <a:extLst>
              <a:ext uri="{FF2B5EF4-FFF2-40B4-BE49-F238E27FC236}">
                <a16:creationId xmlns:a16="http://schemas.microsoft.com/office/drawing/2014/main" id="{4672EE49-1217-01B2-C2D3-93EAD981E212}"/>
              </a:ext>
            </a:extLst>
          </p:cNvPr>
          <p:cNvGrpSpPr>
            <a:grpSpLocks/>
          </p:cNvGrpSpPr>
          <p:nvPr/>
        </p:nvGrpSpPr>
        <p:grpSpPr bwMode="auto">
          <a:xfrm>
            <a:off x="2960688" y="2057400"/>
            <a:ext cx="2601912" cy="3405188"/>
            <a:chOff x="1865" y="1060"/>
            <a:chExt cx="1639" cy="2145"/>
          </a:xfrm>
        </p:grpSpPr>
        <p:sp>
          <p:nvSpPr>
            <p:cNvPr id="17429" name="Rectangle 8">
              <a:extLst>
                <a:ext uri="{FF2B5EF4-FFF2-40B4-BE49-F238E27FC236}">
                  <a16:creationId xmlns:a16="http://schemas.microsoft.com/office/drawing/2014/main" id="{822A1246-308B-BDC5-9449-9E3BD65AF17F}"/>
                </a:ext>
              </a:extLst>
            </p:cNvPr>
            <p:cNvSpPr>
              <a:spLocks noChangeArrowheads="1"/>
            </p:cNvSpPr>
            <p:nvPr/>
          </p:nvSpPr>
          <p:spPr bwMode="ltGray">
            <a:xfrm>
              <a:off x="1865" y="1060"/>
              <a:ext cx="684" cy="214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30" name="Rectangle 9">
              <a:extLst>
                <a:ext uri="{FF2B5EF4-FFF2-40B4-BE49-F238E27FC236}">
                  <a16:creationId xmlns:a16="http://schemas.microsoft.com/office/drawing/2014/main" id="{1C25CBD4-12A6-7287-767E-78957FA5F162}"/>
                </a:ext>
              </a:extLst>
            </p:cNvPr>
            <p:cNvSpPr>
              <a:spLocks noChangeArrowheads="1"/>
            </p:cNvSpPr>
            <p:nvPr/>
          </p:nvSpPr>
          <p:spPr bwMode="ltGray">
            <a:xfrm>
              <a:off x="2820" y="1060"/>
              <a:ext cx="684" cy="214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7416" name="Rectangle 10">
            <a:extLst>
              <a:ext uri="{FF2B5EF4-FFF2-40B4-BE49-F238E27FC236}">
                <a16:creationId xmlns:a16="http://schemas.microsoft.com/office/drawing/2014/main" id="{8C6EE133-0B41-D501-62E0-432E2441F310}"/>
              </a:ext>
            </a:extLst>
          </p:cNvPr>
          <p:cNvSpPr>
            <a:spLocks noChangeArrowheads="1"/>
          </p:cNvSpPr>
          <p:nvPr/>
        </p:nvSpPr>
        <p:spPr bwMode="blackWhite">
          <a:xfrm>
            <a:off x="808038" y="1993900"/>
            <a:ext cx="3359150"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DEPTNO</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7839 KING         10</a:t>
            </a:r>
          </a:p>
          <a:p>
            <a:pPr>
              <a:lnSpc>
                <a:spcPct val="95000"/>
              </a:lnSpc>
              <a:spcBef>
                <a:spcPct val="0"/>
              </a:spcBef>
              <a:buFontTx/>
              <a:buNone/>
            </a:pPr>
            <a:r>
              <a:rPr lang="en-US" altLang="en-US" sz="1800" b="1">
                <a:solidFill>
                  <a:srgbClr val="000000"/>
                </a:solidFill>
                <a:latin typeface="Courier New" panose="02070309020205020404" pitchFamily="49" charset="0"/>
              </a:rPr>
              <a:t>  7698 BLAKE        30</a:t>
            </a:r>
          </a:p>
          <a:p>
            <a:pPr>
              <a:lnSpc>
                <a:spcPct val="95000"/>
              </a:lnSpc>
              <a:spcBef>
                <a:spcPct val="0"/>
              </a:spcBef>
              <a:buFontTx/>
              <a:buNone/>
            </a:pPr>
            <a:r>
              <a:rPr lang="en-US" altLang="en-US" sz="1800" b="1">
                <a:solidFill>
                  <a:srgbClr val="000000"/>
                </a:solidFill>
                <a:latin typeface="Courier New" panose="02070309020205020404" pitchFamily="49" charset="0"/>
              </a:rPr>
              <a:t>  7782 CLARK        10</a:t>
            </a:r>
          </a:p>
          <a:p>
            <a:pPr>
              <a:lnSpc>
                <a:spcPct val="95000"/>
              </a:lnSpc>
              <a:spcBef>
                <a:spcPct val="0"/>
              </a:spcBef>
              <a:buFontTx/>
              <a:buNone/>
            </a:pPr>
            <a:r>
              <a:rPr lang="en-US" altLang="en-US" sz="1800" b="1">
                <a:solidFill>
                  <a:srgbClr val="000000"/>
                </a:solidFill>
                <a:latin typeface="Courier New" panose="02070309020205020404" pitchFamily="49" charset="0"/>
              </a:rPr>
              <a:t>  7566 JONES        20</a:t>
            </a:r>
          </a:p>
          <a:p>
            <a:pPr>
              <a:lnSpc>
                <a:spcPct val="95000"/>
              </a:lnSpc>
              <a:spcBef>
                <a:spcPct val="0"/>
              </a:spcBef>
              <a:buFontTx/>
              <a:buNone/>
            </a:pPr>
            <a:r>
              <a:rPr lang="en-US" altLang="en-US" sz="1800" b="1">
                <a:solidFill>
                  <a:srgbClr val="000000"/>
                </a:solidFill>
                <a:latin typeface="Courier New" panose="02070309020205020404" pitchFamily="49" charset="0"/>
              </a:rPr>
              <a:t>  7654 MARTIN       30</a:t>
            </a:r>
          </a:p>
          <a:p>
            <a:pPr>
              <a:lnSpc>
                <a:spcPct val="95000"/>
              </a:lnSpc>
              <a:spcBef>
                <a:spcPct val="0"/>
              </a:spcBef>
              <a:buFontTx/>
              <a:buNone/>
            </a:pPr>
            <a:r>
              <a:rPr lang="en-US" altLang="en-US" sz="1800" b="1">
                <a:solidFill>
                  <a:srgbClr val="000000"/>
                </a:solidFill>
                <a:latin typeface="Courier New" panose="02070309020205020404" pitchFamily="49" charset="0"/>
              </a:rPr>
              <a:t>  7499 ALLEN        30</a:t>
            </a:r>
          </a:p>
          <a:p>
            <a:pPr>
              <a:lnSpc>
                <a:spcPct val="95000"/>
              </a:lnSpc>
              <a:spcBef>
                <a:spcPct val="0"/>
              </a:spcBef>
              <a:buFontTx/>
              <a:buNone/>
            </a:pPr>
            <a:r>
              <a:rPr lang="en-US" altLang="en-US" sz="1800" b="1">
                <a:solidFill>
                  <a:srgbClr val="000000"/>
                </a:solidFill>
                <a:latin typeface="Courier New" panose="02070309020205020404" pitchFamily="49" charset="0"/>
              </a:rPr>
              <a:t>  7844 TURNER       30</a:t>
            </a:r>
          </a:p>
          <a:p>
            <a:pPr>
              <a:lnSpc>
                <a:spcPct val="95000"/>
              </a:lnSpc>
              <a:spcBef>
                <a:spcPct val="0"/>
              </a:spcBef>
              <a:buFontTx/>
              <a:buNone/>
            </a:pPr>
            <a:r>
              <a:rPr lang="en-US" altLang="en-US" sz="1800" b="1">
                <a:solidFill>
                  <a:srgbClr val="000000"/>
                </a:solidFill>
                <a:latin typeface="Courier New" panose="02070309020205020404" pitchFamily="49" charset="0"/>
              </a:rPr>
              <a:t>  7900 JAMES        30</a:t>
            </a:r>
          </a:p>
          <a:p>
            <a:pPr>
              <a:lnSpc>
                <a:spcPct val="95000"/>
              </a:lnSpc>
              <a:spcBef>
                <a:spcPct val="0"/>
              </a:spcBef>
              <a:buFontTx/>
              <a:buNone/>
            </a:pPr>
            <a:r>
              <a:rPr lang="en-US" altLang="en-US" sz="1800" b="1">
                <a:solidFill>
                  <a:srgbClr val="000000"/>
                </a:solidFill>
                <a:latin typeface="Courier New" panose="02070309020205020404" pitchFamily="49" charset="0"/>
              </a:rPr>
              <a:t>  7521 WARD         30</a:t>
            </a:r>
          </a:p>
          <a:p>
            <a:pPr>
              <a:lnSpc>
                <a:spcPct val="95000"/>
              </a:lnSpc>
              <a:spcBef>
                <a:spcPct val="0"/>
              </a:spcBef>
              <a:buFontTx/>
              <a:buNone/>
            </a:pPr>
            <a:r>
              <a:rPr lang="en-US" altLang="en-US" sz="1800" b="1">
                <a:solidFill>
                  <a:srgbClr val="000000"/>
                </a:solidFill>
                <a:latin typeface="Courier New" panose="02070309020205020404" pitchFamily="49" charset="0"/>
              </a:rPr>
              <a:t>  7902 FORD         20</a:t>
            </a:r>
          </a:p>
          <a:p>
            <a:pPr>
              <a:lnSpc>
                <a:spcPct val="95000"/>
              </a:lnSpc>
              <a:spcBef>
                <a:spcPct val="0"/>
              </a:spcBef>
              <a:buFontTx/>
              <a:buNone/>
            </a:pPr>
            <a:r>
              <a:rPr lang="en-US" altLang="en-US" sz="1800" b="1">
                <a:solidFill>
                  <a:srgbClr val="000000"/>
                </a:solidFill>
                <a:latin typeface="Courier New" panose="02070309020205020404" pitchFamily="49" charset="0"/>
              </a:rPr>
              <a:t>  7369 SMITH        20</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14 rows selected.</a:t>
            </a:r>
          </a:p>
        </p:txBody>
      </p:sp>
      <p:sp>
        <p:nvSpPr>
          <p:cNvPr id="17417" name="Rectangle 11">
            <a:extLst>
              <a:ext uri="{FF2B5EF4-FFF2-40B4-BE49-F238E27FC236}">
                <a16:creationId xmlns:a16="http://schemas.microsoft.com/office/drawing/2014/main" id="{1FABA857-1F74-FAFB-F111-3A39BC0D102B}"/>
              </a:ext>
            </a:extLst>
          </p:cNvPr>
          <p:cNvSpPr>
            <a:spLocks noChangeArrowheads="1"/>
          </p:cNvSpPr>
          <p:nvPr/>
        </p:nvSpPr>
        <p:spPr bwMode="blackWhite">
          <a:xfrm>
            <a:off x="4297363" y="2005013"/>
            <a:ext cx="395287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627313"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627313"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 </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14 rows selected.</a:t>
            </a:r>
          </a:p>
        </p:txBody>
      </p:sp>
      <p:grpSp>
        <p:nvGrpSpPr>
          <p:cNvPr id="3" name="Group 12">
            <a:extLst>
              <a:ext uri="{FF2B5EF4-FFF2-40B4-BE49-F238E27FC236}">
                <a16:creationId xmlns:a16="http://schemas.microsoft.com/office/drawing/2014/main" id="{A99B2479-3497-B1DC-0FDF-E13902C2D077}"/>
              </a:ext>
            </a:extLst>
          </p:cNvPr>
          <p:cNvGrpSpPr>
            <a:grpSpLocks/>
          </p:cNvGrpSpPr>
          <p:nvPr/>
        </p:nvGrpSpPr>
        <p:grpSpPr bwMode="auto">
          <a:xfrm>
            <a:off x="2751138" y="5508625"/>
            <a:ext cx="3333750" cy="1089025"/>
            <a:chOff x="1733" y="3234"/>
            <a:chExt cx="2100" cy="686"/>
          </a:xfrm>
        </p:grpSpPr>
        <p:sp>
          <p:nvSpPr>
            <p:cNvPr id="249869" name="Rectangle 13">
              <a:extLst>
                <a:ext uri="{FF2B5EF4-FFF2-40B4-BE49-F238E27FC236}">
                  <a16:creationId xmlns:a16="http://schemas.microsoft.com/office/drawing/2014/main" id="{660E4B12-F284-AABB-696F-46C8C2216E07}"/>
                </a:ext>
              </a:extLst>
            </p:cNvPr>
            <p:cNvSpPr>
              <a:spLocks noChangeArrowheads="1"/>
            </p:cNvSpPr>
            <p:nvPr/>
          </p:nvSpPr>
          <p:spPr bwMode="auto">
            <a:xfrm>
              <a:off x="1733" y="3651"/>
              <a:ext cx="1014" cy="269"/>
            </a:xfrm>
            <a:prstGeom prst="rect">
              <a:avLst/>
            </a:prstGeom>
            <a:noFill/>
            <a:ln w="9525">
              <a:noFill/>
              <a:miter lim="800000"/>
              <a:headEnd/>
              <a:tailEnd/>
            </a:ln>
            <a:effectLst/>
          </p:spPr>
          <p:txBody>
            <a:bodyPr wrap="none" lIns="92075" tIns="46038" rIns="92075" bIns="46038">
              <a:spAutoFit/>
            </a:bodyPr>
            <a:lstStyle/>
            <a:p>
              <a:pPr algn="ctr">
                <a:lnSpc>
                  <a:spcPct val="110000"/>
                </a:lnSpc>
                <a:defRPr/>
              </a:pPr>
              <a:r>
                <a:rPr lang="en-US" sz="2000" b="1">
                  <a:solidFill>
                    <a:schemeClr val="accent2"/>
                  </a:solidFill>
                  <a:effectLst>
                    <a:outerShdw blurRad="38100" dist="38100" dir="2700000" algn="tl">
                      <a:srgbClr val="000000"/>
                    </a:outerShdw>
                  </a:effectLst>
                </a:rPr>
                <a:t>Foreign key</a:t>
              </a:r>
            </a:p>
          </p:txBody>
        </p:sp>
        <p:sp>
          <p:nvSpPr>
            <p:cNvPr id="17426" name="Line 14">
              <a:extLst>
                <a:ext uri="{FF2B5EF4-FFF2-40B4-BE49-F238E27FC236}">
                  <a16:creationId xmlns:a16="http://schemas.microsoft.com/office/drawing/2014/main" id="{6E3DF3E3-4774-8324-15B0-5FE097165C6B}"/>
                </a:ext>
              </a:extLst>
            </p:cNvPr>
            <p:cNvSpPr>
              <a:spLocks noChangeShapeType="1"/>
            </p:cNvSpPr>
            <p:nvPr/>
          </p:nvSpPr>
          <p:spPr bwMode="auto">
            <a:xfrm flipH="1" flipV="1">
              <a:off x="2230" y="3234"/>
              <a:ext cx="2" cy="414"/>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49871" name="Rectangle 15">
              <a:extLst>
                <a:ext uri="{FF2B5EF4-FFF2-40B4-BE49-F238E27FC236}">
                  <a16:creationId xmlns:a16="http://schemas.microsoft.com/office/drawing/2014/main" id="{3CA29FBA-896E-F718-5B7C-0BF1DAE4B309}"/>
                </a:ext>
              </a:extLst>
            </p:cNvPr>
            <p:cNvSpPr>
              <a:spLocks noChangeArrowheads="1"/>
            </p:cNvSpPr>
            <p:nvPr/>
          </p:nvSpPr>
          <p:spPr bwMode="auto">
            <a:xfrm>
              <a:off x="2810" y="3651"/>
              <a:ext cx="1023" cy="269"/>
            </a:xfrm>
            <a:prstGeom prst="rect">
              <a:avLst/>
            </a:prstGeom>
            <a:noFill/>
            <a:ln w="9525">
              <a:noFill/>
              <a:miter lim="800000"/>
              <a:headEnd/>
              <a:tailEnd/>
            </a:ln>
            <a:effectLst/>
          </p:spPr>
          <p:txBody>
            <a:bodyPr wrap="none" lIns="92075" tIns="46038" rIns="92075" bIns="46038">
              <a:spAutoFit/>
            </a:bodyPr>
            <a:lstStyle/>
            <a:p>
              <a:pPr algn="ctr">
                <a:lnSpc>
                  <a:spcPct val="110000"/>
                </a:lnSpc>
                <a:defRPr/>
              </a:pPr>
              <a:r>
                <a:rPr lang="en-US" sz="2000" b="1">
                  <a:solidFill>
                    <a:schemeClr val="accent2"/>
                  </a:solidFill>
                  <a:effectLst>
                    <a:outerShdw blurRad="38100" dist="38100" dir="2700000" algn="tl">
                      <a:srgbClr val="000000"/>
                    </a:outerShdw>
                  </a:effectLst>
                </a:rPr>
                <a:t>Primary key</a:t>
              </a:r>
            </a:p>
          </p:txBody>
        </p:sp>
        <p:sp>
          <p:nvSpPr>
            <p:cNvPr id="17428" name="Line 16">
              <a:extLst>
                <a:ext uri="{FF2B5EF4-FFF2-40B4-BE49-F238E27FC236}">
                  <a16:creationId xmlns:a16="http://schemas.microsoft.com/office/drawing/2014/main" id="{50D40038-9805-3AC2-4945-A16D38BDC0A1}"/>
                </a:ext>
              </a:extLst>
            </p:cNvPr>
            <p:cNvSpPr>
              <a:spLocks noChangeShapeType="1"/>
            </p:cNvSpPr>
            <p:nvPr/>
          </p:nvSpPr>
          <p:spPr bwMode="auto">
            <a:xfrm flipH="1" flipV="1">
              <a:off x="3298" y="3234"/>
              <a:ext cx="2" cy="414"/>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17419" name="Group 10">
            <a:extLst>
              <a:ext uri="{FF2B5EF4-FFF2-40B4-BE49-F238E27FC236}">
                <a16:creationId xmlns:a16="http://schemas.microsoft.com/office/drawing/2014/main" id="{6AE36037-83A7-1EE2-CCA6-C704A128BAC6}"/>
              </a:ext>
            </a:extLst>
          </p:cNvPr>
          <p:cNvGrpSpPr>
            <a:grpSpLocks/>
          </p:cNvGrpSpPr>
          <p:nvPr/>
        </p:nvGrpSpPr>
        <p:grpSpPr bwMode="auto">
          <a:xfrm>
            <a:off x="6902450" y="404813"/>
            <a:ext cx="1701800" cy="638175"/>
            <a:chOff x="391" y="1632"/>
            <a:chExt cx="1072" cy="402"/>
          </a:xfrm>
        </p:grpSpPr>
        <p:sp>
          <p:nvSpPr>
            <p:cNvPr id="17420" name="Rectangle 11">
              <a:extLst>
                <a:ext uri="{FF2B5EF4-FFF2-40B4-BE49-F238E27FC236}">
                  <a16:creationId xmlns:a16="http://schemas.microsoft.com/office/drawing/2014/main" id="{80BBC180-4DC5-8A49-9F25-D0B114490BCC}"/>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21" name="Rectangle 12">
              <a:extLst>
                <a:ext uri="{FF2B5EF4-FFF2-40B4-BE49-F238E27FC236}">
                  <a16:creationId xmlns:a16="http://schemas.microsoft.com/office/drawing/2014/main" id="{150FC829-0371-5BB4-E6EB-FC4057176E19}"/>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22" name="Oval 13">
              <a:extLst>
                <a:ext uri="{FF2B5EF4-FFF2-40B4-BE49-F238E27FC236}">
                  <a16:creationId xmlns:a16="http://schemas.microsoft.com/office/drawing/2014/main" id="{7244EB77-F36E-BFBD-A97E-AFCB9FD32D40}"/>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23" name="Oval 14">
              <a:extLst>
                <a:ext uri="{FF2B5EF4-FFF2-40B4-BE49-F238E27FC236}">
                  <a16:creationId xmlns:a16="http://schemas.microsoft.com/office/drawing/2014/main" id="{462C75DD-4C0C-2665-900C-48BE828E0106}"/>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424" name="Line 15">
              <a:extLst>
                <a:ext uri="{FF2B5EF4-FFF2-40B4-BE49-F238E27FC236}">
                  <a16:creationId xmlns:a16="http://schemas.microsoft.com/office/drawing/2014/main" id="{C845A46D-24BF-8867-34B5-45EDC80BBEB7}"/>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4DB3088-A9B8-4372-6B95-CBFDE0F68E3A}"/>
              </a:ext>
            </a:extLst>
          </p:cNvPr>
          <p:cNvSpPr>
            <a:spLocks noGrp="1" noChangeArrowheads="1"/>
          </p:cNvSpPr>
          <p:nvPr>
            <p:ph type="title"/>
          </p:nvPr>
        </p:nvSpPr>
        <p:spPr>
          <a:xfrm>
            <a:off x="433388" y="620713"/>
            <a:ext cx="6802437" cy="504825"/>
          </a:xfrm>
          <a:noFill/>
        </p:spPr>
        <p:txBody>
          <a:bodyPr lIns="92075" tIns="46038" rIns="92075" bIns="46038" anchor="t"/>
          <a:lstStyle/>
          <a:p>
            <a:r>
              <a:rPr lang="en-US" altLang="en-US" sz="2800">
                <a:solidFill>
                  <a:srgbClr val="800000"/>
                </a:solidFill>
              </a:rPr>
              <a:t>2. Natural Join</a:t>
            </a:r>
          </a:p>
        </p:txBody>
      </p:sp>
      <p:sp>
        <p:nvSpPr>
          <p:cNvPr id="19459" name="Rectangle 3">
            <a:extLst>
              <a:ext uri="{FF2B5EF4-FFF2-40B4-BE49-F238E27FC236}">
                <a16:creationId xmlns:a16="http://schemas.microsoft.com/office/drawing/2014/main" id="{B35B83CF-3668-B2D4-00EC-85BD58D19CBB}"/>
              </a:ext>
            </a:extLst>
          </p:cNvPr>
          <p:cNvSpPr>
            <a:spLocks noGrp="1" noChangeArrowheads="1"/>
          </p:cNvSpPr>
          <p:nvPr>
            <p:ph type="body" idx="1"/>
          </p:nvPr>
        </p:nvSpPr>
        <p:spPr>
          <a:xfrm>
            <a:off x="395288" y="1174750"/>
            <a:ext cx="8424862" cy="1274763"/>
          </a:xfrm>
        </p:spPr>
        <p:txBody>
          <a:bodyPr lIns="92075" tIns="46038" rIns="92075" bIns="46038">
            <a:spAutoFit/>
          </a:bodyPr>
          <a:lstStyle/>
          <a:p>
            <a:pPr algn="just"/>
            <a:r>
              <a:rPr lang="en-US" altLang="en-US" sz="2400"/>
              <a:t>The join is based on all columns that have same name in both tables. </a:t>
            </a:r>
          </a:p>
          <a:p>
            <a:pPr algn="just"/>
            <a:r>
              <a:rPr lang="en-US" altLang="en-US" sz="2400"/>
              <a:t>The join condition </a:t>
            </a:r>
            <a:r>
              <a:rPr lang="en-US" altLang="en-US" sz="2400">
                <a:solidFill>
                  <a:srgbClr val="FF0000"/>
                </a:solidFill>
              </a:rPr>
              <a:t>should NOT be specified.</a:t>
            </a:r>
            <a:r>
              <a:rPr lang="en-US" altLang="en-US" sz="2400"/>
              <a:t> </a:t>
            </a:r>
          </a:p>
        </p:txBody>
      </p:sp>
      <p:graphicFrame>
        <p:nvGraphicFramePr>
          <p:cNvPr id="2" name="Table 1">
            <a:extLst>
              <a:ext uri="{FF2B5EF4-FFF2-40B4-BE49-F238E27FC236}">
                <a16:creationId xmlns:a16="http://schemas.microsoft.com/office/drawing/2014/main" id="{9F605C30-9C83-02B9-67B6-3C7F33552999}"/>
              </a:ext>
            </a:extLst>
          </p:cNvPr>
          <p:cNvGraphicFramePr>
            <a:graphicFrameLocks noGrp="1"/>
          </p:cNvGraphicFramePr>
          <p:nvPr/>
        </p:nvGraphicFramePr>
        <p:xfrm>
          <a:off x="792163" y="2498725"/>
          <a:ext cx="7559675" cy="1158875"/>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158875">
                <a:tc>
                  <a:txBody>
                    <a:bodyPr/>
                    <a:lstStyle/>
                    <a:p>
                      <a:pPr marL="119063" lvl="1" indent="0">
                        <a:spcBef>
                          <a:spcPts val="600"/>
                        </a:spcBef>
                        <a:defRPr/>
                      </a:pPr>
                      <a:r>
                        <a:rPr lang="en-US" sz="2000" b="1" dirty="0">
                          <a:solidFill>
                            <a:schemeClr val="accent2"/>
                          </a:solidFill>
                        </a:rPr>
                        <a:t>SELECT</a:t>
                      </a:r>
                      <a:r>
                        <a:rPr lang="en-US" sz="2000" dirty="0">
                          <a:solidFill>
                            <a:schemeClr val="accent2"/>
                          </a:solidFill>
                        </a:rPr>
                        <a:t> </a:t>
                      </a:r>
                      <a:r>
                        <a:rPr lang="en-US" sz="2000" dirty="0">
                          <a:solidFill>
                            <a:schemeClr val="tx1"/>
                          </a:solidFill>
                        </a:rPr>
                        <a:t>col-1, col-2, ….</a:t>
                      </a:r>
                    </a:p>
                    <a:p>
                      <a:pPr marL="119063" lvl="1" indent="0">
                        <a:spcBef>
                          <a:spcPts val="600"/>
                        </a:spcBef>
                        <a:buNone/>
                        <a:defRPr/>
                      </a:pPr>
                      <a:r>
                        <a:rPr lang="en-US" sz="2000" b="1" dirty="0">
                          <a:solidFill>
                            <a:schemeClr val="accent2"/>
                          </a:solidFill>
                        </a:rPr>
                        <a:t>FROM</a:t>
                      </a:r>
                      <a:r>
                        <a:rPr lang="en-US" sz="2000" dirty="0">
                          <a:solidFill>
                            <a:schemeClr val="tx1"/>
                          </a:solidFill>
                        </a:rPr>
                        <a:t> table-1 </a:t>
                      </a:r>
                      <a:r>
                        <a:rPr lang="en-US" sz="2000" b="1" dirty="0">
                          <a:solidFill>
                            <a:schemeClr val="accent2"/>
                          </a:solidFill>
                        </a:rPr>
                        <a:t>NATURAL [INNER]</a:t>
                      </a:r>
                      <a:r>
                        <a:rPr lang="en-US" sz="2000" b="1" baseline="0" dirty="0">
                          <a:solidFill>
                            <a:schemeClr val="accent2"/>
                          </a:solidFill>
                        </a:rPr>
                        <a:t> JOIN</a:t>
                      </a:r>
                      <a:r>
                        <a:rPr lang="en-US" sz="2000" dirty="0">
                          <a:solidFill>
                            <a:schemeClr val="tx1"/>
                          </a:solidFill>
                        </a:rPr>
                        <a:t> table-2 </a:t>
                      </a:r>
                    </a:p>
                    <a:p>
                      <a:pPr marL="119063" lvl="1" indent="0">
                        <a:spcBef>
                          <a:spcPts val="600"/>
                        </a:spcBef>
                        <a:buNone/>
                        <a:defRPr/>
                      </a:pPr>
                      <a:r>
                        <a:rPr lang="en-US" sz="2000" b="1" baseline="0" dirty="0">
                          <a:solidFill>
                            <a:srgbClr val="FF0000"/>
                          </a:solidFill>
                        </a:rPr>
                        <a:t>[WHERE clause]</a:t>
                      </a:r>
                      <a:endParaRPr lang="en-US" sz="2000" b="1" dirty="0">
                        <a:solidFill>
                          <a:schemeClr val="accent2"/>
                        </a:solidFill>
                      </a:endParaRPr>
                    </a:p>
                  </a:txBody>
                  <a:tcPr marL="91426" marR="91426"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D3A66C06-62E1-84D2-A4A2-62A3C3595660}"/>
              </a:ext>
            </a:extLst>
          </p:cNvPr>
          <p:cNvGraphicFramePr>
            <a:graphicFrameLocks noGrp="1"/>
          </p:cNvGraphicFramePr>
          <p:nvPr/>
        </p:nvGraphicFramePr>
        <p:xfrm>
          <a:off x="792163" y="3829050"/>
          <a:ext cx="7559675" cy="777875"/>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777875">
                <a:tc>
                  <a:txBody>
                    <a:bodyPr/>
                    <a:lstStyle/>
                    <a:p>
                      <a:pPr marL="119063" lvl="1" indent="0">
                        <a:spcBef>
                          <a:spcPts val="600"/>
                        </a:spcBef>
                        <a:defRPr/>
                      </a:pPr>
                      <a:r>
                        <a:rPr lang="en-US" sz="2000" b="1" dirty="0">
                          <a:solidFill>
                            <a:schemeClr val="accent2"/>
                          </a:solidFill>
                        </a:rPr>
                        <a:t>SELECT</a:t>
                      </a:r>
                      <a:r>
                        <a:rPr lang="en-US" sz="2000" dirty="0">
                          <a:solidFill>
                            <a:schemeClr val="accent2"/>
                          </a:solidFill>
                        </a:rPr>
                        <a:t> </a:t>
                      </a:r>
                      <a:r>
                        <a:rPr lang="en-US" sz="2000" dirty="0" err="1">
                          <a:solidFill>
                            <a:schemeClr val="tx1"/>
                          </a:solidFill>
                        </a:rPr>
                        <a:t>ename,dname</a:t>
                      </a:r>
                      <a:endParaRPr lang="en-US" sz="2000" dirty="0">
                        <a:solidFill>
                          <a:schemeClr val="tx1"/>
                        </a:solidFill>
                      </a:endParaRPr>
                    </a:p>
                    <a:p>
                      <a:pPr marL="119063" lvl="1" indent="0">
                        <a:spcBef>
                          <a:spcPts val="600"/>
                        </a:spcBef>
                        <a:buNone/>
                        <a:defRPr/>
                      </a:pPr>
                      <a:r>
                        <a:rPr lang="en-US" sz="2000" b="1" dirty="0">
                          <a:solidFill>
                            <a:schemeClr val="accent2"/>
                          </a:solidFill>
                        </a:rPr>
                        <a:t>FROM</a:t>
                      </a:r>
                      <a:r>
                        <a:rPr lang="en-US" sz="2000" dirty="0">
                          <a:solidFill>
                            <a:schemeClr val="tx1"/>
                          </a:solidFill>
                        </a:rPr>
                        <a:t> emp </a:t>
                      </a:r>
                      <a:r>
                        <a:rPr lang="en-US" sz="2000" b="1" dirty="0">
                          <a:solidFill>
                            <a:schemeClr val="accent2"/>
                          </a:solidFill>
                        </a:rPr>
                        <a:t>NATURAL </a:t>
                      </a:r>
                      <a:r>
                        <a:rPr lang="en-US" sz="2000" b="1" baseline="0" dirty="0">
                          <a:solidFill>
                            <a:schemeClr val="accent2"/>
                          </a:solidFill>
                        </a:rPr>
                        <a:t>JOIN</a:t>
                      </a:r>
                      <a:r>
                        <a:rPr lang="en-US" sz="2000" dirty="0">
                          <a:solidFill>
                            <a:schemeClr val="tx1"/>
                          </a:solidFill>
                        </a:rPr>
                        <a:t> dept </a:t>
                      </a:r>
                      <a:endParaRPr lang="en-US" sz="2000" b="1" dirty="0">
                        <a:solidFill>
                          <a:schemeClr val="accent2"/>
                        </a:solidFill>
                      </a:endParaRPr>
                    </a:p>
                  </a:txBody>
                  <a:tcPr marL="91426" marR="91426"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CD575E6B-4598-C18E-E840-8A3B3753A474}"/>
              </a:ext>
            </a:extLst>
          </p:cNvPr>
          <p:cNvGraphicFramePr>
            <a:graphicFrameLocks noGrp="1"/>
          </p:cNvGraphicFramePr>
          <p:nvPr/>
        </p:nvGraphicFramePr>
        <p:xfrm>
          <a:off x="792163" y="4784725"/>
          <a:ext cx="7559675" cy="777875"/>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777875">
                <a:tc>
                  <a:txBody>
                    <a:bodyPr/>
                    <a:lstStyle/>
                    <a:p>
                      <a:pPr marL="119063" lvl="1" indent="0">
                        <a:spcBef>
                          <a:spcPts val="600"/>
                        </a:spcBef>
                        <a:defRPr/>
                      </a:pPr>
                      <a:r>
                        <a:rPr lang="en-US" sz="2000" b="1" dirty="0">
                          <a:solidFill>
                            <a:schemeClr val="accent2"/>
                          </a:solidFill>
                        </a:rPr>
                        <a:t>SELECT</a:t>
                      </a:r>
                      <a:r>
                        <a:rPr lang="en-US" sz="2000" dirty="0">
                          <a:solidFill>
                            <a:schemeClr val="accent2"/>
                          </a:solidFill>
                        </a:rPr>
                        <a:t> </a:t>
                      </a:r>
                      <a:r>
                        <a:rPr lang="en-US" sz="2000" dirty="0" err="1">
                          <a:solidFill>
                            <a:schemeClr val="tx1"/>
                          </a:solidFill>
                        </a:rPr>
                        <a:t>ename,dname</a:t>
                      </a:r>
                      <a:endParaRPr lang="en-US" sz="2000" dirty="0">
                        <a:solidFill>
                          <a:schemeClr val="tx1"/>
                        </a:solidFill>
                      </a:endParaRPr>
                    </a:p>
                    <a:p>
                      <a:pPr marL="119063" lvl="1" indent="0">
                        <a:spcBef>
                          <a:spcPts val="600"/>
                        </a:spcBef>
                        <a:buNone/>
                        <a:defRPr/>
                      </a:pPr>
                      <a:r>
                        <a:rPr lang="en-US" sz="2000" b="1" dirty="0">
                          <a:solidFill>
                            <a:schemeClr val="accent2"/>
                          </a:solidFill>
                        </a:rPr>
                        <a:t>FROM</a:t>
                      </a:r>
                      <a:r>
                        <a:rPr lang="en-US" sz="2000" dirty="0">
                          <a:solidFill>
                            <a:schemeClr val="tx1"/>
                          </a:solidFill>
                        </a:rPr>
                        <a:t> emp </a:t>
                      </a:r>
                      <a:r>
                        <a:rPr lang="en-US" sz="2000" b="1" dirty="0">
                          <a:solidFill>
                            <a:schemeClr val="accent2"/>
                          </a:solidFill>
                        </a:rPr>
                        <a:t>NATURAL </a:t>
                      </a:r>
                      <a:r>
                        <a:rPr lang="en-US" sz="2000" b="1" dirty="0">
                          <a:solidFill>
                            <a:srgbClr val="FF0000"/>
                          </a:solidFill>
                        </a:rPr>
                        <a:t>INNER</a:t>
                      </a:r>
                      <a:r>
                        <a:rPr lang="en-US" sz="2000" b="1" dirty="0">
                          <a:solidFill>
                            <a:schemeClr val="accent2"/>
                          </a:solidFill>
                        </a:rPr>
                        <a:t> </a:t>
                      </a:r>
                      <a:r>
                        <a:rPr lang="en-US" sz="2000" b="1" baseline="0" dirty="0">
                          <a:solidFill>
                            <a:schemeClr val="accent2"/>
                          </a:solidFill>
                        </a:rPr>
                        <a:t>JOIN</a:t>
                      </a:r>
                      <a:r>
                        <a:rPr lang="en-US" sz="2000" dirty="0">
                          <a:solidFill>
                            <a:schemeClr val="tx1"/>
                          </a:solidFill>
                        </a:rPr>
                        <a:t> dept </a:t>
                      </a:r>
                      <a:endParaRPr lang="en-US" sz="2000" b="1" dirty="0">
                        <a:solidFill>
                          <a:schemeClr val="accent2"/>
                        </a:solidFill>
                      </a:endParaRPr>
                    </a:p>
                  </a:txBody>
                  <a:tcPr marL="91426" marR="91426"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C44B3A4-B72B-D8E4-751D-62B519588C68}"/>
              </a:ext>
            </a:extLst>
          </p:cNvPr>
          <p:cNvSpPr>
            <a:spLocks noGrp="1" noChangeArrowheads="1"/>
          </p:cNvSpPr>
          <p:nvPr>
            <p:ph type="title"/>
          </p:nvPr>
        </p:nvSpPr>
        <p:spPr>
          <a:xfrm>
            <a:off x="433388" y="620713"/>
            <a:ext cx="4283075" cy="504825"/>
          </a:xfrm>
        </p:spPr>
        <p:txBody>
          <a:bodyPr lIns="92075" tIns="46038" rIns="92075" bIns="46038" anchor="t"/>
          <a:lstStyle/>
          <a:p>
            <a:r>
              <a:rPr lang="en-US" altLang="en-US" sz="2800">
                <a:solidFill>
                  <a:srgbClr val="800000"/>
                </a:solidFill>
              </a:rPr>
              <a:t>3. Euijoin / Inner Join</a:t>
            </a:r>
          </a:p>
        </p:txBody>
      </p:sp>
      <p:sp>
        <p:nvSpPr>
          <p:cNvPr id="21507" name="Rectangle 3">
            <a:extLst>
              <a:ext uri="{FF2B5EF4-FFF2-40B4-BE49-F238E27FC236}">
                <a16:creationId xmlns:a16="http://schemas.microsoft.com/office/drawing/2014/main" id="{841DA778-7AA2-EB16-7CC9-BE6B0CC0DA23}"/>
              </a:ext>
            </a:extLst>
          </p:cNvPr>
          <p:cNvSpPr>
            <a:spLocks noGrp="1" noChangeArrowheads="1"/>
          </p:cNvSpPr>
          <p:nvPr>
            <p:ph type="body" idx="1"/>
          </p:nvPr>
        </p:nvSpPr>
        <p:spPr>
          <a:xfrm>
            <a:off x="395288" y="1174750"/>
            <a:ext cx="8424862" cy="4549775"/>
          </a:xfrm>
        </p:spPr>
        <p:txBody>
          <a:bodyPr lIns="92075" tIns="46038" rIns="92075" bIns="46038">
            <a:spAutoFit/>
          </a:bodyPr>
          <a:lstStyle/>
          <a:p>
            <a:pPr algn="just"/>
            <a:r>
              <a:rPr lang="en-US" altLang="en-US" dirty="0"/>
              <a:t>Inner joins are the most commonly used joins. For this reason, the term </a:t>
            </a:r>
            <a:r>
              <a:rPr lang="en-US" altLang="en-US" dirty="0">
                <a:solidFill>
                  <a:srgbClr val="FF0000"/>
                </a:solidFill>
              </a:rPr>
              <a:t>join defaults to "inner join".</a:t>
            </a:r>
            <a:endParaRPr lang="en-US" altLang="en-US" dirty="0"/>
          </a:p>
          <a:p>
            <a:pPr algn="just"/>
            <a:r>
              <a:rPr lang="en-US" altLang="en-US" dirty="0"/>
              <a:t>The </a:t>
            </a:r>
            <a:r>
              <a:rPr lang="en-US" altLang="en-US" dirty="0">
                <a:solidFill>
                  <a:srgbClr val="FF0000"/>
                </a:solidFill>
              </a:rPr>
              <a:t>pre-requisite</a:t>
            </a:r>
            <a:r>
              <a:rPr lang="en-US" altLang="en-US" dirty="0"/>
              <a:t> for inner join is that its participating tables must have </a:t>
            </a:r>
            <a:r>
              <a:rPr lang="en-US" altLang="en-US" dirty="0">
                <a:solidFill>
                  <a:srgbClr val="FF0000"/>
                </a:solidFill>
              </a:rPr>
              <a:t>at least one common attribute</a:t>
            </a:r>
            <a:r>
              <a:rPr lang="en-US" altLang="en-US" dirty="0"/>
              <a:t> between them. </a:t>
            </a:r>
          </a:p>
          <a:p>
            <a:pPr algn="just"/>
            <a:endParaRPr lang="en-US" altLang="en-US" sz="2400" dirty="0"/>
          </a:p>
          <a:p>
            <a:pPr algn="just"/>
            <a:endParaRPr lang="en-US" altLang="en-US" sz="2400" dirty="0"/>
          </a:p>
          <a:p>
            <a:pPr algn="just"/>
            <a:endParaRPr lang="en-US" altLang="en-US" sz="2400" dirty="0"/>
          </a:p>
          <a:p>
            <a:pPr algn="just"/>
            <a:endParaRPr lang="en-US" altLang="en-US" sz="2400" dirty="0"/>
          </a:p>
          <a:p>
            <a:pPr algn="just"/>
            <a:endParaRPr lang="en-US" altLang="en-US" sz="2400" dirty="0"/>
          </a:p>
        </p:txBody>
      </p:sp>
      <p:graphicFrame>
        <p:nvGraphicFramePr>
          <p:cNvPr id="2" name="Table 1">
            <a:extLst>
              <a:ext uri="{FF2B5EF4-FFF2-40B4-BE49-F238E27FC236}">
                <a16:creationId xmlns:a16="http://schemas.microsoft.com/office/drawing/2014/main" id="{AF8E5A41-0C91-4648-4C0F-AB329302E20B}"/>
              </a:ext>
            </a:extLst>
          </p:cNvPr>
          <p:cNvGraphicFramePr>
            <a:graphicFrameLocks noGrp="1"/>
          </p:cNvGraphicFramePr>
          <p:nvPr/>
        </p:nvGraphicFramePr>
        <p:xfrm>
          <a:off x="900113" y="3644900"/>
          <a:ext cx="7559675" cy="2697328"/>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158094">
                <a:tc>
                  <a:txBody>
                    <a:bodyPr/>
                    <a:lstStyle/>
                    <a:p>
                      <a:pPr marL="119063" lvl="1" indent="0">
                        <a:spcBef>
                          <a:spcPts val="600"/>
                        </a:spcBef>
                        <a:defRPr/>
                      </a:pPr>
                      <a:r>
                        <a:rPr lang="en-US" sz="2000" dirty="0">
                          <a:solidFill>
                            <a:schemeClr val="accent2"/>
                          </a:solidFill>
                        </a:rPr>
                        <a:t>SELECT </a:t>
                      </a:r>
                      <a:r>
                        <a:rPr lang="en-US" sz="2000" dirty="0">
                          <a:solidFill>
                            <a:schemeClr val="tx1"/>
                          </a:solidFill>
                        </a:rPr>
                        <a:t>col-1, col-2, ….</a:t>
                      </a:r>
                    </a:p>
                    <a:p>
                      <a:pPr marL="119063" lvl="1" indent="0">
                        <a:spcBef>
                          <a:spcPts val="600"/>
                        </a:spcBef>
                        <a:buNone/>
                        <a:defRPr/>
                      </a:pPr>
                      <a:r>
                        <a:rPr lang="en-US" sz="2000" dirty="0">
                          <a:solidFill>
                            <a:schemeClr val="accent2"/>
                          </a:solidFill>
                        </a:rPr>
                        <a:t>FROM</a:t>
                      </a:r>
                      <a:r>
                        <a:rPr lang="en-US" sz="2000" dirty="0">
                          <a:solidFill>
                            <a:schemeClr val="tx1"/>
                          </a:solidFill>
                        </a:rPr>
                        <a:t> table-1, table-2, …</a:t>
                      </a:r>
                    </a:p>
                    <a:p>
                      <a:pPr marL="119063" lvl="1" indent="0">
                        <a:spcBef>
                          <a:spcPts val="600"/>
                        </a:spcBef>
                        <a:buNone/>
                        <a:defRPr/>
                      </a:pPr>
                      <a:r>
                        <a:rPr lang="en-US" sz="2000" dirty="0">
                          <a:solidFill>
                            <a:schemeClr val="accent2"/>
                          </a:solidFill>
                        </a:rPr>
                        <a:t>WHERE </a:t>
                      </a:r>
                      <a:r>
                        <a:rPr lang="en-US" sz="2000" dirty="0">
                          <a:solidFill>
                            <a:srgbClr val="FF0000"/>
                          </a:solidFill>
                        </a:rPr>
                        <a:t>table-1.Join_Col = table-2. </a:t>
                      </a:r>
                      <a:r>
                        <a:rPr lang="en-US" sz="2000" dirty="0" err="1">
                          <a:solidFill>
                            <a:srgbClr val="FF0000"/>
                          </a:solidFill>
                        </a:rPr>
                        <a:t>Join_Col</a:t>
                      </a:r>
                      <a:r>
                        <a:rPr lang="en-US" sz="2000" dirty="0">
                          <a:solidFill>
                            <a:srgbClr val="FF0000"/>
                          </a:solidFill>
                        </a:rPr>
                        <a:t> …</a:t>
                      </a:r>
                      <a:endParaRPr lang="en-US" sz="2000" dirty="0">
                        <a:solidFill>
                          <a:schemeClr val="tx1"/>
                        </a:solidFill>
                      </a:endParaRPr>
                    </a:p>
                  </a:txBody>
                  <a:tcPr marL="91426" marR="91426"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39069">
                <a:tc>
                  <a:txBody>
                    <a:bodyPr/>
                    <a:lstStyle/>
                    <a:p>
                      <a:pPr marL="119063" lvl="1" indent="0">
                        <a:spcBef>
                          <a:spcPts val="600"/>
                        </a:spcBef>
                        <a:defRPr/>
                      </a:pPr>
                      <a:r>
                        <a:rPr lang="en-US" sz="2000" b="1" dirty="0">
                          <a:solidFill>
                            <a:schemeClr val="accent2"/>
                          </a:solidFill>
                        </a:rPr>
                        <a:t>SELECT</a:t>
                      </a:r>
                      <a:r>
                        <a:rPr lang="en-US" sz="2000" dirty="0">
                          <a:solidFill>
                            <a:schemeClr val="accent2"/>
                          </a:solidFill>
                        </a:rPr>
                        <a:t> </a:t>
                      </a:r>
                      <a:r>
                        <a:rPr lang="en-US" sz="2000" dirty="0">
                          <a:solidFill>
                            <a:schemeClr val="tx1"/>
                          </a:solidFill>
                        </a:rPr>
                        <a:t>col-1, col-2, ….</a:t>
                      </a:r>
                    </a:p>
                    <a:p>
                      <a:pPr marL="119063" lvl="1" indent="0">
                        <a:spcBef>
                          <a:spcPts val="600"/>
                        </a:spcBef>
                        <a:buNone/>
                        <a:defRPr/>
                      </a:pPr>
                      <a:r>
                        <a:rPr lang="en-US" sz="2000" b="1" dirty="0">
                          <a:solidFill>
                            <a:schemeClr val="accent2"/>
                          </a:solidFill>
                        </a:rPr>
                        <a:t>FROM</a:t>
                      </a:r>
                      <a:r>
                        <a:rPr lang="en-US" sz="2000" dirty="0">
                          <a:solidFill>
                            <a:schemeClr val="tx1"/>
                          </a:solidFill>
                        </a:rPr>
                        <a:t> table-1 </a:t>
                      </a:r>
                      <a:r>
                        <a:rPr lang="en-US" sz="2000" b="1" dirty="0">
                          <a:solidFill>
                            <a:schemeClr val="accent2"/>
                          </a:solidFill>
                        </a:rPr>
                        <a:t>[INNER</a:t>
                      </a:r>
                      <a:r>
                        <a:rPr lang="en-US" sz="2000" b="1" baseline="0" dirty="0">
                          <a:solidFill>
                            <a:schemeClr val="accent2"/>
                          </a:solidFill>
                        </a:rPr>
                        <a:t>] JOIN</a:t>
                      </a:r>
                      <a:r>
                        <a:rPr lang="en-US" sz="2000" dirty="0">
                          <a:solidFill>
                            <a:schemeClr val="tx1"/>
                          </a:solidFill>
                        </a:rPr>
                        <a:t> table-2, …</a:t>
                      </a: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000" b="1" dirty="0">
                          <a:solidFill>
                            <a:schemeClr val="accent2"/>
                          </a:solidFill>
                        </a:rPr>
                        <a:t>{ON </a:t>
                      </a:r>
                      <a:r>
                        <a:rPr lang="en-US" sz="2000" dirty="0">
                          <a:solidFill>
                            <a:srgbClr val="FF0000"/>
                          </a:solidFill>
                        </a:rPr>
                        <a:t>table-1. </a:t>
                      </a:r>
                      <a:r>
                        <a:rPr lang="en-US" sz="2000" dirty="0" err="1">
                          <a:solidFill>
                            <a:srgbClr val="FF0000"/>
                          </a:solidFill>
                        </a:rPr>
                        <a:t>Join_Col</a:t>
                      </a:r>
                      <a:r>
                        <a:rPr lang="en-US" sz="2000" dirty="0">
                          <a:solidFill>
                            <a:srgbClr val="FF0000"/>
                          </a:solidFill>
                        </a:rPr>
                        <a:t> = table-2. </a:t>
                      </a:r>
                      <a:r>
                        <a:rPr lang="en-US" sz="2000" dirty="0" err="1">
                          <a:solidFill>
                            <a:srgbClr val="FF0000"/>
                          </a:solidFill>
                        </a:rPr>
                        <a:t>Join_Col</a:t>
                      </a:r>
                      <a:r>
                        <a:rPr lang="en-US" sz="2000" dirty="0">
                          <a:solidFill>
                            <a:srgbClr val="FF0000"/>
                          </a:solidFill>
                        </a:rPr>
                        <a:t> … |USING</a:t>
                      </a:r>
                      <a:r>
                        <a:rPr lang="en-US" sz="2000" baseline="0" dirty="0">
                          <a:solidFill>
                            <a:srgbClr val="FF0000"/>
                          </a:solidFill>
                        </a:rPr>
                        <a:t> (</a:t>
                      </a:r>
                      <a:r>
                        <a:rPr lang="en-US" sz="2000" dirty="0" err="1">
                          <a:solidFill>
                            <a:srgbClr val="FF0000"/>
                          </a:solidFill>
                        </a:rPr>
                        <a:t>Join_Col</a:t>
                      </a:r>
                      <a:r>
                        <a:rPr lang="en-US" sz="2000" baseline="0" dirty="0">
                          <a:solidFill>
                            <a:srgbClr val="FF0000"/>
                          </a:solidFill>
                        </a:rPr>
                        <a:t>)}</a:t>
                      </a: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000" b="1" baseline="0" dirty="0">
                          <a:solidFill>
                            <a:srgbClr val="FF0000"/>
                          </a:solidFill>
                        </a:rPr>
                        <a:t>[WHERE clause]</a:t>
                      </a:r>
                      <a:endParaRPr lang="en-US" sz="2000" b="1" dirty="0">
                        <a:solidFill>
                          <a:schemeClr val="accent2"/>
                        </a:solidFill>
                      </a:endParaRPr>
                    </a:p>
                  </a:txBody>
                  <a:tcPr marL="91426" marR="91426"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ED91CF0-7BBC-6C3C-5DBC-CAD322EBB94E}"/>
              </a:ext>
            </a:extLst>
          </p:cNvPr>
          <p:cNvSpPr>
            <a:spLocks noGrp="1" noChangeArrowheads="1"/>
          </p:cNvSpPr>
          <p:nvPr>
            <p:ph type="title"/>
          </p:nvPr>
        </p:nvSpPr>
        <p:spPr>
          <a:xfrm>
            <a:off x="433388" y="620713"/>
            <a:ext cx="4283075" cy="504825"/>
          </a:xfrm>
          <a:noFill/>
        </p:spPr>
        <p:txBody>
          <a:bodyPr lIns="92075" tIns="46038" rIns="92075" bIns="46038" anchor="t"/>
          <a:lstStyle/>
          <a:p>
            <a:r>
              <a:rPr lang="en-US" altLang="en-US" sz="2800">
                <a:solidFill>
                  <a:srgbClr val="800000"/>
                </a:solidFill>
              </a:rPr>
              <a:t>3. Euijoin / Inner Join</a:t>
            </a:r>
          </a:p>
        </p:txBody>
      </p:sp>
      <p:sp>
        <p:nvSpPr>
          <p:cNvPr id="12291" name="Rectangle 3">
            <a:extLst>
              <a:ext uri="{FF2B5EF4-FFF2-40B4-BE49-F238E27FC236}">
                <a16:creationId xmlns:a16="http://schemas.microsoft.com/office/drawing/2014/main" id="{E8FE633B-6B5A-55BC-D47A-EAA7346CA353}"/>
              </a:ext>
            </a:extLst>
          </p:cNvPr>
          <p:cNvSpPr>
            <a:spLocks noGrp="1" noChangeArrowheads="1"/>
          </p:cNvSpPr>
          <p:nvPr>
            <p:ph type="body" idx="1"/>
          </p:nvPr>
        </p:nvSpPr>
        <p:spPr>
          <a:xfrm>
            <a:off x="395288" y="1277938"/>
            <a:ext cx="8280400" cy="6925615"/>
          </a:xfrm>
        </p:spPr>
        <p:txBody>
          <a:bodyPr lIns="92075" tIns="46038" rIns="92075" bIns="46038">
            <a:spAutoFit/>
          </a:bodyPr>
          <a:lstStyle/>
          <a:p>
            <a:pPr lvl="1">
              <a:defRPr/>
            </a:pPr>
            <a:r>
              <a:rPr lang="en-US" dirty="0">
                <a:solidFill>
                  <a:schemeClr val="accent2"/>
                </a:solidFill>
              </a:rPr>
              <a:t>Select </a:t>
            </a:r>
            <a:r>
              <a:rPr lang="en-US" dirty="0" err="1">
                <a:solidFill>
                  <a:schemeClr val="accent2"/>
                </a:solidFill>
              </a:rPr>
              <a:t>ename</a:t>
            </a:r>
            <a:r>
              <a:rPr lang="en-US" dirty="0">
                <a:solidFill>
                  <a:schemeClr val="accent2"/>
                </a:solidFill>
              </a:rPr>
              <a:t>, </a:t>
            </a:r>
            <a:r>
              <a:rPr lang="en-US" dirty="0" err="1">
                <a:solidFill>
                  <a:schemeClr val="accent2"/>
                </a:solidFill>
              </a:rPr>
              <a:t>dname</a:t>
            </a:r>
            <a:r>
              <a:rPr lang="en-US" dirty="0">
                <a:solidFill>
                  <a:schemeClr val="accent2"/>
                </a:solidFill>
              </a:rPr>
              <a:t> from </a:t>
            </a:r>
            <a:r>
              <a:rPr lang="en-US" dirty="0" err="1">
                <a:solidFill>
                  <a:schemeClr val="accent2"/>
                </a:solidFill>
              </a:rPr>
              <a:t>emp,dept</a:t>
            </a:r>
            <a:endParaRPr lang="en-US" dirty="0">
              <a:solidFill>
                <a:schemeClr val="accent2"/>
              </a:solidFill>
            </a:endParaRPr>
          </a:p>
          <a:p>
            <a:pPr marL="457200" lvl="1" indent="0">
              <a:buFontTx/>
              <a:buNone/>
              <a:defRPr/>
            </a:pPr>
            <a:r>
              <a:rPr lang="en-US" dirty="0">
                <a:solidFill>
                  <a:schemeClr val="accent2"/>
                </a:solidFill>
              </a:rPr>
              <a:t>    where </a:t>
            </a:r>
            <a:r>
              <a:rPr lang="en-US" dirty="0" err="1">
                <a:solidFill>
                  <a:schemeClr val="accent2"/>
                </a:solidFill>
              </a:rPr>
              <a:t>emp.deptno</a:t>
            </a:r>
            <a:r>
              <a:rPr lang="en-US" dirty="0">
                <a:solidFill>
                  <a:schemeClr val="accent2"/>
                </a:solidFill>
              </a:rPr>
              <a:t> = </a:t>
            </a:r>
            <a:r>
              <a:rPr lang="en-US" dirty="0" err="1">
                <a:solidFill>
                  <a:schemeClr val="accent2"/>
                </a:solidFill>
              </a:rPr>
              <a:t>dept.deptno</a:t>
            </a:r>
            <a:r>
              <a:rPr lang="en-US" dirty="0">
                <a:solidFill>
                  <a:schemeClr val="accent2"/>
                </a:solidFill>
              </a:rPr>
              <a:t>;	</a:t>
            </a:r>
          </a:p>
          <a:p>
            <a:pPr lvl="1">
              <a:defRPr/>
            </a:pPr>
            <a:r>
              <a:rPr lang="en-US" dirty="0">
                <a:solidFill>
                  <a:schemeClr val="accent2"/>
                </a:solidFill>
              </a:rPr>
              <a:t>Select </a:t>
            </a:r>
            <a:r>
              <a:rPr lang="en-US" dirty="0" err="1">
                <a:solidFill>
                  <a:schemeClr val="accent2"/>
                </a:solidFill>
              </a:rPr>
              <a:t>ename</a:t>
            </a:r>
            <a:r>
              <a:rPr lang="en-US" dirty="0">
                <a:solidFill>
                  <a:schemeClr val="accent2"/>
                </a:solidFill>
              </a:rPr>
              <a:t>, </a:t>
            </a:r>
            <a:r>
              <a:rPr lang="en-US" dirty="0" err="1">
                <a:solidFill>
                  <a:schemeClr val="accent2"/>
                </a:solidFill>
              </a:rPr>
              <a:t>dptno</a:t>
            </a:r>
            <a:r>
              <a:rPr lang="en-US" dirty="0">
                <a:solidFill>
                  <a:schemeClr val="accent2"/>
                </a:solidFill>
              </a:rPr>
              <a:t>, </a:t>
            </a:r>
            <a:r>
              <a:rPr lang="en-US" dirty="0" err="1">
                <a:solidFill>
                  <a:schemeClr val="accent2"/>
                </a:solidFill>
              </a:rPr>
              <a:t>dname</a:t>
            </a:r>
            <a:r>
              <a:rPr lang="en-US" dirty="0">
                <a:solidFill>
                  <a:schemeClr val="accent2"/>
                </a:solidFill>
              </a:rPr>
              <a:t> </a:t>
            </a:r>
          </a:p>
          <a:p>
            <a:pPr marL="457200" lvl="1" indent="0">
              <a:buFontTx/>
              <a:buNone/>
              <a:defRPr/>
            </a:pPr>
            <a:r>
              <a:rPr lang="en-US" dirty="0">
                <a:solidFill>
                  <a:schemeClr val="accent2"/>
                </a:solidFill>
              </a:rPr>
              <a:t>    from </a:t>
            </a:r>
            <a:r>
              <a:rPr lang="en-US" dirty="0">
                <a:solidFill>
                  <a:srgbClr val="FF0000"/>
                </a:solidFill>
              </a:rPr>
              <a:t>emp </a:t>
            </a:r>
            <a:r>
              <a:rPr lang="en-US" dirty="0">
                <a:solidFill>
                  <a:srgbClr val="FF0000"/>
                </a:solidFill>
                <a:highlight>
                  <a:srgbClr val="00FF00"/>
                </a:highlight>
              </a:rPr>
              <a:t>INNER JOIN</a:t>
            </a:r>
            <a:r>
              <a:rPr lang="en-US" dirty="0">
                <a:solidFill>
                  <a:srgbClr val="FF0000"/>
                </a:solidFill>
              </a:rPr>
              <a:t> dept</a:t>
            </a:r>
          </a:p>
          <a:p>
            <a:pPr marL="457200" lvl="1" indent="0">
              <a:buFontTx/>
              <a:buNone/>
              <a:defRPr/>
            </a:pPr>
            <a:r>
              <a:rPr lang="en-US" dirty="0">
                <a:solidFill>
                  <a:srgbClr val="FF0000"/>
                </a:solidFill>
              </a:rPr>
              <a:t>    ON </a:t>
            </a:r>
            <a:r>
              <a:rPr lang="en-US" dirty="0" err="1">
                <a:solidFill>
                  <a:schemeClr val="accent2"/>
                </a:solidFill>
              </a:rPr>
              <a:t>emp.deptno</a:t>
            </a:r>
            <a:r>
              <a:rPr lang="en-US" dirty="0">
                <a:solidFill>
                  <a:schemeClr val="accent2"/>
                </a:solidFill>
              </a:rPr>
              <a:t> = </a:t>
            </a:r>
            <a:r>
              <a:rPr lang="en-US" dirty="0" err="1">
                <a:solidFill>
                  <a:schemeClr val="accent2"/>
                </a:solidFill>
              </a:rPr>
              <a:t>dept.deptno</a:t>
            </a:r>
            <a:r>
              <a:rPr lang="en-US" dirty="0">
                <a:solidFill>
                  <a:schemeClr val="accent2"/>
                </a:solidFill>
              </a:rPr>
              <a:t>;	</a:t>
            </a:r>
          </a:p>
          <a:p>
            <a:pPr lvl="1">
              <a:defRPr/>
            </a:pPr>
            <a:r>
              <a:rPr lang="en-US" dirty="0">
                <a:solidFill>
                  <a:schemeClr val="accent2"/>
                </a:solidFill>
              </a:rPr>
              <a:t>Select </a:t>
            </a:r>
            <a:r>
              <a:rPr lang="en-US" dirty="0" err="1">
                <a:solidFill>
                  <a:schemeClr val="accent2"/>
                </a:solidFill>
              </a:rPr>
              <a:t>ename</a:t>
            </a:r>
            <a:r>
              <a:rPr lang="en-US" dirty="0">
                <a:solidFill>
                  <a:schemeClr val="accent2"/>
                </a:solidFill>
              </a:rPr>
              <a:t>, </a:t>
            </a:r>
            <a:r>
              <a:rPr lang="en-US" dirty="0" err="1">
                <a:solidFill>
                  <a:schemeClr val="accent2"/>
                </a:solidFill>
              </a:rPr>
              <a:t>dname</a:t>
            </a:r>
            <a:r>
              <a:rPr lang="en-US" dirty="0">
                <a:solidFill>
                  <a:schemeClr val="accent2"/>
                </a:solidFill>
              </a:rPr>
              <a:t> from </a:t>
            </a:r>
            <a:r>
              <a:rPr lang="en-US" dirty="0">
                <a:solidFill>
                  <a:srgbClr val="FF0000"/>
                </a:solidFill>
              </a:rPr>
              <a:t>emp </a:t>
            </a:r>
            <a:r>
              <a:rPr lang="en-US" dirty="0">
                <a:solidFill>
                  <a:srgbClr val="FF0000"/>
                </a:solidFill>
                <a:highlight>
                  <a:srgbClr val="00FF00"/>
                </a:highlight>
              </a:rPr>
              <a:t>JOIN</a:t>
            </a:r>
            <a:r>
              <a:rPr lang="en-US" dirty="0">
                <a:solidFill>
                  <a:srgbClr val="FF0000"/>
                </a:solidFill>
              </a:rPr>
              <a:t> dept</a:t>
            </a:r>
          </a:p>
          <a:p>
            <a:pPr marL="457200" lvl="1" indent="0">
              <a:buFontTx/>
              <a:buNone/>
              <a:defRPr/>
            </a:pPr>
            <a:r>
              <a:rPr lang="en-US" dirty="0">
                <a:solidFill>
                  <a:srgbClr val="FF0000"/>
                </a:solidFill>
              </a:rPr>
              <a:t>    ON </a:t>
            </a:r>
            <a:r>
              <a:rPr lang="en-US" dirty="0" err="1">
                <a:solidFill>
                  <a:schemeClr val="accent2"/>
                </a:solidFill>
              </a:rPr>
              <a:t>emp.deptno</a:t>
            </a:r>
            <a:r>
              <a:rPr lang="en-US" dirty="0">
                <a:solidFill>
                  <a:schemeClr val="accent2"/>
                </a:solidFill>
              </a:rPr>
              <a:t> = </a:t>
            </a:r>
            <a:r>
              <a:rPr lang="en-US" dirty="0" err="1">
                <a:solidFill>
                  <a:schemeClr val="accent2"/>
                </a:solidFill>
              </a:rPr>
              <a:t>dept.deptno</a:t>
            </a:r>
            <a:r>
              <a:rPr lang="en-US" dirty="0">
                <a:solidFill>
                  <a:schemeClr val="accent2"/>
                </a:solidFill>
              </a:rPr>
              <a:t>;	</a:t>
            </a:r>
          </a:p>
          <a:p>
            <a:pPr lvl="1">
              <a:defRPr/>
            </a:pPr>
            <a:r>
              <a:rPr lang="en-US" dirty="0">
                <a:solidFill>
                  <a:schemeClr val="accent2"/>
                </a:solidFill>
              </a:rPr>
              <a:t>Select </a:t>
            </a:r>
            <a:r>
              <a:rPr lang="en-US" dirty="0" err="1">
                <a:solidFill>
                  <a:schemeClr val="accent2"/>
                </a:solidFill>
              </a:rPr>
              <a:t>ename</a:t>
            </a:r>
            <a:r>
              <a:rPr lang="en-US" dirty="0">
                <a:solidFill>
                  <a:schemeClr val="accent2"/>
                </a:solidFill>
              </a:rPr>
              <a:t>, </a:t>
            </a:r>
            <a:r>
              <a:rPr lang="en-US" dirty="0" err="1">
                <a:solidFill>
                  <a:schemeClr val="accent2"/>
                </a:solidFill>
              </a:rPr>
              <a:t>dname</a:t>
            </a:r>
            <a:r>
              <a:rPr lang="en-US" dirty="0">
                <a:solidFill>
                  <a:schemeClr val="accent2"/>
                </a:solidFill>
              </a:rPr>
              <a:t> from </a:t>
            </a:r>
            <a:r>
              <a:rPr lang="en-US" dirty="0">
                <a:solidFill>
                  <a:srgbClr val="FF0000"/>
                </a:solidFill>
              </a:rPr>
              <a:t>emp </a:t>
            </a:r>
            <a:r>
              <a:rPr lang="en-US" dirty="0">
                <a:solidFill>
                  <a:srgbClr val="FF0000"/>
                </a:solidFill>
                <a:highlight>
                  <a:srgbClr val="00FF00"/>
                </a:highlight>
              </a:rPr>
              <a:t>JOIN</a:t>
            </a:r>
            <a:r>
              <a:rPr lang="en-US" dirty="0">
                <a:solidFill>
                  <a:srgbClr val="FF0000"/>
                </a:solidFill>
              </a:rPr>
              <a:t> dept</a:t>
            </a:r>
          </a:p>
          <a:p>
            <a:pPr marL="457200" lvl="1" indent="0">
              <a:buFontTx/>
              <a:buNone/>
              <a:defRPr/>
            </a:pPr>
            <a:r>
              <a:rPr lang="en-US" dirty="0">
                <a:solidFill>
                  <a:srgbClr val="FF0000"/>
                </a:solidFill>
              </a:rPr>
              <a:t>    </a:t>
            </a:r>
            <a:r>
              <a:rPr lang="en-US" dirty="0">
                <a:solidFill>
                  <a:srgbClr val="FF0000"/>
                </a:solidFill>
                <a:highlight>
                  <a:srgbClr val="00FF00"/>
                </a:highlight>
              </a:rPr>
              <a:t>USING</a:t>
            </a:r>
            <a:r>
              <a:rPr lang="en-US" dirty="0">
                <a:solidFill>
                  <a:srgbClr val="FF0000"/>
                </a:solidFill>
              </a:rPr>
              <a:t> </a:t>
            </a:r>
            <a:r>
              <a:rPr lang="en-US" dirty="0">
                <a:solidFill>
                  <a:schemeClr val="accent2"/>
                </a:solidFill>
              </a:rPr>
              <a:t>(</a:t>
            </a:r>
            <a:r>
              <a:rPr lang="en-US" dirty="0" err="1">
                <a:solidFill>
                  <a:schemeClr val="accent2"/>
                </a:solidFill>
              </a:rPr>
              <a:t>deptno</a:t>
            </a:r>
            <a:r>
              <a:rPr lang="en-US" dirty="0">
                <a:solidFill>
                  <a:schemeClr val="accent2"/>
                </a:solidFill>
              </a:rPr>
              <a:t>);</a:t>
            </a:r>
          </a:p>
          <a:p>
            <a:pPr lvl="1">
              <a:defRPr/>
            </a:pPr>
            <a:r>
              <a:rPr lang="en-US" dirty="0">
                <a:solidFill>
                  <a:schemeClr val="accent2"/>
                </a:solidFill>
              </a:rPr>
              <a:t>Select </a:t>
            </a:r>
            <a:r>
              <a:rPr lang="en-US" dirty="0" err="1"/>
              <a:t>e</a:t>
            </a:r>
            <a:r>
              <a:rPr lang="en-US" dirty="0" err="1">
                <a:solidFill>
                  <a:schemeClr val="accent2"/>
                </a:solidFill>
              </a:rPr>
              <a:t>.empno</a:t>
            </a:r>
            <a:r>
              <a:rPr lang="en-US" dirty="0">
                <a:solidFill>
                  <a:schemeClr val="accent2"/>
                </a:solidFill>
              </a:rPr>
              <a:t>, </a:t>
            </a:r>
            <a:r>
              <a:rPr lang="en-US" dirty="0" err="1"/>
              <a:t>e.</a:t>
            </a:r>
            <a:r>
              <a:rPr lang="en-US" dirty="0" err="1">
                <a:solidFill>
                  <a:schemeClr val="accent2"/>
                </a:solidFill>
              </a:rPr>
              <a:t>ename</a:t>
            </a:r>
            <a:r>
              <a:rPr lang="en-US" dirty="0">
                <a:solidFill>
                  <a:schemeClr val="accent2"/>
                </a:solidFill>
              </a:rPr>
              <a:t>, </a:t>
            </a:r>
            <a:r>
              <a:rPr lang="en-US" dirty="0" err="1"/>
              <a:t>d</a:t>
            </a:r>
            <a:r>
              <a:rPr lang="en-US" dirty="0" err="1">
                <a:solidFill>
                  <a:schemeClr val="accent2"/>
                </a:solidFill>
              </a:rPr>
              <a:t>.deptno</a:t>
            </a:r>
            <a:r>
              <a:rPr lang="en-US" dirty="0">
                <a:solidFill>
                  <a:schemeClr val="accent2"/>
                </a:solidFill>
              </a:rPr>
              <a:t>, </a:t>
            </a:r>
            <a:r>
              <a:rPr lang="en-US" dirty="0" err="1"/>
              <a:t>d.</a:t>
            </a:r>
            <a:r>
              <a:rPr lang="en-US" dirty="0" err="1">
                <a:solidFill>
                  <a:schemeClr val="accent2"/>
                </a:solidFill>
              </a:rPr>
              <a:t>dname</a:t>
            </a:r>
            <a:endParaRPr lang="en-US" dirty="0">
              <a:solidFill>
                <a:schemeClr val="accent2"/>
              </a:solidFill>
            </a:endParaRPr>
          </a:p>
          <a:p>
            <a:pPr marL="457200" lvl="1" indent="4763">
              <a:buFontTx/>
              <a:buNone/>
              <a:defRPr/>
            </a:pPr>
            <a:r>
              <a:rPr lang="en-US" dirty="0">
                <a:solidFill>
                  <a:schemeClr val="accent2"/>
                </a:solidFill>
              </a:rPr>
              <a:t>    from </a:t>
            </a:r>
            <a:r>
              <a:rPr lang="en-US" dirty="0">
                <a:solidFill>
                  <a:srgbClr val="FF0000"/>
                </a:solidFill>
              </a:rPr>
              <a:t>emp </a:t>
            </a:r>
            <a:r>
              <a:rPr lang="en-US" dirty="0"/>
              <a:t>e</a:t>
            </a:r>
            <a:r>
              <a:rPr lang="en-US" dirty="0">
                <a:solidFill>
                  <a:srgbClr val="FF0000"/>
                </a:solidFill>
              </a:rPr>
              <a:t> JOIN dept </a:t>
            </a:r>
            <a:r>
              <a:rPr lang="en-US" dirty="0"/>
              <a:t>d</a:t>
            </a:r>
          </a:p>
          <a:p>
            <a:pPr marL="457200" lvl="1" indent="0">
              <a:buFontTx/>
              <a:buNone/>
              <a:defRPr/>
            </a:pPr>
            <a:r>
              <a:rPr lang="en-US" dirty="0">
                <a:solidFill>
                  <a:srgbClr val="FF0000"/>
                </a:solidFill>
              </a:rPr>
              <a:t>    ON </a:t>
            </a:r>
            <a:r>
              <a:rPr lang="en-US" dirty="0" err="1"/>
              <a:t>e</a:t>
            </a:r>
            <a:r>
              <a:rPr lang="en-US" dirty="0" err="1">
                <a:solidFill>
                  <a:schemeClr val="accent2"/>
                </a:solidFill>
              </a:rPr>
              <a:t>.deptno</a:t>
            </a:r>
            <a:r>
              <a:rPr lang="en-US" dirty="0">
                <a:solidFill>
                  <a:schemeClr val="accent2"/>
                </a:solidFill>
              </a:rPr>
              <a:t> = </a:t>
            </a:r>
            <a:r>
              <a:rPr lang="en-US" dirty="0" err="1"/>
              <a:t>d</a:t>
            </a:r>
            <a:r>
              <a:rPr lang="en-US" dirty="0" err="1">
                <a:solidFill>
                  <a:schemeClr val="accent2"/>
                </a:solidFill>
              </a:rPr>
              <a:t>.deptno</a:t>
            </a:r>
            <a:r>
              <a:rPr lang="en-US" dirty="0">
                <a:solidFill>
                  <a:schemeClr val="accent2"/>
                </a:solidFill>
              </a:rPr>
              <a:t>;	</a:t>
            </a:r>
          </a:p>
          <a:p>
            <a:pPr marL="457200" lvl="1" indent="0">
              <a:buFontTx/>
              <a:buNone/>
              <a:defRPr/>
            </a:pPr>
            <a:endParaRPr lang="en-US" dirty="0">
              <a:solidFill>
                <a:schemeClr val="accent2"/>
              </a:solidFill>
            </a:endParaRPr>
          </a:p>
          <a:p>
            <a:pPr marL="457200" lvl="1" indent="0">
              <a:buFontTx/>
              <a:buNone/>
              <a:defRPr/>
            </a:pPr>
            <a:endParaRPr lang="en-US" dirty="0">
              <a:solidFill>
                <a:schemeClr val="accent2"/>
              </a:solidFill>
            </a:endParaRPr>
          </a:p>
          <a:p>
            <a:pPr marL="457200" lvl="1" indent="0">
              <a:buFontTx/>
              <a:buNone/>
              <a:defRPr/>
            </a:pPr>
            <a:r>
              <a:rPr lang="en-US" dirty="0">
                <a:solidFill>
                  <a:schemeClr val="accent2"/>
                </a:solidFill>
              </a:rPr>
              <a:t>	</a:t>
            </a:r>
          </a:p>
          <a:p>
            <a:pPr marL="57150" indent="0">
              <a:buFontTx/>
              <a:buNone/>
              <a:defRPr/>
            </a:pPr>
            <a:endParaRPr lang="en-US" sz="1400"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034A6C3-8FCD-C939-8DF5-D51C73B7ADA9}"/>
              </a:ext>
            </a:extLst>
          </p:cNvPr>
          <p:cNvSpPr>
            <a:spLocks noChangeArrowheads="1"/>
          </p:cNvSpPr>
          <p:nvPr/>
        </p:nvSpPr>
        <p:spPr bwMode="blackWhite">
          <a:xfrm>
            <a:off x="889000" y="1509713"/>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25603" name="Rectangle 3">
            <a:extLst>
              <a:ext uri="{FF2B5EF4-FFF2-40B4-BE49-F238E27FC236}">
                <a16:creationId xmlns:a16="http://schemas.microsoft.com/office/drawing/2014/main" id="{7F8CDFA1-81BB-05B2-5B0B-FD1EC7074ED8}"/>
              </a:ext>
            </a:extLst>
          </p:cNvPr>
          <p:cNvSpPr>
            <a:spLocks noChangeArrowheads="1"/>
          </p:cNvSpPr>
          <p:nvPr/>
        </p:nvSpPr>
        <p:spPr bwMode="blackWhite">
          <a:xfrm>
            <a:off x="887413" y="3070225"/>
            <a:ext cx="7304087"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5604" name="Rectangle 4">
            <a:extLst>
              <a:ext uri="{FF2B5EF4-FFF2-40B4-BE49-F238E27FC236}">
                <a16:creationId xmlns:a16="http://schemas.microsoft.com/office/drawing/2014/main" id="{AF13B400-3CF6-A697-FD7A-880B23C3941B}"/>
              </a:ext>
            </a:extLst>
          </p:cNvPr>
          <p:cNvSpPr>
            <a:spLocks noGrp="1" noChangeArrowheads="1"/>
          </p:cNvSpPr>
          <p:nvPr>
            <p:ph type="title"/>
          </p:nvPr>
        </p:nvSpPr>
        <p:spPr>
          <a:xfrm>
            <a:off x="433388" y="692150"/>
            <a:ext cx="8277225" cy="393700"/>
          </a:xfrm>
          <a:noFill/>
        </p:spPr>
        <p:txBody>
          <a:bodyPr lIns="92075" tIns="46038" rIns="92075" bIns="46038" anchor="t"/>
          <a:lstStyle/>
          <a:p>
            <a:r>
              <a:rPr lang="en-US" altLang="en-US" sz="2800">
                <a:solidFill>
                  <a:srgbClr val="800000"/>
                </a:solidFill>
              </a:rPr>
              <a:t>Retrieving Records with Equijoin</a:t>
            </a:r>
          </a:p>
        </p:txBody>
      </p:sp>
      <p:sp>
        <p:nvSpPr>
          <p:cNvPr id="25605" name="Rectangle 7">
            <a:extLst>
              <a:ext uri="{FF2B5EF4-FFF2-40B4-BE49-F238E27FC236}">
                <a16:creationId xmlns:a16="http://schemas.microsoft.com/office/drawing/2014/main" id="{5259CCDF-BB6A-4F53-2F6F-BA7FC475AEBF}"/>
              </a:ext>
            </a:extLst>
          </p:cNvPr>
          <p:cNvSpPr>
            <a:spLocks noChangeArrowheads="1"/>
          </p:cNvSpPr>
          <p:nvPr/>
        </p:nvSpPr>
        <p:spPr bwMode="ltGray">
          <a:xfrm>
            <a:off x="2762250" y="3140075"/>
            <a:ext cx="1944688" cy="166846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5606" name="Rectangle 8">
            <a:extLst>
              <a:ext uri="{FF2B5EF4-FFF2-40B4-BE49-F238E27FC236}">
                <a16:creationId xmlns:a16="http://schemas.microsoft.com/office/drawing/2014/main" id="{4D1EDA57-322F-DA1E-0BF6-CD96F81755F9}"/>
              </a:ext>
            </a:extLst>
          </p:cNvPr>
          <p:cNvSpPr>
            <a:spLocks noChangeArrowheads="1"/>
          </p:cNvSpPr>
          <p:nvPr/>
        </p:nvSpPr>
        <p:spPr bwMode="blackWhite">
          <a:xfrm>
            <a:off x="895350" y="1484313"/>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dept.loc</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emp INNER JOIN dept</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a:t>
            </a:r>
          </a:p>
        </p:txBody>
      </p:sp>
      <p:sp>
        <p:nvSpPr>
          <p:cNvPr id="25607" name="Rectangle 9">
            <a:extLst>
              <a:ext uri="{FF2B5EF4-FFF2-40B4-BE49-F238E27FC236}">
                <a16:creationId xmlns:a16="http://schemas.microsoft.com/office/drawing/2014/main" id="{5B599EC0-8BA8-28B3-2B58-50C93329F258}"/>
              </a:ext>
            </a:extLst>
          </p:cNvPr>
          <p:cNvSpPr>
            <a:spLocks noChangeArrowheads="1"/>
          </p:cNvSpPr>
          <p:nvPr/>
        </p:nvSpPr>
        <p:spPr bwMode="blackWhite">
          <a:xfrm>
            <a:off x="919163" y="3082925"/>
            <a:ext cx="7278687"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24003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24003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EMPNO ENAME 	DEPTNO DEPTNO LOC</a:t>
            </a:r>
          </a:p>
          <a:p>
            <a:pPr>
              <a:spcBef>
                <a:spcPct val="0"/>
              </a:spcBef>
              <a:buFontTx/>
              <a:buNone/>
            </a:pPr>
            <a:r>
              <a:rPr lang="en-US" altLang="en-US" sz="1800" b="1">
                <a:solidFill>
                  <a:srgbClr val="000000"/>
                </a:solidFill>
                <a:latin typeface="Courier New" panose="02070309020205020404" pitchFamily="49" charset="0"/>
              </a:rPr>
              <a:t>----- ------ ------ ------ ---------</a:t>
            </a:r>
          </a:p>
          <a:p>
            <a:pPr>
              <a:spcBef>
                <a:spcPct val="0"/>
              </a:spcBef>
              <a:buFontTx/>
              <a:buNone/>
            </a:pPr>
            <a:r>
              <a:rPr lang="en-US" altLang="en-US" sz="1800" b="1">
                <a:solidFill>
                  <a:srgbClr val="000000"/>
                </a:solidFill>
                <a:latin typeface="Courier New" panose="02070309020205020404" pitchFamily="49" charset="0"/>
              </a:rPr>
              <a:t> 7839 KING	    	10     10 NEW YORK</a:t>
            </a:r>
          </a:p>
          <a:p>
            <a:pPr>
              <a:spcBef>
                <a:spcPct val="0"/>
              </a:spcBef>
              <a:buFontTx/>
              <a:buNone/>
            </a:pPr>
            <a:r>
              <a:rPr lang="en-US" altLang="en-US" sz="1800" b="1">
                <a:solidFill>
                  <a:srgbClr val="000000"/>
                </a:solidFill>
                <a:latin typeface="Courier New" panose="02070309020205020404" pitchFamily="49" charset="0"/>
              </a:rPr>
              <a:t> 7698 BLAKE  	    	30     30 CHICAGO</a:t>
            </a:r>
          </a:p>
          <a:p>
            <a:pPr>
              <a:spcBef>
                <a:spcPct val="0"/>
              </a:spcBef>
              <a:buFontTx/>
              <a:buNone/>
            </a:pPr>
            <a:r>
              <a:rPr lang="en-US" altLang="en-US" sz="1800" b="1">
                <a:solidFill>
                  <a:srgbClr val="000000"/>
                </a:solidFill>
                <a:latin typeface="Courier New" panose="02070309020205020404" pitchFamily="49" charset="0"/>
              </a:rPr>
              <a:t> 7782 CLARK	    	10     10 NEW YORK</a:t>
            </a:r>
          </a:p>
          <a:p>
            <a:pPr>
              <a:spcBef>
                <a:spcPct val="0"/>
              </a:spcBef>
              <a:buFontTx/>
              <a:buNone/>
            </a:pPr>
            <a:r>
              <a:rPr lang="en-US" altLang="en-US" sz="1800" b="1">
                <a:solidFill>
                  <a:srgbClr val="000000"/>
                </a:solidFill>
                <a:latin typeface="Courier New" panose="02070309020205020404" pitchFamily="49" charset="0"/>
              </a:rPr>
              <a:t> 7566 JONES      	20     20 DALLAS</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14 rows selected.</a:t>
            </a:r>
          </a:p>
        </p:txBody>
      </p:sp>
      <p:sp>
        <p:nvSpPr>
          <p:cNvPr id="25608" name="Rectangle 6">
            <a:extLst>
              <a:ext uri="{FF2B5EF4-FFF2-40B4-BE49-F238E27FC236}">
                <a16:creationId xmlns:a16="http://schemas.microsoft.com/office/drawing/2014/main" id="{CF6C7056-BBC5-EDE6-2FA4-9444D096AC18}"/>
              </a:ext>
            </a:extLst>
          </p:cNvPr>
          <p:cNvSpPr>
            <a:spLocks noChangeArrowheads="1"/>
          </p:cNvSpPr>
          <p:nvPr/>
        </p:nvSpPr>
        <p:spPr bwMode="ltGray">
          <a:xfrm>
            <a:off x="2195513" y="2362200"/>
            <a:ext cx="3455987" cy="28098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8EC0797-D0C7-E5E5-A54C-3DEB17A58CCF}"/>
              </a:ext>
            </a:extLst>
          </p:cNvPr>
          <p:cNvSpPr>
            <a:spLocks noChangeArrowheads="1"/>
          </p:cNvSpPr>
          <p:nvPr/>
        </p:nvSpPr>
        <p:spPr bwMode="blackWhite">
          <a:xfrm>
            <a:off x="906463" y="1982788"/>
            <a:ext cx="7316787" cy="13573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33795" name="Rectangle 3">
            <a:extLst>
              <a:ext uri="{FF2B5EF4-FFF2-40B4-BE49-F238E27FC236}">
                <a16:creationId xmlns:a16="http://schemas.microsoft.com/office/drawing/2014/main" id="{518BC930-D60C-487A-8BD6-091F5F34258B}"/>
              </a:ext>
            </a:extLst>
          </p:cNvPr>
          <p:cNvSpPr>
            <a:spLocks noChangeArrowheads="1"/>
          </p:cNvSpPr>
          <p:nvPr/>
        </p:nvSpPr>
        <p:spPr bwMode="blackWhite">
          <a:xfrm>
            <a:off x="909638" y="3833813"/>
            <a:ext cx="7294562" cy="13700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33796" name="Rectangle 4">
            <a:extLst>
              <a:ext uri="{FF2B5EF4-FFF2-40B4-BE49-F238E27FC236}">
                <a16:creationId xmlns:a16="http://schemas.microsoft.com/office/drawing/2014/main" id="{37F1FA73-BA31-4FF0-67C3-CE49F3E6B705}"/>
              </a:ext>
            </a:extLst>
          </p:cNvPr>
          <p:cNvSpPr>
            <a:spLocks noGrp="1" noChangeArrowheads="1"/>
          </p:cNvSpPr>
          <p:nvPr>
            <p:ph type="title"/>
          </p:nvPr>
        </p:nvSpPr>
        <p:spPr>
          <a:xfrm>
            <a:off x="323850" y="588963"/>
            <a:ext cx="3490913" cy="536575"/>
          </a:xfrm>
          <a:noFill/>
        </p:spPr>
        <p:txBody>
          <a:bodyPr lIns="92075" tIns="46038" rIns="92075" bIns="46038" anchor="t"/>
          <a:lstStyle/>
          <a:p>
            <a:r>
              <a:rPr lang="en-US" altLang="en-US" sz="2800">
                <a:solidFill>
                  <a:srgbClr val="800000"/>
                </a:solidFill>
              </a:rPr>
              <a:t>Using Table Aliases</a:t>
            </a:r>
          </a:p>
        </p:txBody>
      </p:sp>
      <p:sp>
        <p:nvSpPr>
          <p:cNvPr id="33797" name="Rectangle 5">
            <a:extLst>
              <a:ext uri="{FF2B5EF4-FFF2-40B4-BE49-F238E27FC236}">
                <a16:creationId xmlns:a16="http://schemas.microsoft.com/office/drawing/2014/main" id="{2248A248-59B0-535B-D46A-3F0AD36B5B3E}"/>
              </a:ext>
            </a:extLst>
          </p:cNvPr>
          <p:cNvSpPr>
            <a:spLocks noGrp="1" noChangeArrowheads="1"/>
          </p:cNvSpPr>
          <p:nvPr>
            <p:ph type="body" idx="1"/>
          </p:nvPr>
        </p:nvSpPr>
        <p:spPr>
          <a:xfrm>
            <a:off x="468313" y="1300163"/>
            <a:ext cx="7385050" cy="519112"/>
          </a:xfrm>
          <a:noFill/>
        </p:spPr>
        <p:txBody>
          <a:bodyPr lIns="92075" tIns="46038" rIns="92075" bIns="46038">
            <a:spAutoFit/>
          </a:bodyPr>
          <a:lstStyle/>
          <a:p>
            <a:r>
              <a:rPr lang="en-US" altLang="en-US"/>
              <a:t>Simplify queries by using table aliases.</a:t>
            </a:r>
          </a:p>
        </p:txBody>
      </p:sp>
      <p:grpSp>
        <p:nvGrpSpPr>
          <p:cNvPr id="2" name="Group 6">
            <a:extLst>
              <a:ext uri="{FF2B5EF4-FFF2-40B4-BE49-F238E27FC236}">
                <a16:creationId xmlns:a16="http://schemas.microsoft.com/office/drawing/2014/main" id="{B6A680F8-95BA-B5DB-5909-2785934C280A}"/>
              </a:ext>
            </a:extLst>
          </p:cNvPr>
          <p:cNvGrpSpPr>
            <a:grpSpLocks/>
          </p:cNvGrpSpPr>
          <p:nvPr/>
        </p:nvGrpSpPr>
        <p:grpSpPr bwMode="auto">
          <a:xfrm>
            <a:off x="2581275" y="2371725"/>
            <a:ext cx="2395538" cy="2813050"/>
            <a:chOff x="1626" y="1494"/>
            <a:chExt cx="1509" cy="1772"/>
          </a:xfrm>
        </p:grpSpPr>
        <p:sp>
          <p:nvSpPr>
            <p:cNvPr id="33801" name="Rectangle 7">
              <a:extLst>
                <a:ext uri="{FF2B5EF4-FFF2-40B4-BE49-F238E27FC236}">
                  <a16:creationId xmlns:a16="http://schemas.microsoft.com/office/drawing/2014/main" id="{D68DE761-7230-4195-8574-B07CF3337704}"/>
                </a:ext>
              </a:extLst>
            </p:cNvPr>
            <p:cNvSpPr>
              <a:spLocks noChangeArrowheads="1"/>
            </p:cNvSpPr>
            <p:nvPr/>
          </p:nvSpPr>
          <p:spPr bwMode="ltGray">
            <a:xfrm>
              <a:off x="1647" y="2660"/>
              <a:ext cx="129"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2" name="Rectangle 8">
              <a:extLst>
                <a:ext uri="{FF2B5EF4-FFF2-40B4-BE49-F238E27FC236}">
                  <a16:creationId xmlns:a16="http://schemas.microsoft.com/office/drawing/2014/main" id="{961977F8-484B-D9B4-737B-2356E697BCB0}"/>
                </a:ext>
              </a:extLst>
            </p:cNvPr>
            <p:cNvSpPr>
              <a:spLocks noChangeArrowheads="1"/>
            </p:cNvSpPr>
            <p:nvPr/>
          </p:nvSpPr>
          <p:spPr bwMode="ltGray">
            <a:xfrm>
              <a:off x="2511" y="2660"/>
              <a:ext cx="129"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3" name="Rectangle 9">
              <a:extLst>
                <a:ext uri="{FF2B5EF4-FFF2-40B4-BE49-F238E27FC236}">
                  <a16:creationId xmlns:a16="http://schemas.microsoft.com/office/drawing/2014/main" id="{B9D96136-DD81-D6DA-24A0-4D16B865D344}"/>
                </a:ext>
              </a:extLst>
            </p:cNvPr>
            <p:cNvSpPr>
              <a:spLocks noChangeArrowheads="1"/>
            </p:cNvSpPr>
            <p:nvPr/>
          </p:nvSpPr>
          <p:spPr bwMode="ltGray">
            <a:xfrm>
              <a:off x="2262" y="2876"/>
              <a:ext cx="552"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4" name="Rectangle 10">
              <a:extLst>
                <a:ext uri="{FF2B5EF4-FFF2-40B4-BE49-F238E27FC236}">
                  <a16:creationId xmlns:a16="http://schemas.microsoft.com/office/drawing/2014/main" id="{A2A9DFC8-92DC-EE9A-B49F-07EC4087962F}"/>
                </a:ext>
              </a:extLst>
            </p:cNvPr>
            <p:cNvSpPr>
              <a:spLocks noChangeArrowheads="1"/>
            </p:cNvSpPr>
            <p:nvPr/>
          </p:nvSpPr>
          <p:spPr bwMode="ltGray">
            <a:xfrm>
              <a:off x="2442" y="3086"/>
              <a:ext cx="114"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5" name="Rectangle 11">
              <a:extLst>
                <a:ext uri="{FF2B5EF4-FFF2-40B4-BE49-F238E27FC236}">
                  <a16:creationId xmlns:a16="http://schemas.microsoft.com/office/drawing/2014/main" id="{26492039-753F-9B84-503A-8300625B6D61}"/>
                </a:ext>
              </a:extLst>
            </p:cNvPr>
            <p:cNvSpPr>
              <a:spLocks noChangeArrowheads="1"/>
            </p:cNvSpPr>
            <p:nvPr/>
          </p:nvSpPr>
          <p:spPr bwMode="ltGray">
            <a:xfrm>
              <a:off x="1626" y="1494"/>
              <a:ext cx="384"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6" name="Rectangle 12">
              <a:extLst>
                <a:ext uri="{FF2B5EF4-FFF2-40B4-BE49-F238E27FC236}">
                  <a16:creationId xmlns:a16="http://schemas.microsoft.com/office/drawing/2014/main" id="{E0BC6E9A-F6D9-2BFE-EECE-D349570B153D}"/>
                </a:ext>
              </a:extLst>
            </p:cNvPr>
            <p:cNvSpPr>
              <a:spLocks noChangeArrowheads="1"/>
            </p:cNvSpPr>
            <p:nvPr/>
          </p:nvSpPr>
          <p:spPr bwMode="ltGray">
            <a:xfrm>
              <a:off x="2751" y="1494"/>
              <a:ext cx="384"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7" name="Rectangle 13">
              <a:extLst>
                <a:ext uri="{FF2B5EF4-FFF2-40B4-BE49-F238E27FC236}">
                  <a16:creationId xmlns:a16="http://schemas.microsoft.com/office/drawing/2014/main" id="{408D5983-2A9F-91ED-A851-D15BD86DF2FB}"/>
                </a:ext>
              </a:extLst>
            </p:cNvPr>
            <p:cNvSpPr>
              <a:spLocks noChangeArrowheads="1"/>
            </p:cNvSpPr>
            <p:nvPr/>
          </p:nvSpPr>
          <p:spPr bwMode="ltGray">
            <a:xfrm>
              <a:off x="2082" y="1707"/>
              <a:ext cx="384"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3808" name="Rectangle 14">
              <a:extLst>
                <a:ext uri="{FF2B5EF4-FFF2-40B4-BE49-F238E27FC236}">
                  <a16:creationId xmlns:a16="http://schemas.microsoft.com/office/drawing/2014/main" id="{11BFC986-FF4E-0ED6-F3C9-27C357230509}"/>
                </a:ext>
              </a:extLst>
            </p:cNvPr>
            <p:cNvSpPr>
              <a:spLocks noChangeArrowheads="1"/>
            </p:cNvSpPr>
            <p:nvPr/>
          </p:nvSpPr>
          <p:spPr bwMode="ltGray">
            <a:xfrm>
              <a:off x="2619" y="1908"/>
              <a:ext cx="366"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3799" name="Rectangle 15">
            <a:extLst>
              <a:ext uri="{FF2B5EF4-FFF2-40B4-BE49-F238E27FC236}">
                <a16:creationId xmlns:a16="http://schemas.microsoft.com/office/drawing/2014/main" id="{4AF24895-2E86-065E-62F9-B84EBAFF171D}"/>
              </a:ext>
            </a:extLst>
          </p:cNvPr>
          <p:cNvSpPr>
            <a:spLocks noChangeArrowheads="1"/>
          </p:cNvSpPr>
          <p:nvPr/>
        </p:nvSpPr>
        <p:spPr bwMode="blackWhite">
          <a:xfrm>
            <a:off x="887413" y="1970088"/>
            <a:ext cx="7342187"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emp.empno, emp.ename, emp.deptno,  </a:t>
            </a:r>
          </a:p>
          <a:p>
            <a:pPr>
              <a:lnSpc>
                <a:spcPct val="120000"/>
              </a:lnSpc>
              <a:spcBef>
                <a:spcPct val="0"/>
              </a:spcBef>
              <a:buFontTx/>
              <a:buNone/>
            </a:pPr>
            <a:r>
              <a:rPr lang="en-US" altLang="en-US" sz="1800" b="1">
                <a:solidFill>
                  <a:srgbClr val="000000"/>
                </a:solidFill>
                <a:latin typeface="Courier New" panose="02070309020205020404" pitchFamily="49" charset="0"/>
              </a:rPr>
              <a:t>  2	   dept.deptno, dept.loc</a:t>
            </a:r>
          </a:p>
          <a:p>
            <a:pPr>
              <a:lnSpc>
                <a:spcPct val="120000"/>
              </a:lnSpc>
              <a:spcBef>
                <a:spcPct val="0"/>
              </a:spcBef>
              <a:buFontTx/>
              <a:buNone/>
            </a:pPr>
            <a:r>
              <a:rPr lang="en-US" altLang="en-US" sz="1800" b="1">
                <a:solidFill>
                  <a:srgbClr val="000000"/>
                </a:solidFill>
                <a:latin typeface="Courier New" panose="02070309020205020404" pitchFamily="49" charset="0"/>
              </a:rPr>
              <a:t>  3  FROM   emp, dept</a:t>
            </a:r>
          </a:p>
          <a:p>
            <a:pPr>
              <a:lnSpc>
                <a:spcPct val="120000"/>
              </a:lnSpc>
              <a:spcBef>
                <a:spcPct val="0"/>
              </a:spcBef>
              <a:buFontTx/>
              <a:buNone/>
            </a:pPr>
            <a:r>
              <a:rPr lang="en-US" altLang="en-US" sz="1800" b="1">
                <a:solidFill>
                  <a:srgbClr val="000000"/>
                </a:solidFill>
                <a:latin typeface="Courier New" panose="02070309020205020404" pitchFamily="49" charset="0"/>
              </a:rPr>
              <a:t>  4  WHERE  emp.deptno=dept.deptno;</a:t>
            </a:r>
          </a:p>
        </p:txBody>
      </p:sp>
      <p:sp>
        <p:nvSpPr>
          <p:cNvPr id="33800" name="Rectangle 16">
            <a:extLst>
              <a:ext uri="{FF2B5EF4-FFF2-40B4-BE49-F238E27FC236}">
                <a16:creationId xmlns:a16="http://schemas.microsoft.com/office/drawing/2014/main" id="{66332001-17A8-3CC5-A265-ED88F1ADF7E1}"/>
              </a:ext>
            </a:extLst>
          </p:cNvPr>
          <p:cNvSpPr>
            <a:spLocks noChangeArrowheads="1"/>
          </p:cNvSpPr>
          <p:nvPr/>
        </p:nvSpPr>
        <p:spPr bwMode="blackWhite">
          <a:xfrm>
            <a:off x="890588" y="3821113"/>
            <a:ext cx="7319962"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e.empno, e.ename, e.deptno,   </a:t>
            </a:r>
          </a:p>
          <a:p>
            <a:pPr>
              <a:lnSpc>
                <a:spcPct val="120000"/>
              </a:lnSpc>
              <a:spcBef>
                <a:spcPct val="0"/>
              </a:spcBef>
              <a:buFontTx/>
              <a:buNone/>
            </a:pPr>
            <a:r>
              <a:rPr lang="en-US" altLang="en-US" sz="1800" b="1">
                <a:solidFill>
                  <a:srgbClr val="000000"/>
                </a:solidFill>
                <a:latin typeface="Courier New" panose="02070309020205020404" pitchFamily="49" charset="0"/>
              </a:rPr>
              <a:t>  2         d.deptno, d.loc</a:t>
            </a:r>
          </a:p>
          <a:p>
            <a:pPr>
              <a:lnSpc>
                <a:spcPct val="120000"/>
              </a:lnSpc>
              <a:spcBef>
                <a:spcPct val="0"/>
              </a:spcBef>
              <a:buFontTx/>
              <a:buNone/>
            </a:pPr>
            <a:r>
              <a:rPr lang="en-US" altLang="en-US" sz="1800" b="1">
                <a:solidFill>
                  <a:srgbClr val="000000"/>
                </a:solidFill>
                <a:latin typeface="Courier New" panose="02070309020205020404" pitchFamily="49" charset="0"/>
              </a:rPr>
              <a:t>  3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4  WHERE  e.deptno=d.deptno;</a:t>
            </a:r>
          </a:p>
        </p:txBody>
      </p:sp>
    </p:spTree>
    <p:extLst>
      <p:ext uri="{BB962C8B-B14F-4D97-AF65-F5344CB8AC3E}">
        <p14:creationId xmlns:p14="http://schemas.microsoft.com/office/powerpoint/2010/main" val="13976438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3A7F6D0-C113-9515-E752-385BFC87F800}"/>
              </a:ext>
            </a:extLst>
          </p:cNvPr>
          <p:cNvSpPr>
            <a:spLocks noGrp="1" noChangeArrowheads="1"/>
          </p:cNvSpPr>
          <p:nvPr>
            <p:ph type="title"/>
          </p:nvPr>
        </p:nvSpPr>
        <p:spPr>
          <a:xfrm>
            <a:off x="323850" y="692150"/>
            <a:ext cx="8597900" cy="504825"/>
          </a:xfrm>
          <a:noFill/>
        </p:spPr>
        <p:txBody>
          <a:bodyPr lIns="92075" tIns="46038" rIns="92075" bIns="46038" anchor="t"/>
          <a:lstStyle/>
          <a:p>
            <a:r>
              <a:rPr lang="en-US" altLang="en-US" sz="2800">
                <a:solidFill>
                  <a:srgbClr val="800000"/>
                </a:solidFill>
              </a:rPr>
              <a:t>Ambiguous Column Names</a:t>
            </a:r>
          </a:p>
        </p:txBody>
      </p:sp>
      <p:sp>
        <p:nvSpPr>
          <p:cNvPr id="27651" name="Rectangle 5">
            <a:extLst>
              <a:ext uri="{FF2B5EF4-FFF2-40B4-BE49-F238E27FC236}">
                <a16:creationId xmlns:a16="http://schemas.microsoft.com/office/drawing/2014/main" id="{B2FCA86C-E8B1-C40D-91CF-B5DD52953D5C}"/>
              </a:ext>
            </a:extLst>
          </p:cNvPr>
          <p:cNvSpPr>
            <a:spLocks noChangeArrowheads="1"/>
          </p:cNvSpPr>
          <p:nvPr/>
        </p:nvSpPr>
        <p:spPr bwMode="blackWhite">
          <a:xfrm>
            <a:off x="712788" y="2802880"/>
            <a:ext cx="7137400"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empno, deptno, dname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ORA-00918: column ambiguously define</a:t>
            </a:r>
          </a:p>
        </p:txBody>
      </p:sp>
      <p:sp>
        <p:nvSpPr>
          <p:cNvPr id="27652" name="Rectangle 2">
            <a:extLst>
              <a:ext uri="{FF2B5EF4-FFF2-40B4-BE49-F238E27FC236}">
                <a16:creationId xmlns:a16="http://schemas.microsoft.com/office/drawing/2014/main" id="{D58DC154-E141-A555-6157-E489FC241654}"/>
              </a:ext>
            </a:extLst>
          </p:cNvPr>
          <p:cNvSpPr>
            <a:spLocks noChangeArrowheads="1"/>
          </p:cNvSpPr>
          <p:nvPr/>
        </p:nvSpPr>
        <p:spPr bwMode="blackWhite">
          <a:xfrm>
            <a:off x="684213" y="1339850"/>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27653" name="Rectangle 8">
            <a:extLst>
              <a:ext uri="{FF2B5EF4-FFF2-40B4-BE49-F238E27FC236}">
                <a16:creationId xmlns:a16="http://schemas.microsoft.com/office/drawing/2014/main" id="{65D2DCAC-01B2-DDF6-8A07-A3F3E447F0B6}"/>
              </a:ext>
            </a:extLst>
          </p:cNvPr>
          <p:cNvSpPr>
            <a:spLocks noChangeArrowheads="1"/>
          </p:cNvSpPr>
          <p:nvPr/>
        </p:nvSpPr>
        <p:spPr bwMode="blackWhite">
          <a:xfrm>
            <a:off x="690563" y="1314450"/>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FROM  emp INNER JOIN dept</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a:t>
            </a:r>
          </a:p>
        </p:txBody>
      </p:sp>
      <p:sp>
        <p:nvSpPr>
          <p:cNvPr id="27654" name="Rectangle 6">
            <a:extLst>
              <a:ext uri="{FF2B5EF4-FFF2-40B4-BE49-F238E27FC236}">
                <a16:creationId xmlns:a16="http://schemas.microsoft.com/office/drawing/2014/main" id="{E2B0EF95-E871-EFF2-51BC-C7343113E571}"/>
              </a:ext>
            </a:extLst>
          </p:cNvPr>
          <p:cNvSpPr>
            <a:spLocks noChangeArrowheads="1"/>
          </p:cNvSpPr>
          <p:nvPr/>
        </p:nvSpPr>
        <p:spPr bwMode="ltGray">
          <a:xfrm>
            <a:off x="1990725" y="2133600"/>
            <a:ext cx="3455988" cy="28098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21190" name="Rectangle 6">
            <a:extLst>
              <a:ext uri="{FF2B5EF4-FFF2-40B4-BE49-F238E27FC236}">
                <a16:creationId xmlns:a16="http://schemas.microsoft.com/office/drawing/2014/main" id="{B2597DE3-36C9-5A7C-271F-B95B4D005A96}"/>
              </a:ext>
            </a:extLst>
          </p:cNvPr>
          <p:cNvSpPr>
            <a:spLocks noChangeArrowheads="1"/>
          </p:cNvSpPr>
          <p:nvPr/>
        </p:nvSpPr>
        <p:spPr bwMode="auto">
          <a:xfrm rot="20435015">
            <a:off x="3781812" y="2409580"/>
            <a:ext cx="5165725" cy="461963"/>
          </a:xfrm>
          <a:prstGeom prst="rect">
            <a:avLst/>
          </a:prstGeom>
          <a:noFill/>
          <a:ln w="9525">
            <a:noFill/>
            <a:miter lim="800000"/>
            <a:headEnd/>
            <a:tailEnd/>
          </a:ln>
          <a:effectLst>
            <a:outerShdw dist="53882" dir="2700000" algn="ctr" rotWithShape="0">
              <a:srgbClr val="000000">
                <a:alpha val="50000"/>
              </a:srgbClr>
            </a:outerShdw>
          </a:effectLst>
        </p:spPr>
        <p:txBody>
          <a:bodyPr lIns="92075" tIns="46038" rIns="92075" bIns="46038">
            <a:spAutoFit/>
          </a:bodyPr>
          <a:lstStyle/>
          <a:p>
            <a:pPr>
              <a:defRPr/>
            </a:pPr>
            <a:r>
              <a:rPr lang="en-US" b="1" dirty="0">
                <a:solidFill>
                  <a:srgbClr val="FF0000"/>
                </a:solidFill>
                <a:effectLst>
                  <a:outerShdw blurRad="38100" dist="38100" dir="2700000" algn="tl">
                    <a:srgbClr val="000000"/>
                  </a:outerShdw>
                </a:effectLst>
                <a:latin typeface="Arial" charset="0"/>
              </a:rPr>
              <a:t>same column name in two tables</a:t>
            </a:r>
          </a:p>
        </p:txBody>
      </p:sp>
      <p:sp>
        <p:nvSpPr>
          <p:cNvPr id="2" name="Rectangle 3">
            <a:extLst>
              <a:ext uri="{FF2B5EF4-FFF2-40B4-BE49-F238E27FC236}">
                <a16:creationId xmlns:a16="http://schemas.microsoft.com/office/drawing/2014/main" id="{D38C0988-F1A4-0FBE-8C46-AAED3B21991D}"/>
              </a:ext>
            </a:extLst>
          </p:cNvPr>
          <p:cNvSpPr txBox="1">
            <a:spLocks noChangeArrowheads="1"/>
          </p:cNvSpPr>
          <p:nvPr/>
        </p:nvSpPr>
        <p:spPr bwMode="auto">
          <a:xfrm>
            <a:off x="431800" y="4293096"/>
            <a:ext cx="8135938"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marL="403225" lvl="1" indent="-284163" algn="just">
              <a:buFont typeface="Arial" panose="020B0604020202020204" pitchFamily="34" charset="0"/>
              <a:buChar char="•"/>
            </a:pPr>
            <a:r>
              <a:rPr lang="en-US" altLang="en-US" kern="0" dirty="0">
                <a:latin typeface="Calibri" panose="020F0502020204030204" pitchFamily="34" charset="0"/>
                <a:cs typeface="Calibri" panose="020F0502020204030204" pitchFamily="34" charset="0"/>
              </a:rPr>
              <a:t>Use table prefixes to qualify column names that are in multiple tables.</a:t>
            </a:r>
          </a:p>
        </p:txBody>
      </p:sp>
      <p:sp>
        <p:nvSpPr>
          <p:cNvPr id="3" name="Rectangle 2">
            <a:extLst>
              <a:ext uri="{FF2B5EF4-FFF2-40B4-BE49-F238E27FC236}">
                <a16:creationId xmlns:a16="http://schemas.microsoft.com/office/drawing/2014/main" id="{BDECE859-C054-F4F9-B62B-F39A88EFC9B8}"/>
              </a:ext>
            </a:extLst>
          </p:cNvPr>
          <p:cNvSpPr>
            <a:spLocks noChangeArrowheads="1"/>
          </p:cNvSpPr>
          <p:nvPr/>
        </p:nvSpPr>
        <p:spPr bwMode="blackWhite">
          <a:xfrm>
            <a:off x="827088" y="5132189"/>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4" name="Rectangle 8">
            <a:extLst>
              <a:ext uri="{FF2B5EF4-FFF2-40B4-BE49-F238E27FC236}">
                <a16:creationId xmlns:a16="http://schemas.microsoft.com/office/drawing/2014/main" id="{E20F42AE-2F7E-BB28-F19F-C8FFCB67554E}"/>
              </a:ext>
            </a:extLst>
          </p:cNvPr>
          <p:cNvSpPr>
            <a:spLocks noChangeArrowheads="1"/>
          </p:cNvSpPr>
          <p:nvPr/>
        </p:nvSpPr>
        <p:spPr bwMode="blackWhite">
          <a:xfrm>
            <a:off x="833438" y="5106789"/>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FROM  emp INNER JOIN dept</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a:t>
            </a:r>
          </a:p>
        </p:txBody>
      </p:sp>
      <p:sp>
        <p:nvSpPr>
          <p:cNvPr id="5" name="Rectangle 6">
            <a:extLst>
              <a:ext uri="{FF2B5EF4-FFF2-40B4-BE49-F238E27FC236}">
                <a16:creationId xmlns:a16="http://schemas.microsoft.com/office/drawing/2014/main" id="{D3EE5161-C4E0-B2B0-27E5-DF66D3B8E2BC}"/>
              </a:ext>
            </a:extLst>
          </p:cNvPr>
          <p:cNvSpPr>
            <a:spLocks noChangeArrowheads="1"/>
          </p:cNvSpPr>
          <p:nvPr/>
        </p:nvSpPr>
        <p:spPr bwMode="ltGray">
          <a:xfrm>
            <a:off x="2133600" y="5925939"/>
            <a:ext cx="3455988" cy="28098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21190"/>
                                        </p:tgtEl>
                                        <p:attrNameLst>
                                          <p:attrName>style.visibility</p:attrName>
                                        </p:attrNameLst>
                                      </p:cBhvr>
                                      <p:to>
                                        <p:strVal val="visible"/>
                                      </p:to>
                                    </p:set>
                                    <p:animEffect transition="in" filter="wipe(down)">
                                      <p:cBhvr>
                                        <p:cTn id="7" dur="500"/>
                                        <p:tgtEl>
                                          <p:spTgt spid="2211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0" grpId="0" autoUpdateAnimBg="0"/>
      <p:bldP spid="2" grpId="0"/>
      <p:bldP spid="3" grpId="0" animBg="1"/>
      <p:bldP spid="4" grpId="0"/>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45AB14C-7A72-3E7A-4E47-4DDA6DF66E76}"/>
              </a:ext>
            </a:extLst>
          </p:cNvPr>
          <p:cNvSpPr>
            <a:spLocks noGrp="1" noChangeArrowheads="1"/>
          </p:cNvSpPr>
          <p:nvPr>
            <p:ph type="title"/>
          </p:nvPr>
        </p:nvSpPr>
        <p:spPr>
          <a:xfrm>
            <a:off x="323850" y="161926"/>
            <a:ext cx="8597900" cy="1035049"/>
          </a:xfrm>
          <a:noFill/>
        </p:spPr>
        <p:txBody>
          <a:bodyPr lIns="92075" tIns="46038" rIns="92075" bIns="46038" anchor="t"/>
          <a:lstStyle/>
          <a:p>
            <a:r>
              <a:rPr lang="en-US" altLang="en-US" sz="2800" dirty="0">
                <a:solidFill>
                  <a:srgbClr val="800000"/>
                </a:solidFill>
              </a:rPr>
              <a:t>Resolving Ambiguous Column Names:</a:t>
            </a:r>
            <a:br>
              <a:rPr lang="en-US" altLang="en-US" sz="2800" dirty="0">
                <a:solidFill>
                  <a:srgbClr val="800000"/>
                </a:solidFill>
              </a:rPr>
            </a:br>
            <a:r>
              <a:rPr lang="en-US" altLang="en-US" sz="2800" dirty="0">
                <a:solidFill>
                  <a:schemeClr val="accent2"/>
                </a:solidFill>
              </a:rPr>
              <a:t>Natural JOIN</a:t>
            </a:r>
          </a:p>
        </p:txBody>
      </p:sp>
      <p:sp>
        <p:nvSpPr>
          <p:cNvPr id="31747" name="Rectangle 5">
            <a:extLst>
              <a:ext uri="{FF2B5EF4-FFF2-40B4-BE49-F238E27FC236}">
                <a16:creationId xmlns:a16="http://schemas.microsoft.com/office/drawing/2014/main" id="{6562A846-4A07-A5B9-C58B-BB6A1736C562}"/>
              </a:ext>
            </a:extLst>
          </p:cNvPr>
          <p:cNvSpPr>
            <a:spLocks noChangeArrowheads="1"/>
          </p:cNvSpPr>
          <p:nvPr/>
        </p:nvSpPr>
        <p:spPr bwMode="blackWhite">
          <a:xfrm>
            <a:off x="712788" y="2587625"/>
            <a:ext cx="7292975"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empno, emp.deptno, dname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ORA-25155: column used in NATURAL JOIN </a:t>
            </a:r>
          </a:p>
          <a:p>
            <a:pPr>
              <a:spcBef>
                <a:spcPct val="0"/>
              </a:spcBef>
              <a:buFontTx/>
              <a:buNone/>
            </a:pPr>
            <a:r>
              <a:rPr lang="en-US" altLang="en-US" sz="1800" b="1">
                <a:solidFill>
                  <a:srgbClr val="000000"/>
                </a:solidFill>
                <a:latin typeface="Courier New" panose="02070309020205020404" pitchFamily="49" charset="0"/>
              </a:rPr>
              <a:t>cannot have qualifier</a:t>
            </a:r>
          </a:p>
        </p:txBody>
      </p:sp>
      <p:sp>
        <p:nvSpPr>
          <p:cNvPr id="31748" name="Rectangle 2">
            <a:extLst>
              <a:ext uri="{FF2B5EF4-FFF2-40B4-BE49-F238E27FC236}">
                <a16:creationId xmlns:a16="http://schemas.microsoft.com/office/drawing/2014/main" id="{1A36E358-3F26-509B-EEF6-A00BFEE8ABB3}"/>
              </a:ext>
            </a:extLst>
          </p:cNvPr>
          <p:cNvSpPr>
            <a:spLocks noChangeArrowheads="1"/>
          </p:cNvSpPr>
          <p:nvPr/>
        </p:nvSpPr>
        <p:spPr bwMode="blackWhite">
          <a:xfrm>
            <a:off x="684213" y="1339850"/>
            <a:ext cx="7289800" cy="936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49" name="Rectangle 8">
            <a:extLst>
              <a:ext uri="{FF2B5EF4-FFF2-40B4-BE49-F238E27FC236}">
                <a16:creationId xmlns:a16="http://schemas.microsoft.com/office/drawing/2014/main" id="{6EFE31EC-CBDF-3581-30BD-C44D994EF9D6}"/>
              </a:ext>
            </a:extLst>
          </p:cNvPr>
          <p:cNvSpPr>
            <a:spLocks noChangeArrowheads="1"/>
          </p:cNvSpPr>
          <p:nvPr/>
        </p:nvSpPr>
        <p:spPr bwMode="blackWhite">
          <a:xfrm>
            <a:off x="690563" y="131445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emp.deptno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chemeClr val="accent2"/>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a:t>
            </a:r>
          </a:p>
        </p:txBody>
      </p:sp>
      <p:sp>
        <p:nvSpPr>
          <p:cNvPr id="31750" name="Rectangle 2">
            <a:extLst>
              <a:ext uri="{FF2B5EF4-FFF2-40B4-BE49-F238E27FC236}">
                <a16:creationId xmlns:a16="http://schemas.microsoft.com/office/drawing/2014/main" id="{978165A8-AE5A-F1A5-6BBB-D205DD434396}"/>
              </a:ext>
            </a:extLst>
          </p:cNvPr>
          <p:cNvSpPr>
            <a:spLocks noChangeArrowheads="1"/>
          </p:cNvSpPr>
          <p:nvPr/>
        </p:nvSpPr>
        <p:spPr bwMode="blackWhite">
          <a:xfrm>
            <a:off x="677863" y="4170363"/>
            <a:ext cx="7289800" cy="9382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51" name="Rectangle 8">
            <a:extLst>
              <a:ext uri="{FF2B5EF4-FFF2-40B4-BE49-F238E27FC236}">
                <a16:creationId xmlns:a16="http://schemas.microsoft.com/office/drawing/2014/main" id="{F2278723-D47C-0587-3152-E1C73A814C88}"/>
              </a:ext>
            </a:extLst>
          </p:cNvPr>
          <p:cNvSpPr>
            <a:spLocks noChangeArrowheads="1"/>
          </p:cNvSpPr>
          <p:nvPr/>
        </p:nvSpPr>
        <p:spPr bwMode="blackWhite">
          <a:xfrm>
            <a:off x="684213" y="4144963"/>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chemeClr val="accent2"/>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a:t>
            </a:r>
          </a:p>
        </p:txBody>
      </p:sp>
      <p:sp>
        <p:nvSpPr>
          <p:cNvPr id="31752" name="Rectangle 2">
            <a:extLst>
              <a:ext uri="{FF2B5EF4-FFF2-40B4-BE49-F238E27FC236}">
                <a16:creationId xmlns:a16="http://schemas.microsoft.com/office/drawing/2014/main" id="{0BE98A4F-106B-DCEB-8C41-FAFF0B71CDF0}"/>
              </a:ext>
            </a:extLst>
          </p:cNvPr>
          <p:cNvSpPr>
            <a:spLocks noChangeArrowheads="1"/>
          </p:cNvSpPr>
          <p:nvPr/>
        </p:nvSpPr>
        <p:spPr bwMode="blackWhite">
          <a:xfrm>
            <a:off x="677863" y="5384800"/>
            <a:ext cx="7289800" cy="9382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53" name="Rectangle 8">
            <a:extLst>
              <a:ext uri="{FF2B5EF4-FFF2-40B4-BE49-F238E27FC236}">
                <a16:creationId xmlns:a16="http://schemas.microsoft.com/office/drawing/2014/main" id="{72A6E635-FDFF-D8DB-11D0-631499C1836C}"/>
              </a:ext>
            </a:extLst>
          </p:cNvPr>
          <p:cNvSpPr>
            <a:spLocks noChangeArrowheads="1"/>
          </p:cNvSpPr>
          <p:nvPr/>
        </p:nvSpPr>
        <p:spPr bwMode="blackWhite">
          <a:xfrm>
            <a:off x="684213" y="535940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e </a:t>
            </a:r>
            <a:r>
              <a:rPr lang="en-US" altLang="en-US" sz="2400" b="1" dirty="0">
                <a:solidFill>
                  <a:schemeClr val="accent2"/>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 d</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CF11-CF40-2890-4508-018B36C2C99D}"/>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8FF964D4-D834-3867-0F44-4FD592425882}"/>
              </a:ext>
            </a:extLst>
          </p:cNvPr>
          <p:cNvSpPr>
            <a:spLocks noGrp="1" noChangeArrowheads="1"/>
          </p:cNvSpPr>
          <p:nvPr>
            <p:ph type="title"/>
          </p:nvPr>
        </p:nvSpPr>
        <p:spPr>
          <a:xfrm>
            <a:off x="323850" y="161926"/>
            <a:ext cx="8597900" cy="1035049"/>
          </a:xfrm>
          <a:noFill/>
        </p:spPr>
        <p:txBody>
          <a:bodyPr lIns="92075" tIns="46038" rIns="92075" bIns="46038" anchor="t"/>
          <a:lstStyle/>
          <a:p>
            <a:r>
              <a:rPr lang="en-US" altLang="en-US" sz="2800" dirty="0">
                <a:solidFill>
                  <a:srgbClr val="800000"/>
                </a:solidFill>
              </a:rPr>
              <a:t>Resolving Ambiguous Column Names:</a:t>
            </a:r>
            <a:br>
              <a:rPr lang="en-US" altLang="en-US" sz="2800" dirty="0">
                <a:solidFill>
                  <a:srgbClr val="800000"/>
                </a:solidFill>
              </a:rPr>
            </a:br>
            <a:r>
              <a:rPr lang="en-US" altLang="en-US" sz="2800" dirty="0">
                <a:solidFill>
                  <a:schemeClr val="accent2"/>
                </a:solidFill>
              </a:rPr>
              <a:t>USING clause</a:t>
            </a:r>
          </a:p>
        </p:txBody>
      </p:sp>
      <p:sp>
        <p:nvSpPr>
          <p:cNvPr id="31747" name="Rectangle 5">
            <a:extLst>
              <a:ext uri="{FF2B5EF4-FFF2-40B4-BE49-F238E27FC236}">
                <a16:creationId xmlns:a16="http://schemas.microsoft.com/office/drawing/2014/main" id="{5123A06E-0852-5EC4-6AC6-A5DF613E08EC}"/>
              </a:ext>
            </a:extLst>
          </p:cNvPr>
          <p:cNvSpPr>
            <a:spLocks noChangeArrowheads="1"/>
          </p:cNvSpPr>
          <p:nvPr/>
        </p:nvSpPr>
        <p:spPr bwMode="blackWhite">
          <a:xfrm>
            <a:off x="712788" y="2587625"/>
            <a:ext cx="7292975"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ERROR at line 1:</a:t>
            </a:r>
          </a:p>
          <a:p>
            <a:pPr>
              <a:spcBef>
                <a:spcPct val="0"/>
              </a:spcBef>
              <a:buFontTx/>
              <a:buNone/>
            </a:pPr>
            <a:r>
              <a:rPr lang="en-US" altLang="en-US" sz="1800" b="1" dirty="0">
                <a:solidFill>
                  <a:srgbClr val="000000"/>
                </a:solidFill>
                <a:latin typeface="Courier New" panose="02070309020205020404" pitchFamily="49" charset="0"/>
              </a:rPr>
              <a:t>ORA-25154: column part of USING clause </a:t>
            </a:r>
          </a:p>
          <a:p>
            <a:pPr>
              <a:spcBef>
                <a:spcPct val="0"/>
              </a:spcBef>
              <a:buFontTx/>
              <a:buNone/>
            </a:pPr>
            <a:r>
              <a:rPr lang="en-US" altLang="en-US" sz="1800" b="1" dirty="0">
                <a:solidFill>
                  <a:srgbClr val="000000"/>
                </a:solidFill>
                <a:latin typeface="Courier New" panose="02070309020205020404" pitchFamily="49" charset="0"/>
              </a:rPr>
              <a:t>cannot have qualifier</a:t>
            </a:r>
          </a:p>
        </p:txBody>
      </p:sp>
      <p:sp>
        <p:nvSpPr>
          <p:cNvPr id="31748" name="Rectangle 2">
            <a:extLst>
              <a:ext uri="{FF2B5EF4-FFF2-40B4-BE49-F238E27FC236}">
                <a16:creationId xmlns:a16="http://schemas.microsoft.com/office/drawing/2014/main" id="{8B2CD17C-24D5-BF32-5C74-70BF3AED466C}"/>
              </a:ext>
            </a:extLst>
          </p:cNvPr>
          <p:cNvSpPr>
            <a:spLocks noChangeArrowheads="1"/>
          </p:cNvSpPr>
          <p:nvPr/>
        </p:nvSpPr>
        <p:spPr bwMode="blackWhite">
          <a:xfrm>
            <a:off x="684213" y="1339850"/>
            <a:ext cx="7289800" cy="936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49" name="Rectangle 8">
            <a:extLst>
              <a:ext uri="{FF2B5EF4-FFF2-40B4-BE49-F238E27FC236}">
                <a16:creationId xmlns:a16="http://schemas.microsoft.com/office/drawing/2014/main" id="{8077B79A-FDC5-6D86-5994-1FC391B49F63}"/>
              </a:ext>
            </a:extLst>
          </p:cNvPr>
          <p:cNvSpPr>
            <a:spLocks noChangeArrowheads="1"/>
          </p:cNvSpPr>
          <p:nvPr/>
        </p:nvSpPr>
        <p:spPr bwMode="blackWhite">
          <a:xfrm>
            <a:off x="690563" y="131445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emp.deptno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chemeClr val="accent2"/>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chemeClr val="accent6"/>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
        <p:nvSpPr>
          <p:cNvPr id="31750" name="Rectangle 2">
            <a:extLst>
              <a:ext uri="{FF2B5EF4-FFF2-40B4-BE49-F238E27FC236}">
                <a16:creationId xmlns:a16="http://schemas.microsoft.com/office/drawing/2014/main" id="{48F9A1EF-EE38-22B3-A477-FA996B027D12}"/>
              </a:ext>
            </a:extLst>
          </p:cNvPr>
          <p:cNvSpPr>
            <a:spLocks noChangeArrowheads="1"/>
          </p:cNvSpPr>
          <p:nvPr/>
        </p:nvSpPr>
        <p:spPr bwMode="blackWhite">
          <a:xfrm>
            <a:off x="677863" y="4170363"/>
            <a:ext cx="7289800" cy="9382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51" name="Rectangle 8">
            <a:extLst>
              <a:ext uri="{FF2B5EF4-FFF2-40B4-BE49-F238E27FC236}">
                <a16:creationId xmlns:a16="http://schemas.microsoft.com/office/drawing/2014/main" id="{11F173C5-E18B-A712-8AE8-008A779FCAB9}"/>
              </a:ext>
            </a:extLst>
          </p:cNvPr>
          <p:cNvSpPr>
            <a:spLocks noChangeArrowheads="1"/>
          </p:cNvSpPr>
          <p:nvPr/>
        </p:nvSpPr>
        <p:spPr bwMode="blackWhite">
          <a:xfrm>
            <a:off x="684213" y="4144963"/>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chemeClr val="accent2"/>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chemeClr val="accent6"/>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
        <p:nvSpPr>
          <p:cNvPr id="31752" name="Rectangle 2">
            <a:extLst>
              <a:ext uri="{FF2B5EF4-FFF2-40B4-BE49-F238E27FC236}">
                <a16:creationId xmlns:a16="http://schemas.microsoft.com/office/drawing/2014/main" id="{EE9ECA3B-DF2A-6057-D67C-D619918472B4}"/>
              </a:ext>
            </a:extLst>
          </p:cNvPr>
          <p:cNvSpPr>
            <a:spLocks noChangeArrowheads="1"/>
          </p:cNvSpPr>
          <p:nvPr/>
        </p:nvSpPr>
        <p:spPr bwMode="blackWhite">
          <a:xfrm>
            <a:off x="677863" y="5384800"/>
            <a:ext cx="7289800" cy="9382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1753" name="Rectangle 8">
            <a:extLst>
              <a:ext uri="{FF2B5EF4-FFF2-40B4-BE49-F238E27FC236}">
                <a16:creationId xmlns:a16="http://schemas.microsoft.com/office/drawing/2014/main" id="{694FED80-853E-1B08-97FF-70D4914EDA59}"/>
              </a:ext>
            </a:extLst>
          </p:cNvPr>
          <p:cNvSpPr>
            <a:spLocks noChangeArrowheads="1"/>
          </p:cNvSpPr>
          <p:nvPr/>
        </p:nvSpPr>
        <p:spPr bwMode="blackWhite">
          <a:xfrm>
            <a:off x="684213" y="535940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e </a:t>
            </a:r>
            <a:r>
              <a:rPr lang="en-US" altLang="en-US" sz="2400" b="1" dirty="0">
                <a:solidFill>
                  <a:schemeClr val="accent2"/>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d </a:t>
            </a:r>
            <a:r>
              <a:rPr lang="en-US" altLang="en-US" sz="2400" b="1" dirty="0">
                <a:solidFill>
                  <a:schemeClr val="accent6"/>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61009409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3F772DAC-1C96-8A37-D20F-DD875D1845CB}"/>
              </a:ext>
            </a:extLst>
          </p:cNvPr>
          <p:cNvSpPr>
            <a:spLocks noGrp="1" noChangeArrowheads="1"/>
          </p:cNvSpPr>
          <p:nvPr>
            <p:ph type="title"/>
          </p:nvPr>
        </p:nvSpPr>
        <p:spPr>
          <a:xfrm>
            <a:off x="468313" y="188913"/>
            <a:ext cx="8277225" cy="863600"/>
          </a:xfrm>
          <a:noFill/>
        </p:spPr>
        <p:txBody>
          <a:bodyPr lIns="92075" tIns="46038" rIns="92075" bIns="46038" anchor="t"/>
          <a:lstStyle/>
          <a:p>
            <a:r>
              <a:rPr lang="en-US" altLang="en-US" sz="2800">
                <a:solidFill>
                  <a:srgbClr val="800000"/>
                </a:solidFill>
              </a:rPr>
              <a:t>Additional Search Conditions</a:t>
            </a:r>
            <a:br>
              <a:rPr lang="en-US" altLang="en-US" sz="2800">
                <a:solidFill>
                  <a:srgbClr val="800000"/>
                </a:solidFill>
              </a:rPr>
            </a:br>
            <a:r>
              <a:rPr lang="en-US" altLang="en-US" sz="2800">
                <a:solidFill>
                  <a:srgbClr val="800000"/>
                </a:solidFill>
              </a:rPr>
              <a:t>Using the AND Operator </a:t>
            </a:r>
          </a:p>
        </p:txBody>
      </p:sp>
      <p:sp>
        <p:nvSpPr>
          <p:cNvPr id="35843" name="Rectangle 11">
            <a:extLst>
              <a:ext uri="{FF2B5EF4-FFF2-40B4-BE49-F238E27FC236}">
                <a16:creationId xmlns:a16="http://schemas.microsoft.com/office/drawing/2014/main" id="{F5E036B2-CDC1-3371-9ECF-814324D82594}"/>
              </a:ext>
            </a:extLst>
          </p:cNvPr>
          <p:cNvSpPr>
            <a:spLocks noChangeArrowheads="1"/>
          </p:cNvSpPr>
          <p:nvPr/>
        </p:nvSpPr>
        <p:spPr bwMode="blackWhite">
          <a:xfrm>
            <a:off x="539552" y="1412776"/>
            <a:ext cx="7315200"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60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emp.ename</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dept.loc</a:t>
            </a:r>
            <a:endParaRPr lang="en-US" altLang="en-US" sz="2400" b="1" dirty="0">
              <a:solidFill>
                <a:srgbClr val="000000"/>
              </a:solidFill>
              <a:latin typeface="Courier New" panose="02070309020205020404" pitchFamily="49" charset="0"/>
            </a:endParaRPr>
          </a:p>
          <a:p>
            <a:pPr>
              <a:spcBef>
                <a:spcPts val="600"/>
              </a:spcBef>
              <a:buFontTx/>
              <a:buNone/>
            </a:pPr>
            <a:r>
              <a:rPr lang="en-US" altLang="en-US" sz="2400" b="1" dirty="0">
                <a:solidFill>
                  <a:srgbClr val="000000"/>
                </a:solidFill>
                <a:latin typeface="Courier New" panose="02070309020205020404" pitchFamily="49" charset="0"/>
              </a:rPr>
              <a:t>FROM   emp JOIN dept USING(</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a:p>
            <a:pPr>
              <a:spcBef>
                <a:spcPts val="600"/>
              </a:spcBef>
              <a:buFontTx/>
              <a:buNone/>
            </a:pPr>
            <a:r>
              <a:rPr lang="en-US" altLang="en-US" sz="2400" b="1" dirty="0">
                <a:solidFill>
                  <a:srgbClr val="000000"/>
                </a:solidFill>
                <a:latin typeface="Courier New" panose="02070309020205020404" pitchFamily="49" charset="0"/>
              </a:rPr>
              <a:t>WHERE  </a:t>
            </a:r>
            <a:r>
              <a:rPr lang="en-US" altLang="en-US" sz="2400" b="1" dirty="0" err="1">
                <a:solidFill>
                  <a:srgbClr val="000000"/>
                </a:solidFill>
                <a:latin typeface="Courier New" panose="02070309020205020404" pitchFamily="49" charset="0"/>
              </a:rPr>
              <a:t>emp.deptno</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dept.deptno</a:t>
            </a:r>
            <a:r>
              <a:rPr lang="en-US" altLang="en-US" sz="2400" b="1" dirty="0">
                <a:solidFill>
                  <a:srgbClr val="000000"/>
                </a:solidFill>
                <a:latin typeface="Courier New" panose="02070309020205020404" pitchFamily="49" charset="0"/>
              </a:rPr>
              <a:t> 	AND </a:t>
            </a:r>
          </a:p>
          <a:p>
            <a:pPr>
              <a:spcBef>
                <a:spcPts val="600"/>
              </a:spcBef>
              <a:buFontTx/>
              <a:buNone/>
            </a:pP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dept.dname</a:t>
            </a:r>
            <a:r>
              <a:rPr lang="en-US" altLang="en-US" sz="2400" b="1" dirty="0">
                <a:solidFill>
                  <a:srgbClr val="000000"/>
                </a:solidFill>
                <a:latin typeface="Courier New" panose="02070309020205020404" pitchFamily="49" charset="0"/>
              </a:rPr>
              <a:t> like 'SALES';</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0665D14-CBB2-D73A-5C83-667CB0358454}"/>
              </a:ext>
            </a:extLst>
          </p:cNvPr>
          <p:cNvSpPr>
            <a:spLocks noChangeArrowheads="1"/>
          </p:cNvSpPr>
          <p:nvPr/>
        </p:nvSpPr>
        <p:spPr bwMode="blackWhite">
          <a:xfrm>
            <a:off x="2063750" y="1720850"/>
            <a:ext cx="195580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7891" name="Rectangle 3">
            <a:extLst>
              <a:ext uri="{FF2B5EF4-FFF2-40B4-BE49-F238E27FC236}">
                <a16:creationId xmlns:a16="http://schemas.microsoft.com/office/drawing/2014/main" id="{79D27DFE-C8E7-C31A-7381-458A5D40EF15}"/>
              </a:ext>
            </a:extLst>
          </p:cNvPr>
          <p:cNvSpPr>
            <a:spLocks noChangeArrowheads="1"/>
          </p:cNvSpPr>
          <p:nvPr/>
        </p:nvSpPr>
        <p:spPr bwMode="blackWhite">
          <a:xfrm>
            <a:off x="4576763" y="1714500"/>
            <a:ext cx="2586037"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7892" name="Rectangle 4">
            <a:extLst>
              <a:ext uri="{FF2B5EF4-FFF2-40B4-BE49-F238E27FC236}">
                <a16:creationId xmlns:a16="http://schemas.microsoft.com/office/drawing/2014/main" id="{E80E4CCB-0974-5894-DFEB-41AD547C6780}"/>
              </a:ext>
            </a:extLst>
          </p:cNvPr>
          <p:cNvSpPr>
            <a:spLocks noGrp="1" noChangeArrowheads="1"/>
          </p:cNvSpPr>
          <p:nvPr>
            <p:ph type="title"/>
          </p:nvPr>
        </p:nvSpPr>
        <p:spPr>
          <a:xfrm>
            <a:off x="323850" y="661988"/>
            <a:ext cx="2952750" cy="463550"/>
          </a:xfrm>
          <a:noFill/>
        </p:spPr>
        <p:txBody>
          <a:bodyPr lIns="92075" tIns="46038" rIns="92075" bIns="46038" anchor="t"/>
          <a:lstStyle/>
          <a:p>
            <a:r>
              <a:rPr lang="en-US" altLang="en-US" sz="2800">
                <a:solidFill>
                  <a:srgbClr val="800000"/>
                </a:solidFill>
              </a:rPr>
              <a:t>3. Outer Joins</a:t>
            </a:r>
          </a:p>
        </p:txBody>
      </p:sp>
      <p:sp>
        <p:nvSpPr>
          <p:cNvPr id="266245" name="Rectangle 5">
            <a:extLst>
              <a:ext uri="{FF2B5EF4-FFF2-40B4-BE49-F238E27FC236}">
                <a16:creationId xmlns:a16="http://schemas.microsoft.com/office/drawing/2014/main" id="{A8463EB0-8AC6-63C4-FC69-A39296B3BB50}"/>
              </a:ext>
            </a:extLst>
          </p:cNvPr>
          <p:cNvSpPr>
            <a:spLocks noChangeArrowheads="1"/>
          </p:cNvSpPr>
          <p:nvPr/>
        </p:nvSpPr>
        <p:spPr bwMode="auto">
          <a:xfrm>
            <a:off x="1962150" y="1344613"/>
            <a:ext cx="804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EMP </a:t>
            </a:r>
          </a:p>
        </p:txBody>
      </p:sp>
      <p:sp>
        <p:nvSpPr>
          <p:cNvPr id="266246" name="Rectangle 6">
            <a:extLst>
              <a:ext uri="{FF2B5EF4-FFF2-40B4-BE49-F238E27FC236}">
                <a16:creationId xmlns:a16="http://schemas.microsoft.com/office/drawing/2014/main" id="{E90714F8-0EDD-650D-8061-CF08732D5BF2}"/>
              </a:ext>
            </a:extLst>
          </p:cNvPr>
          <p:cNvSpPr>
            <a:spLocks noChangeArrowheads="1"/>
          </p:cNvSpPr>
          <p:nvPr/>
        </p:nvSpPr>
        <p:spPr bwMode="auto">
          <a:xfrm>
            <a:off x="4476750" y="1349375"/>
            <a:ext cx="931863" cy="396875"/>
          </a:xfrm>
          <a:prstGeom prst="rect">
            <a:avLst/>
          </a:prstGeom>
          <a:noFill/>
          <a:ln w="9525">
            <a:noFill/>
            <a:miter lim="800000"/>
            <a:headEnd/>
            <a:tailEnd/>
          </a:ln>
          <a:effectLst/>
        </p:spPr>
        <p:txBody>
          <a:bodyPr lIns="92075" tIns="46038" rIns="92075" bIns="46038">
            <a:spAutoFit/>
          </a:bodyPr>
          <a:lstStyle/>
          <a:p>
            <a:pPr>
              <a:defRPr/>
            </a:pPr>
            <a:r>
              <a:rPr lang="en-US" sz="2000" b="1">
                <a:effectLst>
                  <a:outerShdw blurRad="38100" dist="38100" dir="2700000" algn="tl">
                    <a:srgbClr val="FFFFFF"/>
                  </a:outerShdw>
                </a:effectLst>
              </a:rPr>
              <a:t>DEPT </a:t>
            </a:r>
          </a:p>
        </p:txBody>
      </p:sp>
      <p:sp>
        <p:nvSpPr>
          <p:cNvPr id="266247" name="Rectangle 7">
            <a:extLst>
              <a:ext uri="{FF2B5EF4-FFF2-40B4-BE49-F238E27FC236}">
                <a16:creationId xmlns:a16="http://schemas.microsoft.com/office/drawing/2014/main" id="{5F964E62-76EE-A3C6-84B7-B7440DBF2D30}"/>
              </a:ext>
            </a:extLst>
          </p:cNvPr>
          <p:cNvSpPr>
            <a:spLocks noChangeArrowheads="1"/>
          </p:cNvSpPr>
          <p:nvPr/>
        </p:nvSpPr>
        <p:spPr bwMode="ltGray">
          <a:xfrm>
            <a:off x="2971800" y="1733550"/>
            <a:ext cx="2552700" cy="217646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66248" name="Rectangle 8">
            <a:extLst>
              <a:ext uri="{FF2B5EF4-FFF2-40B4-BE49-F238E27FC236}">
                <a16:creationId xmlns:a16="http://schemas.microsoft.com/office/drawing/2014/main" id="{60CF47BA-73E4-F2DA-81E5-EA302EA6FA05}"/>
              </a:ext>
            </a:extLst>
          </p:cNvPr>
          <p:cNvSpPr>
            <a:spLocks noChangeArrowheads="1"/>
          </p:cNvSpPr>
          <p:nvPr/>
        </p:nvSpPr>
        <p:spPr bwMode="ltGray">
          <a:xfrm>
            <a:off x="2066925" y="3600450"/>
            <a:ext cx="5067300" cy="314325"/>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 name="Group 9">
            <a:extLst>
              <a:ext uri="{FF2B5EF4-FFF2-40B4-BE49-F238E27FC236}">
                <a16:creationId xmlns:a16="http://schemas.microsoft.com/office/drawing/2014/main" id="{2E9884EB-82ED-8850-413F-0EE3514CABEE}"/>
              </a:ext>
            </a:extLst>
          </p:cNvPr>
          <p:cNvGrpSpPr>
            <a:grpSpLocks/>
          </p:cNvGrpSpPr>
          <p:nvPr/>
        </p:nvGrpSpPr>
        <p:grpSpPr bwMode="auto">
          <a:xfrm>
            <a:off x="2343150" y="3790950"/>
            <a:ext cx="5448300" cy="1447800"/>
            <a:chOff x="1476" y="2388"/>
            <a:chExt cx="3432" cy="912"/>
          </a:xfrm>
        </p:grpSpPr>
        <p:sp>
          <p:nvSpPr>
            <p:cNvPr id="266250" name="Rectangle 10">
              <a:extLst>
                <a:ext uri="{FF2B5EF4-FFF2-40B4-BE49-F238E27FC236}">
                  <a16:creationId xmlns:a16="http://schemas.microsoft.com/office/drawing/2014/main" id="{846B9F7E-85B5-B0A3-EBDD-BA995D967F66}"/>
                </a:ext>
              </a:extLst>
            </p:cNvPr>
            <p:cNvSpPr>
              <a:spLocks noChangeArrowheads="1"/>
            </p:cNvSpPr>
            <p:nvPr/>
          </p:nvSpPr>
          <p:spPr bwMode="auto">
            <a:xfrm>
              <a:off x="1973" y="2782"/>
              <a:ext cx="2935" cy="518"/>
            </a:xfrm>
            <a:prstGeom prst="rect">
              <a:avLst/>
            </a:prstGeom>
            <a:noFill/>
            <a:ln w="9525">
              <a:noFill/>
              <a:miter lim="800000"/>
              <a:headEnd/>
              <a:tailEnd/>
            </a:ln>
            <a:effectLst/>
          </p:spPr>
          <p:txBody>
            <a:bodyPr lIns="92075" tIns="46038" rIns="92075" bIns="46038">
              <a:spAutoFit/>
            </a:bodyPr>
            <a:lstStyle/>
            <a:p>
              <a:pPr>
                <a:defRPr/>
              </a:pPr>
              <a:r>
                <a:rPr lang="en-US" b="1">
                  <a:solidFill>
                    <a:schemeClr val="accent2"/>
                  </a:solidFill>
                  <a:effectLst>
                    <a:outerShdw blurRad="38100" dist="38100" dir="2700000" algn="tl">
                      <a:srgbClr val="000000"/>
                    </a:outerShdw>
                  </a:effectLst>
                </a:rPr>
                <a:t>No employee in the</a:t>
              </a:r>
              <a:br>
                <a:rPr lang="en-US" b="1">
                  <a:solidFill>
                    <a:schemeClr val="accent2"/>
                  </a:solidFill>
                  <a:effectLst>
                    <a:outerShdw blurRad="38100" dist="38100" dir="2700000" algn="tl">
                      <a:srgbClr val="000000"/>
                    </a:outerShdw>
                  </a:effectLst>
                </a:rPr>
              </a:br>
              <a:r>
                <a:rPr lang="en-US" b="1">
                  <a:solidFill>
                    <a:schemeClr val="accent2"/>
                  </a:solidFill>
                  <a:effectLst>
                    <a:outerShdw blurRad="38100" dist="38100" dir="2700000" algn="tl">
                      <a:srgbClr val="000000"/>
                    </a:outerShdw>
                  </a:effectLst>
                </a:rPr>
                <a:t>OPERATIONS department</a:t>
              </a:r>
            </a:p>
          </p:txBody>
        </p:sp>
        <p:sp>
          <p:nvSpPr>
            <p:cNvPr id="37907" name="Freeform 11">
              <a:extLst>
                <a:ext uri="{FF2B5EF4-FFF2-40B4-BE49-F238E27FC236}">
                  <a16:creationId xmlns:a16="http://schemas.microsoft.com/office/drawing/2014/main" id="{EA5349C8-5FD1-7EEE-9344-AD9501A4270B}"/>
                </a:ext>
              </a:extLst>
            </p:cNvPr>
            <p:cNvSpPr>
              <a:spLocks/>
            </p:cNvSpPr>
            <p:nvPr/>
          </p:nvSpPr>
          <p:spPr bwMode="auto">
            <a:xfrm>
              <a:off x="1476" y="2388"/>
              <a:ext cx="458" cy="529"/>
            </a:xfrm>
            <a:custGeom>
              <a:avLst/>
              <a:gdLst>
                <a:gd name="T0" fmla="*/ 457 w 458"/>
                <a:gd name="T1" fmla="*/ 528 h 529"/>
                <a:gd name="T2" fmla="*/ 0 w 458"/>
                <a:gd name="T3" fmla="*/ 528 h 529"/>
                <a:gd name="T4" fmla="*/ 0 w 458"/>
                <a:gd name="T5" fmla="*/ 480 h 529"/>
                <a:gd name="T6" fmla="*/ 0 w 458"/>
                <a:gd name="T7" fmla="*/ 408 h 529"/>
                <a:gd name="T8" fmla="*/ 0 w 458"/>
                <a:gd name="T9" fmla="*/ 0 h 5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8" h="529">
                  <a:moveTo>
                    <a:pt x="457" y="528"/>
                  </a:moveTo>
                  <a:lnTo>
                    <a:pt x="0" y="528"/>
                  </a:lnTo>
                  <a:lnTo>
                    <a:pt x="0" y="480"/>
                  </a:lnTo>
                  <a:lnTo>
                    <a:pt x="0" y="408"/>
                  </a:lnTo>
                  <a:lnTo>
                    <a:pt x="0" y="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898" name="Rectangle 12">
            <a:extLst>
              <a:ext uri="{FF2B5EF4-FFF2-40B4-BE49-F238E27FC236}">
                <a16:creationId xmlns:a16="http://schemas.microsoft.com/office/drawing/2014/main" id="{B92D643F-67A9-F394-F6A5-05016D173FF6}"/>
              </a:ext>
            </a:extLst>
          </p:cNvPr>
          <p:cNvSpPr>
            <a:spLocks noChangeArrowheads="1"/>
          </p:cNvSpPr>
          <p:nvPr/>
        </p:nvSpPr>
        <p:spPr bwMode="blackWhite">
          <a:xfrm>
            <a:off x="2038350" y="1720850"/>
            <a:ext cx="19812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ENAME	DEPTNO</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KING	10</a:t>
            </a:r>
          </a:p>
          <a:p>
            <a:pPr>
              <a:lnSpc>
                <a:spcPct val="95000"/>
              </a:lnSpc>
              <a:spcBef>
                <a:spcPct val="0"/>
              </a:spcBef>
              <a:buFontTx/>
              <a:buNone/>
            </a:pPr>
            <a:r>
              <a:rPr lang="en-US" altLang="en-US" sz="1800" b="1">
                <a:solidFill>
                  <a:srgbClr val="000000"/>
                </a:solidFill>
                <a:latin typeface="Courier New" panose="02070309020205020404" pitchFamily="49" charset="0"/>
              </a:rPr>
              <a:t>BLAKE	30</a:t>
            </a:r>
          </a:p>
          <a:p>
            <a:pPr>
              <a:lnSpc>
                <a:spcPct val="95000"/>
              </a:lnSpc>
              <a:spcBef>
                <a:spcPct val="0"/>
              </a:spcBef>
              <a:buFontTx/>
              <a:buNone/>
            </a:pPr>
            <a:r>
              <a:rPr lang="en-US" altLang="en-US" sz="1800" b="1">
                <a:solidFill>
                  <a:srgbClr val="000000"/>
                </a:solidFill>
                <a:latin typeface="Courier New" panose="02070309020205020404" pitchFamily="49" charset="0"/>
              </a:rPr>
              <a:t>CLARK	10</a:t>
            </a:r>
          </a:p>
          <a:p>
            <a:pPr>
              <a:lnSpc>
                <a:spcPct val="95000"/>
              </a:lnSpc>
              <a:spcBef>
                <a:spcPct val="0"/>
              </a:spcBef>
              <a:buFontTx/>
              <a:buNone/>
            </a:pPr>
            <a:r>
              <a:rPr lang="en-US" altLang="en-US" sz="1800" b="1">
                <a:solidFill>
                  <a:srgbClr val="000000"/>
                </a:solidFill>
                <a:latin typeface="Courier New" panose="02070309020205020404" pitchFamily="49" charset="0"/>
              </a:rPr>
              <a:t>JONES	20</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7899" name="Rectangle 13">
            <a:extLst>
              <a:ext uri="{FF2B5EF4-FFF2-40B4-BE49-F238E27FC236}">
                <a16:creationId xmlns:a16="http://schemas.microsoft.com/office/drawing/2014/main" id="{22728CAE-D60D-F166-8E53-491AD72844BD}"/>
              </a:ext>
            </a:extLst>
          </p:cNvPr>
          <p:cNvSpPr>
            <a:spLocks noChangeArrowheads="1"/>
          </p:cNvSpPr>
          <p:nvPr/>
        </p:nvSpPr>
        <p:spPr bwMode="blackWhite">
          <a:xfrm>
            <a:off x="4576763" y="1739900"/>
            <a:ext cx="2560637"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10 	ACCOUNTING</a:t>
            </a:r>
          </a:p>
          <a:p>
            <a:pPr>
              <a:lnSpc>
                <a:spcPct val="95000"/>
              </a:lnSpc>
              <a:spcBef>
                <a:spcPct val="0"/>
              </a:spcBef>
              <a:buFontTx/>
              <a:buNone/>
            </a:pPr>
            <a:r>
              <a:rPr lang="en-US" altLang="en-US" sz="1800" b="1">
                <a:solidFill>
                  <a:srgbClr val="000000"/>
                </a:solidFill>
                <a:latin typeface="Courier New" panose="02070309020205020404" pitchFamily="49" charset="0"/>
              </a:rPr>
              <a:t>30 	SALES</a:t>
            </a:r>
          </a:p>
          <a:p>
            <a:pPr>
              <a:lnSpc>
                <a:spcPct val="95000"/>
              </a:lnSpc>
              <a:spcBef>
                <a:spcPct val="0"/>
              </a:spcBef>
              <a:buFontTx/>
              <a:buNone/>
            </a:pPr>
            <a:r>
              <a:rPr lang="en-US" altLang="en-US" sz="1800" b="1">
                <a:solidFill>
                  <a:srgbClr val="000000"/>
                </a:solidFill>
                <a:latin typeface="Courier New" panose="02070309020205020404" pitchFamily="49" charset="0"/>
              </a:rPr>
              <a:t>10 	ACCOUNTING</a:t>
            </a:r>
          </a:p>
          <a:p>
            <a:pPr>
              <a:lnSpc>
                <a:spcPct val="95000"/>
              </a:lnSpc>
              <a:spcBef>
                <a:spcPct val="0"/>
              </a:spcBef>
              <a:buFontTx/>
              <a:buNone/>
            </a:pPr>
            <a:r>
              <a:rPr lang="en-US" altLang="en-US" sz="1800" b="1">
                <a:solidFill>
                  <a:srgbClr val="000000"/>
                </a:solidFill>
                <a:latin typeface="Courier New" panose="02070309020205020404" pitchFamily="49" charset="0"/>
              </a:rPr>
              <a:t>20	RESEARCH</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40	OPERATIONS</a:t>
            </a:r>
          </a:p>
        </p:txBody>
      </p:sp>
      <p:grpSp>
        <p:nvGrpSpPr>
          <p:cNvPr id="37900" name="Group 16">
            <a:extLst>
              <a:ext uri="{FF2B5EF4-FFF2-40B4-BE49-F238E27FC236}">
                <a16:creationId xmlns:a16="http://schemas.microsoft.com/office/drawing/2014/main" id="{93C07A09-7E6E-F02F-97A7-CC5195348DA7}"/>
              </a:ext>
            </a:extLst>
          </p:cNvPr>
          <p:cNvGrpSpPr>
            <a:grpSpLocks/>
          </p:cNvGrpSpPr>
          <p:nvPr/>
        </p:nvGrpSpPr>
        <p:grpSpPr bwMode="auto">
          <a:xfrm>
            <a:off x="3378200" y="404813"/>
            <a:ext cx="1701800" cy="638175"/>
            <a:chOff x="3135" y="1632"/>
            <a:chExt cx="1072" cy="402"/>
          </a:xfrm>
        </p:grpSpPr>
        <p:sp>
          <p:nvSpPr>
            <p:cNvPr id="37901" name="Rectangle 17">
              <a:extLst>
                <a:ext uri="{FF2B5EF4-FFF2-40B4-BE49-F238E27FC236}">
                  <a16:creationId xmlns:a16="http://schemas.microsoft.com/office/drawing/2014/main" id="{A275CB7E-4364-438A-8C2D-EEDD9A076EBE}"/>
                </a:ext>
              </a:extLst>
            </p:cNvPr>
            <p:cNvSpPr>
              <a:spLocks noChangeArrowheads="1"/>
            </p:cNvSpPr>
            <p:nvPr/>
          </p:nvSpPr>
          <p:spPr bwMode="blackWhite">
            <a:xfrm>
              <a:off x="3135"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902" name="Rectangle 18">
              <a:extLst>
                <a:ext uri="{FF2B5EF4-FFF2-40B4-BE49-F238E27FC236}">
                  <a16:creationId xmlns:a16="http://schemas.microsoft.com/office/drawing/2014/main" id="{27CC3CFB-B76C-8442-3BDE-3AE1F8293419}"/>
                </a:ext>
              </a:extLst>
            </p:cNvPr>
            <p:cNvSpPr>
              <a:spLocks noChangeArrowheads="1"/>
            </p:cNvSpPr>
            <p:nvPr/>
          </p:nvSpPr>
          <p:spPr bwMode="blackWhite">
            <a:xfrm>
              <a:off x="3717"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903" name="Oval 19">
              <a:extLst>
                <a:ext uri="{FF2B5EF4-FFF2-40B4-BE49-F238E27FC236}">
                  <a16:creationId xmlns:a16="http://schemas.microsoft.com/office/drawing/2014/main" id="{3776AC99-1150-8423-6AB9-5BF39A2B6995}"/>
                </a:ext>
              </a:extLst>
            </p:cNvPr>
            <p:cNvSpPr>
              <a:spLocks noChangeArrowheads="1"/>
            </p:cNvSpPr>
            <p:nvPr/>
          </p:nvSpPr>
          <p:spPr bwMode="blackWhite">
            <a:xfrm>
              <a:off x="3325" y="1785"/>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904" name="Oval 20">
              <a:extLst>
                <a:ext uri="{FF2B5EF4-FFF2-40B4-BE49-F238E27FC236}">
                  <a16:creationId xmlns:a16="http://schemas.microsoft.com/office/drawing/2014/main" id="{4B494191-AB74-9038-1AD5-C34542FB78B5}"/>
                </a:ext>
              </a:extLst>
            </p:cNvPr>
            <p:cNvSpPr>
              <a:spLocks noChangeArrowheads="1"/>
            </p:cNvSpPr>
            <p:nvPr/>
          </p:nvSpPr>
          <p:spPr bwMode="blackWhite">
            <a:xfrm>
              <a:off x="3912" y="1785"/>
              <a:ext cx="88" cy="88"/>
            </a:xfrm>
            <a:prstGeom prst="ellipse">
              <a:avLst/>
            </a:prstGeom>
            <a:gradFill rotWithShape="0">
              <a:gsLst>
                <a:gs pos="0">
                  <a:srgbClr val="002EB7"/>
                </a:gs>
                <a:gs pos="50000">
                  <a:srgbClr val="0033CC"/>
                </a:gs>
                <a:gs pos="100000">
                  <a:srgbClr val="002EB7"/>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7905" name="Line 21">
              <a:extLst>
                <a:ext uri="{FF2B5EF4-FFF2-40B4-BE49-F238E27FC236}">
                  <a16:creationId xmlns:a16="http://schemas.microsoft.com/office/drawing/2014/main" id="{A5B6ECD2-F0BD-6137-56B6-A3BBA9815F6B}"/>
                </a:ext>
              </a:extLst>
            </p:cNvPr>
            <p:cNvSpPr>
              <a:spLocks noChangeShapeType="1"/>
            </p:cNvSpPr>
            <p:nvPr/>
          </p:nvSpPr>
          <p:spPr bwMode="blackWhite">
            <a:xfrm>
              <a:off x="3461" y="183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6247"/>
                                        </p:tgtEl>
                                        <p:attrNameLst>
                                          <p:attrName>style.visibility</p:attrName>
                                        </p:attrNameLst>
                                      </p:cBhvr>
                                      <p:to>
                                        <p:strVal val="visible"/>
                                      </p:to>
                                    </p:set>
                                    <p:animEffect transition="in" filter="wipe(up)">
                                      <p:cBhvr>
                                        <p:cTn id="7" dur="500"/>
                                        <p:tgtEl>
                                          <p:spTgt spid="2662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6248"/>
                                        </p:tgtEl>
                                        <p:attrNameLst>
                                          <p:attrName>style.visibility</p:attrName>
                                        </p:attrNameLst>
                                      </p:cBhvr>
                                      <p:to>
                                        <p:strVal val="visible"/>
                                      </p:to>
                                    </p:set>
                                    <p:animEffect transition="in" filter="wipe(left)">
                                      <p:cBhvr>
                                        <p:cTn id="12" dur="500"/>
                                        <p:tgtEl>
                                          <p:spTgt spid="266248"/>
                                        </p:tgtEl>
                                      </p:cBhvr>
                                    </p:animEffect>
                                  </p:childTnLst>
                                </p:cTn>
                              </p:par>
                            </p:childTnLst>
                          </p:cTn>
                        </p:par>
                        <p:par>
                          <p:cTn id="13" fill="hold" nodeType="afterGroup">
                            <p:stCondLst>
                              <p:cond delay="500"/>
                            </p:stCondLst>
                            <p:childTnLst>
                              <p:par>
                                <p:cTn id="14" presetID="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7" grpId="0" animBg="1"/>
      <p:bldP spid="266248"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94B7E3D-BB09-0400-5FB4-F500B14D5822}"/>
              </a:ext>
            </a:extLst>
          </p:cNvPr>
          <p:cNvSpPr>
            <a:spLocks noGrp="1" noChangeArrowheads="1"/>
          </p:cNvSpPr>
          <p:nvPr>
            <p:ph type="title"/>
          </p:nvPr>
        </p:nvSpPr>
        <p:spPr>
          <a:xfrm>
            <a:off x="323850" y="660400"/>
            <a:ext cx="2409825" cy="536575"/>
          </a:xfrm>
          <a:noFill/>
        </p:spPr>
        <p:txBody>
          <a:bodyPr lIns="92075" tIns="46038" rIns="92075" bIns="46038" anchor="t"/>
          <a:lstStyle/>
          <a:p>
            <a:r>
              <a:rPr lang="en-US" altLang="en-US" sz="2800">
                <a:solidFill>
                  <a:srgbClr val="800000"/>
                </a:solidFill>
              </a:rPr>
              <a:t>Outer Joins</a:t>
            </a:r>
          </a:p>
        </p:txBody>
      </p:sp>
      <p:sp>
        <p:nvSpPr>
          <p:cNvPr id="18435" name="Rectangle 3">
            <a:extLst>
              <a:ext uri="{FF2B5EF4-FFF2-40B4-BE49-F238E27FC236}">
                <a16:creationId xmlns:a16="http://schemas.microsoft.com/office/drawing/2014/main" id="{67281CA4-5CCA-925C-AF3F-9CED1273E947}"/>
              </a:ext>
            </a:extLst>
          </p:cNvPr>
          <p:cNvSpPr>
            <a:spLocks noGrp="1" noChangeArrowheads="1"/>
          </p:cNvSpPr>
          <p:nvPr>
            <p:ph type="body" idx="1"/>
          </p:nvPr>
        </p:nvSpPr>
        <p:spPr>
          <a:xfrm>
            <a:off x="395288" y="1268413"/>
            <a:ext cx="8353425" cy="4697412"/>
          </a:xfrm>
        </p:spPr>
        <p:txBody>
          <a:bodyPr lIns="92075" tIns="46038" rIns="92075" bIns="46038">
            <a:spAutoFit/>
          </a:bodyPr>
          <a:lstStyle/>
          <a:p>
            <a:pPr algn="just">
              <a:defRPr/>
            </a:pPr>
            <a:r>
              <a:rPr lang="en-US" sz="2600" dirty="0"/>
              <a:t>Sometimes, while performing a join between two tables, you need to return all the rows from one table even when there are no corresponding rows in the other table.</a:t>
            </a:r>
          </a:p>
          <a:p>
            <a:pPr algn="just">
              <a:defRPr/>
            </a:pPr>
            <a:r>
              <a:rPr lang="en-US" sz="2600" dirty="0"/>
              <a:t>The inner join returns only those rows from the two tables that satisfy the join condition. Thus equijoin will not return the departments that don’t have any employee or employees whose department is NULL.</a:t>
            </a:r>
          </a:p>
          <a:p>
            <a:pPr marL="457200" lvl="1" indent="0" algn="just">
              <a:buFontTx/>
              <a:buNone/>
              <a:defRPr/>
            </a:pPr>
            <a:r>
              <a:rPr lang="en-US" dirty="0">
                <a:solidFill>
                  <a:schemeClr val="accent2"/>
                </a:solidFill>
              </a:rPr>
              <a:t>FROM </a:t>
            </a:r>
            <a:r>
              <a:rPr lang="en-US" i="1" dirty="0">
                <a:solidFill>
                  <a:schemeClr val="accent2"/>
                </a:solidFill>
              </a:rPr>
              <a:t>table1</a:t>
            </a:r>
            <a:r>
              <a:rPr lang="en-US" dirty="0">
                <a:solidFill>
                  <a:schemeClr val="accent2"/>
                </a:solidFill>
              </a:rPr>
              <a:t> { LEFT | RIGHT | FULL } [OUTER] </a:t>
            </a:r>
          </a:p>
          <a:p>
            <a:pPr marL="457200" lvl="1" indent="0" algn="just">
              <a:buFontTx/>
              <a:buNone/>
              <a:defRPr/>
            </a:pPr>
            <a:r>
              <a:rPr lang="en-US" dirty="0">
                <a:solidFill>
                  <a:schemeClr val="accent2"/>
                </a:solidFill>
              </a:rPr>
              <a:t>JOIN </a:t>
            </a:r>
            <a:r>
              <a:rPr lang="en-US" i="1" dirty="0">
                <a:solidFill>
                  <a:schemeClr val="accent2"/>
                </a:solidFill>
              </a:rPr>
              <a:t>table2</a:t>
            </a:r>
            <a:endParaRPr lang="en-US" dirty="0">
              <a:solidFill>
                <a:schemeClr val="accent2"/>
              </a:solidFill>
            </a:endParaRPr>
          </a:p>
          <a:p>
            <a:pPr marL="400050" lvl="1" indent="0" algn="just">
              <a:buFontTx/>
              <a:buNone/>
              <a:defRPr/>
            </a:pPr>
            <a:r>
              <a:rPr lang="en-US" b="1" dirty="0">
                <a:solidFill>
                  <a:schemeClr val="accent2"/>
                </a:solidFill>
              </a:rPr>
              <a:t>ON </a:t>
            </a:r>
            <a:r>
              <a:rPr lang="en-US" dirty="0">
                <a:solidFill>
                  <a:srgbClr val="FF0000"/>
                </a:solidFill>
              </a:rPr>
              <a:t>table-1. </a:t>
            </a:r>
            <a:r>
              <a:rPr lang="en-US" dirty="0" err="1">
                <a:solidFill>
                  <a:srgbClr val="FF0000"/>
                </a:solidFill>
              </a:rPr>
              <a:t>Join_Col</a:t>
            </a:r>
            <a:r>
              <a:rPr lang="en-US" dirty="0">
                <a:solidFill>
                  <a:srgbClr val="FF0000"/>
                </a:solidFill>
              </a:rPr>
              <a:t> = table-2. </a:t>
            </a:r>
            <a:r>
              <a:rPr lang="en-US" dirty="0" err="1">
                <a:solidFill>
                  <a:srgbClr val="FF0000"/>
                </a:solidFill>
              </a:rPr>
              <a:t>Join_Col</a:t>
            </a:r>
            <a:endParaRPr lang="en-US" dirty="0">
              <a:solidFill>
                <a:srgbClr val="F8F8D3"/>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832B62B-7CCB-16D8-DDAE-F8D80C5D04FE}"/>
              </a:ext>
            </a:extLst>
          </p:cNvPr>
          <p:cNvSpPr>
            <a:spLocks noGrp="1" noChangeArrowheads="1"/>
          </p:cNvSpPr>
          <p:nvPr>
            <p:ph type="title"/>
          </p:nvPr>
        </p:nvSpPr>
        <p:spPr>
          <a:xfrm>
            <a:off x="323850" y="660400"/>
            <a:ext cx="2409825" cy="536575"/>
          </a:xfrm>
          <a:noFill/>
        </p:spPr>
        <p:txBody>
          <a:bodyPr lIns="92075" tIns="46038" rIns="92075" bIns="46038" anchor="t"/>
          <a:lstStyle/>
          <a:p>
            <a:r>
              <a:rPr lang="en-US" altLang="en-US" sz="2800">
                <a:solidFill>
                  <a:srgbClr val="800000"/>
                </a:solidFill>
              </a:rPr>
              <a:t>Outer Joins</a:t>
            </a:r>
          </a:p>
        </p:txBody>
      </p:sp>
      <p:sp>
        <p:nvSpPr>
          <p:cNvPr id="41987" name="Rectangle 3">
            <a:extLst>
              <a:ext uri="{FF2B5EF4-FFF2-40B4-BE49-F238E27FC236}">
                <a16:creationId xmlns:a16="http://schemas.microsoft.com/office/drawing/2014/main" id="{7A44458D-7816-B0DB-BD73-19AA9495D365}"/>
              </a:ext>
            </a:extLst>
          </p:cNvPr>
          <p:cNvSpPr>
            <a:spLocks noGrp="1" noChangeArrowheads="1"/>
          </p:cNvSpPr>
          <p:nvPr>
            <p:ph type="body" idx="1"/>
          </p:nvPr>
        </p:nvSpPr>
        <p:spPr>
          <a:xfrm>
            <a:off x="395288" y="1268413"/>
            <a:ext cx="8353425" cy="5189537"/>
          </a:xfrm>
          <a:noFill/>
        </p:spPr>
        <p:txBody>
          <a:bodyPr lIns="92075" tIns="46038" rIns="92075" bIns="46038">
            <a:spAutoFit/>
          </a:bodyPr>
          <a:lstStyle/>
          <a:p>
            <a:pPr algn="just"/>
            <a:r>
              <a:rPr lang="en-US" altLang="en-US" sz="1800" b="1" i="1">
                <a:solidFill>
                  <a:schemeClr val="accent2"/>
                </a:solidFill>
              </a:rPr>
              <a:t>LEFT</a:t>
            </a:r>
            <a:endParaRPr lang="en-US" altLang="en-US" sz="1800" b="1">
              <a:solidFill>
                <a:schemeClr val="accent2"/>
              </a:solidFill>
            </a:endParaRPr>
          </a:p>
          <a:p>
            <a:pPr marL="400050" lvl="1" indent="0" algn="just">
              <a:buFontTx/>
              <a:buNone/>
            </a:pPr>
            <a:r>
              <a:rPr lang="en-US" altLang="en-US" sz="1800"/>
              <a:t>Specifies that the results be generated using all rows from </a:t>
            </a:r>
            <a:r>
              <a:rPr lang="en-US" altLang="en-US" sz="1800" i="1"/>
              <a:t>table1</a:t>
            </a:r>
            <a:r>
              <a:rPr lang="en-US" altLang="en-US" sz="1800"/>
              <a:t>. For those rows in </a:t>
            </a:r>
            <a:r>
              <a:rPr lang="en-US" altLang="en-US" sz="1800" i="1"/>
              <a:t>table1</a:t>
            </a:r>
            <a:r>
              <a:rPr lang="en-US" altLang="en-US" sz="1800"/>
              <a:t> that don't have corresponding rows in </a:t>
            </a:r>
            <a:r>
              <a:rPr lang="en-US" altLang="en-US" sz="1800" i="1"/>
              <a:t>table2</a:t>
            </a:r>
            <a:r>
              <a:rPr lang="en-US" altLang="en-US" sz="1800"/>
              <a:t>, NULLs are returned in the result set for the </a:t>
            </a:r>
            <a:r>
              <a:rPr lang="en-US" altLang="en-US" sz="1800" i="1"/>
              <a:t>table2</a:t>
            </a:r>
            <a:r>
              <a:rPr lang="en-US" altLang="en-US" sz="1800"/>
              <a:t> columns.</a:t>
            </a:r>
          </a:p>
          <a:p>
            <a:pPr algn="just"/>
            <a:r>
              <a:rPr lang="en-US" altLang="en-US" sz="1800" b="1" i="1">
                <a:solidFill>
                  <a:schemeClr val="accent2"/>
                </a:solidFill>
              </a:rPr>
              <a:t>RIGHT</a:t>
            </a:r>
            <a:endParaRPr lang="en-US" altLang="en-US" sz="1800" b="1">
              <a:solidFill>
                <a:schemeClr val="accent2"/>
              </a:solidFill>
            </a:endParaRPr>
          </a:p>
          <a:p>
            <a:pPr marL="400050" lvl="1" indent="0" algn="just">
              <a:buFontTx/>
              <a:buNone/>
            </a:pPr>
            <a:r>
              <a:rPr lang="en-US" altLang="en-US" sz="1800"/>
              <a:t>Specifies that the results be generated using all rows from </a:t>
            </a:r>
            <a:r>
              <a:rPr lang="en-US" altLang="en-US" sz="1800" i="1"/>
              <a:t>table2</a:t>
            </a:r>
            <a:r>
              <a:rPr lang="en-US" altLang="en-US" sz="1800"/>
              <a:t>. For those rows in </a:t>
            </a:r>
            <a:r>
              <a:rPr lang="en-US" altLang="en-US" sz="1800" i="1"/>
              <a:t>table2</a:t>
            </a:r>
            <a:r>
              <a:rPr lang="en-US" altLang="en-US" sz="1800"/>
              <a:t> that don't have corresponding rows in </a:t>
            </a:r>
            <a:r>
              <a:rPr lang="en-US" altLang="en-US" sz="1800" i="1"/>
              <a:t>table1</a:t>
            </a:r>
            <a:r>
              <a:rPr lang="en-US" altLang="en-US" sz="1800"/>
              <a:t>, NULLs are returned in the result set for the </a:t>
            </a:r>
            <a:r>
              <a:rPr lang="en-US" altLang="en-US" sz="1800" i="1"/>
              <a:t>table1</a:t>
            </a:r>
            <a:r>
              <a:rPr lang="en-US" altLang="en-US" sz="1800"/>
              <a:t> columns.</a:t>
            </a:r>
          </a:p>
          <a:p>
            <a:pPr algn="just"/>
            <a:r>
              <a:rPr lang="en-US" altLang="en-US" sz="1800" b="1" i="1">
                <a:solidFill>
                  <a:schemeClr val="accent2"/>
                </a:solidFill>
              </a:rPr>
              <a:t>FULL</a:t>
            </a:r>
            <a:endParaRPr lang="en-US" altLang="en-US" sz="1800" b="1">
              <a:solidFill>
                <a:schemeClr val="accent2"/>
              </a:solidFill>
            </a:endParaRPr>
          </a:p>
          <a:p>
            <a:pPr marL="400050" lvl="1" indent="0" algn="just">
              <a:buFontTx/>
              <a:buNone/>
            </a:pPr>
            <a:r>
              <a:rPr lang="en-US" altLang="en-US" sz="1800"/>
              <a:t>Specifies that the results be generated using all rows from </a:t>
            </a:r>
            <a:r>
              <a:rPr lang="en-US" altLang="en-US" sz="1800" i="1"/>
              <a:t>table1</a:t>
            </a:r>
            <a:r>
              <a:rPr lang="en-US" altLang="en-US" sz="1800"/>
              <a:t> and </a:t>
            </a:r>
            <a:r>
              <a:rPr lang="en-US" altLang="en-US" sz="1800" i="1"/>
              <a:t>table2</a:t>
            </a:r>
            <a:r>
              <a:rPr lang="en-US" altLang="en-US" sz="1800"/>
              <a:t>. For those rows in </a:t>
            </a:r>
            <a:r>
              <a:rPr lang="en-US" altLang="en-US" sz="1800" i="1"/>
              <a:t>table1</a:t>
            </a:r>
            <a:r>
              <a:rPr lang="en-US" altLang="en-US" sz="1800"/>
              <a:t> that don't have corresponding rows in </a:t>
            </a:r>
            <a:r>
              <a:rPr lang="en-US" altLang="en-US" sz="1800" i="1"/>
              <a:t>table2</a:t>
            </a:r>
            <a:r>
              <a:rPr lang="en-US" altLang="en-US" sz="1800"/>
              <a:t>, NULLs are returned in the result set for the </a:t>
            </a:r>
            <a:r>
              <a:rPr lang="en-US" altLang="en-US" sz="1800" i="1"/>
              <a:t>table2</a:t>
            </a:r>
            <a:r>
              <a:rPr lang="en-US" altLang="en-US" sz="1800"/>
              <a:t> columns and vice-versa. </a:t>
            </a:r>
          </a:p>
          <a:p>
            <a:pPr algn="just"/>
            <a:r>
              <a:rPr lang="en-US" altLang="en-US" sz="1800" b="1" i="1">
                <a:solidFill>
                  <a:schemeClr val="accent2"/>
                </a:solidFill>
              </a:rPr>
              <a:t>OUTER</a:t>
            </a:r>
            <a:endParaRPr lang="en-US" altLang="en-US" sz="1800" b="1">
              <a:solidFill>
                <a:schemeClr val="accent2"/>
              </a:solidFill>
            </a:endParaRPr>
          </a:p>
          <a:p>
            <a:pPr marL="400050" lvl="1" indent="0" algn="just">
              <a:buFontTx/>
              <a:buNone/>
            </a:pPr>
            <a:r>
              <a:rPr lang="en-US" altLang="en-US" sz="1800"/>
              <a:t>Specifies that you are performing an OUTER join. This keyword is optional. If you use LEFT, RIGHT, or FULL, Oracle automatically assumes an outer join. The OUTER keyword is for completeness' sake, and complements the INNER keyword.</a:t>
            </a:r>
            <a:endParaRPr lang="en-US" altLang="en-US" sz="1800">
              <a:solidFill>
                <a:srgbClr val="F8F8D3"/>
              </a:solidFill>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04FF2A6-482B-58DA-16E9-202FBB395839}"/>
              </a:ext>
            </a:extLst>
          </p:cNvPr>
          <p:cNvSpPr>
            <a:spLocks noGrp="1" noChangeArrowheads="1"/>
          </p:cNvSpPr>
          <p:nvPr>
            <p:ph type="title"/>
          </p:nvPr>
        </p:nvSpPr>
        <p:spPr>
          <a:xfrm>
            <a:off x="323850" y="660400"/>
            <a:ext cx="2409825" cy="536575"/>
          </a:xfrm>
          <a:noFill/>
        </p:spPr>
        <p:txBody>
          <a:bodyPr lIns="92075" tIns="46038" rIns="92075" bIns="46038" anchor="t"/>
          <a:lstStyle/>
          <a:p>
            <a:r>
              <a:rPr lang="en-US" altLang="en-US" sz="2800">
                <a:solidFill>
                  <a:srgbClr val="800000"/>
                </a:solidFill>
              </a:rPr>
              <a:t>Outer Joins</a:t>
            </a:r>
          </a:p>
        </p:txBody>
      </p:sp>
      <p:sp>
        <p:nvSpPr>
          <p:cNvPr id="44035" name="Rectangle 3">
            <a:extLst>
              <a:ext uri="{FF2B5EF4-FFF2-40B4-BE49-F238E27FC236}">
                <a16:creationId xmlns:a16="http://schemas.microsoft.com/office/drawing/2014/main" id="{7C2633A2-EE85-F214-4C35-4B914C3730D2}"/>
              </a:ext>
            </a:extLst>
          </p:cNvPr>
          <p:cNvSpPr>
            <a:spLocks noGrp="1" noChangeArrowheads="1"/>
          </p:cNvSpPr>
          <p:nvPr>
            <p:ph type="body" idx="1"/>
          </p:nvPr>
        </p:nvSpPr>
        <p:spPr>
          <a:xfrm>
            <a:off x="323850" y="1295400"/>
            <a:ext cx="8424863" cy="5041900"/>
          </a:xfrm>
          <a:noFill/>
        </p:spPr>
        <p:txBody>
          <a:bodyPr lIns="92075" tIns="46038" rIns="92075" bIns="46038">
            <a:spAutoFit/>
          </a:bodyPr>
          <a:lstStyle/>
          <a:p>
            <a:pPr lvl="1"/>
            <a:r>
              <a:rPr lang="en-US" altLang="en-US"/>
              <a:t>You use an outer join to also see rows that do not usually meet the join condition.</a:t>
            </a:r>
          </a:p>
          <a:p>
            <a:pPr lvl="1"/>
            <a:r>
              <a:rPr lang="en-US" altLang="en-US"/>
              <a:t>Outer join operator is the plus sign </a:t>
            </a:r>
            <a:r>
              <a:rPr lang="en-US" altLang="en-US">
                <a:solidFill>
                  <a:srgbClr val="FF0033"/>
                </a:solidFill>
              </a:rPr>
              <a:t>(+)</a:t>
            </a:r>
            <a:r>
              <a:rPr lang="en-US" altLang="en-US"/>
              <a:t>.</a:t>
            </a:r>
          </a:p>
          <a:p>
            <a:pPr lvl="1"/>
            <a:r>
              <a:rPr lang="en-US" altLang="en-US">
                <a:solidFill>
                  <a:schemeClr val="accent2"/>
                </a:solidFill>
              </a:rPr>
              <a:t>Left Outer Join</a:t>
            </a:r>
          </a:p>
          <a:p>
            <a:pPr lvl="2"/>
            <a:r>
              <a:rPr lang="en-US" altLang="en-US">
                <a:solidFill>
                  <a:srgbClr val="FF0000"/>
                </a:solidFill>
              </a:rPr>
              <a:t>Column of </a:t>
            </a:r>
            <a:r>
              <a:rPr lang="en-US" altLang="en-US"/>
              <a:t>table1</a:t>
            </a:r>
            <a:r>
              <a:rPr lang="en-US" altLang="en-US">
                <a:solidFill>
                  <a:srgbClr val="FF0000"/>
                </a:solidFill>
              </a:rPr>
              <a:t> has a NULL values</a:t>
            </a:r>
          </a:p>
          <a:p>
            <a:pPr lvl="2"/>
            <a:endParaRPr lang="en-US" altLang="en-US">
              <a:solidFill>
                <a:srgbClr val="FF0000"/>
              </a:solidFill>
            </a:endParaRPr>
          </a:p>
          <a:p>
            <a:pPr lvl="2"/>
            <a:endParaRPr lang="en-US" altLang="en-US">
              <a:solidFill>
                <a:srgbClr val="FF0000"/>
              </a:solidFill>
            </a:endParaRPr>
          </a:p>
          <a:p>
            <a:pPr lvl="2"/>
            <a:endParaRPr lang="en-US" altLang="en-US">
              <a:solidFill>
                <a:srgbClr val="FF0000"/>
              </a:solidFill>
            </a:endParaRPr>
          </a:p>
          <a:p>
            <a:pPr lvl="1"/>
            <a:r>
              <a:rPr lang="en-US" altLang="en-US">
                <a:solidFill>
                  <a:schemeClr val="accent2"/>
                </a:solidFill>
              </a:rPr>
              <a:t>Right Outer Join</a:t>
            </a:r>
          </a:p>
          <a:p>
            <a:pPr lvl="2"/>
            <a:r>
              <a:rPr lang="en-US" altLang="en-US">
                <a:solidFill>
                  <a:srgbClr val="FF0000"/>
                </a:solidFill>
              </a:rPr>
              <a:t>Column of </a:t>
            </a:r>
            <a:r>
              <a:rPr lang="en-US" altLang="en-US"/>
              <a:t>table2</a:t>
            </a:r>
            <a:r>
              <a:rPr lang="en-US" altLang="en-US">
                <a:solidFill>
                  <a:srgbClr val="FF0000"/>
                </a:solidFill>
              </a:rPr>
              <a:t> has a NULL values</a:t>
            </a:r>
          </a:p>
          <a:p>
            <a:pPr lvl="1">
              <a:buFontTx/>
              <a:buNone/>
            </a:pPr>
            <a:endParaRPr lang="en-US" altLang="en-US">
              <a:solidFill>
                <a:schemeClr val="accent2"/>
              </a:solidFill>
            </a:endParaRPr>
          </a:p>
          <a:p>
            <a:endParaRPr lang="en-US" altLang="en-US">
              <a:solidFill>
                <a:srgbClr val="F8F8D3"/>
              </a:solidFill>
            </a:endParaRPr>
          </a:p>
        </p:txBody>
      </p:sp>
      <p:sp>
        <p:nvSpPr>
          <p:cNvPr id="44036" name="Rectangle 4">
            <a:extLst>
              <a:ext uri="{FF2B5EF4-FFF2-40B4-BE49-F238E27FC236}">
                <a16:creationId xmlns:a16="http://schemas.microsoft.com/office/drawing/2014/main" id="{45E20E02-E7A6-B47F-12CA-9C06F4191D6A}"/>
              </a:ext>
            </a:extLst>
          </p:cNvPr>
          <p:cNvSpPr>
            <a:spLocks noChangeArrowheads="1"/>
          </p:cNvSpPr>
          <p:nvPr/>
        </p:nvSpPr>
        <p:spPr bwMode="blackWhite">
          <a:xfrm>
            <a:off x="908050" y="3354388"/>
            <a:ext cx="7270750"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966788" algn="l"/>
              </a:tabLst>
              <a:defRPr sz="2800">
                <a:solidFill>
                  <a:schemeClr val="tx1"/>
                </a:solidFill>
                <a:latin typeface="Arial" panose="020B0604020202020204" pitchFamily="34" charset="0"/>
              </a:defRPr>
            </a:lvl1pPr>
            <a:lvl2pPr marL="742950" indent="-285750">
              <a:spcBef>
                <a:spcPct val="20000"/>
              </a:spcBef>
              <a:buChar char="–"/>
              <a:tabLst>
                <a:tab pos="966788" algn="l"/>
              </a:tabLst>
              <a:defRPr sz="2400">
                <a:solidFill>
                  <a:schemeClr val="tx1"/>
                </a:solidFill>
                <a:latin typeface="Arial" panose="020B0604020202020204" pitchFamily="34" charset="0"/>
              </a:defRPr>
            </a:lvl2pPr>
            <a:lvl3pPr marL="1143000" indent="-228600">
              <a:spcBef>
                <a:spcPct val="20000"/>
              </a:spcBef>
              <a:buChar char="•"/>
              <a:tabLst>
                <a:tab pos="966788" algn="l"/>
              </a:tabLst>
              <a:defRPr sz="2000">
                <a:solidFill>
                  <a:schemeClr val="tx1"/>
                </a:solidFill>
                <a:latin typeface="Arial" panose="020B0604020202020204" pitchFamily="34" charset="0"/>
              </a:defRPr>
            </a:lvl3pPr>
            <a:lvl4pPr marL="1600200" indent="-228600">
              <a:spcBef>
                <a:spcPct val="20000"/>
              </a:spcBef>
              <a:buChar char="–"/>
              <a:tabLst>
                <a:tab pos="966788" algn="l"/>
              </a:tabLst>
              <a:defRPr sz="2000">
                <a:solidFill>
                  <a:schemeClr val="tx1"/>
                </a:solidFill>
                <a:latin typeface="Arial" panose="020B0604020202020204" pitchFamily="34" charset="0"/>
              </a:defRPr>
            </a:lvl4pPr>
            <a:lvl5pPr marL="2057400" indent="-228600">
              <a:spcBef>
                <a:spcPct val="20000"/>
              </a:spcBef>
              <a:buChar char="»"/>
              <a:tabLst>
                <a:tab pos="9667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table1.column, table2.column</a:t>
            </a:r>
            <a:endParaRPr lang="en-US" altLang="en-US" sz="1800" b="1">
              <a:solidFill>
                <a:srgbClr val="000000"/>
              </a:solidFill>
              <a:latin typeface="Courier New" panose="02070309020205020404" pitchFamily="49" charset="0"/>
            </a:endParaRPr>
          </a:p>
          <a:p>
            <a:pPr>
              <a:lnSpc>
                <a:spcPct val="120000"/>
              </a:lnSpc>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table1, table2</a:t>
            </a:r>
            <a:endParaRPr lang="en-US" altLang="en-US" sz="1800" b="1">
              <a:solidFill>
                <a:srgbClr val="000000"/>
              </a:solidFill>
              <a:latin typeface="Courier New" panose="02070309020205020404" pitchFamily="49" charset="0"/>
            </a:endParaRPr>
          </a:p>
          <a:p>
            <a:pPr>
              <a:lnSpc>
                <a:spcPct val="120000"/>
              </a:lnSpc>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table1.column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 table2.column </a:t>
            </a:r>
            <a:r>
              <a:rPr lang="en-US" altLang="en-US" sz="1800" b="1" i="1">
                <a:solidFill>
                  <a:srgbClr val="FF0033"/>
                </a:solidFill>
                <a:latin typeface="Courier New" panose="02070309020205020404" pitchFamily="49" charset="0"/>
              </a:rPr>
              <a:t>(+)</a:t>
            </a:r>
            <a:r>
              <a:rPr lang="en-US" altLang="en-US" sz="1800" b="1">
                <a:solidFill>
                  <a:srgbClr val="000000"/>
                </a:solidFill>
                <a:latin typeface="Courier New" panose="02070309020205020404" pitchFamily="49" charset="0"/>
              </a:rPr>
              <a:t>;</a:t>
            </a:r>
          </a:p>
        </p:txBody>
      </p:sp>
      <p:sp>
        <p:nvSpPr>
          <p:cNvPr id="268293" name="Rectangle 5">
            <a:extLst>
              <a:ext uri="{FF2B5EF4-FFF2-40B4-BE49-F238E27FC236}">
                <a16:creationId xmlns:a16="http://schemas.microsoft.com/office/drawing/2014/main" id="{6ADC6579-1142-E342-11E2-AA15C31E9A63}"/>
              </a:ext>
            </a:extLst>
          </p:cNvPr>
          <p:cNvSpPr>
            <a:spLocks noChangeArrowheads="1"/>
          </p:cNvSpPr>
          <p:nvPr/>
        </p:nvSpPr>
        <p:spPr bwMode="blackWhite">
          <a:xfrm>
            <a:off x="920750" y="5300663"/>
            <a:ext cx="7270750"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966788" algn="l"/>
              </a:tabLst>
              <a:defRPr sz="2800">
                <a:solidFill>
                  <a:schemeClr val="tx1"/>
                </a:solidFill>
                <a:latin typeface="Arial" panose="020B0604020202020204" pitchFamily="34" charset="0"/>
              </a:defRPr>
            </a:lvl1pPr>
            <a:lvl2pPr marL="742950" indent="-285750">
              <a:spcBef>
                <a:spcPct val="20000"/>
              </a:spcBef>
              <a:buChar char="–"/>
              <a:tabLst>
                <a:tab pos="966788" algn="l"/>
              </a:tabLst>
              <a:defRPr sz="2400">
                <a:solidFill>
                  <a:schemeClr val="tx1"/>
                </a:solidFill>
                <a:latin typeface="Arial" panose="020B0604020202020204" pitchFamily="34" charset="0"/>
              </a:defRPr>
            </a:lvl2pPr>
            <a:lvl3pPr marL="1143000" indent="-228600">
              <a:spcBef>
                <a:spcPct val="20000"/>
              </a:spcBef>
              <a:buChar char="•"/>
              <a:tabLst>
                <a:tab pos="966788" algn="l"/>
              </a:tabLst>
              <a:defRPr sz="2000">
                <a:solidFill>
                  <a:schemeClr val="tx1"/>
                </a:solidFill>
                <a:latin typeface="Arial" panose="020B0604020202020204" pitchFamily="34" charset="0"/>
              </a:defRPr>
            </a:lvl3pPr>
            <a:lvl4pPr marL="1600200" indent="-228600">
              <a:spcBef>
                <a:spcPct val="20000"/>
              </a:spcBef>
              <a:buChar char="–"/>
              <a:tabLst>
                <a:tab pos="966788" algn="l"/>
              </a:tabLst>
              <a:defRPr sz="2000">
                <a:solidFill>
                  <a:schemeClr val="tx1"/>
                </a:solidFill>
                <a:latin typeface="Arial" panose="020B0604020202020204" pitchFamily="34" charset="0"/>
              </a:defRPr>
            </a:lvl4pPr>
            <a:lvl5pPr marL="2057400" indent="-228600">
              <a:spcBef>
                <a:spcPct val="20000"/>
              </a:spcBef>
              <a:buChar char="»"/>
              <a:tabLst>
                <a:tab pos="9667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table1.column, table2.column</a:t>
            </a:r>
            <a:endParaRPr lang="en-US" altLang="en-US" sz="1800" b="1">
              <a:solidFill>
                <a:srgbClr val="000000"/>
              </a:solidFill>
              <a:latin typeface="Courier New" panose="02070309020205020404" pitchFamily="49" charset="0"/>
            </a:endParaRPr>
          </a:p>
          <a:p>
            <a:pPr>
              <a:lnSpc>
                <a:spcPct val="120000"/>
              </a:lnSpc>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table1, table2</a:t>
            </a:r>
            <a:endParaRPr lang="en-US" altLang="en-US" sz="1800" b="1">
              <a:solidFill>
                <a:srgbClr val="000000"/>
              </a:solidFill>
              <a:latin typeface="Courier New" panose="02070309020205020404" pitchFamily="49" charset="0"/>
            </a:endParaRPr>
          </a:p>
          <a:p>
            <a:pPr>
              <a:lnSpc>
                <a:spcPct val="120000"/>
              </a:lnSpc>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table1.column </a:t>
            </a:r>
            <a:r>
              <a:rPr lang="en-US" altLang="en-US" sz="1800" b="1" i="1">
                <a:solidFill>
                  <a:srgbClr val="FF0033"/>
                </a:solidFill>
                <a:latin typeface="Courier New" panose="02070309020205020404" pitchFamily="49" charset="0"/>
              </a:rPr>
              <a:t>(+) </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table2.column ; </a:t>
            </a:r>
            <a:endParaRPr lang="en-US" altLang="en-US" sz="1800" b="1">
              <a:solidFill>
                <a:srgbClr val="000000"/>
              </a:solidFill>
              <a:latin typeface="Courier New" panose="02070309020205020404" pitchFamily="49"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up)">
                                      <p:cBhvr>
                                        <p:cTn id="7" dur="500"/>
                                        <p:tgtEl>
                                          <p:spTgt spid="268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F514294-3706-8887-13E5-2325D9D7F5FC}"/>
              </a:ext>
            </a:extLst>
          </p:cNvPr>
          <p:cNvSpPr>
            <a:spLocks noChangeArrowheads="1"/>
          </p:cNvSpPr>
          <p:nvPr/>
        </p:nvSpPr>
        <p:spPr bwMode="blackWhite">
          <a:xfrm>
            <a:off x="889000" y="1700213"/>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46083" name="Rectangle 3">
            <a:extLst>
              <a:ext uri="{FF2B5EF4-FFF2-40B4-BE49-F238E27FC236}">
                <a16:creationId xmlns:a16="http://schemas.microsoft.com/office/drawing/2014/main" id="{4D7CFEB8-A58F-2278-8931-7F2F3C1D02AE}"/>
              </a:ext>
            </a:extLst>
          </p:cNvPr>
          <p:cNvSpPr>
            <a:spLocks noChangeArrowheads="1"/>
          </p:cNvSpPr>
          <p:nvPr/>
        </p:nvSpPr>
        <p:spPr bwMode="blackWhite">
          <a:xfrm>
            <a:off x="900113" y="4403725"/>
            <a:ext cx="73596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6084" name="Rectangle 4">
            <a:extLst>
              <a:ext uri="{FF2B5EF4-FFF2-40B4-BE49-F238E27FC236}">
                <a16:creationId xmlns:a16="http://schemas.microsoft.com/office/drawing/2014/main" id="{F0C3A901-0C5B-3B86-B79D-13202CCA7F27}"/>
              </a:ext>
            </a:extLst>
          </p:cNvPr>
          <p:cNvSpPr>
            <a:spLocks noGrp="1" noChangeArrowheads="1"/>
          </p:cNvSpPr>
          <p:nvPr>
            <p:ph type="title"/>
          </p:nvPr>
        </p:nvSpPr>
        <p:spPr>
          <a:xfrm>
            <a:off x="323850" y="660400"/>
            <a:ext cx="3059113" cy="536575"/>
          </a:xfrm>
          <a:noFill/>
        </p:spPr>
        <p:txBody>
          <a:bodyPr lIns="92075" tIns="46038" rIns="92075" bIns="46038" anchor="t"/>
          <a:lstStyle/>
          <a:p>
            <a:r>
              <a:rPr lang="en-US" altLang="en-US" sz="2800">
                <a:solidFill>
                  <a:srgbClr val="800000"/>
                </a:solidFill>
              </a:rPr>
              <a:t>Left Outer Joins</a:t>
            </a:r>
          </a:p>
        </p:txBody>
      </p:sp>
      <p:sp>
        <p:nvSpPr>
          <p:cNvPr id="46085" name="Rectangle 6">
            <a:extLst>
              <a:ext uri="{FF2B5EF4-FFF2-40B4-BE49-F238E27FC236}">
                <a16:creationId xmlns:a16="http://schemas.microsoft.com/office/drawing/2014/main" id="{89A93A21-868A-E394-3D2B-AC2B4AE36731}"/>
              </a:ext>
            </a:extLst>
          </p:cNvPr>
          <p:cNvSpPr>
            <a:spLocks noChangeArrowheads="1"/>
          </p:cNvSpPr>
          <p:nvPr/>
        </p:nvSpPr>
        <p:spPr bwMode="ltGray">
          <a:xfrm>
            <a:off x="2700338" y="2420938"/>
            <a:ext cx="3311525" cy="2873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6086" name="Rectangle 8">
            <a:extLst>
              <a:ext uri="{FF2B5EF4-FFF2-40B4-BE49-F238E27FC236}">
                <a16:creationId xmlns:a16="http://schemas.microsoft.com/office/drawing/2014/main" id="{763DBA32-344D-4ED4-7A81-BAABD57F046E}"/>
              </a:ext>
            </a:extLst>
          </p:cNvPr>
          <p:cNvSpPr>
            <a:spLocks noChangeArrowheads="1"/>
          </p:cNvSpPr>
          <p:nvPr/>
        </p:nvSpPr>
        <p:spPr bwMode="blackWhite">
          <a:xfrm>
            <a:off x="895350" y="1628775"/>
            <a:ext cx="73914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3  WHERE	e.deptno = d.deptno(+)</a:t>
            </a:r>
          </a:p>
          <a:p>
            <a:pPr>
              <a:lnSpc>
                <a:spcPct val="120000"/>
              </a:lnSpc>
              <a:spcBef>
                <a:spcPct val="0"/>
              </a:spcBef>
              <a:buFontTx/>
              <a:buNone/>
            </a:pPr>
            <a:r>
              <a:rPr lang="en-US" altLang="en-US" sz="1800" b="1">
                <a:solidFill>
                  <a:srgbClr val="000000"/>
                </a:solidFill>
                <a:latin typeface="Courier New" panose="02070309020205020404" pitchFamily="49" charset="0"/>
              </a:rPr>
              <a:t>  </a:t>
            </a:r>
          </a:p>
        </p:txBody>
      </p:sp>
      <p:sp>
        <p:nvSpPr>
          <p:cNvPr id="46087" name="Rectangle 9">
            <a:extLst>
              <a:ext uri="{FF2B5EF4-FFF2-40B4-BE49-F238E27FC236}">
                <a16:creationId xmlns:a16="http://schemas.microsoft.com/office/drawing/2014/main" id="{F051448D-5C1F-67F3-2220-4DCAE8FC2455}"/>
              </a:ext>
            </a:extLst>
          </p:cNvPr>
          <p:cNvSpPr>
            <a:spLocks noChangeArrowheads="1"/>
          </p:cNvSpPr>
          <p:nvPr/>
        </p:nvSpPr>
        <p:spPr bwMode="blackWhite">
          <a:xfrm>
            <a:off x="931863" y="4438650"/>
            <a:ext cx="73342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DEPTNO DNAME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10 ACCOUNTING</a:t>
            </a:r>
          </a:p>
          <a:p>
            <a:pPr>
              <a:spcBef>
                <a:spcPct val="0"/>
              </a:spcBef>
              <a:buFontTx/>
              <a:buNone/>
            </a:pPr>
            <a:r>
              <a:rPr lang="en-US" altLang="en-US" sz="1800" b="1">
                <a:solidFill>
                  <a:srgbClr val="000000"/>
                </a:solidFill>
                <a:latin typeface="Courier New" panose="02070309020205020404" pitchFamily="49" charset="0"/>
              </a:rPr>
              <a:t>CLARK             10 ACCOUNTING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BABU KHAN</a:t>
            </a:r>
          </a:p>
          <a:p>
            <a:pPr>
              <a:spcBef>
                <a:spcPct val="0"/>
              </a:spcBef>
              <a:buFontTx/>
              <a:buNone/>
            </a:pPr>
            <a:r>
              <a:rPr lang="en-US" altLang="en-US" sz="1800" b="1">
                <a:solidFill>
                  <a:srgbClr val="000000"/>
                </a:solidFill>
                <a:latin typeface="Courier New" panose="02070309020205020404" pitchFamily="49" charset="0"/>
              </a:rPr>
              <a:t>15 rows selected.</a:t>
            </a:r>
          </a:p>
        </p:txBody>
      </p:sp>
      <p:sp>
        <p:nvSpPr>
          <p:cNvPr id="46088" name="Text Box 10">
            <a:extLst>
              <a:ext uri="{FF2B5EF4-FFF2-40B4-BE49-F238E27FC236}">
                <a16:creationId xmlns:a16="http://schemas.microsoft.com/office/drawing/2014/main" id="{88FE9A9B-E449-9A9C-BDA1-E0A417BA8599}"/>
              </a:ext>
            </a:extLst>
          </p:cNvPr>
          <p:cNvSpPr txBox="1">
            <a:spLocks noChangeArrowheads="1"/>
          </p:cNvSpPr>
          <p:nvPr/>
        </p:nvSpPr>
        <p:spPr bwMode="auto">
          <a:xfrm>
            <a:off x="468313" y="1238250"/>
            <a:ext cx="828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To list any employees not assigned to a particular department.</a:t>
            </a:r>
          </a:p>
        </p:txBody>
      </p:sp>
      <p:sp>
        <p:nvSpPr>
          <p:cNvPr id="46089" name="Rectangle 7">
            <a:extLst>
              <a:ext uri="{FF2B5EF4-FFF2-40B4-BE49-F238E27FC236}">
                <a16:creationId xmlns:a16="http://schemas.microsoft.com/office/drawing/2014/main" id="{1272E7B6-7494-080F-B40F-C49AA2C57718}"/>
              </a:ext>
            </a:extLst>
          </p:cNvPr>
          <p:cNvSpPr>
            <a:spLocks noChangeArrowheads="1"/>
          </p:cNvSpPr>
          <p:nvPr/>
        </p:nvSpPr>
        <p:spPr bwMode="ltGray">
          <a:xfrm>
            <a:off x="3414713" y="5805488"/>
            <a:ext cx="1919287" cy="3603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6090" name="Rectangle 2">
            <a:extLst>
              <a:ext uri="{FF2B5EF4-FFF2-40B4-BE49-F238E27FC236}">
                <a16:creationId xmlns:a16="http://schemas.microsoft.com/office/drawing/2014/main" id="{71AB93A8-4A97-6D13-5AB4-9D38AD4EACA7}"/>
              </a:ext>
            </a:extLst>
          </p:cNvPr>
          <p:cNvSpPr>
            <a:spLocks noChangeArrowheads="1"/>
          </p:cNvSpPr>
          <p:nvPr/>
        </p:nvSpPr>
        <p:spPr bwMode="blackWhite">
          <a:xfrm>
            <a:off x="920750" y="3068638"/>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a:t>
            </a:r>
            <a:r>
              <a:rPr lang="en-US" altLang="en-US" sz="1800" b="1">
                <a:solidFill>
                  <a:schemeClr val="accent2"/>
                </a:solidFill>
                <a:latin typeface="Courier New" panose="02070309020205020404" pitchFamily="49" charset="0"/>
              </a:rPr>
              <a:t>emp e LEFT JOIN dept d</a:t>
            </a:r>
          </a:p>
          <a:p>
            <a:pPr>
              <a:lnSpc>
                <a:spcPct val="120000"/>
              </a:lnSpc>
              <a:spcBef>
                <a:spcPct val="0"/>
              </a:spcBef>
              <a:buFontTx/>
              <a:buNone/>
            </a:pPr>
            <a:r>
              <a:rPr lang="en-US" altLang="en-US" sz="1800" b="1">
                <a:solidFill>
                  <a:srgbClr val="000000"/>
                </a:solidFill>
                <a:latin typeface="Courier New" panose="02070309020205020404" pitchFamily="49" charset="0"/>
              </a:rPr>
              <a:t>  3  ON	e.deptno = d.deptno</a:t>
            </a: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46091" name="Rectangle 6">
            <a:extLst>
              <a:ext uri="{FF2B5EF4-FFF2-40B4-BE49-F238E27FC236}">
                <a16:creationId xmlns:a16="http://schemas.microsoft.com/office/drawing/2014/main" id="{42B6EDEF-2922-29E0-D013-2605DC404655}"/>
              </a:ext>
            </a:extLst>
          </p:cNvPr>
          <p:cNvSpPr>
            <a:spLocks noChangeArrowheads="1"/>
          </p:cNvSpPr>
          <p:nvPr/>
        </p:nvSpPr>
        <p:spPr bwMode="ltGray">
          <a:xfrm>
            <a:off x="2732088" y="3716338"/>
            <a:ext cx="3311525"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86576A1-9438-1705-3B39-14B4BF6037FC}"/>
              </a:ext>
            </a:extLst>
          </p:cNvPr>
          <p:cNvSpPr>
            <a:spLocks noChangeArrowheads="1"/>
          </p:cNvSpPr>
          <p:nvPr/>
        </p:nvSpPr>
        <p:spPr bwMode="blackWhite">
          <a:xfrm>
            <a:off x="889000" y="1700213"/>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48131" name="Rectangle 3">
            <a:extLst>
              <a:ext uri="{FF2B5EF4-FFF2-40B4-BE49-F238E27FC236}">
                <a16:creationId xmlns:a16="http://schemas.microsoft.com/office/drawing/2014/main" id="{ED3C55F0-9983-92A6-9044-BCD01283835F}"/>
              </a:ext>
            </a:extLst>
          </p:cNvPr>
          <p:cNvSpPr>
            <a:spLocks noChangeArrowheads="1"/>
          </p:cNvSpPr>
          <p:nvPr/>
        </p:nvSpPr>
        <p:spPr bwMode="blackWhite">
          <a:xfrm>
            <a:off x="900113" y="4403725"/>
            <a:ext cx="73596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8132" name="Rectangle 4">
            <a:extLst>
              <a:ext uri="{FF2B5EF4-FFF2-40B4-BE49-F238E27FC236}">
                <a16:creationId xmlns:a16="http://schemas.microsoft.com/office/drawing/2014/main" id="{4EA49E5E-F9A4-8315-C68A-A13960C1DD26}"/>
              </a:ext>
            </a:extLst>
          </p:cNvPr>
          <p:cNvSpPr>
            <a:spLocks noGrp="1" noChangeArrowheads="1"/>
          </p:cNvSpPr>
          <p:nvPr>
            <p:ph type="title"/>
          </p:nvPr>
        </p:nvSpPr>
        <p:spPr>
          <a:xfrm>
            <a:off x="323850" y="660400"/>
            <a:ext cx="3059113" cy="536575"/>
          </a:xfrm>
          <a:noFill/>
        </p:spPr>
        <p:txBody>
          <a:bodyPr lIns="92075" tIns="46038" rIns="92075" bIns="46038" anchor="t"/>
          <a:lstStyle/>
          <a:p>
            <a:r>
              <a:rPr lang="en-US" altLang="en-US" sz="2800">
                <a:solidFill>
                  <a:srgbClr val="800000"/>
                </a:solidFill>
              </a:rPr>
              <a:t>Right Outer Joins</a:t>
            </a:r>
          </a:p>
        </p:txBody>
      </p:sp>
      <p:sp>
        <p:nvSpPr>
          <p:cNvPr id="48133" name="Rectangle 6">
            <a:extLst>
              <a:ext uri="{FF2B5EF4-FFF2-40B4-BE49-F238E27FC236}">
                <a16:creationId xmlns:a16="http://schemas.microsoft.com/office/drawing/2014/main" id="{208CACFE-3966-B51C-5EAB-C2550B97F302}"/>
              </a:ext>
            </a:extLst>
          </p:cNvPr>
          <p:cNvSpPr>
            <a:spLocks noChangeArrowheads="1"/>
          </p:cNvSpPr>
          <p:nvPr/>
        </p:nvSpPr>
        <p:spPr bwMode="ltGray">
          <a:xfrm>
            <a:off x="2700338" y="2420938"/>
            <a:ext cx="3311525" cy="2873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8134" name="Rectangle 8">
            <a:extLst>
              <a:ext uri="{FF2B5EF4-FFF2-40B4-BE49-F238E27FC236}">
                <a16:creationId xmlns:a16="http://schemas.microsoft.com/office/drawing/2014/main" id="{A73A19E7-05D4-36F8-5996-B89E5388D556}"/>
              </a:ext>
            </a:extLst>
          </p:cNvPr>
          <p:cNvSpPr>
            <a:spLocks noChangeArrowheads="1"/>
          </p:cNvSpPr>
          <p:nvPr/>
        </p:nvSpPr>
        <p:spPr bwMode="blackWhite">
          <a:xfrm>
            <a:off x="895350" y="1628775"/>
            <a:ext cx="73914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3  WHERE	e.deptno(+) = d.deptno</a:t>
            </a:r>
          </a:p>
          <a:p>
            <a:pPr>
              <a:lnSpc>
                <a:spcPct val="120000"/>
              </a:lnSpc>
              <a:spcBef>
                <a:spcPct val="0"/>
              </a:spcBef>
              <a:buFontTx/>
              <a:buNone/>
            </a:pPr>
            <a:r>
              <a:rPr lang="en-US" altLang="en-US" sz="1800" b="1">
                <a:solidFill>
                  <a:srgbClr val="000000"/>
                </a:solidFill>
                <a:latin typeface="Courier New" panose="02070309020205020404" pitchFamily="49" charset="0"/>
              </a:rPr>
              <a:t>  </a:t>
            </a:r>
          </a:p>
        </p:txBody>
      </p:sp>
      <p:sp>
        <p:nvSpPr>
          <p:cNvPr id="48135" name="Rectangle 9">
            <a:extLst>
              <a:ext uri="{FF2B5EF4-FFF2-40B4-BE49-F238E27FC236}">
                <a16:creationId xmlns:a16="http://schemas.microsoft.com/office/drawing/2014/main" id="{FCE85A0E-C52A-7027-6303-388A4F79309B}"/>
              </a:ext>
            </a:extLst>
          </p:cNvPr>
          <p:cNvSpPr>
            <a:spLocks noChangeArrowheads="1"/>
          </p:cNvSpPr>
          <p:nvPr/>
        </p:nvSpPr>
        <p:spPr bwMode="blackWhite">
          <a:xfrm>
            <a:off x="931863" y="4438650"/>
            <a:ext cx="7334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DEPTNO DNAME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10 ACCOUNTING</a:t>
            </a:r>
          </a:p>
          <a:p>
            <a:pPr>
              <a:spcBef>
                <a:spcPct val="0"/>
              </a:spcBef>
              <a:buFontTx/>
              <a:buNone/>
            </a:pPr>
            <a:r>
              <a:rPr lang="en-US" altLang="en-US" sz="1800" b="1">
                <a:solidFill>
                  <a:srgbClr val="000000"/>
                </a:solidFill>
                <a:latin typeface="Courier New" panose="02070309020205020404" pitchFamily="49" charset="0"/>
              </a:rPr>
              <a:t>CLARK             10 ACCOUNTING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40 OPERATIONS</a:t>
            </a:r>
          </a:p>
          <a:p>
            <a:pPr>
              <a:spcBef>
                <a:spcPct val="0"/>
              </a:spcBef>
              <a:buFontTx/>
              <a:buNone/>
            </a:pPr>
            <a:r>
              <a:rPr lang="en-US" altLang="en-US" sz="1800" b="1">
                <a:solidFill>
                  <a:srgbClr val="000000"/>
                </a:solidFill>
                <a:latin typeface="Courier New" panose="02070309020205020404" pitchFamily="49" charset="0"/>
              </a:rPr>
              <a:t>15 rows selected.</a:t>
            </a:r>
          </a:p>
        </p:txBody>
      </p:sp>
      <p:sp>
        <p:nvSpPr>
          <p:cNvPr id="48136" name="Text Box 10">
            <a:extLst>
              <a:ext uri="{FF2B5EF4-FFF2-40B4-BE49-F238E27FC236}">
                <a16:creationId xmlns:a16="http://schemas.microsoft.com/office/drawing/2014/main" id="{875B11C5-D641-1E0F-275E-F6E90240E3A6}"/>
              </a:ext>
            </a:extLst>
          </p:cNvPr>
          <p:cNvSpPr txBox="1">
            <a:spLocks noChangeArrowheads="1"/>
          </p:cNvSpPr>
          <p:nvPr/>
        </p:nvSpPr>
        <p:spPr bwMode="auto">
          <a:xfrm>
            <a:off x="468313" y="1238250"/>
            <a:ext cx="828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To retrieve the departments that don’t have any employees.</a:t>
            </a:r>
          </a:p>
        </p:txBody>
      </p:sp>
      <p:sp>
        <p:nvSpPr>
          <p:cNvPr id="48137" name="Rectangle 7">
            <a:extLst>
              <a:ext uri="{FF2B5EF4-FFF2-40B4-BE49-F238E27FC236}">
                <a16:creationId xmlns:a16="http://schemas.microsoft.com/office/drawing/2014/main" id="{A712FB28-EB78-6E99-8CBF-08B963AF298C}"/>
              </a:ext>
            </a:extLst>
          </p:cNvPr>
          <p:cNvSpPr>
            <a:spLocks noChangeArrowheads="1"/>
          </p:cNvSpPr>
          <p:nvPr/>
        </p:nvSpPr>
        <p:spPr bwMode="ltGray">
          <a:xfrm>
            <a:off x="1042988" y="5876925"/>
            <a:ext cx="1919287"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8138" name="Rectangle 2">
            <a:extLst>
              <a:ext uri="{FF2B5EF4-FFF2-40B4-BE49-F238E27FC236}">
                <a16:creationId xmlns:a16="http://schemas.microsoft.com/office/drawing/2014/main" id="{4E40D8ED-B7EF-F789-9A13-97F1B8CEBD44}"/>
              </a:ext>
            </a:extLst>
          </p:cNvPr>
          <p:cNvSpPr>
            <a:spLocks noChangeArrowheads="1"/>
          </p:cNvSpPr>
          <p:nvPr/>
        </p:nvSpPr>
        <p:spPr bwMode="blackWhite">
          <a:xfrm>
            <a:off x="920750" y="3068638"/>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a:t>
            </a:r>
            <a:r>
              <a:rPr lang="en-US" altLang="en-US" sz="1800" b="1">
                <a:solidFill>
                  <a:schemeClr val="accent2"/>
                </a:solidFill>
                <a:latin typeface="Courier New" panose="02070309020205020404" pitchFamily="49" charset="0"/>
              </a:rPr>
              <a:t>emp e RIGHT OUTER JOIN dept d</a:t>
            </a:r>
          </a:p>
          <a:p>
            <a:pPr>
              <a:lnSpc>
                <a:spcPct val="120000"/>
              </a:lnSpc>
              <a:spcBef>
                <a:spcPct val="0"/>
              </a:spcBef>
              <a:buFontTx/>
              <a:buNone/>
            </a:pPr>
            <a:r>
              <a:rPr lang="en-US" altLang="en-US" sz="1800" b="1">
                <a:solidFill>
                  <a:srgbClr val="000000"/>
                </a:solidFill>
                <a:latin typeface="Courier New" panose="02070309020205020404" pitchFamily="49" charset="0"/>
              </a:rPr>
              <a:t>  3  ON	e.deptno = d.deptno</a:t>
            </a: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48139" name="Rectangle 6">
            <a:extLst>
              <a:ext uri="{FF2B5EF4-FFF2-40B4-BE49-F238E27FC236}">
                <a16:creationId xmlns:a16="http://schemas.microsoft.com/office/drawing/2014/main" id="{7CAA8221-7D10-421D-9910-1DF45560DD46}"/>
              </a:ext>
            </a:extLst>
          </p:cNvPr>
          <p:cNvSpPr>
            <a:spLocks noChangeArrowheads="1"/>
          </p:cNvSpPr>
          <p:nvPr/>
        </p:nvSpPr>
        <p:spPr bwMode="ltGray">
          <a:xfrm>
            <a:off x="2732088" y="3716338"/>
            <a:ext cx="3311525"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2306D3A-D6D1-5847-EA8E-8AB5EA66756D}"/>
              </a:ext>
            </a:extLst>
          </p:cNvPr>
          <p:cNvSpPr>
            <a:spLocks noGrp="1" noChangeArrowheads="1"/>
          </p:cNvSpPr>
          <p:nvPr>
            <p:ph type="title"/>
          </p:nvPr>
        </p:nvSpPr>
        <p:spPr>
          <a:xfrm>
            <a:off x="433388" y="228600"/>
            <a:ext cx="8277225" cy="968375"/>
          </a:xfrm>
          <a:noFill/>
        </p:spPr>
        <p:txBody>
          <a:bodyPr lIns="92075" tIns="46038" rIns="92075" bIns="46038" anchor="t"/>
          <a:lstStyle/>
          <a:p>
            <a:r>
              <a:rPr lang="en-US" altLang="en-US" sz="2800">
                <a:solidFill>
                  <a:srgbClr val="800000"/>
                </a:solidFill>
              </a:rPr>
              <a:t>Illegal Queries </a:t>
            </a:r>
            <a:br>
              <a:rPr lang="en-US" altLang="en-US" sz="2800">
                <a:solidFill>
                  <a:srgbClr val="800000"/>
                </a:solidFill>
              </a:rPr>
            </a:br>
            <a:r>
              <a:rPr lang="en-US" altLang="en-US" sz="2800">
                <a:solidFill>
                  <a:srgbClr val="800000"/>
                </a:solidFill>
              </a:rPr>
              <a:t>Using Outer Joins</a:t>
            </a:r>
          </a:p>
        </p:txBody>
      </p:sp>
      <p:sp>
        <p:nvSpPr>
          <p:cNvPr id="50179" name="Rectangle 7">
            <a:extLst>
              <a:ext uri="{FF2B5EF4-FFF2-40B4-BE49-F238E27FC236}">
                <a16:creationId xmlns:a16="http://schemas.microsoft.com/office/drawing/2014/main" id="{8B08EB3B-E829-9DF0-5972-097A2749EBDA}"/>
              </a:ext>
            </a:extLst>
          </p:cNvPr>
          <p:cNvSpPr>
            <a:spLocks noChangeArrowheads="1"/>
          </p:cNvSpPr>
          <p:nvPr/>
        </p:nvSpPr>
        <p:spPr bwMode="blackWhite">
          <a:xfrm>
            <a:off x="889000" y="2530475"/>
            <a:ext cx="7366000" cy="14128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0180" name="Rectangle 8">
            <a:extLst>
              <a:ext uri="{FF2B5EF4-FFF2-40B4-BE49-F238E27FC236}">
                <a16:creationId xmlns:a16="http://schemas.microsoft.com/office/drawing/2014/main" id="{3F4D2992-73C9-6E7A-0F67-4DD5EB1FC3F0}"/>
              </a:ext>
            </a:extLst>
          </p:cNvPr>
          <p:cNvSpPr>
            <a:spLocks noChangeArrowheads="1"/>
          </p:cNvSpPr>
          <p:nvPr/>
        </p:nvSpPr>
        <p:spPr bwMode="blackWhite">
          <a:xfrm>
            <a:off x="895350" y="2517775"/>
            <a:ext cx="73914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3  WHERE	e.deptno(+) = d.deptno(+)</a:t>
            </a:r>
          </a:p>
          <a:p>
            <a:pPr>
              <a:lnSpc>
                <a:spcPct val="120000"/>
              </a:lnSpc>
              <a:spcBef>
                <a:spcPct val="0"/>
              </a:spcBef>
              <a:buFontTx/>
              <a:buNone/>
            </a:pPr>
            <a:r>
              <a:rPr lang="en-US" altLang="en-US" sz="1800" b="1">
                <a:solidFill>
                  <a:srgbClr val="000000"/>
                </a:solidFill>
                <a:latin typeface="Courier New" panose="02070309020205020404" pitchFamily="49" charset="0"/>
              </a:rPr>
              <a:t>  4  ORDER BY	e.deptno;</a:t>
            </a:r>
          </a:p>
        </p:txBody>
      </p:sp>
      <p:sp>
        <p:nvSpPr>
          <p:cNvPr id="282630" name="Rectangle 6">
            <a:extLst>
              <a:ext uri="{FF2B5EF4-FFF2-40B4-BE49-F238E27FC236}">
                <a16:creationId xmlns:a16="http://schemas.microsoft.com/office/drawing/2014/main" id="{33AC5AF9-2CE2-0A6D-AA62-AD4C10F22819}"/>
              </a:ext>
            </a:extLst>
          </p:cNvPr>
          <p:cNvSpPr>
            <a:spLocks noChangeArrowheads="1"/>
          </p:cNvSpPr>
          <p:nvPr/>
        </p:nvSpPr>
        <p:spPr bwMode="auto">
          <a:xfrm rot="19980000">
            <a:off x="3979863" y="3543300"/>
            <a:ext cx="5200650" cy="822325"/>
          </a:xfrm>
          <a:prstGeom prst="rect">
            <a:avLst/>
          </a:prstGeom>
          <a:noFill/>
          <a:ln w="9525">
            <a:noFill/>
            <a:miter lim="800000"/>
            <a:headEnd/>
            <a:tailEnd/>
          </a:ln>
          <a:effectLst/>
        </p:spPr>
        <p:txBody>
          <a:bodyPr lIns="92075" tIns="46038" rIns="92075" bIns="46038">
            <a:spAutoFit/>
          </a:bodyPr>
          <a:lstStyle/>
          <a:p>
            <a:pPr>
              <a:defRPr/>
            </a:pPr>
            <a:r>
              <a:rPr lang="en-US" b="1">
                <a:solidFill>
                  <a:schemeClr val="accent2"/>
                </a:solidFill>
                <a:effectLst>
                  <a:outerShdw blurRad="38100" dist="38100" dir="2700000" algn="tl">
                    <a:srgbClr val="000000"/>
                  </a:outerShdw>
                </a:effectLst>
              </a:rPr>
              <a:t>Cannot use left and right outer join simultaneously.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82630"/>
                                        </p:tgtEl>
                                        <p:attrNameLst>
                                          <p:attrName>style.visibility</p:attrName>
                                        </p:attrNameLst>
                                      </p:cBhvr>
                                      <p:to>
                                        <p:strVal val="visible"/>
                                      </p:to>
                                    </p:set>
                                    <p:animEffect transition="in" filter="wipe(down)">
                                      <p:cBhvr>
                                        <p:cTn id="7" dur="500"/>
                                        <p:tgtEl>
                                          <p:spTgt spid="282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3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12EEFD0-417C-B44E-3763-B2A62FB9834A}"/>
              </a:ext>
            </a:extLst>
          </p:cNvPr>
          <p:cNvSpPr>
            <a:spLocks noGrp="1" noChangeArrowheads="1"/>
          </p:cNvSpPr>
          <p:nvPr>
            <p:ph type="title"/>
          </p:nvPr>
        </p:nvSpPr>
        <p:spPr>
          <a:xfrm>
            <a:off x="433388" y="228600"/>
            <a:ext cx="8277225" cy="968375"/>
          </a:xfrm>
          <a:noFill/>
        </p:spPr>
        <p:txBody>
          <a:bodyPr lIns="92075" tIns="46038" rIns="92075" bIns="46038" anchor="t"/>
          <a:lstStyle/>
          <a:p>
            <a:r>
              <a:rPr lang="en-US" altLang="en-US" sz="2800">
                <a:solidFill>
                  <a:srgbClr val="800000"/>
                </a:solidFill>
              </a:rPr>
              <a:t>Using Left and Right Outer Join </a:t>
            </a:r>
            <a:br>
              <a:rPr lang="en-US" altLang="en-US" sz="2800">
                <a:solidFill>
                  <a:srgbClr val="800000"/>
                </a:solidFill>
              </a:rPr>
            </a:br>
            <a:r>
              <a:rPr lang="en-US" altLang="en-US" sz="2800">
                <a:solidFill>
                  <a:srgbClr val="800000"/>
                </a:solidFill>
              </a:rPr>
              <a:t>in One Query</a:t>
            </a:r>
          </a:p>
        </p:txBody>
      </p:sp>
      <p:sp>
        <p:nvSpPr>
          <p:cNvPr id="52227" name="Rectangle 3">
            <a:extLst>
              <a:ext uri="{FF2B5EF4-FFF2-40B4-BE49-F238E27FC236}">
                <a16:creationId xmlns:a16="http://schemas.microsoft.com/office/drawing/2014/main" id="{FFF836D6-75E3-4E18-FFF9-C9D2109179DE}"/>
              </a:ext>
            </a:extLst>
          </p:cNvPr>
          <p:cNvSpPr>
            <a:spLocks noChangeArrowheads="1"/>
          </p:cNvSpPr>
          <p:nvPr/>
        </p:nvSpPr>
        <p:spPr bwMode="blackWhite">
          <a:xfrm>
            <a:off x="755650" y="1497013"/>
            <a:ext cx="7366000" cy="2292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2228" name="Rectangle 4">
            <a:extLst>
              <a:ext uri="{FF2B5EF4-FFF2-40B4-BE49-F238E27FC236}">
                <a16:creationId xmlns:a16="http://schemas.microsoft.com/office/drawing/2014/main" id="{4D7F4928-032F-65B6-ADD1-439537F080EA}"/>
              </a:ext>
            </a:extLst>
          </p:cNvPr>
          <p:cNvSpPr>
            <a:spLocks noChangeArrowheads="1"/>
          </p:cNvSpPr>
          <p:nvPr/>
        </p:nvSpPr>
        <p:spPr bwMode="blackWhite">
          <a:xfrm>
            <a:off x="762000" y="1484313"/>
            <a:ext cx="73914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3  WHERE	e.deptno(+) = d.deptno</a:t>
            </a:r>
          </a:p>
          <a:p>
            <a:pPr eaLnBrk="1" hangingPunct="1">
              <a:spcBef>
                <a:spcPct val="0"/>
              </a:spcBef>
              <a:buFontTx/>
              <a:buNone/>
            </a:pPr>
            <a:r>
              <a:rPr lang="en-US" altLang="en-US" sz="1800" b="1">
                <a:solidFill>
                  <a:schemeClr val="accent2"/>
                </a:solidFill>
                <a:latin typeface="Courier New" panose="02070309020205020404" pitchFamily="49" charset="0"/>
              </a:rPr>
              <a:t>  4  UNION</a:t>
            </a:r>
          </a:p>
          <a:p>
            <a:pPr eaLnBrk="1" hangingPunct="1">
              <a:spcBef>
                <a:spcPct val="0"/>
              </a:spcBef>
              <a:buFontTx/>
              <a:buNone/>
            </a:pPr>
            <a:r>
              <a:rPr lang="en-US" altLang="en-US" sz="1800" b="1">
                <a:solidFill>
                  <a:srgbClr val="000000"/>
                </a:solidFill>
                <a:latin typeface="Courier New" panose="02070309020205020404" pitchFamily="49" charset="0"/>
              </a:rPr>
              <a:t>  5  SELECT	e.ename, d.deptno, d.dname</a:t>
            </a:r>
          </a:p>
          <a:p>
            <a:pPr eaLnBrk="1" hangingPunct="1">
              <a:spcBef>
                <a:spcPct val="0"/>
              </a:spcBef>
              <a:buFontTx/>
              <a:buNone/>
            </a:pPr>
            <a:r>
              <a:rPr lang="en-US" altLang="en-US" sz="1800" b="1">
                <a:solidFill>
                  <a:srgbClr val="000000"/>
                </a:solidFill>
                <a:latin typeface="Courier New" panose="02070309020205020404" pitchFamily="49" charset="0"/>
              </a:rPr>
              <a:t>  6  FROM	emp e, dept d</a:t>
            </a:r>
          </a:p>
          <a:p>
            <a:pPr eaLnBrk="1" hangingPunct="1">
              <a:spcBef>
                <a:spcPct val="0"/>
              </a:spcBef>
              <a:buFontTx/>
              <a:buNone/>
            </a:pPr>
            <a:r>
              <a:rPr lang="en-US" altLang="en-US" sz="1800" b="1">
                <a:solidFill>
                  <a:srgbClr val="000000"/>
                </a:solidFill>
                <a:latin typeface="Courier New" panose="02070309020205020404" pitchFamily="49" charset="0"/>
              </a:rPr>
              <a:t>  3  WHERE	e.deptno = d.deptno(+)</a:t>
            </a:r>
          </a:p>
        </p:txBody>
      </p:sp>
      <p:sp>
        <p:nvSpPr>
          <p:cNvPr id="21509" name="Rectangle 6">
            <a:extLst>
              <a:ext uri="{FF2B5EF4-FFF2-40B4-BE49-F238E27FC236}">
                <a16:creationId xmlns:a16="http://schemas.microsoft.com/office/drawing/2014/main" id="{8DD824FF-AF1E-4DD5-0CBA-92939E47D90B}"/>
              </a:ext>
            </a:extLst>
          </p:cNvPr>
          <p:cNvSpPr>
            <a:spLocks noChangeArrowheads="1"/>
          </p:cNvSpPr>
          <p:nvPr/>
        </p:nvSpPr>
        <p:spPr bwMode="blackWhite">
          <a:xfrm>
            <a:off x="539750" y="4003675"/>
            <a:ext cx="8280400" cy="1081088"/>
          </a:xfrm>
          <a:prstGeom prst="rect">
            <a:avLst/>
          </a:prstGeom>
          <a:noFill/>
          <a:ln>
            <a:noFill/>
          </a:ln>
        </p:spPr>
        <p:txBody>
          <a:bodyPr wrap="none" lIns="92075" tIns="46038" rIns="92075" bIns="46038" anchor="ctr"/>
          <a:lstStyle/>
          <a:p>
            <a:pPr marL="342900" indent="-342900">
              <a:lnSpc>
                <a:spcPct val="120000"/>
              </a:lnSpc>
              <a:buFont typeface="Arial" pitchFamily="34" charset="0"/>
              <a:buChar char="•"/>
              <a:tabLst>
                <a:tab pos="857250" algn="l"/>
                <a:tab pos="1890713" algn="l"/>
              </a:tabLst>
              <a:defRPr/>
            </a:pPr>
            <a:r>
              <a:rPr lang="en-US" sz="2000" dirty="0">
                <a:solidFill>
                  <a:srgbClr val="000000"/>
                </a:solidFill>
                <a:latin typeface="Times New Roman" charset="0"/>
              </a:rPr>
              <a:t>Similarly, We can use </a:t>
            </a:r>
            <a:r>
              <a:rPr lang="en-US" sz="2000" dirty="0">
                <a:solidFill>
                  <a:schemeClr val="accent2"/>
                </a:solidFill>
                <a:latin typeface="Times New Roman" charset="0"/>
              </a:rPr>
              <a:t>INTERSECT</a:t>
            </a:r>
            <a:r>
              <a:rPr lang="en-US" sz="2000" dirty="0">
                <a:solidFill>
                  <a:srgbClr val="000000"/>
                </a:solidFill>
                <a:latin typeface="Times New Roman" charset="0"/>
              </a:rPr>
              <a:t> and </a:t>
            </a:r>
            <a:r>
              <a:rPr lang="en-US" sz="2000" dirty="0">
                <a:solidFill>
                  <a:schemeClr val="accent2"/>
                </a:solidFill>
                <a:latin typeface="Times New Roman" charset="0"/>
              </a:rPr>
              <a:t>MINUS</a:t>
            </a:r>
            <a:r>
              <a:rPr lang="en-US" sz="2000" dirty="0">
                <a:solidFill>
                  <a:srgbClr val="000000"/>
                </a:solidFill>
                <a:latin typeface="Times New Roman" charset="0"/>
              </a:rPr>
              <a:t> to combine  two or more  </a:t>
            </a:r>
          </a:p>
          <a:p>
            <a:pPr>
              <a:lnSpc>
                <a:spcPct val="120000"/>
              </a:lnSpc>
              <a:tabLst>
                <a:tab pos="857250" algn="l"/>
                <a:tab pos="1890713" algn="l"/>
              </a:tabLst>
              <a:defRPr/>
            </a:pPr>
            <a:r>
              <a:rPr lang="en-US" sz="2000" dirty="0">
                <a:solidFill>
                  <a:srgbClr val="000000"/>
                </a:solidFill>
                <a:latin typeface="Times New Roman" charset="0"/>
              </a:rPr>
              <a:t>     select statements into a single query, provided that  the select-list of all the </a:t>
            </a:r>
          </a:p>
          <a:p>
            <a:pPr>
              <a:lnSpc>
                <a:spcPct val="120000"/>
              </a:lnSpc>
              <a:tabLst>
                <a:tab pos="857250" algn="l"/>
                <a:tab pos="1890713" algn="l"/>
              </a:tabLst>
              <a:defRPr/>
            </a:pPr>
            <a:r>
              <a:rPr lang="en-US" sz="2000" dirty="0">
                <a:solidFill>
                  <a:srgbClr val="000000"/>
                </a:solidFill>
                <a:latin typeface="Times New Roman" charset="0"/>
              </a:rPr>
              <a:t>     queries remain the same.</a:t>
            </a:r>
          </a:p>
        </p:txBody>
      </p:sp>
      <p:sp>
        <p:nvSpPr>
          <p:cNvPr id="52230" name="Rectangle 3">
            <a:extLst>
              <a:ext uri="{FF2B5EF4-FFF2-40B4-BE49-F238E27FC236}">
                <a16:creationId xmlns:a16="http://schemas.microsoft.com/office/drawing/2014/main" id="{FD6A91E7-B5CA-1228-9E58-FEC9B2234576}"/>
              </a:ext>
            </a:extLst>
          </p:cNvPr>
          <p:cNvSpPr>
            <a:spLocks noChangeArrowheads="1"/>
          </p:cNvSpPr>
          <p:nvPr/>
        </p:nvSpPr>
        <p:spPr bwMode="blackWhite">
          <a:xfrm>
            <a:off x="755650" y="5157788"/>
            <a:ext cx="7366000" cy="11509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2231" name="Rectangle 4">
            <a:extLst>
              <a:ext uri="{FF2B5EF4-FFF2-40B4-BE49-F238E27FC236}">
                <a16:creationId xmlns:a16="http://schemas.microsoft.com/office/drawing/2014/main" id="{1449F6AE-2391-8BEF-A1C8-D95800099008}"/>
              </a:ext>
            </a:extLst>
          </p:cNvPr>
          <p:cNvSpPr>
            <a:spLocks noChangeArrowheads="1"/>
          </p:cNvSpPr>
          <p:nvPr/>
        </p:nvSpPr>
        <p:spPr bwMode="blackWhite">
          <a:xfrm>
            <a:off x="762000" y="5084763"/>
            <a:ext cx="73914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a:t>
            </a:r>
            <a:r>
              <a:rPr lang="en-US" altLang="en-US" sz="1800" b="1">
                <a:solidFill>
                  <a:schemeClr val="accent2"/>
                </a:solidFill>
                <a:latin typeface="Courier New" panose="02070309020205020404" pitchFamily="49" charset="0"/>
              </a:rPr>
              <a:t>emp e FULL OUTER JOIN dept d</a:t>
            </a:r>
          </a:p>
          <a:p>
            <a:pPr>
              <a:lnSpc>
                <a:spcPct val="120000"/>
              </a:lnSpc>
              <a:spcBef>
                <a:spcPct val="0"/>
              </a:spcBef>
              <a:buFontTx/>
              <a:buNone/>
            </a:pPr>
            <a:r>
              <a:rPr lang="en-US" altLang="en-US" sz="1800" b="1">
                <a:solidFill>
                  <a:srgbClr val="000000"/>
                </a:solidFill>
                <a:latin typeface="Courier New" panose="02070309020205020404" pitchFamily="49" charset="0"/>
              </a:rPr>
              <a:t>  3  ON	e.deptno = d.deptno</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585571E5-67AC-CE03-844B-ADF10338D39A}"/>
              </a:ext>
            </a:extLst>
          </p:cNvPr>
          <p:cNvSpPr>
            <a:spLocks noGrp="1" noChangeArrowheads="1"/>
          </p:cNvSpPr>
          <p:nvPr>
            <p:ph type="title"/>
          </p:nvPr>
        </p:nvSpPr>
        <p:spPr>
          <a:xfrm>
            <a:off x="323850" y="660400"/>
            <a:ext cx="3384550" cy="536575"/>
          </a:xfrm>
          <a:noFill/>
        </p:spPr>
        <p:txBody>
          <a:bodyPr lIns="92075" tIns="46038" rIns="92075" bIns="46038" anchor="t"/>
          <a:lstStyle/>
          <a:p>
            <a:r>
              <a:rPr lang="en-US" altLang="en-US" sz="2800">
                <a:solidFill>
                  <a:srgbClr val="800000"/>
                </a:solidFill>
              </a:rPr>
              <a:t>4. Non-Equijoins</a:t>
            </a:r>
          </a:p>
        </p:txBody>
      </p:sp>
      <p:grpSp>
        <p:nvGrpSpPr>
          <p:cNvPr id="54275" name="Group 4">
            <a:extLst>
              <a:ext uri="{FF2B5EF4-FFF2-40B4-BE49-F238E27FC236}">
                <a16:creationId xmlns:a16="http://schemas.microsoft.com/office/drawing/2014/main" id="{EB603336-E522-F27A-76B5-C26CF6455EA4}"/>
              </a:ext>
            </a:extLst>
          </p:cNvPr>
          <p:cNvGrpSpPr>
            <a:grpSpLocks/>
          </p:cNvGrpSpPr>
          <p:nvPr/>
        </p:nvGrpSpPr>
        <p:grpSpPr bwMode="auto">
          <a:xfrm>
            <a:off x="3857625" y="404813"/>
            <a:ext cx="1701800" cy="639762"/>
            <a:chOff x="1752" y="1632"/>
            <a:chExt cx="1072" cy="403"/>
          </a:xfrm>
        </p:grpSpPr>
        <p:sp>
          <p:nvSpPr>
            <p:cNvPr id="54277" name="Rectangle 5">
              <a:extLst>
                <a:ext uri="{FF2B5EF4-FFF2-40B4-BE49-F238E27FC236}">
                  <a16:creationId xmlns:a16="http://schemas.microsoft.com/office/drawing/2014/main" id="{22407541-0D4A-0899-655F-C995E1876C26}"/>
                </a:ext>
              </a:extLst>
            </p:cNvPr>
            <p:cNvSpPr>
              <a:spLocks noChangeArrowheads="1"/>
            </p:cNvSpPr>
            <p:nvPr/>
          </p:nvSpPr>
          <p:spPr bwMode="blackWhite">
            <a:xfrm>
              <a:off x="1752"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4278" name="Rectangle 6">
              <a:extLst>
                <a:ext uri="{FF2B5EF4-FFF2-40B4-BE49-F238E27FC236}">
                  <a16:creationId xmlns:a16="http://schemas.microsoft.com/office/drawing/2014/main" id="{AA7FC2A5-01C4-6B29-03AB-749F7201639E}"/>
                </a:ext>
              </a:extLst>
            </p:cNvPr>
            <p:cNvSpPr>
              <a:spLocks noChangeArrowheads="1"/>
            </p:cNvSpPr>
            <p:nvPr/>
          </p:nvSpPr>
          <p:spPr bwMode="blackWhite">
            <a:xfrm>
              <a:off x="2334"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4279" name="Oval 7">
              <a:extLst>
                <a:ext uri="{FF2B5EF4-FFF2-40B4-BE49-F238E27FC236}">
                  <a16:creationId xmlns:a16="http://schemas.microsoft.com/office/drawing/2014/main" id="{B003CC48-B595-71AA-57EB-CE626D2A06C8}"/>
                </a:ext>
              </a:extLst>
            </p:cNvPr>
            <p:cNvSpPr>
              <a:spLocks noChangeArrowheads="1"/>
            </p:cNvSpPr>
            <p:nvPr/>
          </p:nvSpPr>
          <p:spPr bwMode="blackWhite">
            <a:xfrm>
              <a:off x="1947" y="1794"/>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4280" name="Line 8">
              <a:extLst>
                <a:ext uri="{FF2B5EF4-FFF2-40B4-BE49-F238E27FC236}">
                  <a16:creationId xmlns:a16="http://schemas.microsoft.com/office/drawing/2014/main" id="{4686587A-D35D-2970-9914-6D0633DD469F}"/>
                </a:ext>
              </a:extLst>
            </p:cNvPr>
            <p:cNvSpPr>
              <a:spLocks noChangeShapeType="1"/>
            </p:cNvSpPr>
            <p:nvPr/>
          </p:nvSpPr>
          <p:spPr bwMode="blackWhite">
            <a:xfrm>
              <a:off x="2078" y="1838"/>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4281" name="Rectangle 9">
              <a:extLst>
                <a:ext uri="{FF2B5EF4-FFF2-40B4-BE49-F238E27FC236}">
                  <a16:creationId xmlns:a16="http://schemas.microsoft.com/office/drawing/2014/main" id="{5BED77B8-7FAE-6771-61D5-AC1673475B51}"/>
                </a:ext>
              </a:extLst>
            </p:cNvPr>
            <p:cNvSpPr>
              <a:spLocks noChangeArrowheads="1"/>
            </p:cNvSpPr>
            <p:nvPr/>
          </p:nvSpPr>
          <p:spPr bwMode="blackWhite">
            <a:xfrm>
              <a:off x="2520" y="1794"/>
              <a:ext cx="87" cy="87"/>
            </a:xfrm>
            <a:prstGeom prst="rect">
              <a:avLst/>
            </a:prstGeom>
            <a:solidFill>
              <a:srgbClr val="0099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54276" name="Rectangle 6">
            <a:extLst>
              <a:ext uri="{FF2B5EF4-FFF2-40B4-BE49-F238E27FC236}">
                <a16:creationId xmlns:a16="http://schemas.microsoft.com/office/drawing/2014/main" id="{BF2ABE35-FD1D-B48A-6A4D-B8D4058D14C3}"/>
              </a:ext>
            </a:extLst>
          </p:cNvPr>
          <p:cNvSpPr>
            <a:spLocks noChangeArrowheads="1"/>
          </p:cNvSpPr>
          <p:nvPr/>
        </p:nvSpPr>
        <p:spPr bwMode="blackWhite">
          <a:xfrm>
            <a:off x="395288" y="1196975"/>
            <a:ext cx="82804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marL="342900" indent="-342900">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gn="just">
              <a:lnSpc>
                <a:spcPct val="120000"/>
              </a:lnSpc>
              <a:spcBef>
                <a:spcPct val="0"/>
              </a:spcBef>
            </a:pPr>
            <a:r>
              <a:rPr lang="en-US" altLang="en-US" sz="2400"/>
              <a:t>The join condition determines whether a join is an equi-join or a non-equijoin. </a:t>
            </a:r>
          </a:p>
          <a:p>
            <a:pPr algn="just">
              <a:lnSpc>
                <a:spcPct val="120000"/>
              </a:lnSpc>
              <a:spcBef>
                <a:spcPct val="0"/>
              </a:spcBef>
            </a:pPr>
            <a:r>
              <a:rPr lang="en-US" altLang="en-US" sz="2400"/>
              <a:t>When a join condition relates two tables by equating the columns from the tables, it is an equijoin. </a:t>
            </a:r>
          </a:p>
          <a:p>
            <a:pPr algn="just">
              <a:lnSpc>
                <a:spcPct val="120000"/>
              </a:lnSpc>
              <a:spcBef>
                <a:spcPct val="0"/>
              </a:spcBef>
            </a:pPr>
            <a:r>
              <a:rPr lang="en-US" altLang="en-US" sz="2400"/>
              <a:t>When a join condition relates two tables by an operator other than equality, it is a non-equijoin. </a:t>
            </a:r>
          </a:p>
          <a:p>
            <a:pPr algn="just">
              <a:lnSpc>
                <a:spcPct val="120000"/>
              </a:lnSpc>
              <a:spcBef>
                <a:spcPct val="0"/>
              </a:spcBef>
            </a:pPr>
            <a:r>
              <a:rPr lang="en-US" altLang="en-US" sz="2400"/>
              <a:t>Non-equijoin is used to retrieve data from two tables that don’t have a common attribute between them, but still the tables are related with each other.</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F8DB1DD-036D-BDD0-3B3F-8647B63A7D80}"/>
              </a:ext>
            </a:extLst>
          </p:cNvPr>
          <p:cNvSpPr>
            <a:spLocks noChangeArrowheads="1"/>
          </p:cNvSpPr>
          <p:nvPr/>
        </p:nvSpPr>
        <p:spPr bwMode="blackWhite">
          <a:xfrm>
            <a:off x="1190625" y="1733550"/>
            <a:ext cx="3263900" cy="32416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7250" algn="l"/>
                <a:tab pos="1771650" algn="l"/>
                <a:tab pos="2857500" algn="l"/>
                <a:tab pos="3486150" algn="l"/>
                <a:tab pos="4914900" algn="l"/>
                <a:tab pos="5600700" algn="l"/>
                <a:tab pos="6400800" algn="l"/>
              </a:tabLst>
              <a:defRPr sz="2800">
                <a:solidFill>
                  <a:schemeClr val="tx1"/>
                </a:solidFill>
                <a:latin typeface="Arial" panose="020B0604020202020204" pitchFamily="34" charset="0"/>
              </a:defRPr>
            </a:lvl1pPr>
            <a:lvl2pPr marL="742950" indent="-285750">
              <a:spcBef>
                <a:spcPct val="20000"/>
              </a:spcBef>
              <a:buChar char="–"/>
              <a:tabLst>
                <a:tab pos="857250" algn="l"/>
                <a:tab pos="1771650" algn="l"/>
                <a:tab pos="2857500" algn="l"/>
                <a:tab pos="3486150" algn="l"/>
                <a:tab pos="4914900" algn="l"/>
                <a:tab pos="5600700" algn="l"/>
                <a:tab pos="6400800" algn="l"/>
              </a:tabLst>
              <a:defRPr sz="2400">
                <a:solidFill>
                  <a:schemeClr val="tx1"/>
                </a:solidFill>
                <a:latin typeface="Arial" panose="020B0604020202020204" pitchFamily="34" charset="0"/>
              </a:defRPr>
            </a:lvl2pPr>
            <a:lvl3pPr marL="11430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3pPr>
            <a:lvl4pPr marL="16002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4pPr>
            <a:lvl5pPr marL="20574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56323" name="Rectangle 3">
            <a:extLst>
              <a:ext uri="{FF2B5EF4-FFF2-40B4-BE49-F238E27FC236}">
                <a16:creationId xmlns:a16="http://schemas.microsoft.com/office/drawing/2014/main" id="{070282E1-788E-E464-84D7-0D9107BA9211}"/>
              </a:ext>
            </a:extLst>
          </p:cNvPr>
          <p:cNvSpPr>
            <a:spLocks noChangeArrowheads="1"/>
          </p:cNvSpPr>
          <p:nvPr/>
        </p:nvSpPr>
        <p:spPr bwMode="blackWhite">
          <a:xfrm>
            <a:off x="5187950" y="1733550"/>
            <a:ext cx="2847975"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485900" algn="r"/>
                <a:tab pos="1885950" algn="l"/>
              </a:tabLst>
              <a:defRPr sz="2800">
                <a:solidFill>
                  <a:schemeClr val="tx1"/>
                </a:solidFill>
                <a:latin typeface="Arial" panose="020B0604020202020204" pitchFamily="34" charset="0"/>
              </a:defRPr>
            </a:lvl1pPr>
            <a:lvl2pPr marL="742950" indent="-285750">
              <a:spcBef>
                <a:spcPct val="20000"/>
              </a:spcBef>
              <a:buChar char="–"/>
              <a:tabLst>
                <a:tab pos="1485900" algn="r"/>
                <a:tab pos="1885950" algn="l"/>
              </a:tabLst>
              <a:defRPr sz="2400">
                <a:solidFill>
                  <a:schemeClr val="tx1"/>
                </a:solidFill>
                <a:latin typeface="Arial" panose="020B0604020202020204" pitchFamily="34" charset="0"/>
              </a:defRPr>
            </a:lvl2pPr>
            <a:lvl3pPr marL="1143000" indent="-228600">
              <a:spcBef>
                <a:spcPct val="20000"/>
              </a:spcBef>
              <a:buChar char="•"/>
              <a:tabLst>
                <a:tab pos="1485900" algn="r"/>
                <a:tab pos="1885950" algn="l"/>
              </a:tabLst>
              <a:defRPr sz="2000">
                <a:solidFill>
                  <a:schemeClr val="tx1"/>
                </a:solidFill>
                <a:latin typeface="Arial" panose="020B0604020202020204" pitchFamily="34" charset="0"/>
              </a:defRPr>
            </a:lvl3pPr>
            <a:lvl4pPr marL="1600200" indent="-228600">
              <a:spcBef>
                <a:spcPct val="20000"/>
              </a:spcBef>
              <a:buChar char="–"/>
              <a:tabLst>
                <a:tab pos="1485900" algn="r"/>
                <a:tab pos="1885950" algn="l"/>
              </a:tabLst>
              <a:defRPr sz="2000">
                <a:solidFill>
                  <a:schemeClr val="tx1"/>
                </a:solidFill>
                <a:latin typeface="Arial" panose="020B0604020202020204" pitchFamily="34" charset="0"/>
              </a:defRPr>
            </a:lvl4pPr>
            <a:lvl5pPr marL="2057400" indent="-228600">
              <a:spcBef>
                <a:spcPct val="20000"/>
              </a:spcBef>
              <a:buChar char="»"/>
              <a:tabLst>
                <a:tab pos="1485900" algn="r"/>
                <a:tab pos="1885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56324" name="Rectangle 4">
            <a:extLst>
              <a:ext uri="{FF2B5EF4-FFF2-40B4-BE49-F238E27FC236}">
                <a16:creationId xmlns:a16="http://schemas.microsoft.com/office/drawing/2014/main" id="{0F4E085E-A0B5-45AD-4D05-E0FE5F5E40BB}"/>
              </a:ext>
            </a:extLst>
          </p:cNvPr>
          <p:cNvSpPr>
            <a:spLocks noGrp="1" noChangeArrowheads="1"/>
          </p:cNvSpPr>
          <p:nvPr>
            <p:ph type="title"/>
          </p:nvPr>
        </p:nvSpPr>
        <p:spPr>
          <a:xfrm>
            <a:off x="323850" y="660400"/>
            <a:ext cx="3384550" cy="536575"/>
          </a:xfrm>
          <a:noFill/>
        </p:spPr>
        <p:txBody>
          <a:bodyPr lIns="92075" tIns="46038" rIns="92075" bIns="46038" anchor="t"/>
          <a:lstStyle/>
          <a:p>
            <a:r>
              <a:rPr lang="en-US" altLang="en-US" sz="2800">
                <a:solidFill>
                  <a:srgbClr val="800000"/>
                </a:solidFill>
              </a:rPr>
              <a:t>4. Non-Equijoins</a:t>
            </a:r>
          </a:p>
        </p:txBody>
      </p:sp>
      <p:sp>
        <p:nvSpPr>
          <p:cNvPr id="262149" name="Rectangle 5">
            <a:extLst>
              <a:ext uri="{FF2B5EF4-FFF2-40B4-BE49-F238E27FC236}">
                <a16:creationId xmlns:a16="http://schemas.microsoft.com/office/drawing/2014/main" id="{C3D33A7D-3925-96CD-7F9D-825210E11371}"/>
              </a:ext>
            </a:extLst>
          </p:cNvPr>
          <p:cNvSpPr>
            <a:spLocks noChangeArrowheads="1"/>
          </p:cNvSpPr>
          <p:nvPr/>
        </p:nvSpPr>
        <p:spPr bwMode="auto">
          <a:xfrm>
            <a:off x="1157288" y="1325563"/>
            <a:ext cx="735012"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EMP</a:t>
            </a:r>
          </a:p>
        </p:txBody>
      </p:sp>
      <p:sp>
        <p:nvSpPr>
          <p:cNvPr id="262150" name="Rectangle 6">
            <a:extLst>
              <a:ext uri="{FF2B5EF4-FFF2-40B4-BE49-F238E27FC236}">
                <a16:creationId xmlns:a16="http://schemas.microsoft.com/office/drawing/2014/main" id="{BEAD853F-37CD-F35B-F0C9-41D902D6EB65}"/>
              </a:ext>
            </a:extLst>
          </p:cNvPr>
          <p:cNvSpPr>
            <a:spLocks noChangeArrowheads="1"/>
          </p:cNvSpPr>
          <p:nvPr/>
        </p:nvSpPr>
        <p:spPr bwMode="auto">
          <a:xfrm>
            <a:off x="5124450" y="1325563"/>
            <a:ext cx="1612900"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SALGRADE</a:t>
            </a:r>
          </a:p>
        </p:txBody>
      </p:sp>
      <p:grpSp>
        <p:nvGrpSpPr>
          <p:cNvPr id="2" name="Group 7">
            <a:extLst>
              <a:ext uri="{FF2B5EF4-FFF2-40B4-BE49-F238E27FC236}">
                <a16:creationId xmlns:a16="http://schemas.microsoft.com/office/drawing/2014/main" id="{B2EAE784-38D0-7F17-3D45-980856F8FEA9}"/>
              </a:ext>
            </a:extLst>
          </p:cNvPr>
          <p:cNvGrpSpPr>
            <a:grpSpLocks/>
          </p:cNvGrpSpPr>
          <p:nvPr/>
        </p:nvGrpSpPr>
        <p:grpSpPr bwMode="auto">
          <a:xfrm>
            <a:off x="3422650" y="1773238"/>
            <a:ext cx="4395788" cy="2738437"/>
            <a:chOff x="2156" y="1117"/>
            <a:chExt cx="2769" cy="1725"/>
          </a:xfrm>
        </p:grpSpPr>
        <p:sp>
          <p:nvSpPr>
            <p:cNvPr id="56339" name="Rectangle 8">
              <a:extLst>
                <a:ext uri="{FF2B5EF4-FFF2-40B4-BE49-F238E27FC236}">
                  <a16:creationId xmlns:a16="http://schemas.microsoft.com/office/drawing/2014/main" id="{8E16890F-0A08-0C94-4178-EA2B30584F41}"/>
                </a:ext>
              </a:extLst>
            </p:cNvPr>
            <p:cNvSpPr>
              <a:spLocks noChangeArrowheads="1"/>
            </p:cNvSpPr>
            <p:nvPr/>
          </p:nvSpPr>
          <p:spPr bwMode="ltGray">
            <a:xfrm>
              <a:off x="2156" y="1117"/>
              <a:ext cx="542" cy="17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6340" name="Rectangle 9">
              <a:extLst>
                <a:ext uri="{FF2B5EF4-FFF2-40B4-BE49-F238E27FC236}">
                  <a16:creationId xmlns:a16="http://schemas.microsoft.com/office/drawing/2014/main" id="{1D8DCCCA-0231-76CB-6278-3A0DE770620F}"/>
                </a:ext>
              </a:extLst>
            </p:cNvPr>
            <p:cNvSpPr>
              <a:spLocks noChangeArrowheads="1"/>
            </p:cNvSpPr>
            <p:nvPr/>
          </p:nvSpPr>
          <p:spPr bwMode="ltGray">
            <a:xfrm>
              <a:off x="3792" y="1117"/>
              <a:ext cx="542" cy="117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6341" name="Rectangle 10">
              <a:extLst>
                <a:ext uri="{FF2B5EF4-FFF2-40B4-BE49-F238E27FC236}">
                  <a16:creationId xmlns:a16="http://schemas.microsoft.com/office/drawing/2014/main" id="{24586528-6861-6C8F-4BD6-F62666F05C0E}"/>
                </a:ext>
              </a:extLst>
            </p:cNvPr>
            <p:cNvSpPr>
              <a:spLocks noChangeArrowheads="1"/>
            </p:cNvSpPr>
            <p:nvPr/>
          </p:nvSpPr>
          <p:spPr bwMode="ltGray">
            <a:xfrm>
              <a:off x="4383" y="1117"/>
              <a:ext cx="542" cy="117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 name="Group 11">
            <a:extLst>
              <a:ext uri="{FF2B5EF4-FFF2-40B4-BE49-F238E27FC236}">
                <a16:creationId xmlns:a16="http://schemas.microsoft.com/office/drawing/2014/main" id="{E0A4DDF2-4053-7364-7D6E-719B45D07605}"/>
              </a:ext>
            </a:extLst>
          </p:cNvPr>
          <p:cNvGrpSpPr>
            <a:grpSpLocks/>
          </p:cNvGrpSpPr>
          <p:nvPr/>
        </p:nvGrpSpPr>
        <p:grpSpPr bwMode="auto">
          <a:xfrm>
            <a:off x="4225925" y="4195763"/>
            <a:ext cx="4154488" cy="1766887"/>
            <a:chOff x="2662" y="2643"/>
            <a:chExt cx="2617" cy="1113"/>
          </a:xfrm>
        </p:grpSpPr>
        <p:sp>
          <p:nvSpPr>
            <p:cNvPr id="262156" name="Rectangle 12">
              <a:extLst>
                <a:ext uri="{FF2B5EF4-FFF2-40B4-BE49-F238E27FC236}">
                  <a16:creationId xmlns:a16="http://schemas.microsoft.com/office/drawing/2014/main" id="{85CDAEDB-2B6D-0456-DCD8-7540D35E8037}"/>
                </a:ext>
              </a:extLst>
            </p:cNvPr>
            <p:cNvSpPr>
              <a:spLocks noChangeArrowheads="1"/>
            </p:cNvSpPr>
            <p:nvPr/>
          </p:nvSpPr>
          <p:spPr bwMode="auto">
            <a:xfrm>
              <a:off x="3287" y="2643"/>
              <a:ext cx="1992" cy="1113"/>
            </a:xfrm>
            <a:prstGeom prst="rect">
              <a:avLst/>
            </a:prstGeom>
            <a:noFill/>
            <a:ln w="9525">
              <a:noFill/>
              <a:miter lim="800000"/>
              <a:headEnd/>
              <a:tailEnd/>
            </a:ln>
            <a:effectLst/>
          </p:spPr>
          <p:txBody>
            <a:bodyPr wrap="none" lIns="92075" tIns="46038" rIns="92075" bIns="46038">
              <a:spAutoFit/>
            </a:bodyPr>
            <a:lstStyle/>
            <a:p>
              <a:pPr>
                <a:lnSpc>
                  <a:spcPct val="110000"/>
                </a:lnSpc>
                <a:defRPr/>
              </a:pPr>
              <a:r>
                <a:rPr lang="en-US" sz="2000" b="1">
                  <a:solidFill>
                    <a:schemeClr val="accent2"/>
                  </a:solidFill>
                  <a:effectLst>
                    <a:outerShdw blurRad="38100" dist="38100" dir="2700000" algn="tl">
                      <a:srgbClr val="000000"/>
                    </a:outerShdw>
                  </a:effectLst>
                </a:rPr>
                <a:t>“salary in the EMP </a:t>
              </a:r>
            </a:p>
            <a:p>
              <a:pPr>
                <a:lnSpc>
                  <a:spcPct val="110000"/>
                </a:lnSpc>
                <a:defRPr/>
              </a:pPr>
              <a:r>
                <a:rPr lang="en-US" sz="2000" b="1">
                  <a:solidFill>
                    <a:schemeClr val="accent2"/>
                  </a:solidFill>
                  <a:effectLst>
                    <a:outerShdw blurRad="38100" dist="38100" dir="2700000" algn="tl">
                      <a:srgbClr val="000000"/>
                    </a:outerShdw>
                  </a:effectLst>
                </a:rPr>
                <a:t>table is between </a:t>
              </a:r>
            </a:p>
            <a:p>
              <a:pPr>
                <a:lnSpc>
                  <a:spcPct val="110000"/>
                </a:lnSpc>
                <a:defRPr/>
              </a:pPr>
              <a:r>
                <a:rPr lang="en-US" sz="2000" b="1">
                  <a:solidFill>
                    <a:schemeClr val="accent2"/>
                  </a:solidFill>
                  <a:effectLst>
                    <a:outerShdw blurRad="38100" dist="38100" dir="2700000" algn="tl">
                      <a:srgbClr val="000000"/>
                    </a:outerShdw>
                  </a:effectLst>
                </a:rPr>
                <a:t>low salary and high </a:t>
              </a:r>
            </a:p>
            <a:p>
              <a:pPr>
                <a:lnSpc>
                  <a:spcPct val="110000"/>
                </a:lnSpc>
                <a:defRPr/>
              </a:pPr>
              <a:r>
                <a:rPr lang="en-US" sz="2000" b="1">
                  <a:solidFill>
                    <a:schemeClr val="accent2"/>
                  </a:solidFill>
                  <a:effectLst>
                    <a:outerShdw blurRad="38100" dist="38100" dir="2700000" algn="tl">
                      <a:srgbClr val="000000"/>
                    </a:outerShdw>
                  </a:effectLst>
                </a:rPr>
                <a:t>salary in the SALGRADE</a:t>
              </a:r>
            </a:p>
            <a:p>
              <a:pPr>
                <a:lnSpc>
                  <a:spcPct val="110000"/>
                </a:lnSpc>
                <a:defRPr/>
              </a:pPr>
              <a:r>
                <a:rPr lang="en-US" sz="2000" b="1">
                  <a:solidFill>
                    <a:schemeClr val="accent2"/>
                  </a:solidFill>
                  <a:effectLst>
                    <a:outerShdw blurRad="38100" dist="38100" dir="2700000" algn="tl">
                      <a:srgbClr val="000000"/>
                    </a:outerShdw>
                  </a:effectLst>
                </a:rPr>
                <a:t>table”</a:t>
              </a:r>
            </a:p>
          </p:txBody>
        </p:sp>
        <p:sp>
          <p:nvSpPr>
            <p:cNvPr id="56338" name="Line 13">
              <a:extLst>
                <a:ext uri="{FF2B5EF4-FFF2-40B4-BE49-F238E27FC236}">
                  <a16:creationId xmlns:a16="http://schemas.microsoft.com/office/drawing/2014/main" id="{46EE6C0E-3BE0-E12F-4015-2E572F81D9F8}"/>
                </a:ext>
              </a:extLst>
            </p:cNvPr>
            <p:cNvSpPr>
              <a:spLocks noChangeShapeType="1"/>
            </p:cNvSpPr>
            <p:nvPr/>
          </p:nvSpPr>
          <p:spPr bwMode="auto">
            <a:xfrm flipH="1">
              <a:off x="2662" y="2778"/>
              <a:ext cx="591"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56329" name="Rectangle 14">
            <a:extLst>
              <a:ext uri="{FF2B5EF4-FFF2-40B4-BE49-F238E27FC236}">
                <a16:creationId xmlns:a16="http://schemas.microsoft.com/office/drawing/2014/main" id="{BD71E030-2E45-CC3D-72F9-B74A3F179DE8}"/>
              </a:ext>
            </a:extLst>
          </p:cNvPr>
          <p:cNvSpPr>
            <a:spLocks noChangeArrowheads="1"/>
          </p:cNvSpPr>
          <p:nvPr/>
        </p:nvSpPr>
        <p:spPr bwMode="blackWhite">
          <a:xfrm>
            <a:off x="1203325" y="1733550"/>
            <a:ext cx="32385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7250" algn="l"/>
                <a:tab pos="1771650" algn="l"/>
                <a:tab pos="2857500" algn="l"/>
                <a:tab pos="3486150" algn="l"/>
                <a:tab pos="4914900" algn="l"/>
                <a:tab pos="5600700" algn="l"/>
                <a:tab pos="6400800" algn="l"/>
              </a:tabLst>
              <a:defRPr sz="2800">
                <a:solidFill>
                  <a:schemeClr val="tx1"/>
                </a:solidFill>
                <a:latin typeface="Arial" panose="020B0604020202020204" pitchFamily="34" charset="0"/>
              </a:defRPr>
            </a:lvl1pPr>
            <a:lvl2pPr marL="742950" indent="-285750">
              <a:spcBef>
                <a:spcPct val="20000"/>
              </a:spcBef>
              <a:buChar char="–"/>
              <a:tabLst>
                <a:tab pos="857250" algn="l"/>
                <a:tab pos="1771650" algn="l"/>
                <a:tab pos="2857500" algn="l"/>
                <a:tab pos="3486150" algn="l"/>
                <a:tab pos="4914900" algn="l"/>
                <a:tab pos="5600700" algn="l"/>
                <a:tab pos="6400800" algn="l"/>
              </a:tabLst>
              <a:defRPr sz="2400">
                <a:solidFill>
                  <a:schemeClr val="tx1"/>
                </a:solidFill>
                <a:latin typeface="Arial" panose="020B0604020202020204" pitchFamily="34" charset="0"/>
              </a:defRPr>
            </a:lvl2pPr>
            <a:lvl3pPr marL="11430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3pPr>
            <a:lvl4pPr marL="16002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4pPr>
            <a:lvl5pPr marL="20574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SAL</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7839 KING      5000</a:t>
            </a:r>
          </a:p>
          <a:p>
            <a:pPr>
              <a:lnSpc>
                <a:spcPct val="95000"/>
              </a:lnSpc>
              <a:spcBef>
                <a:spcPct val="0"/>
              </a:spcBef>
              <a:buFontTx/>
              <a:buNone/>
            </a:pPr>
            <a:r>
              <a:rPr lang="en-US" altLang="en-US" sz="1800" b="1">
                <a:solidFill>
                  <a:srgbClr val="000000"/>
                </a:solidFill>
                <a:latin typeface="Courier New" panose="02070309020205020404" pitchFamily="49" charset="0"/>
              </a:rPr>
              <a:t>  7698 BLAKE     2850</a:t>
            </a:r>
          </a:p>
          <a:p>
            <a:pPr>
              <a:lnSpc>
                <a:spcPct val="95000"/>
              </a:lnSpc>
              <a:spcBef>
                <a:spcPct val="0"/>
              </a:spcBef>
              <a:buFontTx/>
              <a:buNone/>
            </a:pPr>
            <a:r>
              <a:rPr lang="en-US" altLang="en-US" sz="1800" b="1">
                <a:solidFill>
                  <a:srgbClr val="000000"/>
                </a:solidFill>
                <a:latin typeface="Courier New" panose="02070309020205020404" pitchFamily="49" charset="0"/>
              </a:rPr>
              <a:t>  7782 CLARK     2450</a:t>
            </a:r>
          </a:p>
          <a:p>
            <a:pPr>
              <a:lnSpc>
                <a:spcPct val="95000"/>
              </a:lnSpc>
              <a:spcBef>
                <a:spcPct val="0"/>
              </a:spcBef>
              <a:buFontTx/>
              <a:buNone/>
            </a:pPr>
            <a:r>
              <a:rPr lang="en-US" altLang="en-US" sz="1800" b="1">
                <a:solidFill>
                  <a:srgbClr val="000000"/>
                </a:solidFill>
                <a:latin typeface="Courier New" panose="02070309020205020404" pitchFamily="49" charset="0"/>
              </a:rPr>
              <a:t>  7566 JONES     2975</a:t>
            </a:r>
          </a:p>
          <a:p>
            <a:pPr>
              <a:lnSpc>
                <a:spcPct val="95000"/>
              </a:lnSpc>
              <a:spcBef>
                <a:spcPct val="0"/>
              </a:spcBef>
              <a:buFontTx/>
              <a:buNone/>
            </a:pPr>
            <a:r>
              <a:rPr lang="en-US" altLang="en-US" sz="1800" b="1">
                <a:solidFill>
                  <a:srgbClr val="000000"/>
                </a:solidFill>
                <a:latin typeface="Courier New" panose="02070309020205020404" pitchFamily="49" charset="0"/>
              </a:rPr>
              <a:t>  7654 MARTIN    1250</a:t>
            </a:r>
          </a:p>
          <a:p>
            <a:pPr>
              <a:lnSpc>
                <a:spcPct val="95000"/>
              </a:lnSpc>
              <a:spcBef>
                <a:spcPct val="0"/>
              </a:spcBef>
              <a:buFontTx/>
              <a:buNone/>
            </a:pPr>
            <a:r>
              <a:rPr lang="en-US" altLang="en-US" sz="1800" b="1">
                <a:solidFill>
                  <a:srgbClr val="000000"/>
                </a:solidFill>
                <a:latin typeface="Courier New" panose="02070309020205020404" pitchFamily="49" charset="0"/>
              </a:rPr>
              <a:t>  7499 ALLEN     1600</a:t>
            </a:r>
          </a:p>
          <a:p>
            <a:pPr>
              <a:lnSpc>
                <a:spcPct val="95000"/>
              </a:lnSpc>
              <a:spcBef>
                <a:spcPct val="0"/>
              </a:spcBef>
              <a:buFontTx/>
              <a:buNone/>
            </a:pPr>
            <a:r>
              <a:rPr lang="en-US" altLang="en-US" sz="1800" b="1">
                <a:solidFill>
                  <a:srgbClr val="000000"/>
                </a:solidFill>
                <a:latin typeface="Courier New" panose="02070309020205020404" pitchFamily="49" charset="0"/>
              </a:rPr>
              <a:t>  7844 TURNER    1500</a:t>
            </a:r>
          </a:p>
          <a:p>
            <a:pPr>
              <a:lnSpc>
                <a:spcPct val="95000"/>
              </a:lnSpc>
              <a:spcBef>
                <a:spcPct val="0"/>
              </a:spcBef>
              <a:buFontTx/>
              <a:buNone/>
            </a:pPr>
            <a:r>
              <a:rPr lang="en-US" altLang="en-US" sz="1800" b="1">
                <a:solidFill>
                  <a:srgbClr val="000000"/>
                </a:solidFill>
                <a:latin typeface="Courier New" panose="02070309020205020404" pitchFamily="49" charset="0"/>
              </a:rPr>
              <a:t>  7900 JAMES      950</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14 rows selected.</a:t>
            </a:r>
          </a:p>
        </p:txBody>
      </p:sp>
      <p:sp>
        <p:nvSpPr>
          <p:cNvPr id="56330" name="Rectangle 15">
            <a:extLst>
              <a:ext uri="{FF2B5EF4-FFF2-40B4-BE49-F238E27FC236}">
                <a16:creationId xmlns:a16="http://schemas.microsoft.com/office/drawing/2014/main" id="{76453D64-3CB5-5B2E-8C6F-F8397AA9F0E0}"/>
              </a:ext>
            </a:extLst>
          </p:cNvPr>
          <p:cNvSpPr>
            <a:spLocks noChangeArrowheads="1"/>
          </p:cNvSpPr>
          <p:nvPr/>
        </p:nvSpPr>
        <p:spPr bwMode="blackWhite">
          <a:xfrm>
            <a:off x="5200650" y="1733550"/>
            <a:ext cx="282257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485900" algn="r"/>
                <a:tab pos="1885950" algn="l"/>
              </a:tabLst>
              <a:defRPr sz="2800">
                <a:solidFill>
                  <a:schemeClr val="tx1"/>
                </a:solidFill>
                <a:latin typeface="Arial" panose="020B0604020202020204" pitchFamily="34" charset="0"/>
              </a:defRPr>
            </a:lvl1pPr>
            <a:lvl2pPr marL="742950" indent="-285750">
              <a:spcBef>
                <a:spcPct val="20000"/>
              </a:spcBef>
              <a:buChar char="–"/>
              <a:tabLst>
                <a:tab pos="1485900" algn="r"/>
                <a:tab pos="1885950" algn="l"/>
              </a:tabLst>
              <a:defRPr sz="2400">
                <a:solidFill>
                  <a:schemeClr val="tx1"/>
                </a:solidFill>
                <a:latin typeface="Arial" panose="020B0604020202020204" pitchFamily="34" charset="0"/>
              </a:defRPr>
            </a:lvl2pPr>
            <a:lvl3pPr marL="1143000" indent="-228600">
              <a:spcBef>
                <a:spcPct val="20000"/>
              </a:spcBef>
              <a:buChar char="•"/>
              <a:tabLst>
                <a:tab pos="1485900" algn="r"/>
                <a:tab pos="1885950" algn="l"/>
              </a:tabLst>
              <a:defRPr sz="2000">
                <a:solidFill>
                  <a:schemeClr val="tx1"/>
                </a:solidFill>
                <a:latin typeface="Arial" panose="020B0604020202020204" pitchFamily="34" charset="0"/>
              </a:defRPr>
            </a:lvl3pPr>
            <a:lvl4pPr marL="1600200" indent="-228600">
              <a:spcBef>
                <a:spcPct val="20000"/>
              </a:spcBef>
              <a:buChar char="–"/>
              <a:tabLst>
                <a:tab pos="1485900" algn="r"/>
                <a:tab pos="1885950" algn="l"/>
              </a:tabLst>
              <a:defRPr sz="2000">
                <a:solidFill>
                  <a:schemeClr val="tx1"/>
                </a:solidFill>
                <a:latin typeface="Arial" panose="020B0604020202020204" pitchFamily="34" charset="0"/>
              </a:defRPr>
            </a:lvl4pPr>
            <a:lvl5pPr marL="2057400" indent="-228600">
              <a:spcBef>
                <a:spcPct val="20000"/>
              </a:spcBef>
              <a:buChar char="»"/>
              <a:tabLst>
                <a:tab pos="1485900" algn="r"/>
                <a:tab pos="1885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GRADE 	LOSAL  HISAL</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1       700	1200</a:t>
            </a:r>
          </a:p>
          <a:p>
            <a:pPr>
              <a:lnSpc>
                <a:spcPct val="95000"/>
              </a:lnSpc>
              <a:spcBef>
                <a:spcPct val="0"/>
              </a:spcBef>
              <a:buFontTx/>
              <a:buNone/>
            </a:pPr>
            <a:r>
              <a:rPr lang="en-US" altLang="en-US" sz="1800" b="1">
                <a:solidFill>
                  <a:srgbClr val="000000"/>
                </a:solidFill>
                <a:latin typeface="Courier New" panose="02070309020205020404" pitchFamily="49" charset="0"/>
              </a:rPr>
              <a:t>2      1201	1400</a:t>
            </a:r>
          </a:p>
          <a:p>
            <a:pPr>
              <a:lnSpc>
                <a:spcPct val="95000"/>
              </a:lnSpc>
              <a:spcBef>
                <a:spcPct val="0"/>
              </a:spcBef>
              <a:buFontTx/>
              <a:buNone/>
            </a:pPr>
            <a:r>
              <a:rPr lang="en-US" altLang="en-US" sz="1800" b="1">
                <a:solidFill>
                  <a:srgbClr val="000000"/>
                </a:solidFill>
                <a:latin typeface="Courier New" panose="02070309020205020404" pitchFamily="49" charset="0"/>
              </a:rPr>
              <a:t>3      1401	2000</a:t>
            </a:r>
          </a:p>
          <a:p>
            <a:pPr>
              <a:lnSpc>
                <a:spcPct val="95000"/>
              </a:lnSpc>
              <a:spcBef>
                <a:spcPct val="0"/>
              </a:spcBef>
              <a:buFontTx/>
              <a:buNone/>
            </a:pPr>
            <a:r>
              <a:rPr lang="en-US" altLang="en-US" sz="1800" b="1">
                <a:solidFill>
                  <a:srgbClr val="000000"/>
                </a:solidFill>
                <a:latin typeface="Courier New" panose="02070309020205020404" pitchFamily="49" charset="0"/>
              </a:rPr>
              <a:t>4	2001	3000</a:t>
            </a:r>
          </a:p>
          <a:p>
            <a:pPr>
              <a:lnSpc>
                <a:spcPct val="95000"/>
              </a:lnSpc>
              <a:spcBef>
                <a:spcPct val="0"/>
              </a:spcBef>
              <a:buFontTx/>
              <a:buNone/>
            </a:pPr>
            <a:r>
              <a:rPr lang="en-US" altLang="en-US" sz="1800" b="1">
                <a:solidFill>
                  <a:srgbClr val="000000"/>
                </a:solidFill>
                <a:latin typeface="Courier New" panose="02070309020205020404" pitchFamily="49" charset="0"/>
              </a:rPr>
              <a:t>5      3001	9999</a:t>
            </a:r>
          </a:p>
        </p:txBody>
      </p:sp>
      <p:grpSp>
        <p:nvGrpSpPr>
          <p:cNvPr id="56331" name="Group 4">
            <a:extLst>
              <a:ext uri="{FF2B5EF4-FFF2-40B4-BE49-F238E27FC236}">
                <a16:creationId xmlns:a16="http://schemas.microsoft.com/office/drawing/2014/main" id="{9216B6BD-271C-8DAF-B97F-D8ABA18F06B5}"/>
              </a:ext>
            </a:extLst>
          </p:cNvPr>
          <p:cNvGrpSpPr>
            <a:grpSpLocks/>
          </p:cNvGrpSpPr>
          <p:nvPr/>
        </p:nvGrpSpPr>
        <p:grpSpPr bwMode="auto">
          <a:xfrm>
            <a:off x="3857625" y="404813"/>
            <a:ext cx="1701800" cy="639762"/>
            <a:chOff x="1752" y="1632"/>
            <a:chExt cx="1072" cy="403"/>
          </a:xfrm>
        </p:grpSpPr>
        <p:sp>
          <p:nvSpPr>
            <p:cNvPr id="56332" name="Rectangle 5">
              <a:extLst>
                <a:ext uri="{FF2B5EF4-FFF2-40B4-BE49-F238E27FC236}">
                  <a16:creationId xmlns:a16="http://schemas.microsoft.com/office/drawing/2014/main" id="{B6ABEB34-E7A4-0B0A-CDD7-FFC6CA5DD3B2}"/>
                </a:ext>
              </a:extLst>
            </p:cNvPr>
            <p:cNvSpPr>
              <a:spLocks noChangeArrowheads="1"/>
            </p:cNvSpPr>
            <p:nvPr/>
          </p:nvSpPr>
          <p:spPr bwMode="blackWhite">
            <a:xfrm>
              <a:off x="1752"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6333" name="Rectangle 6">
              <a:extLst>
                <a:ext uri="{FF2B5EF4-FFF2-40B4-BE49-F238E27FC236}">
                  <a16:creationId xmlns:a16="http://schemas.microsoft.com/office/drawing/2014/main" id="{6B0D36E6-4607-89AE-63AB-32C0F0821D7B}"/>
                </a:ext>
              </a:extLst>
            </p:cNvPr>
            <p:cNvSpPr>
              <a:spLocks noChangeArrowheads="1"/>
            </p:cNvSpPr>
            <p:nvPr/>
          </p:nvSpPr>
          <p:spPr bwMode="blackWhite">
            <a:xfrm>
              <a:off x="2334"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6334" name="Oval 7">
              <a:extLst>
                <a:ext uri="{FF2B5EF4-FFF2-40B4-BE49-F238E27FC236}">
                  <a16:creationId xmlns:a16="http://schemas.microsoft.com/office/drawing/2014/main" id="{DA514330-FC21-6CB3-459B-0971AFC2677D}"/>
                </a:ext>
              </a:extLst>
            </p:cNvPr>
            <p:cNvSpPr>
              <a:spLocks noChangeArrowheads="1"/>
            </p:cNvSpPr>
            <p:nvPr/>
          </p:nvSpPr>
          <p:spPr bwMode="blackWhite">
            <a:xfrm>
              <a:off x="1947" y="1794"/>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6335" name="Line 8">
              <a:extLst>
                <a:ext uri="{FF2B5EF4-FFF2-40B4-BE49-F238E27FC236}">
                  <a16:creationId xmlns:a16="http://schemas.microsoft.com/office/drawing/2014/main" id="{3EC3F4AD-CFBD-8C5D-2526-0AF7AE700EC1}"/>
                </a:ext>
              </a:extLst>
            </p:cNvPr>
            <p:cNvSpPr>
              <a:spLocks noChangeShapeType="1"/>
            </p:cNvSpPr>
            <p:nvPr/>
          </p:nvSpPr>
          <p:spPr bwMode="blackWhite">
            <a:xfrm>
              <a:off x="2078" y="1838"/>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6336" name="Rectangle 9">
              <a:extLst>
                <a:ext uri="{FF2B5EF4-FFF2-40B4-BE49-F238E27FC236}">
                  <a16:creationId xmlns:a16="http://schemas.microsoft.com/office/drawing/2014/main" id="{268863BE-5972-59E2-6989-E02CF85CA6A2}"/>
                </a:ext>
              </a:extLst>
            </p:cNvPr>
            <p:cNvSpPr>
              <a:spLocks noChangeArrowheads="1"/>
            </p:cNvSpPr>
            <p:nvPr/>
          </p:nvSpPr>
          <p:spPr bwMode="blackWhite">
            <a:xfrm>
              <a:off x="2520" y="1794"/>
              <a:ext cx="87" cy="87"/>
            </a:xfrm>
            <a:prstGeom prst="rect">
              <a:avLst/>
            </a:prstGeom>
            <a:solidFill>
              <a:srgbClr val="0099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356F53C-C980-574E-D962-0A9D1430AF81}"/>
              </a:ext>
            </a:extLst>
          </p:cNvPr>
          <p:cNvSpPr>
            <a:spLocks noChangeArrowheads="1"/>
          </p:cNvSpPr>
          <p:nvPr/>
        </p:nvSpPr>
        <p:spPr bwMode="blackWhite">
          <a:xfrm>
            <a:off x="895350" y="1268413"/>
            <a:ext cx="7264400" cy="1463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8371" name="Rectangle 3">
            <a:extLst>
              <a:ext uri="{FF2B5EF4-FFF2-40B4-BE49-F238E27FC236}">
                <a16:creationId xmlns:a16="http://schemas.microsoft.com/office/drawing/2014/main" id="{821B20DD-DB0F-88C2-AF32-B84A0618F50A}"/>
              </a:ext>
            </a:extLst>
          </p:cNvPr>
          <p:cNvSpPr>
            <a:spLocks noChangeArrowheads="1"/>
          </p:cNvSpPr>
          <p:nvPr/>
        </p:nvSpPr>
        <p:spPr bwMode="blackWhite">
          <a:xfrm>
            <a:off x="911225" y="4413250"/>
            <a:ext cx="72707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8372" name="Rectangle 4">
            <a:extLst>
              <a:ext uri="{FF2B5EF4-FFF2-40B4-BE49-F238E27FC236}">
                <a16:creationId xmlns:a16="http://schemas.microsoft.com/office/drawing/2014/main" id="{EB115075-50F4-E27D-8F9B-6A392C218A83}"/>
              </a:ext>
            </a:extLst>
          </p:cNvPr>
          <p:cNvSpPr>
            <a:spLocks noGrp="1" noChangeArrowheads="1"/>
          </p:cNvSpPr>
          <p:nvPr>
            <p:ph type="title"/>
          </p:nvPr>
        </p:nvSpPr>
        <p:spPr>
          <a:xfrm>
            <a:off x="433388" y="188913"/>
            <a:ext cx="8277225" cy="936625"/>
          </a:xfrm>
          <a:noFill/>
        </p:spPr>
        <p:txBody>
          <a:bodyPr lIns="92075" tIns="46038" rIns="92075" bIns="46038" anchor="t"/>
          <a:lstStyle/>
          <a:p>
            <a:r>
              <a:rPr lang="en-US" altLang="en-US" sz="2800">
                <a:solidFill>
                  <a:srgbClr val="800000"/>
                </a:solidFill>
              </a:rPr>
              <a:t>Retrieving Records </a:t>
            </a:r>
            <a:br>
              <a:rPr lang="en-US" altLang="en-US" sz="2800">
                <a:solidFill>
                  <a:srgbClr val="800000"/>
                </a:solidFill>
              </a:rPr>
            </a:br>
            <a:r>
              <a:rPr lang="en-US" altLang="en-US" sz="2800">
                <a:solidFill>
                  <a:srgbClr val="800000"/>
                </a:solidFill>
              </a:rPr>
              <a:t>with Non-Equijoins</a:t>
            </a:r>
          </a:p>
        </p:txBody>
      </p:sp>
      <p:sp>
        <p:nvSpPr>
          <p:cNvPr id="58373" name="Rectangle 7">
            <a:extLst>
              <a:ext uri="{FF2B5EF4-FFF2-40B4-BE49-F238E27FC236}">
                <a16:creationId xmlns:a16="http://schemas.microsoft.com/office/drawing/2014/main" id="{7FF04331-33A3-C94B-37D1-9807D4D4BE9A}"/>
              </a:ext>
            </a:extLst>
          </p:cNvPr>
          <p:cNvSpPr>
            <a:spLocks noChangeArrowheads="1"/>
          </p:cNvSpPr>
          <p:nvPr/>
        </p:nvSpPr>
        <p:spPr bwMode="ltGray">
          <a:xfrm>
            <a:off x="2700338" y="4425950"/>
            <a:ext cx="1358900" cy="14636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8374" name="Rectangle 8">
            <a:extLst>
              <a:ext uri="{FF2B5EF4-FFF2-40B4-BE49-F238E27FC236}">
                <a16:creationId xmlns:a16="http://schemas.microsoft.com/office/drawing/2014/main" id="{2C0600AC-8CBC-295E-F6E6-5323AC6D73F9}"/>
              </a:ext>
            </a:extLst>
          </p:cNvPr>
          <p:cNvSpPr>
            <a:spLocks noChangeArrowheads="1"/>
          </p:cNvSpPr>
          <p:nvPr/>
        </p:nvSpPr>
        <p:spPr bwMode="blackWhite">
          <a:xfrm>
            <a:off x="923925" y="4425950"/>
            <a:ext cx="72453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SAL     GRADE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JAMES            950         1</a:t>
            </a:r>
          </a:p>
          <a:p>
            <a:pPr>
              <a:spcBef>
                <a:spcPct val="0"/>
              </a:spcBef>
              <a:buFontTx/>
              <a:buNone/>
            </a:pPr>
            <a:r>
              <a:rPr lang="en-US" altLang="en-US" sz="1800" b="1">
                <a:solidFill>
                  <a:srgbClr val="000000"/>
                </a:solidFill>
                <a:latin typeface="Courier New" panose="02070309020205020404" pitchFamily="49" charset="0"/>
              </a:rPr>
              <a:t>SMITH            800         1</a:t>
            </a:r>
          </a:p>
          <a:p>
            <a:pPr>
              <a:spcBef>
                <a:spcPct val="0"/>
              </a:spcBef>
              <a:buFontTx/>
              <a:buNone/>
            </a:pPr>
            <a:r>
              <a:rPr lang="en-US" altLang="en-US" sz="1800" b="1">
                <a:solidFill>
                  <a:srgbClr val="000000"/>
                </a:solidFill>
                <a:latin typeface="Courier New" panose="02070309020205020404" pitchFamily="49" charset="0"/>
              </a:rPr>
              <a:t>ADAMS           1100         1</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14 rows selected.</a:t>
            </a:r>
          </a:p>
        </p:txBody>
      </p:sp>
      <p:sp>
        <p:nvSpPr>
          <p:cNvPr id="58375" name="Rectangle 9">
            <a:extLst>
              <a:ext uri="{FF2B5EF4-FFF2-40B4-BE49-F238E27FC236}">
                <a16:creationId xmlns:a16="http://schemas.microsoft.com/office/drawing/2014/main" id="{EB55CB4F-9446-DCFE-219A-2EEFAAF5F79D}"/>
              </a:ext>
            </a:extLst>
          </p:cNvPr>
          <p:cNvSpPr>
            <a:spLocks noChangeArrowheads="1"/>
          </p:cNvSpPr>
          <p:nvPr/>
        </p:nvSpPr>
        <p:spPr bwMode="blackWhite">
          <a:xfrm>
            <a:off x="882650" y="1268413"/>
            <a:ext cx="72898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e.sal, s.grade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salgrade s</a:t>
            </a:r>
          </a:p>
          <a:p>
            <a:pPr>
              <a:lnSpc>
                <a:spcPct val="120000"/>
              </a:lnSpc>
              <a:spcBef>
                <a:spcPct val="0"/>
              </a:spcBef>
              <a:buFontTx/>
              <a:buNone/>
            </a:pPr>
            <a:r>
              <a:rPr lang="en-US" altLang="en-US" sz="1800" b="1">
                <a:solidFill>
                  <a:srgbClr val="000000"/>
                </a:solidFill>
                <a:latin typeface="Courier New" panose="02070309020205020404" pitchFamily="49" charset="0"/>
              </a:rPr>
              <a:t>   3	</a:t>
            </a:r>
            <a:r>
              <a:rPr lang="en-US" altLang="en-US" sz="1800" b="1">
                <a:solidFill>
                  <a:schemeClr val="accent2"/>
                </a:solidFill>
                <a:latin typeface="Courier New" panose="02070309020205020404" pitchFamily="49" charset="0"/>
              </a:rPr>
              <a:t>WHERE 	e.sal</a:t>
            </a:r>
          </a:p>
          <a:p>
            <a:pPr>
              <a:lnSpc>
                <a:spcPct val="120000"/>
              </a:lnSpc>
              <a:spcBef>
                <a:spcPct val="0"/>
              </a:spcBef>
              <a:buFontTx/>
              <a:buNone/>
            </a:pPr>
            <a:r>
              <a:rPr lang="en-US" altLang="en-US" sz="1800" b="1">
                <a:solidFill>
                  <a:schemeClr val="accent2"/>
                </a:solidFill>
                <a:latin typeface="Courier New" panose="02070309020205020404" pitchFamily="49" charset="0"/>
              </a:rPr>
              <a:t>   4	BETWEEN 	s.losal AND s.hisal;</a:t>
            </a:r>
          </a:p>
        </p:txBody>
      </p:sp>
      <p:sp>
        <p:nvSpPr>
          <p:cNvPr id="58376" name="Rectangle 2">
            <a:extLst>
              <a:ext uri="{FF2B5EF4-FFF2-40B4-BE49-F238E27FC236}">
                <a16:creationId xmlns:a16="http://schemas.microsoft.com/office/drawing/2014/main" id="{89D76A74-285F-9887-2E0F-4B483E0708A5}"/>
              </a:ext>
            </a:extLst>
          </p:cNvPr>
          <p:cNvSpPr>
            <a:spLocks noChangeArrowheads="1"/>
          </p:cNvSpPr>
          <p:nvPr/>
        </p:nvSpPr>
        <p:spPr bwMode="blackWhite">
          <a:xfrm>
            <a:off x="895350" y="2865438"/>
            <a:ext cx="7264400" cy="1463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8377" name="Rectangle 9">
            <a:extLst>
              <a:ext uri="{FF2B5EF4-FFF2-40B4-BE49-F238E27FC236}">
                <a16:creationId xmlns:a16="http://schemas.microsoft.com/office/drawing/2014/main" id="{F1A53983-8610-9335-B45A-5C7DCA5F599C}"/>
              </a:ext>
            </a:extLst>
          </p:cNvPr>
          <p:cNvSpPr>
            <a:spLocks noChangeArrowheads="1"/>
          </p:cNvSpPr>
          <p:nvPr/>
        </p:nvSpPr>
        <p:spPr bwMode="blackWhite">
          <a:xfrm>
            <a:off x="882650" y="2852738"/>
            <a:ext cx="72898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e.sal, s.grade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JOIN salgrade s</a:t>
            </a:r>
          </a:p>
          <a:p>
            <a:pPr>
              <a:lnSpc>
                <a:spcPct val="120000"/>
              </a:lnSpc>
              <a:spcBef>
                <a:spcPct val="0"/>
              </a:spcBef>
              <a:buFontTx/>
              <a:buNone/>
            </a:pPr>
            <a:r>
              <a:rPr lang="en-US" altLang="en-US" sz="1800" b="1">
                <a:solidFill>
                  <a:srgbClr val="000000"/>
                </a:solidFill>
                <a:latin typeface="Courier New" panose="02070309020205020404" pitchFamily="49" charset="0"/>
              </a:rPr>
              <a:t>   3	</a:t>
            </a:r>
            <a:r>
              <a:rPr lang="en-US" altLang="en-US" sz="1800" b="1">
                <a:solidFill>
                  <a:schemeClr val="accent2"/>
                </a:solidFill>
                <a:latin typeface="Courier New" panose="02070309020205020404" pitchFamily="49" charset="0"/>
              </a:rPr>
              <a:t>ON 	e.sal</a:t>
            </a:r>
          </a:p>
          <a:p>
            <a:pPr>
              <a:lnSpc>
                <a:spcPct val="120000"/>
              </a:lnSpc>
              <a:spcBef>
                <a:spcPct val="0"/>
              </a:spcBef>
              <a:buFontTx/>
              <a:buNone/>
            </a:pPr>
            <a:r>
              <a:rPr lang="en-US" altLang="en-US" sz="1800" b="1">
                <a:solidFill>
                  <a:schemeClr val="accent2"/>
                </a:solidFill>
                <a:latin typeface="Courier New" panose="02070309020205020404" pitchFamily="49" charset="0"/>
              </a:rPr>
              <a:t>   4	BETWEEN 	s.losal AND s.hisal;</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D9FD7FA-6C40-F1E2-22A5-A793403610FE}"/>
              </a:ext>
            </a:extLst>
          </p:cNvPr>
          <p:cNvSpPr>
            <a:spLocks noChangeArrowheads="1"/>
          </p:cNvSpPr>
          <p:nvPr/>
        </p:nvSpPr>
        <p:spPr bwMode="blackWhite">
          <a:xfrm>
            <a:off x="1654175" y="1820863"/>
            <a:ext cx="266065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0900" algn="l"/>
                <a:tab pos="1833563"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33563"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0419" name="Rectangle 3">
            <a:extLst>
              <a:ext uri="{FF2B5EF4-FFF2-40B4-BE49-F238E27FC236}">
                <a16:creationId xmlns:a16="http://schemas.microsoft.com/office/drawing/2014/main" id="{5A3F493F-9316-C0C7-ED5C-B9625E0AE154}"/>
              </a:ext>
            </a:extLst>
          </p:cNvPr>
          <p:cNvSpPr>
            <a:spLocks noChangeArrowheads="1"/>
          </p:cNvSpPr>
          <p:nvPr/>
        </p:nvSpPr>
        <p:spPr bwMode="blackWhite">
          <a:xfrm>
            <a:off x="4911725" y="1820863"/>
            <a:ext cx="224155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09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0420" name="Rectangle 4">
            <a:extLst>
              <a:ext uri="{FF2B5EF4-FFF2-40B4-BE49-F238E27FC236}">
                <a16:creationId xmlns:a16="http://schemas.microsoft.com/office/drawing/2014/main" id="{E12342CA-283B-F97E-5E10-0117D5871D66}"/>
              </a:ext>
            </a:extLst>
          </p:cNvPr>
          <p:cNvSpPr>
            <a:spLocks noGrp="1" noChangeArrowheads="1"/>
          </p:cNvSpPr>
          <p:nvPr>
            <p:ph type="title"/>
          </p:nvPr>
        </p:nvSpPr>
        <p:spPr>
          <a:xfrm>
            <a:off x="323850" y="660400"/>
            <a:ext cx="2660650" cy="536575"/>
          </a:xfrm>
          <a:noFill/>
        </p:spPr>
        <p:txBody>
          <a:bodyPr lIns="92075" tIns="46038" rIns="92075" bIns="46038" anchor="t"/>
          <a:lstStyle/>
          <a:p>
            <a:r>
              <a:rPr lang="en-US" altLang="en-US" sz="2800">
                <a:solidFill>
                  <a:srgbClr val="800000"/>
                </a:solidFill>
              </a:rPr>
              <a:t>5. Self Joins</a:t>
            </a:r>
          </a:p>
        </p:txBody>
      </p:sp>
      <p:sp>
        <p:nvSpPr>
          <p:cNvPr id="272389" name="Rectangle 5">
            <a:extLst>
              <a:ext uri="{FF2B5EF4-FFF2-40B4-BE49-F238E27FC236}">
                <a16:creationId xmlns:a16="http://schemas.microsoft.com/office/drawing/2014/main" id="{01AB9D92-8783-AB50-14BC-BAA07C8B4355}"/>
              </a:ext>
            </a:extLst>
          </p:cNvPr>
          <p:cNvSpPr>
            <a:spLocks noChangeArrowheads="1"/>
          </p:cNvSpPr>
          <p:nvPr/>
        </p:nvSpPr>
        <p:spPr bwMode="auto">
          <a:xfrm>
            <a:off x="1576388" y="1417638"/>
            <a:ext cx="2132012"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EMP (WORKER)</a:t>
            </a:r>
          </a:p>
        </p:txBody>
      </p:sp>
      <p:sp>
        <p:nvSpPr>
          <p:cNvPr id="272390" name="Rectangle 6">
            <a:extLst>
              <a:ext uri="{FF2B5EF4-FFF2-40B4-BE49-F238E27FC236}">
                <a16:creationId xmlns:a16="http://schemas.microsoft.com/office/drawing/2014/main" id="{FB54755B-E075-EB0E-5FFF-A993E4F6F0C4}"/>
              </a:ext>
            </a:extLst>
          </p:cNvPr>
          <p:cNvSpPr>
            <a:spLocks noChangeArrowheads="1"/>
          </p:cNvSpPr>
          <p:nvPr/>
        </p:nvSpPr>
        <p:spPr bwMode="auto">
          <a:xfrm>
            <a:off x="4846638" y="1417638"/>
            <a:ext cx="2286000" cy="396875"/>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chemeClr val="accent2"/>
                </a:solidFill>
                <a:effectLst>
                  <a:outerShdw blurRad="38100" dist="38100" dir="2700000" algn="tl">
                    <a:srgbClr val="000000"/>
                  </a:outerShdw>
                </a:effectLst>
              </a:rPr>
              <a:t>EMP (MANAGER)</a:t>
            </a:r>
          </a:p>
        </p:txBody>
      </p:sp>
      <p:sp>
        <p:nvSpPr>
          <p:cNvPr id="272391" name="Rectangle 7">
            <a:extLst>
              <a:ext uri="{FF2B5EF4-FFF2-40B4-BE49-F238E27FC236}">
                <a16:creationId xmlns:a16="http://schemas.microsoft.com/office/drawing/2014/main" id="{F2BDC305-2493-3ED5-E310-12AA06E678A7}"/>
              </a:ext>
            </a:extLst>
          </p:cNvPr>
          <p:cNvSpPr>
            <a:spLocks noChangeArrowheads="1"/>
          </p:cNvSpPr>
          <p:nvPr/>
        </p:nvSpPr>
        <p:spPr bwMode="ltGray">
          <a:xfrm>
            <a:off x="3479800" y="1836738"/>
            <a:ext cx="2286000" cy="21764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 name="Group 8">
            <a:extLst>
              <a:ext uri="{FF2B5EF4-FFF2-40B4-BE49-F238E27FC236}">
                <a16:creationId xmlns:a16="http://schemas.microsoft.com/office/drawing/2014/main" id="{4748297D-3B85-2D15-18BC-E44870065C8B}"/>
              </a:ext>
            </a:extLst>
          </p:cNvPr>
          <p:cNvGrpSpPr>
            <a:grpSpLocks/>
          </p:cNvGrpSpPr>
          <p:nvPr/>
        </p:nvGrpSpPr>
        <p:grpSpPr bwMode="auto">
          <a:xfrm>
            <a:off x="1336675" y="4019550"/>
            <a:ext cx="6686550" cy="1776413"/>
            <a:chOff x="842" y="2532"/>
            <a:chExt cx="4212" cy="1119"/>
          </a:xfrm>
        </p:grpSpPr>
        <p:sp>
          <p:nvSpPr>
            <p:cNvPr id="272393" name="Rectangle 9">
              <a:extLst>
                <a:ext uri="{FF2B5EF4-FFF2-40B4-BE49-F238E27FC236}">
                  <a16:creationId xmlns:a16="http://schemas.microsoft.com/office/drawing/2014/main" id="{CE372686-9222-0CF9-73AB-6A003A6D10E8}"/>
                </a:ext>
              </a:extLst>
            </p:cNvPr>
            <p:cNvSpPr>
              <a:spLocks noChangeArrowheads="1"/>
            </p:cNvSpPr>
            <p:nvPr/>
          </p:nvSpPr>
          <p:spPr bwMode="auto">
            <a:xfrm>
              <a:off x="842" y="3209"/>
              <a:ext cx="4212" cy="442"/>
            </a:xfrm>
            <a:prstGeom prst="rect">
              <a:avLst/>
            </a:prstGeom>
            <a:noFill/>
            <a:ln w="9525">
              <a:noFill/>
              <a:miter lim="800000"/>
              <a:headEnd/>
              <a:tailEnd/>
            </a:ln>
            <a:effectLst/>
          </p:spPr>
          <p:txBody>
            <a:bodyPr lIns="92075" tIns="46038" rIns="92075" bIns="46038">
              <a:spAutoFit/>
            </a:bodyPr>
            <a:lstStyle/>
            <a:p>
              <a:pPr algn="ctr" defTabSz="822325">
                <a:spcBef>
                  <a:spcPct val="50000"/>
                </a:spcBef>
                <a:defRPr/>
              </a:pPr>
              <a:r>
                <a:rPr lang="en-US" sz="2000" b="1" dirty="0">
                  <a:solidFill>
                    <a:schemeClr val="accent2"/>
                  </a:solidFill>
                  <a:effectLst>
                    <a:outerShdw blurRad="38100" dist="38100" dir="2700000" algn="tl">
                      <a:srgbClr val="000000"/>
                    </a:outerShdw>
                  </a:effectLst>
                </a:rPr>
                <a:t>“MGR in the WORKER table is equal to EMPNO in the MANAGER table”</a:t>
              </a:r>
            </a:p>
          </p:txBody>
        </p:sp>
        <p:sp>
          <p:nvSpPr>
            <p:cNvPr id="60434" name="Freeform 10">
              <a:extLst>
                <a:ext uri="{FF2B5EF4-FFF2-40B4-BE49-F238E27FC236}">
                  <a16:creationId xmlns:a16="http://schemas.microsoft.com/office/drawing/2014/main" id="{EB3C0B62-C05C-9FEF-E219-78A44C86B189}"/>
                </a:ext>
              </a:extLst>
            </p:cNvPr>
            <p:cNvSpPr>
              <a:spLocks/>
            </p:cNvSpPr>
            <p:nvPr/>
          </p:nvSpPr>
          <p:spPr bwMode="auto">
            <a:xfrm>
              <a:off x="2454" y="2532"/>
              <a:ext cx="946" cy="378"/>
            </a:xfrm>
            <a:custGeom>
              <a:avLst/>
              <a:gdLst>
                <a:gd name="T0" fmla="*/ 0 w 946"/>
                <a:gd name="T1" fmla="*/ 9 h 378"/>
                <a:gd name="T2" fmla="*/ 0 w 946"/>
                <a:gd name="T3" fmla="*/ 377 h 378"/>
                <a:gd name="T4" fmla="*/ 945 w 946"/>
                <a:gd name="T5" fmla="*/ 377 h 378"/>
                <a:gd name="T6" fmla="*/ 945 w 946"/>
                <a:gd name="T7" fmla="*/ 0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378">
                  <a:moveTo>
                    <a:pt x="0" y="9"/>
                  </a:moveTo>
                  <a:lnTo>
                    <a:pt x="0" y="377"/>
                  </a:lnTo>
                  <a:lnTo>
                    <a:pt x="945" y="377"/>
                  </a:lnTo>
                  <a:lnTo>
                    <a:pt x="945" y="0"/>
                  </a:lnTo>
                </a:path>
              </a:pathLst>
            </a:custGeom>
            <a:noFill/>
            <a:ln w="50800" cap="rnd" cmpd="sng">
              <a:solidFill>
                <a:srgbClr val="FFCC00"/>
              </a:solidFill>
              <a:prstDash val="solid"/>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35" name="Line 11">
              <a:extLst>
                <a:ext uri="{FF2B5EF4-FFF2-40B4-BE49-F238E27FC236}">
                  <a16:creationId xmlns:a16="http://schemas.microsoft.com/office/drawing/2014/main" id="{C11D51E3-8A08-2EE5-0F30-1BC722CBC72B}"/>
                </a:ext>
              </a:extLst>
            </p:cNvPr>
            <p:cNvSpPr>
              <a:spLocks noChangeShapeType="1"/>
            </p:cNvSpPr>
            <p:nvPr/>
          </p:nvSpPr>
          <p:spPr bwMode="auto">
            <a:xfrm>
              <a:off x="2945" y="2905"/>
              <a:ext cx="0" cy="272"/>
            </a:xfrm>
            <a:prstGeom prst="line">
              <a:avLst/>
            </a:prstGeom>
            <a:noFill/>
            <a:ln w="50800">
              <a:solidFill>
                <a:srgbClr val="FFCC00"/>
              </a:solidFill>
              <a:round/>
              <a:headEnd type="none" w="sm" len="sm"/>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60425" name="Rectangle 12">
            <a:extLst>
              <a:ext uri="{FF2B5EF4-FFF2-40B4-BE49-F238E27FC236}">
                <a16:creationId xmlns:a16="http://schemas.microsoft.com/office/drawing/2014/main" id="{939C2BB3-A39F-A3E6-D8E4-63F29457EB79}"/>
              </a:ext>
            </a:extLst>
          </p:cNvPr>
          <p:cNvSpPr>
            <a:spLocks noChangeArrowheads="1"/>
          </p:cNvSpPr>
          <p:nvPr/>
        </p:nvSpPr>
        <p:spPr bwMode="blackWhite">
          <a:xfrm>
            <a:off x="1666875" y="1833563"/>
            <a:ext cx="26352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0900" algn="l"/>
                <a:tab pos="1833563"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33563"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EMPNO	ENAME	 MGR</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7839	KING	</a:t>
            </a:r>
          </a:p>
          <a:p>
            <a:pPr>
              <a:lnSpc>
                <a:spcPct val="95000"/>
              </a:lnSpc>
              <a:spcBef>
                <a:spcPct val="0"/>
              </a:spcBef>
              <a:buFontTx/>
              <a:buNone/>
            </a:pPr>
            <a:r>
              <a:rPr lang="en-US" altLang="en-US" sz="1800" b="1">
                <a:solidFill>
                  <a:srgbClr val="000000"/>
                </a:solidFill>
                <a:latin typeface="Courier New" panose="02070309020205020404" pitchFamily="49" charset="0"/>
              </a:rPr>
              <a:t> 7698	BLAKE	7839</a:t>
            </a:r>
          </a:p>
          <a:p>
            <a:pPr>
              <a:lnSpc>
                <a:spcPct val="95000"/>
              </a:lnSpc>
              <a:spcBef>
                <a:spcPct val="0"/>
              </a:spcBef>
              <a:buFontTx/>
              <a:buNone/>
            </a:pPr>
            <a:r>
              <a:rPr lang="en-US" altLang="en-US" sz="1800" b="1">
                <a:solidFill>
                  <a:srgbClr val="000000"/>
                </a:solidFill>
                <a:latin typeface="Courier New" panose="02070309020205020404" pitchFamily="49" charset="0"/>
              </a:rPr>
              <a:t> 7782	CLARK	7839</a:t>
            </a:r>
          </a:p>
          <a:p>
            <a:pPr>
              <a:lnSpc>
                <a:spcPct val="95000"/>
              </a:lnSpc>
              <a:spcBef>
                <a:spcPct val="0"/>
              </a:spcBef>
              <a:buFontTx/>
              <a:buNone/>
            </a:pPr>
            <a:r>
              <a:rPr lang="en-US" altLang="en-US" sz="1800" b="1">
                <a:solidFill>
                  <a:srgbClr val="000000"/>
                </a:solidFill>
                <a:latin typeface="Courier New" panose="02070309020205020404" pitchFamily="49" charset="0"/>
              </a:rPr>
              <a:t> 7566	JONES	7839</a:t>
            </a:r>
          </a:p>
          <a:p>
            <a:pPr>
              <a:lnSpc>
                <a:spcPct val="95000"/>
              </a:lnSpc>
              <a:spcBef>
                <a:spcPct val="0"/>
              </a:spcBef>
              <a:buFontTx/>
              <a:buNone/>
            </a:pPr>
            <a:r>
              <a:rPr lang="en-US" altLang="en-US" sz="1800" b="1">
                <a:solidFill>
                  <a:srgbClr val="000000"/>
                </a:solidFill>
                <a:latin typeface="Courier New" panose="02070309020205020404" pitchFamily="49" charset="0"/>
              </a:rPr>
              <a:t> 7654	MARTIN	7698</a:t>
            </a:r>
          </a:p>
          <a:p>
            <a:pPr>
              <a:lnSpc>
                <a:spcPct val="95000"/>
              </a:lnSpc>
              <a:spcBef>
                <a:spcPct val="0"/>
              </a:spcBef>
              <a:buFontTx/>
              <a:buNone/>
            </a:pPr>
            <a:r>
              <a:rPr lang="en-US" altLang="en-US" sz="1800" b="1">
                <a:solidFill>
                  <a:srgbClr val="000000"/>
                </a:solidFill>
                <a:latin typeface="Courier New" panose="02070309020205020404" pitchFamily="49" charset="0"/>
              </a:rPr>
              <a:t> 7499	ALLEN	7698</a:t>
            </a:r>
          </a:p>
        </p:txBody>
      </p:sp>
      <p:sp>
        <p:nvSpPr>
          <p:cNvPr id="60426" name="Rectangle 13">
            <a:extLst>
              <a:ext uri="{FF2B5EF4-FFF2-40B4-BE49-F238E27FC236}">
                <a16:creationId xmlns:a16="http://schemas.microsoft.com/office/drawing/2014/main" id="{60D60687-F41D-469F-9BB4-84FFB05C8F1E}"/>
              </a:ext>
            </a:extLst>
          </p:cNvPr>
          <p:cNvSpPr>
            <a:spLocks noChangeArrowheads="1"/>
          </p:cNvSpPr>
          <p:nvPr/>
        </p:nvSpPr>
        <p:spPr bwMode="blackWhite">
          <a:xfrm>
            <a:off x="4924425" y="1833563"/>
            <a:ext cx="22161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09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EMPNO	ENAME</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a:t>
            </a:r>
            <a:br>
              <a:rPr lang="en-US" altLang="en-US" sz="1800" b="1">
                <a:solidFill>
                  <a:srgbClr val="000000"/>
                </a:solidFill>
                <a:latin typeface="Courier New" panose="02070309020205020404" pitchFamily="49" charset="0"/>
              </a:rPr>
            </a:b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7698	BLAKE</a:t>
            </a:r>
          </a:p>
          <a:p>
            <a:pPr>
              <a:lnSpc>
                <a:spcPct val="95000"/>
              </a:lnSpc>
              <a:spcBef>
                <a:spcPct val="0"/>
              </a:spcBef>
              <a:buFontTx/>
              <a:buNone/>
            </a:pPr>
            <a:r>
              <a:rPr lang="en-US" altLang="en-US" sz="1800" b="1">
                <a:solidFill>
                  <a:srgbClr val="000000"/>
                </a:solidFill>
                <a:latin typeface="Courier New" panose="02070309020205020404" pitchFamily="49" charset="0"/>
              </a:rPr>
              <a:t> 7698	BLAKE</a:t>
            </a:r>
          </a:p>
        </p:txBody>
      </p:sp>
      <p:grpSp>
        <p:nvGrpSpPr>
          <p:cNvPr id="60427" name="Group 22">
            <a:extLst>
              <a:ext uri="{FF2B5EF4-FFF2-40B4-BE49-F238E27FC236}">
                <a16:creationId xmlns:a16="http://schemas.microsoft.com/office/drawing/2014/main" id="{2B812FEF-DD37-97ED-EFD2-5CB4693F37E5}"/>
              </a:ext>
            </a:extLst>
          </p:cNvPr>
          <p:cNvGrpSpPr>
            <a:grpSpLocks/>
          </p:cNvGrpSpPr>
          <p:nvPr/>
        </p:nvGrpSpPr>
        <p:grpSpPr bwMode="auto">
          <a:xfrm>
            <a:off x="2879725" y="404813"/>
            <a:ext cx="1200150" cy="638175"/>
            <a:chOff x="4477" y="1632"/>
            <a:chExt cx="756" cy="402"/>
          </a:xfrm>
        </p:grpSpPr>
        <p:sp>
          <p:nvSpPr>
            <p:cNvPr id="60429" name="Rectangle 23">
              <a:extLst>
                <a:ext uri="{FF2B5EF4-FFF2-40B4-BE49-F238E27FC236}">
                  <a16:creationId xmlns:a16="http://schemas.microsoft.com/office/drawing/2014/main" id="{2F41F2C0-7EAB-F23A-803C-EE201A697E26}"/>
                </a:ext>
              </a:extLst>
            </p:cNvPr>
            <p:cNvSpPr>
              <a:spLocks noChangeArrowheads="1"/>
            </p:cNvSpPr>
            <p:nvPr/>
          </p:nvSpPr>
          <p:spPr bwMode="blackWhite">
            <a:xfrm>
              <a:off x="4477" y="1632"/>
              <a:ext cx="756"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0430" name="Oval 24">
              <a:extLst>
                <a:ext uri="{FF2B5EF4-FFF2-40B4-BE49-F238E27FC236}">
                  <a16:creationId xmlns:a16="http://schemas.microsoft.com/office/drawing/2014/main" id="{DF15A2D1-CC72-36E1-457C-D0433EC2EF90}"/>
                </a:ext>
              </a:extLst>
            </p:cNvPr>
            <p:cNvSpPr>
              <a:spLocks noChangeArrowheads="1"/>
            </p:cNvSpPr>
            <p:nvPr/>
          </p:nvSpPr>
          <p:spPr bwMode="blackWhite">
            <a:xfrm>
              <a:off x="5104" y="1785"/>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0431" name="Oval 25">
              <a:extLst>
                <a:ext uri="{FF2B5EF4-FFF2-40B4-BE49-F238E27FC236}">
                  <a16:creationId xmlns:a16="http://schemas.microsoft.com/office/drawing/2014/main" id="{0858E9F6-0A28-8265-0D6D-5D7535BC971E}"/>
                </a:ext>
              </a:extLst>
            </p:cNvPr>
            <p:cNvSpPr>
              <a:spLocks noChangeArrowheads="1"/>
            </p:cNvSpPr>
            <p:nvPr/>
          </p:nvSpPr>
          <p:spPr bwMode="blackWhite">
            <a:xfrm>
              <a:off x="4515" y="1783"/>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0432" name="Line 26">
              <a:extLst>
                <a:ext uri="{FF2B5EF4-FFF2-40B4-BE49-F238E27FC236}">
                  <a16:creationId xmlns:a16="http://schemas.microsoft.com/office/drawing/2014/main" id="{C71DD632-6A35-CFC0-AC2E-D6EE3A1BC307}"/>
                </a:ext>
              </a:extLst>
            </p:cNvPr>
            <p:cNvSpPr>
              <a:spLocks noChangeShapeType="1"/>
            </p:cNvSpPr>
            <p:nvPr/>
          </p:nvSpPr>
          <p:spPr bwMode="blackWhite">
            <a:xfrm>
              <a:off x="4651" y="1830"/>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60428" name="TextBox 2">
            <a:extLst>
              <a:ext uri="{FF2B5EF4-FFF2-40B4-BE49-F238E27FC236}">
                <a16:creationId xmlns:a16="http://schemas.microsoft.com/office/drawing/2014/main" id="{D3906E97-6073-5CDF-7D56-073F285EA0FD}"/>
              </a:ext>
            </a:extLst>
          </p:cNvPr>
          <p:cNvSpPr txBox="1">
            <a:spLocks noChangeArrowheads="1"/>
          </p:cNvSpPr>
          <p:nvPr/>
        </p:nvSpPr>
        <p:spPr bwMode="auto">
          <a:xfrm>
            <a:off x="107950" y="6021388"/>
            <a:ext cx="8785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t>One row in a table is related to another row of the same table.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2391"/>
                                        </p:tgtEl>
                                        <p:attrNameLst>
                                          <p:attrName>style.visibility</p:attrName>
                                        </p:attrNameLst>
                                      </p:cBhvr>
                                      <p:to>
                                        <p:strVal val="visible"/>
                                      </p:to>
                                    </p:set>
                                    <p:animEffect transition="in" filter="wipe(up)">
                                      <p:cBhvr>
                                        <p:cTn id="7" dur="500"/>
                                        <p:tgtEl>
                                          <p:spTgt spid="272391"/>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621E082E-2B62-3B0A-6595-FB60AC5AB128}"/>
              </a:ext>
            </a:extLst>
          </p:cNvPr>
          <p:cNvSpPr>
            <a:spLocks noGrp="1" noChangeArrowheads="1"/>
          </p:cNvSpPr>
          <p:nvPr>
            <p:ph type="title"/>
          </p:nvPr>
        </p:nvSpPr>
        <p:spPr>
          <a:xfrm>
            <a:off x="395288" y="620713"/>
            <a:ext cx="3921125" cy="522287"/>
          </a:xfrm>
          <a:noFill/>
        </p:spPr>
        <p:txBody>
          <a:bodyPr lIns="92075" tIns="46038" rIns="92075" bIns="46038" anchor="t"/>
          <a:lstStyle/>
          <a:p>
            <a:r>
              <a:rPr lang="en-US" altLang="en-US" sz="2800">
                <a:solidFill>
                  <a:srgbClr val="800000"/>
                </a:solidFill>
              </a:rPr>
              <a:t>Joining a Table to Itself</a:t>
            </a:r>
          </a:p>
        </p:txBody>
      </p:sp>
      <p:sp>
        <p:nvSpPr>
          <p:cNvPr id="62467" name="Rectangle 4">
            <a:extLst>
              <a:ext uri="{FF2B5EF4-FFF2-40B4-BE49-F238E27FC236}">
                <a16:creationId xmlns:a16="http://schemas.microsoft.com/office/drawing/2014/main" id="{FE151511-B132-4C7B-9015-A7742E8CA27C}"/>
              </a:ext>
            </a:extLst>
          </p:cNvPr>
          <p:cNvSpPr>
            <a:spLocks noChangeArrowheads="1"/>
          </p:cNvSpPr>
          <p:nvPr/>
        </p:nvSpPr>
        <p:spPr bwMode="blackWhite">
          <a:xfrm>
            <a:off x="820738" y="4138613"/>
            <a:ext cx="7593012"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Employee	Manager</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BLAKE 		KING</a:t>
            </a:r>
          </a:p>
          <a:p>
            <a:pPr>
              <a:spcBef>
                <a:spcPct val="0"/>
              </a:spcBef>
              <a:buFontTx/>
              <a:buNone/>
            </a:pPr>
            <a:r>
              <a:rPr lang="en-US" altLang="en-US" sz="1800" b="1">
                <a:solidFill>
                  <a:srgbClr val="000000"/>
                </a:solidFill>
                <a:latin typeface="Courier New" panose="02070309020205020404" pitchFamily="49" charset="0"/>
              </a:rPr>
              <a:t>CLARK 		KING</a:t>
            </a:r>
          </a:p>
          <a:p>
            <a:pPr>
              <a:spcBef>
                <a:spcPct val="0"/>
              </a:spcBef>
              <a:buFontTx/>
              <a:buNone/>
            </a:pPr>
            <a:r>
              <a:rPr lang="en-US" altLang="en-US" sz="1800" b="1">
                <a:solidFill>
                  <a:srgbClr val="000000"/>
                </a:solidFill>
                <a:latin typeface="Courier New" panose="02070309020205020404" pitchFamily="49" charset="0"/>
              </a:rPr>
              <a:t>JONES 		KING</a:t>
            </a:r>
          </a:p>
          <a:p>
            <a:pPr>
              <a:spcBef>
                <a:spcPct val="0"/>
              </a:spcBef>
              <a:buFontTx/>
              <a:buNone/>
            </a:pPr>
            <a:r>
              <a:rPr lang="en-US" altLang="en-US" sz="1800" b="1">
                <a:solidFill>
                  <a:srgbClr val="000000"/>
                </a:solidFill>
                <a:latin typeface="Courier New" panose="02070309020205020404" pitchFamily="49" charset="0"/>
              </a:rPr>
              <a:t>MARTIN 	BLAKE</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13 rows selected.</a:t>
            </a:r>
          </a:p>
        </p:txBody>
      </p:sp>
      <p:sp>
        <p:nvSpPr>
          <p:cNvPr id="62468" name="Rectangle 2">
            <a:extLst>
              <a:ext uri="{FF2B5EF4-FFF2-40B4-BE49-F238E27FC236}">
                <a16:creationId xmlns:a16="http://schemas.microsoft.com/office/drawing/2014/main" id="{79F30845-F456-6C32-E9C8-16FAF6446AAE}"/>
              </a:ext>
            </a:extLst>
          </p:cNvPr>
          <p:cNvSpPr>
            <a:spLocks noChangeArrowheads="1"/>
          </p:cNvSpPr>
          <p:nvPr/>
        </p:nvSpPr>
        <p:spPr bwMode="blackWhite">
          <a:xfrm>
            <a:off x="795338" y="1550988"/>
            <a:ext cx="7618412"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8" name="Rectangle 5">
            <a:extLst>
              <a:ext uri="{FF2B5EF4-FFF2-40B4-BE49-F238E27FC236}">
                <a16:creationId xmlns:a16="http://schemas.microsoft.com/office/drawing/2014/main" id="{353C8C04-ADCB-2A6A-4B73-164579F6B25F}"/>
              </a:ext>
            </a:extLst>
          </p:cNvPr>
          <p:cNvSpPr>
            <a:spLocks noChangeArrowheads="1"/>
          </p:cNvSpPr>
          <p:nvPr/>
        </p:nvSpPr>
        <p:spPr bwMode="ltGray">
          <a:xfrm>
            <a:off x="1619250" y="2203450"/>
            <a:ext cx="2376488"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2470" name="Rectangle 6">
            <a:extLst>
              <a:ext uri="{FF2B5EF4-FFF2-40B4-BE49-F238E27FC236}">
                <a16:creationId xmlns:a16="http://schemas.microsoft.com/office/drawing/2014/main" id="{BE0F1D1D-AB5B-015D-BBF4-92A8F6DE1E4E}"/>
              </a:ext>
            </a:extLst>
          </p:cNvPr>
          <p:cNvSpPr>
            <a:spLocks noChangeArrowheads="1"/>
          </p:cNvSpPr>
          <p:nvPr/>
        </p:nvSpPr>
        <p:spPr bwMode="blackWhite">
          <a:xfrm>
            <a:off x="782638" y="1484313"/>
            <a:ext cx="76438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e.ename “Employee”, m.ename “Manager”</a:t>
            </a:r>
          </a:p>
          <a:p>
            <a:pPr>
              <a:lnSpc>
                <a:spcPct val="120000"/>
              </a:lnSpc>
              <a:spcBef>
                <a:spcPct val="0"/>
              </a:spcBef>
              <a:buFontTx/>
              <a:buNone/>
            </a:pPr>
            <a:r>
              <a:rPr lang="en-US" altLang="en-US" sz="1800" b="1">
                <a:solidFill>
                  <a:srgbClr val="000000"/>
                </a:solidFill>
                <a:latin typeface="Courier New" panose="02070309020205020404" pitchFamily="49" charset="0"/>
              </a:rPr>
              <a:t>FROM 	emp e, emp m</a:t>
            </a:r>
          </a:p>
          <a:p>
            <a:pPr>
              <a:lnSpc>
                <a:spcPct val="120000"/>
              </a:lnSpc>
              <a:spcBef>
                <a:spcPct val="0"/>
              </a:spcBef>
              <a:buFontTx/>
              <a:buNone/>
            </a:pPr>
            <a:r>
              <a:rPr lang="en-US" altLang="en-US" sz="1800" b="1">
                <a:solidFill>
                  <a:srgbClr val="000000"/>
                </a:solidFill>
                <a:latin typeface="Courier New" panose="02070309020205020404" pitchFamily="49" charset="0"/>
              </a:rPr>
              <a:t>WHERE 	e.mgr = m.empno;</a:t>
            </a:r>
          </a:p>
        </p:txBody>
      </p:sp>
      <p:sp>
        <p:nvSpPr>
          <p:cNvPr id="62471" name="Rectangle 2">
            <a:extLst>
              <a:ext uri="{FF2B5EF4-FFF2-40B4-BE49-F238E27FC236}">
                <a16:creationId xmlns:a16="http://schemas.microsoft.com/office/drawing/2014/main" id="{3C840B6E-9460-0D03-248C-70153FB6CAFF}"/>
              </a:ext>
            </a:extLst>
          </p:cNvPr>
          <p:cNvSpPr>
            <a:spLocks noChangeArrowheads="1"/>
          </p:cNvSpPr>
          <p:nvPr/>
        </p:nvSpPr>
        <p:spPr bwMode="blackWhite">
          <a:xfrm>
            <a:off x="768350" y="2851150"/>
            <a:ext cx="7618413"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9" name="Rectangle 5">
            <a:extLst>
              <a:ext uri="{FF2B5EF4-FFF2-40B4-BE49-F238E27FC236}">
                <a16:creationId xmlns:a16="http://schemas.microsoft.com/office/drawing/2014/main" id="{43C65B63-AEED-7169-10EA-21DC167A5F0F}"/>
              </a:ext>
            </a:extLst>
          </p:cNvPr>
          <p:cNvSpPr>
            <a:spLocks noChangeArrowheads="1"/>
          </p:cNvSpPr>
          <p:nvPr/>
        </p:nvSpPr>
        <p:spPr bwMode="ltGray">
          <a:xfrm>
            <a:off x="1592263" y="3502025"/>
            <a:ext cx="2376487"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2473" name="Rectangle 6">
            <a:extLst>
              <a:ext uri="{FF2B5EF4-FFF2-40B4-BE49-F238E27FC236}">
                <a16:creationId xmlns:a16="http://schemas.microsoft.com/office/drawing/2014/main" id="{F44351FE-749E-40AA-F1B2-85FAFBD4E659}"/>
              </a:ext>
            </a:extLst>
          </p:cNvPr>
          <p:cNvSpPr>
            <a:spLocks noChangeArrowheads="1"/>
          </p:cNvSpPr>
          <p:nvPr/>
        </p:nvSpPr>
        <p:spPr bwMode="blackWhite">
          <a:xfrm>
            <a:off x="755650" y="2784475"/>
            <a:ext cx="764381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e.ename “Employee”, m.ename “Manager”</a:t>
            </a:r>
          </a:p>
          <a:p>
            <a:pPr>
              <a:lnSpc>
                <a:spcPct val="120000"/>
              </a:lnSpc>
              <a:spcBef>
                <a:spcPct val="0"/>
              </a:spcBef>
              <a:buFontTx/>
              <a:buNone/>
            </a:pPr>
            <a:r>
              <a:rPr lang="en-US" altLang="en-US" sz="1800" b="1">
                <a:solidFill>
                  <a:srgbClr val="000000"/>
                </a:solidFill>
                <a:latin typeface="Courier New" panose="02070309020205020404" pitchFamily="49" charset="0"/>
              </a:rPr>
              <a:t>FROM 	emp e JOIN emp m</a:t>
            </a:r>
          </a:p>
          <a:p>
            <a:pPr>
              <a:lnSpc>
                <a:spcPct val="120000"/>
              </a:lnSpc>
              <a:spcBef>
                <a:spcPct val="0"/>
              </a:spcBef>
              <a:buFontTx/>
              <a:buNone/>
            </a:pPr>
            <a:r>
              <a:rPr lang="en-US" altLang="en-US" sz="1800" b="1">
                <a:solidFill>
                  <a:srgbClr val="000000"/>
                </a:solidFill>
                <a:latin typeface="Courier New" panose="02070309020205020404" pitchFamily="49" charset="0"/>
              </a:rPr>
              <a:t>ON 	e.mgr = m.empno;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AD92F7C-541B-CC02-46DA-BDBE7C6BCD85}"/>
              </a:ext>
            </a:extLst>
          </p:cNvPr>
          <p:cNvSpPr>
            <a:spLocks noChangeArrowheads="1"/>
          </p:cNvSpPr>
          <p:nvPr/>
        </p:nvSpPr>
        <p:spPr bwMode="blackWhite">
          <a:xfrm>
            <a:off x="822325" y="1482725"/>
            <a:ext cx="7618413"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64515" name="Rectangle 3">
            <a:extLst>
              <a:ext uri="{FF2B5EF4-FFF2-40B4-BE49-F238E27FC236}">
                <a16:creationId xmlns:a16="http://schemas.microsoft.com/office/drawing/2014/main" id="{4D7E8D35-C7FD-C2CA-D14B-8E80AA641F70}"/>
              </a:ext>
            </a:extLst>
          </p:cNvPr>
          <p:cNvSpPr>
            <a:spLocks noGrp="1" noChangeArrowheads="1"/>
          </p:cNvSpPr>
          <p:nvPr>
            <p:ph type="title"/>
          </p:nvPr>
        </p:nvSpPr>
        <p:spPr>
          <a:xfrm>
            <a:off x="395288" y="620713"/>
            <a:ext cx="3921125" cy="522287"/>
          </a:xfrm>
          <a:noFill/>
        </p:spPr>
        <p:txBody>
          <a:bodyPr lIns="92075" tIns="46038" rIns="92075" bIns="46038" anchor="t"/>
          <a:lstStyle/>
          <a:p>
            <a:r>
              <a:rPr lang="en-US" altLang="en-US" sz="2800">
                <a:solidFill>
                  <a:srgbClr val="800000"/>
                </a:solidFill>
              </a:rPr>
              <a:t>Joining a Table to Itself</a:t>
            </a:r>
          </a:p>
        </p:txBody>
      </p:sp>
      <p:sp>
        <p:nvSpPr>
          <p:cNvPr id="64516" name="Rectangle 4">
            <a:extLst>
              <a:ext uri="{FF2B5EF4-FFF2-40B4-BE49-F238E27FC236}">
                <a16:creationId xmlns:a16="http://schemas.microsoft.com/office/drawing/2014/main" id="{281C2D6C-1DD9-9278-F1B3-98B518D04C4D}"/>
              </a:ext>
            </a:extLst>
          </p:cNvPr>
          <p:cNvSpPr>
            <a:spLocks noChangeArrowheads="1"/>
          </p:cNvSpPr>
          <p:nvPr/>
        </p:nvSpPr>
        <p:spPr bwMode="blackWhite">
          <a:xfrm>
            <a:off x="833438" y="4138613"/>
            <a:ext cx="7593012"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WORKER.ENAME||'WORKSFOR'||MANAG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BLAKE works for KING</a:t>
            </a:r>
          </a:p>
          <a:p>
            <a:pPr>
              <a:spcBef>
                <a:spcPct val="0"/>
              </a:spcBef>
              <a:buFontTx/>
              <a:buNone/>
            </a:pPr>
            <a:r>
              <a:rPr lang="en-US" altLang="en-US" sz="1800" b="1">
                <a:solidFill>
                  <a:srgbClr val="000000"/>
                </a:solidFill>
                <a:latin typeface="Courier New" panose="02070309020205020404" pitchFamily="49" charset="0"/>
              </a:rPr>
              <a:t>CLARK works for KING</a:t>
            </a:r>
          </a:p>
          <a:p>
            <a:pPr>
              <a:spcBef>
                <a:spcPct val="0"/>
              </a:spcBef>
              <a:buFontTx/>
              <a:buNone/>
            </a:pPr>
            <a:r>
              <a:rPr lang="en-US" altLang="en-US" sz="1800" b="1">
                <a:solidFill>
                  <a:srgbClr val="000000"/>
                </a:solidFill>
                <a:latin typeface="Courier New" panose="02070309020205020404" pitchFamily="49" charset="0"/>
              </a:rPr>
              <a:t>JONES works for KING</a:t>
            </a:r>
          </a:p>
          <a:p>
            <a:pPr>
              <a:spcBef>
                <a:spcPct val="0"/>
              </a:spcBef>
              <a:buFontTx/>
              <a:buNone/>
            </a:pPr>
            <a:r>
              <a:rPr lang="en-US" altLang="en-US" sz="1800" b="1">
                <a:solidFill>
                  <a:srgbClr val="000000"/>
                </a:solidFill>
                <a:latin typeface="Courier New" panose="02070309020205020404" pitchFamily="49" charset="0"/>
              </a:rPr>
              <a:t>MARTIN works for BLAKE</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13 rows selected.</a:t>
            </a:r>
          </a:p>
        </p:txBody>
      </p:sp>
      <p:sp>
        <p:nvSpPr>
          <p:cNvPr id="274437" name="Rectangle 5">
            <a:extLst>
              <a:ext uri="{FF2B5EF4-FFF2-40B4-BE49-F238E27FC236}">
                <a16:creationId xmlns:a16="http://schemas.microsoft.com/office/drawing/2014/main" id="{5527C97A-7AB9-7F4A-931F-9343D5C26AA0}"/>
              </a:ext>
            </a:extLst>
          </p:cNvPr>
          <p:cNvSpPr>
            <a:spLocks noChangeArrowheads="1"/>
          </p:cNvSpPr>
          <p:nvPr/>
        </p:nvSpPr>
        <p:spPr bwMode="ltGray">
          <a:xfrm>
            <a:off x="1698625" y="2133600"/>
            <a:ext cx="3810000"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4518" name="Rectangle 6">
            <a:extLst>
              <a:ext uri="{FF2B5EF4-FFF2-40B4-BE49-F238E27FC236}">
                <a16:creationId xmlns:a16="http://schemas.microsoft.com/office/drawing/2014/main" id="{1828624A-3B0D-649C-E2F6-F4A2E047BA93}"/>
              </a:ext>
            </a:extLst>
          </p:cNvPr>
          <p:cNvSpPr>
            <a:spLocks noChangeArrowheads="1"/>
          </p:cNvSpPr>
          <p:nvPr/>
        </p:nvSpPr>
        <p:spPr bwMode="blackWhite">
          <a:xfrm>
            <a:off x="809625" y="1457325"/>
            <a:ext cx="764381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worker.ename||' works for '||manager.ename</a:t>
            </a:r>
          </a:p>
          <a:p>
            <a:pPr>
              <a:lnSpc>
                <a:spcPct val="120000"/>
              </a:lnSpc>
              <a:spcBef>
                <a:spcPct val="0"/>
              </a:spcBef>
              <a:buFontTx/>
              <a:buNone/>
            </a:pPr>
            <a:r>
              <a:rPr lang="en-US" altLang="en-US" sz="1800" b="1">
                <a:solidFill>
                  <a:srgbClr val="000000"/>
                </a:solidFill>
                <a:latin typeface="Courier New" panose="02070309020205020404" pitchFamily="49" charset="0"/>
              </a:rPr>
              <a:t>FROM 	emp worker, emp manager</a:t>
            </a:r>
          </a:p>
          <a:p>
            <a:pPr>
              <a:lnSpc>
                <a:spcPct val="120000"/>
              </a:lnSpc>
              <a:spcBef>
                <a:spcPct val="0"/>
              </a:spcBef>
              <a:buFontTx/>
              <a:buNone/>
            </a:pPr>
            <a:r>
              <a:rPr lang="en-US" altLang="en-US" sz="1800" b="1">
                <a:solidFill>
                  <a:srgbClr val="000000"/>
                </a:solidFill>
                <a:latin typeface="Courier New" panose="02070309020205020404" pitchFamily="49" charset="0"/>
              </a:rPr>
              <a:t>WHERE 	worker.mgr = manager.empno;</a:t>
            </a:r>
          </a:p>
        </p:txBody>
      </p:sp>
      <p:sp>
        <p:nvSpPr>
          <p:cNvPr id="64519" name="Rectangle 6">
            <a:extLst>
              <a:ext uri="{FF2B5EF4-FFF2-40B4-BE49-F238E27FC236}">
                <a16:creationId xmlns:a16="http://schemas.microsoft.com/office/drawing/2014/main" id="{5D704F6F-CCDB-DB48-B352-67410665C318}"/>
              </a:ext>
            </a:extLst>
          </p:cNvPr>
          <p:cNvSpPr>
            <a:spLocks noChangeArrowheads="1"/>
          </p:cNvSpPr>
          <p:nvPr/>
        </p:nvSpPr>
        <p:spPr bwMode="blackWhite">
          <a:xfrm>
            <a:off x="827088" y="2825750"/>
            <a:ext cx="7643812" cy="1108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worker.ename||' works for '||manager.ename</a:t>
            </a:r>
          </a:p>
          <a:p>
            <a:pPr>
              <a:lnSpc>
                <a:spcPct val="120000"/>
              </a:lnSpc>
              <a:spcBef>
                <a:spcPct val="0"/>
              </a:spcBef>
              <a:buFontTx/>
              <a:buNone/>
            </a:pPr>
            <a:r>
              <a:rPr lang="en-US" altLang="en-US" sz="1800" b="1">
                <a:solidFill>
                  <a:srgbClr val="000000"/>
                </a:solidFill>
                <a:latin typeface="Courier New" panose="02070309020205020404" pitchFamily="49" charset="0"/>
              </a:rPr>
              <a:t>FROM 	emp worker JOIN emp manager</a:t>
            </a:r>
          </a:p>
          <a:p>
            <a:pPr>
              <a:lnSpc>
                <a:spcPct val="120000"/>
              </a:lnSpc>
              <a:spcBef>
                <a:spcPct val="0"/>
              </a:spcBef>
              <a:buFontTx/>
              <a:buNone/>
            </a:pPr>
            <a:r>
              <a:rPr lang="en-US" altLang="en-US" sz="1800" b="1">
                <a:solidFill>
                  <a:srgbClr val="000000"/>
                </a:solidFill>
                <a:latin typeface="Courier New" panose="02070309020205020404" pitchFamily="49" charset="0"/>
              </a:rPr>
              <a:t>ON  	worker.mgr = manager.empno;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4437"/>
                                        </p:tgtEl>
                                        <p:attrNameLst>
                                          <p:attrName>style.visibility</p:attrName>
                                        </p:attrNameLst>
                                      </p:cBhvr>
                                      <p:to>
                                        <p:strVal val="visible"/>
                                      </p:to>
                                    </p:set>
                                    <p:animEffect transition="in" filter="wipe(up)">
                                      <p:cBhvr>
                                        <p:cTn id="7" dur="500"/>
                                        <p:tgtEl>
                                          <p:spTgt spid="274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880FBBDF-C317-2F61-1EA3-4621712BE355}"/>
              </a:ext>
            </a:extLst>
          </p:cNvPr>
          <p:cNvSpPr>
            <a:spLocks noGrp="1" noChangeArrowheads="1"/>
          </p:cNvSpPr>
          <p:nvPr>
            <p:ph type="title"/>
          </p:nvPr>
        </p:nvSpPr>
        <p:spPr>
          <a:xfrm>
            <a:off x="395288" y="620713"/>
            <a:ext cx="3921125" cy="522287"/>
          </a:xfrm>
          <a:noFill/>
        </p:spPr>
        <p:txBody>
          <a:bodyPr lIns="92075" tIns="46038" rIns="92075" bIns="46038" anchor="t"/>
          <a:lstStyle/>
          <a:p>
            <a:r>
              <a:rPr lang="en-US" altLang="en-US" sz="2800">
                <a:solidFill>
                  <a:srgbClr val="800000"/>
                </a:solidFill>
              </a:rPr>
              <a:t>Self Outer Join</a:t>
            </a:r>
          </a:p>
        </p:txBody>
      </p:sp>
      <p:sp>
        <p:nvSpPr>
          <p:cNvPr id="66563" name="Rectangle 4">
            <a:extLst>
              <a:ext uri="{FF2B5EF4-FFF2-40B4-BE49-F238E27FC236}">
                <a16:creationId xmlns:a16="http://schemas.microsoft.com/office/drawing/2014/main" id="{59D217A2-1C86-0B67-664D-E116B5D28BF7}"/>
              </a:ext>
            </a:extLst>
          </p:cNvPr>
          <p:cNvSpPr>
            <a:spLocks noChangeArrowheads="1"/>
          </p:cNvSpPr>
          <p:nvPr/>
        </p:nvSpPr>
        <p:spPr bwMode="blackWhite">
          <a:xfrm>
            <a:off x="820738" y="3722688"/>
            <a:ext cx="7593012" cy="2586037"/>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Employee	Manager</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BLAKE 		KING</a:t>
            </a:r>
          </a:p>
          <a:p>
            <a:pPr>
              <a:spcBef>
                <a:spcPct val="0"/>
              </a:spcBef>
              <a:buFontTx/>
              <a:buNone/>
            </a:pPr>
            <a:r>
              <a:rPr lang="en-US" altLang="en-US" sz="1800" b="1">
                <a:solidFill>
                  <a:srgbClr val="000000"/>
                </a:solidFill>
                <a:latin typeface="Courier New" panose="02070309020205020404" pitchFamily="49" charset="0"/>
              </a:rPr>
              <a:t>CLARK 		KING</a:t>
            </a:r>
          </a:p>
          <a:p>
            <a:pPr>
              <a:spcBef>
                <a:spcPct val="0"/>
              </a:spcBef>
              <a:buFontTx/>
              <a:buNone/>
            </a:pPr>
            <a:r>
              <a:rPr lang="en-US" altLang="en-US" sz="1800" b="1">
                <a:solidFill>
                  <a:srgbClr val="000000"/>
                </a:solidFill>
                <a:latin typeface="Courier New" panose="02070309020205020404" pitchFamily="49" charset="0"/>
              </a:rPr>
              <a:t>JONES 		KING</a:t>
            </a:r>
          </a:p>
          <a:p>
            <a:pPr>
              <a:spcBef>
                <a:spcPct val="0"/>
              </a:spcBef>
              <a:buFontTx/>
              <a:buNone/>
            </a:pPr>
            <a:r>
              <a:rPr lang="en-US" altLang="en-US" sz="1800" b="1">
                <a:solidFill>
                  <a:srgbClr val="000000"/>
                </a:solidFill>
                <a:latin typeface="Courier New" panose="02070309020205020404" pitchFamily="49" charset="0"/>
              </a:rPr>
              <a:t>MARTIN 	BLAKE</a:t>
            </a:r>
          </a:p>
          <a:p>
            <a:pPr>
              <a:spcBef>
                <a:spcPct val="0"/>
              </a:spcBef>
              <a:buFontTx/>
              <a:buNone/>
            </a:pPr>
            <a:r>
              <a:rPr lang="en-US" altLang="en-US" sz="1800" b="1">
                <a:solidFill>
                  <a:srgbClr val="000000"/>
                </a:solidFill>
                <a:latin typeface="Courier New" panose="02070309020205020404" pitchFamily="49" charset="0"/>
              </a:rPr>
              <a:t>KING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14 rows selected.</a:t>
            </a:r>
          </a:p>
        </p:txBody>
      </p:sp>
      <p:sp>
        <p:nvSpPr>
          <p:cNvPr id="66564" name="Rectangle 2">
            <a:extLst>
              <a:ext uri="{FF2B5EF4-FFF2-40B4-BE49-F238E27FC236}">
                <a16:creationId xmlns:a16="http://schemas.microsoft.com/office/drawing/2014/main" id="{1F9A9A2C-A840-03E1-DD69-97537D28C829}"/>
              </a:ext>
            </a:extLst>
          </p:cNvPr>
          <p:cNvSpPr>
            <a:spLocks noChangeArrowheads="1"/>
          </p:cNvSpPr>
          <p:nvPr/>
        </p:nvSpPr>
        <p:spPr bwMode="blackWhite">
          <a:xfrm>
            <a:off x="795338" y="2484438"/>
            <a:ext cx="7618412"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8" name="Rectangle 5">
            <a:extLst>
              <a:ext uri="{FF2B5EF4-FFF2-40B4-BE49-F238E27FC236}">
                <a16:creationId xmlns:a16="http://schemas.microsoft.com/office/drawing/2014/main" id="{0F280B09-90A1-4F70-2298-96430E729D50}"/>
              </a:ext>
            </a:extLst>
          </p:cNvPr>
          <p:cNvSpPr>
            <a:spLocks noChangeArrowheads="1"/>
          </p:cNvSpPr>
          <p:nvPr/>
        </p:nvSpPr>
        <p:spPr bwMode="ltGray">
          <a:xfrm>
            <a:off x="1547813" y="3148013"/>
            <a:ext cx="2592387"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6566" name="Rectangle 6">
            <a:extLst>
              <a:ext uri="{FF2B5EF4-FFF2-40B4-BE49-F238E27FC236}">
                <a16:creationId xmlns:a16="http://schemas.microsoft.com/office/drawing/2014/main" id="{60D9BAC9-9369-B3F9-83C6-4BC3DF7DF354}"/>
              </a:ext>
            </a:extLst>
          </p:cNvPr>
          <p:cNvSpPr>
            <a:spLocks noChangeArrowheads="1"/>
          </p:cNvSpPr>
          <p:nvPr/>
        </p:nvSpPr>
        <p:spPr bwMode="blackWhite">
          <a:xfrm>
            <a:off x="782638" y="2492375"/>
            <a:ext cx="76438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SELECT e.ename “Employee”, m.ename “Manager”</a:t>
            </a:r>
          </a:p>
          <a:p>
            <a:pPr>
              <a:lnSpc>
                <a:spcPct val="120000"/>
              </a:lnSpc>
              <a:spcBef>
                <a:spcPct val="0"/>
              </a:spcBef>
              <a:buFontTx/>
              <a:buNone/>
            </a:pPr>
            <a:r>
              <a:rPr lang="en-US" altLang="en-US" sz="1800" b="1">
                <a:solidFill>
                  <a:srgbClr val="000000"/>
                </a:solidFill>
                <a:latin typeface="Courier New" panose="02070309020205020404" pitchFamily="49" charset="0"/>
              </a:rPr>
              <a:t>FROM 	emp e </a:t>
            </a:r>
            <a:r>
              <a:rPr lang="en-US" altLang="en-US" sz="1800" b="1">
                <a:solidFill>
                  <a:schemeClr val="accent2"/>
                </a:solidFill>
                <a:latin typeface="Courier New" panose="02070309020205020404" pitchFamily="49" charset="0"/>
              </a:rPr>
              <a:t>LEFT OUTER JOIN </a:t>
            </a:r>
            <a:r>
              <a:rPr lang="en-US" altLang="en-US" sz="1800" b="1">
                <a:solidFill>
                  <a:srgbClr val="000000"/>
                </a:solidFill>
                <a:latin typeface="Courier New" panose="02070309020205020404" pitchFamily="49" charset="0"/>
              </a:rPr>
              <a:t>emp m</a:t>
            </a:r>
          </a:p>
          <a:p>
            <a:pPr>
              <a:lnSpc>
                <a:spcPct val="120000"/>
              </a:lnSpc>
              <a:spcBef>
                <a:spcPct val="0"/>
              </a:spcBef>
              <a:buFontTx/>
              <a:buNone/>
            </a:pPr>
            <a:r>
              <a:rPr lang="en-US" altLang="en-US" sz="1800" b="1">
                <a:solidFill>
                  <a:srgbClr val="000000"/>
                </a:solidFill>
                <a:latin typeface="Courier New" panose="02070309020205020404" pitchFamily="49" charset="0"/>
              </a:rPr>
              <a:t>ON 	e.mgr = m.empno;</a:t>
            </a:r>
          </a:p>
        </p:txBody>
      </p:sp>
      <p:sp>
        <p:nvSpPr>
          <p:cNvPr id="10" name="Rectangle 6">
            <a:extLst>
              <a:ext uri="{FF2B5EF4-FFF2-40B4-BE49-F238E27FC236}">
                <a16:creationId xmlns:a16="http://schemas.microsoft.com/office/drawing/2014/main" id="{C5832369-8F33-DC72-AC86-76D4F6F9B789}"/>
              </a:ext>
            </a:extLst>
          </p:cNvPr>
          <p:cNvSpPr>
            <a:spLocks noChangeArrowheads="1"/>
          </p:cNvSpPr>
          <p:nvPr/>
        </p:nvSpPr>
        <p:spPr bwMode="blackWhite">
          <a:xfrm>
            <a:off x="395288" y="1268413"/>
            <a:ext cx="8031162" cy="1108075"/>
          </a:xfrm>
          <a:prstGeom prst="rect">
            <a:avLst/>
          </a:prstGeom>
          <a:noFill/>
          <a:ln>
            <a:noFill/>
          </a:ln>
        </p:spPr>
        <p:txBody>
          <a:bodyPr lIns="92075" tIns="46038" rIns="92075" bIns="46038" anchor="ctr"/>
          <a:lstStyle/>
          <a:p>
            <a:pPr>
              <a:lnSpc>
                <a:spcPct val="120000"/>
              </a:lnSpc>
              <a:tabLst>
                <a:tab pos="857250" algn="l"/>
                <a:tab pos="1658938" algn="l"/>
              </a:tabLst>
              <a:defRPr/>
            </a:pPr>
            <a:r>
              <a:rPr lang="en-US" sz="2000" dirty="0">
                <a:solidFill>
                  <a:srgbClr val="000000"/>
                </a:solidFill>
                <a:latin typeface="+mn-lt"/>
              </a:rPr>
              <a:t>The last query doesn’t return the employee, whose </a:t>
            </a:r>
            <a:r>
              <a:rPr lang="en-US" sz="2000" dirty="0" err="1">
                <a:solidFill>
                  <a:srgbClr val="000000"/>
                </a:solidFill>
                <a:latin typeface="+mn-lt"/>
              </a:rPr>
              <a:t>mgr</a:t>
            </a:r>
            <a:r>
              <a:rPr lang="en-US" sz="2000" dirty="0">
                <a:solidFill>
                  <a:srgbClr val="000000"/>
                </a:solidFill>
                <a:latin typeface="+mn-lt"/>
              </a:rPr>
              <a:t> is NULL. To include manager less employees, the following query is used: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B26EE5-DA92-8ADA-0E48-7C72E316F600}"/>
              </a:ext>
            </a:extLst>
          </p:cNvPr>
          <p:cNvSpPr>
            <a:spLocks noGrp="1" noChangeArrowheads="1"/>
          </p:cNvSpPr>
          <p:nvPr>
            <p:ph type="title"/>
          </p:nvPr>
        </p:nvSpPr>
        <p:spPr>
          <a:xfrm>
            <a:off x="323850" y="660400"/>
            <a:ext cx="5218113" cy="536575"/>
          </a:xfrm>
          <a:noFill/>
        </p:spPr>
        <p:txBody>
          <a:bodyPr lIns="92075" tIns="46038" rIns="92075" bIns="46038" anchor="t"/>
          <a:lstStyle/>
          <a:p>
            <a:r>
              <a:rPr lang="en-US" altLang="en-US" sz="2800">
                <a:solidFill>
                  <a:srgbClr val="800000"/>
                </a:solidFill>
              </a:rPr>
              <a:t>Joining More Than Two Tables</a:t>
            </a:r>
          </a:p>
        </p:txBody>
      </p:sp>
      <p:sp>
        <p:nvSpPr>
          <p:cNvPr id="68611" name="Rectangle 3">
            <a:extLst>
              <a:ext uri="{FF2B5EF4-FFF2-40B4-BE49-F238E27FC236}">
                <a16:creationId xmlns:a16="http://schemas.microsoft.com/office/drawing/2014/main" id="{4FA01A7F-A429-01EF-1F32-3E4D2CC6998D}"/>
              </a:ext>
            </a:extLst>
          </p:cNvPr>
          <p:cNvSpPr>
            <a:spLocks noChangeArrowheads="1"/>
          </p:cNvSpPr>
          <p:nvPr/>
        </p:nvSpPr>
        <p:spPr bwMode="blackWhite">
          <a:xfrm>
            <a:off x="908050" y="1630363"/>
            <a:ext cx="3117850" cy="29813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2057400" algn="l"/>
              </a:tabLst>
              <a:defRPr sz="2800">
                <a:solidFill>
                  <a:schemeClr val="tx1"/>
                </a:solidFill>
                <a:latin typeface="Arial" panose="020B0604020202020204" pitchFamily="34" charset="0"/>
              </a:defRPr>
            </a:lvl1pPr>
            <a:lvl2pPr marL="742950" indent="-285750">
              <a:spcBef>
                <a:spcPct val="20000"/>
              </a:spcBef>
              <a:buChar char="–"/>
              <a:tabLst>
                <a:tab pos="2057400" algn="l"/>
              </a:tabLst>
              <a:defRPr sz="2400">
                <a:solidFill>
                  <a:schemeClr val="tx1"/>
                </a:solidFill>
                <a:latin typeface="Arial" panose="020B0604020202020204" pitchFamily="34" charset="0"/>
              </a:defRPr>
            </a:lvl2pPr>
            <a:lvl3pPr marL="1143000" indent="-228600">
              <a:spcBef>
                <a:spcPct val="20000"/>
              </a:spcBef>
              <a:buChar char="•"/>
              <a:tabLst>
                <a:tab pos="2057400" algn="l"/>
              </a:tabLst>
              <a:defRPr sz="2000">
                <a:solidFill>
                  <a:schemeClr val="tx1"/>
                </a:solidFill>
                <a:latin typeface="Arial" panose="020B0604020202020204" pitchFamily="34" charset="0"/>
              </a:defRPr>
            </a:lvl3pPr>
            <a:lvl4pPr marL="1600200" indent="-228600">
              <a:spcBef>
                <a:spcPct val="20000"/>
              </a:spcBef>
              <a:buChar char="–"/>
              <a:tabLst>
                <a:tab pos="2057400" algn="l"/>
              </a:tabLst>
              <a:defRPr sz="2000">
                <a:solidFill>
                  <a:schemeClr val="tx1"/>
                </a:solidFill>
                <a:latin typeface="Arial" panose="020B0604020202020204" pitchFamily="34" charset="0"/>
              </a:defRPr>
            </a:lvl4pPr>
            <a:lvl5pPr marL="2057400" indent="-228600">
              <a:spcBef>
                <a:spcPct val="20000"/>
              </a:spcBef>
              <a:buChar char="»"/>
              <a:tabLst>
                <a:tab pos="2057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NAME	CUSTID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JOCKSPORTS	   100</a:t>
            </a:r>
          </a:p>
          <a:p>
            <a:pPr>
              <a:lnSpc>
                <a:spcPct val="95000"/>
              </a:lnSpc>
              <a:spcBef>
                <a:spcPct val="0"/>
              </a:spcBef>
              <a:buFontTx/>
              <a:buNone/>
            </a:pPr>
            <a:r>
              <a:rPr lang="en-US" altLang="en-US" sz="1800" b="1">
                <a:solidFill>
                  <a:srgbClr val="000000"/>
                </a:solidFill>
                <a:latin typeface="Courier New" panose="02070309020205020404" pitchFamily="49" charset="0"/>
              </a:rPr>
              <a:t>TKB SPORT SHOP	   101</a:t>
            </a:r>
          </a:p>
          <a:p>
            <a:pPr>
              <a:lnSpc>
                <a:spcPct val="95000"/>
              </a:lnSpc>
              <a:spcBef>
                <a:spcPct val="0"/>
              </a:spcBef>
              <a:buFontTx/>
              <a:buNone/>
            </a:pPr>
            <a:r>
              <a:rPr lang="en-US" altLang="en-US" sz="1800" b="1">
                <a:solidFill>
                  <a:srgbClr val="000000"/>
                </a:solidFill>
                <a:latin typeface="Courier New" panose="02070309020205020404" pitchFamily="49" charset="0"/>
              </a:rPr>
              <a:t>VOLLYRITE	   102</a:t>
            </a:r>
          </a:p>
          <a:p>
            <a:pPr>
              <a:lnSpc>
                <a:spcPct val="95000"/>
              </a:lnSpc>
              <a:spcBef>
                <a:spcPct val="0"/>
              </a:spcBef>
              <a:buFontTx/>
              <a:buNone/>
            </a:pPr>
            <a:r>
              <a:rPr lang="en-US" altLang="en-US" sz="1800" b="1">
                <a:solidFill>
                  <a:srgbClr val="000000"/>
                </a:solidFill>
                <a:latin typeface="Courier New" panose="02070309020205020404" pitchFamily="49" charset="0"/>
              </a:rPr>
              <a:t>JUST TENNIS	   103</a:t>
            </a:r>
          </a:p>
          <a:p>
            <a:pPr>
              <a:lnSpc>
                <a:spcPct val="95000"/>
              </a:lnSpc>
              <a:spcBef>
                <a:spcPct val="0"/>
              </a:spcBef>
              <a:buFontTx/>
              <a:buNone/>
            </a:pPr>
            <a:r>
              <a:rPr lang="en-US" altLang="en-US" sz="1800" b="1">
                <a:solidFill>
                  <a:srgbClr val="000000"/>
                </a:solidFill>
                <a:latin typeface="Courier New" panose="02070309020205020404" pitchFamily="49" charset="0"/>
              </a:rPr>
              <a:t>K+T SPORTS	   105</a:t>
            </a:r>
          </a:p>
          <a:p>
            <a:pPr>
              <a:lnSpc>
                <a:spcPct val="95000"/>
              </a:lnSpc>
              <a:spcBef>
                <a:spcPct val="0"/>
              </a:spcBef>
              <a:buFontTx/>
              <a:buNone/>
            </a:pPr>
            <a:r>
              <a:rPr lang="en-US" altLang="en-US" sz="1800" b="1">
                <a:solidFill>
                  <a:srgbClr val="000000"/>
                </a:solidFill>
                <a:latin typeface="Courier New" panose="02070309020205020404" pitchFamily="49" charset="0"/>
              </a:rPr>
              <a:t>SHAPE UP	   106</a:t>
            </a:r>
          </a:p>
          <a:p>
            <a:pPr>
              <a:lnSpc>
                <a:spcPct val="95000"/>
              </a:lnSpc>
              <a:spcBef>
                <a:spcPct val="0"/>
              </a:spcBef>
              <a:buFontTx/>
              <a:buNone/>
            </a:pPr>
            <a:r>
              <a:rPr lang="en-US" altLang="en-US" sz="1800" b="1">
                <a:solidFill>
                  <a:srgbClr val="000000"/>
                </a:solidFill>
                <a:latin typeface="Courier New" panose="02070309020205020404" pitchFamily="49" charset="0"/>
              </a:rPr>
              <a:t>WOMENS SPORTS     107</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9 rows selected.</a:t>
            </a:r>
          </a:p>
        </p:txBody>
      </p:sp>
      <p:sp>
        <p:nvSpPr>
          <p:cNvPr id="260100" name="Rectangle 4">
            <a:extLst>
              <a:ext uri="{FF2B5EF4-FFF2-40B4-BE49-F238E27FC236}">
                <a16:creationId xmlns:a16="http://schemas.microsoft.com/office/drawing/2014/main" id="{8F425F0A-3867-2E6A-3C0D-4CE2365B0E90}"/>
              </a:ext>
            </a:extLst>
          </p:cNvPr>
          <p:cNvSpPr>
            <a:spLocks noChangeArrowheads="1"/>
          </p:cNvSpPr>
          <p:nvPr/>
        </p:nvSpPr>
        <p:spPr bwMode="auto">
          <a:xfrm>
            <a:off x="819150" y="1254125"/>
            <a:ext cx="1708150"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CUSTOMER </a:t>
            </a:r>
          </a:p>
        </p:txBody>
      </p:sp>
      <p:grpSp>
        <p:nvGrpSpPr>
          <p:cNvPr id="2" name="Group 5">
            <a:extLst>
              <a:ext uri="{FF2B5EF4-FFF2-40B4-BE49-F238E27FC236}">
                <a16:creationId xmlns:a16="http://schemas.microsoft.com/office/drawing/2014/main" id="{D393AECE-911A-2176-9ACF-AF99FACEF8BA}"/>
              </a:ext>
            </a:extLst>
          </p:cNvPr>
          <p:cNvGrpSpPr>
            <a:grpSpLocks/>
          </p:cNvGrpSpPr>
          <p:nvPr/>
        </p:nvGrpSpPr>
        <p:grpSpPr bwMode="auto">
          <a:xfrm>
            <a:off x="4286250" y="1254125"/>
            <a:ext cx="2940050" cy="3357563"/>
            <a:chOff x="2700" y="790"/>
            <a:chExt cx="1852" cy="2115"/>
          </a:xfrm>
        </p:grpSpPr>
        <p:sp>
          <p:nvSpPr>
            <p:cNvPr id="68622" name="Rectangle 6">
              <a:extLst>
                <a:ext uri="{FF2B5EF4-FFF2-40B4-BE49-F238E27FC236}">
                  <a16:creationId xmlns:a16="http://schemas.microsoft.com/office/drawing/2014/main" id="{736740B3-B76F-C883-E395-8E46122799EB}"/>
                </a:ext>
              </a:extLst>
            </p:cNvPr>
            <p:cNvSpPr>
              <a:spLocks noChangeArrowheads="1"/>
            </p:cNvSpPr>
            <p:nvPr/>
          </p:nvSpPr>
          <p:spPr bwMode="blackWhite">
            <a:xfrm>
              <a:off x="2751" y="1027"/>
              <a:ext cx="1801" cy="1878"/>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143000" algn="l"/>
                </a:tabLst>
                <a:defRPr sz="2800">
                  <a:solidFill>
                    <a:schemeClr val="tx1"/>
                  </a:solidFill>
                  <a:latin typeface="Arial" panose="020B0604020202020204" pitchFamily="34" charset="0"/>
                </a:defRPr>
              </a:lvl1pPr>
              <a:lvl2pPr marL="742950" indent="-285750">
                <a:spcBef>
                  <a:spcPct val="20000"/>
                </a:spcBef>
                <a:buChar char="–"/>
                <a:tabLst>
                  <a:tab pos="1143000" algn="l"/>
                </a:tabLst>
                <a:defRPr sz="2400">
                  <a:solidFill>
                    <a:schemeClr val="tx1"/>
                  </a:solidFill>
                  <a:latin typeface="Arial" panose="020B0604020202020204" pitchFamily="34" charset="0"/>
                </a:defRPr>
              </a:lvl2pPr>
              <a:lvl3pPr marL="1143000" indent="-228600">
                <a:spcBef>
                  <a:spcPct val="20000"/>
                </a:spcBef>
                <a:buChar char="•"/>
                <a:tabLst>
                  <a:tab pos="1143000" algn="l"/>
                </a:tabLst>
                <a:defRPr sz="2000">
                  <a:solidFill>
                    <a:schemeClr val="tx1"/>
                  </a:solidFill>
                  <a:latin typeface="Arial" panose="020B0604020202020204" pitchFamily="34" charset="0"/>
                </a:defRPr>
              </a:lvl3pPr>
              <a:lvl4pPr marL="1600200" indent="-228600">
                <a:spcBef>
                  <a:spcPct val="20000"/>
                </a:spcBef>
                <a:buChar char="–"/>
                <a:tabLst>
                  <a:tab pos="1143000" algn="l"/>
                </a:tabLst>
                <a:defRPr sz="2000">
                  <a:solidFill>
                    <a:schemeClr val="tx1"/>
                  </a:solidFill>
                  <a:latin typeface="Arial" panose="020B0604020202020204" pitchFamily="34" charset="0"/>
                </a:defRPr>
              </a:lvl4pPr>
              <a:lvl5pPr marL="2057400" indent="-228600">
                <a:spcBef>
                  <a:spcPct val="20000"/>
                </a:spcBef>
                <a:buChar char="»"/>
                <a:tabLst>
                  <a:tab pos="1143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CUSTID   ORDID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101     610</a:t>
              </a:r>
            </a:p>
            <a:p>
              <a:pPr>
                <a:lnSpc>
                  <a:spcPct val="95000"/>
                </a:lnSpc>
                <a:spcBef>
                  <a:spcPct val="0"/>
                </a:spcBef>
                <a:buFontTx/>
                <a:buNone/>
              </a:pPr>
              <a:r>
                <a:rPr lang="en-US" altLang="en-US" sz="1800" b="1">
                  <a:solidFill>
                    <a:srgbClr val="000000"/>
                  </a:solidFill>
                  <a:latin typeface="Courier New" panose="02070309020205020404" pitchFamily="49" charset="0"/>
                </a:rPr>
                <a:t>    102     611</a:t>
              </a:r>
            </a:p>
            <a:p>
              <a:pPr>
                <a:lnSpc>
                  <a:spcPct val="95000"/>
                </a:lnSpc>
                <a:spcBef>
                  <a:spcPct val="0"/>
                </a:spcBef>
                <a:buFontTx/>
                <a:buNone/>
              </a:pPr>
              <a:r>
                <a:rPr lang="en-US" altLang="en-US" sz="1800" b="1">
                  <a:solidFill>
                    <a:srgbClr val="000000"/>
                  </a:solidFill>
                  <a:latin typeface="Courier New" panose="02070309020205020404" pitchFamily="49" charset="0"/>
                </a:rPr>
                <a:t>    104     612</a:t>
              </a:r>
            </a:p>
            <a:p>
              <a:pPr>
                <a:lnSpc>
                  <a:spcPct val="95000"/>
                </a:lnSpc>
                <a:spcBef>
                  <a:spcPct val="0"/>
                </a:spcBef>
                <a:buFontTx/>
                <a:buNone/>
              </a:pPr>
              <a:r>
                <a:rPr lang="en-US" altLang="en-US" sz="1800" b="1">
                  <a:solidFill>
                    <a:srgbClr val="000000"/>
                  </a:solidFill>
                  <a:latin typeface="Courier New" panose="02070309020205020404" pitchFamily="49" charset="0"/>
                </a:rPr>
                <a:t>    106     601</a:t>
              </a:r>
            </a:p>
            <a:p>
              <a:pPr>
                <a:lnSpc>
                  <a:spcPct val="95000"/>
                </a:lnSpc>
                <a:spcBef>
                  <a:spcPct val="0"/>
                </a:spcBef>
                <a:buFontTx/>
                <a:buNone/>
              </a:pPr>
              <a:r>
                <a:rPr lang="en-US" altLang="en-US" sz="1800" b="1">
                  <a:solidFill>
                    <a:srgbClr val="000000"/>
                  </a:solidFill>
                  <a:latin typeface="Courier New" panose="02070309020205020404" pitchFamily="49" charset="0"/>
                </a:rPr>
                <a:t>    102     602</a:t>
              </a:r>
            </a:p>
            <a:p>
              <a:pPr>
                <a:lnSpc>
                  <a:spcPct val="95000"/>
                </a:lnSpc>
                <a:spcBef>
                  <a:spcPct val="0"/>
                </a:spcBef>
                <a:buFontTx/>
                <a:buNone/>
              </a:pPr>
              <a:r>
                <a:rPr lang="en-US" altLang="en-US" sz="1800" b="1">
                  <a:solidFill>
                    <a:srgbClr val="000000"/>
                  </a:solidFill>
                  <a:latin typeface="Courier New" panose="02070309020205020404" pitchFamily="49" charset="0"/>
                </a:rPr>
                <a:t>    106     604</a:t>
              </a:r>
            </a:p>
            <a:p>
              <a:pPr>
                <a:lnSpc>
                  <a:spcPct val="95000"/>
                </a:lnSpc>
                <a:spcBef>
                  <a:spcPct val="0"/>
                </a:spcBef>
                <a:buFontTx/>
                <a:buNone/>
              </a:pPr>
              <a:r>
                <a:rPr lang="en-US" altLang="en-US" sz="1800" b="1">
                  <a:solidFill>
                    <a:srgbClr val="000000"/>
                  </a:solidFill>
                  <a:latin typeface="Courier New" panose="02070309020205020404" pitchFamily="49" charset="0"/>
                </a:rPr>
                <a:t>    106     605</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21 rows selected.</a:t>
              </a:r>
            </a:p>
          </p:txBody>
        </p:sp>
        <p:sp>
          <p:nvSpPr>
            <p:cNvPr id="260103" name="Rectangle 7">
              <a:extLst>
                <a:ext uri="{FF2B5EF4-FFF2-40B4-BE49-F238E27FC236}">
                  <a16:creationId xmlns:a16="http://schemas.microsoft.com/office/drawing/2014/main" id="{E21DCD40-287F-C5B5-FA62-D6AA814F2491}"/>
                </a:ext>
              </a:extLst>
            </p:cNvPr>
            <p:cNvSpPr>
              <a:spLocks noChangeArrowheads="1"/>
            </p:cNvSpPr>
            <p:nvPr/>
          </p:nvSpPr>
          <p:spPr bwMode="auto">
            <a:xfrm>
              <a:off x="2700" y="790"/>
              <a:ext cx="516" cy="250"/>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ORD </a:t>
              </a:r>
            </a:p>
          </p:txBody>
        </p:sp>
      </p:grpSp>
      <p:sp>
        <p:nvSpPr>
          <p:cNvPr id="260104" name="Rectangle 8">
            <a:extLst>
              <a:ext uri="{FF2B5EF4-FFF2-40B4-BE49-F238E27FC236}">
                <a16:creationId xmlns:a16="http://schemas.microsoft.com/office/drawing/2014/main" id="{975DA681-C974-F2E7-3F2F-C47E8FCA1041}"/>
              </a:ext>
            </a:extLst>
          </p:cNvPr>
          <p:cNvSpPr>
            <a:spLocks noChangeArrowheads="1"/>
          </p:cNvSpPr>
          <p:nvPr/>
        </p:nvSpPr>
        <p:spPr bwMode="ltGray">
          <a:xfrm>
            <a:off x="3009900" y="1643063"/>
            <a:ext cx="2457450" cy="26241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3" name="Group 9">
            <a:extLst>
              <a:ext uri="{FF2B5EF4-FFF2-40B4-BE49-F238E27FC236}">
                <a16:creationId xmlns:a16="http://schemas.microsoft.com/office/drawing/2014/main" id="{283F832F-484D-C51C-99AB-55AD88478E08}"/>
              </a:ext>
            </a:extLst>
          </p:cNvPr>
          <p:cNvGrpSpPr>
            <a:grpSpLocks/>
          </p:cNvGrpSpPr>
          <p:nvPr/>
        </p:nvGrpSpPr>
        <p:grpSpPr bwMode="auto">
          <a:xfrm>
            <a:off x="5608638" y="3192463"/>
            <a:ext cx="2774950" cy="2838450"/>
            <a:chOff x="3533" y="2011"/>
            <a:chExt cx="1748" cy="1788"/>
          </a:xfrm>
        </p:grpSpPr>
        <p:sp>
          <p:nvSpPr>
            <p:cNvPr id="68620" name="Rectangle 10">
              <a:extLst>
                <a:ext uri="{FF2B5EF4-FFF2-40B4-BE49-F238E27FC236}">
                  <a16:creationId xmlns:a16="http://schemas.microsoft.com/office/drawing/2014/main" id="{E960A594-210F-76EB-C425-E8482C730EAF}"/>
                </a:ext>
              </a:extLst>
            </p:cNvPr>
            <p:cNvSpPr>
              <a:spLocks noChangeArrowheads="1"/>
            </p:cNvSpPr>
            <p:nvPr/>
          </p:nvSpPr>
          <p:spPr bwMode="blackWhite">
            <a:xfrm>
              <a:off x="3533" y="2249"/>
              <a:ext cx="1645" cy="1550"/>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143000" algn="l"/>
                </a:tabLst>
                <a:defRPr sz="2800">
                  <a:solidFill>
                    <a:schemeClr val="tx1"/>
                  </a:solidFill>
                  <a:latin typeface="Arial" panose="020B0604020202020204" pitchFamily="34" charset="0"/>
                </a:defRPr>
              </a:lvl1pPr>
              <a:lvl2pPr marL="742950" indent="-285750">
                <a:spcBef>
                  <a:spcPct val="20000"/>
                </a:spcBef>
                <a:buChar char="–"/>
                <a:tabLst>
                  <a:tab pos="1143000" algn="l"/>
                </a:tabLst>
                <a:defRPr sz="2400">
                  <a:solidFill>
                    <a:schemeClr val="tx1"/>
                  </a:solidFill>
                  <a:latin typeface="Arial" panose="020B0604020202020204" pitchFamily="34" charset="0"/>
                </a:defRPr>
              </a:lvl2pPr>
              <a:lvl3pPr marL="1143000" indent="-228600">
                <a:spcBef>
                  <a:spcPct val="20000"/>
                </a:spcBef>
                <a:buChar char="•"/>
                <a:tabLst>
                  <a:tab pos="1143000" algn="l"/>
                </a:tabLst>
                <a:defRPr sz="2000">
                  <a:solidFill>
                    <a:schemeClr val="tx1"/>
                  </a:solidFill>
                  <a:latin typeface="Arial" panose="020B0604020202020204" pitchFamily="34" charset="0"/>
                </a:defRPr>
              </a:lvl3pPr>
              <a:lvl4pPr marL="1600200" indent="-228600">
                <a:spcBef>
                  <a:spcPct val="20000"/>
                </a:spcBef>
                <a:buChar char="–"/>
                <a:tabLst>
                  <a:tab pos="1143000" algn="l"/>
                </a:tabLst>
                <a:defRPr sz="2000">
                  <a:solidFill>
                    <a:schemeClr val="tx1"/>
                  </a:solidFill>
                  <a:latin typeface="Arial" panose="020B0604020202020204" pitchFamily="34" charset="0"/>
                </a:defRPr>
              </a:lvl4pPr>
              <a:lvl5pPr marL="2057400" indent="-228600">
                <a:spcBef>
                  <a:spcPct val="20000"/>
                </a:spcBef>
                <a:buChar char="»"/>
                <a:tabLst>
                  <a:tab pos="1143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ORDID  ITEMID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610       3</a:t>
              </a:r>
            </a:p>
            <a:p>
              <a:pPr>
                <a:lnSpc>
                  <a:spcPct val="95000"/>
                </a:lnSpc>
                <a:spcBef>
                  <a:spcPct val="0"/>
                </a:spcBef>
                <a:buFontTx/>
                <a:buNone/>
              </a:pPr>
              <a:r>
                <a:rPr lang="en-US" altLang="en-US" sz="1800" b="1">
                  <a:solidFill>
                    <a:srgbClr val="000000"/>
                  </a:solidFill>
                  <a:latin typeface="Courier New" panose="02070309020205020404" pitchFamily="49" charset="0"/>
                </a:rPr>
                <a:t>   611       1</a:t>
              </a:r>
            </a:p>
            <a:p>
              <a:pPr>
                <a:lnSpc>
                  <a:spcPct val="95000"/>
                </a:lnSpc>
                <a:spcBef>
                  <a:spcPct val="0"/>
                </a:spcBef>
                <a:buFontTx/>
                <a:buNone/>
              </a:pPr>
              <a:r>
                <a:rPr lang="en-US" altLang="en-US" sz="1800" b="1">
                  <a:solidFill>
                    <a:srgbClr val="000000"/>
                  </a:solidFill>
                  <a:latin typeface="Courier New" panose="02070309020205020404" pitchFamily="49" charset="0"/>
                </a:rPr>
                <a:t>   612       1</a:t>
              </a:r>
            </a:p>
            <a:p>
              <a:pPr>
                <a:lnSpc>
                  <a:spcPct val="95000"/>
                </a:lnSpc>
                <a:spcBef>
                  <a:spcPct val="0"/>
                </a:spcBef>
                <a:buFontTx/>
                <a:buNone/>
              </a:pPr>
              <a:r>
                <a:rPr lang="en-US" altLang="en-US" sz="1800" b="1">
                  <a:solidFill>
                    <a:srgbClr val="000000"/>
                  </a:solidFill>
                  <a:latin typeface="Courier New" panose="02070309020205020404" pitchFamily="49" charset="0"/>
                </a:rPr>
                <a:t>   601       1</a:t>
              </a:r>
            </a:p>
            <a:p>
              <a:pPr>
                <a:lnSpc>
                  <a:spcPct val="95000"/>
                </a:lnSpc>
                <a:spcBef>
                  <a:spcPct val="0"/>
                </a:spcBef>
                <a:buFontTx/>
                <a:buNone/>
              </a:pPr>
              <a:r>
                <a:rPr lang="en-US" altLang="en-US" sz="1800" b="1">
                  <a:solidFill>
                    <a:srgbClr val="000000"/>
                  </a:solidFill>
                  <a:latin typeface="Courier New" panose="02070309020205020404" pitchFamily="49" charset="0"/>
                </a:rPr>
                <a:t>   602       1</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64 rows selected.     </a:t>
              </a:r>
            </a:p>
          </p:txBody>
        </p:sp>
        <p:sp>
          <p:nvSpPr>
            <p:cNvPr id="260107" name="Rectangle 11">
              <a:extLst>
                <a:ext uri="{FF2B5EF4-FFF2-40B4-BE49-F238E27FC236}">
                  <a16:creationId xmlns:a16="http://schemas.microsoft.com/office/drawing/2014/main" id="{F016D46F-51F2-B436-28AA-3AB4C9B6A99E}"/>
                </a:ext>
              </a:extLst>
            </p:cNvPr>
            <p:cNvSpPr>
              <a:spLocks noChangeArrowheads="1"/>
            </p:cNvSpPr>
            <p:nvPr/>
          </p:nvSpPr>
          <p:spPr bwMode="auto">
            <a:xfrm>
              <a:off x="4738" y="2011"/>
              <a:ext cx="543" cy="250"/>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ITEM </a:t>
              </a:r>
            </a:p>
          </p:txBody>
        </p:sp>
      </p:grpSp>
      <p:grpSp>
        <p:nvGrpSpPr>
          <p:cNvPr id="4" name="Group 12">
            <a:extLst>
              <a:ext uri="{FF2B5EF4-FFF2-40B4-BE49-F238E27FC236}">
                <a16:creationId xmlns:a16="http://schemas.microsoft.com/office/drawing/2014/main" id="{1C626F28-C1CD-9654-C1E7-9EF354F1022B}"/>
              </a:ext>
            </a:extLst>
          </p:cNvPr>
          <p:cNvGrpSpPr>
            <a:grpSpLocks/>
          </p:cNvGrpSpPr>
          <p:nvPr/>
        </p:nvGrpSpPr>
        <p:grpSpPr bwMode="auto">
          <a:xfrm>
            <a:off x="5775325" y="1643063"/>
            <a:ext cx="965200" cy="4051300"/>
            <a:chOff x="3638" y="1035"/>
            <a:chExt cx="608" cy="2552"/>
          </a:xfrm>
        </p:grpSpPr>
        <p:sp>
          <p:nvSpPr>
            <p:cNvPr id="68618" name="Rectangle 13">
              <a:extLst>
                <a:ext uri="{FF2B5EF4-FFF2-40B4-BE49-F238E27FC236}">
                  <a16:creationId xmlns:a16="http://schemas.microsoft.com/office/drawing/2014/main" id="{670DA35F-98C8-184B-B289-B239B662F906}"/>
                </a:ext>
              </a:extLst>
            </p:cNvPr>
            <p:cNvSpPr>
              <a:spLocks noChangeArrowheads="1"/>
            </p:cNvSpPr>
            <p:nvPr/>
          </p:nvSpPr>
          <p:spPr bwMode="ltGray">
            <a:xfrm>
              <a:off x="3647" y="1035"/>
              <a:ext cx="576" cy="1198"/>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8619" name="Rectangle 14">
              <a:extLst>
                <a:ext uri="{FF2B5EF4-FFF2-40B4-BE49-F238E27FC236}">
                  <a16:creationId xmlns:a16="http://schemas.microsoft.com/office/drawing/2014/main" id="{3A9C08DB-E2F3-280F-79AF-72569A267320}"/>
                </a:ext>
              </a:extLst>
            </p:cNvPr>
            <p:cNvSpPr>
              <a:spLocks noChangeArrowheads="1"/>
            </p:cNvSpPr>
            <p:nvPr/>
          </p:nvSpPr>
          <p:spPr bwMode="ltGray">
            <a:xfrm>
              <a:off x="3638" y="2262"/>
              <a:ext cx="608" cy="1325"/>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6" name="Rectangle 20">
            <a:extLst>
              <a:ext uri="{FF2B5EF4-FFF2-40B4-BE49-F238E27FC236}">
                <a16:creationId xmlns:a16="http://schemas.microsoft.com/office/drawing/2014/main" id="{D6F9064A-D50B-FA2B-EE48-BCAA66D1715D}"/>
              </a:ext>
            </a:extLst>
          </p:cNvPr>
          <p:cNvSpPr txBox="1">
            <a:spLocks noChangeArrowheads="1"/>
          </p:cNvSpPr>
          <p:nvPr/>
        </p:nvSpPr>
        <p:spPr>
          <a:xfrm>
            <a:off x="357188" y="4929188"/>
            <a:ext cx="4929187" cy="1428750"/>
          </a:xfrm>
          <a:prstGeom prst="rect">
            <a:avLst/>
          </a:prstGeom>
          <a:noFill/>
          <a:ln/>
        </p:spPr>
        <p:txBody>
          <a:bodyPr/>
          <a:lstStyle/>
          <a:p>
            <a:pPr marL="342900" indent="-342900">
              <a:spcBef>
                <a:spcPct val="20000"/>
              </a:spcBef>
              <a:buFontTx/>
              <a:buChar char="•"/>
              <a:defRPr/>
            </a:pPr>
            <a:r>
              <a:rPr lang="en-US" sz="2000" kern="0">
                <a:latin typeface="+mn-lt"/>
              </a:rPr>
              <a:t>To join </a:t>
            </a:r>
            <a:r>
              <a:rPr lang="en-US" sz="2000" i="1" kern="0">
                <a:latin typeface="+mn-lt"/>
              </a:rPr>
              <a:t>n</a:t>
            </a:r>
            <a:r>
              <a:rPr lang="en-US" sz="2000" kern="0">
                <a:latin typeface="+mn-lt"/>
              </a:rPr>
              <a:t> tables together, you need a minimum of n-1 join conditions. For example, to join three tables, a minimum of two joins is required. </a:t>
            </a:r>
            <a:endParaRPr lang="en-US" sz="2000" kern="0" dirty="0">
              <a:latin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60104"/>
                                        </p:tgtEl>
                                        <p:attrNameLst>
                                          <p:attrName>style.visibility</p:attrName>
                                        </p:attrNameLst>
                                      </p:cBhvr>
                                      <p:to>
                                        <p:strVal val="visible"/>
                                      </p:to>
                                    </p:set>
                                    <p:animEffect transition="in" filter="wipe(up)">
                                      <p:cBhvr>
                                        <p:cTn id="12" dur="500"/>
                                        <p:tgtEl>
                                          <p:spTgt spid="2601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a:extLst>
              <a:ext uri="{FF2B5EF4-FFF2-40B4-BE49-F238E27FC236}">
                <a16:creationId xmlns:a16="http://schemas.microsoft.com/office/drawing/2014/main" id="{EAC607C4-F719-42BE-F647-A12999AA0D43}"/>
              </a:ext>
            </a:extLst>
          </p:cNvPr>
          <p:cNvSpPr>
            <a:spLocks noGrp="1" noChangeArrowheads="1"/>
          </p:cNvSpPr>
          <p:nvPr>
            <p:ph type="title"/>
          </p:nvPr>
        </p:nvSpPr>
        <p:spPr>
          <a:xfrm>
            <a:off x="395288" y="620713"/>
            <a:ext cx="8277225" cy="504825"/>
          </a:xfrm>
          <a:noFill/>
        </p:spPr>
        <p:txBody>
          <a:bodyPr lIns="92075" tIns="46038" rIns="92075" bIns="46038" anchor="t"/>
          <a:lstStyle/>
          <a:p>
            <a:r>
              <a:rPr lang="en-US" altLang="en-US" sz="2800">
                <a:solidFill>
                  <a:srgbClr val="800000"/>
                </a:solidFill>
              </a:rPr>
              <a:t>Joining More Than Two Tables</a:t>
            </a:r>
          </a:p>
        </p:txBody>
      </p:sp>
      <p:sp>
        <p:nvSpPr>
          <p:cNvPr id="70659" name="Rectangle 11">
            <a:extLst>
              <a:ext uri="{FF2B5EF4-FFF2-40B4-BE49-F238E27FC236}">
                <a16:creationId xmlns:a16="http://schemas.microsoft.com/office/drawing/2014/main" id="{7D30CEF2-6C67-779F-9B8C-A35049E12810}"/>
              </a:ext>
            </a:extLst>
          </p:cNvPr>
          <p:cNvSpPr>
            <a:spLocks noChangeArrowheads="1"/>
          </p:cNvSpPr>
          <p:nvPr/>
        </p:nvSpPr>
        <p:spPr bwMode="blackWhite">
          <a:xfrm>
            <a:off x="1547813" y="5551488"/>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p:txBody>
      </p:sp>
      <p:graphicFrame>
        <p:nvGraphicFramePr>
          <p:cNvPr id="4" name="Table 3">
            <a:extLst>
              <a:ext uri="{FF2B5EF4-FFF2-40B4-BE49-F238E27FC236}">
                <a16:creationId xmlns:a16="http://schemas.microsoft.com/office/drawing/2014/main" id="{B9DF4341-D345-F6C9-08C1-A22CCCCF07FA}"/>
              </a:ext>
            </a:extLst>
          </p:cNvPr>
          <p:cNvGraphicFramePr>
            <a:graphicFrameLocks noGrp="1"/>
          </p:cNvGraphicFramePr>
          <p:nvPr/>
        </p:nvGraphicFramePr>
        <p:xfrm>
          <a:off x="468313" y="1412875"/>
          <a:ext cx="7559675" cy="3459348"/>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539092">
                <a:tc>
                  <a:txBody>
                    <a:bodyPr/>
                    <a:lstStyle/>
                    <a:p>
                      <a:pPr marL="119063" lvl="1" indent="0">
                        <a:spcBef>
                          <a:spcPts val="600"/>
                        </a:spcBef>
                        <a:defRPr/>
                      </a:pPr>
                      <a:r>
                        <a:rPr lang="en-US" sz="2000" dirty="0">
                          <a:solidFill>
                            <a:schemeClr val="accent2"/>
                          </a:solidFill>
                        </a:rPr>
                        <a:t>SELECT </a:t>
                      </a:r>
                      <a:r>
                        <a:rPr lang="en-US" sz="2000" dirty="0">
                          <a:solidFill>
                            <a:schemeClr val="tx1"/>
                          </a:solidFill>
                        </a:rPr>
                        <a:t>col-1, col-2, ….</a:t>
                      </a:r>
                    </a:p>
                    <a:p>
                      <a:pPr marL="119063" lvl="1" indent="0">
                        <a:spcBef>
                          <a:spcPts val="600"/>
                        </a:spcBef>
                        <a:buNone/>
                        <a:defRPr/>
                      </a:pPr>
                      <a:r>
                        <a:rPr lang="en-US" sz="2000" dirty="0">
                          <a:solidFill>
                            <a:schemeClr val="accent2"/>
                          </a:solidFill>
                        </a:rPr>
                        <a:t>FROM</a:t>
                      </a:r>
                      <a:r>
                        <a:rPr lang="en-US" sz="2000" dirty="0">
                          <a:solidFill>
                            <a:schemeClr val="tx1"/>
                          </a:solidFill>
                        </a:rPr>
                        <a:t> table-1, table-2, …, table-n</a:t>
                      </a:r>
                    </a:p>
                    <a:p>
                      <a:pPr marL="119063" lvl="1" indent="0">
                        <a:spcBef>
                          <a:spcPts val="600"/>
                        </a:spcBef>
                        <a:buNone/>
                        <a:defRPr/>
                      </a:pPr>
                      <a:r>
                        <a:rPr lang="en-US" sz="2000" dirty="0">
                          <a:solidFill>
                            <a:schemeClr val="accent2"/>
                          </a:solidFill>
                        </a:rPr>
                        <a:t>WHERE </a:t>
                      </a:r>
                      <a:r>
                        <a:rPr lang="en-US" sz="2000" dirty="0">
                          <a:solidFill>
                            <a:srgbClr val="FF0000"/>
                          </a:solidFill>
                        </a:rPr>
                        <a:t>table-1.Join_Col = table-2. </a:t>
                      </a:r>
                      <a:r>
                        <a:rPr lang="en-US" sz="2000" dirty="0" err="1">
                          <a:solidFill>
                            <a:srgbClr val="FF0000"/>
                          </a:solidFill>
                        </a:rPr>
                        <a:t>Join_Col</a:t>
                      </a:r>
                      <a:r>
                        <a:rPr lang="en-US" sz="2000" dirty="0">
                          <a:solidFill>
                            <a:srgbClr val="FF0000"/>
                          </a:solidFill>
                        </a:rPr>
                        <a:t> </a:t>
                      </a:r>
                      <a:r>
                        <a:rPr lang="en-US" sz="2000" dirty="0">
                          <a:solidFill>
                            <a:schemeClr val="accent2"/>
                          </a:solidFill>
                        </a:rPr>
                        <a:t>AND</a:t>
                      </a:r>
                    </a:p>
                    <a:p>
                      <a:pPr marL="119063" lvl="1" indent="0">
                        <a:spcBef>
                          <a:spcPts val="600"/>
                        </a:spcBef>
                        <a:buNone/>
                        <a:defRPr/>
                      </a:pPr>
                      <a:r>
                        <a:rPr lang="en-US" sz="2000" dirty="0">
                          <a:solidFill>
                            <a:srgbClr val="FF0000"/>
                          </a:solidFill>
                        </a:rPr>
                        <a:t>	</a:t>
                      </a:r>
                      <a:r>
                        <a:rPr lang="en-US" sz="2000" baseline="0" dirty="0">
                          <a:solidFill>
                            <a:srgbClr val="FF0000"/>
                          </a:solidFill>
                        </a:rPr>
                        <a:t>   </a:t>
                      </a:r>
                      <a:r>
                        <a:rPr lang="en-US" sz="2000" dirty="0">
                          <a:solidFill>
                            <a:srgbClr val="FF0000"/>
                          </a:solidFill>
                        </a:rPr>
                        <a:t>table-1.Join_Col = table-3. </a:t>
                      </a:r>
                      <a:r>
                        <a:rPr lang="en-US" sz="2000" dirty="0" err="1">
                          <a:solidFill>
                            <a:srgbClr val="FF0000"/>
                          </a:solidFill>
                        </a:rPr>
                        <a:t>Join_Col</a:t>
                      </a:r>
                      <a:r>
                        <a:rPr lang="en-US" sz="2000" dirty="0">
                          <a:solidFill>
                            <a:srgbClr val="FF0000"/>
                          </a:solidFill>
                        </a:rPr>
                        <a:t> </a:t>
                      </a:r>
                      <a:r>
                        <a:rPr lang="en-US" sz="2000" dirty="0">
                          <a:solidFill>
                            <a:schemeClr val="accent2"/>
                          </a:solidFill>
                        </a:rPr>
                        <a:t>AND</a:t>
                      </a:r>
                      <a:r>
                        <a:rPr lang="en-US" sz="2000" dirty="0">
                          <a:solidFill>
                            <a:srgbClr val="FF0000"/>
                          </a:solidFill>
                        </a:rPr>
                        <a:t> …</a:t>
                      </a:r>
                      <a:endParaRPr lang="en-US" sz="2000" dirty="0">
                        <a:solidFill>
                          <a:schemeClr val="tx1"/>
                        </a:solidFill>
                      </a:endParaRPr>
                    </a:p>
                  </a:txBody>
                  <a:tcPr marL="91426" marR="91426" marT="45687" marB="45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920071">
                <a:tc>
                  <a:txBody>
                    <a:bodyPr/>
                    <a:lstStyle/>
                    <a:p>
                      <a:pPr marL="119063" lvl="1" indent="0">
                        <a:spcBef>
                          <a:spcPts val="600"/>
                        </a:spcBef>
                        <a:defRPr/>
                      </a:pPr>
                      <a:r>
                        <a:rPr lang="en-US" sz="2000" b="1" dirty="0">
                          <a:solidFill>
                            <a:schemeClr val="accent2"/>
                          </a:solidFill>
                        </a:rPr>
                        <a:t>SELECT</a:t>
                      </a:r>
                      <a:r>
                        <a:rPr lang="en-US" sz="2000" dirty="0">
                          <a:solidFill>
                            <a:schemeClr val="accent2"/>
                          </a:solidFill>
                        </a:rPr>
                        <a:t> </a:t>
                      </a:r>
                      <a:r>
                        <a:rPr lang="en-US" sz="2000" dirty="0">
                          <a:solidFill>
                            <a:schemeClr val="tx1"/>
                          </a:solidFill>
                        </a:rPr>
                        <a:t>col-1, col-2, ….</a:t>
                      </a:r>
                    </a:p>
                    <a:p>
                      <a:pPr marL="119063" lvl="1" indent="0">
                        <a:spcBef>
                          <a:spcPts val="600"/>
                        </a:spcBef>
                        <a:buNone/>
                        <a:defRPr/>
                      </a:pPr>
                      <a:r>
                        <a:rPr lang="en-US" sz="2000" b="1" dirty="0">
                          <a:solidFill>
                            <a:schemeClr val="accent2"/>
                          </a:solidFill>
                        </a:rPr>
                        <a:t>FROM</a:t>
                      </a:r>
                      <a:r>
                        <a:rPr lang="en-US" sz="2000" dirty="0">
                          <a:solidFill>
                            <a:schemeClr val="tx1"/>
                          </a:solidFill>
                        </a:rPr>
                        <a:t> table-1 </a:t>
                      </a:r>
                      <a:r>
                        <a:rPr lang="en-US" sz="2000" b="1" dirty="0">
                          <a:solidFill>
                            <a:schemeClr val="accent2"/>
                          </a:solidFill>
                        </a:rPr>
                        <a:t>[INNER</a:t>
                      </a:r>
                      <a:r>
                        <a:rPr lang="en-US" sz="2000" b="1" baseline="0" dirty="0">
                          <a:solidFill>
                            <a:schemeClr val="accent2"/>
                          </a:solidFill>
                        </a:rPr>
                        <a:t> | EQUI | LEFT | RIGHT] </a:t>
                      </a:r>
                    </a:p>
                    <a:p>
                      <a:pPr marL="119063" lvl="1" indent="0">
                        <a:spcBef>
                          <a:spcPts val="600"/>
                        </a:spcBef>
                        <a:buNone/>
                        <a:defRPr/>
                      </a:pPr>
                      <a:r>
                        <a:rPr lang="en-US" sz="2000" b="1" baseline="0" dirty="0">
                          <a:solidFill>
                            <a:schemeClr val="accent2"/>
                          </a:solidFill>
                        </a:rPr>
                        <a:t>JOIN</a:t>
                      </a:r>
                      <a:r>
                        <a:rPr lang="en-US" sz="2000" dirty="0">
                          <a:solidFill>
                            <a:schemeClr val="tx1"/>
                          </a:solidFill>
                        </a:rPr>
                        <a:t> table-2 </a:t>
                      </a:r>
                      <a:r>
                        <a:rPr lang="en-US" sz="2000" b="1" dirty="0">
                          <a:solidFill>
                            <a:schemeClr val="accent2"/>
                          </a:solidFill>
                        </a:rPr>
                        <a:t>ON </a:t>
                      </a:r>
                      <a:r>
                        <a:rPr lang="en-US" sz="2000" dirty="0">
                          <a:solidFill>
                            <a:srgbClr val="FF0000"/>
                          </a:solidFill>
                        </a:rPr>
                        <a:t>table-1.Join_Col = table-2. </a:t>
                      </a:r>
                      <a:r>
                        <a:rPr lang="en-US" sz="2000" dirty="0" err="1">
                          <a:solidFill>
                            <a:srgbClr val="FF0000"/>
                          </a:solidFill>
                        </a:rPr>
                        <a:t>Join_Col</a:t>
                      </a:r>
                      <a:endParaRPr lang="en-US" sz="2000" baseline="0" dirty="0">
                        <a:solidFill>
                          <a:srgbClr val="FF0000"/>
                        </a:solidFill>
                      </a:endParaRP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000" b="1" baseline="0" dirty="0">
                          <a:solidFill>
                            <a:schemeClr val="accent2"/>
                          </a:solidFill>
                        </a:rPr>
                        <a:t>JOIN</a:t>
                      </a:r>
                      <a:r>
                        <a:rPr lang="en-US" sz="2000" dirty="0">
                          <a:solidFill>
                            <a:schemeClr val="tx1"/>
                          </a:solidFill>
                        </a:rPr>
                        <a:t> table-3 </a:t>
                      </a:r>
                      <a:r>
                        <a:rPr lang="en-US" sz="2000" b="1" dirty="0">
                          <a:solidFill>
                            <a:schemeClr val="accent2"/>
                          </a:solidFill>
                        </a:rPr>
                        <a:t>ON </a:t>
                      </a:r>
                      <a:r>
                        <a:rPr lang="en-US" sz="2000" dirty="0">
                          <a:solidFill>
                            <a:srgbClr val="FF0000"/>
                          </a:solidFill>
                        </a:rPr>
                        <a:t>table-1.Join_Col = table-3. </a:t>
                      </a:r>
                      <a:r>
                        <a:rPr lang="en-US" sz="2000" dirty="0" err="1">
                          <a:solidFill>
                            <a:srgbClr val="FF0000"/>
                          </a:solidFill>
                        </a:rPr>
                        <a:t>Join_Col</a:t>
                      </a:r>
                      <a:endParaRPr lang="en-US" sz="2000" baseline="0" dirty="0">
                        <a:solidFill>
                          <a:srgbClr val="FF0000"/>
                        </a:solidFill>
                      </a:endParaRP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000" b="1" baseline="0" dirty="0">
                          <a:solidFill>
                            <a:srgbClr val="FF0000"/>
                          </a:solidFill>
                        </a:rPr>
                        <a:t>[WHERE clause]</a:t>
                      </a:r>
                      <a:endParaRPr lang="en-US" sz="2000" b="1" dirty="0">
                        <a:solidFill>
                          <a:schemeClr val="accent2"/>
                        </a:solidFill>
                      </a:endParaRPr>
                    </a:p>
                  </a:txBody>
                  <a:tcPr marL="91426" marR="91426" marT="45687" marB="45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a:extLst>
              <a:ext uri="{FF2B5EF4-FFF2-40B4-BE49-F238E27FC236}">
                <a16:creationId xmlns:a16="http://schemas.microsoft.com/office/drawing/2014/main" id="{F6559E4B-5AFB-4E0E-D588-7073B4AA9F77}"/>
              </a:ext>
            </a:extLst>
          </p:cNvPr>
          <p:cNvSpPr>
            <a:spLocks noGrp="1" noChangeArrowheads="1"/>
          </p:cNvSpPr>
          <p:nvPr>
            <p:ph type="title"/>
          </p:nvPr>
        </p:nvSpPr>
        <p:spPr>
          <a:xfrm>
            <a:off x="395288" y="620713"/>
            <a:ext cx="8277225" cy="504825"/>
          </a:xfrm>
          <a:noFill/>
        </p:spPr>
        <p:txBody>
          <a:bodyPr lIns="92075" tIns="46038" rIns="92075" bIns="46038" anchor="t"/>
          <a:lstStyle/>
          <a:p>
            <a:r>
              <a:rPr lang="en-US" altLang="en-US" sz="2800">
                <a:solidFill>
                  <a:srgbClr val="800000"/>
                </a:solidFill>
              </a:rPr>
              <a:t>Joining More Than Two Tables</a:t>
            </a:r>
          </a:p>
        </p:txBody>
      </p:sp>
      <p:sp>
        <p:nvSpPr>
          <p:cNvPr id="72707" name="Rectangle 11">
            <a:extLst>
              <a:ext uri="{FF2B5EF4-FFF2-40B4-BE49-F238E27FC236}">
                <a16:creationId xmlns:a16="http://schemas.microsoft.com/office/drawing/2014/main" id="{7957AC87-5624-8DC7-F82A-C6181F49C5D1}"/>
              </a:ext>
            </a:extLst>
          </p:cNvPr>
          <p:cNvSpPr>
            <a:spLocks noChangeArrowheads="1"/>
          </p:cNvSpPr>
          <p:nvPr/>
        </p:nvSpPr>
        <p:spPr bwMode="blackWhite">
          <a:xfrm>
            <a:off x="1547813" y="5551488"/>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p:txBody>
      </p:sp>
      <p:graphicFrame>
        <p:nvGraphicFramePr>
          <p:cNvPr id="4" name="Table 3">
            <a:extLst>
              <a:ext uri="{FF2B5EF4-FFF2-40B4-BE49-F238E27FC236}">
                <a16:creationId xmlns:a16="http://schemas.microsoft.com/office/drawing/2014/main" id="{1C2E4B70-DC03-B7BB-7BC5-268389C2DED8}"/>
              </a:ext>
            </a:extLst>
          </p:cNvPr>
          <p:cNvGraphicFramePr>
            <a:graphicFrameLocks noGrp="1"/>
          </p:cNvGraphicFramePr>
          <p:nvPr>
            <p:extLst>
              <p:ext uri="{D42A27DB-BD31-4B8C-83A1-F6EECF244321}">
                <p14:modId xmlns:p14="http://schemas.microsoft.com/office/powerpoint/2010/main" val="253310293"/>
              </p:ext>
            </p:extLst>
          </p:nvPr>
        </p:nvGraphicFramePr>
        <p:xfrm>
          <a:off x="792162" y="1340768"/>
          <a:ext cx="7559675" cy="4617510"/>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539082">
                <a:tc>
                  <a:txBody>
                    <a:bodyPr/>
                    <a:lstStyle/>
                    <a:p>
                      <a:pPr marL="119063" lvl="1" indent="0">
                        <a:spcBef>
                          <a:spcPts val="600"/>
                        </a:spcBef>
                        <a:defRPr/>
                      </a:pPr>
                      <a:r>
                        <a:rPr lang="en-US" sz="2000" b="0" dirty="0">
                          <a:solidFill>
                            <a:schemeClr val="accent2"/>
                          </a:solidFill>
                        </a:rPr>
                        <a:t>SELECT </a:t>
                      </a:r>
                      <a:r>
                        <a:rPr lang="en-US" sz="2000" b="0" dirty="0">
                          <a:solidFill>
                            <a:schemeClr val="tx1"/>
                          </a:solidFill>
                        </a:rPr>
                        <a:t>NAME, C. CUSTID, O. ORDID, ITEMID</a:t>
                      </a:r>
                    </a:p>
                    <a:p>
                      <a:pPr marL="119063" lvl="1" indent="0">
                        <a:spcBef>
                          <a:spcPts val="600"/>
                        </a:spcBef>
                        <a:defRPr/>
                      </a:pPr>
                      <a:r>
                        <a:rPr lang="en-US" sz="2000" b="0" dirty="0">
                          <a:solidFill>
                            <a:schemeClr val="accent2"/>
                          </a:solidFill>
                        </a:rPr>
                        <a:t>FROM</a:t>
                      </a:r>
                      <a:r>
                        <a:rPr lang="en-US" sz="2000" b="0" dirty="0">
                          <a:solidFill>
                            <a:schemeClr val="tx1"/>
                          </a:solidFill>
                        </a:rPr>
                        <a:t> CUSTOMER C, ORD O, ITEM I</a:t>
                      </a:r>
                    </a:p>
                    <a:p>
                      <a:pPr marL="119063" lvl="1" indent="0">
                        <a:spcBef>
                          <a:spcPts val="600"/>
                        </a:spcBef>
                        <a:buNone/>
                        <a:defRPr/>
                      </a:pPr>
                      <a:r>
                        <a:rPr lang="en-US" sz="2000" b="0" dirty="0">
                          <a:solidFill>
                            <a:schemeClr val="accent2"/>
                          </a:solidFill>
                        </a:rPr>
                        <a:t>WHERE </a:t>
                      </a:r>
                      <a:r>
                        <a:rPr lang="en-US" sz="2000" b="0" dirty="0">
                          <a:solidFill>
                            <a:srgbClr val="FF0000"/>
                          </a:solidFill>
                        </a:rPr>
                        <a:t>C. CUSTID = C. CUSTID </a:t>
                      </a:r>
                      <a:r>
                        <a:rPr lang="en-US" sz="2000" b="0" dirty="0">
                          <a:solidFill>
                            <a:schemeClr val="accent2"/>
                          </a:solidFill>
                        </a:rPr>
                        <a:t>AND</a:t>
                      </a:r>
                    </a:p>
                    <a:p>
                      <a:pPr marL="119063" lvl="1" indent="0">
                        <a:spcBef>
                          <a:spcPts val="600"/>
                        </a:spcBef>
                        <a:buNone/>
                        <a:defRPr/>
                      </a:pPr>
                      <a:r>
                        <a:rPr lang="en-US" sz="2000" b="0" dirty="0">
                          <a:solidFill>
                            <a:schemeClr val="accent2"/>
                          </a:solidFill>
                        </a:rPr>
                        <a:t> </a:t>
                      </a:r>
                      <a:r>
                        <a:rPr lang="en-US" sz="2000" b="0" dirty="0">
                          <a:solidFill>
                            <a:srgbClr val="FF0000"/>
                          </a:solidFill>
                        </a:rPr>
                        <a:t>	</a:t>
                      </a:r>
                      <a:r>
                        <a:rPr lang="en-US" sz="2000" b="0" baseline="0" dirty="0">
                          <a:solidFill>
                            <a:srgbClr val="FF0000"/>
                          </a:solidFill>
                        </a:rPr>
                        <a:t>   </a:t>
                      </a:r>
                      <a:r>
                        <a:rPr lang="en-US" sz="2000" b="0" dirty="0">
                          <a:solidFill>
                            <a:srgbClr val="FF0000"/>
                          </a:solidFill>
                        </a:rPr>
                        <a:t>O. ORDID = I. ORDID</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39082">
                <a:tc>
                  <a:txBody>
                    <a:bodyPr/>
                    <a:lstStyle/>
                    <a:p>
                      <a:pPr marL="119063" lvl="1" indent="0">
                        <a:spcBef>
                          <a:spcPts val="600"/>
                        </a:spcBef>
                        <a:defRPr/>
                      </a:pPr>
                      <a:r>
                        <a:rPr lang="en-US" sz="2000" dirty="0">
                          <a:solidFill>
                            <a:schemeClr val="accent2"/>
                          </a:solidFill>
                        </a:rPr>
                        <a:t>SELECT </a:t>
                      </a:r>
                      <a:r>
                        <a:rPr lang="en-US" sz="2000" dirty="0">
                          <a:solidFill>
                            <a:schemeClr val="tx1"/>
                          </a:solidFill>
                        </a:rPr>
                        <a:t>NAME, C. CUSTID, O. ORDID, ITEMID</a:t>
                      </a:r>
                    </a:p>
                    <a:p>
                      <a:pPr marL="119063" lvl="1" indent="0">
                        <a:spcBef>
                          <a:spcPts val="600"/>
                        </a:spcBef>
                        <a:defRPr/>
                      </a:pPr>
                      <a:r>
                        <a:rPr lang="en-US" sz="2000" dirty="0">
                          <a:solidFill>
                            <a:schemeClr val="accent2"/>
                          </a:solidFill>
                        </a:rPr>
                        <a:t>FROM</a:t>
                      </a:r>
                      <a:r>
                        <a:rPr lang="en-US" sz="2000" dirty="0">
                          <a:solidFill>
                            <a:schemeClr val="tx1"/>
                          </a:solidFill>
                        </a:rPr>
                        <a:t> CUSTOMER C, ORD O, ITEM I</a:t>
                      </a:r>
                    </a:p>
                    <a:p>
                      <a:pPr marL="119063" lvl="1" indent="0">
                        <a:spcBef>
                          <a:spcPts val="600"/>
                        </a:spcBef>
                        <a:buNone/>
                        <a:defRPr/>
                      </a:pPr>
                      <a:r>
                        <a:rPr lang="en-US" sz="2000" dirty="0">
                          <a:solidFill>
                            <a:schemeClr val="accent2"/>
                          </a:solidFill>
                        </a:rPr>
                        <a:t>JOIN </a:t>
                      </a:r>
                      <a:r>
                        <a:rPr lang="en-US" sz="2000" dirty="0">
                          <a:solidFill>
                            <a:schemeClr val="tx1"/>
                          </a:solidFill>
                        </a:rPr>
                        <a:t>ORD O ON </a:t>
                      </a:r>
                      <a:r>
                        <a:rPr lang="en-US" sz="2000" dirty="0">
                          <a:solidFill>
                            <a:srgbClr val="FF0000"/>
                          </a:solidFill>
                        </a:rPr>
                        <a:t>C. CUSTID = C. CUSTID</a:t>
                      </a:r>
                      <a:endParaRPr lang="en-US" sz="2000" dirty="0">
                        <a:solidFill>
                          <a:schemeClr val="accent2"/>
                        </a:solidFill>
                      </a:endParaRPr>
                    </a:p>
                    <a:p>
                      <a:pPr marL="119063" lvl="1" indent="0">
                        <a:spcBef>
                          <a:spcPts val="600"/>
                        </a:spcBef>
                        <a:buNone/>
                        <a:defRPr/>
                      </a:pPr>
                      <a:r>
                        <a:rPr lang="en-US" sz="2000" dirty="0">
                          <a:solidFill>
                            <a:schemeClr val="accent2"/>
                          </a:solidFill>
                        </a:rPr>
                        <a:t>JOIN</a:t>
                      </a:r>
                      <a:r>
                        <a:rPr lang="en-US" sz="2000" baseline="0" dirty="0">
                          <a:solidFill>
                            <a:srgbClr val="FF0000"/>
                          </a:solidFill>
                        </a:rPr>
                        <a:t> </a:t>
                      </a:r>
                      <a:r>
                        <a:rPr lang="en-US" sz="2000" dirty="0">
                          <a:solidFill>
                            <a:schemeClr val="tx1"/>
                          </a:solidFill>
                        </a:rPr>
                        <a:t>ITEM I ON </a:t>
                      </a:r>
                      <a:r>
                        <a:rPr lang="en-US" sz="2000" dirty="0">
                          <a:solidFill>
                            <a:srgbClr val="FF0000"/>
                          </a:solidFill>
                        </a:rPr>
                        <a:t>O. ORDID = I. ORDID</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39082">
                <a:tc>
                  <a:txBody>
                    <a:bodyPr/>
                    <a:lstStyle/>
                    <a:p>
                      <a:pPr marL="119063" lvl="1" indent="0">
                        <a:spcBef>
                          <a:spcPts val="600"/>
                        </a:spcBef>
                        <a:defRPr/>
                      </a:pPr>
                      <a:r>
                        <a:rPr lang="en-US" sz="2000" dirty="0">
                          <a:solidFill>
                            <a:schemeClr val="accent2"/>
                          </a:solidFill>
                        </a:rPr>
                        <a:t>SELECT </a:t>
                      </a:r>
                      <a:r>
                        <a:rPr lang="en-US" sz="2000" dirty="0">
                          <a:solidFill>
                            <a:schemeClr val="tx1"/>
                          </a:solidFill>
                        </a:rPr>
                        <a:t>E.ENAME, D.DEPTNO, DNAME, GRADE</a:t>
                      </a:r>
                      <a:r>
                        <a:rPr lang="en-US" sz="2000" dirty="0">
                          <a:solidFill>
                            <a:schemeClr val="accent2"/>
                          </a:solidFill>
                        </a:rPr>
                        <a:t> </a:t>
                      </a:r>
                    </a:p>
                    <a:p>
                      <a:pPr marL="119063" lvl="1" indent="0">
                        <a:spcBef>
                          <a:spcPts val="600"/>
                        </a:spcBef>
                        <a:defRPr/>
                      </a:pPr>
                      <a:r>
                        <a:rPr lang="en-US" sz="2000" dirty="0">
                          <a:solidFill>
                            <a:schemeClr val="accent2"/>
                          </a:solidFill>
                        </a:rPr>
                        <a:t>FROM </a:t>
                      </a:r>
                      <a:r>
                        <a:rPr lang="en-US" sz="2000" dirty="0">
                          <a:solidFill>
                            <a:schemeClr val="tx1"/>
                          </a:solidFill>
                        </a:rPr>
                        <a:t>EMP E</a:t>
                      </a:r>
                    </a:p>
                    <a:p>
                      <a:pPr marL="119063" lvl="1" indent="0">
                        <a:spcBef>
                          <a:spcPts val="600"/>
                        </a:spcBef>
                        <a:defRPr/>
                      </a:pPr>
                      <a:r>
                        <a:rPr lang="en-US" sz="2000" dirty="0">
                          <a:solidFill>
                            <a:schemeClr val="accent2"/>
                          </a:solidFill>
                        </a:rPr>
                        <a:t>JOIN </a:t>
                      </a:r>
                      <a:r>
                        <a:rPr lang="en-US" sz="2000" dirty="0">
                          <a:solidFill>
                            <a:schemeClr val="tx1"/>
                          </a:solidFill>
                        </a:rPr>
                        <a:t>DEPT D</a:t>
                      </a:r>
                      <a:r>
                        <a:rPr lang="en-US" sz="2000" dirty="0">
                          <a:solidFill>
                            <a:schemeClr val="accent2"/>
                          </a:solidFill>
                        </a:rPr>
                        <a:t> ON </a:t>
                      </a:r>
                      <a:r>
                        <a:rPr lang="en-US" sz="2000" dirty="0">
                          <a:solidFill>
                            <a:srgbClr val="FF0000"/>
                          </a:solidFill>
                        </a:rPr>
                        <a:t>E. DEPTNO = D.DEPTNO</a:t>
                      </a:r>
                    </a:p>
                    <a:p>
                      <a:pPr marL="119063" lvl="1" indent="0">
                        <a:spcBef>
                          <a:spcPts val="600"/>
                        </a:spcBef>
                        <a:defRPr/>
                      </a:pPr>
                      <a:r>
                        <a:rPr lang="en-US" sz="2000" dirty="0">
                          <a:solidFill>
                            <a:schemeClr val="accent2"/>
                          </a:solidFill>
                        </a:rPr>
                        <a:t>JOIN </a:t>
                      </a:r>
                      <a:r>
                        <a:rPr lang="en-US" sz="2000" dirty="0">
                          <a:solidFill>
                            <a:schemeClr val="tx1"/>
                          </a:solidFill>
                        </a:rPr>
                        <a:t>SALGRADE</a:t>
                      </a:r>
                      <a:r>
                        <a:rPr lang="en-US" sz="2000" dirty="0">
                          <a:solidFill>
                            <a:schemeClr val="accent2"/>
                          </a:solidFill>
                        </a:rPr>
                        <a:t> ON </a:t>
                      </a:r>
                      <a:r>
                        <a:rPr lang="en-US" sz="2000" dirty="0">
                          <a:solidFill>
                            <a:srgbClr val="FF0000"/>
                          </a:solidFill>
                        </a:rPr>
                        <a:t>SAL BETWEEN LOSAL AND HISAL</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919701"/>
                  </a:ext>
                </a:extLst>
              </a:tr>
            </a:tbl>
          </a:graphicData>
        </a:graphic>
      </p:graphicFrame>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6F85F5D6-04F7-AF65-1331-9199B8E891E4}"/>
              </a:ext>
            </a:extLst>
          </p:cNvPr>
          <p:cNvSpPr>
            <a:spLocks noGrp="1" noChangeArrowheads="1"/>
          </p:cNvSpPr>
          <p:nvPr>
            <p:ph type="title"/>
          </p:nvPr>
        </p:nvSpPr>
        <p:spPr>
          <a:xfrm>
            <a:off x="323850" y="660400"/>
            <a:ext cx="3887788" cy="536575"/>
          </a:xfrm>
        </p:spPr>
        <p:txBody>
          <a:bodyPr lIns="92075" tIns="46038" rIns="92075" bIns="46038" anchor="t"/>
          <a:lstStyle/>
          <a:p>
            <a:r>
              <a:rPr lang="en-US" altLang="en-US" sz="2800">
                <a:solidFill>
                  <a:srgbClr val="800000"/>
                </a:solidFill>
              </a:rPr>
              <a:t>Types of Joins - Recap</a:t>
            </a:r>
          </a:p>
        </p:txBody>
      </p:sp>
      <p:graphicFrame>
        <p:nvGraphicFramePr>
          <p:cNvPr id="2" name="Table 2">
            <a:extLst>
              <a:ext uri="{FF2B5EF4-FFF2-40B4-BE49-F238E27FC236}">
                <a16:creationId xmlns:a16="http://schemas.microsoft.com/office/drawing/2014/main" id="{56A88AD7-744C-69A1-CAE9-2D89811616FD}"/>
              </a:ext>
            </a:extLst>
          </p:cNvPr>
          <p:cNvGraphicFramePr>
            <a:graphicFrameLocks noGrp="1"/>
          </p:cNvGraphicFramePr>
          <p:nvPr/>
        </p:nvGraphicFramePr>
        <p:xfrm>
          <a:off x="287338" y="1293813"/>
          <a:ext cx="8569325" cy="5145176"/>
        </p:xfrm>
        <a:graphic>
          <a:graphicData uri="http://schemas.openxmlformats.org/drawingml/2006/table">
            <a:tbl>
              <a:tblPr firstRow="1" bandRow="1">
                <a:tableStyleId>{5C22544A-7EE6-4342-B048-85BDC9FD1C3A}</a:tableStyleId>
              </a:tblPr>
              <a:tblGrid>
                <a:gridCol w="2268409">
                  <a:extLst>
                    <a:ext uri="{9D8B030D-6E8A-4147-A177-3AD203B41FA5}">
                      <a16:colId xmlns:a16="http://schemas.microsoft.com/office/drawing/2014/main" val="20000"/>
                    </a:ext>
                  </a:extLst>
                </a:gridCol>
                <a:gridCol w="6300916">
                  <a:extLst>
                    <a:ext uri="{9D8B030D-6E8A-4147-A177-3AD203B41FA5}">
                      <a16:colId xmlns:a16="http://schemas.microsoft.com/office/drawing/2014/main" val="20001"/>
                    </a:ext>
                  </a:extLst>
                </a:gridCol>
              </a:tblGrid>
              <a:tr h="17039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err="1">
                          <a:solidFill>
                            <a:srgbClr val="FF0000"/>
                          </a:solidFill>
                          <a:latin typeface="+mn-lt"/>
                          <a:ea typeface="+mn-ea"/>
                          <a:cs typeface="+mn-cs"/>
                        </a:rPr>
                        <a:t>Equi</a:t>
                      </a:r>
                      <a:r>
                        <a:rPr lang="en-US" sz="2800" b="0" kern="1200" dirty="0">
                          <a:solidFill>
                            <a:schemeClr val="tx1"/>
                          </a:solidFill>
                          <a:latin typeface="+mn-lt"/>
                          <a:ea typeface="+mn-ea"/>
                          <a:cs typeface="+mn-cs"/>
                        </a:rPr>
                        <a:t> or </a:t>
                      </a:r>
                      <a:r>
                        <a:rPr lang="en-US" sz="2800" b="0" kern="1200" dirty="0">
                          <a:solidFill>
                            <a:srgbClr val="FF0000"/>
                          </a:solidFill>
                          <a:latin typeface="+mn-lt"/>
                          <a:ea typeface="+mn-ea"/>
                          <a:cs typeface="+mn-cs"/>
                        </a:rPr>
                        <a:t>Inner</a:t>
                      </a:r>
                      <a:r>
                        <a:rPr lang="en-US" sz="2800" b="0" kern="1200" dirty="0">
                          <a:solidFill>
                            <a:schemeClr val="tx1"/>
                          </a:solidFill>
                          <a:latin typeface="+mn-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chemeClr val="tx1"/>
                          </a:solidFill>
                          <a:latin typeface="+mn-lt"/>
                          <a:ea typeface="+mn-ea"/>
                          <a:cs typeface="+mn-cs"/>
                        </a:rPr>
                        <a:t>Join</a:t>
                      </a:r>
                      <a:endParaRPr lang="en-US" sz="1800" dirty="0"/>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737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Left Outer</a:t>
                      </a:r>
                      <a:r>
                        <a:rPr lang="en-US" sz="2800" b="0" dirty="0">
                          <a:solidFill>
                            <a:schemeClr val="tx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chemeClr val="tx1"/>
                          </a:solidFill>
                        </a:rPr>
                        <a:t>Join</a:t>
                      </a:r>
                      <a:endParaRPr lang="en-US" sz="28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7039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Right Outer</a:t>
                      </a:r>
                      <a:r>
                        <a:rPr lang="en-US" sz="2800" b="0" dirty="0">
                          <a:solidFill>
                            <a:schemeClr val="tx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chemeClr val="tx1"/>
                          </a:solidFill>
                        </a:rPr>
                        <a:t>Join</a:t>
                      </a:r>
                      <a:endParaRPr lang="en-US" sz="2800" dirty="0"/>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pic>
        <p:nvPicPr>
          <p:cNvPr id="76817" name="Picture 3">
            <a:extLst>
              <a:ext uri="{FF2B5EF4-FFF2-40B4-BE49-F238E27FC236}">
                <a16:creationId xmlns:a16="http://schemas.microsoft.com/office/drawing/2014/main" id="{2215C98F-3BC2-B4B6-275E-AFACF244E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319213"/>
            <a:ext cx="5545137"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8" name="Picture 5">
            <a:extLst>
              <a:ext uri="{FF2B5EF4-FFF2-40B4-BE49-F238E27FC236}">
                <a16:creationId xmlns:a16="http://schemas.microsoft.com/office/drawing/2014/main" id="{11C9CE00-8E71-3108-4F9E-7A92225D90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3089275"/>
            <a:ext cx="554513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9" name="Picture 7">
            <a:extLst>
              <a:ext uri="{FF2B5EF4-FFF2-40B4-BE49-F238E27FC236}">
                <a16:creationId xmlns:a16="http://schemas.microsoft.com/office/drawing/2014/main" id="{956859DE-F981-2D96-B43E-A9873C401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4767263"/>
            <a:ext cx="5581650"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7F55BB1-D9B8-AB56-91C6-6ADEDB90E86E}"/>
              </a:ext>
            </a:extLst>
          </p:cNvPr>
          <p:cNvSpPr>
            <a:spLocks noGrp="1" noChangeArrowheads="1"/>
          </p:cNvSpPr>
          <p:nvPr>
            <p:ph type="title"/>
          </p:nvPr>
        </p:nvSpPr>
        <p:spPr>
          <a:xfrm>
            <a:off x="323850" y="660400"/>
            <a:ext cx="3887788" cy="536575"/>
          </a:xfrm>
        </p:spPr>
        <p:txBody>
          <a:bodyPr lIns="92075" tIns="46038" rIns="92075" bIns="46038" anchor="t"/>
          <a:lstStyle/>
          <a:p>
            <a:r>
              <a:rPr lang="en-US" altLang="en-US" sz="2800">
                <a:solidFill>
                  <a:srgbClr val="800000"/>
                </a:solidFill>
              </a:rPr>
              <a:t>Types of Joins - Recap</a:t>
            </a:r>
          </a:p>
        </p:txBody>
      </p:sp>
      <p:pic>
        <p:nvPicPr>
          <p:cNvPr id="78851" name="Picture 4">
            <a:extLst>
              <a:ext uri="{FF2B5EF4-FFF2-40B4-BE49-F238E27FC236}">
                <a16:creationId xmlns:a16="http://schemas.microsoft.com/office/drawing/2014/main" id="{76056078-D874-2DE7-55B5-A8C65C99E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3" y="1341438"/>
            <a:ext cx="7116762"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2" name="Picture 8">
            <a:extLst>
              <a:ext uri="{FF2B5EF4-FFF2-40B4-BE49-F238E27FC236}">
                <a16:creationId xmlns:a16="http://schemas.microsoft.com/office/drawing/2014/main" id="{57345DD8-4F76-E45D-BD9B-A4F30FA4BF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932238"/>
            <a:ext cx="7140575"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A970ED3D-704C-E53A-0D20-1AC975D237CF}"/>
              </a:ext>
            </a:extLst>
          </p:cNvPr>
          <p:cNvSpPr>
            <a:spLocks noGrp="1" noChangeArrowheads="1"/>
          </p:cNvSpPr>
          <p:nvPr>
            <p:ph type="title"/>
          </p:nvPr>
        </p:nvSpPr>
        <p:spPr>
          <a:xfrm>
            <a:off x="323850" y="660400"/>
            <a:ext cx="3887788" cy="536575"/>
          </a:xfrm>
        </p:spPr>
        <p:txBody>
          <a:bodyPr lIns="92075" tIns="46038" rIns="92075" bIns="46038" anchor="t"/>
          <a:lstStyle/>
          <a:p>
            <a:r>
              <a:rPr lang="en-US" altLang="en-US" sz="2800">
                <a:solidFill>
                  <a:srgbClr val="800000"/>
                </a:solidFill>
              </a:rPr>
              <a:t>Types of Joins - Recap</a:t>
            </a:r>
          </a:p>
        </p:txBody>
      </p:sp>
      <p:pic>
        <p:nvPicPr>
          <p:cNvPr id="80899" name="Picture 3">
            <a:extLst>
              <a:ext uri="{FF2B5EF4-FFF2-40B4-BE49-F238E27FC236}">
                <a16:creationId xmlns:a16="http://schemas.microsoft.com/office/drawing/2014/main" id="{7D0AFB03-5734-757F-80AA-720F50559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341438"/>
            <a:ext cx="7632700"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0" name="Picture 6">
            <a:extLst>
              <a:ext uri="{FF2B5EF4-FFF2-40B4-BE49-F238E27FC236}">
                <a16:creationId xmlns:a16="http://schemas.microsoft.com/office/drawing/2014/main" id="{600FEDCE-E0A3-58DC-5F96-F4DDAC9248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895725"/>
            <a:ext cx="76358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7CD1480-265C-BA88-3867-06F62D622586}"/>
              </a:ext>
            </a:extLst>
          </p:cNvPr>
          <p:cNvSpPr>
            <a:spLocks noGrp="1" noChangeArrowheads="1"/>
          </p:cNvSpPr>
          <p:nvPr>
            <p:ph type="title"/>
          </p:nvPr>
        </p:nvSpPr>
        <p:spPr>
          <a:xfrm>
            <a:off x="433388" y="620713"/>
            <a:ext cx="4283075" cy="504825"/>
          </a:xfrm>
          <a:noFill/>
        </p:spPr>
        <p:txBody>
          <a:bodyPr lIns="92075" tIns="46038" rIns="92075" bIns="46038" anchor="t"/>
          <a:lstStyle/>
          <a:p>
            <a:r>
              <a:rPr lang="en-US" altLang="en-US" sz="2800">
                <a:solidFill>
                  <a:srgbClr val="800000"/>
                </a:solidFill>
              </a:rPr>
              <a:t>Practice Questions</a:t>
            </a:r>
          </a:p>
        </p:txBody>
      </p:sp>
      <p:sp>
        <p:nvSpPr>
          <p:cNvPr id="82947" name="Rectangle 3">
            <a:extLst>
              <a:ext uri="{FF2B5EF4-FFF2-40B4-BE49-F238E27FC236}">
                <a16:creationId xmlns:a16="http://schemas.microsoft.com/office/drawing/2014/main" id="{F55B7814-02EE-D610-A4A2-5AD16C2FBEF9}"/>
              </a:ext>
            </a:extLst>
          </p:cNvPr>
          <p:cNvSpPr>
            <a:spLocks noGrp="1" noChangeArrowheads="1"/>
          </p:cNvSpPr>
          <p:nvPr>
            <p:ph type="body" idx="1"/>
          </p:nvPr>
        </p:nvSpPr>
        <p:spPr>
          <a:xfrm>
            <a:off x="395288" y="1245691"/>
            <a:ext cx="8424862" cy="5927725"/>
          </a:xfrm>
        </p:spPr>
        <p:txBody>
          <a:bodyPr lIns="92075" tIns="46038" rIns="92075" bIns="46038">
            <a:spAutoFit/>
          </a:bodyPr>
          <a:lstStyle/>
          <a:p>
            <a:pPr marL="457200" indent="-457200" algn="just">
              <a:buFontTx/>
              <a:buAutoNum type="arabicPeriod"/>
            </a:pPr>
            <a:r>
              <a:rPr lang="en-US" altLang="en-US" sz="2400" dirty="0"/>
              <a:t>FIND THOSE EMPLOYEES WHO ARE WORKING IN ACCOUNTING DEPARTMENT.</a:t>
            </a:r>
          </a:p>
          <a:p>
            <a:pPr marL="457200" indent="-457200">
              <a:buFontTx/>
              <a:buAutoNum type="arabicPeriod"/>
            </a:pPr>
            <a:r>
              <a:rPr lang="en-US" altLang="en-US" sz="2400" dirty="0"/>
              <a:t>FIND THOSE EMPLOYEES WHOSE DEPARTMENT LOCATION IS NEWYORK.</a:t>
            </a:r>
          </a:p>
          <a:p>
            <a:pPr marL="457200" indent="-457200" algn="just">
              <a:buFontTx/>
              <a:buAutoNum type="arabicPeriod"/>
            </a:pPr>
            <a:r>
              <a:rPr lang="en-US" altLang="en-US" sz="2400" dirty="0"/>
              <a:t>Find the employees who have not been assigned to any department. (Rovers)</a:t>
            </a:r>
          </a:p>
          <a:p>
            <a:pPr marL="457200" indent="-457200" algn="just">
              <a:buFontTx/>
              <a:buAutoNum type="arabicPeriod"/>
            </a:pPr>
            <a:r>
              <a:rPr lang="en-US" altLang="en-US" sz="2400" dirty="0">
                <a:solidFill>
                  <a:srgbClr val="FF0000"/>
                </a:solidFill>
              </a:rPr>
              <a:t>LIST THOSE DEPARTMENTS WHO DOES NOT HAVE ANY EMPLOYEES.</a:t>
            </a:r>
          </a:p>
          <a:p>
            <a:pPr marL="457200" indent="-457200" algn="just">
              <a:buFontTx/>
              <a:buAutoNum type="arabicPeriod"/>
            </a:pPr>
            <a:r>
              <a:rPr lang="en-US" altLang="en-US" sz="2400" dirty="0"/>
              <a:t>FIND THE MANAGER OF 'SCOTT'.</a:t>
            </a:r>
          </a:p>
          <a:p>
            <a:pPr marL="457200" indent="-457200" algn="just"/>
            <a:endParaRPr lang="en-US" altLang="en-US" sz="2400" dirty="0"/>
          </a:p>
          <a:p>
            <a:pPr marL="457200" indent="-457200" algn="just"/>
            <a:endParaRPr lang="en-US" altLang="en-US" sz="2400" dirty="0"/>
          </a:p>
          <a:p>
            <a:pPr marL="457200" indent="-457200" algn="just"/>
            <a:endParaRPr lang="en-US" altLang="en-US" sz="2400" dirty="0"/>
          </a:p>
          <a:p>
            <a:pPr marL="457200" indent="-457200" algn="just"/>
            <a:endParaRPr lang="en-US" altLang="en-US" sz="2400" dirty="0"/>
          </a:p>
          <a:p>
            <a:pPr marL="457200" indent="-457200" algn="just"/>
            <a:endParaRPr lang="en-US" altLang="en-US" sz="2400" dirty="0"/>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C1067D1-FA43-96F0-2D28-41CE43F73839}"/>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84995" name="Rectangle 8">
            <a:extLst>
              <a:ext uri="{FF2B5EF4-FFF2-40B4-BE49-F238E27FC236}">
                <a16:creationId xmlns:a16="http://schemas.microsoft.com/office/drawing/2014/main" id="{9DAE6026-8BAB-BA59-F6EB-7B0C7B0688F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4996" name="Rectangle 9">
            <a:extLst>
              <a:ext uri="{FF2B5EF4-FFF2-40B4-BE49-F238E27FC236}">
                <a16:creationId xmlns:a16="http://schemas.microsoft.com/office/drawing/2014/main" id="{8E131278-23D9-DA88-E70C-FA6D67C22759}"/>
              </a:ext>
            </a:extLst>
          </p:cNvPr>
          <p:cNvSpPr>
            <a:spLocks noChangeArrowheads="1"/>
          </p:cNvSpPr>
          <p:nvPr/>
        </p:nvSpPr>
        <p:spPr bwMode="auto">
          <a:xfrm>
            <a:off x="539750" y="22764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a:p>
          <a:p>
            <a:pPr eaLnBrk="1" hangingPunct="1"/>
            <a:endParaRPr lang="en-US" altLang="en-US" sz="2400"/>
          </a:p>
          <a:p>
            <a:pPr eaLnBrk="1" hangingPunct="1"/>
            <a:endParaRPr lang="en-US" altLang="en-US" sz="2400"/>
          </a:p>
          <a:p>
            <a:pPr eaLnBrk="1" hangingPunct="1"/>
            <a:endParaRPr lang="en-US" altLang="en-US" sz="2400"/>
          </a:p>
          <a:p>
            <a:pPr eaLnBrk="1" hangingPunct="1">
              <a:buFontTx/>
              <a:buNone/>
            </a:pPr>
            <a:r>
              <a:rPr lang="de-AT" altLang="en-US" sz="900" b="1">
                <a:solidFill>
                  <a:srgbClr val="000066"/>
                </a:solidFill>
              </a:rPr>
              <a:t>			</a:t>
            </a:r>
            <a:r>
              <a:rPr lang="de-AT" altLang="en-US" sz="1200" b="1">
                <a:solidFill>
                  <a:schemeClr val="accent2"/>
                </a:solidFill>
                <a:latin typeface="Georgia" panose="02040502050405020303" pitchFamily="18" charset="0"/>
              </a:rPr>
              <a:t>Asif Sohail</a:t>
            </a:r>
          </a:p>
          <a:p>
            <a:pPr eaLnBrk="1" hangingPunct="1">
              <a:buFontTx/>
              <a:buNone/>
            </a:pPr>
            <a:r>
              <a:rPr lang="de-AT" altLang="en-US" sz="1200" b="1">
                <a:solidFill>
                  <a:srgbClr val="0000FF"/>
                </a:solidFill>
                <a:latin typeface="Georgia" panose="02040502050405020303" pitchFamily="18" charset="0"/>
              </a:rPr>
              <a:t>			</a:t>
            </a:r>
          </a:p>
          <a:p>
            <a:pPr eaLnBrk="1" hangingPunct="1">
              <a:buFontTx/>
              <a:buNone/>
            </a:pPr>
            <a:r>
              <a:rPr lang="de-AT" altLang="en-US" sz="1200" b="1">
                <a:solidFill>
                  <a:srgbClr val="0000FF"/>
                </a:solidFill>
                <a:latin typeface="Georgia" panose="02040502050405020303" pitchFamily="18" charset="0"/>
              </a:rPr>
              <a:t>			</a:t>
            </a:r>
            <a:r>
              <a:rPr lang="de-AT" altLang="en-US" sz="1200" b="1">
                <a:solidFill>
                  <a:srgbClr val="800000"/>
                </a:solidFill>
                <a:latin typeface="Georgia" panose="02040502050405020303" pitchFamily="18" charset="0"/>
              </a:rPr>
              <a:t>Assistant Professor</a:t>
            </a:r>
            <a:endParaRPr lang="de-AT" altLang="en-US" sz="1200">
              <a:solidFill>
                <a:srgbClr val="800000"/>
              </a:solidFill>
              <a:latin typeface="Georgia" panose="02040502050405020303" pitchFamily="18" charset="0"/>
            </a:endParaRPr>
          </a:p>
          <a:p>
            <a:pPr eaLnBrk="1" hangingPunct="1">
              <a:buFontTx/>
              <a:buNone/>
            </a:pPr>
            <a:r>
              <a:rPr lang="de-AT" altLang="en-US" sz="1200" b="1">
                <a:solidFill>
                  <a:srgbClr val="0000FF"/>
                </a:solidFill>
                <a:latin typeface="Georgia" panose="02040502050405020303" pitchFamily="18" charset="0"/>
              </a:rPr>
              <a:t>			</a:t>
            </a:r>
            <a:r>
              <a:rPr lang="de-AT" altLang="en-US" sz="1200">
                <a:solidFill>
                  <a:srgbClr val="0000FF"/>
                </a:solidFill>
                <a:latin typeface="Georgia" panose="02040502050405020303" pitchFamily="18" charset="0"/>
              </a:rPr>
              <a:t>University of the Punjab</a:t>
            </a:r>
          </a:p>
          <a:p>
            <a:pPr eaLnBrk="1" hangingPunct="1">
              <a:buFontTx/>
              <a:buNone/>
            </a:pPr>
            <a:r>
              <a:rPr lang="de-AT" altLang="en-US" sz="1200">
                <a:solidFill>
                  <a:srgbClr val="0000FF"/>
                </a:solidFill>
                <a:latin typeface="Georgia" panose="02040502050405020303" pitchFamily="18" charset="0"/>
              </a:rPr>
              <a:t>			Punjab University College of Information Technology (PUCIT)</a:t>
            </a:r>
          </a:p>
          <a:p>
            <a:pPr eaLnBrk="1" hangingPunct="1">
              <a:buFontTx/>
              <a:buNone/>
            </a:pPr>
            <a:r>
              <a:rPr lang="de-AT" altLang="en-US" sz="1200">
                <a:solidFill>
                  <a:srgbClr val="0000FF"/>
                </a:solidFill>
                <a:latin typeface="Georgia" panose="02040502050405020303" pitchFamily="18" charset="0"/>
              </a:rPr>
              <a:t>			Allama Iqbal (Old) Campus, Anarkali</a:t>
            </a:r>
          </a:p>
          <a:p>
            <a:pPr eaLnBrk="1" hangingPunct="1">
              <a:buFontTx/>
              <a:buNone/>
            </a:pPr>
            <a:r>
              <a:rPr lang="de-AT" altLang="en-US" sz="1200">
                <a:solidFill>
                  <a:srgbClr val="0000FF"/>
                </a:solidFill>
                <a:latin typeface="Georgia" panose="02040502050405020303" pitchFamily="18" charset="0"/>
              </a:rPr>
              <a:t>			Lahore, Pakistan</a:t>
            </a:r>
          </a:p>
          <a:p>
            <a:pPr eaLnBrk="1" hangingPunct="1">
              <a:buFontTx/>
              <a:buNone/>
            </a:pPr>
            <a:r>
              <a:rPr lang="de-AT" altLang="en-US" sz="1200" b="1">
                <a:solidFill>
                  <a:srgbClr val="0000FF"/>
                </a:solidFill>
                <a:latin typeface="Georgia" panose="02040502050405020303" pitchFamily="18" charset="0"/>
              </a:rPr>
              <a:t>	</a:t>
            </a:r>
            <a:r>
              <a:rPr lang="de-AT" altLang="en-US" sz="1200">
                <a:solidFill>
                  <a:srgbClr val="0000FF"/>
                </a:solidFill>
                <a:latin typeface="Georgia" panose="02040502050405020303" pitchFamily="18" charset="0"/>
              </a:rPr>
              <a:t>		Tel:                  +92-(0)42-111-923-923    Ext. </a:t>
            </a:r>
            <a:r>
              <a:rPr lang="de-AT" altLang="en-US" sz="1200">
                <a:solidFill>
                  <a:srgbClr val="0000FF"/>
                </a:solidFill>
                <a:latin typeface="Times New Roman" panose="02020603050405020304" pitchFamily="18" charset="0"/>
              </a:rPr>
              <a:t>154</a:t>
            </a:r>
          </a:p>
          <a:p>
            <a:pPr eaLnBrk="1" hangingPunct="1">
              <a:buFontTx/>
              <a:buNone/>
            </a:pPr>
            <a:r>
              <a:rPr lang="de-AT" altLang="en-US" sz="1200">
                <a:solidFill>
                  <a:srgbClr val="0000FF"/>
                </a:solidFill>
                <a:latin typeface="Georgia" panose="02040502050405020303" pitchFamily="18" charset="0"/>
              </a:rPr>
              <a:t>			E-mail:           asif@pucit.edu.pk</a:t>
            </a:r>
          </a:p>
          <a:p>
            <a:pPr eaLnBrk="1" hangingPunct="1"/>
            <a:endParaRPr lang="en-US" altLang="en-US" sz="1200">
              <a:solidFill>
                <a:srgbClr val="0000FF"/>
              </a:solidFill>
              <a:latin typeface="Georgia" panose="02040502050405020303" pitchFamily="18" charset="0"/>
            </a:endParaRPr>
          </a:p>
        </p:txBody>
      </p:sp>
      <p:pic>
        <p:nvPicPr>
          <p:cNvPr id="84997" name="Picture 10">
            <a:extLst>
              <a:ext uri="{FF2B5EF4-FFF2-40B4-BE49-F238E27FC236}">
                <a16:creationId xmlns:a16="http://schemas.microsoft.com/office/drawing/2014/main" id="{8BC1D37F-2D0E-DED8-5A47-978A8A83D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12">
            <a:extLst>
              <a:ext uri="{FF2B5EF4-FFF2-40B4-BE49-F238E27FC236}">
                <a16:creationId xmlns:a16="http://schemas.microsoft.com/office/drawing/2014/main" id="{6DC0A219-5DD5-3D7C-0422-7352ACB954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23758</TotalTime>
  <Words>8759</Words>
  <Application>Microsoft Office PowerPoint</Application>
  <PresentationFormat>On-screen Show (4:3)</PresentationFormat>
  <Paragraphs>1132</Paragraphs>
  <Slides>40</Slides>
  <Notes>39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8" baseType="lpstr">
      <vt:lpstr>Arial</vt:lpstr>
      <vt:lpstr>Courier New</vt:lpstr>
      <vt:lpstr>Wingdings</vt:lpstr>
      <vt:lpstr>Times New Roman</vt:lpstr>
      <vt:lpstr>Georgia</vt:lpstr>
      <vt:lpstr>Times</vt:lpstr>
      <vt:lpstr>Standarddesign</vt:lpstr>
      <vt:lpstr>Document</vt:lpstr>
      <vt:lpstr> (SQL)  Displaying Data  from Multiple Tables</vt:lpstr>
      <vt:lpstr>Objectives</vt:lpstr>
      <vt:lpstr>Obtaining Data from Multiple Tables</vt:lpstr>
      <vt:lpstr>What Is a Join?</vt:lpstr>
      <vt:lpstr>Types of Joins</vt:lpstr>
      <vt:lpstr>1. Cross Join or Cartesian Product</vt:lpstr>
      <vt:lpstr>Generating a Cartesian Product</vt:lpstr>
      <vt:lpstr>Joining Tables with Common Columns</vt:lpstr>
      <vt:lpstr>2. Natural Join</vt:lpstr>
      <vt:lpstr>3. Euijoin / Inner Join</vt:lpstr>
      <vt:lpstr>3. Euijoin / Inner Join</vt:lpstr>
      <vt:lpstr>Retrieving Records with Equijoin</vt:lpstr>
      <vt:lpstr>Using Table Aliases</vt:lpstr>
      <vt:lpstr>Ambiguous Column Names</vt:lpstr>
      <vt:lpstr>Resolving Ambiguous Column Names: Natural JOIN</vt:lpstr>
      <vt:lpstr>Resolving Ambiguous Column Names: USING clause</vt:lpstr>
      <vt:lpstr>Additional Search Conditions Using the AND Operator </vt:lpstr>
      <vt:lpstr>3. Outer Joins</vt:lpstr>
      <vt:lpstr>Outer Joins</vt:lpstr>
      <vt:lpstr>Outer Joins</vt:lpstr>
      <vt:lpstr>Outer Joins</vt:lpstr>
      <vt:lpstr>Left Outer Joins</vt:lpstr>
      <vt:lpstr>Right Outer Joins</vt:lpstr>
      <vt:lpstr>Illegal Queries  Using Outer Joins</vt:lpstr>
      <vt:lpstr>Using Left and Right Outer Join  in One Query</vt:lpstr>
      <vt:lpstr>4. Non-Equijoins</vt:lpstr>
      <vt:lpstr>4. Non-Equijoins</vt:lpstr>
      <vt:lpstr>Retrieving Records  with Non-Equijoins</vt:lpstr>
      <vt:lpstr>5. Self Joins</vt:lpstr>
      <vt:lpstr>Joining a Table to Itself</vt:lpstr>
      <vt:lpstr>Joining a Table to Itself</vt:lpstr>
      <vt:lpstr>Self Outer Join</vt:lpstr>
      <vt:lpstr>Joining More Than Two Tables</vt:lpstr>
      <vt:lpstr>Joining More Than Two Tables</vt:lpstr>
      <vt:lpstr>Joining More Than Two Tables</vt:lpstr>
      <vt:lpstr>Types of Joins - Recap</vt:lpstr>
      <vt:lpstr>Types of Joins - Recap</vt:lpstr>
      <vt:lpstr>Types of Joins - Recap</vt:lpstr>
      <vt:lpstr>Practice Questions</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840</cp:revision>
  <dcterms:created xsi:type="dcterms:W3CDTF">2006-05-17T12:38:56Z</dcterms:created>
  <dcterms:modified xsi:type="dcterms:W3CDTF">2024-10-14T13:23:42Z</dcterms:modified>
</cp:coreProperties>
</file>