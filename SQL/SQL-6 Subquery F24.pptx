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37"/>
  </p:notesMasterIdLst>
  <p:handoutMasterIdLst>
    <p:handoutMasterId r:id="rId38"/>
  </p:handoutMasterIdLst>
  <p:sldIdLst>
    <p:sldId id="256" r:id="rId2"/>
    <p:sldId id="467" r:id="rId3"/>
    <p:sldId id="468" r:id="rId4"/>
    <p:sldId id="469" r:id="rId5"/>
    <p:sldId id="470" r:id="rId6"/>
    <p:sldId id="505" r:id="rId7"/>
    <p:sldId id="500" r:id="rId8"/>
    <p:sldId id="472" r:id="rId9"/>
    <p:sldId id="471" r:id="rId10"/>
    <p:sldId id="473" r:id="rId11"/>
    <p:sldId id="474" r:id="rId12"/>
    <p:sldId id="475" r:id="rId13"/>
    <p:sldId id="496" r:id="rId14"/>
    <p:sldId id="476" r:id="rId15"/>
    <p:sldId id="507" r:id="rId16"/>
    <p:sldId id="477" r:id="rId17"/>
    <p:sldId id="478" r:id="rId18"/>
    <p:sldId id="479" r:id="rId19"/>
    <p:sldId id="484" r:id="rId20"/>
    <p:sldId id="480" r:id="rId21"/>
    <p:sldId id="481" r:id="rId22"/>
    <p:sldId id="494" r:id="rId23"/>
    <p:sldId id="504" r:id="rId24"/>
    <p:sldId id="486" r:id="rId25"/>
    <p:sldId id="487" r:id="rId26"/>
    <p:sldId id="488" r:id="rId27"/>
    <p:sldId id="491" r:id="rId28"/>
    <p:sldId id="492" r:id="rId29"/>
    <p:sldId id="493" r:id="rId30"/>
    <p:sldId id="498" r:id="rId31"/>
    <p:sldId id="502" r:id="rId32"/>
    <p:sldId id="503" r:id="rId33"/>
    <p:sldId id="495" r:id="rId34"/>
    <p:sldId id="501" r:id="rId35"/>
    <p:sldId id="508" r:id="rId36"/>
  </p:sldIdLst>
  <p:sldSz cx="9144000" cy="6858000" type="screen4x3"/>
  <p:notesSz cx="6858000" cy="92964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FFFF66"/>
    <a:srgbClr val="FF0000"/>
    <a:srgbClr val="00FF00"/>
    <a:srgbClr val="FFFFCC"/>
    <a:srgbClr val="99CCFF"/>
    <a:srgbClr val="3399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265" autoAdjust="0"/>
    <p:restoredTop sz="95256" autoAdjust="0"/>
  </p:normalViewPr>
  <p:slideViewPr>
    <p:cSldViewPr>
      <p:cViewPr varScale="1">
        <p:scale>
          <a:sx n="83" d="100"/>
          <a:sy n="83" d="100"/>
        </p:scale>
        <p:origin x="797"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44412C5B-B65C-2712-E7F1-61C1CF19407D}"/>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EFFB56AA-BD56-3378-95A6-53233533453F}"/>
              </a:ext>
            </a:extLst>
          </p:cNvPr>
          <p:cNvSpPr>
            <a:spLocks noGrp="1" noChangeArrowheads="1"/>
          </p:cNvSpPr>
          <p:nvPr>
            <p:ph type="dt" sz="quarter" idx="1"/>
          </p:nvPr>
        </p:nvSpPr>
        <p:spPr bwMode="auto">
          <a:xfrm>
            <a:off x="3884613" y="0"/>
            <a:ext cx="2973387"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BB9EABB3-A8C1-C48A-A094-35E07438B226}"/>
              </a:ext>
            </a:extLst>
          </p:cNvPr>
          <p:cNvSpPr>
            <a:spLocks noGrp="1" noChangeArrowheads="1"/>
          </p:cNvSpPr>
          <p:nvPr>
            <p:ph type="ftr" sz="quarter" idx="2"/>
          </p:nvPr>
        </p:nvSpPr>
        <p:spPr bwMode="auto">
          <a:xfrm>
            <a:off x="0" y="8831263"/>
            <a:ext cx="2973388"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FF507724-855D-4FBF-306A-2C30CC7BF5D2}"/>
              </a:ext>
            </a:extLst>
          </p:cNvPr>
          <p:cNvSpPr>
            <a:spLocks noGrp="1" noChangeArrowheads="1"/>
          </p:cNvSpPr>
          <p:nvPr>
            <p:ph type="sldNum" sz="quarter" idx="3"/>
          </p:nvPr>
        </p:nvSpPr>
        <p:spPr bwMode="auto">
          <a:xfrm>
            <a:off x="3884613" y="8831263"/>
            <a:ext cx="2973387"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AA6F8CDB-CE96-4778-B1ED-AE7A7D5D173D}"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624FBE4-72FF-D202-CD9E-D30055181C07}"/>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7B8CB51B-4EE9-8AC1-4E97-A2C1F62F9C3E}"/>
              </a:ext>
            </a:extLst>
          </p:cNvPr>
          <p:cNvSpPr>
            <a:spLocks noGrp="1" noChangeArrowheads="1"/>
          </p:cNvSpPr>
          <p:nvPr>
            <p:ph type="dt" idx="1"/>
          </p:nvPr>
        </p:nvSpPr>
        <p:spPr bwMode="auto">
          <a:xfrm>
            <a:off x="3883025"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2052" name="Rectangle 4">
            <a:extLst>
              <a:ext uri="{FF2B5EF4-FFF2-40B4-BE49-F238E27FC236}">
                <a16:creationId xmlns:a16="http://schemas.microsoft.com/office/drawing/2014/main" id="{25DEB104-3B61-F3EC-B2F4-C447AB2D2510}"/>
              </a:ext>
            </a:extLst>
          </p:cNvPr>
          <p:cNvSpPr>
            <a:spLocks noGrp="1" noRo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0FAFEB8-99BA-362A-67A9-05EDBFAEA0B1}"/>
              </a:ext>
            </a:extLst>
          </p:cNvPr>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4329CDEA-61CA-8C0D-998C-D6F47EB10D7A}"/>
              </a:ext>
            </a:extLst>
          </p:cNvPr>
          <p:cNvSpPr>
            <a:spLocks noGrp="1" noChangeArrowheads="1"/>
          </p:cNvSpPr>
          <p:nvPr>
            <p:ph type="ftr" sz="quarter" idx="4"/>
          </p:nvPr>
        </p:nvSpPr>
        <p:spPr bwMode="auto">
          <a:xfrm>
            <a:off x="0"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E7663C80-E5F8-3F72-B2D2-EFE4F1331A84}"/>
              </a:ext>
            </a:extLst>
          </p:cNvPr>
          <p:cNvSpPr>
            <a:spLocks noGrp="1" noChangeArrowheads="1"/>
          </p:cNvSpPr>
          <p:nvPr>
            <p:ph type="sldNum" sz="quarter" idx="5"/>
          </p:nvPr>
        </p:nvSpPr>
        <p:spPr bwMode="auto">
          <a:xfrm>
            <a:off x="3883025"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EE61BA91-CBF7-4005-B9C4-A26626159C2F}"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8198689D-E1C1-F3DA-6F61-E895E35EFF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spcBef>
                <a:spcPct val="30000"/>
              </a:spcBef>
              <a:defRPr sz="1200">
                <a:solidFill>
                  <a:schemeClr val="tx1"/>
                </a:solidFill>
                <a:latin typeface="Arial" panose="020B0604020202020204" pitchFamily="34" charset="0"/>
              </a:defRPr>
            </a:lvl1pPr>
            <a:lvl2pPr marL="742950" indent="-285750" defTabSz="892175">
              <a:spcBef>
                <a:spcPct val="30000"/>
              </a:spcBef>
              <a:defRPr sz="1200">
                <a:solidFill>
                  <a:schemeClr val="tx1"/>
                </a:solidFill>
                <a:latin typeface="Arial" panose="020B0604020202020204" pitchFamily="34" charset="0"/>
              </a:defRPr>
            </a:lvl2pPr>
            <a:lvl3pPr marL="1143000" indent="-228600" defTabSz="892175">
              <a:spcBef>
                <a:spcPct val="30000"/>
              </a:spcBef>
              <a:defRPr sz="1200">
                <a:solidFill>
                  <a:schemeClr val="tx1"/>
                </a:solidFill>
                <a:latin typeface="Arial" panose="020B0604020202020204" pitchFamily="34" charset="0"/>
              </a:defRPr>
            </a:lvl3pPr>
            <a:lvl4pPr marL="1600200" indent="-228600" defTabSz="892175">
              <a:spcBef>
                <a:spcPct val="30000"/>
              </a:spcBef>
              <a:defRPr sz="1200">
                <a:solidFill>
                  <a:schemeClr val="tx1"/>
                </a:solidFill>
                <a:latin typeface="Arial" panose="020B0604020202020204" pitchFamily="34" charset="0"/>
              </a:defRPr>
            </a:lvl4pPr>
            <a:lvl5pPr marL="2057400" indent="-228600" defTabSz="892175">
              <a:spcBef>
                <a:spcPct val="30000"/>
              </a:spcBef>
              <a:defRPr sz="1200">
                <a:solidFill>
                  <a:schemeClr val="tx1"/>
                </a:solidFill>
                <a:latin typeface="Arial" panose="020B0604020202020204" pitchFamily="34" charset="0"/>
              </a:defRPr>
            </a:lvl5pPr>
            <a:lvl6pPr marL="2514600" indent="-228600" defTabSz="8921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21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21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21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58C8C6-B88F-41BB-8D63-72362F7CDE02}" type="slidenum">
              <a:rPr lang="de-AT" altLang="en-US" smtClean="0"/>
              <a:pPr>
                <a:spcBef>
                  <a:spcPct val="0"/>
                </a:spcBef>
              </a:pPr>
              <a:t>1</a:t>
            </a:fld>
            <a:endParaRPr lang="de-AT" altLang="en-US"/>
          </a:p>
        </p:txBody>
      </p:sp>
      <p:sp>
        <p:nvSpPr>
          <p:cNvPr id="5123" name="Rectangle 2">
            <a:extLst>
              <a:ext uri="{FF2B5EF4-FFF2-40B4-BE49-F238E27FC236}">
                <a16:creationId xmlns:a16="http://schemas.microsoft.com/office/drawing/2014/main" id="{BE4CCA00-CF9E-1472-DE3D-276B60A31591}"/>
              </a:ext>
            </a:extLst>
          </p:cNvPr>
          <p:cNvSpPr>
            <a:spLocks noGrp="1" noRot="1" noChangeArrowheads="1" noTextEdit="1"/>
          </p:cNvSpPr>
          <p:nvPr>
            <p:ph type="sldImg"/>
          </p:nvPr>
        </p:nvSpPr>
        <p:spPr>
          <a:ln/>
        </p:spPr>
      </p:sp>
      <p:sp>
        <p:nvSpPr>
          <p:cNvPr id="5124" name="Rectangle 3">
            <a:extLst>
              <a:ext uri="{FF2B5EF4-FFF2-40B4-BE49-F238E27FC236}">
                <a16:creationId xmlns:a16="http://schemas.microsoft.com/office/drawing/2014/main" id="{10CCDEDF-AC86-9243-D3C4-AFAFE7FA3A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7256594B-0128-2450-F00D-5DF0F8A7BD51}"/>
              </a:ext>
            </a:extLst>
          </p:cNvPr>
          <p:cNvSpPr>
            <a:spLocks noChangeArrowheads="1"/>
          </p:cNvSpPr>
          <p:nvPr/>
        </p:nvSpPr>
        <p:spPr bwMode="auto">
          <a:xfrm>
            <a:off x="3883025" y="0"/>
            <a:ext cx="2976563"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171" name="Rectangle 3">
            <a:extLst>
              <a:ext uri="{FF2B5EF4-FFF2-40B4-BE49-F238E27FC236}">
                <a16:creationId xmlns:a16="http://schemas.microsoft.com/office/drawing/2014/main" id="{DB911A6B-0411-BAE4-D9F7-7EE414094E1E}"/>
              </a:ext>
            </a:extLst>
          </p:cNvPr>
          <p:cNvSpPr>
            <a:spLocks noChangeArrowheads="1"/>
          </p:cNvSpPr>
          <p:nvPr/>
        </p:nvSpPr>
        <p:spPr bwMode="auto">
          <a:xfrm>
            <a:off x="-3175" y="0"/>
            <a:ext cx="2973388"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172" name="Rectangle 4">
            <a:extLst>
              <a:ext uri="{FF2B5EF4-FFF2-40B4-BE49-F238E27FC236}">
                <a16:creationId xmlns:a16="http://schemas.microsoft.com/office/drawing/2014/main" id="{A203275C-A467-7C90-2518-34975DE3F936}"/>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82588"/>
            <a:r>
              <a:rPr lang="en-US" altLang="en-US">
                <a:latin typeface="Arial" panose="020B0604020202020204" pitchFamily="34" charset="0"/>
              </a:rPr>
              <a:t>Lesson Aim</a:t>
            </a:r>
          </a:p>
          <a:p>
            <a:pPr marL="114300" lvl="1" defTabSz="382588"/>
            <a:r>
              <a:rPr lang="en-US" altLang="en-US">
                <a:solidFill>
                  <a:srgbClr val="000000"/>
                </a:solidFill>
                <a:latin typeface="Arial" panose="020B0604020202020204" pitchFamily="34" charset="0"/>
              </a:rPr>
              <a:t>In this lesson, you will learn about more advanced features of the SELECT statement. You can write subqueries in the WHERE clause of another SQL statement to obtain values based on an unknown conditional value. This lesson covers single-row subqueries and multiple-row subqueries.</a:t>
            </a:r>
          </a:p>
        </p:txBody>
      </p:sp>
      <p:sp>
        <p:nvSpPr>
          <p:cNvPr id="7173" name="Rectangle 5">
            <a:extLst>
              <a:ext uri="{FF2B5EF4-FFF2-40B4-BE49-F238E27FC236}">
                <a16:creationId xmlns:a16="http://schemas.microsoft.com/office/drawing/2014/main" id="{B4C06828-6B3F-C612-11CB-8103971BB191}"/>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EDF6BF11-5A44-A822-5488-A8E5DF99BDDD}"/>
              </a:ext>
            </a:extLst>
          </p:cNvPr>
          <p:cNvSpPr>
            <a:spLocks noChangeArrowheads="1"/>
          </p:cNvSpPr>
          <p:nvPr/>
        </p:nvSpPr>
        <p:spPr bwMode="auto">
          <a:xfrm>
            <a:off x="3884613" y="-1588"/>
            <a:ext cx="2973387" cy="466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9219" name="Rectangle 3">
            <a:extLst>
              <a:ext uri="{FF2B5EF4-FFF2-40B4-BE49-F238E27FC236}">
                <a16:creationId xmlns:a16="http://schemas.microsoft.com/office/drawing/2014/main" id="{2773265C-DF9C-81B1-9504-6828C0572F11}"/>
              </a:ext>
            </a:extLst>
          </p:cNvPr>
          <p:cNvSpPr>
            <a:spLocks noChangeArrowheads="1"/>
          </p:cNvSpPr>
          <p:nvPr/>
        </p:nvSpPr>
        <p:spPr bwMode="auto">
          <a:xfrm>
            <a:off x="-1588" y="-1588"/>
            <a:ext cx="2970213" cy="466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9220" name="Rectangle 4">
            <a:extLst>
              <a:ext uri="{FF2B5EF4-FFF2-40B4-BE49-F238E27FC236}">
                <a16:creationId xmlns:a16="http://schemas.microsoft.com/office/drawing/2014/main" id="{C6C644CC-43EC-883F-4403-F973DBCF911F}"/>
              </a:ext>
            </a:extLst>
          </p:cNvPr>
          <p:cNvSpPr>
            <a:spLocks noGrp="1" noChangeArrowheads="1"/>
          </p:cNvSpPr>
          <p:nvPr>
            <p:ph type="body" idx="1"/>
          </p:nvPr>
        </p:nvSpPr>
        <p:spPr>
          <a:xfrm>
            <a:off x="455613" y="4849813"/>
            <a:ext cx="5875337"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77825">
              <a:tabLst>
                <a:tab pos="442913" algn="l"/>
              </a:tabLst>
            </a:pPr>
            <a:r>
              <a:rPr lang="en-US" altLang="en-US">
                <a:latin typeface="Arial" panose="020B0604020202020204" pitchFamily="34" charset="0"/>
              </a:rPr>
              <a:t>Using a Subquery to Solve a Problem</a:t>
            </a:r>
          </a:p>
          <a:p>
            <a:pPr marL="114300" lvl="1" defTabSz="377825">
              <a:tabLst>
                <a:tab pos="442913" algn="l"/>
              </a:tabLst>
            </a:pPr>
            <a:r>
              <a:rPr lang="en-US" altLang="en-US">
                <a:latin typeface="Arial" panose="020B0604020202020204" pitchFamily="34" charset="0"/>
              </a:rPr>
              <a:t>Suppose you want to write a query to find out who earns a salary greater than Jones’ salary. </a:t>
            </a:r>
          </a:p>
          <a:p>
            <a:pPr marL="114300" lvl="1" defTabSz="377825">
              <a:tabLst>
                <a:tab pos="442913" algn="l"/>
              </a:tabLst>
            </a:pPr>
            <a:r>
              <a:rPr lang="en-US" altLang="en-US">
                <a:latin typeface="Arial" panose="020B0604020202020204" pitchFamily="34" charset="0"/>
              </a:rPr>
              <a:t>To solve this problem, you need </a:t>
            </a:r>
            <a:r>
              <a:rPr lang="en-US" altLang="en-US" i="1">
                <a:latin typeface="Arial" panose="020B0604020202020204" pitchFamily="34" charset="0"/>
              </a:rPr>
              <a:t>two</a:t>
            </a:r>
            <a:r>
              <a:rPr lang="en-US" altLang="en-US">
                <a:latin typeface="Arial" panose="020B0604020202020204" pitchFamily="34" charset="0"/>
              </a:rPr>
              <a:t> queries: one query to find what Jones earns and a second query to find who earns more than that amount. </a:t>
            </a:r>
          </a:p>
          <a:p>
            <a:pPr marL="114300" lvl="1" defTabSz="377825">
              <a:tabLst>
                <a:tab pos="442913" algn="l"/>
              </a:tabLst>
            </a:pPr>
            <a:r>
              <a:rPr lang="en-US" altLang="en-US">
                <a:latin typeface="Arial" panose="020B0604020202020204" pitchFamily="34" charset="0"/>
              </a:rPr>
              <a:t>You can solve this problem by combining the two queries, placing one query </a:t>
            </a:r>
            <a:r>
              <a:rPr lang="en-US" altLang="en-US" i="1">
                <a:latin typeface="Arial" panose="020B0604020202020204" pitchFamily="34" charset="0"/>
              </a:rPr>
              <a:t>inside</a:t>
            </a:r>
            <a:r>
              <a:rPr lang="en-US" altLang="en-US">
                <a:latin typeface="Arial" panose="020B0604020202020204" pitchFamily="34" charset="0"/>
              </a:rPr>
              <a:t> the other query. </a:t>
            </a:r>
          </a:p>
          <a:p>
            <a:pPr marL="114300" lvl="1" defTabSz="377825">
              <a:tabLst>
                <a:tab pos="442913" algn="l"/>
              </a:tabLst>
            </a:pPr>
            <a:r>
              <a:rPr lang="en-US" altLang="en-US">
                <a:latin typeface="Arial" panose="020B0604020202020204" pitchFamily="34" charset="0"/>
              </a:rPr>
              <a:t>The inner query or the </a:t>
            </a:r>
            <a:r>
              <a:rPr lang="en-US" altLang="en-US" i="1">
                <a:latin typeface="Arial" panose="020B0604020202020204" pitchFamily="34" charset="0"/>
              </a:rPr>
              <a:t>subquery</a:t>
            </a:r>
            <a:r>
              <a:rPr lang="en-US" altLang="en-US">
                <a:latin typeface="Arial" panose="020B0604020202020204" pitchFamily="34" charset="0"/>
              </a:rPr>
              <a:t> returns a value that is used by the outer query or the main query. Using a subquery is equivalent to performing two sequential queries and using the result of the first query as the search value in the second query.</a:t>
            </a:r>
          </a:p>
          <a:p>
            <a:pPr marL="436563" lvl="2" indent="-207963" defTabSz="377825">
              <a:tabLst>
                <a:tab pos="442913" algn="l"/>
              </a:tabLst>
            </a:pPr>
            <a:endParaRPr lang="en-US" altLang="en-US">
              <a:latin typeface="Arial" panose="020B0604020202020204" pitchFamily="34" charset="0"/>
            </a:endParaRPr>
          </a:p>
          <a:p>
            <a:pPr defTabSz="377825">
              <a:tabLst>
                <a:tab pos="442913" algn="l"/>
              </a:tabLst>
            </a:pPr>
            <a:endParaRPr lang="en-US" altLang="en-US">
              <a:latin typeface="Times New Roman" panose="02020603050405020304" pitchFamily="18" charset="0"/>
            </a:endParaRPr>
          </a:p>
          <a:p>
            <a:pPr defTabSz="377825">
              <a:tabLst>
                <a:tab pos="442913" algn="l"/>
              </a:tabLst>
            </a:pPr>
            <a:endParaRPr lang="en-US" altLang="en-US">
              <a:latin typeface="Times New Roman" panose="02020603050405020304" pitchFamily="18" charset="0"/>
            </a:endParaRPr>
          </a:p>
          <a:p>
            <a:pPr defTabSz="377825">
              <a:tabLst>
                <a:tab pos="442913" algn="l"/>
              </a:tabLst>
            </a:pPr>
            <a:endParaRPr lang="en-US" altLang="en-US">
              <a:solidFill>
                <a:schemeClr val="accent1"/>
              </a:solidFill>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defTabSz="377825">
              <a:tabLst>
                <a:tab pos="442913" algn="l"/>
              </a:tabLst>
            </a:pPr>
            <a:endParaRPr lang="en-US" altLang="en-US" b="1">
              <a:latin typeface="Times New Roman" panose="02020603050405020304" pitchFamily="18" charset="0"/>
            </a:endParaRPr>
          </a:p>
        </p:txBody>
      </p:sp>
      <p:sp>
        <p:nvSpPr>
          <p:cNvPr id="9221" name="Rectangle 5">
            <a:extLst>
              <a:ext uri="{FF2B5EF4-FFF2-40B4-BE49-F238E27FC236}">
                <a16:creationId xmlns:a16="http://schemas.microsoft.com/office/drawing/2014/main" id="{C2ECEB80-97B8-5111-986D-B162C5EB7C8F}"/>
              </a:ext>
            </a:extLst>
          </p:cNvPr>
          <p:cNvSpPr>
            <a:spLocks noGrp="1" noRot="1" noChangeArrowheads="1" noTextEdit="1"/>
          </p:cNvSpPr>
          <p:nvPr>
            <p:ph type="sldImg"/>
          </p:nvPr>
        </p:nvSpPr>
        <p:spPr>
          <a:xfrm>
            <a:off x="406400" y="171450"/>
            <a:ext cx="6037263" cy="452755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2176C64-6D55-E643-162F-B8F2D43799DF}"/>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r>
              <a:rPr lang="en-US" altLang="en-US">
                <a:latin typeface="Arial" panose="020B0604020202020204" pitchFamily="34" charset="0"/>
              </a:rPr>
              <a:t>Subqueries</a:t>
            </a:r>
          </a:p>
          <a:p>
            <a:pPr lvl="1"/>
            <a:r>
              <a:rPr lang="en-US" altLang="en-US">
                <a:latin typeface="Arial" panose="020B0604020202020204" pitchFamily="34" charset="0"/>
              </a:rPr>
              <a:t>A </a:t>
            </a:r>
            <a:r>
              <a:rPr lang="en-US" altLang="en-US">
                <a:solidFill>
                  <a:srgbClr val="FC0128"/>
                </a:solidFill>
                <a:latin typeface="Arial" panose="020B0604020202020204" pitchFamily="34" charset="0"/>
              </a:rPr>
              <a:t>subquery </a:t>
            </a:r>
            <a:r>
              <a:rPr lang="en-US" altLang="en-US">
                <a:latin typeface="Arial" panose="020B0604020202020204" pitchFamily="34" charset="0"/>
              </a:rPr>
              <a:t>is a SELECT statement that is embedded in a clause of another SELECT statement. </a:t>
            </a:r>
            <a:r>
              <a:rPr lang="en-US" altLang="en-US">
                <a:latin typeface="Times" panose="02020603050405020304" pitchFamily="18" charset="0"/>
              </a:rPr>
              <a:t>You can build powerful statements out of simple ones by using subqueries. They can be very useful when you need to select rows from a table with a condition that depends on the data in the table itself.</a:t>
            </a:r>
          </a:p>
          <a:p>
            <a:pPr lvl="1"/>
            <a:r>
              <a:rPr lang="en-US" altLang="en-US">
                <a:latin typeface="Arial" panose="020B0604020202020204" pitchFamily="34" charset="0"/>
              </a:rPr>
              <a:t>You can place the subquery in a number of SQL clauses: </a:t>
            </a:r>
          </a:p>
          <a:p>
            <a:pPr lvl="2"/>
            <a:r>
              <a:rPr lang="en-US" altLang="en-US">
                <a:latin typeface="Arial" panose="020B0604020202020204" pitchFamily="34" charset="0"/>
              </a:rPr>
              <a:t>WHERE clause</a:t>
            </a:r>
          </a:p>
          <a:p>
            <a:pPr lvl="2"/>
            <a:r>
              <a:rPr lang="en-US" altLang="en-US">
                <a:latin typeface="Arial" panose="020B0604020202020204" pitchFamily="34" charset="0"/>
              </a:rPr>
              <a:t>HAVING clause</a:t>
            </a:r>
          </a:p>
          <a:p>
            <a:pPr lvl="2"/>
            <a:r>
              <a:rPr lang="en-US" altLang="en-US">
                <a:latin typeface="Arial" panose="020B0604020202020204" pitchFamily="34" charset="0"/>
              </a:rPr>
              <a:t>FROM clause</a:t>
            </a:r>
          </a:p>
          <a:p>
            <a:pPr lvl="1"/>
            <a:r>
              <a:rPr lang="en-US" altLang="en-US">
                <a:latin typeface="Arial" panose="020B0604020202020204" pitchFamily="34" charset="0"/>
              </a:rPr>
              <a:t>In the syntax:</a:t>
            </a:r>
          </a:p>
          <a:p>
            <a:pPr algn="just">
              <a:lnSpc>
                <a:spcPct val="112000"/>
              </a:lnSpc>
              <a:spcBef>
                <a:spcPct val="0"/>
              </a:spcBef>
            </a:pPr>
            <a:r>
              <a:rPr lang="en-US" altLang="en-US" b="1" i="1">
                <a:latin typeface="Times" panose="02020603050405020304" pitchFamily="18" charset="0"/>
              </a:rPr>
              <a:t>	operator</a:t>
            </a:r>
            <a:r>
              <a:rPr lang="en-US" altLang="en-US" b="1">
                <a:latin typeface="Times" panose="02020603050405020304" pitchFamily="18" charset="0"/>
              </a:rPr>
              <a:t> 	includes a comparison operator such as &gt;, =, or IN</a:t>
            </a:r>
          </a:p>
          <a:p>
            <a:pPr lvl="1"/>
            <a:r>
              <a:rPr lang="en-US" altLang="en-US" b="1">
                <a:latin typeface="Arial" panose="020B0604020202020204" pitchFamily="34" charset="0"/>
              </a:rPr>
              <a:t>Note:</a:t>
            </a:r>
            <a:r>
              <a:rPr lang="en-US" altLang="en-US">
                <a:latin typeface="Arial" panose="020B0604020202020204" pitchFamily="34" charset="0"/>
              </a:rPr>
              <a:t> Comparison operators fall into two classes: single-row operators (&gt;, =, &gt;=, &lt;, &lt;&gt;, &lt;=) and multiple-row operators (IN, ANY, ALL).</a:t>
            </a:r>
          </a:p>
          <a:p>
            <a:pPr lvl="1"/>
            <a:r>
              <a:rPr lang="en-US" altLang="en-US">
                <a:latin typeface="Arial" panose="020B0604020202020204" pitchFamily="34" charset="0"/>
              </a:rPr>
              <a:t>The subquery is often referred to as a nested SELECT, sub-SELECT, or inner SELECT statement. The subquery generally executes first, and its output is used to complete the query condition for the main or outer query.</a:t>
            </a: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Additionally, subqueries can be placed in the CREATE VIEW statement, CREATE TABLE statement, UPDATE clause, INTO clause of an INSERT statement, and SET clause of an UPDATE statement.</a:t>
            </a:r>
            <a:r>
              <a:rPr lang="en-US" altLang="en-US">
                <a:latin typeface="Arial" panose="020B0604020202020204" pitchFamily="34" charset="0"/>
              </a:rPr>
              <a:t> </a:t>
            </a:r>
          </a:p>
        </p:txBody>
      </p:sp>
      <p:sp>
        <p:nvSpPr>
          <p:cNvPr id="11267" name="Rectangle 3">
            <a:extLst>
              <a:ext uri="{FF2B5EF4-FFF2-40B4-BE49-F238E27FC236}">
                <a16:creationId xmlns:a16="http://schemas.microsoft.com/office/drawing/2014/main" id="{FA20E23B-CCB6-7F3C-3842-0F9E34700090}"/>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7D84746-3C4B-A8E4-7B67-263A57AC6586}"/>
              </a:ext>
            </a:extLst>
          </p:cNvPr>
          <p:cNvSpPr>
            <a:spLocks noGrp="1" noRot="1" noChangeArrowheads="1" noTextEdit="1"/>
          </p:cNvSpPr>
          <p:nvPr>
            <p:ph type="sldImg"/>
          </p:nvPr>
        </p:nvSpPr>
        <p:spPr>
          <a:xfrm>
            <a:off x="406400" y="171450"/>
            <a:ext cx="6037263" cy="452755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5" name="Rectangle 3">
            <a:extLst>
              <a:ext uri="{FF2B5EF4-FFF2-40B4-BE49-F238E27FC236}">
                <a16:creationId xmlns:a16="http://schemas.microsoft.com/office/drawing/2014/main" id="{899A3D57-6B13-E030-0740-2B5E17E058F5}"/>
              </a:ext>
            </a:extLst>
          </p:cNvPr>
          <p:cNvSpPr>
            <a:spLocks noGrp="1" noChangeArrowheads="1"/>
          </p:cNvSpPr>
          <p:nvPr>
            <p:ph type="body" idx="1"/>
          </p:nvPr>
        </p:nvSpPr>
        <p:spPr>
          <a:xfrm>
            <a:off x="455613" y="4849813"/>
            <a:ext cx="5811837"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77825">
              <a:tabLst>
                <a:tab pos="442913" algn="l"/>
              </a:tabLst>
            </a:pPr>
            <a:r>
              <a:rPr lang="en-US" altLang="en-US">
                <a:latin typeface="Arial" panose="020B0604020202020204" pitchFamily="34" charset="0"/>
              </a:rPr>
              <a:t>Using a Subquery</a:t>
            </a:r>
          </a:p>
          <a:p>
            <a:pPr marL="114300" lvl="1" defTabSz="377825">
              <a:tabLst>
                <a:tab pos="442913" algn="l"/>
              </a:tabLst>
            </a:pPr>
            <a:r>
              <a:rPr lang="en-US" altLang="en-US">
                <a:latin typeface="Arial" panose="020B0604020202020204" pitchFamily="34" charset="0"/>
              </a:rPr>
              <a:t>In the slide, the inner query determines the salary of employee 7566. The outer query takes the result of the inner query and uses this result to display all the employees who earn more than this amount.</a:t>
            </a: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defTabSz="377825">
              <a:tabLst>
                <a:tab pos="442913" algn="l"/>
              </a:tabLst>
            </a:pPr>
            <a:endParaRPr lang="en-US" altLang="en-US">
              <a:solidFill>
                <a:schemeClr val="accent1"/>
              </a:solidFill>
              <a:latin typeface="Arial" panose="020B0604020202020204" pitchFamily="34" charset="0"/>
            </a:endParaRPr>
          </a:p>
          <a:p>
            <a:pPr defTabSz="377825">
              <a:tabLst>
                <a:tab pos="442913" algn="l"/>
              </a:tabLst>
            </a:pPr>
            <a:endParaRPr lang="en-US" altLang="en-US">
              <a:solidFill>
                <a:schemeClr val="accent1"/>
              </a:solidFill>
              <a:latin typeface="Arial" panose="020B0604020202020204" pitchFamily="34" charset="0"/>
            </a:endParaRPr>
          </a:p>
          <a:p>
            <a:pPr defTabSz="377825">
              <a:tabLst>
                <a:tab pos="442913" algn="l"/>
              </a:tabLst>
            </a:pPr>
            <a:r>
              <a:rPr lang="en-US" altLang="en-US">
                <a:solidFill>
                  <a:schemeClr val="accent2"/>
                </a:solidFill>
                <a:latin typeface="Arial" panose="020B0604020202020204" pitchFamily="34" charset="0"/>
              </a:rPr>
              <a:t>Class Management Note</a:t>
            </a:r>
          </a:p>
          <a:p>
            <a:pPr marL="114300" lvl="1" defTabSz="377825">
              <a:tabLst>
                <a:tab pos="442913" algn="l"/>
              </a:tabLst>
            </a:pPr>
            <a:r>
              <a:rPr lang="en-US" altLang="en-US">
                <a:solidFill>
                  <a:schemeClr val="accent2"/>
                </a:solidFill>
                <a:latin typeface="Arial" panose="020B0604020202020204" pitchFamily="34" charset="0"/>
              </a:rPr>
              <a:t>Execute the subquery (inner query) on its own first to show the value that the subquery returns. Then execute the outer query using the result returned by the inner query. Finally, execute the entire query (containing the subquery) and show that the result is the same.</a:t>
            </a:r>
            <a:r>
              <a:rPr lang="en-US" altLang="en-US">
                <a:solidFill>
                  <a:schemeClr val="accent1"/>
                </a:solidFill>
                <a:latin typeface="Arial" panose="020B0604020202020204" pitchFamily="34" charset="0"/>
              </a:rPr>
              <a:t>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88D43B2-A2F1-AB91-FB7D-D300FA28D847}"/>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r>
              <a:rPr lang="en-US" altLang="en-US">
                <a:latin typeface="Arial" panose="020B0604020202020204" pitchFamily="34" charset="0"/>
              </a:rPr>
              <a:t>Subqueries</a:t>
            </a:r>
          </a:p>
          <a:p>
            <a:pPr lvl="1"/>
            <a:r>
              <a:rPr lang="en-US" altLang="en-US">
                <a:latin typeface="Arial" panose="020B0604020202020204" pitchFamily="34" charset="0"/>
              </a:rPr>
              <a:t>A </a:t>
            </a:r>
            <a:r>
              <a:rPr lang="en-US" altLang="en-US">
                <a:solidFill>
                  <a:srgbClr val="FC0128"/>
                </a:solidFill>
                <a:latin typeface="Arial" panose="020B0604020202020204" pitchFamily="34" charset="0"/>
              </a:rPr>
              <a:t>subquery </a:t>
            </a:r>
            <a:r>
              <a:rPr lang="en-US" altLang="en-US">
                <a:latin typeface="Arial" panose="020B0604020202020204" pitchFamily="34" charset="0"/>
              </a:rPr>
              <a:t>is a SELECT statement that is embedded in a clause of another SELECT statement. </a:t>
            </a:r>
            <a:r>
              <a:rPr lang="en-US" altLang="en-US">
                <a:latin typeface="Times" panose="02020603050405020304" pitchFamily="18" charset="0"/>
              </a:rPr>
              <a:t>You can build powerful statements out of simple ones by using subqueries. They can be very useful when you need to select rows from a table with a condition that depends on the data in the table itself.</a:t>
            </a:r>
          </a:p>
          <a:p>
            <a:pPr lvl="1"/>
            <a:r>
              <a:rPr lang="en-US" altLang="en-US">
                <a:latin typeface="Arial" panose="020B0604020202020204" pitchFamily="34" charset="0"/>
              </a:rPr>
              <a:t>You can place the subquery in a number of SQL clauses: </a:t>
            </a:r>
          </a:p>
          <a:p>
            <a:pPr lvl="2"/>
            <a:r>
              <a:rPr lang="en-US" altLang="en-US">
                <a:latin typeface="Arial" panose="020B0604020202020204" pitchFamily="34" charset="0"/>
              </a:rPr>
              <a:t>WHERE clause</a:t>
            </a:r>
          </a:p>
          <a:p>
            <a:pPr lvl="2"/>
            <a:r>
              <a:rPr lang="en-US" altLang="en-US">
                <a:latin typeface="Arial" panose="020B0604020202020204" pitchFamily="34" charset="0"/>
              </a:rPr>
              <a:t>HAVING clause</a:t>
            </a:r>
          </a:p>
          <a:p>
            <a:pPr lvl="2"/>
            <a:r>
              <a:rPr lang="en-US" altLang="en-US">
                <a:latin typeface="Arial" panose="020B0604020202020204" pitchFamily="34" charset="0"/>
              </a:rPr>
              <a:t>FROM clause</a:t>
            </a:r>
          </a:p>
          <a:p>
            <a:pPr lvl="1"/>
            <a:r>
              <a:rPr lang="en-US" altLang="en-US">
                <a:latin typeface="Arial" panose="020B0604020202020204" pitchFamily="34" charset="0"/>
              </a:rPr>
              <a:t>In the syntax:</a:t>
            </a:r>
          </a:p>
          <a:p>
            <a:pPr algn="just">
              <a:lnSpc>
                <a:spcPct val="112000"/>
              </a:lnSpc>
              <a:spcBef>
                <a:spcPct val="0"/>
              </a:spcBef>
            </a:pPr>
            <a:r>
              <a:rPr lang="en-US" altLang="en-US" b="1" i="1">
                <a:latin typeface="Times" panose="02020603050405020304" pitchFamily="18" charset="0"/>
              </a:rPr>
              <a:t>	operator</a:t>
            </a:r>
            <a:r>
              <a:rPr lang="en-US" altLang="en-US" b="1">
                <a:latin typeface="Times" panose="02020603050405020304" pitchFamily="18" charset="0"/>
              </a:rPr>
              <a:t> 	includes a comparison operator such as &gt;, =, or IN</a:t>
            </a:r>
          </a:p>
          <a:p>
            <a:pPr lvl="1"/>
            <a:r>
              <a:rPr lang="en-US" altLang="en-US" b="1">
                <a:latin typeface="Arial" panose="020B0604020202020204" pitchFamily="34" charset="0"/>
              </a:rPr>
              <a:t>Note:</a:t>
            </a:r>
            <a:r>
              <a:rPr lang="en-US" altLang="en-US">
                <a:latin typeface="Arial" panose="020B0604020202020204" pitchFamily="34" charset="0"/>
              </a:rPr>
              <a:t> Comparison operators fall into two classes: single-row operators (&gt;, =, &gt;=, &lt;, &lt;&gt;, &lt;=) and multiple-row operators (IN, ANY, ALL).</a:t>
            </a:r>
          </a:p>
          <a:p>
            <a:pPr lvl="1"/>
            <a:r>
              <a:rPr lang="en-US" altLang="en-US">
                <a:latin typeface="Arial" panose="020B0604020202020204" pitchFamily="34" charset="0"/>
              </a:rPr>
              <a:t>The subquery is often referred to as a nested SELECT, sub-SELECT, or inner SELECT statement. The subquery generally executes first, and its output is used to complete the query condition for the main or outer query.</a:t>
            </a: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Additionally, subqueries can be placed in the CREATE VIEW statement, CREATE TABLE statement, UPDATE clause, INTO clause of an INSERT statement, and SET clause of an UPDATE statement.</a:t>
            </a:r>
            <a:r>
              <a:rPr lang="en-US" altLang="en-US">
                <a:latin typeface="Arial" panose="020B0604020202020204" pitchFamily="34" charset="0"/>
              </a:rPr>
              <a:t> </a:t>
            </a:r>
          </a:p>
        </p:txBody>
      </p:sp>
      <p:sp>
        <p:nvSpPr>
          <p:cNvPr id="15363" name="Rectangle 3">
            <a:extLst>
              <a:ext uri="{FF2B5EF4-FFF2-40B4-BE49-F238E27FC236}">
                <a16:creationId xmlns:a16="http://schemas.microsoft.com/office/drawing/2014/main" id="{F9777BC6-17BC-5ADB-35F6-23A51D6A644A}"/>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B5C16958-B47A-9785-FBEC-7E362C25A088}"/>
              </a:ext>
            </a:extLst>
          </p:cNvPr>
          <p:cNvSpPr>
            <a:spLocks noChangeArrowheads="1"/>
          </p:cNvSpPr>
          <p:nvPr/>
        </p:nvSpPr>
        <p:spPr bwMode="auto">
          <a:xfrm>
            <a:off x="3883025" y="0"/>
            <a:ext cx="2976563"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9459" name="Rectangle 3">
            <a:extLst>
              <a:ext uri="{FF2B5EF4-FFF2-40B4-BE49-F238E27FC236}">
                <a16:creationId xmlns:a16="http://schemas.microsoft.com/office/drawing/2014/main" id="{D1B86505-A2B6-7B6C-EB7F-FF6A36129612}"/>
              </a:ext>
            </a:extLst>
          </p:cNvPr>
          <p:cNvSpPr>
            <a:spLocks noChangeArrowheads="1"/>
          </p:cNvSpPr>
          <p:nvPr/>
        </p:nvSpPr>
        <p:spPr bwMode="auto">
          <a:xfrm>
            <a:off x="-3175" y="0"/>
            <a:ext cx="2973388"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9460" name="Rectangle 4">
            <a:extLst>
              <a:ext uri="{FF2B5EF4-FFF2-40B4-BE49-F238E27FC236}">
                <a16:creationId xmlns:a16="http://schemas.microsoft.com/office/drawing/2014/main" id="{1D8257EE-B8A2-87A9-030B-D6136AC52E7E}"/>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r>
              <a:rPr lang="en-US" altLang="en-US">
                <a:latin typeface="Arial" panose="020B0604020202020204" pitchFamily="34" charset="0"/>
              </a:rPr>
              <a:t>Guidelines for Using Subqueries</a:t>
            </a:r>
          </a:p>
          <a:p>
            <a:pPr lvl="2"/>
            <a:r>
              <a:rPr lang="en-US" altLang="en-US">
                <a:latin typeface="Arial" panose="020B0604020202020204" pitchFamily="34" charset="0"/>
              </a:rPr>
              <a:t>A subquery must be</a:t>
            </a:r>
            <a:r>
              <a:rPr lang="en-US" altLang="en-US">
                <a:latin typeface="Times" panose="02020603050405020304" pitchFamily="18" charset="0"/>
              </a:rPr>
              <a:t> enclosed in parentheses.</a:t>
            </a:r>
          </a:p>
          <a:p>
            <a:pPr lvl="2"/>
            <a:r>
              <a:rPr lang="en-US" altLang="en-US">
                <a:latin typeface="Arial" panose="020B0604020202020204" pitchFamily="34" charset="0"/>
              </a:rPr>
              <a:t>A subquery must appear on the right side of the comparison operator.</a:t>
            </a:r>
          </a:p>
          <a:p>
            <a:pPr lvl="2"/>
            <a:r>
              <a:rPr lang="en-US" altLang="en-US">
                <a:latin typeface="Arial" panose="020B0604020202020204" pitchFamily="34" charset="0"/>
              </a:rPr>
              <a:t>Subqueries cannot contain an ORDER BY clause. You can have only one ORDER BY clause for a SELECT statement, and if specified it must be the last clause in the main SELECT statement.</a:t>
            </a:r>
          </a:p>
          <a:p>
            <a:pPr lvl="2"/>
            <a:r>
              <a:rPr lang="en-US" altLang="en-US">
                <a:latin typeface="Arial" panose="020B0604020202020204" pitchFamily="34" charset="0"/>
              </a:rPr>
              <a:t>Two classes of comparison operators are used in subqueries: single-row operators and </a:t>
            </a:r>
            <a:br>
              <a:rPr lang="en-US" altLang="en-US">
                <a:latin typeface="Arial" panose="020B0604020202020204" pitchFamily="34" charset="0"/>
              </a:rPr>
            </a:br>
            <a:r>
              <a:rPr lang="en-US" altLang="en-US">
                <a:latin typeface="Arial" panose="020B0604020202020204" pitchFamily="34" charset="0"/>
              </a:rPr>
              <a:t>multiple-row operators.</a:t>
            </a: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A subquery can execute multiple times in correlated subqueries, which are not included in this course. Students may ask how many subqueries can be written. The Oracle Server imposes no limit on the number of subqueries. The limit is related to the buffer size that the query uses.</a:t>
            </a:r>
          </a:p>
        </p:txBody>
      </p:sp>
      <p:sp>
        <p:nvSpPr>
          <p:cNvPr id="19461" name="Rectangle 5">
            <a:extLst>
              <a:ext uri="{FF2B5EF4-FFF2-40B4-BE49-F238E27FC236}">
                <a16:creationId xmlns:a16="http://schemas.microsoft.com/office/drawing/2014/main" id="{4C141596-873F-104F-018B-A0A129590A29}"/>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DCDD7DB-F063-F384-2D27-154478330C06}"/>
              </a:ext>
            </a:extLst>
          </p:cNvPr>
          <p:cNvSpPr>
            <a:spLocks noChangeArrowheads="1"/>
          </p:cNvSpPr>
          <p:nvPr/>
        </p:nvSpPr>
        <p:spPr bwMode="auto">
          <a:xfrm>
            <a:off x="3884613" y="-1588"/>
            <a:ext cx="2973387" cy="466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1507" name="Rectangle 3">
            <a:extLst>
              <a:ext uri="{FF2B5EF4-FFF2-40B4-BE49-F238E27FC236}">
                <a16:creationId xmlns:a16="http://schemas.microsoft.com/office/drawing/2014/main" id="{C72CDC4D-73F6-2891-0202-26DA27732B12}"/>
              </a:ext>
            </a:extLst>
          </p:cNvPr>
          <p:cNvSpPr>
            <a:spLocks noChangeArrowheads="1"/>
          </p:cNvSpPr>
          <p:nvPr/>
        </p:nvSpPr>
        <p:spPr bwMode="auto">
          <a:xfrm>
            <a:off x="-1588" y="-1588"/>
            <a:ext cx="2970213" cy="466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1508" name="Rectangle 4">
            <a:extLst>
              <a:ext uri="{FF2B5EF4-FFF2-40B4-BE49-F238E27FC236}">
                <a16:creationId xmlns:a16="http://schemas.microsoft.com/office/drawing/2014/main" id="{7D596463-54BA-8718-BCD8-2FBDD991BDC6}"/>
              </a:ext>
            </a:extLst>
          </p:cNvPr>
          <p:cNvSpPr>
            <a:spLocks noGrp="1" noChangeArrowheads="1"/>
          </p:cNvSpPr>
          <p:nvPr>
            <p:ph type="body" idx="1"/>
          </p:nvPr>
        </p:nvSpPr>
        <p:spPr>
          <a:xfrm>
            <a:off x="455613" y="4849813"/>
            <a:ext cx="5822950"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77825">
              <a:tabLst>
                <a:tab pos="442913" algn="l"/>
              </a:tabLst>
            </a:pPr>
            <a:r>
              <a:rPr lang="en-US" altLang="en-US">
                <a:latin typeface="Arial" panose="020B0604020202020204" pitchFamily="34" charset="0"/>
              </a:rPr>
              <a:t>Types of Subqueries</a:t>
            </a:r>
          </a:p>
          <a:p>
            <a:pPr marL="436563" lvl="2" indent="-207963" defTabSz="377825">
              <a:tabLst>
                <a:tab pos="442913" algn="l"/>
              </a:tabLst>
            </a:pPr>
            <a:r>
              <a:rPr lang="en-US" altLang="en-US">
                <a:solidFill>
                  <a:srgbClr val="FC0128"/>
                </a:solidFill>
                <a:latin typeface="Arial" panose="020B0604020202020204" pitchFamily="34" charset="0"/>
              </a:rPr>
              <a:t>Single-row subqueries:</a:t>
            </a:r>
            <a:r>
              <a:rPr lang="en-US" altLang="en-US">
                <a:latin typeface="Arial" panose="020B0604020202020204" pitchFamily="34" charset="0"/>
              </a:rPr>
              <a:t> Queries that return only one row from the inner SELECT statement</a:t>
            </a:r>
          </a:p>
          <a:p>
            <a:pPr marL="436563" lvl="2" indent="-207963" defTabSz="377825">
              <a:tabLst>
                <a:tab pos="442913" algn="l"/>
              </a:tabLst>
            </a:pPr>
            <a:r>
              <a:rPr lang="en-US" altLang="en-US">
                <a:solidFill>
                  <a:srgbClr val="FC0128"/>
                </a:solidFill>
                <a:latin typeface="Arial" panose="020B0604020202020204" pitchFamily="34" charset="0"/>
              </a:rPr>
              <a:t>Multiple-row subqueries:</a:t>
            </a:r>
            <a:r>
              <a:rPr lang="en-US" altLang="en-US">
                <a:latin typeface="Arial" panose="020B0604020202020204" pitchFamily="34" charset="0"/>
              </a:rPr>
              <a:t> Queries that return more than one row from the inner SELECT statement</a:t>
            </a:r>
          </a:p>
          <a:p>
            <a:pPr marL="436563" lvl="2" indent="-207963" defTabSz="377825">
              <a:tabLst>
                <a:tab pos="442913" algn="l"/>
              </a:tabLst>
            </a:pPr>
            <a:r>
              <a:rPr lang="en-US" altLang="en-US">
                <a:solidFill>
                  <a:srgbClr val="FC0128"/>
                </a:solidFill>
                <a:latin typeface="Arial" panose="020B0604020202020204" pitchFamily="34" charset="0"/>
              </a:rPr>
              <a:t>Multiple-column subqueries:</a:t>
            </a:r>
            <a:r>
              <a:rPr lang="en-US" altLang="en-US">
                <a:latin typeface="Arial" panose="020B0604020202020204" pitchFamily="34" charset="0"/>
              </a:rPr>
              <a:t> Queries that return more than one column from the inner SELECT statement</a:t>
            </a:r>
          </a:p>
          <a:p>
            <a:pPr defTabSz="377825">
              <a:tabLst>
                <a:tab pos="442913" algn="l"/>
              </a:tabLst>
            </a:pPr>
            <a:endParaRPr lang="en-US" altLang="en-US">
              <a:solidFill>
                <a:schemeClr val="accent1"/>
              </a:solidFill>
              <a:latin typeface="Arial" panose="020B0604020202020204" pitchFamily="34" charset="0"/>
            </a:endParaRPr>
          </a:p>
          <a:p>
            <a:pPr defTabSz="377825">
              <a:tabLst>
                <a:tab pos="442913" algn="l"/>
              </a:tabLst>
            </a:pPr>
            <a:endParaRPr lang="en-US" altLang="en-US">
              <a:solidFill>
                <a:schemeClr val="accent1"/>
              </a:solidFill>
              <a:latin typeface="Arial" panose="020B0604020202020204" pitchFamily="34" charset="0"/>
            </a:endParaRPr>
          </a:p>
          <a:p>
            <a:pPr defTabSz="377825">
              <a:tabLst>
                <a:tab pos="442913" algn="l"/>
              </a:tabLst>
            </a:pPr>
            <a:endParaRPr lang="en-US" altLang="en-US">
              <a:solidFill>
                <a:schemeClr val="accent1"/>
              </a:solidFill>
              <a:latin typeface="Arial" panose="020B0604020202020204" pitchFamily="34" charset="0"/>
            </a:endParaRPr>
          </a:p>
          <a:p>
            <a:pPr defTabSz="377825">
              <a:tabLst>
                <a:tab pos="442913" algn="l"/>
              </a:tabLst>
            </a:pPr>
            <a:endParaRPr lang="en-US" altLang="en-US">
              <a:solidFill>
                <a:schemeClr val="accent1"/>
              </a:solidFill>
              <a:latin typeface="Arial" panose="020B0604020202020204" pitchFamily="34" charset="0"/>
            </a:endParaRPr>
          </a:p>
          <a:p>
            <a:pPr defTabSz="377825">
              <a:tabLst>
                <a:tab pos="442913" algn="l"/>
              </a:tabLst>
            </a:pPr>
            <a:endParaRPr lang="en-US" altLang="en-US">
              <a:solidFill>
                <a:schemeClr val="accent1"/>
              </a:solidFill>
              <a:latin typeface="Arial" panose="020B0604020202020204" pitchFamily="34" charset="0"/>
            </a:endParaRPr>
          </a:p>
          <a:p>
            <a:pPr defTabSz="377825">
              <a:tabLst>
                <a:tab pos="442913" algn="l"/>
              </a:tabLst>
            </a:pPr>
            <a:endParaRPr lang="en-US" altLang="en-US">
              <a:solidFill>
                <a:schemeClr val="accent1"/>
              </a:solidFill>
              <a:latin typeface="Arial" panose="020B0604020202020204" pitchFamily="34" charset="0"/>
            </a:endParaRPr>
          </a:p>
        </p:txBody>
      </p:sp>
      <p:sp>
        <p:nvSpPr>
          <p:cNvPr id="21509" name="Rectangle 5">
            <a:extLst>
              <a:ext uri="{FF2B5EF4-FFF2-40B4-BE49-F238E27FC236}">
                <a16:creationId xmlns:a16="http://schemas.microsoft.com/office/drawing/2014/main" id="{283DB700-64DD-95D6-8248-9D8A138938E8}"/>
              </a:ext>
            </a:extLst>
          </p:cNvPr>
          <p:cNvSpPr>
            <a:spLocks noGrp="1" noRot="1" noChangeArrowheads="1" noTextEdit="1"/>
          </p:cNvSpPr>
          <p:nvPr>
            <p:ph type="sldImg"/>
          </p:nvPr>
        </p:nvSpPr>
        <p:spPr>
          <a:xfrm>
            <a:off x="406400" y="171450"/>
            <a:ext cx="6037263" cy="452755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7CC96D7-6126-F16D-DC83-7ED708F8F9DF}"/>
              </a:ext>
            </a:extLst>
          </p:cNvPr>
          <p:cNvSpPr>
            <a:spLocks noChangeArrowheads="1"/>
          </p:cNvSpPr>
          <p:nvPr/>
        </p:nvSpPr>
        <p:spPr bwMode="auto">
          <a:xfrm>
            <a:off x="3883025" y="0"/>
            <a:ext cx="2976563"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3555" name="Rectangle 3">
            <a:extLst>
              <a:ext uri="{FF2B5EF4-FFF2-40B4-BE49-F238E27FC236}">
                <a16:creationId xmlns:a16="http://schemas.microsoft.com/office/drawing/2014/main" id="{F1343CF9-2139-8019-7517-FE52C35BED2A}"/>
              </a:ext>
            </a:extLst>
          </p:cNvPr>
          <p:cNvSpPr>
            <a:spLocks noChangeArrowheads="1"/>
          </p:cNvSpPr>
          <p:nvPr/>
        </p:nvSpPr>
        <p:spPr bwMode="auto">
          <a:xfrm>
            <a:off x="-3175" y="0"/>
            <a:ext cx="2973388"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3556" name="Rectangle 4">
            <a:extLst>
              <a:ext uri="{FF2B5EF4-FFF2-40B4-BE49-F238E27FC236}">
                <a16:creationId xmlns:a16="http://schemas.microsoft.com/office/drawing/2014/main" id="{9F818D9B-D993-9CA9-A1A6-607FD7515D33}"/>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r>
              <a:rPr lang="en-US" altLang="en-US">
                <a:latin typeface="Arial" panose="020B0604020202020204" pitchFamily="34" charset="0"/>
              </a:rPr>
              <a:t>Guidelines for Using Subqueries</a:t>
            </a:r>
          </a:p>
          <a:p>
            <a:pPr lvl="2"/>
            <a:r>
              <a:rPr lang="en-US" altLang="en-US">
                <a:latin typeface="Arial" panose="020B0604020202020204" pitchFamily="34" charset="0"/>
              </a:rPr>
              <a:t>A subquery must be</a:t>
            </a:r>
            <a:r>
              <a:rPr lang="en-US" altLang="en-US">
                <a:latin typeface="Times" panose="02020603050405020304" pitchFamily="18" charset="0"/>
              </a:rPr>
              <a:t> enclosed in parentheses.</a:t>
            </a:r>
          </a:p>
          <a:p>
            <a:pPr lvl="2"/>
            <a:r>
              <a:rPr lang="en-US" altLang="en-US">
                <a:latin typeface="Arial" panose="020B0604020202020204" pitchFamily="34" charset="0"/>
              </a:rPr>
              <a:t>A subquery must appear on the right side of the comparison operator.</a:t>
            </a:r>
          </a:p>
          <a:p>
            <a:pPr lvl="2"/>
            <a:r>
              <a:rPr lang="en-US" altLang="en-US">
                <a:latin typeface="Arial" panose="020B0604020202020204" pitchFamily="34" charset="0"/>
              </a:rPr>
              <a:t>Subqueries cannot contain an ORDER BY clause. You can have only one ORDER BY clause for a SELECT statement, and if specified it must be the last clause in the main SELECT statement.</a:t>
            </a:r>
          </a:p>
          <a:p>
            <a:pPr lvl="2"/>
            <a:r>
              <a:rPr lang="en-US" altLang="en-US">
                <a:latin typeface="Arial" panose="020B0604020202020204" pitchFamily="34" charset="0"/>
              </a:rPr>
              <a:t>Two classes of comparison operators are used in subqueries: single-row operators and </a:t>
            </a:r>
            <a:br>
              <a:rPr lang="en-US" altLang="en-US">
                <a:latin typeface="Arial" panose="020B0604020202020204" pitchFamily="34" charset="0"/>
              </a:rPr>
            </a:br>
            <a:r>
              <a:rPr lang="en-US" altLang="en-US">
                <a:latin typeface="Arial" panose="020B0604020202020204" pitchFamily="34" charset="0"/>
              </a:rPr>
              <a:t>multiple-row operators.</a:t>
            </a: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A subquery can execute multiple times in correlated subqueries, which are not included in this course. Students may ask how many subqueries can be written. The Oracle Server imposes no limit on the number of subqueries. The limit is related to the buffer size that the query uses.</a:t>
            </a:r>
          </a:p>
        </p:txBody>
      </p:sp>
      <p:sp>
        <p:nvSpPr>
          <p:cNvPr id="23557" name="Rectangle 5">
            <a:extLst>
              <a:ext uri="{FF2B5EF4-FFF2-40B4-BE49-F238E27FC236}">
                <a16:creationId xmlns:a16="http://schemas.microsoft.com/office/drawing/2014/main" id="{A6B74707-9F69-0A46-E355-BACCCF86A914}"/>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9E435CE-238F-FBF4-F481-66818D629454}"/>
              </a:ext>
            </a:extLst>
          </p:cNvPr>
          <p:cNvSpPr>
            <a:spLocks noGrp="1" noRot="1" noChangeArrowheads="1" noTextEdit="1"/>
          </p:cNvSpPr>
          <p:nvPr>
            <p:ph type="sldImg"/>
          </p:nvPr>
        </p:nvSpPr>
        <p:spPr>
          <a:xfrm>
            <a:off x="406400" y="171450"/>
            <a:ext cx="6037263" cy="452755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5603" name="Rectangle 3">
            <a:extLst>
              <a:ext uri="{FF2B5EF4-FFF2-40B4-BE49-F238E27FC236}">
                <a16:creationId xmlns:a16="http://schemas.microsoft.com/office/drawing/2014/main" id="{1C8F5C20-03E7-A13F-34A3-032C14BEBBBA}"/>
              </a:ext>
            </a:extLst>
          </p:cNvPr>
          <p:cNvSpPr>
            <a:spLocks noChangeArrowheads="1"/>
          </p:cNvSpPr>
          <p:nvPr/>
        </p:nvSpPr>
        <p:spPr bwMode="auto">
          <a:xfrm>
            <a:off x="3884613" y="-1588"/>
            <a:ext cx="2973387" cy="466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5604" name="Rectangle 4">
            <a:extLst>
              <a:ext uri="{FF2B5EF4-FFF2-40B4-BE49-F238E27FC236}">
                <a16:creationId xmlns:a16="http://schemas.microsoft.com/office/drawing/2014/main" id="{F0A42D40-C634-D6DA-0A60-4A1A72A56F98}"/>
              </a:ext>
            </a:extLst>
          </p:cNvPr>
          <p:cNvSpPr>
            <a:spLocks noChangeArrowheads="1"/>
          </p:cNvSpPr>
          <p:nvPr/>
        </p:nvSpPr>
        <p:spPr bwMode="auto">
          <a:xfrm>
            <a:off x="-1588" y="-1588"/>
            <a:ext cx="2970213" cy="466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5605" name="Rectangle 5">
            <a:extLst>
              <a:ext uri="{FF2B5EF4-FFF2-40B4-BE49-F238E27FC236}">
                <a16:creationId xmlns:a16="http://schemas.microsoft.com/office/drawing/2014/main" id="{13E2A3E0-C311-AABD-8AD7-87B99E3AC243}"/>
              </a:ext>
            </a:extLst>
          </p:cNvPr>
          <p:cNvSpPr>
            <a:spLocks noGrp="1" noChangeArrowheads="1"/>
          </p:cNvSpPr>
          <p:nvPr>
            <p:ph type="body" idx="1"/>
          </p:nvPr>
        </p:nvSpPr>
        <p:spPr>
          <a:xfrm>
            <a:off x="455613" y="4849813"/>
            <a:ext cx="5835650"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77825">
              <a:tabLst>
                <a:tab pos="442913" algn="l"/>
              </a:tabLst>
            </a:pPr>
            <a:r>
              <a:rPr lang="en-US" altLang="en-US">
                <a:latin typeface="Arial" panose="020B0604020202020204" pitchFamily="34" charset="0"/>
              </a:rPr>
              <a:t>Single-Row Subqueries</a:t>
            </a:r>
          </a:p>
          <a:p>
            <a:pPr marL="114300" lvl="1" defTabSz="377825">
              <a:tabLst>
                <a:tab pos="442913" algn="l"/>
              </a:tabLst>
            </a:pPr>
            <a:r>
              <a:rPr lang="en-US" altLang="en-US">
                <a:latin typeface="Arial" panose="020B0604020202020204" pitchFamily="34" charset="0"/>
              </a:rPr>
              <a:t>A </a:t>
            </a:r>
            <a:r>
              <a:rPr lang="en-US" altLang="en-US" i="1">
                <a:solidFill>
                  <a:srgbClr val="FC0128"/>
                </a:solidFill>
                <a:latin typeface="Arial" panose="020B0604020202020204" pitchFamily="34" charset="0"/>
              </a:rPr>
              <a:t>single-row subquery</a:t>
            </a:r>
            <a:r>
              <a:rPr lang="en-US" altLang="en-US">
                <a:solidFill>
                  <a:srgbClr val="FC0128"/>
                </a:solidFill>
                <a:latin typeface="Arial" panose="020B0604020202020204" pitchFamily="34" charset="0"/>
              </a:rPr>
              <a:t> </a:t>
            </a:r>
            <a:r>
              <a:rPr lang="en-US" altLang="en-US">
                <a:latin typeface="Arial" panose="020B0604020202020204" pitchFamily="34" charset="0"/>
              </a:rPr>
              <a:t>is one that returns one row from the inner SELECT statement. This type of subquery uses a single-row operator. The slide gives a list of single-row operators. </a:t>
            </a:r>
          </a:p>
          <a:p>
            <a:pPr defTabSz="377825">
              <a:tabLst>
                <a:tab pos="442913" algn="l"/>
              </a:tabLst>
            </a:pPr>
            <a:r>
              <a:rPr lang="en-US" altLang="en-US">
                <a:latin typeface="Arial" panose="020B0604020202020204" pitchFamily="34" charset="0"/>
              </a:rPr>
              <a:t>Example</a:t>
            </a:r>
          </a:p>
          <a:p>
            <a:pPr marL="114300" lvl="1" defTabSz="377825">
              <a:tabLst>
                <a:tab pos="442913" algn="l"/>
              </a:tabLst>
            </a:pPr>
            <a:r>
              <a:rPr lang="en-US" altLang="en-US">
                <a:latin typeface="Arial" panose="020B0604020202020204" pitchFamily="34" charset="0"/>
              </a:rPr>
              <a:t>Display the employees whose job title is the same as that of employee 7369.  </a:t>
            </a:r>
          </a:p>
          <a:p>
            <a:pPr defTabSz="377825">
              <a:spcBef>
                <a:spcPct val="0"/>
              </a:spcBef>
              <a:tabLst>
                <a:tab pos="442913" algn="l"/>
              </a:tabLst>
            </a:pPr>
            <a:endParaRPr lang="en-US" altLang="en-US">
              <a:solidFill>
                <a:srgbClr val="000000"/>
              </a:solidFill>
              <a:latin typeface="Courier New" panose="02070309020205020404" pitchFamily="49" charset="0"/>
            </a:endParaRPr>
          </a:p>
          <a:p>
            <a:pPr defTabSz="377825">
              <a:spcBef>
                <a:spcPct val="0"/>
              </a:spcBef>
              <a:tabLst>
                <a:tab pos="442913" algn="l"/>
              </a:tabLst>
            </a:pPr>
            <a:r>
              <a:rPr lang="en-US" altLang="en-US">
                <a:solidFill>
                  <a:srgbClr val="000000"/>
                </a:solidFill>
                <a:latin typeface="Courier New" panose="02070309020205020404" pitchFamily="49" charset="0"/>
              </a:rPr>
              <a:t> </a:t>
            </a:r>
          </a:p>
        </p:txBody>
      </p:sp>
      <p:sp>
        <p:nvSpPr>
          <p:cNvPr id="25606" name="Rectangle 6">
            <a:extLst>
              <a:ext uri="{FF2B5EF4-FFF2-40B4-BE49-F238E27FC236}">
                <a16:creationId xmlns:a16="http://schemas.microsoft.com/office/drawing/2014/main" id="{34D3FB64-56E2-7A7B-62E8-6ACB927B950A}"/>
              </a:ext>
            </a:extLst>
          </p:cNvPr>
          <p:cNvSpPr>
            <a:spLocks noChangeArrowheads="1"/>
          </p:cNvSpPr>
          <p:nvPr/>
        </p:nvSpPr>
        <p:spPr bwMode="auto">
          <a:xfrm>
            <a:off x="658813" y="5951538"/>
            <a:ext cx="5651500" cy="1258887"/>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5607" name="Rectangle 7">
            <a:extLst>
              <a:ext uri="{FF2B5EF4-FFF2-40B4-BE49-F238E27FC236}">
                <a16:creationId xmlns:a16="http://schemas.microsoft.com/office/drawing/2014/main" id="{AD9D2573-3A9A-110D-CADE-25C20D474749}"/>
              </a:ext>
            </a:extLst>
          </p:cNvPr>
          <p:cNvSpPr>
            <a:spLocks noChangeArrowheads="1"/>
          </p:cNvSpPr>
          <p:nvPr/>
        </p:nvSpPr>
        <p:spPr bwMode="auto">
          <a:xfrm>
            <a:off x="655638" y="7346950"/>
            <a:ext cx="5664200" cy="114776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5608" name="Rectangle 8">
            <a:extLst>
              <a:ext uri="{FF2B5EF4-FFF2-40B4-BE49-F238E27FC236}">
                <a16:creationId xmlns:a16="http://schemas.microsoft.com/office/drawing/2014/main" id="{14637B0D-EB49-B91C-0DF0-E458F34A0907}"/>
              </a:ext>
            </a:extLst>
          </p:cNvPr>
          <p:cNvSpPr>
            <a:spLocks noChangeArrowheads="1"/>
          </p:cNvSpPr>
          <p:nvPr/>
        </p:nvSpPr>
        <p:spPr bwMode="auto">
          <a:xfrm>
            <a:off x="703263" y="7391400"/>
            <a:ext cx="5254625"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56" tIns="43420" rIns="90056" bIns="43420">
            <a:spAutoFit/>
          </a:bodyPr>
          <a:lstStyle>
            <a:lvl1pPr defTabSz="839788">
              <a:spcBef>
                <a:spcPct val="30000"/>
              </a:spcBef>
              <a:defRPr sz="1200">
                <a:solidFill>
                  <a:schemeClr val="tx1"/>
                </a:solidFill>
                <a:latin typeface="Arial" panose="020B0604020202020204" pitchFamily="34" charset="0"/>
              </a:defRPr>
            </a:lvl1pPr>
            <a:lvl2pPr marL="742950" indent="-285750" defTabSz="839788">
              <a:spcBef>
                <a:spcPct val="30000"/>
              </a:spcBef>
              <a:defRPr sz="1200">
                <a:solidFill>
                  <a:schemeClr val="tx1"/>
                </a:solidFill>
                <a:latin typeface="Arial" panose="020B0604020202020204" pitchFamily="34" charset="0"/>
              </a:defRPr>
            </a:lvl2pPr>
            <a:lvl3pPr marL="1143000" indent="-228600" defTabSz="839788">
              <a:spcBef>
                <a:spcPct val="30000"/>
              </a:spcBef>
              <a:defRPr sz="1200">
                <a:solidFill>
                  <a:schemeClr val="tx1"/>
                </a:solidFill>
                <a:latin typeface="Arial" panose="020B0604020202020204" pitchFamily="34" charset="0"/>
              </a:defRPr>
            </a:lvl3pPr>
            <a:lvl4pPr marL="1600200" indent="-228600" defTabSz="839788">
              <a:spcBef>
                <a:spcPct val="30000"/>
              </a:spcBef>
              <a:defRPr sz="1200">
                <a:solidFill>
                  <a:schemeClr val="tx1"/>
                </a:solidFill>
                <a:latin typeface="Arial" panose="020B0604020202020204" pitchFamily="34" charset="0"/>
              </a:defRPr>
            </a:lvl4pPr>
            <a:lvl5pPr marL="2057400" indent="-228600" defTabSz="839788">
              <a:spcBef>
                <a:spcPct val="30000"/>
              </a:spcBef>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a:solidFill>
                  <a:srgbClr val="000000"/>
                </a:solidFill>
                <a:latin typeface="Courier New" panose="02070309020205020404" pitchFamily="49" charset="0"/>
              </a:rPr>
              <a:t>ENAME      JOB</a:t>
            </a:r>
          </a:p>
          <a:p>
            <a:pPr>
              <a:spcBef>
                <a:spcPct val="0"/>
              </a:spcBef>
            </a:pPr>
            <a:r>
              <a:rPr lang="en-US" altLang="en-US" sz="1100">
                <a:solidFill>
                  <a:srgbClr val="000000"/>
                </a:solidFill>
                <a:latin typeface="Courier New" panose="02070309020205020404" pitchFamily="49" charset="0"/>
              </a:rPr>
              <a:t>---------- ---------</a:t>
            </a:r>
          </a:p>
          <a:p>
            <a:pPr>
              <a:spcBef>
                <a:spcPct val="0"/>
              </a:spcBef>
            </a:pPr>
            <a:r>
              <a:rPr lang="en-US" altLang="en-US" sz="1100">
                <a:solidFill>
                  <a:srgbClr val="000000"/>
                </a:solidFill>
                <a:latin typeface="Courier New" panose="02070309020205020404" pitchFamily="49" charset="0"/>
              </a:rPr>
              <a:t>JAMES      CLERK</a:t>
            </a:r>
          </a:p>
          <a:p>
            <a:pPr>
              <a:spcBef>
                <a:spcPct val="0"/>
              </a:spcBef>
            </a:pPr>
            <a:r>
              <a:rPr lang="en-US" altLang="en-US" sz="1100">
                <a:solidFill>
                  <a:srgbClr val="000000"/>
                </a:solidFill>
                <a:latin typeface="Courier New" panose="02070309020205020404" pitchFamily="49" charset="0"/>
              </a:rPr>
              <a:t>SMITH      CLERK</a:t>
            </a:r>
          </a:p>
          <a:p>
            <a:pPr>
              <a:spcBef>
                <a:spcPct val="0"/>
              </a:spcBef>
            </a:pPr>
            <a:r>
              <a:rPr lang="en-US" altLang="en-US" sz="1100">
                <a:solidFill>
                  <a:srgbClr val="000000"/>
                </a:solidFill>
                <a:latin typeface="Courier New" panose="02070309020205020404" pitchFamily="49" charset="0"/>
              </a:rPr>
              <a:t>ADAMS      CLERK</a:t>
            </a:r>
          </a:p>
          <a:p>
            <a:pPr>
              <a:spcBef>
                <a:spcPct val="0"/>
              </a:spcBef>
            </a:pPr>
            <a:r>
              <a:rPr lang="en-US" altLang="en-US" sz="1100">
                <a:solidFill>
                  <a:srgbClr val="000000"/>
                </a:solidFill>
                <a:latin typeface="Courier New" panose="02070309020205020404" pitchFamily="49" charset="0"/>
              </a:rPr>
              <a:t>MILLER     CLERK</a:t>
            </a:r>
          </a:p>
        </p:txBody>
      </p:sp>
      <p:sp>
        <p:nvSpPr>
          <p:cNvPr id="25609" name="Rectangle 9">
            <a:extLst>
              <a:ext uri="{FF2B5EF4-FFF2-40B4-BE49-F238E27FC236}">
                <a16:creationId xmlns:a16="http://schemas.microsoft.com/office/drawing/2014/main" id="{7E6B0B1D-01EE-A99F-BAE8-BA1B2724CBF0}"/>
              </a:ext>
            </a:extLst>
          </p:cNvPr>
          <p:cNvSpPr>
            <a:spLocks noChangeArrowheads="1"/>
          </p:cNvSpPr>
          <p:nvPr/>
        </p:nvSpPr>
        <p:spPr bwMode="auto">
          <a:xfrm>
            <a:off x="719138" y="6016625"/>
            <a:ext cx="4232275"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664" tIns="45028" rIns="91664" bIns="45028">
            <a:spAutoFit/>
          </a:bodyPr>
          <a:lstStyle>
            <a:lvl1pPr defTabSz="407988">
              <a:spcBef>
                <a:spcPct val="30000"/>
              </a:spcBef>
              <a:defRPr sz="1200">
                <a:solidFill>
                  <a:schemeClr val="tx1"/>
                </a:solidFill>
                <a:latin typeface="Arial" panose="020B0604020202020204" pitchFamily="34" charset="0"/>
              </a:defRPr>
            </a:lvl1pPr>
            <a:lvl2pPr marL="742950" indent="-285750" defTabSz="407988">
              <a:spcBef>
                <a:spcPct val="30000"/>
              </a:spcBef>
              <a:defRPr sz="1200">
                <a:solidFill>
                  <a:schemeClr val="tx1"/>
                </a:solidFill>
                <a:latin typeface="Arial" panose="020B0604020202020204" pitchFamily="34" charset="0"/>
              </a:defRPr>
            </a:lvl2pPr>
            <a:lvl3pPr marL="1143000" indent="-228600" defTabSz="407988">
              <a:spcBef>
                <a:spcPct val="30000"/>
              </a:spcBef>
              <a:defRPr sz="1200">
                <a:solidFill>
                  <a:schemeClr val="tx1"/>
                </a:solidFill>
                <a:latin typeface="Arial" panose="020B0604020202020204" pitchFamily="34" charset="0"/>
              </a:defRPr>
            </a:lvl3pPr>
            <a:lvl4pPr marL="1600200" indent="-228600" defTabSz="407988">
              <a:spcBef>
                <a:spcPct val="30000"/>
              </a:spcBef>
              <a:defRPr sz="1200">
                <a:solidFill>
                  <a:schemeClr val="tx1"/>
                </a:solidFill>
                <a:latin typeface="Arial" panose="020B0604020202020204" pitchFamily="34" charset="0"/>
              </a:defRPr>
            </a:lvl4pPr>
            <a:lvl5pPr marL="2057400" indent="-228600" defTabSz="407988">
              <a:spcBef>
                <a:spcPct val="30000"/>
              </a:spcBef>
              <a:defRPr sz="1200">
                <a:solidFill>
                  <a:schemeClr val="tx1"/>
                </a:solidFill>
                <a:latin typeface="Arial" panose="020B0604020202020204" pitchFamily="34" charset="0"/>
              </a:defRPr>
            </a:lvl5pPr>
            <a:lvl6pPr marL="2514600" indent="-228600" defTabSz="407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07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07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07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spcAft>
                <a:spcPct val="24000"/>
              </a:spcAft>
            </a:pPr>
            <a:r>
              <a:rPr lang="en-US" altLang="en-US" sz="1100" b="1">
                <a:latin typeface="Courier New" panose="02070309020205020404" pitchFamily="49" charset="0"/>
              </a:rPr>
              <a:t>SQL&gt; SELECT   ename, job</a:t>
            </a:r>
            <a:br>
              <a:rPr lang="en-US" altLang="en-US" sz="1100" b="1">
                <a:latin typeface="Courier New" panose="02070309020205020404" pitchFamily="49" charset="0"/>
              </a:rPr>
            </a:br>
            <a:r>
              <a:rPr lang="en-US" altLang="en-US" sz="1100" b="1">
                <a:latin typeface="Courier New" panose="02070309020205020404" pitchFamily="49" charset="0"/>
              </a:rPr>
              <a:t>   2  FROM     emp</a:t>
            </a:r>
            <a:br>
              <a:rPr lang="en-US" altLang="en-US" sz="1100" b="1">
                <a:latin typeface="Courier New" panose="02070309020205020404" pitchFamily="49" charset="0"/>
              </a:rPr>
            </a:br>
            <a:r>
              <a:rPr lang="en-US" altLang="en-US" sz="1100" b="1">
                <a:latin typeface="Courier New" panose="02070309020205020404" pitchFamily="49" charset="0"/>
              </a:rPr>
              <a:t>   3  WHERE    job = </a:t>
            </a:r>
          </a:p>
          <a:p>
            <a:pPr>
              <a:spcBef>
                <a:spcPct val="0"/>
              </a:spcBef>
              <a:spcAft>
                <a:spcPct val="24000"/>
              </a:spcAft>
            </a:pPr>
            <a:r>
              <a:rPr lang="en-US" altLang="en-US" sz="1100" b="1">
                <a:latin typeface="Courier New" panose="02070309020205020404" pitchFamily="49" charset="0"/>
              </a:rPr>
              <a:t>   4		      	(SELECT  job</a:t>
            </a:r>
            <a:br>
              <a:rPr lang="en-US" altLang="en-US" sz="1100" b="1">
                <a:latin typeface="Courier New" panose="02070309020205020404" pitchFamily="49" charset="0"/>
              </a:rPr>
            </a:br>
            <a:r>
              <a:rPr lang="en-US" altLang="en-US" sz="1100" b="1">
                <a:latin typeface="Courier New" panose="02070309020205020404" pitchFamily="49" charset="0"/>
              </a:rPr>
              <a:t>   5	     			 FROM     emp</a:t>
            </a:r>
            <a:br>
              <a:rPr lang="en-US" altLang="en-US" sz="1100" b="1">
                <a:latin typeface="Courier New" panose="02070309020205020404" pitchFamily="49" charset="0"/>
              </a:rPr>
            </a:br>
            <a:r>
              <a:rPr lang="en-US" altLang="en-US" sz="1100" b="1">
                <a:latin typeface="Courier New" panose="02070309020205020404" pitchFamily="49" charset="0"/>
              </a:rPr>
              <a:t>   6	     			 WHERE    empno = 7369);</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91DE3E77-515E-C0E5-D692-688058176864}"/>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1" name="Rectangle 3">
            <a:extLst>
              <a:ext uri="{FF2B5EF4-FFF2-40B4-BE49-F238E27FC236}">
                <a16:creationId xmlns:a16="http://schemas.microsoft.com/office/drawing/2014/main" id="{5DF54A24-D79D-BD94-1240-86BE5D7A1A35}"/>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r>
              <a:rPr lang="en-US" altLang="en-US">
                <a:latin typeface="Arial" panose="020B0604020202020204" pitchFamily="34" charset="0"/>
              </a:rPr>
              <a:t>Executing Single-Row Subqueries</a:t>
            </a:r>
          </a:p>
          <a:p>
            <a:pPr lvl="1"/>
            <a:r>
              <a:rPr lang="en-US" altLang="en-US">
                <a:latin typeface="Arial" panose="020B0604020202020204" pitchFamily="34" charset="0"/>
              </a:rPr>
              <a:t>A SELECT statement can be considered as a query block. The example on the slide displays employees whose job title is the same as that of employee 7369 and whose salary is greater than that of employee 7876. </a:t>
            </a:r>
          </a:p>
          <a:p>
            <a:pPr lvl="1"/>
            <a:r>
              <a:rPr lang="en-US" altLang="en-US">
                <a:latin typeface="Arial" panose="020B0604020202020204" pitchFamily="34" charset="0"/>
              </a:rPr>
              <a:t>The example consists of three query blocks: the outer query and two inner queries. The inner query blocks are executed first, producing the query results: CLERK and 1100, respectively. The outer query block is then processed and uses the values returned by the inner queries to complete its search conditions.  </a:t>
            </a:r>
          </a:p>
          <a:p>
            <a:pPr lvl="1"/>
            <a:r>
              <a:rPr lang="en-US" altLang="en-US">
                <a:latin typeface="Arial" panose="020B0604020202020204" pitchFamily="34" charset="0"/>
              </a:rPr>
              <a:t>Both inner queries return single values (CLERK and 1100, respectively), so this SQL statement is called a single-row subquery.</a:t>
            </a:r>
          </a:p>
          <a:p>
            <a:pPr lvl="1"/>
            <a:r>
              <a:rPr lang="en-US" altLang="en-US" b="1">
                <a:latin typeface="Arial" panose="020B0604020202020204" pitchFamily="34" charset="0"/>
              </a:rPr>
              <a:t>Note:</a:t>
            </a:r>
            <a:r>
              <a:rPr lang="en-US" altLang="en-US">
                <a:latin typeface="Arial" panose="020B0604020202020204" pitchFamily="34" charset="0"/>
              </a:rPr>
              <a:t> The outer and inner queries can get data from different tables.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9A5816C9-4025-69DA-02FF-986A3B794B97}"/>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82588"/>
            <a:r>
              <a:rPr lang="en-US" altLang="en-US">
                <a:latin typeface="Arial" panose="020B0604020202020204" pitchFamily="34" charset="0"/>
              </a:rPr>
              <a:t>Using Group Functions in a Subquery</a:t>
            </a:r>
          </a:p>
          <a:p>
            <a:pPr marL="114300" lvl="1" defTabSz="382588"/>
            <a:r>
              <a:rPr lang="en-US" altLang="en-US">
                <a:latin typeface="Arial" panose="020B0604020202020204" pitchFamily="34" charset="0"/>
              </a:rPr>
              <a:t>You can display data from a main query by using a group function in a subquery to return a single row. The subquery is in parentheses and is placed after the comparison operator.</a:t>
            </a:r>
          </a:p>
          <a:p>
            <a:pPr marL="114300" lvl="1" defTabSz="382588"/>
            <a:r>
              <a:rPr lang="en-US" altLang="en-US">
                <a:latin typeface="Arial" panose="020B0604020202020204" pitchFamily="34" charset="0"/>
              </a:rPr>
              <a:t>The example on the slide displays the employee name, job title, and salary of all employees whose salary is equal to the minimum salary. The MIN group function returns a single value (800) to the outer query.</a:t>
            </a:r>
          </a:p>
          <a:p>
            <a:pPr marL="114300" lvl="1" defTabSz="382588"/>
            <a:endParaRPr lang="en-US" altLang="en-US">
              <a:latin typeface="Arial" panose="020B0604020202020204" pitchFamily="34" charset="0"/>
            </a:endParaRPr>
          </a:p>
          <a:p>
            <a:pPr defTabSz="382588"/>
            <a:endParaRPr lang="en-US" altLang="en-US" b="1">
              <a:latin typeface="Times New Roman" panose="02020603050405020304" pitchFamily="18" charset="0"/>
            </a:endParaRPr>
          </a:p>
        </p:txBody>
      </p:sp>
      <p:sp>
        <p:nvSpPr>
          <p:cNvPr id="29699" name="Rectangle 3">
            <a:extLst>
              <a:ext uri="{FF2B5EF4-FFF2-40B4-BE49-F238E27FC236}">
                <a16:creationId xmlns:a16="http://schemas.microsoft.com/office/drawing/2014/main" id="{576CB4A8-9ED8-DBC9-37FA-7621B0B386EB}"/>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91FC95BD-EDDC-7D58-CAFE-E91DC69471C2}"/>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82588"/>
            <a:r>
              <a:rPr lang="en-US" altLang="en-US">
                <a:latin typeface="Arial" panose="020B0604020202020204" pitchFamily="34" charset="0"/>
              </a:rPr>
              <a:t>Using Group Functions in a Subquery</a:t>
            </a:r>
          </a:p>
          <a:p>
            <a:pPr marL="114300" lvl="1" defTabSz="382588"/>
            <a:r>
              <a:rPr lang="en-US" altLang="en-US">
                <a:latin typeface="Arial" panose="020B0604020202020204" pitchFamily="34" charset="0"/>
              </a:rPr>
              <a:t>You can display data from a main query by using a group function in a subquery to return a single row. The subquery is in parentheses and is placed after the comparison operator.</a:t>
            </a:r>
          </a:p>
          <a:p>
            <a:pPr marL="114300" lvl="1" defTabSz="382588"/>
            <a:r>
              <a:rPr lang="en-US" altLang="en-US">
                <a:latin typeface="Arial" panose="020B0604020202020204" pitchFamily="34" charset="0"/>
              </a:rPr>
              <a:t>The example on the slide displays the employee name, job title, and salary of all employees whose salary is equal to the minimum salary. The MIN group function returns a single value (800) to the outer query.</a:t>
            </a:r>
          </a:p>
          <a:p>
            <a:pPr marL="114300" lvl="1" defTabSz="382588"/>
            <a:endParaRPr lang="en-US" altLang="en-US">
              <a:latin typeface="Arial" panose="020B0604020202020204" pitchFamily="34" charset="0"/>
            </a:endParaRPr>
          </a:p>
          <a:p>
            <a:pPr defTabSz="382588"/>
            <a:endParaRPr lang="en-US" altLang="en-US" b="1">
              <a:latin typeface="Times New Roman" panose="02020603050405020304" pitchFamily="18" charset="0"/>
            </a:endParaRPr>
          </a:p>
        </p:txBody>
      </p:sp>
      <p:sp>
        <p:nvSpPr>
          <p:cNvPr id="31747" name="Rectangle 3">
            <a:extLst>
              <a:ext uri="{FF2B5EF4-FFF2-40B4-BE49-F238E27FC236}">
                <a16:creationId xmlns:a16="http://schemas.microsoft.com/office/drawing/2014/main" id="{629B37D9-5502-EAA6-C166-D222328DD5F0}"/>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A4C4629-5564-51CC-BB30-DC75CBC3D156}"/>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5" name="Rectangle 3">
            <a:extLst>
              <a:ext uri="{FF2B5EF4-FFF2-40B4-BE49-F238E27FC236}">
                <a16:creationId xmlns:a16="http://schemas.microsoft.com/office/drawing/2014/main" id="{95AA3988-9FEC-0D34-6F8F-064AB1279142}"/>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r>
              <a:rPr lang="en-US" altLang="en-US">
                <a:latin typeface="Arial" panose="020B0604020202020204" pitchFamily="34" charset="0"/>
              </a:rPr>
              <a:t>select dname,count(*) from emp natural join dept</a:t>
            </a:r>
          </a:p>
          <a:p>
            <a:r>
              <a:rPr lang="en-US" altLang="en-US">
                <a:latin typeface="Arial" panose="020B0604020202020204" pitchFamily="34" charset="0"/>
              </a:rPr>
              <a:t>group by dname</a:t>
            </a:r>
          </a:p>
          <a:p>
            <a:r>
              <a:rPr lang="en-US" altLang="en-US">
                <a:latin typeface="Arial" panose="020B0604020202020204" pitchFamily="34" charset="0"/>
              </a:rPr>
              <a:t>having count(*)=(select max(count(*)) from emp group by deptno)</a:t>
            </a:r>
          </a:p>
          <a:p>
            <a:endParaRPr lang="en-US" altLang="en-US">
              <a:latin typeface="Arial" panose="020B0604020202020204" pitchFamily="34" charset="0"/>
            </a:endParaRPr>
          </a:p>
          <a:p>
            <a:r>
              <a:rPr lang="en-US" altLang="en-US">
                <a:latin typeface="Arial" panose="020B0604020202020204" pitchFamily="34" charset="0"/>
              </a:rPr>
              <a:t>HAVING Clause with Subqueries</a:t>
            </a:r>
          </a:p>
          <a:p>
            <a:pPr lvl="1"/>
            <a:r>
              <a:rPr lang="en-US" altLang="en-US">
                <a:latin typeface="Arial" panose="020B0604020202020204" pitchFamily="34" charset="0"/>
              </a:rPr>
              <a:t>You can use subqueries not only in the WHERE clause, but also in the HAVING clause. The Oracle Server executes the subquery, and the results are returned into the HAVING clause of the main query.</a:t>
            </a:r>
          </a:p>
          <a:p>
            <a:pPr lvl="1"/>
            <a:r>
              <a:rPr lang="en-US" altLang="en-US">
                <a:latin typeface="Arial" panose="020B0604020202020204" pitchFamily="34" charset="0"/>
              </a:rPr>
              <a:t>The SQL statement on the slide displays all the departments that have a minimum salary greater than that of department 20.</a:t>
            </a:r>
          </a:p>
          <a:p>
            <a:pPr lvl="1"/>
            <a:endParaRPr lang="en-US" altLang="en-US">
              <a:latin typeface="Arial" panose="020B0604020202020204" pitchFamily="34" charset="0"/>
            </a:endParaRPr>
          </a:p>
          <a:p>
            <a:pPr lvl="1"/>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r>
              <a:rPr lang="en-US" altLang="en-US">
                <a:latin typeface="Arial" panose="020B0604020202020204" pitchFamily="34" charset="0"/>
              </a:rPr>
              <a:t>Example</a:t>
            </a:r>
          </a:p>
          <a:p>
            <a:pPr lvl="1"/>
            <a:r>
              <a:rPr lang="en-US" altLang="en-US">
                <a:latin typeface="Arial" panose="020B0604020202020204" pitchFamily="34" charset="0"/>
              </a:rPr>
              <a:t>Find the job with the lowest average salary.</a:t>
            </a:r>
          </a:p>
          <a:p>
            <a:endParaRPr lang="en-US" altLang="en-US" b="1">
              <a:latin typeface="Times New Roman" panose="02020603050405020304" pitchFamily="18" charset="0"/>
            </a:endParaRPr>
          </a:p>
        </p:txBody>
      </p:sp>
      <p:sp>
        <p:nvSpPr>
          <p:cNvPr id="33796" name="Rectangle 4">
            <a:extLst>
              <a:ext uri="{FF2B5EF4-FFF2-40B4-BE49-F238E27FC236}">
                <a16:creationId xmlns:a16="http://schemas.microsoft.com/office/drawing/2014/main" id="{104FFF20-79C6-9766-3491-D75EE9DE0CFA}"/>
              </a:ext>
            </a:extLst>
          </p:cNvPr>
          <p:cNvSpPr>
            <a:spLocks noChangeArrowheads="1"/>
          </p:cNvSpPr>
          <p:nvPr/>
        </p:nvSpPr>
        <p:spPr bwMode="auto">
          <a:xfrm>
            <a:off x="628650" y="5911850"/>
            <a:ext cx="5668963" cy="8397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56" tIns="43420" rIns="90056" bIns="43420" anchor="ctr"/>
          <a:lstStyle>
            <a:lvl1pPr defTabSz="839788">
              <a:spcBef>
                <a:spcPct val="30000"/>
              </a:spcBef>
              <a:tabLst>
                <a:tab pos="1155700" algn="l"/>
              </a:tabLst>
              <a:defRPr sz="1200">
                <a:solidFill>
                  <a:schemeClr val="tx1"/>
                </a:solidFill>
                <a:latin typeface="Arial" panose="020B0604020202020204" pitchFamily="34" charset="0"/>
              </a:defRPr>
            </a:lvl1pPr>
            <a:lvl2pPr marL="742950" indent="-285750" defTabSz="839788">
              <a:spcBef>
                <a:spcPct val="30000"/>
              </a:spcBef>
              <a:tabLst>
                <a:tab pos="1155700" algn="l"/>
              </a:tabLst>
              <a:defRPr sz="1200">
                <a:solidFill>
                  <a:schemeClr val="tx1"/>
                </a:solidFill>
                <a:latin typeface="Arial" panose="020B0604020202020204" pitchFamily="34" charset="0"/>
              </a:defRPr>
            </a:lvl2pPr>
            <a:lvl3pPr marL="1143000" indent="-228600" defTabSz="839788">
              <a:spcBef>
                <a:spcPct val="30000"/>
              </a:spcBef>
              <a:tabLst>
                <a:tab pos="1155700" algn="l"/>
              </a:tabLst>
              <a:defRPr sz="1200">
                <a:solidFill>
                  <a:schemeClr val="tx1"/>
                </a:solidFill>
                <a:latin typeface="Arial" panose="020B0604020202020204" pitchFamily="34" charset="0"/>
              </a:defRPr>
            </a:lvl3pPr>
            <a:lvl4pPr marL="1600200" indent="-228600" defTabSz="839788">
              <a:spcBef>
                <a:spcPct val="30000"/>
              </a:spcBef>
              <a:tabLst>
                <a:tab pos="1155700" algn="l"/>
              </a:tabLst>
              <a:defRPr sz="1200">
                <a:solidFill>
                  <a:schemeClr val="tx1"/>
                </a:solidFill>
                <a:latin typeface="Arial" panose="020B0604020202020204" pitchFamily="34" charset="0"/>
              </a:defRPr>
            </a:lvl4pPr>
            <a:lvl5pPr marL="2057400" indent="-228600" defTabSz="839788">
              <a:spcBef>
                <a:spcPct val="30000"/>
              </a:spcBef>
              <a:tabLst>
                <a:tab pos="1155700" algn="l"/>
              </a:tabLst>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tabLst>
                <a:tab pos="1155700" algn="l"/>
              </a:tabLs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tabLst>
                <a:tab pos="1155700" algn="l"/>
              </a:tabLs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tabLst>
                <a:tab pos="1155700" algn="l"/>
              </a:tabLs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tabLst>
                <a:tab pos="1155700" algn="l"/>
              </a:tabLst>
              <a:defRPr sz="1200">
                <a:solidFill>
                  <a:schemeClr val="tx1"/>
                </a:solidFill>
                <a:latin typeface="Arial" panose="020B0604020202020204" pitchFamily="34" charset="0"/>
              </a:defRPr>
            </a:lvl9pPr>
          </a:lstStyle>
          <a:p>
            <a:pPr>
              <a:lnSpc>
                <a:spcPct val="70000"/>
              </a:lnSpc>
              <a:spcBef>
                <a:spcPct val="0"/>
              </a:spcBef>
            </a:pPr>
            <a:r>
              <a:rPr lang="en-US" altLang="en-US" sz="2500">
                <a:latin typeface="Times New Roman" panose="02020603050405020304" pitchFamily="18" charset="0"/>
              </a:rPr>
              <a:t>   </a:t>
            </a:r>
            <a:r>
              <a:rPr lang="en-US" altLang="en-US" sz="1100">
                <a:latin typeface="Courier New" panose="02070309020205020404" pitchFamily="49" charset="0"/>
              </a:rPr>
              <a:t>DEPTNO   MIN(SAL)</a:t>
            </a:r>
          </a:p>
          <a:p>
            <a:pPr>
              <a:spcBef>
                <a:spcPct val="0"/>
              </a:spcBef>
            </a:pPr>
            <a:r>
              <a:rPr lang="en-US" altLang="en-US" sz="1100">
                <a:latin typeface="Courier New" panose="02070309020205020404" pitchFamily="49" charset="0"/>
              </a:rPr>
              <a:t>--------- ---------</a:t>
            </a:r>
          </a:p>
          <a:p>
            <a:pPr>
              <a:spcBef>
                <a:spcPct val="0"/>
              </a:spcBef>
            </a:pPr>
            <a:r>
              <a:rPr lang="en-US" altLang="en-US" sz="1100">
                <a:latin typeface="Courier New" panose="02070309020205020404" pitchFamily="49" charset="0"/>
              </a:rPr>
              <a:t>       10      1300</a:t>
            </a:r>
          </a:p>
          <a:p>
            <a:pPr>
              <a:spcBef>
                <a:spcPct val="0"/>
              </a:spcBef>
            </a:pPr>
            <a:r>
              <a:rPr lang="en-US" altLang="en-US" sz="1100">
                <a:latin typeface="Courier New" panose="02070309020205020404" pitchFamily="49" charset="0"/>
              </a:rPr>
              <a:t>       30       950</a:t>
            </a:r>
          </a:p>
        </p:txBody>
      </p:sp>
      <p:sp>
        <p:nvSpPr>
          <p:cNvPr id="33797" name="Rectangle 5">
            <a:extLst>
              <a:ext uri="{FF2B5EF4-FFF2-40B4-BE49-F238E27FC236}">
                <a16:creationId xmlns:a16="http://schemas.microsoft.com/office/drawing/2014/main" id="{4B8E38AD-F132-FA21-7E57-A40AE66E50ED}"/>
              </a:ext>
            </a:extLst>
          </p:cNvPr>
          <p:cNvSpPr>
            <a:spLocks noChangeArrowheads="1"/>
          </p:cNvSpPr>
          <p:nvPr/>
        </p:nvSpPr>
        <p:spPr bwMode="auto">
          <a:xfrm>
            <a:off x="615950" y="7286625"/>
            <a:ext cx="5686425" cy="1130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33798" name="Rectangle 6">
            <a:extLst>
              <a:ext uri="{FF2B5EF4-FFF2-40B4-BE49-F238E27FC236}">
                <a16:creationId xmlns:a16="http://schemas.microsoft.com/office/drawing/2014/main" id="{967CB3C4-42DE-C08E-E8E7-76CEE15BDB3B}"/>
              </a:ext>
            </a:extLst>
          </p:cNvPr>
          <p:cNvSpPr>
            <a:spLocks noChangeArrowheads="1"/>
          </p:cNvSpPr>
          <p:nvPr/>
        </p:nvSpPr>
        <p:spPr bwMode="auto">
          <a:xfrm>
            <a:off x="654050" y="7286625"/>
            <a:ext cx="5722938"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56" tIns="43420" rIns="90056" bIns="43420">
            <a:spAutoFit/>
          </a:bodyPr>
          <a:lstStyle>
            <a:lvl1pPr defTabSz="839788">
              <a:spcBef>
                <a:spcPct val="30000"/>
              </a:spcBef>
              <a:tabLst>
                <a:tab pos="1155700" algn="l"/>
                <a:tab pos="2097088" algn="l"/>
                <a:tab pos="2825750" algn="l"/>
              </a:tabLst>
              <a:defRPr sz="1200">
                <a:solidFill>
                  <a:schemeClr val="tx1"/>
                </a:solidFill>
                <a:latin typeface="Arial" panose="020B0604020202020204" pitchFamily="34" charset="0"/>
              </a:defRPr>
            </a:lvl1pPr>
            <a:lvl2pPr marL="742950" indent="-285750" defTabSz="839788">
              <a:spcBef>
                <a:spcPct val="30000"/>
              </a:spcBef>
              <a:tabLst>
                <a:tab pos="1155700" algn="l"/>
                <a:tab pos="2097088" algn="l"/>
                <a:tab pos="2825750" algn="l"/>
              </a:tabLst>
              <a:defRPr sz="1200">
                <a:solidFill>
                  <a:schemeClr val="tx1"/>
                </a:solidFill>
                <a:latin typeface="Arial" panose="020B0604020202020204" pitchFamily="34" charset="0"/>
              </a:defRPr>
            </a:lvl2pPr>
            <a:lvl3pPr marL="1143000" indent="-228600" defTabSz="839788">
              <a:spcBef>
                <a:spcPct val="30000"/>
              </a:spcBef>
              <a:tabLst>
                <a:tab pos="1155700" algn="l"/>
                <a:tab pos="2097088" algn="l"/>
                <a:tab pos="2825750" algn="l"/>
              </a:tabLst>
              <a:defRPr sz="1200">
                <a:solidFill>
                  <a:schemeClr val="tx1"/>
                </a:solidFill>
                <a:latin typeface="Arial" panose="020B0604020202020204" pitchFamily="34" charset="0"/>
              </a:defRPr>
            </a:lvl3pPr>
            <a:lvl4pPr marL="1600200" indent="-228600" defTabSz="839788">
              <a:spcBef>
                <a:spcPct val="30000"/>
              </a:spcBef>
              <a:tabLst>
                <a:tab pos="1155700" algn="l"/>
                <a:tab pos="2097088" algn="l"/>
                <a:tab pos="2825750" algn="l"/>
              </a:tabLst>
              <a:defRPr sz="1200">
                <a:solidFill>
                  <a:schemeClr val="tx1"/>
                </a:solidFill>
                <a:latin typeface="Arial" panose="020B0604020202020204" pitchFamily="34" charset="0"/>
              </a:defRPr>
            </a:lvl4pPr>
            <a:lvl5pPr marL="2057400" indent="-228600" defTabSz="839788">
              <a:spcBef>
                <a:spcPct val="30000"/>
              </a:spcBef>
              <a:tabLst>
                <a:tab pos="1155700" algn="l"/>
                <a:tab pos="2097088" algn="l"/>
                <a:tab pos="2825750" algn="l"/>
              </a:tabLst>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tabLst>
                <a:tab pos="1155700" algn="l"/>
                <a:tab pos="2097088" algn="l"/>
                <a:tab pos="2825750" algn="l"/>
              </a:tabLs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tabLst>
                <a:tab pos="1155700" algn="l"/>
                <a:tab pos="2097088" algn="l"/>
                <a:tab pos="2825750" algn="l"/>
              </a:tabLs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tabLst>
                <a:tab pos="1155700" algn="l"/>
                <a:tab pos="2097088" algn="l"/>
                <a:tab pos="2825750" algn="l"/>
              </a:tabLs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tabLst>
                <a:tab pos="1155700" algn="l"/>
                <a:tab pos="2097088" algn="l"/>
                <a:tab pos="2825750" algn="l"/>
              </a:tabLst>
              <a:defRPr sz="1200">
                <a:solidFill>
                  <a:schemeClr val="tx1"/>
                </a:solidFill>
                <a:latin typeface="Arial" panose="020B0604020202020204" pitchFamily="34" charset="0"/>
              </a:defRPr>
            </a:lvl9pPr>
          </a:lstStyle>
          <a:p>
            <a:pPr>
              <a:spcBef>
                <a:spcPct val="0"/>
              </a:spcBef>
            </a:pPr>
            <a:r>
              <a:rPr lang="en-US" altLang="en-US" sz="1100" b="1">
                <a:latin typeface="Courier New" panose="02070309020205020404" pitchFamily="49" charset="0"/>
              </a:rPr>
              <a:t>SQL&gt; SELECT	job, AVG(sal)</a:t>
            </a:r>
          </a:p>
          <a:p>
            <a:pPr>
              <a:spcBef>
                <a:spcPct val="0"/>
              </a:spcBef>
            </a:pPr>
            <a:r>
              <a:rPr lang="en-US" altLang="en-US" sz="1100" b="1">
                <a:latin typeface="Courier New" panose="02070309020205020404" pitchFamily="49" charset="0"/>
              </a:rPr>
              <a:t>  2  FROM	emp</a:t>
            </a:r>
          </a:p>
          <a:p>
            <a:pPr>
              <a:spcBef>
                <a:spcPct val="0"/>
              </a:spcBef>
            </a:pPr>
            <a:r>
              <a:rPr lang="en-US" altLang="en-US" sz="1100" b="1">
                <a:latin typeface="Courier New" panose="02070309020205020404" pitchFamily="49" charset="0"/>
              </a:rPr>
              <a:t>  3  GROUP BY	job</a:t>
            </a:r>
          </a:p>
          <a:p>
            <a:pPr>
              <a:spcBef>
                <a:spcPct val="0"/>
              </a:spcBef>
            </a:pPr>
            <a:r>
              <a:rPr lang="en-US" altLang="en-US" sz="1100" b="1">
                <a:latin typeface="Courier New" panose="02070309020205020404" pitchFamily="49" charset="0"/>
              </a:rPr>
              <a:t>  4  HAVING	AVG(sal) = (SELECT	 MIN(AVG(sal))</a:t>
            </a:r>
          </a:p>
          <a:p>
            <a:pPr>
              <a:spcBef>
                <a:spcPct val="0"/>
              </a:spcBef>
            </a:pPr>
            <a:r>
              <a:rPr lang="en-US" altLang="en-US" sz="1100" b="1">
                <a:latin typeface="Courier New" panose="02070309020205020404" pitchFamily="49" charset="0"/>
              </a:rPr>
              <a:t>  5		FROM      EMP</a:t>
            </a:r>
          </a:p>
          <a:p>
            <a:pPr>
              <a:spcBef>
                <a:spcPct val="0"/>
              </a:spcBef>
            </a:pPr>
            <a:r>
              <a:rPr lang="en-US" altLang="en-US" sz="1100" b="1">
                <a:latin typeface="Courier New" panose="02070309020205020404" pitchFamily="49" charset="0"/>
              </a:rPr>
              <a:t>  6		GROUP BY  job);</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E38C1359-4A37-FD3F-33D0-2E196E0BF04F}"/>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843" name="Rectangle 3">
            <a:extLst>
              <a:ext uri="{FF2B5EF4-FFF2-40B4-BE49-F238E27FC236}">
                <a16:creationId xmlns:a16="http://schemas.microsoft.com/office/drawing/2014/main" id="{844A4335-EA20-8244-A04E-E40CFA035197}"/>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r>
              <a:rPr lang="en-US" altLang="en-US">
                <a:latin typeface="Arial" panose="020B0604020202020204" pitchFamily="34" charset="0"/>
              </a:rPr>
              <a:t>select dname,count(*) from emp natural join dept</a:t>
            </a:r>
          </a:p>
          <a:p>
            <a:r>
              <a:rPr lang="en-US" altLang="en-US">
                <a:latin typeface="Arial" panose="020B0604020202020204" pitchFamily="34" charset="0"/>
              </a:rPr>
              <a:t>group by dname</a:t>
            </a:r>
          </a:p>
          <a:p>
            <a:r>
              <a:rPr lang="en-US" altLang="en-US">
                <a:latin typeface="Arial" panose="020B0604020202020204" pitchFamily="34" charset="0"/>
              </a:rPr>
              <a:t>having count(*)=(select max(count(*)) from emp group by deptno)</a:t>
            </a:r>
          </a:p>
          <a:p>
            <a:endParaRPr lang="en-US" altLang="en-US">
              <a:latin typeface="Arial" panose="020B0604020202020204" pitchFamily="34" charset="0"/>
            </a:endParaRPr>
          </a:p>
          <a:p>
            <a:r>
              <a:rPr lang="en-US" altLang="en-US">
                <a:latin typeface="Arial" panose="020B0604020202020204" pitchFamily="34" charset="0"/>
              </a:rPr>
              <a:t>HAVING Clause with Subqueries</a:t>
            </a:r>
          </a:p>
          <a:p>
            <a:pPr lvl="1"/>
            <a:r>
              <a:rPr lang="en-US" altLang="en-US">
                <a:latin typeface="Arial" panose="020B0604020202020204" pitchFamily="34" charset="0"/>
              </a:rPr>
              <a:t>You can use subqueries not only in the WHERE clause, but also in the HAVING clause. The Oracle Server executes the subquery, and the results are returned into the HAVING clause of the main query.</a:t>
            </a:r>
          </a:p>
          <a:p>
            <a:pPr lvl="1"/>
            <a:r>
              <a:rPr lang="en-US" altLang="en-US">
                <a:latin typeface="Arial" panose="020B0604020202020204" pitchFamily="34" charset="0"/>
              </a:rPr>
              <a:t>The SQL statement on the slide displays all the departments that have a minimum salary greater than that of department 20.</a:t>
            </a:r>
          </a:p>
          <a:p>
            <a:pPr lvl="1"/>
            <a:endParaRPr lang="en-US" altLang="en-US">
              <a:latin typeface="Arial" panose="020B0604020202020204" pitchFamily="34" charset="0"/>
            </a:endParaRPr>
          </a:p>
          <a:p>
            <a:pPr lvl="1"/>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r>
              <a:rPr lang="en-US" altLang="en-US">
                <a:latin typeface="Arial" panose="020B0604020202020204" pitchFamily="34" charset="0"/>
              </a:rPr>
              <a:t>Example</a:t>
            </a:r>
          </a:p>
          <a:p>
            <a:pPr lvl="1"/>
            <a:r>
              <a:rPr lang="en-US" altLang="en-US">
                <a:latin typeface="Arial" panose="020B0604020202020204" pitchFamily="34" charset="0"/>
              </a:rPr>
              <a:t>Find the job with the lowest average salary.</a:t>
            </a:r>
          </a:p>
          <a:p>
            <a:endParaRPr lang="en-US" altLang="en-US" b="1">
              <a:latin typeface="Times New Roman" panose="02020603050405020304" pitchFamily="18" charset="0"/>
            </a:endParaRPr>
          </a:p>
        </p:txBody>
      </p:sp>
      <p:sp>
        <p:nvSpPr>
          <p:cNvPr id="35844" name="Rectangle 4">
            <a:extLst>
              <a:ext uri="{FF2B5EF4-FFF2-40B4-BE49-F238E27FC236}">
                <a16:creationId xmlns:a16="http://schemas.microsoft.com/office/drawing/2014/main" id="{CD8851C0-6C5B-13F1-3C4C-BE94870F72AC}"/>
              </a:ext>
            </a:extLst>
          </p:cNvPr>
          <p:cNvSpPr>
            <a:spLocks noChangeArrowheads="1"/>
          </p:cNvSpPr>
          <p:nvPr/>
        </p:nvSpPr>
        <p:spPr bwMode="auto">
          <a:xfrm>
            <a:off x="628650" y="5911850"/>
            <a:ext cx="5668963" cy="8397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56" tIns="43420" rIns="90056" bIns="43420" anchor="ctr"/>
          <a:lstStyle>
            <a:lvl1pPr defTabSz="839788">
              <a:spcBef>
                <a:spcPct val="30000"/>
              </a:spcBef>
              <a:tabLst>
                <a:tab pos="1155700" algn="l"/>
              </a:tabLst>
              <a:defRPr sz="1200">
                <a:solidFill>
                  <a:schemeClr val="tx1"/>
                </a:solidFill>
                <a:latin typeface="Arial" panose="020B0604020202020204" pitchFamily="34" charset="0"/>
              </a:defRPr>
            </a:lvl1pPr>
            <a:lvl2pPr marL="742950" indent="-285750" defTabSz="839788">
              <a:spcBef>
                <a:spcPct val="30000"/>
              </a:spcBef>
              <a:tabLst>
                <a:tab pos="1155700" algn="l"/>
              </a:tabLst>
              <a:defRPr sz="1200">
                <a:solidFill>
                  <a:schemeClr val="tx1"/>
                </a:solidFill>
                <a:latin typeface="Arial" panose="020B0604020202020204" pitchFamily="34" charset="0"/>
              </a:defRPr>
            </a:lvl2pPr>
            <a:lvl3pPr marL="1143000" indent="-228600" defTabSz="839788">
              <a:spcBef>
                <a:spcPct val="30000"/>
              </a:spcBef>
              <a:tabLst>
                <a:tab pos="1155700" algn="l"/>
              </a:tabLst>
              <a:defRPr sz="1200">
                <a:solidFill>
                  <a:schemeClr val="tx1"/>
                </a:solidFill>
                <a:latin typeface="Arial" panose="020B0604020202020204" pitchFamily="34" charset="0"/>
              </a:defRPr>
            </a:lvl3pPr>
            <a:lvl4pPr marL="1600200" indent="-228600" defTabSz="839788">
              <a:spcBef>
                <a:spcPct val="30000"/>
              </a:spcBef>
              <a:tabLst>
                <a:tab pos="1155700" algn="l"/>
              </a:tabLst>
              <a:defRPr sz="1200">
                <a:solidFill>
                  <a:schemeClr val="tx1"/>
                </a:solidFill>
                <a:latin typeface="Arial" panose="020B0604020202020204" pitchFamily="34" charset="0"/>
              </a:defRPr>
            </a:lvl4pPr>
            <a:lvl5pPr marL="2057400" indent="-228600" defTabSz="839788">
              <a:spcBef>
                <a:spcPct val="30000"/>
              </a:spcBef>
              <a:tabLst>
                <a:tab pos="1155700" algn="l"/>
              </a:tabLst>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tabLst>
                <a:tab pos="1155700" algn="l"/>
              </a:tabLs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tabLst>
                <a:tab pos="1155700" algn="l"/>
              </a:tabLs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tabLst>
                <a:tab pos="1155700" algn="l"/>
              </a:tabLs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tabLst>
                <a:tab pos="1155700" algn="l"/>
              </a:tabLst>
              <a:defRPr sz="1200">
                <a:solidFill>
                  <a:schemeClr val="tx1"/>
                </a:solidFill>
                <a:latin typeface="Arial" panose="020B0604020202020204" pitchFamily="34" charset="0"/>
              </a:defRPr>
            </a:lvl9pPr>
          </a:lstStyle>
          <a:p>
            <a:pPr>
              <a:lnSpc>
                <a:spcPct val="70000"/>
              </a:lnSpc>
              <a:spcBef>
                <a:spcPct val="0"/>
              </a:spcBef>
            </a:pPr>
            <a:r>
              <a:rPr lang="en-US" altLang="en-US" sz="2500">
                <a:latin typeface="Times New Roman" panose="02020603050405020304" pitchFamily="18" charset="0"/>
              </a:rPr>
              <a:t>   </a:t>
            </a:r>
            <a:r>
              <a:rPr lang="en-US" altLang="en-US" sz="1100">
                <a:latin typeface="Courier New" panose="02070309020205020404" pitchFamily="49" charset="0"/>
              </a:rPr>
              <a:t>DEPTNO   MIN(SAL)</a:t>
            </a:r>
          </a:p>
          <a:p>
            <a:pPr>
              <a:spcBef>
                <a:spcPct val="0"/>
              </a:spcBef>
            </a:pPr>
            <a:r>
              <a:rPr lang="en-US" altLang="en-US" sz="1100">
                <a:latin typeface="Courier New" panose="02070309020205020404" pitchFamily="49" charset="0"/>
              </a:rPr>
              <a:t>--------- ---------</a:t>
            </a:r>
          </a:p>
          <a:p>
            <a:pPr>
              <a:spcBef>
                <a:spcPct val="0"/>
              </a:spcBef>
            </a:pPr>
            <a:r>
              <a:rPr lang="en-US" altLang="en-US" sz="1100">
                <a:latin typeface="Courier New" panose="02070309020205020404" pitchFamily="49" charset="0"/>
              </a:rPr>
              <a:t>       10      1300</a:t>
            </a:r>
          </a:p>
          <a:p>
            <a:pPr>
              <a:spcBef>
                <a:spcPct val="0"/>
              </a:spcBef>
            </a:pPr>
            <a:r>
              <a:rPr lang="en-US" altLang="en-US" sz="1100">
                <a:latin typeface="Courier New" panose="02070309020205020404" pitchFamily="49" charset="0"/>
              </a:rPr>
              <a:t>       30       950</a:t>
            </a:r>
          </a:p>
        </p:txBody>
      </p:sp>
      <p:sp>
        <p:nvSpPr>
          <p:cNvPr id="35845" name="Rectangle 5">
            <a:extLst>
              <a:ext uri="{FF2B5EF4-FFF2-40B4-BE49-F238E27FC236}">
                <a16:creationId xmlns:a16="http://schemas.microsoft.com/office/drawing/2014/main" id="{E8449BC5-2219-D1EB-CE97-EA52BC476E30}"/>
              </a:ext>
            </a:extLst>
          </p:cNvPr>
          <p:cNvSpPr>
            <a:spLocks noChangeArrowheads="1"/>
          </p:cNvSpPr>
          <p:nvPr/>
        </p:nvSpPr>
        <p:spPr bwMode="auto">
          <a:xfrm>
            <a:off x="615950" y="7286625"/>
            <a:ext cx="5686425" cy="1130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35846" name="Rectangle 6">
            <a:extLst>
              <a:ext uri="{FF2B5EF4-FFF2-40B4-BE49-F238E27FC236}">
                <a16:creationId xmlns:a16="http://schemas.microsoft.com/office/drawing/2014/main" id="{A75455A8-8C64-4F7F-AC00-C0C409B3FD83}"/>
              </a:ext>
            </a:extLst>
          </p:cNvPr>
          <p:cNvSpPr>
            <a:spLocks noChangeArrowheads="1"/>
          </p:cNvSpPr>
          <p:nvPr/>
        </p:nvSpPr>
        <p:spPr bwMode="auto">
          <a:xfrm>
            <a:off x="654050" y="7286625"/>
            <a:ext cx="5722938"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56" tIns="43420" rIns="90056" bIns="43420">
            <a:spAutoFit/>
          </a:bodyPr>
          <a:lstStyle>
            <a:lvl1pPr defTabSz="839788">
              <a:spcBef>
                <a:spcPct val="30000"/>
              </a:spcBef>
              <a:tabLst>
                <a:tab pos="1155700" algn="l"/>
                <a:tab pos="2097088" algn="l"/>
                <a:tab pos="2825750" algn="l"/>
              </a:tabLst>
              <a:defRPr sz="1200">
                <a:solidFill>
                  <a:schemeClr val="tx1"/>
                </a:solidFill>
                <a:latin typeface="Arial" panose="020B0604020202020204" pitchFamily="34" charset="0"/>
              </a:defRPr>
            </a:lvl1pPr>
            <a:lvl2pPr marL="742950" indent="-285750" defTabSz="839788">
              <a:spcBef>
                <a:spcPct val="30000"/>
              </a:spcBef>
              <a:tabLst>
                <a:tab pos="1155700" algn="l"/>
                <a:tab pos="2097088" algn="l"/>
                <a:tab pos="2825750" algn="l"/>
              </a:tabLst>
              <a:defRPr sz="1200">
                <a:solidFill>
                  <a:schemeClr val="tx1"/>
                </a:solidFill>
                <a:latin typeface="Arial" panose="020B0604020202020204" pitchFamily="34" charset="0"/>
              </a:defRPr>
            </a:lvl2pPr>
            <a:lvl3pPr marL="1143000" indent="-228600" defTabSz="839788">
              <a:spcBef>
                <a:spcPct val="30000"/>
              </a:spcBef>
              <a:tabLst>
                <a:tab pos="1155700" algn="l"/>
                <a:tab pos="2097088" algn="l"/>
                <a:tab pos="2825750" algn="l"/>
              </a:tabLst>
              <a:defRPr sz="1200">
                <a:solidFill>
                  <a:schemeClr val="tx1"/>
                </a:solidFill>
                <a:latin typeface="Arial" panose="020B0604020202020204" pitchFamily="34" charset="0"/>
              </a:defRPr>
            </a:lvl3pPr>
            <a:lvl4pPr marL="1600200" indent="-228600" defTabSz="839788">
              <a:spcBef>
                <a:spcPct val="30000"/>
              </a:spcBef>
              <a:tabLst>
                <a:tab pos="1155700" algn="l"/>
                <a:tab pos="2097088" algn="l"/>
                <a:tab pos="2825750" algn="l"/>
              </a:tabLst>
              <a:defRPr sz="1200">
                <a:solidFill>
                  <a:schemeClr val="tx1"/>
                </a:solidFill>
                <a:latin typeface="Arial" panose="020B0604020202020204" pitchFamily="34" charset="0"/>
              </a:defRPr>
            </a:lvl4pPr>
            <a:lvl5pPr marL="2057400" indent="-228600" defTabSz="839788">
              <a:spcBef>
                <a:spcPct val="30000"/>
              </a:spcBef>
              <a:tabLst>
                <a:tab pos="1155700" algn="l"/>
                <a:tab pos="2097088" algn="l"/>
                <a:tab pos="2825750" algn="l"/>
              </a:tabLst>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tabLst>
                <a:tab pos="1155700" algn="l"/>
                <a:tab pos="2097088" algn="l"/>
                <a:tab pos="2825750" algn="l"/>
              </a:tabLs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tabLst>
                <a:tab pos="1155700" algn="l"/>
                <a:tab pos="2097088" algn="l"/>
                <a:tab pos="2825750" algn="l"/>
              </a:tabLs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tabLst>
                <a:tab pos="1155700" algn="l"/>
                <a:tab pos="2097088" algn="l"/>
                <a:tab pos="2825750" algn="l"/>
              </a:tabLs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tabLst>
                <a:tab pos="1155700" algn="l"/>
                <a:tab pos="2097088" algn="l"/>
                <a:tab pos="2825750" algn="l"/>
              </a:tabLst>
              <a:defRPr sz="1200">
                <a:solidFill>
                  <a:schemeClr val="tx1"/>
                </a:solidFill>
                <a:latin typeface="Arial" panose="020B0604020202020204" pitchFamily="34" charset="0"/>
              </a:defRPr>
            </a:lvl9pPr>
          </a:lstStyle>
          <a:p>
            <a:pPr>
              <a:spcBef>
                <a:spcPct val="0"/>
              </a:spcBef>
            </a:pPr>
            <a:r>
              <a:rPr lang="en-US" altLang="en-US" sz="1100" b="1">
                <a:latin typeface="Courier New" panose="02070309020205020404" pitchFamily="49" charset="0"/>
              </a:rPr>
              <a:t>SQL&gt; SELECT	job, AVG(sal)</a:t>
            </a:r>
          </a:p>
          <a:p>
            <a:pPr>
              <a:spcBef>
                <a:spcPct val="0"/>
              </a:spcBef>
            </a:pPr>
            <a:r>
              <a:rPr lang="en-US" altLang="en-US" sz="1100" b="1">
                <a:latin typeface="Courier New" panose="02070309020205020404" pitchFamily="49" charset="0"/>
              </a:rPr>
              <a:t>  2  FROM	emp</a:t>
            </a:r>
          </a:p>
          <a:p>
            <a:pPr>
              <a:spcBef>
                <a:spcPct val="0"/>
              </a:spcBef>
            </a:pPr>
            <a:r>
              <a:rPr lang="en-US" altLang="en-US" sz="1100" b="1">
                <a:latin typeface="Courier New" panose="02070309020205020404" pitchFamily="49" charset="0"/>
              </a:rPr>
              <a:t>  3  GROUP BY	job</a:t>
            </a:r>
          </a:p>
          <a:p>
            <a:pPr>
              <a:spcBef>
                <a:spcPct val="0"/>
              </a:spcBef>
            </a:pPr>
            <a:r>
              <a:rPr lang="en-US" altLang="en-US" sz="1100" b="1">
                <a:latin typeface="Courier New" panose="02070309020205020404" pitchFamily="49" charset="0"/>
              </a:rPr>
              <a:t>  4  HAVING	AVG(sal) = (SELECT	 MIN(AVG(sal))</a:t>
            </a:r>
          </a:p>
          <a:p>
            <a:pPr>
              <a:spcBef>
                <a:spcPct val="0"/>
              </a:spcBef>
            </a:pPr>
            <a:r>
              <a:rPr lang="en-US" altLang="en-US" sz="1100" b="1">
                <a:latin typeface="Courier New" panose="02070309020205020404" pitchFamily="49" charset="0"/>
              </a:rPr>
              <a:t>  5		FROM      EMP</a:t>
            </a:r>
          </a:p>
          <a:p>
            <a:pPr>
              <a:spcBef>
                <a:spcPct val="0"/>
              </a:spcBef>
            </a:pPr>
            <a:r>
              <a:rPr lang="en-US" altLang="en-US" sz="1100" b="1">
                <a:latin typeface="Courier New" panose="02070309020205020404" pitchFamily="49" charset="0"/>
              </a:rPr>
              <a:t>  6		GROUP BY  job);</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46B5849E-1018-CFE1-7146-4E37CEAC48C9}"/>
              </a:ext>
            </a:extLst>
          </p:cNvPr>
          <p:cNvSpPr>
            <a:spLocks noGrp="1" noRot="1" noChangeArrowheads="1" noTextEdit="1"/>
          </p:cNvSpPr>
          <p:nvPr>
            <p:ph type="sldImg"/>
          </p:nvPr>
        </p:nvSpPr>
        <p:spPr>
          <a:xfrm>
            <a:off x="406400" y="171450"/>
            <a:ext cx="6037263" cy="452755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1" name="Rectangle 3">
            <a:extLst>
              <a:ext uri="{FF2B5EF4-FFF2-40B4-BE49-F238E27FC236}">
                <a16:creationId xmlns:a16="http://schemas.microsoft.com/office/drawing/2014/main" id="{A1A1FD82-7634-09D7-68F8-E5690B368621}"/>
              </a:ext>
            </a:extLst>
          </p:cNvPr>
          <p:cNvSpPr>
            <a:spLocks noGrp="1" noChangeArrowheads="1"/>
          </p:cNvSpPr>
          <p:nvPr>
            <p:ph type="body" idx="1"/>
          </p:nvPr>
        </p:nvSpPr>
        <p:spPr>
          <a:xfrm>
            <a:off x="455613" y="4849813"/>
            <a:ext cx="5895975"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77825">
              <a:tabLst>
                <a:tab pos="442913" algn="l"/>
              </a:tabLst>
            </a:pPr>
            <a:r>
              <a:rPr lang="en-US" altLang="en-US">
                <a:latin typeface="Arial" panose="020B0604020202020204" pitchFamily="34" charset="0"/>
              </a:rPr>
              <a:t>Errors with Subqueries</a:t>
            </a:r>
          </a:p>
          <a:p>
            <a:pPr marL="114300" lvl="1" defTabSz="377825">
              <a:tabLst>
                <a:tab pos="442913" algn="l"/>
              </a:tabLst>
            </a:pPr>
            <a:r>
              <a:rPr lang="en-US" altLang="en-US">
                <a:latin typeface="Arial" panose="020B0604020202020204" pitchFamily="34" charset="0"/>
              </a:rPr>
              <a:t>One common error with subqueries is more than one row returned for a single-row subquery.</a:t>
            </a:r>
          </a:p>
          <a:p>
            <a:pPr marL="114300" lvl="1" defTabSz="377825">
              <a:tabLst>
                <a:tab pos="442913" algn="l"/>
              </a:tabLst>
            </a:pPr>
            <a:r>
              <a:rPr lang="en-US" altLang="en-US">
                <a:latin typeface="Arial" panose="020B0604020202020204" pitchFamily="34" charset="0"/>
              </a:rPr>
              <a:t>In the SQL statement on the slide, the subquery contains a GROUP BY (deptno) clause, which implies that the subquery will return multiple rows, one for each group it finds. In this case, the result of the subquery will be 800, 1300, and 950. </a:t>
            </a:r>
          </a:p>
          <a:p>
            <a:pPr marL="114300" lvl="1" defTabSz="377825">
              <a:tabLst>
                <a:tab pos="442913" algn="l"/>
              </a:tabLst>
            </a:pPr>
            <a:r>
              <a:rPr lang="en-US" altLang="en-US">
                <a:latin typeface="Arial" panose="020B0604020202020204" pitchFamily="34" charset="0"/>
              </a:rPr>
              <a:t>The outer query takes the results of the subquery (800, 950, 1300) and uses these results in its WHERE clause. The WHERE clause contains an equal (=) operator, a single-row comparison operator expecting only one value. The = operator cannot accept more than one value from the subquery and hence generates the error.</a:t>
            </a:r>
          </a:p>
          <a:p>
            <a:pPr marL="114300" lvl="1" defTabSz="377825">
              <a:tabLst>
                <a:tab pos="442913" algn="l"/>
              </a:tabLst>
            </a:pPr>
            <a:r>
              <a:rPr lang="en-US" altLang="en-US">
                <a:latin typeface="Arial" panose="020B0604020202020204" pitchFamily="34" charset="0"/>
              </a:rPr>
              <a:t>To correct this error, change the = operator to IN.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8CC95116-AF68-0743-6049-43BB3CF2EE9F}"/>
              </a:ext>
            </a:extLst>
          </p:cNvPr>
          <p:cNvSpPr>
            <a:spLocks noGrp="1" noRot="1" noChangeArrowheads="1" noTextEdit="1"/>
          </p:cNvSpPr>
          <p:nvPr>
            <p:ph type="sldImg"/>
          </p:nvPr>
        </p:nvSpPr>
        <p:spPr>
          <a:xfrm>
            <a:off x="406400" y="171450"/>
            <a:ext cx="6037263" cy="452755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939" name="Rectangle 3">
            <a:extLst>
              <a:ext uri="{FF2B5EF4-FFF2-40B4-BE49-F238E27FC236}">
                <a16:creationId xmlns:a16="http://schemas.microsoft.com/office/drawing/2014/main" id="{753F0C46-3C8B-6CE6-8C40-EE8D04587790}"/>
              </a:ext>
            </a:extLst>
          </p:cNvPr>
          <p:cNvSpPr>
            <a:spLocks noGrp="1" noChangeArrowheads="1"/>
          </p:cNvSpPr>
          <p:nvPr>
            <p:ph type="body" idx="1"/>
          </p:nvPr>
        </p:nvSpPr>
        <p:spPr>
          <a:xfrm>
            <a:off x="455613" y="4849813"/>
            <a:ext cx="5848350"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77825">
              <a:tabLst>
                <a:tab pos="442913" algn="l"/>
              </a:tabLst>
            </a:pPr>
            <a:r>
              <a:rPr lang="en-US" altLang="en-US">
                <a:latin typeface="Arial" panose="020B0604020202020204" pitchFamily="34" charset="0"/>
              </a:rPr>
              <a:t>Problems with Subqueries </a:t>
            </a:r>
          </a:p>
          <a:p>
            <a:pPr marL="114300" lvl="1" defTabSz="377825">
              <a:tabLst>
                <a:tab pos="442913" algn="l"/>
              </a:tabLst>
            </a:pPr>
            <a:r>
              <a:rPr lang="en-US" altLang="en-US">
                <a:latin typeface="Arial" panose="020B0604020202020204" pitchFamily="34" charset="0"/>
              </a:rPr>
              <a:t>A common problem with subqueries is no rows being returned by the inner query. </a:t>
            </a:r>
          </a:p>
          <a:p>
            <a:pPr marL="114300" lvl="1" defTabSz="377825">
              <a:tabLst>
                <a:tab pos="442913" algn="l"/>
              </a:tabLst>
            </a:pPr>
            <a:r>
              <a:rPr lang="en-US" altLang="en-US">
                <a:latin typeface="Arial" panose="020B0604020202020204" pitchFamily="34" charset="0"/>
              </a:rPr>
              <a:t>In the SQL statement on the slide, the subquery contains a WHERE (ename=</a:t>
            </a:r>
            <a:r>
              <a:rPr lang="en-US" altLang="en-US">
                <a:latin typeface="Courier New" panose="02070309020205020404" pitchFamily="49" charset="0"/>
              </a:rPr>
              <a:t>'</a:t>
            </a:r>
            <a:r>
              <a:rPr lang="en-US" altLang="en-US">
                <a:latin typeface="Arial" panose="020B0604020202020204" pitchFamily="34" charset="0"/>
              </a:rPr>
              <a:t>SMYTHE</a:t>
            </a:r>
            <a:r>
              <a:rPr lang="en-US" altLang="en-US">
                <a:latin typeface="Courier New" panose="02070309020205020404" pitchFamily="49" charset="0"/>
              </a:rPr>
              <a:t>'</a:t>
            </a:r>
            <a:r>
              <a:rPr lang="en-US" altLang="en-US">
                <a:latin typeface="Arial" panose="020B0604020202020204" pitchFamily="34" charset="0"/>
              </a:rPr>
              <a:t>) clause. Presumably, the intention is to find the employee whose name is Smythe. The statement seems to be correct but selects no rows when executed. </a:t>
            </a:r>
          </a:p>
          <a:p>
            <a:pPr marL="114300" lvl="1" defTabSz="377825">
              <a:tabLst>
                <a:tab pos="442913" algn="l"/>
              </a:tabLst>
            </a:pPr>
            <a:r>
              <a:rPr lang="en-US" altLang="en-US">
                <a:latin typeface="Arial" panose="020B0604020202020204" pitchFamily="34" charset="0"/>
              </a:rPr>
              <a:t>The problem is that Smythe is misspelled. There is no employee named Smythe. So the subquery returns no rows. The outer query takes the results of the subquery (null) and uses these results in its WHERE clause. The outer query finds no employee with a job title equal to null and so returns no rows.</a:t>
            </a: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defTabSz="377825">
              <a:tabLst>
                <a:tab pos="442913" algn="l"/>
              </a:tabLst>
            </a:pPr>
            <a:endParaRPr lang="en-US" altLang="en-US" b="1">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BA710D9F-3403-B539-717B-B8207C21EC56}"/>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987" name="Rectangle 3">
            <a:extLst>
              <a:ext uri="{FF2B5EF4-FFF2-40B4-BE49-F238E27FC236}">
                <a16:creationId xmlns:a16="http://schemas.microsoft.com/office/drawing/2014/main" id="{DD5E085F-C2ED-5189-F57A-3A1BFD2986C8}"/>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82588">
              <a:tabLst>
                <a:tab pos="285750" algn="l"/>
                <a:tab pos="1289050" algn="l"/>
              </a:tabLst>
            </a:pPr>
            <a:r>
              <a:rPr lang="en-US" altLang="en-US">
                <a:latin typeface="Arial" panose="020B0604020202020204" pitchFamily="34" charset="0"/>
              </a:rPr>
              <a:t>Multiple-Row Subqueries</a:t>
            </a:r>
          </a:p>
          <a:p>
            <a:pPr marL="114300" lvl="1" defTabSz="382588">
              <a:tabLst>
                <a:tab pos="285750" algn="l"/>
                <a:tab pos="1289050" algn="l"/>
              </a:tabLst>
            </a:pPr>
            <a:r>
              <a:rPr lang="en-US" altLang="en-US">
                <a:latin typeface="Arial" panose="020B0604020202020204" pitchFamily="34" charset="0"/>
              </a:rPr>
              <a:t>Subqueries that return more than one row are called </a:t>
            </a:r>
            <a:r>
              <a:rPr lang="en-US" altLang="en-US" i="1">
                <a:solidFill>
                  <a:srgbClr val="FC0128"/>
                </a:solidFill>
                <a:latin typeface="Arial" panose="020B0604020202020204" pitchFamily="34" charset="0"/>
              </a:rPr>
              <a:t>multiple-row subqueries</a:t>
            </a:r>
            <a:r>
              <a:rPr lang="en-US" altLang="en-US">
                <a:solidFill>
                  <a:srgbClr val="FC0128"/>
                </a:solidFill>
                <a:latin typeface="Arial" panose="020B0604020202020204" pitchFamily="34" charset="0"/>
              </a:rPr>
              <a:t>.</a:t>
            </a:r>
            <a:r>
              <a:rPr lang="en-US" altLang="en-US">
                <a:latin typeface="Arial" panose="020B0604020202020204" pitchFamily="34" charset="0"/>
              </a:rPr>
              <a:t> You use a multiple-row operator, instead of a single-row operator, with a multiple-row subquery. The multiple-row operator expects one or more values. </a:t>
            </a:r>
          </a:p>
          <a:p>
            <a:pPr marL="114300" lvl="1" defTabSz="382588">
              <a:tabLst>
                <a:tab pos="285750" algn="l"/>
                <a:tab pos="1289050" algn="l"/>
              </a:tabLst>
            </a:pPr>
            <a:endParaRPr lang="en-US" altLang="en-US">
              <a:latin typeface="Arial" panose="020B0604020202020204" pitchFamily="34" charset="0"/>
            </a:endParaRPr>
          </a:p>
          <a:p>
            <a:pPr marL="114300" lvl="1" defTabSz="382588">
              <a:tabLst>
                <a:tab pos="285750" algn="l"/>
                <a:tab pos="1289050" algn="l"/>
              </a:tabLst>
            </a:pPr>
            <a:endParaRPr lang="en-US" altLang="en-US">
              <a:latin typeface="Arial" panose="020B0604020202020204" pitchFamily="34" charset="0"/>
            </a:endParaRPr>
          </a:p>
          <a:p>
            <a:pPr marL="114300" lvl="1" defTabSz="382588">
              <a:tabLst>
                <a:tab pos="285750" algn="l"/>
                <a:tab pos="1289050" algn="l"/>
              </a:tabLst>
            </a:pPr>
            <a:endParaRPr lang="en-US" altLang="en-US">
              <a:latin typeface="Arial" panose="020B0604020202020204" pitchFamily="34" charset="0"/>
            </a:endParaRPr>
          </a:p>
          <a:p>
            <a:pPr marL="114300" lvl="1" defTabSz="382588">
              <a:tabLst>
                <a:tab pos="285750" algn="l"/>
                <a:tab pos="1289050" algn="l"/>
              </a:tabLst>
            </a:pPr>
            <a:endParaRPr lang="en-US" altLang="en-US">
              <a:latin typeface="Arial" panose="020B0604020202020204" pitchFamily="34" charset="0"/>
            </a:endParaRPr>
          </a:p>
          <a:p>
            <a:pPr defTabSz="382588">
              <a:tabLst>
                <a:tab pos="285750" algn="l"/>
                <a:tab pos="1289050" algn="l"/>
              </a:tabLst>
            </a:pPr>
            <a:endParaRPr lang="en-US" altLang="en-US">
              <a:latin typeface="Arial" panose="020B0604020202020204" pitchFamily="34" charset="0"/>
            </a:endParaRPr>
          </a:p>
          <a:p>
            <a:pPr defTabSz="382588">
              <a:tabLst>
                <a:tab pos="285750" algn="l"/>
                <a:tab pos="1289050" algn="l"/>
              </a:tabLst>
            </a:pPr>
            <a:r>
              <a:rPr lang="en-US" altLang="en-US">
                <a:latin typeface="Arial" panose="020B0604020202020204" pitchFamily="34" charset="0"/>
              </a:rPr>
              <a:t>Example</a:t>
            </a:r>
          </a:p>
          <a:p>
            <a:pPr marL="114300" lvl="1" defTabSz="382588">
              <a:tabLst>
                <a:tab pos="285750" algn="l"/>
                <a:tab pos="1289050" algn="l"/>
              </a:tabLst>
            </a:pPr>
            <a:r>
              <a:rPr lang="en-US" altLang="en-US">
                <a:latin typeface="Arial" panose="020B0604020202020204" pitchFamily="34" charset="0"/>
              </a:rPr>
              <a:t>Find the employees who earn the same salary as the minimum salary for departments.</a:t>
            </a:r>
          </a:p>
          <a:p>
            <a:pPr marL="114300" lvl="1" defTabSz="382588">
              <a:tabLst>
                <a:tab pos="285750" algn="l"/>
                <a:tab pos="1289050" algn="l"/>
              </a:tabLst>
            </a:pPr>
            <a:r>
              <a:rPr lang="en-US" altLang="en-US">
                <a:latin typeface="Arial" panose="020B0604020202020204" pitchFamily="34" charset="0"/>
              </a:rPr>
              <a:t>The inner query is executed first, producing a query result containing three rows: 800, 950, 1300. The main query block is then processed and uses the values returned by the inner query to complete its search condition. In fact, the main query would look like the following to the Oracle Server:</a:t>
            </a:r>
          </a:p>
          <a:p>
            <a:pPr defTabSz="382588">
              <a:tabLst>
                <a:tab pos="285750" algn="l"/>
                <a:tab pos="1289050" algn="l"/>
              </a:tabLst>
            </a:pPr>
            <a:endParaRPr lang="en-US" altLang="en-US" b="1">
              <a:latin typeface="Times New Roman" panose="02020603050405020304" pitchFamily="18" charset="0"/>
            </a:endParaRPr>
          </a:p>
        </p:txBody>
      </p:sp>
      <p:grpSp>
        <p:nvGrpSpPr>
          <p:cNvPr id="41988" name="Group 4">
            <a:extLst>
              <a:ext uri="{FF2B5EF4-FFF2-40B4-BE49-F238E27FC236}">
                <a16:creationId xmlns:a16="http://schemas.microsoft.com/office/drawing/2014/main" id="{CCE8D13F-7855-144A-5C8D-1E87984554C3}"/>
              </a:ext>
            </a:extLst>
          </p:cNvPr>
          <p:cNvGrpSpPr>
            <a:grpSpLocks/>
          </p:cNvGrpSpPr>
          <p:nvPr/>
        </p:nvGrpSpPr>
        <p:grpSpPr bwMode="auto">
          <a:xfrm>
            <a:off x="620713" y="5716588"/>
            <a:ext cx="5676900" cy="1020762"/>
            <a:chOff x="389" y="3536"/>
            <a:chExt cx="3555" cy="631"/>
          </a:xfrm>
        </p:grpSpPr>
        <p:sp>
          <p:nvSpPr>
            <p:cNvPr id="41992" name="Rectangle 5">
              <a:extLst>
                <a:ext uri="{FF2B5EF4-FFF2-40B4-BE49-F238E27FC236}">
                  <a16:creationId xmlns:a16="http://schemas.microsoft.com/office/drawing/2014/main" id="{B01D3870-42A2-B984-C1F7-3BF7EFABFF3F}"/>
                </a:ext>
              </a:extLst>
            </p:cNvPr>
            <p:cNvSpPr>
              <a:spLocks noChangeArrowheads="1"/>
            </p:cNvSpPr>
            <p:nvPr/>
          </p:nvSpPr>
          <p:spPr bwMode="auto">
            <a:xfrm>
              <a:off x="389" y="3536"/>
              <a:ext cx="3555" cy="631"/>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1993" name="Rectangle 6">
              <a:extLst>
                <a:ext uri="{FF2B5EF4-FFF2-40B4-BE49-F238E27FC236}">
                  <a16:creationId xmlns:a16="http://schemas.microsoft.com/office/drawing/2014/main" id="{B7A1532D-22C2-31DA-BA52-B346C2F40B5C}"/>
                </a:ext>
              </a:extLst>
            </p:cNvPr>
            <p:cNvSpPr>
              <a:spLocks noChangeArrowheads="1"/>
            </p:cNvSpPr>
            <p:nvPr/>
          </p:nvSpPr>
          <p:spPr bwMode="auto">
            <a:xfrm>
              <a:off x="399" y="3563"/>
              <a:ext cx="2287" cy="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272" tIns="46636" rIns="93272" bIns="46636">
              <a:spAutoFit/>
            </a:bodyPr>
            <a:lstStyle>
              <a:lvl1pPr defTabSz="427038">
                <a:spcBef>
                  <a:spcPct val="30000"/>
                </a:spcBef>
                <a:defRPr sz="1200">
                  <a:solidFill>
                    <a:schemeClr val="tx1"/>
                  </a:solidFill>
                  <a:latin typeface="Arial" panose="020B0604020202020204" pitchFamily="34" charset="0"/>
                </a:defRPr>
              </a:lvl1pPr>
              <a:lvl2pPr marL="742950" indent="-285750" defTabSz="427038">
                <a:spcBef>
                  <a:spcPct val="30000"/>
                </a:spcBef>
                <a:defRPr sz="1200">
                  <a:solidFill>
                    <a:schemeClr val="tx1"/>
                  </a:solidFill>
                  <a:latin typeface="Arial" panose="020B0604020202020204" pitchFamily="34" charset="0"/>
                </a:defRPr>
              </a:lvl2pPr>
              <a:lvl3pPr marL="1143000" indent="-228600" defTabSz="427038">
                <a:spcBef>
                  <a:spcPct val="30000"/>
                </a:spcBef>
                <a:defRPr sz="1200">
                  <a:solidFill>
                    <a:schemeClr val="tx1"/>
                  </a:solidFill>
                  <a:latin typeface="Arial" panose="020B0604020202020204" pitchFamily="34" charset="0"/>
                </a:defRPr>
              </a:lvl3pPr>
              <a:lvl4pPr marL="1600200" indent="-228600" defTabSz="427038">
                <a:spcBef>
                  <a:spcPct val="30000"/>
                </a:spcBef>
                <a:defRPr sz="1200">
                  <a:solidFill>
                    <a:schemeClr val="tx1"/>
                  </a:solidFill>
                  <a:latin typeface="Arial" panose="020B0604020202020204" pitchFamily="34" charset="0"/>
                </a:defRPr>
              </a:lvl4pPr>
              <a:lvl5pPr marL="2057400" indent="-228600" defTabSz="427038">
                <a:spcBef>
                  <a:spcPct val="30000"/>
                </a:spcBef>
                <a:defRPr sz="1200">
                  <a:solidFill>
                    <a:schemeClr val="tx1"/>
                  </a:solidFill>
                  <a:latin typeface="Arial" panose="020B0604020202020204" pitchFamily="34" charset="0"/>
                </a:defRPr>
              </a:lvl5pPr>
              <a:lvl6pPr marL="2514600" indent="-228600" defTabSz="42703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2703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2703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2703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spcAft>
                  <a:spcPct val="24000"/>
                </a:spcAft>
              </a:pPr>
              <a:r>
                <a:rPr lang="en-US" altLang="en-US" sz="1100" b="1">
                  <a:latin typeface="Courier New" panose="02070309020205020404" pitchFamily="49" charset="0"/>
                </a:rPr>
                <a:t>SQL&gt; SELECT  	ename, sal, deptno</a:t>
              </a:r>
              <a:br>
                <a:rPr lang="en-US" altLang="en-US" sz="1100" b="1">
                  <a:latin typeface="Courier New" panose="02070309020205020404" pitchFamily="49" charset="0"/>
                </a:rPr>
              </a:br>
              <a:r>
                <a:rPr lang="en-US" altLang="en-US" sz="1100" b="1">
                  <a:latin typeface="Courier New" panose="02070309020205020404" pitchFamily="49" charset="0"/>
                </a:rPr>
                <a:t>  2  FROM    	emp</a:t>
              </a:r>
              <a:br>
                <a:rPr lang="en-US" altLang="en-US" sz="1100" b="1">
                  <a:latin typeface="Courier New" panose="02070309020205020404" pitchFamily="49" charset="0"/>
                </a:rPr>
              </a:br>
              <a:r>
                <a:rPr lang="en-US" altLang="en-US" sz="1100" b="1">
                  <a:latin typeface="Courier New" panose="02070309020205020404" pitchFamily="49" charset="0"/>
                </a:rPr>
                <a:t>  3  WHERE   	sal IN (SELECT    MIN(sal)</a:t>
              </a:r>
              <a:br>
                <a:rPr lang="en-US" altLang="en-US" sz="1100" b="1">
                  <a:latin typeface="Courier New" panose="02070309020205020404" pitchFamily="49" charset="0"/>
                </a:rPr>
              </a:br>
              <a:r>
                <a:rPr lang="en-US" altLang="en-US" sz="1100" b="1">
                  <a:latin typeface="Courier New" panose="02070309020205020404" pitchFamily="49" charset="0"/>
                </a:rPr>
                <a:t>  4				  FROM     emp</a:t>
              </a:r>
              <a:br>
                <a:rPr lang="en-US" altLang="en-US" sz="1100" b="1">
                  <a:latin typeface="Courier New" panose="02070309020205020404" pitchFamily="49" charset="0"/>
                </a:rPr>
              </a:br>
              <a:r>
                <a:rPr lang="en-US" altLang="en-US" sz="1100" b="1">
                  <a:latin typeface="Courier New" panose="02070309020205020404" pitchFamily="49" charset="0"/>
                </a:rPr>
                <a:t>  5				  GROUP BY deptno);</a:t>
              </a:r>
            </a:p>
          </p:txBody>
        </p:sp>
      </p:grpSp>
      <p:grpSp>
        <p:nvGrpSpPr>
          <p:cNvPr id="41989" name="Group 7">
            <a:extLst>
              <a:ext uri="{FF2B5EF4-FFF2-40B4-BE49-F238E27FC236}">
                <a16:creationId xmlns:a16="http://schemas.microsoft.com/office/drawing/2014/main" id="{B9388DF8-FAED-B681-78F6-7D12F33E4DB2}"/>
              </a:ext>
            </a:extLst>
          </p:cNvPr>
          <p:cNvGrpSpPr>
            <a:grpSpLocks/>
          </p:cNvGrpSpPr>
          <p:nvPr/>
        </p:nvGrpSpPr>
        <p:grpSpPr bwMode="auto">
          <a:xfrm>
            <a:off x="615950" y="7812088"/>
            <a:ext cx="5678488" cy="660400"/>
            <a:chOff x="386" y="4832"/>
            <a:chExt cx="3556" cy="408"/>
          </a:xfrm>
        </p:grpSpPr>
        <p:sp>
          <p:nvSpPr>
            <p:cNvPr id="41990" name="Rectangle 8">
              <a:extLst>
                <a:ext uri="{FF2B5EF4-FFF2-40B4-BE49-F238E27FC236}">
                  <a16:creationId xmlns:a16="http://schemas.microsoft.com/office/drawing/2014/main" id="{8466AB75-716F-D54E-1946-961E6880C00B}"/>
                </a:ext>
              </a:extLst>
            </p:cNvPr>
            <p:cNvSpPr>
              <a:spLocks noChangeArrowheads="1"/>
            </p:cNvSpPr>
            <p:nvPr/>
          </p:nvSpPr>
          <p:spPr bwMode="auto">
            <a:xfrm>
              <a:off x="386" y="4832"/>
              <a:ext cx="3556" cy="40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1991" name="Rectangle 9">
              <a:extLst>
                <a:ext uri="{FF2B5EF4-FFF2-40B4-BE49-F238E27FC236}">
                  <a16:creationId xmlns:a16="http://schemas.microsoft.com/office/drawing/2014/main" id="{ED25F024-5545-A83A-5A41-DC16FC9CFF11}"/>
                </a:ext>
              </a:extLst>
            </p:cNvPr>
            <p:cNvSpPr>
              <a:spLocks noChangeArrowheads="1"/>
            </p:cNvSpPr>
            <p:nvPr/>
          </p:nvSpPr>
          <p:spPr bwMode="auto">
            <a:xfrm>
              <a:off x="403" y="4852"/>
              <a:ext cx="2123"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272" tIns="46636" rIns="93272" bIns="46636">
              <a:spAutoFit/>
            </a:bodyPr>
            <a:lstStyle>
              <a:lvl1pPr defTabSz="427038">
                <a:spcBef>
                  <a:spcPct val="30000"/>
                </a:spcBef>
                <a:defRPr sz="1200">
                  <a:solidFill>
                    <a:schemeClr val="tx1"/>
                  </a:solidFill>
                  <a:latin typeface="Arial" panose="020B0604020202020204" pitchFamily="34" charset="0"/>
                </a:defRPr>
              </a:lvl1pPr>
              <a:lvl2pPr marL="742950" indent="-285750" defTabSz="427038">
                <a:spcBef>
                  <a:spcPct val="30000"/>
                </a:spcBef>
                <a:defRPr sz="1200">
                  <a:solidFill>
                    <a:schemeClr val="tx1"/>
                  </a:solidFill>
                  <a:latin typeface="Arial" panose="020B0604020202020204" pitchFamily="34" charset="0"/>
                </a:defRPr>
              </a:lvl2pPr>
              <a:lvl3pPr marL="1143000" indent="-228600" defTabSz="427038">
                <a:spcBef>
                  <a:spcPct val="30000"/>
                </a:spcBef>
                <a:defRPr sz="1200">
                  <a:solidFill>
                    <a:schemeClr val="tx1"/>
                  </a:solidFill>
                  <a:latin typeface="Arial" panose="020B0604020202020204" pitchFamily="34" charset="0"/>
                </a:defRPr>
              </a:lvl3pPr>
              <a:lvl4pPr marL="1600200" indent="-228600" defTabSz="427038">
                <a:spcBef>
                  <a:spcPct val="30000"/>
                </a:spcBef>
                <a:defRPr sz="1200">
                  <a:solidFill>
                    <a:schemeClr val="tx1"/>
                  </a:solidFill>
                  <a:latin typeface="Arial" panose="020B0604020202020204" pitchFamily="34" charset="0"/>
                </a:defRPr>
              </a:lvl4pPr>
              <a:lvl5pPr marL="2057400" indent="-228600" defTabSz="427038">
                <a:spcBef>
                  <a:spcPct val="30000"/>
                </a:spcBef>
                <a:defRPr sz="1200">
                  <a:solidFill>
                    <a:schemeClr val="tx1"/>
                  </a:solidFill>
                  <a:latin typeface="Arial" panose="020B0604020202020204" pitchFamily="34" charset="0"/>
                </a:defRPr>
              </a:lvl5pPr>
              <a:lvl6pPr marL="2514600" indent="-228600" defTabSz="42703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2703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2703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2703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spcAft>
                  <a:spcPct val="24000"/>
                </a:spcAft>
              </a:pPr>
              <a:r>
                <a:rPr lang="en-US" altLang="en-US" sz="1100" b="1">
                  <a:latin typeface="Courier New" panose="02070309020205020404" pitchFamily="49" charset="0"/>
                </a:rPr>
                <a:t>SQL&gt; SELECT   ename, sal, deptno</a:t>
              </a:r>
              <a:br>
                <a:rPr lang="en-US" altLang="en-US" sz="1100" b="1">
                  <a:latin typeface="Courier New" panose="02070309020205020404" pitchFamily="49" charset="0"/>
                </a:rPr>
              </a:br>
              <a:r>
                <a:rPr lang="en-US" altLang="en-US" sz="1100" b="1">
                  <a:latin typeface="Courier New" panose="02070309020205020404" pitchFamily="49" charset="0"/>
                </a:rPr>
                <a:t>  2  FROM     emp</a:t>
              </a:r>
              <a:br>
                <a:rPr lang="en-US" altLang="en-US" sz="1100" b="1">
                  <a:latin typeface="Courier New" panose="02070309020205020404" pitchFamily="49" charset="0"/>
                </a:rPr>
              </a:br>
              <a:r>
                <a:rPr lang="en-US" altLang="en-US" sz="1100" b="1">
                  <a:latin typeface="Courier New" panose="02070309020205020404" pitchFamily="49" charset="0"/>
                </a:rPr>
                <a:t>  3  WHERE    sal IN (800, 950, 1300);</a:t>
              </a:r>
            </a:p>
          </p:txBody>
        </p:sp>
      </p:gr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E7AF48F8-9B2E-07E1-B3EF-BF4D5C1F3FA1}"/>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4035" name="Rectangle 3">
            <a:extLst>
              <a:ext uri="{FF2B5EF4-FFF2-40B4-BE49-F238E27FC236}">
                <a16:creationId xmlns:a16="http://schemas.microsoft.com/office/drawing/2014/main" id="{8D427B3E-524A-09C0-A6F8-C9FCFD2BB70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r>
              <a:rPr lang="en-US" altLang="en-US">
                <a:latin typeface="Arial" panose="020B0604020202020204" pitchFamily="34" charset="0"/>
              </a:rPr>
              <a:t>Multiple-Row Subqueries (continued)</a:t>
            </a:r>
          </a:p>
          <a:p>
            <a:pPr lvl="1"/>
            <a:r>
              <a:rPr lang="en-US" altLang="en-US">
                <a:latin typeface="Arial" panose="020B0604020202020204" pitchFamily="34" charset="0"/>
              </a:rPr>
              <a:t>The </a:t>
            </a:r>
            <a:r>
              <a:rPr lang="en-US" altLang="en-US">
                <a:solidFill>
                  <a:srgbClr val="FC0128"/>
                </a:solidFill>
                <a:latin typeface="Arial" panose="020B0604020202020204" pitchFamily="34" charset="0"/>
              </a:rPr>
              <a:t>ANY </a:t>
            </a:r>
            <a:r>
              <a:rPr lang="en-US" altLang="en-US">
                <a:latin typeface="Arial" panose="020B0604020202020204" pitchFamily="34" charset="0"/>
              </a:rPr>
              <a:t>operator (and its synonym SOME operator) compares a value to </a:t>
            </a:r>
            <a:r>
              <a:rPr lang="en-US" altLang="en-US" i="1">
                <a:latin typeface="Arial" panose="020B0604020202020204" pitchFamily="34" charset="0"/>
              </a:rPr>
              <a:t>each</a:t>
            </a:r>
            <a:r>
              <a:rPr lang="en-US" altLang="en-US" b="1" i="1">
                <a:latin typeface="Arial" panose="020B0604020202020204" pitchFamily="34" charset="0"/>
              </a:rPr>
              <a:t> </a:t>
            </a:r>
            <a:r>
              <a:rPr lang="en-US" altLang="en-US">
                <a:latin typeface="Arial" panose="020B0604020202020204" pitchFamily="34" charset="0"/>
              </a:rPr>
              <a:t>value returned by a subquery. The slide example displays employees whose salary is less than any clerk and who are not clerks. The maximum salary that a clerk earns is $1300. The SQL statement displays all the employees who are not clerks but earn less than $1300. </a:t>
            </a:r>
          </a:p>
          <a:p>
            <a:pPr lvl="1"/>
            <a:r>
              <a:rPr lang="en-US" altLang="en-US">
                <a:latin typeface="Arial" panose="020B0604020202020204" pitchFamily="34" charset="0"/>
              </a:rPr>
              <a:t>&lt;ANY means less than the maximum. &gt;ANY means more than the minimum. =ANY is equivalent to IN.</a:t>
            </a: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When using SOME or ANY, you often use the DISTINCT keyword to prevent rows from being selected several times.</a:t>
            </a:r>
            <a:r>
              <a:rPr lang="en-US" altLang="en-US">
                <a:latin typeface="Arial" panose="020B0604020202020204" pitchFamily="34" charset="0"/>
              </a:rPr>
              <a:t>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B0DFF49-619E-6DA9-761E-4A5FAA116FC1}"/>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6083" name="Rectangle 3">
            <a:extLst>
              <a:ext uri="{FF2B5EF4-FFF2-40B4-BE49-F238E27FC236}">
                <a16:creationId xmlns:a16="http://schemas.microsoft.com/office/drawing/2014/main" id="{5BD50B76-57AA-8120-1D8F-7CBB3AB37B94}"/>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r>
              <a:rPr lang="en-US" altLang="en-US">
                <a:latin typeface="Arial" panose="020B0604020202020204" pitchFamily="34" charset="0"/>
              </a:rPr>
              <a:t>Multiple-Row Subqueries (continued)</a:t>
            </a:r>
          </a:p>
          <a:p>
            <a:pPr lvl="1"/>
            <a:r>
              <a:rPr lang="en-US" altLang="en-US">
                <a:latin typeface="Arial" panose="020B0604020202020204" pitchFamily="34" charset="0"/>
              </a:rPr>
              <a:t>The </a:t>
            </a:r>
            <a:r>
              <a:rPr lang="en-US" altLang="en-US">
                <a:solidFill>
                  <a:srgbClr val="FC0128"/>
                </a:solidFill>
                <a:latin typeface="Arial" panose="020B0604020202020204" pitchFamily="34" charset="0"/>
              </a:rPr>
              <a:t>ANY </a:t>
            </a:r>
            <a:r>
              <a:rPr lang="en-US" altLang="en-US">
                <a:latin typeface="Arial" panose="020B0604020202020204" pitchFamily="34" charset="0"/>
              </a:rPr>
              <a:t>operator (and its synonym SOME operator) compares a value to </a:t>
            </a:r>
            <a:r>
              <a:rPr lang="en-US" altLang="en-US" i="1">
                <a:latin typeface="Arial" panose="020B0604020202020204" pitchFamily="34" charset="0"/>
              </a:rPr>
              <a:t>each</a:t>
            </a:r>
            <a:r>
              <a:rPr lang="en-US" altLang="en-US" b="1" i="1">
                <a:latin typeface="Arial" panose="020B0604020202020204" pitchFamily="34" charset="0"/>
              </a:rPr>
              <a:t> </a:t>
            </a:r>
            <a:r>
              <a:rPr lang="en-US" altLang="en-US">
                <a:latin typeface="Arial" panose="020B0604020202020204" pitchFamily="34" charset="0"/>
              </a:rPr>
              <a:t>value returned by a subquery. The slide example displays employees whose salary is less than any clerk and who are not clerks. The maximum salary that a clerk earns is $1300. The SQL statement displays all the employees who are not clerks but earn less than $1300. </a:t>
            </a:r>
          </a:p>
          <a:p>
            <a:pPr lvl="1"/>
            <a:r>
              <a:rPr lang="en-US" altLang="en-US">
                <a:latin typeface="Arial" panose="020B0604020202020204" pitchFamily="34" charset="0"/>
              </a:rPr>
              <a:t>&lt;ANY means less than the maximum. &gt;ANY means more than the minimum. =ANY is equivalent to IN.</a:t>
            </a:r>
          </a:p>
          <a:p>
            <a:pPr lvl="1"/>
            <a:endParaRPr lang="en-US" altLang="en-US">
              <a:latin typeface="Arial" panose="020B0604020202020204" pitchFamily="34" charset="0"/>
            </a:endParaRPr>
          </a:p>
          <a:p>
            <a:pPr lvl="1"/>
            <a:endParaRPr lang="en-US" altLang="en-US">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When using SOME or ANY, you often use the DISTINCT keyword to prevent rows from being selected several times.</a:t>
            </a:r>
            <a:r>
              <a:rPr lang="en-US" altLang="en-US">
                <a:latin typeface="Arial" panose="020B0604020202020204" pitchFamily="34" charset="0"/>
              </a:rPr>
              <a:t>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9690A78-8154-B6A3-9C16-D515975821AC}"/>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1" name="Rectangle 3">
            <a:extLst>
              <a:ext uri="{FF2B5EF4-FFF2-40B4-BE49-F238E27FC236}">
                <a16:creationId xmlns:a16="http://schemas.microsoft.com/office/drawing/2014/main" id="{6CFC4974-D26C-1333-1FEE-FAC37DB535B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r>
              <a:rPr lang="en-US" altLang="en-US">
                <a:latin typeface="Arial" panose="020B0604020202020204" pitchFamily="34" charset="0"/>
              </a:rPr>
              <a:t>Multiple-Row Subqueries (continued)</a:t>
            </a:r>
          </a:p>
          <a:p>
            <a:pPr lvl="1"/>
            <a:r>
              <a:rPr lang="en-US" altLang="en-US">
                <a:latin typeface="Arial" panose="020B0604020202020204" pitchFamily="34" charset="0"/>
              </a:rPr>
              <a:t>The </a:t>
            </a:r>
            <a:r>
              <a:rPr lang="en-US" altLang="en-US">
                <a:solidFill>
                  <a:srgbClr val="FC0128"/>
                </a:solidFill>
                <a:latin typeface="Arial" panose="020B0604020202020204" pitchFamily="34" charset="0"/>
              </a:rPr>
              <a:t>ALL </a:t>
            </a:r>
            <a:r>
              <a:rPr lang="en-US" altLang="en-US">
                <a:latin typeface="Arial" panose="020B0604020202020204" pitchFamily="34" charset="0"/>
              </a:rPr>
              <a:t>operator compares a value to </a:t>
            </a:r>
            <a:r>
              <a:rPr lang="en-US" altLang="en-US" i="1">
                <a:latin typeface="Arial" panose="020B0604020202020204" pitchFamily="34" charset="0"/>
              </a:rPr>
              <a:t>every</a:t>
            </a:r>
            <a:r>
              <a:rPr lang="en-US" altLang="en-US">
                <a:latin typeface="Arial" panose="020B0604020202020204" pitchFamily="34" charset="0"/>
              </a:rPr>
              <a:t> value returned by a subquery. The slide example displays employees whose salary is greater than the average salaries of all the departments. The highest average salary of a department is $2916.66, so the query returns those employees whose salary is greater than $2916.66. </a:t>
            </a:r>
          </a:p>
          <a:p>
            <a:pPr lvl="1"/>
            <a:r>
              <a:rPr lang="en-US" altLang="en-US">
                <a:latin typeface="Arial" panose="020B0604020202020204" pitchFamily="34" charset="0"/>
              </a:rPr>
              <a:t>&gt;ALL means more than the maximum and &lt;ALL means less than the minimum.</a:t>
            </a:r>
          </a:p>
          <a:p>
            <a:pPr lvl="1"/>
            <a:r>
              <a:rPr lang="en-US" altLang="en-US">
                <a:latin typeface="Arial" panose="020B0604020202020204" pitchFamily="34" charset="0"/>
              </a:rPr>
              <a:t>The NOT operator can be used with IN, ANY, and ALL operators.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190DA1F5-15B9-48AC-93D4-E79CA6395C7F}"/>
              </a:ext>
            </a:extLst>
          </p:cNvPr>
          <p:cNvSpPr>
            <a:spLocks noGrp="1" noRot="1" noChangeArrowheads="1" noTextEdit="1"/>
          </p:cNvSpPr>
          <p:nvPr>
            <p:ph type="sldImg"/>
          </p:nvPr>
        </p:nvSpPr>
        <p:spPr>
          <a:xfrm>
            <a:off x="438150" y="160338"/>
            <a:ext cx="5976938" cy="44831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0179" name="Rectangle 3">
            <a:extLst>
              <a:ext uri="{FF2B5EF4-FFF2-40B4-BE49-F238E27FC236}">
                <a16:creationId xmlns:a16="http://schemas.microsoft.com/office/drawing/2014/main" id="{28296AE5-74D8-906F-150E-0D5AB50EDF24}"/>
              </a:ext>
            </a:extLst>
          </p:cNvPr>
          <p:cNvSpPr>
            <a:spLocks noGrp="1" noChangeArrowheads="1"/>
          </p:cNvSpPr>
          <p:nvPr>
            <p:ph type="body" idx="1"/>
          </p:nvPr>
        </p:nvSpPr>
        <p:spPr>
          <a:xfrm>
            <a:off x="412750" y="4852988"/>
            <a:ext cx="6145213"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r>
              <a:rPr lang="en-US" altLang="en-US">
                <a:latin typeface="Arial" panose="020B0604020202020204" pitchFamily="34" charset="0"/>
              </a:rPr>
              <a:t>Returning Nulls in the Resulting Set of a Subquery</a:t>
            </a:r>
          </a:p>
          <a:p>
            <a:pPr lvl="1"/>
            <a:r>
              <a:rPr lang="en-US" altLang="en-US">
                <a:latin typeface="Arial" panose="020B0604020202020204" pitchFamily="34" charset="0"/>
              </a:rPr>
              <a:t>The SQL statement on the slide attempts to display all the employees who do not have any subordinates. Logically, this SQL statement should have returned eight rows. However, the SQL statement does not return any rows. One of the values returned by the inner query is a null value and hence the entire query returns no rows. The reason is that all conditions that compare a null value result in a null. So whenever null values are likely to be part of the resultant set of a subquery, do not use the NOT IN operator. The NOT IN operator is equivalent to !=ALL.</a:t>
            </a:r>
          </a:p>
          <a:p>
            <a:pPr lvl="1"/>
            <a:r>
              <a:rPr lang="en-US" altLang="en-US">
                <a:latin typeface="Arial" panose="020B0604020202020204" pitchFamily="34" charset="0"/>
              </a:rPr>
              <a:t>Notice that the null value as part of the resultant set of a subquery will not be a problem if you are using the IN operator. The IN operator is equivalent to =ANY. For example, to display the employees who have subordinates, use the following SQL statement:</a:t>
            </a:r>
          </a:p>
        </p:txBody>
      </p:sp>
      <p:grpSp>
        <p:nvGrpSpPr>
          <p:cNvPr id="50180" name="Group 4">
            <a:extLst>
              <a:ext uri="{FF2B5EF4-FFF2-40B4-BE49-F238E27FC236}">
                <a16:creationId xmlns:a16="http://schemas.microsoft.com/office/drawing/2014/main" id="{C3C0CAEB-F858-42E9-5F4E-6AD35C97A5B9}"/>
              </a:ext>
            </a:extLst>
          </p:cNvPr>
          <p:cNvGrpSpPr>
            <a:grpSpLocks/>
          </p:cNvGrpSpPr>
          <p:nvPr/>
        </p:nvGrpSpPr>
        <p:grpSpPr bwMode="auto">
          <a:xfrm>
            <a:off x="620713" y="6753225"/>
            <a:ext cx="5570537" cy="811213"/>
            <a:chOff x="389" y="4177"/>
            <a:chExt cx="3488" cy="502"/>
          </a:xfrm>
        </p:grpSpPr>
        <p:sp>
          <p:nvSpPr>
            <p:cNvPr id="50184" name="Rectangle 5">
              <a:extLst>
                <a:ext uri="{FF2B5EF4-FFF2-40B4-BE49-F238E27FC236}">
                  <a16:creationId xmlns:a16="http://schemas.microsoft.com/office/drawing/2014/main" id="{6E91A420-703B-B49C-0D18-716F048F4B0F}"/>
                </a:ext>
              </a:extLst>
            </p:cNvPr>
            <p:cNvSpPr>
              <a:spLocks noChangeArrowheads="1"/>
            </p:cNvSpPr>
            <p:nvPr/>
          </p:nvSpPr>
          <p:spPr bwMode="auto">
            <a:xfrm>
              <a:off x="389" y="4177"/>
              <a:ext cx="3488" cy="50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0185" name="Rectangle 6">
              <a:extLst>
                <a:ext uri="{FF2B5EF4-FFF2-40B4-BE49-F238E27FC236}">
                  <a16:creationId xmlns:a16="http://schemas.microsoft.com/office/drawing/2014/main" id="{12E4831C-44A3-139D-E655-743BE01B4BE5}"/>
                </a:ext>
              </a:extLst>
            </p:cNvPr>
            <p:cNvSpPr>
              <a:spLocks noChangeArrowheads="1"/>
            </p:cNvSpPr>
            <p:nvPr/>
          </p:nvSpPr>
          <p:spPr bwMode="auto">
            <a:xfrm>
              <a:off x="395" y="4194"/>
              <a:ext cx="344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664" tIns="45028" rIns="91664" bIns="45028">
              <a:spAutoFit/>
            </a:bodyPr>
            <a:lstStyle>
              <a:lvl1pPr defTabSz="881063">
                <a:spcBef>
                  <a:spcPct val="30000"/>
                </a:spcBef>
                <a:defRPr sz="1200">
                  <a:solidFill>
                    <a:schemeClr val="tx1"/>
                  </a:solidFill>
                  <a:latin typeface="Arial" panose="020B0604020202020204" pitchFamily="34" charset="0"/>
                </a:defRPr>
              </a:lvl1pPr>
              <a:lvl2pPr marL="742950" indent="-285750" defTabSz="881063">
                <a:spcBef>
                  <a:spcPct val="30000"/>
                </a:spcBef>
                <a:defRPr sz="1200">
                  <a:solidFill>
                    <a:schemeClr val="tx1"/>
                  </a:solidFill>
                  <a:latin typeface="Arial" panose="020B0604020202020204" pitchFamily="34" charset="0"/>
                </a:defRPr>
              </a:lvl2pPr>
              <a:lvl3pPr marL="1143000" indent="-228600" defTabSz="881063">
                <a:spcBef>
                  <a:spcPct val="30000"/>
                </a:spcBef>
                <a:defRPr sz="1200">
                  <a:solidFill>
                    <a:schemeClr val="tx1"/>
                  </a:solidFill>
                  <a:latin typeface="Arial" panose="020B0604020202020204" pitchFamily="34" charset="0"/>
                </a:defRPr>
              </a:lvl3pPr>
              <a:lvl4pPr marL="1600200" indent="-228600" defTabSz="881063">
                <a:spcBef>
                  <a:spcPct val="30000"/>
                </a:spcBef>
                <a:defRPr sz="1200">
                  <a:solidFill>
                    <a:schemeClr val="tx1"/>
                  </a:solidFill>
                  <a:latin typeface="Arial" panose="020B0604020202020204" pitchFamily="34" charset="0"/>
                </a:defRPr>
              </a:lvl4pPr>
              <a:lvl5pPr marL="2057400" indent="-228600" defTabSz="881063">
                <a:spcBef>
                  <a:spcPct val="30000"/>
                </a:spcBef>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b="1">
                  <a:solidFill>
                    <a:srgbClr val="000000"/>
                  </a:solidFill>
                  <a:latin typeface="Courier New" panose="02070309020205020404" pitchFamily="49" charset="0"/>
                </a:rPr>
                <a:t>SQL&gt; SELECT    employee.ename</a:t>
              </a:r>
              <a:br>
                <a:rPr lang="en-US" altLang="en-US" sz="1100" b="1">
                  <a:solidFill>
                    <a:srgbClr val="000000"/>
                  </a:solidFill>
                  <a:latin typeface="Courier New" panose="02070309020205020404" pitchFamily="49" charset="0"/>
                </a:rPr>
              </a:br>
              <a:r>
                <a:rPr lang="en-US" altLang="en-US" sz="1100" b="1">
                  <a:solidFill>
                    <a:srgbClr val="000000"/>
                  </a:solidFill>
                  <a:latin typeface="Courier New" panose="02070309020205020404" pitchFamily="49" charset="0"/>
                </a:rPr>
                <a:t>  2  FROM      emp employee</a:t>
              </a:r>
              <a:br>
                <a:rPr lang="en-US" altLang="en-US" sz="1100" b="1">
                  <a:solidFill>
                    <a:srgbClr val="000000"/>
                  </a:solidFill>
                  <a:latin typeface="Courier New" panose="02070309020205020404" pitchFamily="49" charset="0"/>
                </a:rPr>
              </a:br>
              <a:r>
                <a:rPr lang="en-US" altLang="en-US" sz="1100" b="1">
                  <a:solidFill>
                    <a:srgbClr val="000000"/>
                  </a:solidFill>
                  <a:latin typeface="Courier New" panose="02070309020205020404" pitchFamily="49" charset="0"/>
                </a:rPr>
                <a:t>  3  WHERE     employee.empno IN (SELECT manager.mgr</a:t>
              </a:r>
              <a:br>
                <a:rPr lang="en-US" altLang="en-US" sz="1100" b="1">
                  <a:solidFill>
                    <a:srgbClr val="000000"/>
                  </a:solidFill>
                  <a:latin typeface="Courier New" panose="02070309020205020404" pitchFamily="49" charset="0"/>
                </a:rPr>
              </a:br>
              <a:r>
                <a:rPr lang="en-US" altLang="en-US" sz="1100" b="1">
                  <a:solidFill>
                    <a:srgbClr val="000000"/>
                  </a:solidFill>
                  <a:latin typeface="Courier New" panose="02070309020205020404" pitchFamily="49" charset="0"/>
                </a:rPr>
                <a:t>  4	     		  FROM  emp manager);</a:t>
              </a:r>
            </a:p>
          </p:txBody>
        </p:sp>
      </p:grpSp>
      <p:grpSp>
        <p:nvGrpSpPr>
          <p:cNvPr id="50181" name="Group 7">
            <a:extLst>
              <a:ext uri="{FF2B5EF4-FFF2-40B4-BE49-F238E27FC236}">
                <a16:creationId xmlns:a16="http://schemas.microsoft.com/office/drawing/2014/main" id="{A023CC1B-9D59-8B3F-1521-44F89CAF206E}"/>
              </a:ext>
            </a:extLst>
          </p:cNvPr>
          <p:cNvGrpSpPr>
            <a:grpSpLocks/>
          </p:cNvGrpSpPr>
          <p:nvPr/>
        </p:nvGrpSpPr>
        <p:grpSpPr bwMode="auto">
          <a:xfrm>
            <a:off x="620713" y="7646988"/>
            <a:ext cx="5570537" cy="1119187"/>
            <a:chOff x="389" y="4730"/>
            <a:chExt cx="3488" cy="692"/>
          </a:xfrm>
        </p:grpSpPr>
        <p:sp>
          <p:nvSpPr>
            <p:cNvPr id="50182" name="Rectangle 8">
              <a:extLst>
                <a:ext uri="{FF2B5EF4-FFF2-40B4-BE49-F238E27FC236}">
                  <a16:creationId xmlns:a16="http://schemas.microsoft.com/office/drawing/2014/main" id="{5E497296-FC2B-3FAF-66A9-7479719021B1}"/>
                </a:ext>
              </a:extLst>
            </p:cNvPr>
            <p:cNvSpPr>
              <a:spLocks noChangeArrowheads="1"/>
            </p:cNvSpPr>
            <p:nvPr/>
          </p:nvSpPr>
          <p:spPr bwMode="auto">
            <a:xfrm>
              <a:off x="389" y="4747"/>
              <a:ext cx="3488" cy="57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0183" name="Rectangle 9">
              <a:extLst>
                <a:ext uri="{FF2B5EF4-FFF2-40B4-BE49-F238E27FC236}">
                  <a16:creationId xmlns:a16="http://schemas.microsoft.com/office/drawing/2014/main" id="{22D57689-DAAB-3BAC-DA1B-EE4E0B0AC44E}"/>
                </a:ext>
              </a:extLst>
            </p:cNvPr>
            <p:cNvSpPr>
              <a:spLocks noChangeArrowheads="1"/>
            </p:cNvSpPr>
            <p:nvPr/>
          </p:nvSpPr>
          <p:spPr bwMode="auto">
            <a:xfrm>
              <a:off x="435" y="4730"/>
              <a:ext cx="1276" cy="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664" tIns="45028" rIns="91664" bIns="45028">
              <a:spAutoFit/>
            </a:bodyPr>
            <a:lstStyle>
              <a:lvl1pPr defTabSz="881063">
                <a:spcBef>
                  <a:spcPct val="30000"/>
                </a:spcBef>
                <a:defRPr sz="1200">
                  <a:solidFill>
                    <a:schemeClr val="tx1"/>
                  </a:solidFill>
                  <a:latin typeface="Arial" panose="020B0604020202020204" pitchFamily="34" charset="0"/>
                </a:defRPr>
              </a:lvl1pPr>
              <a:lvl2pPr marL="742950" indent="-285750" defTabSz="881063">
                <a:spcBef>
                  <a:spcPct val="30000"/>
                </a:spcBef>
                <a:defRPr sz="1200">
                  <a:solidFill>
                    <a:schemeClr val="tx1"/>
                  </a:solidFill>
                  <a:latin typeface="Arial" panose="020B0604020202020204" pitchFamily="34" charset="0"/>
                </a:defRPr>
              </a:lvl2pPr>
              <a:lvl3pPr marL="1143000" indent="-228600" defTabSz="881063">
                <a:spcBef>
                  <a:spcPct val="30000"/>
                </a:spcBef>
                <a:defRPr sz="1200">
                  <a:solidFill>
                    <a:schemeClr val="tx1"/>
                  </a:solidFill>
                  <a:latin typeface="Arial" panose="020B0604020202020204" pitchFamily="34" charset="0"/>
                </a:defRPr>
              </a:lvl3pPr>
              <a:lvl4pPr marL="1600200" indent="-228600" defTabSz="881063">
                <a:spcBef>
                  <a:spcPct val="30000"/>
                </a:spcBef>
                <a:defRPr sz="1200">
                  <a:solidFill>
                    <a:schemeClr val="tx1"/>
                  </a:solidFill>
                  <a:latin typeface="Arial" panose="020B0604020202020204" pitchFamily="34" charset="0"/>
                </a:defRPr>
              </a:lvl4pPr>
              <a:lvl5pPr marL="2057400" indent="-228600" defTabSz="881063">
                <a:spcBef>
                  <a:spcPct val="30000"/>
                </a:spcBef>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a:solidFill>
                    <a:srgbClr val="000000"/>
                  </a:solidFill>
                  <a:latin typeface="Courier New" panose="02070309020205020404" pitchFamily="49" charset="0"/>
                </a:rPr>
                <a:t>ENAME      </a:t>
              </a:r>
            </a:p>
            <a:p>
              <a:pPr>
                <a:spcBef>
                  <a:spcPct val="0"/>
                </a:spcBef>
              </a:pPr>
              <a:r>
                <a:rPr lang="en-US" altLang="en-US" sz="1100">
                  <a:solidFill>
                    <a:srgbClr val="000000"/>
                  </a:solidFill>
                  <a:latin typeface="Courier New" panose="02070309020205020404" pitchFamily="49" charset="0"/>
                </a:rPr>
                <a:t>----------</a:t>
              </a:r>
            </a:p>
            <a:p>
              <a:pPr>
                <a:spcBef>
                  <a:spcPct val="0"/>
                </a:spcBef>
              </a:pPr>
              <a:r>
                <a:rPr lang="en-US" altLang="en-US" sz="1100">
                  <a:solidFill>
                    <a:srgbClr val="000000"/>
                  </a:solidFill>
                  <a:latin typeface="Courier New" panose="02070309020205020404" pitchFamily="49" charset="0"/>
                </a:rPr>
                <a:t>KING      </a:t>
              </a:r>
            </a:p>
            <a:p>
              <a:pPr>
                <a:spcBef>
                  <a:spcPct val="0"/>
                </a:spcBef>
              </a:pPr>
              <a:r>
                <a:rPr lang="en-US" altLang="en-US" sz="1100">
                  <a:solidFill>
                    <a:srgbClr val="000000"/>
                  </a:solidFill>
                  <a:latin typeface="Courier New" panose="02070309020205020404" pitchFamily="49" charset="0"/>
                </a:rPr>
                <a:t>... </a:t>
              </a:r>
            </a:p>
            <a:p>
              <a:pPr>
                <a:spcBef>
                  <a:spcPct val="0"/>
                </a:spcBef>
              </a:pPr>
              <a:r>
                <a:rPr lang="en-US" altLang="en-US" sz="1100">
                  <a:solidFill>
                    <a:srgbClr val="000000"/>
                  </a:solidFill>
                  <a:latin typeface="Courier New" panose="02070309020205020404" pitchFamily="49" charset="0"/>
                </a:rPr>
                <a:t>6 rows selected.      </a:t>
              </a:r>
            </a:p>
            <a:p>
              <a:pPr>
                <a:spcBef>
                  <a:spcPct val="0"/>
                </a:spcBef>
              </a:pPr>
              <a:r>
                <a:rPr lang="en-US" altLang="en-US" sz="1100">
                  <a:solidFill>
                    <a:srgbClr val="000000"/>
                  </a:solidFill>
                  <a:latin typeface="Courier New" panose="02070309020205020404" pitchFamily="49" charset="0"/>
                </a:rPr>
                <a:t>    </a:t>
              </a:r>
            </a:p>
          </p:txBody>
        </p:sp>
      </p:gr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8830C58B-1EA6-74D9-49BF-1215EA759220}"/>
              </a:ext>
            </a:extLst>
          </p:cNvPr>
          <p:cNvSpPr>
            <a:spLocks noGrp="1" noRot="1" noChangeArrowheads="1" noTextEdit="1"/>
          </p:cNvSpPr>
          <p:nvPr>
            <p:ph type="sldImg"/>
          </p:nvPr>
        </p:nvSpPr>
        <p:spPr>
          <a:xfrm>
            <a:off x="438150" y="160338"/>
            <a:ext cx="5976938" cy="44831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7" name="Rectangle 3">
            <a:extLst>
              <a:ext uri="{FF2B5EF4-FFF2-40B4-BE49-F238E27FC236}">
                <a16:creationId xmlns:a16="http://schemas.microsoft.com/office/drawing/2014/main" id="{83D212DD-07CB-84FA-6909-D9BE3DD904C3}"/>
              </a:ext>
            </a:extLst>
          </p:cNvPr>
          <p:cNvSpPr>
            <a:spLocks noGrp="1" noChangeArrowheads="1"/>
          </p:cNvSpPr>
          <p:nvPr>
            <p:ph type="body" idx="1"/>
          </p:nvPr>
        </p:nvSpPr>
        <p:spPr>
          <a:xfrm>
            <a:off x="412750" y="4852988"/>
            <a:ext cx="6145213"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r>
              <a:rPr lang="en-US" altLang="en-US">
                <a:latin typeface="Arial" panose="020B0604020202020204" pitchFamily="34" charset="0"/>
              </a:rPr>
              <a:t>Returning Nulls in the Resulting Set of a Subquery</a:t>
            </a:r>
          </a:p>
          <a:p>
            <a:pPr lvl="1"/>
            <a:r>
              <a:rPr lang="en-US" altLang="en-US">
                <a:latin typeface="Arial" panose="020B0604020202020204" pitchFamily="34" charset="0"/>
              </a:rPr>
              <a:t>The SQL statement on the slide attempts to display all the employees who do not have any subordinates. Logically, this SQL statement should have returned eight rows. However, the SQL statement does not return any rows. One of the values returned by the inner query is a null value and hence the entire query returns no rows. The reason is that all conditions that compare a null value result in a null. So whenever null values are likely to be part of the resultant set of a subquery, do not use the NOT IN operator. The NOT IN operator is equivalent to !=ALL.</a:t>
            </a:r>
          </a:p>
          <a:p>
            <a:pPr lvl="1"/>
            <a:r>
              <a:rPr lang="en-US" altLang="en-US">
                <a:latin typeface="Arial" panose="020B0604020202020204" pitchFamily="34" charset="0"/>
              </a:rPr>
              <a:t>Notice that the null value as part of the resultant set of a subquery will not be a problem if you are using the IN operator. The IN operator is equivalent to =ANY. For example, to display the employees who have subordinates, use the following SQL statement:</a:t>
            </a:r>
          </a:p>
        </p:txBody>
      </p:sp>
      <p:grpSp>
        <p:nvGrpSpPr>
          <p:cNvPr id="52228" name="Group 4">
            <a:extLst>
              <a:ext uri="{FF2B5EF4-FFF2-40B4-BE49-F238E27FC236}">
                <a16:creationId xmlns:a16="http://schemas.microsoft.com/office/drawing/2014/main" id="{23025374-DD94-3660-7CC3-9915983CFD80}"/>
              </a:ext>
            </a:extLst>
          </p:cNvPr>
          <p:cNvGrpSpPr>
            <a:grpSpLocks/>
          </p:cNvGrpSpPr>
          <p:nvPr/>
        </p:nvGrpSpPr>
        <p:grpSpPr bwMode="auto">
          <a:xfrm>
            <a:off x="620713" y="6753225"/>
            <a:ext cx="5570537" cy="811213"/>
            <a:chOff x="389" y="4177"/>
            <a:chExt cx="3488" cy="502"/>
          </a:xfrm>
        </p:grpSpPr>
        <p:sp>
          <p:nvSpPr>
            <p:cNvPr id="52232" name="Rectangle 5">
              <a:extLst>
                <a:ext uri="{FF2B5EF4-FFF2-40B4-BE49-F238E27FC236}">
                  <a16:creationId xmlns:a16="http://schemas.microsoft.com/office/drawing/2014/main" id="{6955EB43-8CB2-D8E8-0208-D629DF6604A2}"/>
                </a:ext>
              </a:extLst>
            </p:cNvPr>
            <p:cNvSpPr>
              <a:spLocks noChangeArrowheads="1"/>
            </p:cNvSpPr>
            <p:nvPr/>
          </p:nvSpPr>
          <p:spPr bwMode="auto">
            <a:xfrm>
              <a:off x="389" y="4177"/>
              <a:ext cx="3488" cy="50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2233" name="Rectangle 6">
              <a:extLst>
                <a:ext uri="{FF2B5EF4-FFF2-40B4-BE49-F238E27FC236}">
                  <a16:creationId xmlns:a16="http://schemas.microsoft.com/office/drawing/2014/main" id="{EE38A533-A304-2288-F7F6-DB2CBEBE4559}"/>
                </a:ext>
              </a:extLst>
            </p:cNvPr>
            <p:cNvSpPr>
              <a:spLocks noChangeArrowheads="1"/>
            </p:cNvSpPr>
            <p:nvPr/>
          </p:nvSpPr>
          <p:spPr bwMode="auto">
            <a:xfrm>
              <a:off x="395" y="4194"/>
              <a:ext cx="344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664" tIns="45028" rIns="91664" bIns="45028">
              <a:spAutoFit/>
            </a:bodyPr>
            <a:lstStyle>
              <a:lvl1pPr defTabSz="881063">
                <a:spcBef>
                  <a:spcPct val="30000"/>
                </a:spcBef>
                <a:defRPr sz="1200">
                  <a:solidFill>
                    <a:schemeClr val="tx1"/>
                  </a:solidFill>
                  <a:latin typeface="Arial" panose="020B0604020202020204" pitchFamily="34" charset="0"/>
                </a:defRPr>
              </a:lvl1pPr>
              <a:lvl2pPr marL="742950" indent="-285750" defTabSz="881063">
                <a:spcBef>
                  <a:spcPct val="30000"/>
                </a:spcBef>
                <a:defRPr sz="1200">
                  <a:solidFill>
                    <a:schemeClr val="tx1"/>
                  </a:solidFill>
                  <a:latin typeface="Arial" panose="020B0604020202020204" pitchFamily="34" charset="0"/>
                </a:defRPr>
              </a:lvl2pPr>
              <a:lvl3pPr marL="1143000" indent="-228600" defTabSz="881063">
                <a:spcBef>
                  <a:spcPct val="30000"/>
                </a:spcBef>
                <a:defRPr sz="1200">
                  <a:solidFill>
                    <a:schemeClr val="tx1"/>
                  </a:solidFill>
                  <a:latin typeface="Arial" panose="020B0604020202020204" pitchFamily="34" charset="0"/>
                </a:defRPr>
              </a:lvl3pPr>
              <a:lvl4pPr marL="1600200" indent="-228600" defTabSz="881063">
                <a:spcBef>
                  <a:spcPct val="30000"/>
                </a:spcBef>
                <a:defRPr sz="1200">
                  <a:solidFill>
                    <a:schemeClr val="tx1"/>
                  </a:solidFill>
                  <a:latin typeface="Arial" panose="020B0604020202020204" pitchFamily="34" charset="0"/>
                </a:defRPr>
              </a:lvl4pPr>
              <a:lvl5pPr marL="2057400" indent="-228600" defTabSz="881063">
                <a:spcBef>
                  <a:spcPct val="30000"/>
                </a:spcBef>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b="1">
                  <a:solidFill>
                    <a:srgbClr val="000000"/>
                  </a:solidFill>
                  <a:latin typeface="Courier New" panose="02070309020205020404" pitchFamily="49" charset="0"/>
                </a:rPr>
                <a:t>SQL&gt; SELECT    employee.ename</a:t>
              </a:r>
              <a:br>
                <a:rPr lang="en-US" altLang="en-US" sz="1100" b="1">
                  <a:solidFill>
                    <a:srgbClr val="000000"/>
                  </a:solidFill>
                  <a:latin typeface="Courier New" panose="02070309020205020404" pitchFamily="49" charset="0"/>
                </a:rPr>
              </a:br>
              <a:r>
                <a:rPr lang="en-US" altLang="en-US" sz="1100" b="1">
                  <a:solidFill>
                    <a:srgbClr val="000000"/>
                  </a:solidFill>
                  <a:latin typeface="Courier New" panose="02070309020205020404" pitchFamily="49" charset="0"/>
                </a:rPr>
                <a:t>  2  FROM      emp employee</a:t>
              </a:r>
              <a:br>
                <a:rPr lang="en-US" altLang="en-US" sz="1100" b="1">
                  <a:solidFill>
                    <a:srgbClr val="000000"/>
                  </a:solidFill>
                  <a:latin typeface="Courier New" panose="02070309020205020404" pitchFamily="49" charset="0"/>
                </a:rPr>
              </a:br>
              <a:r>
                <a:rPr lang="en-US" altLang="en-US" sz="1100" b="1">
                  <a:solidFill>
                    <a:srgbClr val="000000"/>
                  </a:solidFill>
                  <a:latin typeface="Courier New" panose="02070309020205020404" pitchFamily="49" charset="0"/>
                </a:rPr>
                <a:t>  3  WHERE     employee.empno IN (SELECT manager.mgr</a:t>
              </a:r>
              <a:br>
                <a:rPr lang="en-US" altLang="en-US" sz="1100" b="1">
                  <a:solidFill>
                    <a:srgbClr val="000000"/>
                  </a:solidFill>
                  <a:latin typeface="Courier New" panose="02070309020205020404" pitchFamily="49" charset="0"/>
                </a:rPr>
              </a:br>
              <a:r>
                <a:rPr lang="en-US" altLang="en-US" sz="1100" b="1">
                  <a:solidFill>
                    <a:srgbClr val="000000"/>
                  </a:solidFill>
                  <a:latin typeface="Courier New" panose="02070309020205020404" pitchFamily="49" charset="0"/>
                </a:rPr>
                <a:t>  4	     		  FROM  emp manager);</a:t>
              </a:r>
            </a:p>
          </p:txBody>
        </p:sp>
      </p:grpSp>
      <p:grpSp>
        <p:nvGrpSpPr>
          <p:cNvPr id="52229" name="Group 7">
            <a:extLst>
              <a:ext uri="{FF2B5EF4-FFF2-40B4-BE49-F238E27FC236}">
                <a16:creationId xmlns:a16="http://schemas.microsoft.com/office/drawing/2014/main" id="{E26C4ED9-BCAF-64D0-FF42-8D3E2EDA76D3}"/>
              </a:ext>
            </a:extLst>
          </p:cNvPr>
          <p:cNvGrpSpPr>
            <a:grpSpLocks/>
          </p:cNvGrpSpPr>
          <p:nvPr/>
        </p:nvGrpSpPr>
        <p:grpSpPr bwMode="auto">
          <a:xfrm>
            <a:off x="620713" y="7646988"/>
            <a:ext cx="5570537" cy="1119187"/>
            <a:chOff x="389" y="4730"/>
            <a:chExt cx="3488" cy="692"/>
          </a:xfrm>
        </p:grpSpPr>
        <p:sp>
          <p:nvSpPr>
            <p:cNvPr id="52230" name="Rectangle 8">
              <a:extLst>
                <a:ext uri="{FF2B5EF4-FFF2-40B4-BE49-F238E27FC236}">
                  <a16:creationId xmlns:a16="http://schemas.microsoft.com/office/drawing/2014/main" id="{3E069224-B1E6-20C8-DB9C-459C5BC9C9EA}"/>
                </a:ext>
              </a:extLst>
            </p:cNvPr>
            <p:cNvSpPr>
              <a:spLocks noChangeArrowheads="1"/>
            </p:cNvSpPr>
            <p:nvPr/>
          </p:nvSpPr>
          <p:spPr bwMode="auto">
            <a:xfrm>
              <a:off x="389" y="4747"/>
              <a:ext cx="3488" cy="57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2231" name="Rectangle 9">
              <a:extLst>
                <a:ext uri="{FF2B5EF4-FFF2-40B4-BE49-F238E27FC236}">
                  <a16:creationId xmlns:a16="http://schemas.microsoft.com/office/drawing/2014/main" id="{8056DD5F-D6BD-C534-51F2-C02A8DF68641}"/>
                </a:ext>
              </a:extLst>
            </p:cNvPr>
            <p:cNvSpPr>
              <a:spLocks noChangeArrowheads="1"/>
            </p:cNvSpPr>
            <p:nvPr/>
          </p:nvSpPr>
          <p:spPr bwMode="auto">
            <a:xfrm>
              <a:off x="435" y="4730"/>
              <a:ext cx="1276" cy="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664" tIns="45028" rIns="91664" bIns="45028">
              <a:spAutoFit/>
            </a:bodyPr>
            <a:lstStyle>
              <a:lvl1pPr defTabSz="881063">
                <a:spcBef>
                  <a:spcPct val="30000"/>
                </a:spcBef>
                <a:defRPr sz="1200">
                  <a:solidFill>
                    <a:schemeClr val="tx1"/>
                  </a:solidFill>
                  <a:latin typeface="Arial" panose="020B0604020202020204" pitchFamily="34" charset="0"/>
                </a:defRPr>
              </a:lvl1pPr>
              <a:lvl2pPr marL="742950" indent="-285750" defTabSz="881063">
                <a:spcBef>
                  <a:spcPct val="30000"/>
                </a:spcBef>
                <a:defRPr sz="1200">
                  <a:solidFill>
                    <a:schemeClr val="tx1"/>
                  </a:solidFill>
                  <a:latin typeface="Arial" panose="020B0604020202020204" pitchFamily="34" charset="0"/>
                </a:defRPr>
              </a:lvl2pPr>
              <a:lvl3pPr marL="1143000" indent="-228600" defTabSz="881063">
                <a:spcBef>
                  <a:spcPct val="30000"/>
                </a:spcBef>
                <a:defRPr sz="1200">
                  <a:solidFill>
                    <a:schemeClr val="tx1"/>
                  </a:solidFill>
                  <a:latin typeface="Arial" panose="020B0604020202020204" pitchFamily="34" charset="0"/>
                </a:defRPr>
              </a:lvl3pPr>
              <a:lvl4pPr marL="1600200" indent="-228600" defTabSz="881063">
                <a:spcBef>
                  <a:spcPct val="30000"/>
                </a:spcBef>
                <a:defRPr sz="1200">
                  <a:solidFill>
                    <a:schemeClr val="tx1"/>
                  </a:solidFill>
                  <a:latin typeface="Arial" panose="020B0604020202020204" pitchFamily="34" charset="0"/>
                </a:defRPr>
              </a:lvl4pPr>
              <a:lvl5pPr marL="2057400" indent="-228600" defTabSz="881063">
                <a:spcBef>
                  <a:spcPct val="30000"/>
                </a:spcBef>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a:solidFill>
                    <a:srgbClr val="000000"/>
                  </a:solidFill>
                  <a:latin typeface="Courier New" panose="02070309020205020404" pitchFamily="49" charset="0"/>
                </a:rPr>
                <a:t>ENAME      </a:t>
              </a:r>
            </a:p>
            <a:p>
              <a:pPr>
                <a:spcBef>
                  <a:spcPct val="0"/>
                </a:spcBef>
              </a:pPr>
              <a:r>
                <a:rPr lang="en-US" altLang="en-US" sz="1100">
                  <a:solidFill>
                    <a:srgbClr val="000000"/>
                  </a:solidFill>
                  <a:latin typeface="Courier New" panose="02070309020205020404" pitchFamily="49" charset="0"/>
                </a:rPr>
                <a:t>----------</a:t>
              </a:r>
            </a:p>
            <a:p>
              <a:pPr>
                <a:spcBef>
                  <a:spcPct val="0"/>
                </a:spcBef>
              </a:pPr>
              <a:r>
                <a:rPr lang="en-US" altLang="en-US" sz="1100">
                  <a:solidFill>
                    <a:srgbClr val="000000"/>
                  </a:solidFill>
                  <a:latin typeface="Courier New" panose="02070309020205020404" pitchFamily="49" charset="0"/>
                </a:rPr>
                <a:t>KING      </a:t>
              </a:r>
            </a:p>
            <a:p>
              <a:pPr>
                <a:spcBef>
                  <a:spcPct val="0"/>
                </a:spcBef>
              </a:pPr>
              <a:r>
                <a:rPr lang="en-US" altLang="en-US" sz="1100">
                  <a:solidFill>
                    <a:srgbClr val="000000"/>
                  </a:solidFill>
                  <a:latin typeface="Courier New" panose="02070309020205020404" pitchFamily="49" charset="0"/>
                </a:rPr>
                <a:t>... </a:t>
              </a:r>
            </a:p>
            <a:p>
              <a:pPr>
                <a:spcBef>
                  <a:spcPct val="0"/>
                </a:spcBef>
              </a:pPr>
              <a:r>
                <a:rPr lang="en-US" altLang="en-US" sz="1100">
                  <a:solidFill>
                    <a:srgbClr val="000000"/>
                  </a:solidFill>
                  <a:latin typeface="Courier New" panose="02070309020205020404" pitchFamily="49" charset="0"/>
                </a:rPr>
                <a:t>6 rows selected.      </a:t>
              </a:r>
            </a:p>
            <a:p>
              <a:pPr>
                <a:spcBef>
                  <a:spcPct val="0"/>
                </a:spcBef>
              </a:pPr>
              <a:r>
                <a:rPr lang="en-US" altLang="en-US" sz="1100">
                  <a:solidFill>
                    <a:srgbClr val="000000"/>
                  </a:solidFill>
                  <a:latin typeface="Courier New" panose="02070309020205020404" pitchFamily="49" charset="0"/>
                </a:rPr>
                <a:t>    </a:t>
              </a:r>
            </a:p>
          </p:txBody>
        </p:sp>
      </p:gr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882134E2-895C-B30B-154E-C7769A5F5141}"/>
              </a:ext>
            </a:extLst>
          </p:cNvPr>
          <p:cNvSpPr>
            <a:spLocks noChangeArrowheads="1"/>
          </p:cNvSpPr>
          <p:nvPr/>
        </p:nvSpPr>
        <p:spPr bwMode="auto">
          <a:xfrm>
            <a:off x="3883025" y="0"/>
            <a:ext cx="2976563"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4275" name="Rectangle 3">
            <a:extLst>
              <a:ext uri="{FF2B5EF4-FFF2-40B4-BE49-F238E27FC236}">
                <a16:creationId xmlns:a16="http://schemas.microsoft.com/office/drawing/2014/main" id="{D010AADA-1047-1026-9A49-61C3657949FE}"/>
              </a:ext>
            </a:extLst>
          </p:cNvPr>
          <p:cNvSpPr>
            <a:spLocks noChangeArrowheads="1"/>
          </p:cNvSpPr>
          <p:nvPr/>
        </p:nvSpPr>
        <p:spPr bwMode="auto">
          <a:xfrm>
            <a:off x="-3175" y="0"/>
            <a:ext cx="297338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4276" name="Rectangle 4">
            <a:extLst>
              <a:ext uri="{FF2B5EF4-FFF2-40B4-BE49-F238E27FC236}">
                <a16:creationId xmlns:a16="http://schemas.microsoft.com/office/drawing/2014/main" id="{8F6EC6AF-D27A-DD53-6598-45C3DC37F4B2}"/>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pPr defTabSz="401638"/>
            <a:r>
              <a:rPr lang="en-US" altLang="en-US">
                <a:latin typeface="Arial" panose="020B0604020202020204" pitchFamily="34" charset="0"/>
              </a:rPr>
              <a:t>Lesson Aim</a:t>
            </a:r>
          </a:p>
          <a:p>
            <a:pPr marL="114300" lvl="1" defTabSz="401638"/>
            <a:r>
              <a:rPr lang="en-US" altLang="en-US">
                <a:latin typeface="Arial" panose="020B0604020202020204" pitchFamily="34" charset="0"/>
              </a:rPr>
              <a:t>In this lesson, you will learn how to write multiple-column subqueries and subqueries in the FROM clause of a SELECT statement.</a:t>
            </a:r>
          </a:p>
        </p:txBody>
      </p:sp>
      <p:sp>
        <p:nvSpPr>
          <p:cNvPr id="54277" name="Rectangle 5">
            <a:extLst>
              <a:ext uri="{FF2B5EF4-FFF2-40B4-BE49-F238E27FC236}">
                <a16:creationId xmlns:a16="http://schemas.microsoft.com/office/drawing/2014/main" id="{3D9330DA-A64E-A68D-D6A2-FCF3DB39EC19}"/>
              </a:ext>
            </a:extLst>
          </p:cNvPr>
          <p:cNvSpPr>
            <a:spLocks noGrp="1" noRot="1" noChangeArrowheads="1" noTextEdit="1"/>
          </p:cNvSpPr>
          <p:nvPr>
            <p:ph type="sldImg"/>
          </p:nvPr>
        </p:nvSpPr>
        <p:spPr>
          <a:xfrm>
            <a:off x="439738" y="161925"/>
            <a:ext cx="5975350" cy="448151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594A2075-840D-C734-7F0A-3B09645A56B0}"/>
              </a:ext>
            </a:extLst>
          </p:cNvPr>
          <p:cNvSpPr>
            <a:spLocks noGrp="1" noRot="1" noChangeArrowheads="1" noTextEdit="1"/>
          </p:cNvSpPr>
          <p:nvPr>
            <p:ph type="sldImg"/>
          </p:nvPr>
        </p:nvSpPr>
        <p:spPr>
          <a:xfrm>
            <a:off x="438150" y="160338"/>
            <a:ext cx="5976938" cy="44831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6323" name="Rectangle 3">
            <a:extLst>
              <a:ext uri="{FF2B5EF4-FFF2-40B4-BE49-F238E27FC236}">
                <a16:creationId xmlns:a16="http://schemas.microsoft.com/office/drawing/2014/main" id="{F7FBD78E-5F7E-6A20-CDDC-0F32CDA2F447}"/>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r>
              <a:rPr lang="en-US" altLang="en-US">
                <a:latin typeface="Arial" panose="020B0604020202020204" pitchFamily="34" charset="0"/>
              </a:rPr>
              <a:t>Multiple-Column Subqueries</a:t>
            </a:r>
          </a:p>
          <a:p>
            <a:pPr lvl="1"/>
            <a:r>
              <a:rPr lang="en-US" altLang="en-US">
                <a:latin typeface="Arial" panose="020B0604020202020204" pitchFamily="34" charset="0"/>
              </a:rPr>
              <a:t>So far you have written single-row subqueries and multiple-row subqueries where only one column was compared in the WHERE clause or HAVING clause of the SELECT statement. If you want to compare two or more columns, you must write a compound WHERE clause using logical operators. Multiple-column subqueries enable you to combine duplicate WHERE conditions into a single WHERE clause.</a:t>
            </a:r>
          </a:p>
          <a:p>
            <a:r>
              <a:rPr lang="en-US" altLang="en-US">
                <a:latin typeface="Arial" panose="020B0604020202020204" pitchFamily="34" charset="0"/>
              </a:rPr>
              <a:t>Syntax</a:t>
            </a:r>
          </a:p>
        </p:txBody>
      </p:sp>
      <p:sp>
        <p:nvSpPr>
          <p:cNvPr id="56324" name="Rectangle 4">
            <a:extLst>
              <a:ext uri="{FF2B5EF4-FFF2-40B4-BE49-F238E27FC236}">
                <a16:creationId xmlns:a16="http://schemas.microsoft.com/office/drawing/2014/main" id="{D0189412-A219-B97C-DBC7-9FE9EFD5DA46}"/>
              </a:ext>
            </a:extLst>
          </p:cNvPr>
          <p:cNvSpPr>
            <a:spLocks noChangeArrowheads="1"/>
          </p:cNvSpPr>
          <p:nvPr/>
        </p:nvSpPr>
        <p:spPr bwMode="auto">
          <a:xfrm>
            <a:off x="601663" y="6299200"/>
            <a:ext cx="5589587" cy="11445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6325" name="Rectangle 5">
            <a:extLst>
              <a:ext uri="{FF2B5EF4-FFF2-40B4-BE49-F238E27FC236}">
                <a16:creationId xmlns:a16="http://schemas.microsoft.com/office/drawing/2014/main" id="{4A152B58-78D8-4718-DF87-3B41BEBFF15E}"/>
              </a:ext>
            </a:extLst>
          </p:cNvPr>
          <p:cNvSpPr>
            <a:spLocks noChangeArrowheads="1"/>
          </p:cNvSpPr>
          <p:nvPr/>
        </p:nvSpPr>
        <p:spPr bwMode="auto">
          <a:xfrm>
            <a:off x="600075" y="6318250"/>
            <a:ext cx="5756275" cy="1119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664" tIns="45028" rIns="91664" bIns="45028">
            <a:spAutoFit/>
          </a:bodyPr>
          <a:lstStyle>
            <a:lvl1pPr defTabSz="881063">
              <a:spcBef>
                <a:spcPct val="30000"/>
              </a:spcBef>
              <a:defRPr sz="1200">
                <a:solidFill>
                  <a:schemeClr val="tx1"/>
                </a:solidFill>
                <a:latin typeface="Arial" panose="020B0604020202020204" pitchFamily="34" charset="0"/>
              </a:defRPr>
            </a:lvl1pPr>
            <a:lvl2pPr marL="742950" indent="-285750" defTabSz="881063">
              <a:spcBef>
                <a:spcPct val="30000"/>
              </a:spcBef>
              <a:defRPr sz="1200">
                <a:solidFill>
                  <a:schemeClr val="tx1"/>
                </a:solidFill>
                <a:latin typeface="Arial" panose="020B0604020202020204" pitchFamily="34" charset="0"/>
              </a:defRPr>
            </a:lvl2pPr>
            <a:lvl3pPr marL="1143000" indent="-228600" defTabSz="881063">
              <a:spcBef>
                <a:spcPct val="30000"/>
              </a:spcBef>
              <a:defRPr sz="1200">
                <a:solidFill>
                  <a:schemeClr val="tx1"/>
                </a:solidFill>
                <a:latin typeface="Arial" panose="020B0604020202020204" pitchFamily="34" charset="0"/>
              </a:defRPr>
            </a:lvl3pPr>
            <a:lvl4pPr marL="1600200" indent="-228600" defTabSz="881063">
              <a:spcBef>
                <a:spcPct val="30000"/>
              </a:spcBef>
              <a:defRPr sz="1200">
                <a:solidFill>
                  <a:schemeClr val="tx1"/>
                </a:solidFill>
                <a:latin typeface="Arial" panose="020B0604020202020204" pitchFamily="34" charset="0"/>
              </a:defRPr>
            </a:lvl4pPr>
            <a:lvl5pPr marL="2057400" indent="-228600" defTabSz="881063">
              <a:spcBef>
                <a:spcPct val="30000"/>
              </a:spcBef>
              <a:defRPr sz="1200">
                <a:solidFill>
                  <a:schemeClr val="tx1"/>
                </a:solidFill>
                <a:latin typeface="Arial" panose="020B0604020202020204" pitchFamily="34" charset="0"/>
              </a:defRPr>
            </a:lvl5pPr>
            <a:lvl6pPr marL="2514600" indent="-228600" defTabSz="8810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810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810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810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b="1">
                <a:latin typeface="Courier New" panose="02070309020205020404" pitchFamily="49" charset="0"/>
              </a:rPr>
              <a:t> </a:t>
            </a:r>
            <a:r>
              <a:rPr lang="en-US" altLang="en-US" sz="1100">
                <a:latin typeface="Courier New" panose="02070309020205020404" pitchFamily="49" charset="0"/>
              </a:rPr>
              <a:t>SELECT	</a:t>
            </a:r>
            <a:r>
              <a:rPr lang="en-US" altLang="en-US" sz="1100" i="1">
                <a:latin typeface="Courier New" panose="02070309020205020404" pitchFamily="49" charset="0"/>
              </a:rPr>
              <a:t>column, column</a:t>
            </a:r>
            <a:r>
              <a:rPr lang="en-US" altLang="en-US" sz="1100">
                <a:latin typeface="Courier New" panose="02070309020205020404" pitchFamily="49" charset="0"/>
              </a:rPr>
              <a:t>, ...</a:t>
            </a:r>
          </a:p>
          <a:p>
            <a:pPr>
              <a:spcBef>
                <a:spcPct val="0"/>
              </a:spcBef>
            </a:pPr>
            <a:r>
              <a:rPr lang="en-US" altLang="en-US" sz="1100">
                <a:latin typeface="Courier New" panose="02070309020205020404" pitchFamily="49" charset="0"/>
              </a:rPr>
              <a:t> FROM 	</a:t>
            </a:r>
            <a:r>
              <a:rPr lang="en-US" altLang="en-US" sz="1100" i="1">
                <a:latin typeface="Courier New" panose="02070309020205020404" pitchFamily="49" charset="0"/>
              </a:rPr>
              <a:t>table</a:t>
            </a:r>
            <a:endParaRPr lang="en-US" altLang="en-US" sz="1100">
              <a:latin typeface="Courier New" panose="02070309020205020404" pitchFamily="49" charset="0"/>
            </a:endParaRPr>
          </a:p>
          <a:p>
            <a:pPr>
              <a:spcBef>
                <a:spcPct val="0"/>
              </a:spcBef>
            </a:pPr>
            <a:r>
              <a:rPr lang="en-US" altLang="en-US" sz="1100">
                <a:latin typeface="Courier New" panose="02070309020205020404" pitchFamily="49" charset="0"/>
              </a:rPr>
              <a:t> WHERE	(</a:t>
            </a:r>
            <a:r>
              <a:rPr lang="en-US" altLang="en-US" sz="1100" i="1">
                <a:latin typeface="Courier New" panose="02070309020205020404" pitchFamily="49" charset="0"/>
              </a:rPr>
              <a:t>column, column</a:t>
            </a:r>
            <a:r>
              <a:rPr lang="en-US" altLang="en-US" sz="1100">
                <a:latin typeface="Courier New" panose="02070309020205020404" pitchFamily="49" charset="0"/>
              </a:rPr>
              <a:t>, ...) IN</a:t>
            </a:r>
          </a:p>
          <a:p>
            <a:pPr>
              <a:spcBef>
                <a:spcPct val="0"/>
              </a:spcBef>
            </a:pPr>
            <a:r>
              <a:rPr lang="en-US" altLang="en-US" sz="1100">
                <a:latin typeface="Courier New" panose="02070309020205020404" pitchFamily="49" charset="0"/>
              </a:rPr>
              <a:t>  			(SELECT </a:t>
            </a:r>
            <a:r>
              <a:rPr lang="en-US" altLang="en-US" sz="1100" i="1">
                <a:latin typeface="Courier New" panose="02070309020205020404" pitchFamily="49" charset="0"/>
              </a:rPr>
              <a:t>column, column</a:t>
            </a:r>
            <a:r>
              <a:rPr lang="en-US" altLang="en-US" sz="1100">
                <a:latin typeface="Courier New" panose="02070309020205020404" pitchFamily="49" charset="0"/>
              </a:rPr>
              <a:t>, ...</a:t>
            </a:r>
          </a:p>
          <a:p>
            <a:pPr>
              <a:spcBef>
                <a:spcPct val="0"/>
              </a:spcBef>
            </a:pPr>
            <a:r>
              <a:rPr lang="en-US" altLang="en-US" sz="1100">
                <a:latin typeface="Courier New" panose="02070309020205020404" pitchFamily="49" charset="0"/>
              </a:rPr>
              <a:t>                                FROM   </a:t>
            </a:r>
            <a:r>
              <a:rPr lang="en-US" altLang="en-US" sz="1100" i="1">
                <a:latin typeface="Courier New" panose="02070309020205020404" pitchFamily="49" charset="0"/>
              </a:rPr>
              <a:t>table</a:t>
            </a:r>
          </a:p>
          <a:p>
            <a:pPr>
              <a:spcBef>
                <a:spcPct val="0"/>
              </a:spcBef>
            </a:pPr>
            <a:r>
              <a:rPr lang="en-US" altLang="en-US" sz="1100">
                <a:latin typeface="Courier New" panose="02070309020205020404" pitchFamily="49" charset="0"/>
              </a:rPr>
              <a:t>                                WHERE  </a:t>
            </a:r>
            <a:r>
              <a:rPr lang="en-US" altLang="en-US" sz="1100" i="1">
                <a:latin typeface="Courier New" panose="02070309020205020404" pitchFamily="49" charset="0"/>
              </a:rPr>
              <a:t>condition</a:t>
            </a:r>
            <a:r>
              <a:rPr lang="en-US" altLang="en-US" sz="1100">
                <a:latin typeface="Courier New" panose="02070309020205020404" pitchFamily="49" charset="0"/>
              </a:rPr>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3A2EC342-9AA4-4D4F-5807-2051D873554B}"/>
              </a:ext>
            </a:extLst>
          </p:cNvPr>
          <p:cNvSpPr>
            <a:spLocks noGrp="1" noRot="1" noChangeArrowheads="1" noTextEdit="1"/>
          </p:cNvSpPr>
          <p:nvPr>
            <p:ph type="sldImg"/>
          </p:nvPr>
        </p:nvSpPr>
        <p:spPr>
          <a:xfrm>
            <a:off x="404813" y="171450"/>
            <a:ext cx="6038850" cy="45291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8371" name="Rectangle 3">
            <a:extLst>
              <a:ext uri="{FF2B5EF4-FFF2-40B4-BE49-F238E27FC236}">
                <a16:creationId xmlns:a16="http://schemas.microsoft.com/office/drawing/2014/main" id="{85E79A84-6F5B-0EDE-C2FA-CA58C01554C7}"/>
              </a:ext>
            </a:extLst>
          </p:cNvPr>
          <p:cNvSpPr>
            <a:spLocks noGrp="1" noChangeArrowheads="1"/>
          </p:cNvSpPr>
          <p:nvPr>
            <p:ph type="body" idx="1"/>
          </p:nvPr>
        </p:nvSpPr>
        <p:spPr>
          <a:xfrm>
            <a:off x="457200" y="4849813"/>
            <a:ext cx="5929313"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defTabSz="468313">
              <a:tabLst>
                <a:tab pos="444500" algn="l"/>
              </a:tabLst>
            </a:pPr>
            <a:r>
              <a:rPr lang="en-US" altLang="en-US">
                <a:latin typeface="Arial" panose="020B0604020202020204" pitchFamily="34" charset="0"/>
              </a:rPr>
              <a:t>Using Multiple-Column Subqueries</a:t>
            </a:r>
          </a:p>
          <a:p>
            <a:pPr marL="114300" lvl="1" defTabSz="468313">
              <a:tabLst>
                <a:tab pos="444500" algn="l"/>
              </a:tabLst>
            </a:pPr>
            <a:r>
              <a:rPr lang="en-US" altLang="en-US">
                <a:latin typeface="Arial" panose="020B0604020202020204" pitchFamily="34" charset="0"/>
              </a:rPr>
              <a:t>The example on the slide is that of a </a:t>
            </a:r>
            <a:r>
              <a:rPr lang="en-US" altLang="en-US">
                <a:solidFill>
                  <a:srgbClr val="FC0128"/>
                </a:solidFill>
                <a:latin typeface="Arial" panose="020B0604020202020204" pitchFamily="34" charset="0"/>
              </a:rPr>
              <a:t>multiple-column subquery </a:t>
            </a:r>
            <a:r>
              <a:rPr lang="en-US" altLang="en-US">
                <a:latin typeface="Arial" panose="020B0604020202020204" pitchFamily="34" charset="0"/>
              </a:rPr>
              <a:t>because the subquery returns more than one column. It compares the values in the PRODID column and the QTY column of each candidate row in the ITEM table to the values in the PRODID column and QTY column for items in order 605.</a:t>
            </a:r>
          </a:p>
          <a:p>
            <a:pPr marL="114300" lvl="1" defTabSz="468313">
              <a:tabLst>
                <a:tab pos="444500" algn="l"/>
              </a:tabLst>
            </a:pPr>
            <a:r>
              <a:rPr lang="en-US" altLang="en-US">
                <a:latin typeface="Arial" panose="020B0604020202020204" pitchFamily="34" charset="0"/>
              </a:rPr>
              <a:t>First, execute the subquery to see the PRODID and QTY values for each item in order 605.</a:t>
            </a:r>
          </a:p>
          <a:p>
            <a:pPr marL="114300" lvl="1" defTabSz="468313">
              <a:tabLst>
                <a:tab pos="444500" algn="l"/>
              </a:tabLst>
            </a:pPr>
            <a:endParaRPr lang="en-US" altLang="en-US">
              <a:latin typeface="Arial" panose="020B0604020202020204" pitchFamily="34" charset="0"/>
            </a:endParaRPr>
          </a:p>
          <a:p>
            <a:pPr defTabSz="468313">
              <a:tabLst>
                <a:tab pos="444500" algn="l"/>
              </a:tabLst>
            </a:pPr>
            <a:r>
              <a:rPr lang="en-US" altLang="en-US">
                <a:latin typeface="Arial" panose="020B0604020202020204" pitchFamily="34" charset="0"/>
              </a:rPr>
              <a:t>    </a:t>
            </a:r>
          </a:p>
          <a:p>
            <a:pPr defTabSz="468313">
              <a:tabLst>
                <a:tab pos="444500" algn="l"/>
              </a:tabLst>
            </a:pPr>
            <a:endParaRPr lang="en-US" altLang="en-US">
              <a:latin typeface="Arial" panose="020B0604020202020204" pitchFamily="34" charset="0"/>
            </a:endParaRPr>
          </a:p>
          <a:p>
            <a:pPr defTabSz="468313">
              <a:tabLst>
                <a:tab pos="444500" algn="l"/>
              </a:tabLst>
            </a:pPr>
            <a:endParaRPr lang="en-US" altLang="en-US">
              <a:latin typeface="Arial" panose="020B0604020202020204" pitchFamily="34" charset="0"/>
            </a:endParaRPr>
          </a:p>
          <a:p>
            <a:pPr defTabSz="468313">
              <a:tabLst>
                <a:tab pos="444500" algn="l"/>
              </a:tabLst>
            </a:pPr>
            <a:endParaRPr lang="en-US" altLang="en-US">
              <a:latin typeface="Arial" panose="020B0604020202020204" pitchFamily="34" charset="0"/>
            </a:endParaRPr>
          </a:p>
          <a:p>
            <a:pPr defTabSz="468313">
              <a:tabLst>
                <a:tab pos="444500" algn="l"/>
              </a:tabLst>
            </a:pPr>
            <a:endParaRPr lang="en-US" altLang="en-US">
              <a:latin typeface="Arial" panose="020B0604020202020204" pitchFamily="34" charset="0"/>
            </a:endParaRPr>
          </a:p>
        </p:txBody>
      </p:sp>
      <p:sp>
        <p:nvSpPr>
          <p:cNvPr id="58372" name="Rectangle 4">
            <a:extLst>
              <a:ext uri="{FF2B5EF4-FFF2-40B4-BE49-F238E27FC236}">
                <a16:creationId xmlns:a16="http://schemas.microsoft.com/office/drawing/2014/main" id="{23D44777-0C2D-8217-CBBA-6BC191E886E6}"/>
              </a:ext>
            </a:extLst>
          </p:cNvPr>
          <p:cNvSpPr>
            <a:spLocks noChangeArrowheads="1"/>
          </p:cNvSpPr>
          <p:nvPr/>
        </p:nvSpPr>
        <p:spPr bwMode="auto">
          <a:xfrm>
            <a:off x="557213" y="6026150"/>
            <a:ext cx="5568950" cy="25463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8373" name="Rectangle 5">
            <a:extLst>
              <a:ext uri="{FF2B5EF4-FFF2-40B4-BE49-F238E27FC236}">
                <a16:creationId xmlns:a16="http://schemas.microsoft.com/office/drawing/2014/main" id="{CFD1E29B-4615-BCDF-EFA3-2F4BACD3E9DB}"/>
              </a:ext>
            </a:extLst>
          </p:cNvPr>
          <p:cNvSpPr>
            <a:spLocks noChangeArrowheads="1"/>
          </p:cNvSpPr>
          <p:nvPr/>
        </p:nvSpPr>
        <p:spPr bwMode="auto">
          <a:xfrm>
            <a:off x="627063" y="6062663"/>
            <a:ext cx="5589587" cy="2490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664" tIns="45028" rIns="91664" bIns="45028">
            <a:spAutoFit/>
          </a:bodyPr>
          <a:lstStyle>
            <a:lvl1pPr defTabSz="474663">
              <a:spcBef>
                <a:spcPct val="30000"/>
              </a:spcBef>
              <a:tabLst>
                <a:tab pos="450850" algn="l"/>
              </a:tabLst>
              <a:defRPr sz="1200">
                <a:solidFill>
                  <a:schemeClr val="tx1"/>
                </a:solidFill>
                <a:latin typeface="Arial" panose="020B0604020202020204" pitchFamily="34" charset="0"/>
              </a:defRPr>
            </a:lvl1pPr>
            <a:lvl2pPr marL="742950" indent="-285750" defTabSz="474663">
              <a:spcBef>
                <a:spcPct val="30000"/>
              </a:spcBef>
              <a:tabLst>
                <a:tab pos="450850" algn="l"/>
              </a:tabLst>
              <a:defRPr sz="1200">
                <a:solidFill>
                  <a:schemeClr val="tx1"/>
                </a:solidFill>
                <a:latin typeface="Arial" panose="020B0604020202020204" pitchFamily="34" charset="0"/>
              </a:defRPr>
            </a:lvl2pPr>
            <a:lvl3pPr marL="1143000" indent="-228600" defTabSz="474663">
              <a:spcBef>
                <a:spcPct val="30000"/>
              </a:spcBef>
              <a:tabLst>
                <a:tab pos="450850" algn="l"/>
              </a:tabLst>
              <a:defRPr sz="1200">
                <a:solidFill>
                  <a:schemeClr val="tx1"/>
                </a:solidFill>
                <a:latin typeface="Arial" panose="020B0604020202020204" pitchFamily="34" charset="0"/>
              </a:defRPr>
            </a:lvl3pPr>
            <a:lvl4pPr marL="1600200" indent="-228600" defTabSz="474663">
              <a:spcBef>
                <a:spcPct val="30000"/>
              </a:spcBef>
              <a:tabLst>
                <a:tab pos="450850" algn="l"/>
              </a:tabLst>
              <a:defRPr sz="1200">
                <a:solidFill>
                  <a:schemeClr val="tx1"/>
                </a:solidFill>
                <a:latin typeface="Arial" panose="020B0604020202020204" pitchFamily="34" charset="0"/>
              </a:defRPr>
            </a:lvl4pPr>
            <a:lvl5pPr marL="2057400" indent="-228600" defTabSz="474663">
              <a:spcBef>
                <a:spcPct val="30000"/>
              </a:spcBef>
              <a:tabLst>
                <a:tab pos="450850" algn="l"/>
              </a:tabLst>
              <a:defRPr sz="1200">
                <a:solidFill>
                  <a:schemeClr val="tx1"/>
                </a:solidFill>
                <a:latin typeface="Arial" panose="020B0604020202020204" pitchFamily="34" charset="0"/>
              </a:defRPr>
            </a:lvl5pPr>
            <a:lvl6pPr marL="2514600" indent="-228600" defTabSz="474663" eaLnBrk="0" fontAlgn="base" hangingPunct="0">
              <a:spcBef>
                <a:spcPct val="30000"/>
              </a:spcBef>
              <a:spcAft>
                <a:spcPct val="0"/>
              </a:spcAft>
              <a:tabLst>
                <a:tab pos="450850" algn="l"/>
              </a:tabLst>
              <a:defRPr sz="1200">
                <a:solidFill>
                  <a:schemeClr val="tx1"/>
                </a:solidFill>
                <a:latin typeface="Arial" panose="020B0604020202020204" pitchFamily="34" charset="0"/>
              </a:defRPr>
            </a:lvl6pPr>
            <a:lvl7pPr marL="2971800" indent="-228600" defTabSz="474663" eaLnBrk="0" fontAlgn="base" hangingPunct="0">
              <a:spcBef>
                <a:spcPct val="30000"/>
              </a:spcBef>
              <a:spcAft>
                <a:spcPct val="0"/>
              </a:spcAft>
              <a:tabLst>
                <a:tab pos="450850" algn="l"/>
              </a:tabLst>
              <a:defRPr sz="1200">
                <a:solidFill>
                  <a:schemeClr val="tx1"/>
                </a:solidFill>
                <a:latin typeface="Arial" panose="020B0604020202020204" pitchFamily="34" charset="0"/>
              </a:defRPr>
            </a:lvl7pPr>
            <a:lvl8pPr marL="3429000" indent="-228600" defTabSz="474663" eaLnBrk="0" fontAlgn="base" hangingPunct="0">
              <a:spcBef>
                <a:spcPct val="30000"/>
              </a:spcBef>
              <a:spcAft>
                <a:spcPct val="0"/>
              </a:spcAft>
              <a:tabLst>
                <a:tab pos="450850" algn="l"/>
              </a:tabLst>
              <a:defRPr sz="1200">
                <a:solidFill>
                  <a:schemeClr val="tx1"/>
                </a:solidFill>
                <a:latin typeface="Arial" panose="020B0604020202020204" pitchFamily="34" charset="0"/>
              </a:defRPr>
            </a:lvl8pPr>
            <a:lvl9pPr marL="3886200" indent="-228600" defTabSz="474663" eaLnBrk="0" fontAlgn="base" hangingPunct="0">
              <a:spcBef>
                <a:spcPct val="30000"/>
              </a:spcBef>
              <a:spcAft>
                <a:spcPct val="0"/>
              </a:spcAft>
              <a:tabLst>
                <a:tab pos="450850" algn="l"/>
              </a:tabLst>
              <a:defRPr sz="1200">
                <a:solidFill>
                  <a:schemeClr val="tx1"/>
                </a:solidFill>
                <a:latin typeface="Arial" panose="020B0604020202020204" pitchFamily="34" charset="0"/>
              </a:defRPr>
            </a:lvl9pPr>
          </a:lstStyle>
          <a:p>
            <a:pPr>
              <a:spcBef>
                <a:spcPct val="0"/>
              </a:spcBef>
            </a:pPr>
            <a:r>
              <a:rPr lang="en-US" altLang="en-US" sz="1100">
                <a:latin typeface="Courier New" panose="02070309020205020404" pitchFamily="49" charset="0"/>
              </a:rPr>
              <a:t>SQL&gt; SELECT prodid, qty</a:t>
            </a:r>
          </a:p>
          <a:p>
            <a:pPr>
              <a:spcBef>
                <a:spcPct val="0"/>
              </a:spcBef>
            </a:pPr>
            <a:r>
              <a:rPr lang="en-US" altLang="en-US" sz="1100">
                <a:latin typeface="Courier New" panose="02070309020205020404" pitchFamily="49" charset="0"/>
              </a:rPr>
              <a:t>  2  FROM   item</a:t>
            </a:r>
          </a:p>
          <a:p>
            <a:pPr>
              <a:spcBef>
                <a:spcPct val="0"/>
              </a:spcBef>
            </a:pPr>
            <a:r>
              <a:rPr lang="en-US" altLang="en-US" sz="1100">
                <a:latin typeface="Courier New" panose="02070309020205020404" pitchFamily="49" charset="0"/>
              </a:rPr>
              <a:t>  3  WHERE  ordid = 605;</a:t>
            </a:r>
          </a:p>
          <a:p>
            <a:pPr>
              <a:spcBef>
                <a:spcPct val="0"/>
              </a:spcBef>
            </a:pPr>
            <a:r>
              <a:rPr lang="en-US" altLang="en-US" sz="1100">
                <a:latin typeface="Courier New" panose="02070309020205020404" pitchFamily="49" charset="0"/>
              </a:rPr>
              <a:t> </a:t>
            </a:r>
          </a:p>
          <a:p>
            <a:pPr>
              <a:spcBef>
                <a:spcPct val="0"/>
              </a:spcBef>
            </a:pPr>
            <a:r>
              <a:rPr lang="en-US" altLang="en-US" sz="1100">
                <a:latin typeface="Courier New" panose="02070309020205020404" pitchFamily="49" charset="0"/>
              </a:rPr>
              <a:t>   PRODID       QTY  </a:t>
            </a:r>
          </a:p>
          <a:p>
            <a:pPr>
              <a:spcBef>
                <a:spcPct val="0"/>
              </a:spcBef>
            </a:pPr>
            <a:r>
              <a:rPr lang="en-US" altLang="en-US" sz="1100">
                <a:latin typeface="Courier New" panose="02070309020205020404" pitchFamily="49" charset="0"/>
              </a:rPr>
              <a:t>---------- ---------</a:t>
            </a:r>
          </a:p>
          <a:p>
            <a:pPr>
              <a:spcBef>
                <a:spcPct val="0"/>
              </a:spcBef>
            </a:pPr>
            <a:r>
              <a:rPr lang="en-US" altLang="en-US" sz="1100">
                <a:latin typeface="Courier New" panose="02070309020205020404" pitchFamily="49" charset="0"/>
              </a:rPr>
              <a:t>    100861       100       </a:t>
            </a:r>
          </a:p>
          <a:p>
            <a:pPr>
              <a:spcBef>
                <a:spcPct val="0"/>
              </a:spcBef>
            </a:pPr>
            <a:r>
              <a:rPr lang="en-US" altLang="en-US" sz="1100">
                <a:latin typeface="Courier New" panose="02070309020205020404" pitchFamily="49" charset="0"/>
              </a:rPr>
              <a:t>    100870       500</a:t>
            </a:r>
          </a:p>
          <a:p>
            <a:pPr>
              <a:spcBef>
                <a:spcPct val="0"/>
              </a:spcBef>
            </a:pPr>
            <a:r>
              <a:rPr lang="en-US" altLang="en-US" sz="1100">
                <a:latin typeface="Courier New" panose="02070309020205020404" pitchFamily="49" charset="0"/>
              </a:rPr>
              <a:t>    100890         5</a:t>
            </a:r>
          </a:p>
          <a:p>
            <a:pPr>
              <a:spcBef>
                <a:spcPct val="0"/>
              </a:spcBef>
            </a:pPr>
            <a:r>
              <a:rPr lang="en-US" altLang="en-US" sz="1100">
                <a:latin typeface="Courier New" panose="02070309020205020404" pitchFamily="49" charset="0"/>
              </a:rPr>
              <a:t>    101860        50</a:t>
            </a:r>
          </a:p>
          <a:p>
            <a:pPr>
              <a:spcBef>
                <a:spcPct val="0"/>
              </a:spcBef>
            </a:pPr>
            <a:r>
              <a:rPr lang="en-US" altLang="en-US" sz="1100">
                <a:latin typeface="Courier New" panose="02070309020205020404" pitchFamily="49" charset="0"/>
              </a:rPr>
              <a:t>    101863       100</a:t>
            </a:r>
          </a:p>
          <a:p>
            <a:pPr>
              <a:spcBef>
                <a:spcPct val="0"/>
              </a:spcBef>
            </a:pPr>
            <a:r>
              <a:rPr lang="en-US" altLang="en-US" sz="1100">
                <a:latin typeface="Courier New" panose="02070309020205020404" pitchFamily="49" charset="0"/>
              </a:rPr>
              <a:t>    102130        10      </a:t>
            </a:r>
          </a:p>
          <a:p>
            <a:pPr>
              <a:spcBef>
                <a:spcPct val="0"/>
              </a:spcBef>
            </a:pPr>
            <a:endParaRPr lang="en-US" altLang="en-US" sz="1100">
              <a:latin typeface="Courier New" panose="02070309020205020404" pitchFamily="49" charset="0"/>
            </a:endParaRPr>
          </a:p>
          <a:p>
            <a:pPr>
              <a:spcBef>
                <a:spcPct val="0"/>
              </a:spcBef>
            </a:pPr>
            <a:r>
              <a:rPr lang="en-US" altLang="en-US" sz="1100">
                <a:latin typeface="Courier New" panose="02070309020205020404" pitchFamily="49" charset="0"/>
              </a:rPr>
              <a:t>6 rows selected.</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9AC0D5EA-647A-CA08-4A70-2BECC49AAA36}"/>
              </a:ext>
            </a:extLst>
          </p:cNvPr>
          <p:cNvSpPr>
            <a:spLocks noGrp="1" noRot="1" noChangeArrowheads="1" noTextEdit="1"/>
          </p:cNvSpPr>
          <p:nvPr>
            <p:ph type="sldImg"/>
          </p:nvPr>
        </p:nvSpPr>
        <p:spPr>
          <a:xfrm>
            <a:off x="438150" y="160338"/>
            <a:ext cx="5976938" cy="44831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0419" name="Rectangle 3">
            <a:extLst>
              <a:ext uri="{FF2B5EF4-FFF2-40B4-BE49-F238E27FC236}">
                <a16:creationId xmlns:a16="http://schemas.microsoft.com/office/drawing/2014/main" id="{32425672-8256-C963-29E3-5450DC328AFC}"/>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r>
              <a:rPr lang="en-US" altLang="en-US">
                <a:latin typeface="Arial" panose="020B0604020202020204" pitchFamily="34" charset="0"/>
              </a:rPr>
              <a:t>Pairwise Versus Nonpairwise Comparisons</a:t>
            </a:r>
          </a:p>
          <a:p>
            <a:pPr lvl="1"/>
            <a:r>
              <a:rPr lang="en-US" altLang="en-US">
                <a:latin typeface="Arial" panose="020B0604020202020204" pitchFamily="34" charset="0"/>
              </a:rPr>
              <a:t>Column comparisons in a multiple-column subquery can be </a:t>
            </a:r>
            <a:r>
              <a:rPr lang="en-US" altLang="en-US">
                <a:solidFill>
                  <a:srgbClr val="FC0128"/>
                </a:solidFill>
                <a:latin typeface="Arial" panose="020B0604020202020204" pitchFamily="34" charset="0"/>
              </a:rPr>
              <a:t>pairwise comparisons </a:t>
            </a:r>
            <a:r>
              <a:rPr lang="en-US" altLang="en-US">
                <a:latin typeface="Arial" panose="020B0604020202020204" pitchFamily="34" charset="0"/>
              </a:rPr>
              <a:t>or </a:t>
            </a:r>
            <a:r>
              <a:rPr lang="en-US" altLang="en-US">
                <a:solidFill>
                  <a:srgbClr val="FC0128"/>
                </a:solidFill>
                <a:latin typeface="Arial" panose="020B0604020202020204" pitchFamily="34" charset="0"/>
              </a:rPr>
              <a:t>nonpairwise comparisons.</a:t>
            </a:r>
            <a:r>
              <a:rPr lang="en-US" altLang="en-US">
                <a:latin typeface="Arial" panose="020B0604020202020204" pitchFamily="34" charset="0"/>
              </a:rPr>
              <a:t> </a:t>
            </a:r>
          </a:p>
          <a:p>
            <a:pPr lvl="1"/>
            <a:r>
              <a:rPr lang="en-US" altLang="en-US">
                <a:latin typeface="Arial" panose="020B0604020202020204" pitchFamily="34" charset="0"/>
              </a:rPr>
              <a:t>The slide shows the product numbers and quantities of the items in order 605.</a:t>
            </a:r>
          </a:p>
          <a:p>
            <a:pPr lvl="1"/>
            <a:r>
              <a:rPr lang="en-US" altLang="en-US">
                <a:latin typeface="Arial" panose="020B0604020202020204" pitchFamily="34" charset="0"/>
              </a:rPr>
              <a:t>In the example on the previous slide, a pairwise comparison was executed in the WHERE clause. Each candidate row in the SELECT statement must have </a:t>
            </a:r>
            <a:r>
              <a:rPr lang="en-US" altLang="en-US" i="1">
                <a:latin typeface="Arial" panose="020B0604020202020204" pitchFamily="34" charset="0"/>
              </a:rPr>
              <a:t>both</a:t>
            </a:r>
            <a:r>
              <a:rPr lang="en-US" altLang="en-US">
                <a:latin typeface="Arial" panose="020B0604020202020204" pitchFamily="34" charset="0"/>
              </a:rPr>
              <a:t> the same product number and same quantity as an item in order 605. This is illustrated on the left side of the slide above. The arrows indicate that both the product number and quantity in a candidate row match a product number and quantity of an item in order 605.</a:t>
            </a:r>
          </a:p>
          <a:p>
            <a:pPr lvl="1"/>
            <a:r>
              <a:rPr lang="en-US" altLang="en-US">
                <a:latin typeface="Arial" panose="020B0604020202020204" pitchFamily="34" charset="0"/>
              </a:rPr>
              <a:t>A multiple-column subquery can also be a nonpairwise comparison. If you want a nonpairwise comparison (a cross product), you must use a WHERE clause with multiple conditions. A candidate row must match the multiple conditions in the WHERE clause but the values are compared individually. A candidate row must match some product number in order 605 as well as some quantity in order 605, but these values do not need to be in the same row. This is illustrated on the right side of the slide. For example, product 102130 appears in other orders, one order matching the quantity in order 605 (10), and another order having a quantity of 500. The arrows show a sampling of the various quantities ordered for a particular product.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34B63D30-4E81-56C6-439F-EEF58DC5E4E4}"/>
              </a:ext>
            </a:extLst>
          </p:cNvPr>
          <p:cNvSpPr>
            <a:spLocks noGrp="1" noRot="1" noChangeArrowheads="1" noTextEdit="1"/>
          </p:cNvSpPr>
          <p:nvPr>
            <p:ph type="sldImg"/>
          </p:nvPr>
        </p:nvSpPr>
        <p:spPr>
          <a:xfrm>
            <a:off x="404813" y="171450"/>
            <a:ext cx="6038850" cy="45291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2467" name="Rectangle 3">
            <a:extLst>
              <a:ext uri="{FF2B5EF4-FFF2-40B4-BE49-F238E27FC236}">
                <a16:creationId xmlns:a16="http://schemas.microsoft.com/office/drawing/2014/main" id="{8B169E01-D89A-9C53-74C0-651D0D19279F}"/>
              </a:ext>
            </a:extLst>
          </p:cNvPr>
          <p:cNvSpPr>
            <a:spLocks noGrp="1" noChangeArrowheads="1"/>
          </p:cNvSpPr>
          <p:nvPr>
            <p:ph type="body" idx="1"/>
          </p:nvPr>
        </p:nvSpPr>
        <p:spPr>
          <a:xfrm>
            <a:off x="457200" y="4849813"/>
            <a:ext cx="6057900"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defTabSz="468313">
              <a:tabLst>
                <a:tab pos="444500" algn="l"/>
              </a:tabLst>
            </a:pPr>
            <a:r>
              <a:rPr lang="en-US" altLang="en-US">
                <a:latin typeface="Arial" panose="020B0604020202020204" pitchFamily="34" charset="0"/>
              </a:rPr>
              <a:t>Nonpairwise Comparison Subquery</a:t>
            </a:r>
          </a:p>
          <a:p>
            <a:pPr marL="114300" lvl="1" defTabSz="468313">
              <a:tabLst>
                <a:tab pos="444500" algn="l"/>
              </a:tabLst>
            </a:pPr>
            <a:r>
              <a:rPr lang="en-US" altLang="en-US">
                <a:latin typeface="Arial" panose="020B0604020202020204" pitchFamily="34" charset="0"/>
              </a:rPr>
              <a:t>The slide example does a nonpairwise comparison of the columns. It displays the order number, product number, and quantity of any item in which the product number and quantity match any product number and quantity of an item in order 605. Order 605 is not included in the output.</a:t>
            </a:r>
          </a:p>
          <a:p>
            <a:pPr marL="114300" lvl="1" defTabSz="468313">
              <a:tabLst>
                <a:tab pos="444500" algn="l"/>
              </a:tabLst>
            </a:pPr>
            <a:endParaRPr lang="en-US" altLang="en-US">
              <a:latin typeface="Arial" panose="020B0604020202020204" pitchFamily="34" charset="0"/>
            </a:endParaRPr>
          </a:p>
          <a:p>
            <a:pPr marL="114300" lvl="1" defTabSz="468313">
              <a:tabLst>
                <a:tab pos="444500" algn="l"/>
              </a:tabLst>
            </a:pPr>
            <a:endParaRPr lang="en-US" altLang="en-US">
              <a:latin typeface="Arial" panose="020B0604020202020204" pitchFamily="34" charset="0"/>
            </a:endParaRPr>
          </a:p>
          <a:p>
            <a:pPr marL="114300" lvl="1" defTabSz="468313">
              <a:tabLst>
                <a:tab pos="444500" algn="l"/>
              </a:tabLst>
            </a:pPr>
            <a:endParaRPr lang="en-US" altLang="en-US">
              <a:latin typeface="Arial" panose="020B0604020202020204" pitchFamily="34" charset="0"/>
            </a:endParaRPr>
          </a:p>
          <a:p>
            <a:pPr marL="114300" lvl="1" defTabSz="468313">
              <a:tabLst>
                <a:tab pos="444500" algn="l"/>
              </a:tabLst>
            </a:pPr>
            <a:endParaRPr lang="en-US" altLang="en-US">
              <a:latin typeface="Arial" panose="020B0604020202020204" pitchFamily="34" charset="0"/>
            </a:endParaRPr>
          </a:p>
          <a:p>
            <a:pPr marL="114300" lvl="1" defTabSz="468313">
              <a:tabLst>
                <a:tab pos="444500" algn="l"/>
              </a:tabLst>
            </a:pPr>
            <a:endParaRPr lang="en-US" altLang="en-US">
              <a:latin typeface="Arial" panose="020B0604020202020204" pitchFamily="34" charset="0"/>
            </a:endParaRPr>
          </a:p>
          <a:p>
            <a:pPr marL="114300" lvl="1" defTabSz="468313">
              <a:tabLst>
                <a:tab pos="444500" algn="l"/>
              </a:tabLst>
            </a:pPr>
            <a:endParaRPr lang="en-US" altLang="en-US">
              <a:latin typeface="Arial" panose="020B0604020202020204" pitchFamily="34" charset="0"/>
            </a:endParaRPr>
          </a:p>
          <a:p>
            <a:pPr marL="114300" lvl="1" defTabSz="468313">
              <a:tabLst>
                <a:tab pos="444500" algn="l"/>
              </a:tabLst>
            </a:pPr>
            <a:endParaRPr lang="en-US" altLang="en-US">
              <a:latin typeface="Arial" panose="020B0604020202020204" pitchFamily="34" charset="0"/>
            </a:endParaRPr>
          </a:p>
          <a:p>
            <a:pPr defTabSz="468313">
              <a:tabLst>
                <a:tab pos="444500" algn="l"/>
              </a:tabLst>
            </a:pPr>
            <a:endParaRPr lang="en-US" altLang="en-US">
              <a:solidFill>
                <a:schemeClr val="accent2"/>
              </a:solidFill>
              <a:latin typeface="Arial" panose="020B0604020202020204" pitchFamily="34" charset="0"/>
            </a:endParaRPr>
          </a:p>
          <a:p>
            <a:pPr defTabSz="468313">
              <a:tabLst>
                <a:tab pos="444500" algn="l"/>
              </a:tabLst>
            </a:pPr>
            <a:endParaRPr lang="en-US" altLang="en-US">
              <a:solidFill>
                <a:schemeClr val="accent2"/>
              </a:solidFill>
              <a:latin typeface="Arial" panose="020B0604020202020204" pitchFamily="34" charset="0"/>
            </a:endParaRPr>
          </a:p>
          <a:p>
            <a:pPr defTabSz="468313">
              <a:tabLst>
                <a:tab pos="444500" algn="l"/>
              </a:tabLst>
            </a:pPr>
            <a:r>
              <a:rPr lang="en-US" altLang="en-US">
                <a:solidFill>
                  <a:schemeClr val="accent2"/>
                </a:solidFill>
                <a:latin typeface="Arial" panose="020B0604020202020204" pitchFamily="34" charset="0"/>
              </a:rPr>
              <a:t>Class Management Note</a:t>
            </a:r>
            <a:endParaRPr lang="en-US" altLang="en-US">
              <a:latin typeface="Arial" panose="020B0604020202020204" pitchFamily="34" charset="0"/>
            </a:endParaRPr>
          </a:p>
          <a:p>
            <a:pPr marL="114300" lvl="1" defTabSz="468313">
              <a:tabLst>
                <a:tab pos="444500" algn="l"/>
              </a:tabLst>
            </a:pPr>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l7nonpair.sql</a:t>
            </a:r>
            <a:endParaRPr lang="en-US" altLang="en-US">
              <a:solidFill>
                <a:schemeClr val="accent2"/>
              </a:solidFill>
              <a:latin typeface="Arial" panose="020B0604020202020204" pitchFamily="34" charset="0"/>
            </a:endParaRPr>
          </a:p>
          <a:p>
            <a:pPr marL="114300" lvl="1" defTabSz="468313">
              <a:tabLst>
                <a:tab pos="444500" algn="l"/>
              </a:tabLst>
            </a:pPr>
            <a:r>
              <a:rPr lang="en-US" altLang="en-US">
                <a:solidFill>
                  <a:schemeClr val="accent2"/>
                </a:solidFill>
                <a:latin typeface="Arial" panose="020B0604020202020204" pitchFamily="34" charset="0"/>
              </a:rPr>
              <a:t>Purpose: To illustrate a nonpairwise, multiple-column subquery.</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6BB0873E-D7C5-01AD-00ED-9BA2878C0FB6}"/>
              </a:ext>
            </a:extLst>
          </p:cNvPr>
          <p:cNvSpPr>
            <a:spLocks noGrp="1" noRot="1" noChangeArrowheads="1" noTextEdit="1"/>
          </p:cNvSpPr>
          <p:nvPr>
            <p:ph type="sldImg"/>
          </p:nvPr>
        </p:nvSpPr>
        <p:spPr>
          <a:xfrm>
            <a:off x="438150" y="160338"/>
            <a:ext cx="5976938" cy="4483100"/>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4515" name="Rectangle 3">
            <a:extLst>
              <a:ext uri="{FF2B5EF4-FFF2-40B4-BE49-F238E27FC236}">
                <a16:creationId xmlns:a16="http://schemas.microsoft.com/office/drawing/2014/main" id="{4BFAC66F-0842-FD38-032C-E6BCEADABA6D}"/>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272" tIns="46636" rIns="93272" bIns="46636"/>
          <a:lstStyle/>
          <a:p>
            <a:r>
              <a:rPr lang="en-US" altLang="en-US">
                <a:latin typeface="Arial" panose="020B0604020202020204" pitchFamily="34" charset="0"/>
              </a:rPr>
              <a:t>Nonpairwise Subquery</a:t>
            </a:r>
          </a:p>
          <a:p>
            <a:pPr lvl="1"/>
            <a:r>
              <a:rPr lang="en-US" altLang="en-US">
                <a:latin typeface="Arial" panose="020B0604020202020204" pitchFamily="34" charset="0"/>
              </a:rPr>
              <a:t>The results of the nonpairwise subquery are shown in the slide. Sixteen candidate rows in the ITEM table match the multiple conditions in the WHERE clause.</a:t>
            </a:r>
          </a:p>
          <a:p>
            <a:pPr lvl="1"/>
            <a:r>
              <a:rPr lang="en-US" altLang="en-US">
                <a:latin typeface="Arial" panose="020B0604020202020204" pitchFamily="34" charset="0"/>
              </a:rPr>
              <a:t>For example, an item from order 621 is returned from the SQL statement. A product in order 621 (product number 100861) matches a product in an item in order 605. The quantity for product 100861 in order 621 (10) matches the quantity in another item in order 605 (the quantity for product 102130).</a:t>
            </a: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r>
              <a:rPr lang="en-US" altLang="en-US">
                <a:solidFill>
                  <a:schemeClr val="accent2"/>
                </a:solidFill>
                <a:latin typeface="Arial" panose="020B0604020202020204" pitchFamily="34" charset="0"/>
              </a:rPr>
              <a:t>Class Management Note</a:t>
            </a:r>
            <a:endParaRPr lang="en-US" altLang="en-US">
              <a:latin typeface="Arial" panose="020B0604020202020204" pitchFamily="34" charset="0"/>
            </a:endParaRPr>
          </a:p>
          <a:p>
            <a:pPr lvl="1"/>
            <a:r>
              <a:rPr lang="en-US" altLang="en-US">
                <a:solidFill>
                  <a:schemeClr val="accent2"/>
                </a:solidFill>
                <a:latin typeface="Arial" panose="020B0604020202020204" pitchFamily="34" charset="0"/>
              </a:rPr>
              <a:t>The highlighted sections in the slide indicate those rows that match some product in order 605, and some quantity in order 605. Note that the rows that are returned from the pairwise comparison are included in the output of the nonpairwise comparison. These rows are not highlighted.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71CEA0E4-B4E5-6B0F-60B6-5F2C6B77DBD2}"/>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82588"/>
            <a:r>
              <a:rPr lang="en-US" altLang="en-US">
                <a:latin typeface="Arial" panose="020B0604020202020204" pitchFamily="34" charset="0"/>
              </a:rPr>
              <a:t>Using Group Functions in a Subquery</a:t>
            </a:r>
          </a:p>
          <a:p>
            <a:pPr marL="114300" lvl="1" defTabSz="382588"/>
            <a:r>
              <a:rPr lang="en-US" altLang="en-US">
                <a:latin typeface="Arial" panose="020B0604020202020204" pitchFamily="34" charset="0"/>
              </a:rPr>
              <a:t>You can display data from a main query by using a group function in a subquery to return a single row. The subquery is in parentheses and is placed after the comparison operator.</a:t>
            </a:r>
          </a:p>
          <a:p>
            <a:pPr marL="114300" lvl="1" defTabSz="382588"/>
            <a:r>
              <a:rPr lang="en-US" altLang="en-US">
                <a:latin typeface="Arial" panose="020B0604020202020204" pitchFamily="34" charset="0"/>
              </a:rPr>
              <a:t>The example on the slide displays the employee name, job title, and salary of all employees whose salary is equal to the minimum salary. The MIN group function returns a single value (800) to the outer query.</a:t>
            </a:r>
          </a:p>
          <a:p>
            <a:pPr marL="114300" lvl="1" defTabSz="382588"/>
            <a:endParaRPr lang="en-US" altLang="en-US">
              <a:latin typeface="Arial" panose="020B0604020202020204" pitchFamily="34" charset="0"/>
            </a:endParaRPr>
          </a:p>
          <a:p>
            <a:pPr defTabSz="382588"/>
            <a:endParaRPr lang="en-US" altLang="en-US" b="1">
              <a:latin typeface="Times New Roman" panose="02020603050405020304" pitchFamily="18" charset="0"/>
            </a:endParaRPr>
          </a:p>
        </p:txBody>
      </p:sp>
      <p:sp>
        <p:nvSpPr>
          <p:cNvPr id="66563" name="Rectangle 3">
            <a:extLst>
              <a:ext uri="{FF2B5EF4-FFF2-40B4-BE49-F238E27FC236}">
                <a16:creationId xmlns:a16="http://schemas.microsoft.com/office/drawing/2014/main" id="{8F9E4851-EE01-0668-D7E7-FC53297F0957}"/>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7FA1105-E17C-48AB-97DC-B0DE8DD66C32}"/>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82588"/>
            <a:r>
              <a:rPr lang="en-US" altLang="en-US">
                <a:latin typeface="Arial" panose="020B0604020202020204" pitchFamily="34" charset="0"/>
              </a:rPr>
              <a:t>Using Group Functions in a Subquery</a:t>
            </a:r>
          </a:p>
          <a:p>
            <a:pPr marL="114300" lvl="1" defTabSz="382588"/>
            <a:r>
              <a:rPr lang="en-US" altLang="en-US">
                <a:latin typeface="Arial" panose="020B0604020202020204" pitchFamily="34" charset="0"/>
              </a:rPr>
              <a:t>You can display data from a main query by using a group function in a subquery to return a single row. The subquery is in parentheses and is placed after the comparison operator.</a:t>
            </a:r>
          </a:p>
          <a:p>
            <a:pPr marL="114300" lvl="1" defTabSz="382588"/>
            <a:r>
              <a:rPr lang="en-US" altLang="en-US">
                <a:latin typeface="Arial" panose="020B0604020202020204" pitchFamily="34" charset="0"/>
              </a:rPr>
              <a:t>The example on the slide displays the employee name, job title, and salary of all employees whose salary is equal to the minimum salary. The MIN group function returns a single value (800) to the outer query.</a:t>
            </a:r>
          </a:p>
          <a:p>
            <a:pPr marL="114300" lvl="1" defTabSz="382588"/>
            <a:endParaRPr lang="en-US" altLang="en-US">
              <a:latin typeface="Arial" panose="020B0604020202020204" pitchFamily="34" charset="0"/>
            </a:endParaRPr>
          </a:p>
          <a:p>
            <a:pPr defTabSz="382588"/>
            <a:endParaRPr lang="en-US" altLang="en-US" b="1">
              <a:latin typeface="Times New Roman" panose="02020603050405020304" pitchFamily="18" charset="0"/>
            </a:endParaRPr>
          </a:p>
        </p:txBody>
      </p:sp>
      <p:sp>
        <p:nvSpPr>
          <p:cNvPr id="68611" name="Rectangle 3">
            <a:extLst>
              <a:ext uri="{FF2B5EF4-FFF2-40B4-BE49-F238E27FC236}">
                <a16:creationId xmlns:a16="http://schemas.microsoft.com/office/drawing/2014/main" id="{5C1BE637-30D7-9D14-9D15-CDFF3A66AF72}"/>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24A4A4DD-D31A-9817-4520-B7AF98D6CB11}"/>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pPr defTabSz="382588"/>
            <a:r>
              <a:rPr lang="en-US" altLang="en-US">
                <a:latin typeface="Arial" panose="020B0604020202020204" pitchFamily="34" charset="0"/>
              </a:rPr>
              <a:t>Using Group Functions in a Subquery</a:t>
            </a:r>
          </a:p>
          <a:p>
            <a:pPr marL="114300" lvl="1" defTabSz="382588"/>
            <a:r>
              <a:rPr lang="en-US" altLang="en-US">
                <a:latin typeface="Arial" panose="020B0604020202020204" pitchFamily="34" charset="0"/>
              </a:rPr>
              <a:t>You can display data from a main query by using a group function in a subquery to return a single row. The subquery is in parentheses and is placed after the comparison operator.</a:t>
            </a:r>
          </a:p>
          <a:p>
            <a:pPr marL="114300" lvl="1" defTabSz="382588"/>
            <a:r>
              <a:rPr lang="en-US" altLang="en-US">
                <a:latin typeface="Arial" panose="020B0604020202020204" pitchFamily="34" charset="0"/>
              </a:rPr>
              <a:t>The example on the slide displays the employee name, job title, and salary of all employees whose salary is equal to the minimum salary. The MIN group function returns a single value (800) to the outer query.</a:t>
            </a:r>
          </a:p>
          <a:p>
            <a:pPr marL="114300" lvl="1" defTabSz="382588"/>
            <a:endParaRPr lang="en-US" altLang="en-US">
              <a:latin typeface="Arial" panose="020B0604020202020204" pitchFamily="34" charset="0"/>
            </a:endParaRPr>
          </a:p>
          <a:p>
            <a:pPr defTabSz="382588"/>
            <a:endParaRPr lang="en-US" altLang="en-US" b="1">
              <a:latin typeface="Times New Roman" panose="02020603050405020304" pitchFamily="18" charset="0"/>
            </a:endParaRPr>
          </a:p>
        </p:txBody>
      </p:sp>
      <p:sp>
        <p:nvSpPr>
          <p:cNvPr id="70659" name="Rectangle 3">
            <a:extLst>
              <a:ext uri="{FF2B5EF4-FFF2-40B4-BE49-F238E27FC236}">
                <a16:creationId xmlns:a16="http://schemas.microsoft.com/office/drawing/2014/main" id="{0D3E8793-A962-C286-B2A6-32A7332D6CC2}"/>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02414EB2-C5ED-A884-E942-D63D51F4D4EF}"/>
              </a:ext>
            </a:extLst>
          </p:cNvPr>
          <p:cNvSpPr>
            <a:spLocks noGrp="1" noChangeArrowheads="1"/>
          </p:cNvSpPr>
          <p:nvPr>
            <p:ph type="body" idx="1"/>
          </p:nvPr>
        </p:nvSpPr>
        <p:spPr>
          <a:xfrm>
            <a:off x="457200" y="4849813"/>
            <a:ext cx="6016625"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defTabSz="468313">
              <a:tabLst>
                <a:tab pos="444500" algn="l"/>
              </a:tabLst>
            </a:pPr>
            <a:r>
              <a:rPr lang="en-US" altLang="en-US">
                <a:latin typeface="Arial" panose="020B0604020202020204" pitchFamily="34" charset="0"/>
              </a:rPr>
              <a:t>Using a Subquery in the FROM Clause</a:t>
            </a:r>
          </a:p>
          <a:p>
            <a:pPr marL="114300" lvl="1" defTabSz="468313">
              <a:tabLst>
                <a:tab pos="444500" algn="l"/>
              </a:tabLst>
            </a:pPr>
            <a:r>
              <a:rPr lang="en-US" altLang="en-US">
                <a:latin typeface="Arial" panose="020B0604020202020204" pitchFamily="34" charset="0"/>
              </a:rPr>
              <a:t>You can use a </a:t>
            </a:r>
            <a:r>
              <a:rPr lang="en-US" altLang="en-US">
                <a:solidFill>
                  <a:srgbClr val="FC0128"/>
                </a:solidFill>
                <a:latin typeface="Arial" panose="020B0604020202020204" pitchFamily="34" charset="0"/>
              </a:rPr>
              <a:t>subquery in the FROM clause </a:t>
            </a:r>
            <a:r>
              <a:rPr lang="en-US" altLang="en-US">
                <a:latin typeface="Arial" panose="020B0604020202020204" pitchFamily="34" charset="0"/>
              </a:rPr>
              <a:t>of a SELECT statement, which is very similar to how views are used. A subquery in the FROM clause of a SELECT statement defines a data source for that particular SELECT statement, and only that SELECT statement.  The slide example displays employee names, salaries, department numbers, and average salaries for all the employees who make more than the average salary in their department.</a:t>
            </a:r>
          </a:p>
        </p:txBody>
      </p:sp>
      <p:sp>
        <p:nvSpPr>
          <p:cNvPr id="72707" name="Rectangle 3">
            <a:extLst>
              <a:ext uri="{FF2B5EF4-FFF2-40B4-BE49-F238E27FC236}">
                <a16:creationId xmlns:a16="http://schemas.microsoft.com/office/drawing/2014/main" id="{ED279669-8BEA-BC35-832D-D2A2689175CD}"/>
              </a:ext>
            </a:extLst>
          </p:cNvPr>
          <p:cNvSpPr>
            <a:spLocks noGrp="1" noRot="1" noChangeArrowheads="1" noTextEdit="1"/>
          </p:cNvSpPr>
          <p:nvPr>
            <p:ph type="sldImg"/>
          </p:nvPr>
        </p:nvSpPr>
        <p:spPr>
          <a:xfrm>
            <a:off x="404813" y="171450"/>
            <a:ext cx="6038850" cy="45291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535859F3-5E1A-EFB7-D013-DD73FCFE453E}"/>
              </a:ext>
            </a:extLst>
          </p:cNvPr>
          <p:cNvSpPr>
            <a:spLocks noGrp="1" noRot="1" noChangeArrowheads="1" noTextEdit="1"/>
          </p:cNvSpPr>
          <p:nvPr>
            <p:ph type="sldImg"/>
          </p:nvPr>
        </p:nvSpPr>
        <p:spPr>
          <a:xfrm>
            <a:off x="441325" y="165100"/>
            <a:ext cx="5970588" cy="4478338"/>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4755" name="Rectangle 3">
            <a:extLst>
              <a:ext uri="{FF2B5EF4-FFF2-40B4-BE49-F238E27FC236}">
                <a16:creationId xmlns:a16="http://schemas.microsoft.com/office/drawing/2014/main" id="{8209B51A-A6B6-638D-8C9D-30426E32CEB8}"/>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664" tIns="45028" rIns="91664" bIns="45028"/>
          <a:lstStyle/>
          <a:p>
            <a:r>
              <a:rPr lang="en-US" altLang="en-US">
                <a:latin typeface="Arial" panose="020B0604020202020204" pitchFamily="34" charset="0"/>
              </a:rPr>
              <a:t>select dname,count(*) from emp natural join dept</a:t>
            </a:r>
          </a:p>
          <a:p>
            <a:r>
              <a:rPr lang="en-US" altLang="en-US">
                <a:latin typeface="Arial" panose="020B0604020202020204" pitchFamily="34" charset="0"/>
              </a:rPr>
              <a:t>group by dname</a:t>
            </a:r>
          </a:p>
          <a:p>
            <a:r>
              <a:rPr lang="en-US" altLang="en-US">
                <a:latin typeface="Arial" panose="020B0604020202020204" pitchFamily="34" charset="0"/>
              </a:rPr>
              <a:t>having count(*)=(select max(count(*)) from emp group by deptno)</a:t>
            </a:r>
          </a:p>
          <a:p>
            <a:endParaRPr lang="en-US" altLang="en-US">
              <a:latin typeface="Arial" panose="020B0604020202020204" pitchFamily="34" charset="0"/>
            </a:endParaRPr>
          </a:p>
          <a:p>
            <a:r>
              <a:rPr lang="en-US" altLang="en-US">
                <a:latin typeface="Arial" panose="020B0604020202020204" pitchFamily="34" charset="0"/>
              </a:rPr>
              <a:t>HAVING Clause with Subqueries</a:t>
            </a:r>
          </a:p>
          <a:p>
            <a:pPr lvl="1"/>
            <a:r>
              <a:rPr lang="en-US" altLang="en-US">
                <a:latin typeface="Arial" panose="020B0604020202020204" pitchFamily="34" charset="0"/>
              </a:rPr>
              <a:t>You can use subqueries not only in the WHERE clause, but also in the HAVING clause. The Oracle Server executes the subquery, and the results are returned into the HAVING clause of the main query.</a:t>
            </a:r>
          </a:p>
          <a:p>
            <a:pPr lvl="1"/>
            <a:r>
              <a:rPr lang="en-US" altLang="en-US">
                <a:latin typeface="Arial" panose="020B0604020202020204" pitchFamily="34" charset="0"/>
              </a:rPr>
              <a:t>The SQL statement on the slide displays all the departments that have a minimum salary greater than that of department 20.</a:t>
            </a:r>
          </a:p>
          <a:p>
            <a:pPr lvl="1"/>
            <a:endParaRPr lang="en-US" altLang="en-US">
              <a:latin typeface="Arial" panose="020B0604020202020204" pitchFamily="34" charset="0"/>
            </a:endParaRPr>
          </a:p>
          <a:p>
            <a:pPr lvl="1"/>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r>
              <a:rPr lang="en-US" altLang="en-US">
                <a:latin typeface="Arial" panose="020B0604020202020204" pitchFamily="34" charset="0"/>
              </a:rPr>
              <a:t>Example</a:t>
            </a:r>
          </a:p>
          <a:p>
            <a:pPr lvl="1"/>
            <a:r>
              <a:rPr lang="en-US" altLang="en-US">
                <a:latin typeface="Arial" panose="020B0604020202020204" pitchFamily="34" charset="0"/>
              </a:rPr>
              <a:t>Find the job with the lowest average salary.</a:t>
            </a:r>
          </a:p>
          <a:p>
            <a:endParaRPr lang="en-US" altLang="en-US" b="1">
              <a:latin typeface="Times New Roman" panose="02020603050405020304" pitchFamily="18" charset="0"/>
            </a:endParaRPr>
          </a:p>
        </p:txBody>
      </p:sp>
      <p:sp>
        <p:nvSpPr>
          <p:cNvPr id="74756" name="Rectangle 4">
            <a:extLst>
              <a:ext uri="{FF2B5EF4-FFF2-40B4-BE49-F238E27FC236}">
                <a16:creationId xmlns:a16="http://schemas.microsoft.com/office/drawing/2014/main" id="{4ED4519B-4E3B-4483-1600-0EF345211B0E}"/>
              </a:ext>
            </a:extLst>
          </p:cNvPr>
          <p:cNvSpPr>
            <a:spLocks noChangeArrowheads="1"/>
          </p:cNvSpPr>
          <p:nvPr/>
        </p:nvSpPr>
        <p:spPr bwMode="auto">
          <a:xfrm>
            <a:off x="628650" y="5911850"/>
            <a:ext cx="5668963" cy="8397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56" tIns="43420" rIns="90056" bIns="43420" anchor="ctr"/>
          <a:lstStyle>
            <a:lvl1pPr defTabSz="839788">
              <a:spcBef>
                <a:spcPct val="30000"/>
              </a:spcBef>
              <a:tabLst>
                <a:tab pos="1155700" algn="l"/>
              </a:tabLst>
              <a:defRPr sz="1200">
                <a:solidFill>
                  <a:schemeClr val="tx1"/>
                </a:solidFill>
                <a:latin typeface="Arial" panose="020B0604020202020204" pitchFamily="34" charset="0"/>
              </a:defRPr>
            </a:lvl1pPr>
            <a:lvl2pPr marL="742950" indent="-285750" defTabSz="839788">
              <a:spcBef>
                <a:spcPct val="30000"/>
              </a:spcBef>
              <a:tabLst>
                <a:tab pos="1155700" algn="l"/>
              </a:tabLst>
              <a:defRPr sz="1200">
                <a:solidFill>
                  <a:schemeClr val="tx1"/>
                </a:solidFill>
                <a:latin typeface="Arial" panose="020B0604020202020204" pitchFamily="34" charset="0"/>
              </a:defRPr>
            </a:lvl2pPr>
            <a:lvl3pPr marL="1143000" indent="-228600" defTabSz="839788">
              <a:spcBef>
                <a:spcPct val="30000"/>
              </a:spcBef>
              <a:tabLst>
                <a:tab pos="1155700" algn="l"/>
              </a:tabLst>
              <a:defRPr sz="1200">
                <a:solidFill>
                  <a:schemeClr val="tx1"/>
                </a:solidFill>
                <a:latin typeface="Arial" panose="020B0604020202020204" pitchFamily="34" charset="0"/>
              </a:defRPr>
            </a:lvl3pPr>
            <a:lvl4pPr marL="1600200" indent="-228600" defTabSz="839788">
              <a:spcBef>
                <a:spcPct val="30000"/>
              </a:spcBef>
              <a:tabLst>
                <a:tab pos="1155700" algn="l"/>
              </a:tabLst>
              <a:defRPr sz="1200">
                <a:solidFill>
                  <a:schemeClr val="tx1"/>
                </a:solidFill>
                <a:latin typeface="Arial" panose="020B0604020202020204" pitchFamily="34" charset="0"/>
              </a:defRPr>
            </a:lvl4pPr>
            <a:lvl5pPr marL="2057400" indent="-228600" defTabSz="839788">
              <a:spcBef>
                <a:spcPct val="30000"/>
              </a:spcBef>
              <a:tabLst>
                <a:tab pos="1155700" algn="l"/>
              </a:tabLst>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tabLst>
                <a:tab pos="1155700" algn="l"/>
              </a:tabLs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tabLst>
                <a:tab pos="1155700" algn="l"/>
              </a:tabLs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tabLst>
                <a:tab pos="1155700" algn="l"/>
              </a:tabLs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tabLst>
                <a:tab pos="1155700" algn="l"/>
              </a:tabLst>
              <a:defRPr sz="1200">
                <a:solidFill>
                  <a:schemeClr val="tx1"/>
                </a:solidFill>
                <a:latin typeface="Arial" panose="020B0604020202020204" pitchFamily="34" charset="0"/>
              </a:defRPr>
            </a:lvl9pPr>
          </a:lstStyle>
          <a:p>
            <a:pPr>
              <a:lnSpc>
                <a:spcPct val="70000"/>
              </a:lnSpc>
              <a:spcBef>
                <a:spcPct val="0"/>
              </a:spcBef>
            </a:pPr>
            <a:r>
              <a:rPr lang="en-US" altLang="en-US" sz="2500">
                <a:latin typeface="Times New Roman" panose="02020603050405020304" pitchFamily="18" charset="0"/>
              </a:rPr>
              <a:t>   </a:t>
            </a:r>
            <a:r>
              <a:rPr lang="en-US" altLang="en-US" sz="1100">
                <a:latin typeface="Courier New" panose="02070309020205020404" pitchFamily="49" charset="0"/>
              </a:rPr>
              <a:t>DEPTNO   MIN(SAL)</a:t>
            </a:r>
          </a:p>
          <a:p>
            <a:pPr>
              <a:spcBef>
                <a:spcPct val="0"/>
              </a:spcBef>
            </a:pPr>
            <a:r>
              <a:rPr lang="en-US" altLang="en-US" sz="1100">
                <a:latin typeface="Courier New" panose="02070309020205020404" pitchFamily="49" charset="0"/>
              </a:rPr>
              <a:t>--------- ---------</a:t>
            </a:r>
          </a:p>
          <a:p>
            <a:pPr>
              <a:spcBef>
                <a:spcPct val="0"/>
              </a:spcBef>
            </a:pPr>
            <a:r>
              <a:rPr lang="en-US" altLang="en-US" sz="1100">
                <a:latin typeface="Courier New" panose="02070309020205020404" pitchFamily="49" charset="0"/>
              </a:rPr>
              <a:t>       10      1300</a:t>
            </a:r>
          </a:p>
          <a:p>
            <a:pPr>
              <a:spcBef>
                <a:spcPct val="0"/>
              </a:spcBef>
            </a:pPr>
            <a:r>
              <a:rPr lang="en-US" altLang="en-US" sz="1100">
                <a:latin typeface="Courier New" panose="02070309020205020404" pitchFamily="49" charset="0"/>
              </a:rPr>
              <a:t>       30       950</a:t>
            </a:r>
          </a:p>
        </p:txBody>
      </p:sp>
      <p:sp>
        <p:nvSpPr>
          <p:cNvPr id="74757" name="Rectangle 5">
            <a:extLst>
              <a:ext uri="{FF2B5EF4-FFF2-40B4-BE49-F238E27FC236}">
                <a16:creationId xmlns:a16="http://schemas.microsoft.com/office/drawing/2014/main" id="{00E30F75-6B50-504F-64C4-580737BFDD0C}"/>
              </a:ext>
            </a:extLst>
          </p:cNvPr>
          <p:cNvSpPr>
            <a:spLocks noChangeArrowheads="1"/>
          </p:cNvSpPr>
          <p:nvPr/>
        </p:nvSpPr>
        <p:spPr bwMode="auto">
          <a:xfrm>
            <a:off x="615950" y="7286625"/>
            <a:ext cx="5686425" cy="1130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4758" name="Rectangle 6">
            <a:extLst>
              <a:ext uri="{FF2B5EF4-FFF2-40B4-BE49-F238E27FC236}">
                <a16:creationId xmlns:a16="http://schemas.microsoft.com/office/drawing/2014/main" id="{81731823-C49C-57F6-025D-7D0AD2DADBFA}"/>
              </a:ext>
            </a:extLst>
          </p:cNvPr>
          <p:cNvSpPr>
            <a:spLocks noChangeArrowheads="1"/>
          </p:cNvSpPr>
          <p:nvPr/>
        </p:nvSpPr>
        <p:spPr bwMode="auto">
          <a:xfrm>
            <a:off x="654050" y="7286625"/>
            <a:ext cx="5722938"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56" tIns="43420" rIns="90056" bIns="43420">
            <a:spAutoFit/>
          </a:bodyPr>
          <a:lstStyle>
            <a:lvl1pPr defTabSz="839788">
              <a:spcBef>
                <a:spcPct val="30000"/>
              </a:spcBef>
              <a:tabLst>
                <a:tab pos="1155700" algn="l"/>
                <a:tab pos="2097088" algn="l"/>
                <a:tab pos="2825750" algn="l"/>
              </a:tabLst>
              <a:defRPr sz="1200">
                <a:solidFill>
                  <a:schemeClr val="tx1"/>
                </a:solidFill>
                <a:latin typeface="Arial" panose="020B0604020202020204" pitchFamily="34" charset="0"/>
              </a:defRPr>
            </a:lvl1pPr>
            <a:lvl2pPr marL="742950" indent="-285750" defTabSz="839788">
              <a:spcBef>
                <a:spcPct val="30000"/>
              </a:spcBef>
              <a:tabLst>
                <a:tab pos="1155700" algn="l"/>
                <a:tab pos="2097088" algn="l"/>
                <a:tab pos="2825750" algn="l"/>
              </a:tabLst>
              <a:defRPr sz="1200">
                <a:solidFill>
                  <a:schemeClr val="tx1"/>
                </a:solidFill>
                <a:latin typeface="Arial" panose="020B0604020202020204" pitchFamily="34" charset="0"/>
              </a:defRPr>
            </a:lvl2pPr>
            <a:lvl3pPr marL="1143000" indent="-228600" defTabSz="839788">
              <a:spcBef>
                <a:spcPct val="30000"/>
              </a:spcBef>
              <a:tabLst>
                <a:tab pos="1155700" algn="l"/>
                <a:tab pos="2097088" algn="l"/>
                <a:tab pos="2825750" algn="l"/>
              </a:tabLst>
              <a:defRPr sz="1200">
                <a:solidFill>
                  <a:schemeClr val="tx1"/>
                </a:solidFill>
                <a:latin typeface="Arial" panose="020B0604020202020204" pitchFamily="34" charset="0"/>
              </a:defRPr>
            </a:lvl3pPr>
            <a:lvl4pPr marL="1600200" indent="-228600" defTabSz="839788">
              <a:spcBef>
                <a:spcPct val="30000"/>
              </a:spcBef>
              <a:tabLst>
                <a:tab pos="1155700" algn="l"/>
                <a:tab pos="2097088" algn="l"/>
                <a:tab pos="2825750" algn="l"/>
              </a:tabLst>
              <a:defRPr sz="1200">
                <a:solidFill>
                  <a:schemeClr val="tx1"/>
                </a:solidFill>
                <a:latin typeface="Arial" panose="020B0604020202020204" pitchFamily="34" charset="0"/>
              </a:defRPr>
            </a:lvl4pPr>
            <a:lvl5pPr marL="2057400" indent="-228600" defTabSz="839788">
              <a:spcBef>
                <a:spcPct val="30000"/>
              </a:spcBef>
              <a:tabLst>
                <a:tab pos="1155700" algn="l"/>
                <a:tab pos="2097088" algn="l"/>
                <a:tab pos="2825750" algn="l"/>
              </a:tabLst>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tabLst>
                <a:tab pos="1155700" algn="l"/>
                <a:tab pos="2097088" algn="l"/>
                <a:tab pos="2825750" algn="l"/>
              </a:tabLs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tabLst>
                <a:tab pos="1155700" algn="l"/>
                <a:tab pos="2097088" algn="l"/>
                <a:tab pos="2825750" algn="l"/>
              </a:tabLs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tabLst>
                <a:tab pos="1155700" algn="l"/>
                <a:tab pos="2097088" algn="l"/>
                <a:tab pos="2825750" algn="l"/>
              </a:tabLs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tabLst>
                <a:tab pos="1155700" algn="l"/>
                <a:tab pos="2097088" algn="l"/>
                <a:tab pos="2825750" algn="l"/>
              </a:tabLst>
              <a:defRPr sz="1200">
                <a:solidFill>
                  <a:schemeClr val="tx1"/>
                </a:solidFill>
                <a:latin typeface="Arial" panose="020B0604020202020204" pitchFamily="34" charset="0"/>
              </a:defRPr>
            </a:lvl9pPr>
          </a:lstStyle>
          <a:p>
            <a:pPr>
              <a:spcBef>
                <a:spcPct val="0"/>
              </a:spcBef>
            </a:pPr>
            <a:r>
              <a:rPr lang="en-US" altLang="en-US" sz="1100" b="1">
                <a:latin typeface="Courier New" panose="02070309020205020404" pitchFamily="49" charset="0"/>
              </a:rPr>
              <a:t>SQL&gt; SELECT	job, AVG(sal)</a:t>
            </a:r>
          </a:p>
          <a:p>
            <a:pPr>
              <a:spcBef>
                <a:spcPct val="0"/>
              </a:spcBef>
            </a:pPr>
            <a:r>
              <a:rPr lang="en-US" altLang="en-US" sz="1100" b="1">
                <a:latin typeface="Courier New" panose="02070309020205020404" pitchFamily="49" charset="0"/>
              </a:rPr>
              <a:t>  2  FROM	emp</a:t>
            </a:r>
          </a:p>
          <a:p>
            <a:pPr>
              <a:spcBef>
                <a:spcPct val="0"/>
              </a:spcBef>
            </a:pPr>
            <a:r>
              <a:rPr lang="en-US" altLang="en-US" sz="1100" b="1">
                <a:latin typeface="Courier New" panose="02070309020205020404" pitchFamily="49" charset="0"/>
              </a:rPr>
              <a:t>  3  GROUP BY	job</a:t>
            </a:r>
          </a:p>
          <a:p>
            <a:pPr>
              <a:spcBef>
                <a:spcPct val="0"/>
              </a:spcBef>
            </a:pPr>
            <a:r>
              <a:rPr lang="en-US" altLang="en-US" sz="1100" b="1">
                <a:latin typeface="Courier New" panose="02070309020205020404" pitchFamily="49" charset="0"/>
              </a:rPr>
              <a:t>  4  HAVING	AVG(sal) = (SELECT	 MIN(AVG(sal))</a:t>
            </a:r>
          </a:p>
          <a:p>
            <a:pPr>
              <a:spcBef>
                <a:spcPct val="0"/>
              </a:spcBef>
            </a:pPr>
            <a:r>
              <a:rPr lang="en-US" altLang="en-US" sz="1100" b="1">
                <a:latin typeface="Courier New" panose="02070309020205020404" pitchFamily="49" charset="0"/>
              </a:rPr>
              <a:t>  5		FROM      EMP</a:t>
            </a:r>
          </a:p>
          <a:p>
            <a:pPr>
              <a:spcBef>
                <a:spcPct val="0"/>
              </a:spcBef>
            </a:pPr>
            <a:r>
              <a:rPr lang="en-US" altLang="en-US" sz="1100" b="1">
                <a:latin typeface="Courier New" panose="02070309020205020404" pitchFamily="49" charset="0"/>
              </a:rPr>
              <a:t>  6		GROUP BY  job);</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E35D723C-C9C7-A568-FCF7-4EB6D646C9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spcBef>
                <a:spcPct val="30000"/>
              </a:spcBef>
              <a:defRPr sz="1200">
                <a:solidFill>
                  <a:schemeClr val="tx1"/>
                </a:solidFill>
                <a:latin typeface="Arial" panose="020B0604020202020204" pitchFamily="34" charset="0"/>
              </a:defRPr>
            </a:lvl1pPr>
            <a:lvl2pPr marL="742950" indent="-285750" defTabSz="892175">
              <a:spcBef>
                <a:spcPct val="30000"/>
              </a:spcBef>
              <a:defRPr sz="1200">
                <a:solidFill>
                  <a:schemeClr val="tx1"/>
                </a:solidFill>
                <a:latin typeface="Arial" panose="020B0604020202020204" pitchFamily="34" charset="0"/>
              </a:defRPr>
            </a:lvl2pPr>
            <a:lvl3pPr marL="1143000" indent="-228600" defTabSz="892175">
              <a:spcBef>
                <a:spcPct val="30000"/>
              </a:spcBef>
              <a:defRPr sz="1200">
                <a:solidFill>
                  <a:schemeClr val="tx1"/>
                </a:solidFill>
                <a:latin typeface="Arial" panose="020B0604020202020204" pitchFamily="34" charset="0"/>
              </a:defRPr>
            </a:lvl3pPr>
            <a:lvl4pPr marL="1600200" indent="-228600" defTabSz="892175">
              <a:spcBef>
                <a:spcPct val="30000"/>
              </a:spcBef>
              <a:defRPr sz="1200">
                <a:solidFill>
                  <a:schemeClr val="tx1"/>
                </a:solidFill>
                <a:latin typeface="Arial" panose="020B0604020202020204" pitchFamily="34" charset="0"/>
              </a:defRPr>
            </a:lvl4pPr>
            <a:lvl5pPr marL="2057400" indent="-228600" defTabSz="892175">
              <a:spcBef>
                <a:spcPct val="30000"/>
              </a:spcBef>
              <a:defRPr sz="1200">
                <a:solidFill>
                  <a:schemeClr val="tx1"/>
                </a:solidFill>
                <a:latin typeface="Arial" panose="020B0604020202020204" pitchFamily="34" charset="0"/>
              </a:defRPr>
            </a:lvl5pPr>
            <a:lvl6pPr marL="2514600" indent="-228600" defTabSz="8921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21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21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21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D7620E5-E56A-49FA-9155-1FDAD0A7E276}" type="slidenum">
              <a:rPr lang="de-AT" altLang="en-US" smtClean="0">
                <a:solidFill>
                  <a:srgbClr val="000000"/>
                </a:solidFill>
              </a:rPr>
              <a:pPr>
                <a:spcBef>
                  <a:spcPct val="0"/>
                </a:spcBef>
              </a:pPr>
              <a:t>35</a:t>
            </a:fld>
            <a:endParaRPr lang="de-AT" altLang="en-US">
              <a:solidFill>
                <a:srgbClr val="000000"/>
              </a:solidFill>
            </a:endParaRPr>
          </a:p>
        </p:txBody>
      </p:sp>
      <p:sp>
        <p:nvSpPr>
          <p:cNvPr id="98307" name="Rectangle 2">
            <a:extLst>
              <a:ext uri="{FF2B5EF4-FFF2-40B4-BE49-F238E27FC236}">
                <a16:creationId xmlns:a16="http://schemas.microsoft.com/office/drawing/2014/main" id="{C6836BE6-20E4-351B-BC60-248E1316EE70}"/>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FC398F3C-1D53-AF59-20A3-2AC1A709E7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4ACC6D48-9800-5E6A-EDEF-BD53D3EB35EF}"/>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243218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990A419-538C-90E0-F472-19AD7F159AB2}"/>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476128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68DA7E01-67D9-6F74-51B2-B669ABB4A6E3}"/>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345631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33388" y="1524000"/>
            <a:ext cx="4062412"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13A5992-67AE-B8FF-2EBA-BF6ADD1F46EF}"/>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652450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EF80A0F7-A320-EABF-55DD-C9FACD116456}"/>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955462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EEBACE9-901A-9407-FF6B-F93445D247D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654141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87EDD4D-2BA1-5D6F-6CC1-3F43034BB044}"/>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416131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842942A-44A5-9312-EAC4-20C7D5EF58E9}"/>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712322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A5FD1E0-3F25-15D2-0B7E-5AD88DABCACB}"/>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879871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4FC18E3-EA4C-FB0C-FEAE-EDB4F54C3375}"/>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941549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2100" y="228600"/>
            <a:ext cx="2068513"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33388" y="228600"/>
            <a:ext cx="6056312"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FDAF775-E601-B042-00C5-FC7511AFA7D7}"/>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913969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ext Placeholder 2"/>
          <p:cNvSpPr>
            <a:spLocks noGrp="1"/>
          </p:cNvSpPr>
          <p:nvPr>
            <p:ph type="body" sz="half" idx="1"/>
          </p:nvPr>
        </p:nvSpPr>
        <p:spPr>
          <a:xfrm>
            <a:off x="433388" y="1524000"/>
            <a:ext cx="4062412"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015E3F5A-CE85-B784-E715-D19D9F1BF2C5}"/>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832455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34582FA-083E-A95D-7F53-B1FA461CBBEE}"/>
              </a:ext>
            </a:extLst>
          </p:cNvPr>
          <p:cNvSpPr>
            <a:spLocks noGrp="1" noChangeArrowheads="1"/>
          </p:cNvSpPr>
          <p:nvPr>
            <p:ph type="title"/>
          </p:nvPr>
        </p:nvSpPr>
        <p:spPr bwMode="auto">
          <a:xfrm>
            <a:off x="433388" y="228600"/>
            <a:ext cx="8277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en-US"/>
              <a:t>Titel bearbeiten</a:t>
            </a:r>
          </a:p>
        </p:txBody>
      </p:sp>
      <p:sp>
        <p:nvSpPr>
          <p:cNvPr id="1027" name="Rectangle 3">
            <a:extLst>
              <a:ext uri="{FF2B5EF4-FFF2-40B4-BE49-F238E27FC236}">
                <a16:creationId xmlns:a16="http://schemas.microsoft.com/office/drawing/2014/main" id="{2DC396AA-F526-3DE3-EE74-2C5E4DE2F846}"/>
              </a:ext>
            </a:extLst>
          </p:cNvPr>
          <p:cNvSpPr>
            <a:spLocks noGrp="1" noChangeArrowheads="1"/>
          </p:cNvSpPr>
          <p:nvPr>
            <p:ph type="body" idx="1"/>
          </p:nvPr>
        </p:nvSpPr>
        <p:spPr bwMode="auto">
          <a:xfrm>
            <a:off x="433388" y="1524000"/>
            <a:ext cx="8277225"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en-US"/>
              <a:t>Erste Ebene</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4100" name="Rectangle 4">
            <a:extLst>
              <a:ext uri="{FF2B5EF4-FFF2-40B4-BE49-F238E27FC236}">
                <a16:creationId xmlns:a16="http://schemas.microsoft.com/office/drawing/2014/main" id="{4C992E4F-9936-0FA5-7F90-D98B2AB9C225}"/>
              </a:ext>
            </a:extLst>
          </p:cNvPr>
          <p:cNvSpPr>
            <a:spLocks noGrp="1" noChangeArrowheads="1"/>
          </p:cNvSpPr>
          <p:nvPr>
            <p:ph type="dt" sz="half" idx="2"/>
          </p:nvPr>
        </p:nvSpPr>
        <p:spPr bwMode="auto">
          <a:xfrm>
            <a:off x="0" y="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de-DE"/>
          </a:p>
        </p:txBody>
      </p:sp>
      <p:sp>
        <p:nvSpPr>
          <p:cNvPr id="1029" name="Rectangle 14">
            <a:extLst>
              <a:ext uri="{FF2B5EF4-FFF2-40B4-BE49-F238E27FC236}">
                <a16:creationId xmlns:a16="http://schemas.microsoft.com/office/drawing/2014/main" id="{130426AD-4572-C534-900C-C19FFA6A5752}"/>
              </a:ext>
            </a:extLst>
          </p:cNvPr>
          <p:cNvSpPr>
            <a:spLocks noChangeArrowheads="1"/>
          </p:cNvSpPr>
          <p:nvPr userDrawn="1"/>
        </p:nvSpPr>
        <p:spPr bwMode="auto">
          <a:xfrm>
            <a:off x="395288" y="1125538"/>
            <a:ext cx="8748712" cy="73025"/>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p>
        </p:txBody>
      </p:sp>
      <p:sp>
        <p:nvSpPr>
          <p:cNvPr id="1030" name="Rectangle 10">
            <a:extLst>
              <a:ext uri="{FF2B5EF4-FFF2-40B4-BE49-F238E27FC236}">
                <a16:creationId xmlns:a16="http://schemas.microsoft.com/office/drawing/2014/main" id="{5C774347-162F-3493-9A75-BE7B3DF41A6B}"/>
              </a:ext>
            </a:extLst>
          </p:cNvPr>
          <p:cNvSpPr>
            <a:spLocks noChangeArrowheads="1"/>
          </p:cNvSpPr>
          <p:nvPr userDrawn="1"/>
        </p:nvSpPr>
        <p:spPr bwMode="auto">
          <a:xfrm>
            <a:off x="0" y="6569075"/>
            <a:ext cx="9167813" cy="315913"/>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p>
        </p:txBody>
      </p:sp>
      <p:sp>
        <p:nvSpPr>
          <p:cNvPr id="1031" name="Text Box 11">
            <a:extLst>
              <a:ext uri="{FF2B5EF4-FFF2-40B4-BE49-F238E27FC236}">
                <a16:creationId xmlns:a16="http://schemas.microsoft.com/office/drawing/2014/main" id="{826E26E2-28E9-F7EA-570C-FC55BAA09338}"/>
              </a:ext>
            </a:extLst>
          </p:cNvPr>
          <p:cNvSpPr txBox="1">
            <a:spLocks noChangeArrowheads="1"/>
          </p:cNvSpPr>
          <p:nvPr userDrawn="1"/>
        </p:nvSpPr>
        <p:spPr bwMode="auto">
          <a:xfrm>
            <a:off x="-36513" y="6583363"/>
            <a:ext cx="5905501" cy="244475"/>
          </a:xfrm>
          <a:prstGeom prst="rect">
            <a:avLst/>
          </a:prstGeom>
          <a:noFill/>
          <a:ln>
            <a:noFill/>
          </a:ln>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spcBef>
                <a:spcPct val="50000"/>
              </a:spcBef>
              <a:defRPr/>
            </a:pPr>
            <a:r>
              <a:rPr lang="de-DE" sz="1000">
                <a:solidFill>
                  <a:schemeClr val="bg1"/>
                </a:solidFill>
                <a:cs typeface="Arial" pitchFamily="34" charset="0"/>
              </a:rPr>
              <a:t>© 2009</a:t>
            </a:r>
            <a:r>
              <a:rPr lang="de-DE" sz="1000">
                <a:solidFill>
                  <a:srgbClr val="FFFF00"/>
                </a:solidFill>
                <a:cs typeface="Arial" pitchFamily="34" charset="0"/>
              </a:rPr>
              <a:t>   Punjab University College of Information Technology (PUCIT) </a:t>
            </a:r>
            <a:endParaRPr lang="de-DE" sz="1000">
              <a:solidFill>
                <a:srgbClr val="FFFF00"/>
              </a:solidFill>
            </a:endParaRPr>
          </a:p>
        </p:txBody>
      </p:sp>
      <p:sp>
        <p:nvSpPr>
          <p:cNvPr id="1032" name="Text Box 13">
            <a:extLst>
              <a:ext uri="{FF2B5EF4-FFF2-40B4-BE49-F238E27FC236}">
                <a16:creationId xmlns:a16="http://schemas.microsoft.com/office/drawing/2014/main" id="{FBBA00D2-AF9A-F907-9368-2F7B58FED637}"/>
              </a:ext>
            </a:extLst>
          </p:cNvPr>
          <p:cNvSpPr txBox="1">
            <a:spLocks noChangeArrowheads="1"/>
          </p:cNvSpPr>
          <p:nvPr userDrawn="1"/>
        </p:nvSpPr>
        <p:spPr bwMode="auto">
          <a:xfrm>
            <a:off x="3924300" y="6583363"/>
            <a:ext cx="1655763" cy="244475"/>
          </a:xfrm>
          <a:prstGeom prst="rect">
            <a:avLst/>
          </a:prstGeom>
          <a:noFill/>
          <a:ln>
            <a:noFill/>
          </a:ln>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spcBef>
                <a:spcPct val="50000"/>
              </a:spcBef>
              <a:defRPr/>
            </a:pPr>
            <a:r>
              <a:rPr lang="de-AT" sz="1000">
                <a:solidFill>
                  <a:srgbClr val="0000CC"/>
                </a:solidFill>
              </a:rPr>
              <a:t>       </a:t>
            </a:r>
            <a:r>
              <a:rPr lang="de-AT" sz="1000"/>
              <a:t>September 8, 2009</a:t>
            </a:r>
          </a:p>
        </p:txBody>
      </p:sp>
      <p:sp>
        <p:nvSpPr>
          <p:cNvPr id="1033" name="Rectangle 12">
            <a:extLst>
              <a:ext uri="{FF2B5EF4-FFF2-40B4-BE49-F238E27FC236}">
                <a16:creationId xmlns:a16="http://schemas.microsoft.com/office/drawing/2014/main" id="{E44F16F3-9561-98AB-091F-8C69E43AC559}"/>
              </a:ext>
            </a:extLst>
          </p:cNvPr>
          <p:cNvSpPr>
            <a:spLocks noChangeArrowheads="1"/>
          </p:cNvSpPr>
          <p:nvPr userDrawn="1"/>
        </p:nvSpPr>
        <p:spPr bwMode="auto">
          <a:xfrm>
            <a:off x="7596188" y="6640513"/>
            <a:ext cx="1905000" cy="215900"/>
          </a:xfrm>
          <a:prstGeom prst="rect">
            <a:avLst/>
          </a:prstGeom>
          <a:noFill/>
          <a:ln>
            <a:noFill/>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r>
              <a:rPr lang="de-DE" altLang="en-US" sz="1000"/>
              <a:t>Slide </a:t>
            </a:r>
            <a:fld id="{27E068A1-1DB8-4410-B712-3CA36C970A3F}" type="slidenum">
              <a:rPr lang="de-DE" altLang="en-US" sz="1000" smtClean="0"/>
              <a:pPr algn="ctr" eaLnBrk="1" hangingPunct="1">
                <a:defRPr/>
              </a:pPr>
              <a:t>‹#›</a:t>
            </a:fld>
            <a:endParaRPr lang="de-DE" altLang="en-US" sz="100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7EDAA8E-C161-3A4E-86F9-D36572EC703E}"/>
              </a:ext>
            </a:extLst>
          </p:cNvPr>
          <p:cNvSpPr>
            <a:spLocks noGrp="1" noChangeArrowheads="1"/>
          </p:cNvSpPr>
          <p:nvPr>
            <p:ph type="ctrTitle"/>
          </p:nvPr>
        </p:nvSpPr>
        <p:spPr>
          <a:xfrm>
            <a:off x="790575" y="1557338"/>
            <a:ext cx="7669213" cy="2087562"/>
          </a:xfrm>
          <a:solidFill>
            <a:srgbClr val="FFFFCC">
              <a:alpha val="20000"/>
            </a:srgbClr>
          </a:solidFill>
          <a:ln w="38100">
            <a:solidFill>
              <a:srgbClr val="800000"/>
            </a:solidFill>
            <a:miter lim="800000"/>
            <a:headEnd/>
            <a:tailEnd/>
          </a:ln>
        </p:spPr>
        <p:txBody>
          <a:bodyPr/>
          <a:lstStyle/>
          <a:p>
            <a:pPr algn="ctr" eaLnBrk="1" hangingPunct="1"/>
            <a:r>
              <a:rPr lang="en-US" altLang="en-US" u="sng">
                <a:solidFill>
                  <a:srgbClr val="800000"/>
                </a:solidFill>
              </a:rPr>
              <a:t> (SQL) </a:t>
            </a:r>
            <a:br>
              <a:rPr lang="en-US" altLang="en-US" u="sng">
                <a:solidFill>
                  <a:srgbClr val="800000"/>
                </a:solidFill>
              </a:rPr>
            </a:br>
            <a:r>
              <a:rPr lang="en-US" altLang="en-US" sz="4400">
                <a:solidFill>
                  <a:schemeClr val="accent2"/>
                </a:solidFill>
              </a:rPr>
              <a:t>Subqueries</a:t>
            </a:r>
            <a:endParaRPr lang="de-AT" altLang="en-US" sz="4400">
              <a:solidFill>
                <a:schemeClr val="accent2"/>
              </a:solidFill>
            </a:endParaRPr>
          </a:p>
        </p:txBody>
      </p:sp>
      <p:pic>
        <p:nvPicPr>
          <p:cNvPr id="4100" name="Picture 9">
            <a:extLst>
              <a:ext uri="{FF2B5EF4-FFF2-40B4-BE49-F238E27FC236}">
                <a16:creationId xmlns:a16="http://schemas.microsoft.com/office/drawing/2014/main" id="{0E0AD4EF-71B3-AE59-9194-BBC878578D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11">
            <a:extLst>
              <a:ext uri="{FF2B5EF4-FFF2-40B4-BE49-F238E27FC236}">
                <a16:creationId xmlns:a16="http://schemas.microsoft.com/office/drawing/2014/main" id="{4FA5EB88-FA11-6311-3D7D-4C87C8C2EA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8" y="0"/>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90AAD0A4-4249-A649-78D2-42C8697C15FB}"/>
              </a:ext>
            </a:extLst>
          </p:cNvPr>
          <p:cNvSpPr txBox="1">
            <a:spLocks noChangeArrowheads="1"/>
          </p:cNvSpPr>
          <p:nvPr/>
        </p:nvSpPr>
        <p:spPr bwMode="auto">
          <a:xfrm>
            <a:off x="790575" y="4084638"/>
            <a:ext cx="7669213" cy="1584325"/>
          </a:xfrm>
          <a:prstGeom prst="rect">
            <a:avLst/>
          </a:prstGeom>
          <a:solidFill>
            <a:srgbClr val="FFFFCC">
              <a:alpha val="20000"/>
            </a:srgbClr>
          </a:solidFill>
          <a:ln w="38100" cap="flat" algn="ctr">
            <a:solidFill>
              <a:srgbClr val="800000"/>
            </a:solidFill>
            <a:miter lim="800000"/>
            <a:headEnd/>
            <a:tailEnd/>
          </a:ln>
        </p:spPr>
        <p:txBody>
          <a:bodyPr anchor="ctr"/>
          <a:lstStyle>
            <a:lvl1pPr marL="0" indent="0" algn="ctr" rtl="0" eaLnBrk="0" fontAlgn="base" hangingPunct="0">
              <a:spcBef>
                <a:spcPct val="20000"/>
              </a:spcBef>
              <a:spcAft>
                <a:spcPct val="0"/>
              </a:spcAft>
              <a:buNone/>
              <a:defRPr sz="2800">
                <a:solidFill>
                  <a:schemeClr val="tx1"/>
                </a:solidFill>
                <a:latin typeface="+mn-lt"/>
                <a:ea typeface="+mn-ea"/>
                <a:cs typeface="+mn-cs"/>
              </a:defRPr>
            </a:lvl1pPr>
            <a:lvl2pPr marL="457200" indent="0" algn="ctr" rtl="0" eaLnBrk="0" fontAlgn="base" hangingPunct="0">
              <a:spcBef>
                <a:spcPct val="20000"/>
              </a:spcBef>
              <a:spcAft>
                <a:spcPct val="0"/>
              </a:spcAft>
              <a:buNone/>
              <a:defRPr sz="2400">
                <a:solidFill>
                  <a:schemeClr val="tx1"/>
                </a:solidFill>
                <a:latin typeface="+mn-lt"/>
              </a:defRPr>
            </a:lvl2pPr>
            <a:lvl3pPr marL="914400" indent="0" algn="ctr" rtl="0" eaLnBrk="0" fontAlgn="base" hangingPunct="0">
              <a:spcBef>
                <a:spcPct val="20000"/>
              </a:spcBef>
              <a:spcAft>
                <a:spcPct val="0"/>
              </a:spcAft>
              <a:buNone/>
              <a:defRPr sz="20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a:solidFill>
                  <a:schemeClr val="tx1"/>
                </a:solidFill>
                <a:latin typeface="+mn-lt"/>
              </a:defRPr>
            </a:lvl6pPr>
            <a:lvl7pPr marL="2743200" indent="0" algn="ctr" rtl="0" fontAlgn="base">
              <a:spcBef>
                <a:spcPct val="20000"/>
              </a:spcBef>
              <a:spcAft>
                <a:spcPct val="0"/>
              </a:spcAft>
              <a:buNone/>
              <a:defRPr>
                <a:solidFill>
                  <a:schemeClr val="tx1"/>
                </a:solidFill>
                <a:latin typeface="+mn-lt"/>
              </a:defRPr>
            </a:lvl7pPr>
            <a:lvl8pPr marL="3200400" indent="0" algn="ctr" rtl="0" fontAlgn="base">
              <a:spcBef>
                <a:spcPct val="20000"/>
              </a:spcBef>
              <a:spcAft>
                <a:spcPct val="0"/>
              </a:spcAft>
              <a:buNone/>
              <a:defRPr>
                <a:solidFill>
                  <a:schemeClr val="tx1"/>
                </a:solidFill>
                <a:latin typeface="+mn-lt"/>
              </a:defRPr>
            </a:lvl8pPr>
            <a:lvl9pPr marL="3657600" indent="0" algn="ctr" rtl="0" fontAlgn="base">
              <a:spcBef>
                <a:spcPct val="20000"/>
              </a:spcBef>
              <a:spcAft>
                <a:spcPct val="0"/>
              </a:spcAft>
              <a:buNone/>
              <a:defRPr>
                <a:solidFill>
                  <a:schemeClr val="tx1"/>
                </a:solidFill>
                <a:latin typeface="+mn-lt"/>
              </a:defRPr>
            </a:lvl9pPr>
          </a:lstStyle>
          <a:p>
            <a:pPr eaLnBrk="1" hangingPunct="1">
              <a:lnSpc>
                <a:spcPct val="80000"/>
              </a:lnSpc>
              <a:spcBef>
                <a:spcPct val="0"/>
              </a:spcBef>
              <a:defRPr/>
            </a:pPr>
            <a:endParaRPr lang="en-US" altLang="en-US" sz="2400" b="1" kern="0" dirty="0">
              <a:solidFill>
                <a:schemeClr val="accent2"/>
              </a:solidFill>
            </a:endParaRPr>
          </a:p>
          <a:p>
            <a:pPr eaLnBrk="1" hangingPunct="1">
              <a:lnSpc>
                <a:spcPct val="80000"/>
              </a:lnSpc>
              <a:spcBef>
                <a:spcPct val="0"/>
              </a:spcBef>
              <a:defRPr/>
            </a:pPr>
            <a:r>
              <a:rPr lang="en-US" altLang="en-US" sz="3200" kern="0" dirty="0">
                <a:solidFill>
                  <a:srgbClr val="800000"/>
                </a:solidFill>
              </a:rPr>
              <a:t>Dr. Asif Sohail</a:t>
            </a:r>
            <a:r>
              <a:rPr lang="en-US" altLang="en-US" sz="3200" kern="0" dirty="0">
                <a:solidFill>
                  <a:schemeClr val="folHlink"/>
                </a:solidFill>
              </a:rPr>
              <a:t> </a:t>
            </a:r>
            <a:br>
              <a:rPr lang="en-US" altLang="en-US" sz="3200" b="1" kern="0" dirty="0">
                <a:solidFill>
                  <a:schemeClr val="folHlink"/>
                </a:solidFill>
              </a:rPr>
            </a:br>
            <a:br>
              <a:rPr lang="en-US" altLang="en-US" sz="3200" b="1" kern="0" dirty="0"/>
            </a:br>
            <a:r>
              <a:rPr lang="en-US" altLang="en-US" sz="1800" b="1" kern="0" dirty="0"/>
              <a:t>University of the Punjab</a:t>
            </a:r>
          </a:p>
          <a:p>
            <a:pPr eaLnBrk="1" hangingPunct="1">
              <a:lnSpc>
                <a:spcPct val="80000"/>
              </a:lnSpc>
              <a:spcBef>
                <a:spcPct val="0"/>
              </a:spcBef>
              <a:defRPr/>
            </a:pPr>
            <a:r>
              <a:rPr lang="en-US" altLang="en-US" sz="1800" b="1" kern="0" dirty="0">
                <a:solidFill>
                  <a:schemeClr val="accent2"/>
                </a:solidFill>
              </a:rPr>
              <a:t>Department of Information Technology, FCIT</a:t>
            </a:r>
            <a:endParaRPr lang="de-AT" altLang="en-US" sz="1800" b="1" kern="0" dirty="0">
              <a:solidFill>
                <a:schemeClr val="accen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8FEDB05-45DD-1677-A033-DBFE377A138A}"/>
              </a:ext>
            </a:extLst>
          </p:cNvPr>
          <p:cNvSpPr>
            <a:spLocks noGrp="1" noChangeArrowheads="1"/>
          </p:cNvSpPr>
          <p:nvPr>
            <p:ph type="title"/>
          </p:nvPr>
        </p:nvSpPr>
        <p:spPr>
          <a:xfrm>
            <a:off x="323850" y="620713"/>
            <a:ext cx="2122488" cy="463550"/>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Objectives</a:t>
            </a:r>
          </a:p>
        </p:txBody>
      </p:sp>
      <p:sp>
        <p:nvSpPr>
          <p:cNvPr id="6147" name="Rectangle 3">
            <a:extLst>
              <a:ext uri="{FF2B5EF4-FFF2-40B4-BE49-F238E27FC236}">
                <a16:creationId xmlns:a16="http://schemas.microsoft.com/office/drawing/2014/main" id="{A13E7CCD-C4A8-DE83-2347-14BCCE96DDBF}"/>
              </a:ext>
            </a:extLst>
          </p:cNvPr>
          <p:cNvSpPr>
            <a:spLocks noGrp="1" noChangeArrowheads="1"/>
          </p:cNvSpPr>
          <p:nvPr>
            <p:ph type="body" idx="1"/>
          </p:nvPr>
        </p:nvSpPr>
        <p:spPr>
          <a:xfrm>
            <a:off x="539750" y="1485900"/>
            <a:ext cx="8135938" cy="3454400"/>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r>
              <a:rPr lang="en-US" altLang="en-US"/>
              <a:t>After completing this lesson, you should be able to do the following:</a:t>
            </a:r>
          </a:p>
          <a:p>
            <a:pPr lvl="1"/>
            <a:r>
              <a:rPr lang="en-US" altLang="en-US" sz="2800">
                <a:solidFill>
                  <a:schemeClr val="accent2"/>
                </a:solidFill>
              </a:rPr>
              <a:t>Describe the types of problems that subqueries can solve</a:t>
            </a:r>
          </a:p>
          <a:p>
            <a:pPr lvl="1"/>
            <a:r>
              <a:rPr lang="en-US" altLang="en-US" sz="2800">
                <a:solidFill>
                  <a:schemeClr val="accent2"/>
                </a:solidFill>
              </a:rPr>
              <a:t>Define subqueries</a:t>
            </a:r>
          </a:p>
          <a:p>
            <a:pPr lvl="1"/>
            <a:r>
              <a:rPr lang="en-US" altLang="en-US" sz="2800">
                <a:solidFill>
                  <a:schemeClr val="accent2"/>
                </a:solidFill>
              </a:rPr>
              <a:t>List the types of subqueries</a:t>
            </a:r>
          </a:p>
          <a:p>
            <a:pPr lvl="1"/>
            <a:r>
              <a:rPr lang="en-US" altLang="en-US" sz="2800">
                <a:solidFill>
                  <a:schemeClr val="accent2"/>
                </a:solidFill>
              </a:rPr>
              <a:t>Write single-row and multiple-row subqueries</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05018A25-B767-CE49-904C-5EE883336408}"/>
              </a:ext>
            </a:extLst>
          </p:cNvPr>
          <p:cNvSpPr>
            <a:spLocks noGrp="1" noChangeArrowheads="1"/>
          </p:cNvSpPr>
          <p:nvPr>
            <p:ph type="title"/>
          </p:nvPr>
        </p:nvSpPr>
        <p:spPr>
          <a:xfrm>
            <a:off x="433388" y="228600"/>
            <a:ext cx="8277225" cy="823913"/>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Using a Subquery </a:t>
            </a:r>
            <a:br>
              <a:rPr lang="en-US" altLang="en-US" sz="2800">
                <a:solidFill>
                  <a:srgbClr val="800000"/>
                </a:solidFill>
              </a:rPr>
            </a:br>
            <a:r>
              <a:rPr lang="en-US" altLang="en-US" sz="2800">
                <a:solidFill>
                  <a:srgbClr val="800000"/>
                </a:solidFill>
              </a:rPr>
              <a:t>to Solve a Problem</a:t>
            </a:r>
          </a:p>
        </p:txBody>
      </p:sp>
      <p:sp>
        <p:nvSpPr>
          <p:cNvPr id="8195" name="Rectangle 3">
            <a:extLst>
              <a:ext uri="{FF2B5EF4-FFF2-40B4-BE49-F238E27FC236}">
                <a16:creationId xmlns:a16="http://schemas.microsoft.com/office/drawing/2014/main" id="{AB683228-95FA-E578-D4B4-42C89CF01E1B}"/>
              </a:ext>
            </a:extLst>
          </p:cNvPr>
          <p:cNvSpPr>
            <a:spLocks noGrp="1" noChangeArrowheads="1"/>
          </p:cNvSpPr>
          <p:nvPr>
            <p:ph type="body" idx="1"/>
          </p:nvPr>
        </p:nvSpPr>
        <p:spPr>
          <a:xfrm>
            <a:off x="912813" y="1795463"/>
            <a:ext cx="7385050" cy="457200"/>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pPr marL="0" indent="0" algn="ctr">
              <a:spcBef>
                <a:spcPct val="0"/>
              </a:spcBef>
            </a:pPr>
            <a:r>
              <a:rPr lang="en-US" altLang="en-US" sz="2400"/>
              <a:t>“Who has a salary greater than Jones’?”</a:t>
            </a:r>
          </a:p>
        </p:txBody>
      </p:sp>
      <p:grpSp>
        <p:nvGrpSpPr>
          <p:cNvPr id="8196" name="Group 4">
            <a:extLst>
              <a:ext uri="{FF2B5EF4-FFF2-40B4-BE49-F238E27FC236}">
                <a16:creationId xmlns:a16="http://schemas.microsoft.com/office/drawing/2014/main" id="{FED295D3-40D1-A5DF-D61B-C5850DE42B56}"/>
              </a:ext>
            </a:extLst>
          </p:cNvPr>
          <p:cNvGrpSpPr>
            <a:grpSpLocks/>
          </p:cNvGrpSpPr>
          <p:nvPr/>
        </p:nvGrpSpPr>
        <p:grpSpPr bwMode="auto">
          <a:xfrm>
            <a:off x="1277938" y="4170363"/>
            <a:ext cx="847725" cy="736600"/>
            <a:chOff x="805" y="2627"/>
            <a:chExt cx="534" cy="464"/>
          </a:xfrm>
        </p:grpSpPr>
        <p:sp>
          <p:nvSpPr>
            <p:cNvPr id="8250" name="Freeform 5">
              <a:extLst>
                <a:ext uri="{FF2B5EF4-FFF2-40B4-BE49-F238E27FC236}">
                  <a16:creationId xmlns:a16="http://schemas.microsoft.com/office/drawing/2014/main" id="{C2B9EE6C-9282-96DB-D227-3CC22D49F001}"/>
                </a:ext>
              </a:extLst>
            </p:cNvPr>
            <p:cNvSpPr>
              <a:spLocks/>
            </p:cNvSpPr>
            <p:nvPr/>
          </p:nvSpPr>
          <p:spPr bwMode="auto">
            <a:xfrm>
              <a:off x="805" y="2633"/>
              <a:ext cx="525" cy="458"/>
            </a:xfrm>
            <a:custGeom>
              <a:avLst/>
              <a:gdLst>
                <a:gd name="T0" fmla="*/ 190 w 525"/>
                <a:gd name="T1" fmla="*/ 136 h 458"/>
                <a:gd name="T2" fmla="*/ 199 w 525"/>
                <a:gd name="T3" fmla="*/ 206 h 458"/>
                <a:gd name="T4" fmla="*/ 220 w 525"/>
                <a:gd name="T5" fmla="*/ 268 h 458"/>
                <a:gd name="T6" fmla="*/ 254 w 525"/>
                <a:gd name="T7" fmla="*/ 313 h 458"/>
                <a:gd name="T8" fmla="*/ 295 w 525"/>
                <a:gd name="T9" fmla="*/ 345 h 458"/>
                <a:gd name="T10" fmla="*/ 346 w 525"/>
                <a:gd name="T11" fmla="*/ 355 h 458"/>
                <a:gd name="T12" fmla="*/ 401 w 525"/>
                <a:gd name="T13" fmla="*/ 346 h 458"/>
                <a:gd name="T14" fmla="*/ 462 w 525"/>
                <a:gd name="T15" fmla="*/ 310 h 458"/>
                <a:gd name="T16" fmla="*/ 524 w 525"/>
                <a:gd name="T17" fmla="*/ 249 h 458"/>
                <a:gd name="T18" fmla="*/ 508 w 525"/>
                <a:gd name="T19" fmla="*/ 273 h 458"/>
                <a:gd name="T20" fmla="*/ 465 w 525"/>
                <a:gd name="T21" fmla="*/ 322 h 458"/>
                <a:gd name="T22" fmla="*/ 403 w 525"/>
                <a:gd name="T23" fmla="*/ 384 h 458"/>
                <a:gd name="T24" fmla="*/ 330 w 525"/>
                <a:gd name="T25" fmla="*/ 435 h 458"/>
                <a:gd name="T26" fmla="*/ 255 w 525"/>
                <a:gd name="T27" fmla="*/ 457 h 458"/>
                <a:gd name="T28" fmla="*/ 181 w 525"/>
                <a:gd name="T29" fmla="*/ 430 h 458"/>
                <a:gd name="T30" fmla="*/ 120 w 525"/>
                <a:gd name="T31" fmla="*/ 336 h 458"/>
                <a:gd name="T32" fmla="*/ 79 w 525"/>
                <a:gd name="T33" fmla="*/ 150 h 458"/>
                <a:gd name="T34" fmla="*/ 0 w 525"/>
                <a:gd name="T35" fmla="*/ 164 h 458"/>
                <a:gd name="T36" fmla="*/ 155 w 525"/>
                <a:gd name="T37" fmla="*/ 0 h 458"/>
                <a:gd name="T38" fmla="*/ 252 w 525"/>
                <a:gd name="T39" fmla="*/ 121 h 458"/>
                <a:gd name="T40" fmla="*/ 190 w 525"/>
                <a:gd name="T41" fmla="*/ 136 h 45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25" h="458">
                  <a:moveTo>
                    <a:pt x="190" y="136"/>
                  </a:moveTo>
                  <a:lnTo>
                    <a:pt x="199" y="206"/>
                  </a:lnTo>
                  <a:lnTo>
                    <a:pt x="220" y="268"/>
                  </a:lnTo>
                  <a:lnTo>
                    <a:pt x="254" y="313"/>
                  </a:lnTo>
                  <a:lnTo>
                    <a:pt x="295" y="345"/>
                  </a:lnTo>
                  <a:lnTo>
                    <a:pt x="346" y="355"/>
                  </a:lnTo>
                  <a:lnTo>
                    <a:pt x="401" y="346"/>
                  </a:lnTo>
                  <a:lnTo>
                    <a:pt x="462" y="310"/>
                  </a:lnTo>
                  <a:lnTo>
                    <a:pt x="524" y="249"/>
                  </a:lnTo>
                  <a:lnTo>
                    <a:pt x="508" y="273"/>
                  </a:lnTo>
                  <a:lnTo>
                    <a:pt x="465" y="322"/>
                  </a:lnTo>
                  <a:lnTo>
                    <a:pt x="403" y="384"/>
                  </a:lnTo>
                  <a:lnTo>
                    <a:pt x="330" y="435"/>
                  </a:lnTo>
                  <a:lnTo>
                    <a:pt x="255" y="457"/>
                  </a:lnTo>
                  <a:lnTo>
                    <a:pt x="181" y="430"/>
                  </a:lnTo>
                  <a:lnTo>
                    <a:pt x="120" y="336"/>
                  </a:lnTo>
                  <a:lnTo>
                    <a:pt x="79" y="150"/>
                  </a:lnTo>
                  <a:lnTo>
                    <a:pt x="0" y="164"/>
                  </a:lnTo>
                  <a:lnTo>
                    <a:pt x="155" y="0"/>
                  </a:lnTo>
                  <a:lnTo>
                    <a:pt x="252" y="121"/>
                  </a:lnTo>
                  <a:lnTo>
                    <a:pt x="190" y="136"/>
                  </a:lnTo>
                </a:path>
              </a:pathLst>
            </a:custGeom>
            <a:solidFill>
              <a:schemeClr val="bg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51" name="Freeform 6">
              <a:extLst>
                <a:ext uri="{FF2B5EF4-FFF2-40B4-BE49-F238E27FC236}">
                  <a16:creationId xmlns:a16="http://schemas.microsoft.com/office/drawing/2014/main" id="{5E1378BE-F283-4306-4CCB-9052FCEAD064}"/>
                </a:ext>
              </a:extLst>
            </p:cNvPr>
            <p:cNvSpPr>
              <a:spLocks/>
            </p:cNvSpPr>
            <p:nvPr/>
          </p:nvSpPr>
          <p:spPr bwMode="auto">
            <a:xfrm>
              <a:off x="813" y="2627"/>
              <a:ext cx="526" cy="459"/>
            </a:xfrm>
            <a:custGeom>
              <a:avLst/>
              <a:gdLst>
                <a:gd name="T0" fmla="*/ 190 w 526"/>
                <a:gd name="T1" fmla="*/ 137 h 459"/>
                <a:gd name="T2" fmla="*/ 200 w 526"/>
                <a:gd name="T3" fmla="*/ 208 h 459"/>
                <a:gd name="T4" fmla="*/ 221 w 526"/>
                <a:gd name="T5" fmla="*/ 268 h 459"/>
                <a:gd name="T6" fmla="*/ 254 w 526"/>
                <a:gd name="T7" fmla="*/ 315 h 459"/>
                <a:gd name="T8" fmla="*/ 296 w 526"/>
                <a:gd name="T9" fmla="*/ 344 h 459"/>
                <a:gd name="T10" fmla="*/ 347 w 526"/>
                <a:gd name="T11" fmla="*/ 354 h 459"/>
                <a:gd name="T12" fmla="*/ 403 w 526"/>
                <a:gd name="T13" fmla="*/ 345 h 459"/>
                <a:gd name="T14" fmla="*/ 464 w 526"/>
                <a:gd name="T15" fmla="*/ 309 h 459"/>
                <a:gd name="T16" fmla="*/ 525 w 526"/>
                <a:gd name="T17" fmla="*/ 249 h 459"/>
                <a:gd name="T18" fmla="*/ 510 w 526"/>
                <a:gd name="T19" fmla="*/ 271 h 459"/>
                <a:gd name="T20" fmla="*/ 467 w 526"/>
                <a:gd name="T21" fmla="*/ 322 h 459"/>
                <a:gd name="T22" fmla="*/ 405 w 526"/>
                <a:gd name="T23" fmla="*/ 384 h 459"/>
                <a:gd name="T24" fmla="*/ 331 w 526"/>
                <a:gd name="T25" fmla="*/ 435 h 459"/>
                <a:gd name="T26" fmla="*/ 256 w 526"/>
                <a:gd name="T27" fmla="*/ 458 h 459"/>
                <a:gd name="T28" fmla="*/ 182 w 526"/>
                <a:gd name="T29" fmla="*/ 431 h 459"/>
                <a:gd name="T30" fmla="*/ 122 w 526"/>
                <a:gd name="T31" fmla="*/ 335 h 459"/>
                <a:gd name="T32" fmla="*/ 80 w 526"/>
                <a:gd name="T33" fmla="*/ 153 h 459"/>
                <a:gd name="T34" fmla="*/ 0 w 526"/>
                <a:gd name="T35" fmla="*/ 166 h 459"/>
                <a:gd name="T36" fmla="*/ 157 w 526"/>
                <a:gd name="T37" fmla="*/ 0 h 459"/>
                <a:gd name="T38" fmla="*/ 253 w 526"/>
                <a:gd name="T39" fmla="*/ 122 h 459"/>
                <a:gd name="T40" fmla="*/ 190 w 526"/>
                <a:gd name="T41" fmla="*/ 137 h 4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26" h="459">
                  <a:moveTo>
                    <a:pt x="190" y="137"/>
                  </a:moveTo>
                  <a:lnTo>
                    <a:pt x="200" y="208"/>
                  </a:lnTo>
                  <a:lnTo>
                    <a:pt x="221" y="268"/>
                  </a:lnTo>
                  <a:lnTo>
                    <a:pt x="254" y="315"/>
                  </a:lnTo>
                  <a:lnTo>
                    <a:pt x="296" y="344"/>
                  </a:lnTo>
                  <a:lnTo>
                    <a:pt x="347" y="354"/>
                  </a:lnTo>
                  <a:lnTo>
                    <a:pt x="403" y="345"/>
                  </a:lnTo>
                  <a:lnTo>
                    <a:pt x="464" y="309"/>
                  </a:lnTo>
                  <a:lnTo>
                    <a:pt x="525" y="249"/>
                  </a:lnTo>
                  <a:lnTo>
                    <a:pt x="510" y="271"/>
                  </a:lnTo>
                  <a:lnTo>
                    <a:pt x="467" y="322"/>
                  </a:lnTo>
                  <a:lnTo>
                    <a:pt x="405" y="384"/>
                  </a:lnTo>
                  <a:lnTo>
                    <a:pt x="331" y="435"/>
                  </a:lnTo>
                  <a:lnTo>
                    <a:pt x="256" y="458"/>
                  </a:lnTo>
                  <a:lnTo>
                    <a:pt x="182" y="431"/>
                  </a:lnTo>
                  <a:lnTo>
                    <a:pt x="122" y="335"/>
                  </a:lnTo>
                  <a:lnTo>
                    <a:pt x="80" y="153"/>
                  </a:lnTo>
                  <a:lnTo>
                    <a:pt x="0" y="166"/>
                  </a:lnTo>
                  <a:lnTo>
                    <a:pt x="157" y="0"/>
                  </a:lnTo>
                  <a:lnTo>
                    <a:pt x="253" y="122"/>
                  </a:lnTo>
                  <a:lnTo>
                    <a:pt x="190" y="137"/>
                  </a:lnTo>
                </a:path>
              </a:pathLst>
            </a:custGeom>
            <a:solidFill>
              <a:schemeClr val="tx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8197" name="Rectangle 7">
            <a:extLst>
              <a:ext uri="{FF2B5EF4-FFF2-40B4-BE49-F238E27FC236}">
                <a16:creationId xmlns:a16="http://schemas.microsoft.com/office/drawing/2014/main" id="{EC27A459-1796-9D85-E386-3F686681C08B}"/>
              </a:ext>
            </a:extLst>
          </p:cNvPr>
          <p:cNvSpPr>
            <a:spLocks noChangeArrowheads="1"/>
          </p:cNvSpPr>
          <p:nvPr/>
        </p:nvSpPr>
        <p:spPr bwMode="blackWhite">
          <a:xfrm>
            <a:off x="949325" y="2395538"/>
            <a:ext cx="7315200" cy="34798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198" name="Rectangle 8">
            <a:extLst>
              <a:ext uri="{FF2B5EF4-FFF2-40B4-BE49-F238E27FC236}">
                <a16:creationId xmlns:a16="http://schemas.microsoft.com/office/drawing/2014/main" id="{C9B098CA-903C-1C3A-E171-57AFC3D386C7}"/>
              </a:ext>
            </a:extLst>
          </p:cNvPr>
          <p:cNvSpPr>
            <a:spLocks noChangeArrowheads="1"/>
          </p:cNvSpPr>
          <p:nvPr/>
        </p:nvSpPr>
        <p:spPr bwMode="auto">
          <a:xfrm>
            <a:off x="2224088" y="3074988"/>
            <a:ext cx="58816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200" b="1">
                <a:solidFill>
                  <a:srgbClr val="000000"/>
                </a:solidFill>
              </a:rPr>
              <a:t>“Which employees have a salary greater than Jones’ salary?”</a:t>
            </a:r>
          </a:p>
        </p:txBody>
      </p:sp>
      <p:sp>
        <p:nvSpPr>
          <p:cNvPr id="8199" name="Oval 9">
            <a:extLst>
              <a:ext uri="{FF2B5EF4-FFF2-40B4-BE49-F238E27FC236}">
                <a16:creationId xmlns:a16="http://schemas.microsoft.com/office/drawing/2014/main" id="{95E8CDE3-EBFB-920D-D6DF-5DD34FE939FD}"/>
              </a:ext>
            </a:extLst>
          </p:cNvPr>
          <p:cNvSpPr>
            <a:spLocks noChangeArrowheads="1"/>
          </p:cNvSpPr>
          <p:nvPr/>
        </p:nvSpPr>
        <p:spPr bwMode="auto">
          <a:xfrm>
            <a:off x="1025525" y="2954338"/>
            <a:ext cx="1117600" cy="1079500"/>
          </a:xfrm>
          <a:prstGeom prst="ellipse">
            <a:avLst/>
          </a:prstGeom>
          <a:solidFill>
            <a:srgbClr val="FFCC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200" name="Rectangle 10">
            <a:extLst>
              <a:ext uri="{FF2B5EF4-FFF2-40B4-BE49-F238E27FC236}">
                <a16:creationId xmlns:a16="http://schemas.microsoft.com/office/drawing/2014/main" id="{63EF3A1C-D0F9-7424-A674-D842D2157D61}"/>
              </a:ext>
            </a:extLst>
          </p:cNvPr>
          <p:cNvSpPr>
            <a:spLocks noChangeArrowheads="1"/>
          </p:cNvSpPr>
          <p:nvPr/>
        </p:nvSpPr>
        <p:spPr bwMode="auto">
          <a:xfrm>
            <a:off x="1136650" y="2524125"/>
            <a:ext cx="1428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rPr>
              <a:t>Main Query</a:t>
            </a:r>
          </a:p>
        </p:txBody>
      </p:sp>
      <p:sp>
        <p:nvSpPr>
          <p:cNvPr id="8201" name="Freeform 11">
            <a:extLst>
              <a:ext uri="{FF2B5EF4-FFF2-40B4-BE49-F238E27FC236}">
                <a16:creationId xmlns:a16="http://schemas.microsoft.com/office/drawing/2014/main" id="{FDF9DB58-E931-D7DB-D525-D420463FC486}"/>
              </a:ext>
            </a:extLst>
          </p:cNvPr>
          <p:cNvSpPr>
            <a:spLocks/>
          </p:cNvSpPr>
          <p:nvPr/>
        </p:nvSpPr>
        <p:spPr bwMode="auto">
          <a:xfrm>
            <a:off x="1446213" y="3049588"/>
            <a:ext cx="242887" cy="760412"/>
          </a:xfrm>
          <a:custGeom>
            <a:avLst/>
            <a:gdLst>
              <a:gd name="T0" fmla="*/ 2147483646 w 153"/>
              <a:gd name="T1" fmla="*/ 2147483646 h 479"/>
              <a:gd name="T2" fmla="*/ 2147483646 w 153"/>
              <a:gd name="T3" fmla="*/ 2147483646 h 479"/>
              <a:gd name="T4" fmla="*/ 2147483646 w 153"/>
              <a:gd name="T5" fmla="*/ 2147483646 h 479"/>
              <a:gd name="T6" fmla="*/ 2147483646 w 153"/>
              <a:gd name="T7" fmla="*/ 2147483646 h 479"/>
              <a:gd name="T8" fmla="*/ 2147483646 w 153"/>
              <a:gd name="T9" fmla="*/ 2147483646 h 479"/>
              <a:gd name="T10" fmla="*/ 2147483646 w 153"/>
              <a:gd name="T11" fmla="*/ 2147483646 h 479"/>
              <a:gd name="T12" fmla="*/ 2147483646 w 153"/>
              <a:gd name="T13" fmla="*/ 2147483646 h 479"/>
              <a:gd name="T14" fmla="*/ 2147483646 w 153"/>
              <a:gd name="T15" fmla="*/ 2147483646 h 479"/>
              <a:gd name="T16" fmla="*/ 2147483646 w 153"/>
              <a:gd name="T17" fmla="*/ 2147483646 h 479"/>
              <a:gd name="T18" fmla="*/ 2147483646 w 153"/>
              <a:gd name="T19" fmla="*/ 2147483646 h 479"/>
              <a:gd name="T20" fmla="*/ 2147483646 w 153"/>
              <a:gd name="T21" fmla="*/ 2147483646 h 479"/>
              <a:gd name="T22" fmla="*/ 2147483646 w 153"/>
              <a:gd name="T23" fmla="*/ 2147483646 h 479"/>
              <a:gd name="T24" fmla="*/ 2147483646 w 153"/>
              <a:gd name="T25" fmla="*/ 2147483646 h 479"/>
              <a:gd name="T26" fmla="*/ 2147483646 w 153"/>
              <a:gd name="T27" fmla="*/ 2147483646 h 479"/>
              <a:gd name="T28" fmla="*/ 2147483646 w 153"/>
              <a:gd name="T29" fmla="*/ 2147483646 h 479"/>
              <a:gd name="T30" fmla="*/ 2147483646 w 153"/>
              <a:gd name="T31" fmla="*/ 2147483646 h 479"/>
              <a:gd name="T32" fmla="*/ 2147483646 w 153"/>
              <a:gd name="T33" fmla="*/ 2147483646 h 479"/>
              <a:gd name="T34" fmla="*/ 2147483646 w 153"/>
              <a:gd name="T35" fmla="*/ 2147483646 h 479"/>
              <a:gd name="T36" fmla="*/ 2147483646 w 153"/>
              <a:gd name="T37" fmla="*/ 2147483646 h 479"/>
              <a:gd name="T38" fmla="*/ 2147483646 w 153"/>
              <a:gd name="T39" fmla="*/ 0 h 479"/>
              <a:gd name="T40" fmla="*/ 2147483646 w 153"/>
              <a:gd name="T41" fmla="*/ 0 h 479"/>
              <a:gd name="T42" fmla="*/ 2147483646 w 153"/>
              <a:gd name="T43" fmla="*/ 2147483646 h 479"/>
              <a:gd name="T44" fmla="*/ 2147483646 w 153"/>
              <a:gd name="T45" fmla="*/ 2147483646 h 479"/>
              <a:gd name="T46" fmla="*/ 2147483646 w 153"/>
              <a:gd name="T47" fmla="*/ 2147483646 h 479"/>
              <a:gd name="T48" fmla="*/ 2147483646 w 153"/>
              <a:gd name="T49" fmla="*/ 2147483646 h 479"/>
              <a:gd name="T50" fmla="*/ 2147483646 w 153"/>
              <a:gd name="T51" fmla="*/ 2147483646 h 479"/>
              <a:gd name="T52" fmla="*/ 2147483646 w 153"/>
              <a:gd name="T53" fmla="*/ 2147483646 h 479"/>
              <a:gd name="T54" fmla="*/ 2147483646 w 153"/>
              <a:gd name="T55" fmla="*/ 2147483646 h 479"/>
              <a:gd name="T56" fmla="*/ 2147483646 w 153"/>
              <a:gd name="T57" fmla="*/ 2147483646 h 479"/>
              <a:gd name="T58" fmla="*/ 2147483646 w 153"/>
              <a:gd name="T59" fmla="*/ 2147483646 h 479"/>
              <a:gd name="T60" fmla="*/ 2147483646 w 153"/>
              <a:gd name="T61" fmla="*/ 2147483646 h 479"/>
              <a:gd name="T62" fmla="*/ 2147483646 w 153"/>
              <a:gd name="T63" fmla="*/ 2147483646 h 479"/>
              <a:gd name="T64" fmla="*/ 2147483646 w 153"/>
              <a:gd name="T65" fmla="*/ 2147483646 h 479"/>
              <a:gd name="T66" fmla="*/ 2147483646 w 153"/>
              <a:gd name="T67" fmla="*/ 2147483646 h 479"/>
              <a:gd name="T68" fmla="*/ 2147483646 w 153"/>
              <a:gd name="T69" fmla="*/ 2147483646 h 479"/>
              <a:gd name="T70" fmla="*/ 2147483646 w 153"/>
              <a:gd name="T71" fmla="*/ 2147483646 h 479"/>
              <a:gd name="T72" fmla="*/ 2147483646 w 153"/>
              <a:gd name="T73" fmla="*/ 2147483646 h 479"/>
              <a:gd name="T74" fmla="*/ 0 w 153"/>
              <a:gd name="T75" fmla="*/ 2147483646 h 479"/>
              <a:gd name="T76" fmla="*/ 0 w 153"/>
              <a:gd name="T77" fmla="*/ 2147483646 h 479"/>
              <a:gd name="T78" fmla="*/ 0 w 153"/>
              <a:gd name="T79" fmla="*/ 2147483646 h 479"/>
              <a:gd name="T80" fmla="*/ 2147483646 w 153"/>
              <a:gd name="T81" fmla="*/ 2147483646 h 479"/>
              <a:gd name="T82" fmla="*/ 2147483646 w 153"/>
              <a:gd name="T83" fmla="*/ 2147483646 h 479"/>
              <a:gd name="T84" fmla="*/ 2147483646 w 153"/>
              <a:gd name="T85" fmla="*/ 2147483646 h 479"/>
              <a:gd name="T86" fmla="*/ 2147483646 w 153"/>
              <a:gd name="T87" fmla="*/ 2147483646 h 479"/>
              <a:gd name="T88" fmla="*/ 2147483646 w 153"/>
              <a:gd name="T89" fmla="*/ 2147483646 h 479"/>
              <a:gd name="T90" fmla="*/ 2147483646 w 153"/>
              <a:gd name="T91" fmla="*/ 2147483646 h 479"/>
              <a:gd name="T92" fmla="*/ 2147483646 w 153"/>
              <a:gd name="T93" fmla="*/ 2147483646 h 479"/>
              <a:gd name="T94" fmla="*/ 2147483646 w 153"/>
              <a:gd name="T95" fmla="*/ 2147483646 h 479"/>
              <a:gd name="T96" fmla="*/ 2147483646 w 153"/>
              <a:gd name="T97" fmla="*/ 2147483646 h 479"/>
              <a:gd name="T98" fmla="*/ 2147483646 w 153"/>
              <a:gd name="T99" fmla="*/ 2147483646 h 479"/>
              <a:gd name="T100" fmla="*/ 2147483646 w 153"/>
              <a:gd name="T101" fmla="*/ 2147483646 h 479"/>
              <a:gd name="T102" fmla="*/ 2147483646 w 153"/>
              <a:gd name="T103" fmla="*/ 2147483646 h 479"/>
              <a:gd name="T104" fmla="*/ 2147483646 w 153"/>
              <a:gd name="T105" fmla="*/ 2147483646 h 479"/>
              <a:gd name="T106" fmla="*/ 2147483646 w 153"/>
              <a:gd name="T107" fmla="*/ 2147483646 h 479"/>
              <a:gd name="T108" fmla="*/ 2147483646 w 153"/>
              <a:gd name="T109" fmla="*/ 2147483646 h 479"/>
              <a:gd name="T110" fmla="*/ 2147483646 w 153"/>
              <a:gd name="T111" fmla="*/ 2147483646 h 479"/>
              <a:gd name="T112" fmla="*/ 2147483646 w 153"/>
              <a:gd name="T113" fmla="*/ 2147483646 h 479"/>
              <a:gd name="T114" fmla="*/ 2147483646 w 153"/>
              <a:gd name="T115" fmla="*/ 2147483646 h 479"/>
              <a:gd name="T116" fmla="*/ 2147483646 w 153"/>
              <a:gd name="T117" fmla="*/ 2147483646 h 479"/>
              <a:gd name="T118" fmla="*/ 2147483646 w 153"/>
              <a:gd name="T119" fmla="*/ 2147483646 h 47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53" h="479">
                <a:moveTo>
                  <a:pt x="121" y="247"/>
                </a:moveTo>
                <a:lnTo>
                  <a:pt x="123" y="269"/>
                </a:lnTo>
                <a:lnTo>
                  <a:pt x="143" y="243"/>
                </a:lnTo>
                <a:lnTo>
                  <a:pt x="138" y="198"/>
                </a:lnTo>
                <a:lnTo>
                  <a:pt x="152" y="164"/>
                </a:lnTo>
                <a:lnTo>
                  <a:pt x="151" y="162"/>
                </a:lnTo>
                <a:lnTo>
                  <a:pt x="150" y="157"/>
                </a:lnTo>
                <a:lnTo>
                  <a:pt x="147" y="148"/>
                </a:lnTo>
                <a:lnTo>
                  <a:pt x="145" y="138"/>
                </a:lnTo>
                <a:lnTo>
                  <a:pt x="141" y="128"/>
                </a:lnTo>
                <a:lnTo>
                  <a:pt x="138" y="117"/>
                </a:lnTo>
                <a:lnTo>
                  <a:pt x="135" y="108"/>
                </a:lnTo>
                <a:lnTo>
                  <a:pt x="130" y="102"/>
                </a:lnTo>
                <a:lnTo>
                  <a:pt x="125" y="96"/>
                </a:lnTo>
                <a:lnTo>
                  <a:pt x="119" y="90"/>
                </a:lnTo>
                <a:lnTo>
                  <a:pt x="111" y="85"/>
                </a:lnTo>
                <a:lnTo>
                  <a:pt x="103" y="80"/>
                </a:lnTo>
                <a:lnTo>
                  <a:pt x="97" y="76"/>
                </a:lnTo>
                <a:lnTo>
                  <a:pt x="91" y="72"/>
                </a:lnTo>
                <a:lnTo>
                  <a:pt x="87" y="70"/>
                </a:lnTo>
                <a:lnTo>
                  <a:pt x="86" y="69"/>
                </a:lnTo>
                <a:lnTo>
                  <a:pt x="91" y="64"/>
                </a:lnTo>
                <a:lnTo>
                  <a:pt x="92" y="46"/>
                </a:lnTo>
                <a:lnTo>
                  <a:pt x="92" y="45"/>
                </a:lnTo>
                <a:lnTo>
                  <a:pt x="93" y="42"/>
                </a:lnTo>
                <a:lnTo>
                  <a:pt x="94" y="38"/>
                </a:lnTo>
                <a:lnTo>
                  <a:pt x="95" y="34"/>
                </a:lnTo>
                <a:lnTo>
                  <a:pt x="95" y="29"/>
                </a:lnTo>
                <a:lnTo>
                  <a:pt x="95" y="24"/>
                </a:lnTo>
                <a:lnTo>
                  <a:pt x="94" y="19"/>
                </a:lnTo>
                <a:lnTo>
                  <a:pt x="92" y="15"/>
                </a:lnTo>
                <a:lnTo>
                  <a:pt x="89" y="12"/>
                </a:lnTo>
                <a:lnTo>
                  <a:pt x="87" y="10"/>
                </a:lnTo>
                <a:lnTo>
                  <a:pt x="87" y="8"/>
                </a:lnTo>
                <a:lnTo>
                  <a:pt x="86" y="7"/>
                </a:lnTo>
                <a:lnTo>
                  <a:pt x="85" y="6"/>
                </a:lnTo>
                <a:lnTo>
                  <a:pt x="82" y="4"/>
                </a:lnTo>
                <a:lnTo>
                  <a:pt x="77" y="3"/>
                </a:lnTo>
                <a:lnTo>
                  <a:pt x="70" y="0"/>
                </a:lnTo>
                <a:lnTo>
                  <a:pt x="64" y="0"/>
                </a:lnTo>
                <a:lnTo>
                  <a:pt x="59" y="0"/>
                </a:lnTo>
                <a:lnTo>
                  <a:pt x="56" y="0"/>
                </a:lnTo>
                <a:lnTo>
                  <a:pt x="53" y="2"/>
                </a:lnTo>
                <a:lnTo>
                  <a:pt x="50" y="5"/>
                </a:lnTo>
                <a:lnTo>
                  <a:pt x="47" y="8"/>
                </a:lnTo>
                <a:lnTo>
                  <a:pt x="43" y="11"/>
                </a:lnTo>
                <a:lnTo>
                  <a:pt x="40" y="15"/>
                </a:lnTo>
                <a:lnTo>
                  <a:pt x="39" y="21"/>
                </a:lnTo>
                <a:lnTo>
                  <a:pt x="39" y="27"/>
                </a:lnTo>
                <a:lnTo>
                  <a:pt x="39" y="35"/>
                </a:lnTo>
                <a:lnTo>
                  <a:pt x="40" y="42"/>
                </a:lnTo>
                <a:lnTo>
                  <a:pt x="41" y="48"/>
                </a:lnTo>
                <a:lnTo>
                  <a:pt x="42" y="52"/>
                </a:lnTo>
                <a:lnTo>
                  <a:pt x="43" y="54"/>
                </a:lnTo>
                <a:lnTo>
                  <a:pt x="51" y="61"/>
                </a:lnTo>
                <a:lnTo>
                  <a:pt x="53" y="69"/>
                </a:lnTo>
                <a:lnTo>
                  <a:pt x="51" y="70"/>
                </a:lnTo>
                <a:lnTo>
                  <a:pt x="46" y="73"/>
                </a:lnTo>
                <a:lnTo>
                  <a:pt x="39" y="76"/>
                </a:lnTo>
                <a:lnTo>
                  <a:pt x="32" y="81"/>
                </a:lnTo>
                <a:lnTo>
                  <a:pt x="24" y="87"/>
                </a:lnTo>
                <a:lnTo>
                  <a:pt x="18" y="91"/>
                </a:lnTo>
                <a:lnTo>
                  <a:pt x="13" y="95"/>
                </a:lnTo>
                <a:lnTo>
                  <a:pt x="11" y="98"/>
                </a:lnTo>
                <a:lnTo>
                  <a:pt x="10" y="103"/>
                </a:lnTo>
                <a:lnTo>
                  <a:pt x="10" y="112"/>
                </a:lnTo>
                <a:lnTo>
                  <a:pt x="8" y="124"/>
                </a:lnTo>
                <a:lnTo>
                  <a:pt x="6" y="138"/>
                </a:lnTo>
                <a:lnTo>
                  <a:pt x="5" y="153"/>
                </a:lnTo>
                <a:lnTo>
                  <a:pt x="3" y="166"/>
                </a:lnTo>
                <a:lnTo>
                  <a:pt x="2" y="176"/>
                </a:lnTo>
                <a:lnTo>
                  <a:pt x="2" y="183"/>
                </a:lnTo>
                <a:lnTo>
                  <a:pt x="1" y="187"/>
                </a:lnTo>
                <a:lnTo>
                  <a:pt x="1" y="196"/>
                </a:lnTo>
                <a:lnTo>
                  <a:pt x="0" y="207"/>
                </a:lnTo>
                <a:lnTo>
                  <a:pt x="0" y="219"/>
                </a:lnTo>
                <a:lnTo>
                  <a:pt x="0" y="232"/>
                </a:lnTo>
                <a:lnTo>
                  <a:pt x="0" y="244"/>
                </a:lnTo>
                <a:lnTo>
                  <a:pt x="0" y="256"/>
                </a:lnTo>
                <a:lnTo>
                  <a:pt x="2" y="264"/>
                </a:lnTo>
                <a:lnTo>
                  <a:pt x="4" y="266"/>
                </a:lnTo>
                <a:lnTo>
                  <a:pt x="6" y="268"/>
                </a:lnTo>
                <a:lnTo>
                  <a:pt x="9" y="269"/>
                </a:lnTo>
                <a:lnTo>
                  <a:pt x="11" y="270"/>
                </a:lnTo>
                <a:lnTo>
                  <a:pt x="14" y="270"/>
                </a:lnTo>
                <a:lnTo>
                  <a:pt x="16" y="270"/>
                </a:lnTo>
                <a:lnTo>
                  <a:pt x="17" y="270"/>
                </a:lnTo>
                <a:lnTo>
                  <a:pt x="18" y="270"/>
                </a:lnTo>
                <a:lnTo>
                  <a:pt x="16" y="263"/>
                </a:lnTo>
                <a:lnTo>
                  <a:pt x="10" y="258"/>
                </a:lnTo>
                <a:lnTo>
                  <a:pt x="23" y="264"/>
                </a:lnTo>
                <a:lnTo>
                  <a:pt x="19" y="328"/>
                </a:lnTo>
                <a:lnTo>
                  <a:pt x="21" y="349"/>
                </a:lnTo>
                <a:lnTo>
                  <a:pt x="40" y="422"/>
                </a:lnTo>
                <a:lnTo>
                  <a:pt x="18" y="440"/>
                </a:lnTo>
                <a:lnTo>
                  <a:pt x="15" y="452"/>
                </a:lnTo>
                <a:lnTo>
                  <a:pt x="39" y="452"/>
                </a:lnTo>
                <a:lnTo>
                  <a:pt x="69" y="452"/>
                </a:lnTo>
                <a:lnTo>
                  <a:pt x="70" y="453"/>
                </a:lnTo>
                <a:lnTo>
                  <a:pt x="71" y="456"/>
                </a:lnTo>
                <a:lnTo>
                  <a:pt x="74" y="460"/>
                </a:lnTo>
                <a:lnTo>
                  <a:pt x="77" y="464"/>
                </a:lnTo>
                <a:lnTo>
                  <a:pt x="81" y="468"/>
                </a:lnTo>
                <a:lnTo>
                  <a:pt x="84" y="472"/>
                </a:lnTo>
                <a:lnTo>
                  <a:pt x="87" y="475"/>
                </a:lnTo>
                <a:lnTo>
                  <a:pt x="91" y="477"/>
                </a:lnTo>
                <a:lnTo>
                  <a:pt x="93" y="478"/>
                </a:lnTo>
                <a:lnTo>
                  <a:pt x="97" y="478"/>
                </a:lnTo>
                <a:lnTo>
                  <a:pt x="100" y="477"/>
                </a:lnTo>
                <a:lnTo>
                  <a:pt x="103" y="476"/>
                </a:lnTo>
                <a:lnTo>
                  <a:pt x="106" y="475"/>
                </a:lnTo>
                <a:lnTo>
                  <a:pt x="108" y="475"/>
                </a:lnTo>
                <a:lnTo>
                  <a:pt x="109" y="474"/>
                </a:lnTo>
                <a:lnTo>
                  <a:pt x="110" y="474"/>
                </a:lnTo>
                <a:lnTo>
                  <a:pt x="104" y="457"/>
                </a:lnTo>
                <a:lnTo>
                  <a:pt x="97" y="438"/>
                </a:lnTo>
                <a:lnTo>
                  <a:pt x="114" y="354"/>
                </a:lnTo>
                <a:lnTo>
                  <a:pt x="118" y="276"/>
                </a:lnTo>
                <a:lnTo>
                  <a:pt x="121" y="247"/>
                </a:lnTo>
              </a:path>
            </a:pathLst>
          </a:custGeom>
          <a:solidFill>
            <a:schemeClr val="bg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 name="Freeform 12">
            <a:extLst>
              <a:ext uri="{FF2B5EF4-FFF2-40B4-BE49-F238E27FC236}">
                <a16:creationId xmlns:a16="http://schemas.microsoft.com/office/drawing/2014/main" id="{4538D2D0-52F4-365B-44C2-0FB699BF0438}"/>
              </a:ext>
            </a:extLst>
          </p:cNvPr>
          <p:cNvSpPr>
            <a:spLocks/>
          </p:cNvSpPr>
          <p:nvPr/>
        </p:nvSpPr>
        <p:spPr bwMode="auto">
          <a:xfrm>
            <a:off x="1260475" y="3059113"/>
            <a:ext cx="233363" cy="714375"/>
          </a:xfrm>
          <a:custGeom>
            <a:avLst/>
            <a:gdLst>
              <a:gd name="T0" fmla="*/ 2147483646 w 147"/>
              <a:gd name="T1" fmla="*/ 2147483646 h 450"/>
              <a:gd name="T2" fmla="*/ 2147483646 w 147"/>
              <a:gd name="T3" fmla="*/ 2147483646 h 450"/>
              <a:gd name="T4" fmla="*/ 2147483646 w 147"/>
              <a:gd name="T5" fmla="*/ 2147483646 h 450"/>
              <a:gd name="T6" fmla="*/ 2147483646 w 147"/>
              <a:gd name="T7" fmla="*/ 2147483646 h 450"/>
              <a:gd name="T8" fmla="*/ 2147483646 w 147"/>
              <a:gd name="T9" fmla="*/ 2147483646 h 450"/>
              <a:gd name="T10" fmla="*/ 2147483646 w 147"/>
              <a:gd name="T11" fmla="*/ 2147483646 h 450"/>
              <a:gd name="T12" fmla="*/ 2147483646 w 147"/>
              <a:gd name="T13" fmla="*/ 2147483646 h 450"/>
              <a:gd name="T14" fmla="*/ 2147483646 w 147"/>
              <a:gd name="T15" fmla="*/ 2147483646 h 450"/>
              <a:gd name="T16" fmla="*/ 2147483646 w 147"/>
              <a:gd name="T17" fmla="*/ 2147483646 h 450"/>
              <a:gd name="T18" fmla="*/ 2147483646 w 147"/>
              <a:gd name="T19" fmla="*/ 2147483646 h 450"/>
              <a:gd name="T20" fmla="*/ 2147483646 w 147"/>
              <a:gd name="T21" fmla="*/ 2147483646 h 450"/>
              <a:gd name="T22" fmla="*/ 2147483646 w 147"/>
              <a:gd name="T23" fmla="*/ 2147483646 h 450"/>
              <a:gd name="T24" fmla="*/ 2147483646 w 147"/>
              <a:gd name="T25" fmla="*/ 2147483646 h 450"/>
              <a:gd name="T26" fmla="*/ 2147483646 w 147"/>
              <a:gd name="T27" fmla="*/ 2147483646 h 450"/>
              <a:gd name="T28" fmla="*/ 2147483646 w 147"/>
              <a:gd name="T29" fmla="*/ 2147483646 h 450"/>
              <a:gd name="T30" fmla="*/ 2147483646 w 147"/>
              <a:gd name="T31" fmla="*/ 2147483646 h 450"/>
              <a:gd name="T32" fmla="*/ 2147483646 w 147"/>
              <a:gd name="T33" fmla="*/ 2147483646 h 450"/>
              <a:gd name="T34" fmla="*/ 2147483646 w 147"/>
              <a:gd name="T35" fmla="*/ 2147483646 h 450"/>
              <a:gd name="T36" fmla="*/ 2147483646 w 147"/>
              <a:gd name="T37" fmla="*/ 2147483646 h 450"/>
              <a:gd name="T38" fmla="*/ 2147483646 w 147"/>
              <a:gd name="T39" fmla="*/ 2147483646 h 450"/>
              <a:gd name="T40" fmla="*/ 2147483646 w 147"/>
              <a:gd name="T41" fmla="*/ 2147483646 h 450"/>
              <a:gd name="T42" fmla="*/ 2147483646 w 147"/>
              <a:gd name="T43" fmla="*/ 2147483646 h 450"/>
              <a:gd name="T44" fmla="*/ 2147483646 w 147"/>
              <a:gd name="T45" fmla="*/ 0 h 450"/>
              <a:gd name="T46" fmla="*/ 2147483646 w 147"/>
              <a:gd name="T47" fmla="*/ 2147483646 h 450"/>
              <a:gd name="T48" fmla="*/ 2147483646 w 147"/>
              <a:gd name="T49" fmla="*/ 2147483646 h 450"/>
              <a:gd name="T50" fmla="*/ 2147483646 w 147"/>
              <a:gd name="T51" fmla="*/ 2147483646 h 450"/>
              <a:gd name="T52" fmla="*/ 2147483646 w 147"/>
              <a:gd name="T53" fmla="*/ 2147483646 h 450"/>
              <a:gd name="T54" fmla="*/ 2147483646 w 147"/>
              <a:gd name="T55" fmla="*/ 2147483646 h 450"/>
              <a:gd name="T56" fmla="*/ 2147483646 w 147"/>
              <a:gd name="T57" fmla="*/ 2147483646 h 450"/>
              <a:gd name="T58" fmla="*/ 2147483646 w 147"/>
              <a:gd name="T59" fmla="*/ 2147483646 h 450"/>
              <a:gd name="T60" fmla="*/ 0 w 147"/>
              <a:gd name="T61" fmla="*/ 2147483646 h 450"/>
              <a:gd name="T62" fmla="*/ 2147483646 w 147"/>
              <a:gd name="T63" fmla="*/ 2147483646 h 450"/>
              <a:gd name="T64" fmla="*/ 2147483646 w 147"/>
              <a:gd name="T65" fmla="*/ 2147483646 h 450"/>
              <a:gd name="T66" fmla="*/ 2147483646 w 147"/>
              <a:gd name="T67" fmla="*/ 2147483646 h 450"/>
              <a:gd name="T68" fmla="*/ 2147483646 w 147"/>
              <a:gd name="T69" fmla="*/ 2147483646 h 450"/>
              <a:gd name="T70" fmla="*/ 2147483646 w 147"/>
              <a:gd name="T71" fmla="*/ 2147483646 h 450"/>
              <a:gd name="T72" fmla="*/ 2147483646 w 147"/>
              <a:gd name="T73" fmla="*/ 2147483646 h 450"/>
              <a:gd name="T74" fmla="*/ 2147483646 w 147"/>
              <a:gd name="T75" fmla="*/ 2147483646 h 450"/>
              <a:gd name="T76" fmla="*/ 2147483646 w 147"/>
              <a:gd name="T77" fmla="*/ 2147483646 h 450"/>
              <a:gd name="T78" fmla="*/ 2147483646 w 147"/>
              <a:gd name="T79" fmla="*/ 2147483646 h 450"/>
              <a:gd name="T80" fmla="*/ 2147483646 w 147"/>
              <a:gd name="T81" fmla="*/ 2147483646 h 450"/>
              <a:gd name="T82" fmla="*/ 2147483646 w 147"/>
              <a:gd name="T83" fmla="*/ 2147483646 h 450"/>
              <a:gd name="T84" fmla="*/ 2147483646 w 147"/>
              <a:gd name="T85" fmla="*/ 2147483646 h 450"/>
              <a:gd name="T86" fmla="*/ 2147483646 w 147"/>
              <a:gd name="T87" fmla="*/ 2147483646 h 450"/>
              <a:gd name="T88" fmla="*/ 2147483646 w 147"/>
              <a:gd name="T89" fmla="*/ 2147483646 h 450"/>
              <a:gd name="T90" fmla="*/ 2147483646 w 147"/>
              <a:gd name="T91" fmla="*/ 2147483646 h 450"/>
              <a:gd name="T92" fmla="*/ 2147483646 w 147"/>
              <a:gd name="T93" fmla="*/ 2147483646 h 450"/>
              <a:gd name="T94" fmla="*/ 2147483646 w 147"/>
              <a:gd name="T95" fmla="*/ 2147483646 h 450"/>
              <a:gd name="T96" fmla="*/ 2147483646 w 147"/>
              <a:gd name="T97" fmla="*/ 2147483646 h 450"/>
              <a:gd name="T98" fmla="*/ 2147483646 w 147"/>
              <a:gd name="T99" fmla="*/ 2147483646 h 450"/>
              <a:gd name="T100" fmla="*/ 2147483646 w 147"/>
              <a:gd name="T101" fmla="*/ 2147483646 h 450"/>
              <a:gd name="T102" fmla="*/ 2147483646 w 147"/>
              <a:gd name="T103" fmla="*/ 2147483646 h 45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47" h="450">
                <a:moveTo>
                  <a:pt x="70" y="212"/>
                </a:moveTo>
                <a:lnTo>
                  <a:pt x="70" y="212"/>
                </a:lnTo>
                <a:lnTo>
                  <a:pt x="72" y="211"/>
                </a:lnTo>
                <a:lnTo>
                  <a:pt x="73" y="211"/>
                </a:lnTo>
                <a:lnTo>
                  <a:pt x="72" y="211"/>
                </a:lnTo>
                <a:lnTo>
                  <a:pt x="70" y="212"/>
                </a:lnTo>
                <a:lnTo>
                  <a:pt x="145" y="430"/>
                </a:lnTo>
                <a:lnTo>
                  <a:pt x="143" y="429"/>
                </a:lnTo>
                <a:lnTo>
                  <a:pt x="140" y="427"/>
                </a:lnTo>
                <a:lnTo>
                  <a:pt x="134" y="423"/>
                </a:lnTo>
                <a:lnTo>
                  <a:pt x="128" y="418"/>
                </a:lnTo>
                <a:lnTo>
                  <a:pt x="122" y="414"/>
                </a:lnTo>
                <a:lnTo>
                  <a:pt x="116" y="408"/>
                </a:lnTo>
                <a:lnTo>
                  <a:pt x="113" y="401"/>
                </a:lnTo>
                <a:lnTo>
                  <a:pt x="111" y="395"/>
                </a:lnTo>
                <a:lnTo>
                  <a:pt x="112" y="387"/>
                </a:lnTo>
                <a:lnTo>
                  <a:pt x="113" y="375"/>
                </a:lnTo>
                <a:lnTo>
                  <a:pt x="113" y="361"/>
                </a:lnTo>
                <a:lnTo>
                  <a:pt x="115" y="346"/>
                </a:lnTo>
                <a:lnTo>
                  <a:pt x="116" y="332"/>
                </a:lnTo>
                <a:lnTo>
                  <a:pt x="118" y="321"/>
                </a:lnTo>
                <a:lnTo>
                  <a:pt x="118" y="314"/>
                </a:lnTo>
                <a:lnTo>
                  <a:pt x="118" y="310"/>
                </a:lnTo>
                <a:lnTo>
                  <a:pt x="119" y="310"/>
                </a:lnTo>
                <a:lnTo>
                  <a:pt x="121" y="309"/>
                </a:lnTo>
                <a:lnTo>
                  <a:pt x="123" y="307"/>
                </a:lnTo>
                <a:lnTo>
                  <a:pt x="124" y="304"/>
                </a:lnTo>
                <a:lnTo>
                  <a:pt x="125" y="301"/>
                </a:lnTo>
                <a:lnTo>
                  <a:pt x="126" y="295"/>
                </a:lnTo>
                <a:lnTo>
                  <a:pt x="127" y="288"/>
                </a:lnTo>
                <a:lnTo>
                  <a:pt x="118" y="201"/>
                </a:lnTo>
                <a:lnTo>
                  <a:pt x="118" y="200"/>
                </a:lnTo>
                <a:lnTo>
                  <a:pt x="118" y="201"/>
                </a:lnTo>
                <a:lnTo>
                  <a:pt x="118" y="203"/>
                </a:lnTo>
                <a:lnTo>
                  <a:pt x="119" y="207"/>
                </a:lnTo>
                <a:lnTo>
                  <a:pt x="121" y="210"/>
                </a:lnTo>
                <a:lnTo>
                  <a:pt x="123" y="213"/>
                </a:lnTo>
                <a:lnTo>
                  <a:pt x="124" y="215"/>
                </a:lnTo>
                <a:lnTo>
                  <a:pt x="126" y="216"/>
                </a:lnTo>
                <a:lnTo>
                  <a:pt x="127" y="215"/>
                </a:lnTo>
                <a:lnTo>
                  <a:pt x="129" y="213"/>
                </a:lnTo>
                <a:lnTo>
                  <a:pt x="130" y="210"/>
                </a:lnTo>
                <a:lnTo>
                  <a:pt x="131" y="207"/>
                </a:lnTo>
                <a:lnTo>
                  <a:pt x="132" y="204"/>
                </a:lnTo>
                <a:lnTo>
                  <a:pt x="132" y="200"/>
                </a:lnTo>
                <a:lnTo>
                  <a:pt x="131" y="196"/>
                </a:lnTo>
                <a:lnTo>
                  <a:pt x="129" y="192"/>
                </a:lnTo>
                <a:lnTo>
                  <a:pt x="127" y="186"/>
                </a:lnTo>
                <a:lnTo>
                  <a:pt x="124" y="178"/>
                </a:lnTo>
                <a:lnTo>
                  <a:pt x="123" y="172"/>
                </a:lnTo>
                <a:lnTo>
                  <a:pt x="124" y="165"/>
                </a:lnTo>
                <a:lnTo>
                  <a:pt x="126" y="158"/>
                </a:lnTo>
                <a:lnTo>
                  <a:pt x="128" y="147"/>
                </a:lnTo>
                <a:lnTo>
                  <a:pt x="128" y="133"/>
                </a:lnTo>
                <a:lnTo>
                  <a:pt x="124" y="114"/>
                </a:lnTo>
                <a:lnTo>
                  <a:pt x="118" y="87"/>
                </a:lnTo>
                <a:lnTo>
                  <a:pt x="115" y="83"/>
                </a:lnTo>
                <a:lnTo>
                  <a:pt x="112" y="79"/>
                </a:lnTo>
                <a:lnTo>
                  <a:pt x="108" y="76"/>
                </a:lnTo>
                <a:lnTo>
                  <a:pt x="104" y="73"/>
                </a:lnTo>
                <a:lnTo>
                  <a:pt x="100" y="70"/>
                </a:lnTo>
                <a:lnTo>
                  <a:pt x="97" y="68"/>
                </a:lnTo>
                <a:lnTo>
                  <a:pt x="95" y="67"/>
                </a:lnTo>
                <a:lnTo>
                  <a:pt x="94" y="66"/>
                </a:lnTo>
                <a:lnTo>
                  <a:pt x="95" y="66"/>
                </a:lnTo>
                <a:lnTo>
                  <a:pt x="97" y="65"/>
                </a:lnTo>
                <a:lnTo>
                  <a:pt x="98" y="65"/>
                </a:lnTo>
                <a:lnTo>
                  <a:pt x="100" y="64"/>
                </a:lnTo>
                <a:lnTo>
                  <a:pt x="102" y="63"/>
                </a:lnTo>
                <a:lnTo>
                  <a:pt x="102" y="60"/>
                </a:lnTo>
                <a:lnTo>
                  <a:pt x="103" y="58"/>
                </a:lnTo>
                <a:lnTo>
                  <a:pt x="104" y="55"/>
                </a:lnTo>
                <a:lnTo>
                  <a:pt x="103" y="53"/>
                </a:lnTo>
                <a:lnTo>
                  <a:pt x="102" y="51"/>
                </a:lnTo>
                <a:lnTo>
                  <a:pt x="100" y="49"/>
                </a:lnTo>
                <a:lnTo>
                  <a:pt x="98" y="48"/>
                </a:lnTo>
                <a:lnTo>
                  <a:pt x="97" y="46"/>
                </a:lnTo>
                <a:lnTo>
                  <a:pt x="95" y="43"/>
                </a:lnTo>
                <a:lnTo>
                  <a:pt x="94" y="40"/>
                </a:lnTo>
                <a:lnTo>
                  <a:pt x="93" y="36"/>
                </a:lnTo>
                <a:lnTo>
                  <a:pt x="93" y="31"/>
                </a:lnTo>
                <a:lnTo>
                  <a:pt x="94" y="27"/>
                </a:lnTo>
                <a:lnTo>
                  <a:pt x="96" y="23"/>
                </a:lnTo>
                <a:lnTo>
                  <a:pt x="97" y="20"/>
                </a:lnTo>
                <a:lnTo>
                  <a:pt x="97" y="18"/>
                </a:lnTo>
                <a:lnTo>
                  <a:pt x="97" y="17"/>
                </a:lnTo>
                <a:lnTo>
                  <a:pt x="96" y="16"/>
                </a:lnTo>
                <a:lnTo>
                  <a:pt x="94" y="13"/>
                </a:lnTo>
                <a:lnTo>
                  <a:pt x="92" y="11"/>
                </a:lnTo>
                <a:lnTo>
                  <a:pt x="91" y="8"/>
                </a:lnTo>
                <a:lnTo>
                  <a:pt x="89" y="6"/>
                </a:lnTo>
                <a:lnTo>
                  <a:pt x="88" y="4"/>
                </a:lnTo>
                <a:lnTo>
                  <a:pt x="87" y="2"/>
                </a:lnTo>
                <a:lnTo>
                  <a:pt x="86" y="0"/>
                </a:lnTo>
                <a:lnTo>
                  <a:pt x="84" y="0"/>
                </a:lnTo>
                <a:lnTo>
                  <a:pt x="80" y="0"/>
                </a:lnTo>
                <a:lnTo>
                  <a:pt x="74" y="0"/>
                </a:lnTo>
                <a:lnTo>
                  <a:pt x="69" y="0"/>
                </a:lnTo>
                <a:lnTo>
                  <a:pt x="64" y="1"/>
                </a:lnTo>
                <a:lnTo>
                  <a:pt x="59" y="2"/>
                </a:lnTo>
                <a:lnTo>
                  <a:pt x="55" y="3"/>
                </a:lnTo>
                <a:lnTo>
                  <a:pt x="53" y="4"/>
                </a:lnTo>
                <a:lnTo>
                  <a:pt x="49" y="8"/>
                </a:lnTo>
                <a:lnTo>
                  <a:pt x="47" y="12"/>
                </a:lnTo>
                <a:lnTo>
                  <a:pt x="44" y="17"/>
                </a:lnTo>
                <a:lnTo>
                  <a:pt x="42" y="22"/>
                </a:lnTo>
                <a:lnTo>
                  <a:pt x="39" y="28"/>
                </a:lnTo>
                <a:lnTo>
                  <a:pt x="37" y="34"/>
                </a:lnTo>
                <a:lnTo>
                  <a:pt x="36" y="38"/>
                </a:lnTo>
                <a:lnTo>
                  <a:pt x="34" y="43"/>
                </a:lnTo>
                <a:lnTo>
                  <a:pt x="32" y="47"/>
                </a:lnTo>
                <a:lnTo>
                  <a:pt x="30" y="51"/>
                </a:lnTo>
                <a:lnTo>
                  <a:pt x="28" y="54"/>
                </a:lnTo>
                <a:lnTo>
                  <a:pt x="26" y="56"/>
                </a:lnTo>
                <a:lnTo>
                  <a:pt x="25" y="58"/>
                </a:lnTo>
                <a:lnTo>
                  <a:pt x="23" y="59"/>
                </a:lnTo>
                <a:lnTo>
                  <a:pt x="28" y="64"/>
                </a:lnTo>
                <a:lnTo>
                  <a:pt x="30" y="64"/>
                </a:lnTo>
                <a:lnTo>
                  <a:pt x="31" y="66"/>
                </a:lnTo>
                <a:lnTo>
                  <a:pt x="32" y="68"/>
                </a:lnTo>
                <a:lnTo>
                  <a:pt x="33" y="69"/>
                </a:lnTo>
                <a:lnTo>
                  <a:pt x="32" y="71"/>
                </a:lnTo>
                <a:lnTo>
                  <a:pt x="32" y="73"/>
                </a:lnTo>
                <a:lnTo>
                  <a:pt x="28" y="76"/>
                </a:lnTo>
                <a:lnTo>
                  <a:pt x="24" y="80"/>
                </a:lnTo>
                <a:lnTo>
                  <a:pt x="19" y="88"/>
                </a:lnTo>
                <a:lnTo>
                  <a:pt x="14" y="99"/>
                </a:lnTo>
                <a:lnTo>
                  <a:pt x="10" y="110"/>
                </a:lnTo>
                <a:lnTo>
                  <a:pt x="5" y="121"/>
                </a:lnTo>
                <a:lnTo>
                  <a:pt x="2" y="132"/>
                </a:lnTo>
                <a:lnTo>
                  <a:pt x="0" y="139"/>
                </a:lnTo>
                <a:lnTo>
                  <a:pt x="0" y="143"/>
                </a:lnTo>
                <a:lnTo>
                  <a:pt x="0" y="146"/>
                </a:lnTo>
                <a:lnTo>
                  <a:pt x="0" y="152"/>
                </a:lnTo>
                <a:lnTo>
                  <a:pt x="2" y="160"/>
                </a:lnTo>
                <a:lnTo>
                  <a:pt x="4" y="169"/>
                </a:lnTo>
                <a:lnTo>
                  <a:pt x="6" y="178"/>
                </a:lnTo>
                <a:lnTo>
                  <a:pt x="10" y="185"/>
                </a:lnTo>
                <a:lnTo>
                  <a:pt x="14" y="191"/>
                </a:lnTo>
                <a:lnTo>
                  <a:pt x="18" y="194"/>
                </a:lnTo>
                <a:lnTo>
                  <a:pt x="17" y="204"/>
                </a:lnTo>
                <a:lnTo>
                  <a:pt x="16" y="220"/>
                </a:lnTo>
                <a:lnTo>
                  <a:pt x="15" y="237"/>
                </a:lnTo>
                <a:lnTo>
                  <a:pt x="14" y="256"/>
                </a:lnTo>
                <a:lnTo>
                  <a:pt x="13" y="274"/>
                </a:lnTo>
                <a:lnTo>
                  <a:pt x="12" y="289"/>
                </a:lnTo>
                <a:lnTo>
                  <a:pt x="12" y="299"/>
                </a:lnTo>
                <a:lnTo>
                  <a:pt x="12" y="303"/>
                </a:lnTo>
                <a:lnTo>
                  <a:pt x="13" y="304"/>
                </a:lnTo>
                <a:lnTo>
                  <a:pt x="15" y="306"/>
                </a:lnTo>
                <a:lnTo>
                  <a:pt x="18" y="307"/>
                </a:lnTo>
                <a:lnTo>
                  <a:pt x="21" y="310"/>
                </a:lnTo>
                <a:lnTo>
                  <a:pt x="26" y="311"/>
                </a:lnTo>
                <a:lnTo>
                  <a:pt x="29" y="313"/>
                </a:lnTo>
                <a:lnTo>
                  <a:pt x="31" y="312"/>
                </a:lnTo>
                <a:lnTo>
                  <a:pt x="32" y="310"/>
                </a:lnTo>
                <a:lnTo>
                  <a:pt x="32" y="312"/>
                </a:lnTo>
                <a:lnTo>
                  <a:pt x="33" y="315"/>
                </a:lnTo>
                <a:lnTo>
                  <a:pt x="34" y="320"/>
                </a:lnTo>
                <a:lnTo>
                  <a:pt x="36" y="325"/>
                </a:lnTo>
                <a:lnTo>
                  <a:pt x="37" y="330"/>
                </a:lnTo>
                <a:lnTo>
                  <a:pt x="39" y="334"/>
                </a:lnTo>
                <a:lnTo>
                  <a:pt x="40" y="336"/>
                </a:lnTo>
                <a:lnTo>
                  <a:pt x="41" y="338"/>
                </a:lnTo>
                <a:lnTo>
                  <a:pt x="40" y="338"/>
                </a:lnTo>
                <a:lnTo>
                  <a:pt x="40" y="339"/>
                </a:lnTo>
                <a:lnTo>
                  <a:pt x="39" y="341"/>
                </a:lnTo>
                <a:lnTo>
                  <a:pt x="39" y="342"/>
                </a:lnTo>
                <a:lnTo>
                  <a:pt x="38" y="345"/>
                </a:lnTo>
                <a:lnTo>
                  <a:pt x="37" y="348"/>
                </a:lnTo>
                <a:lnTo>
                  <a:pt x="37" y="352"/>
                </a:lnTo>
                <a:lnTo>
                  <a:pt x="37" y="356"/>
                </a:lnTo>
                <a:lnTo>
                  <a:pt x="37" y="361"/>
                </a:lnTo>
                <a:lnTo>
                  <a:pt x="37" y="368"/>
                </a:lnTo>
                <a:lnTo>
                  <a:pt x="39" y="375"/>
                </a:lnTo>
                <a:lnTo>
                  <a:pt x="41" y="384"/>
                </a:lnTo>
                <a:lnTo>
                  <a:pt x="43" y="391"/>
                </a:lnTo>
                <a:lnTo>
                  <a:pt x="45" y="397"/>
                </a:lnTo>
                <a:lnTo>
                  <a:pt x="46" y="401"/>
                </a:lnTo>
                <a:lnTo>
                  <a:pt x="47" y="402"/>
                </a:lnTo>
                <a:lnTo>
                  <a:pt x="39" y="418"/>
                </a:lnTo>
                <a:lnTo>
                  <a:pt x="42" y="441"/>
                </a:lnTo>
                <a:lnTo>
                  <a:pt x="43" y="442"/>
                </a:lnTo>
                <a:lnTo>
                  <a:pt x="43" y="443"/>
                </a:lnTo>
                <a:lnTo>
                  <a:pt x="45" y="444"/>
                </a:lnTo>
                <a:lnTo>
                  <a:pt x="48" y="446"/>
                </a:lnTo>
                <a:lnTo>
                  <a:pt x="50" y="448"/>
                </a:lnTo>
                <a:lnTo>
                  <a:pt x="53" y="449"/>
                </a:lnTo>
                <a:lnTo>
                  <a:pt x="55" y="449"/>
                </a:lnTo>
                <a:lnTo>
                  <a:pt x="58" y="448"/>
                </a:lnTo>
                <a:lnTo>
                  <a:pt x="60" y="445"/>
                </a:lnTo>
                <a:lnTo>
                  <a:pt x="62" y="443"/>
                </a:lnTo>
                <a:lnTo>
                  <a:pt x="63" y="440"/>
                </a:lnTo>
                <a:lnTo>
                  <a:pt x="64" y="437"/>
                </a:lnTo>
                <a:lnTo>
                  <a:pt x="64" y="434"/>
                </a:lnTo>
                <a:lnTo>
                  <a:pt x="64" y="431"/>
                </a:lnTo>
                <a:lnTo>
                  <a:pt x="65" y="430"/>
                </a:lnTo>
                <a:lnTo>
                  <a:pt x="59" y="399"/>
                </a:lnTo>
                <a:lnTo>
                  <a:pt x="70" y="336"/>
                </a:lnTo>
                <a:lnTo>
                  <a:pt x="71" y="325"/>
                </a:lnTo>
                <a:lnTo>
                  <a:pt x="84" y="325"/>
                </a:lnTo>
                <a:lnTo>
                  <a:pt x="84" y="328"/>
                </a:lnTo>
                <a:lnTo>
                  <a:pt x="84" y="331"/>
                </a:lnTo>
                <a:lnTo>
                  <a:pt x="84" y="334"/>
                </a:lnTo>
                <a:lnTo>
                  <a:pt x="85" y="339"/>
                </a:lnTo>
                <a:lnTo>
                  <a:pt x="85" y="345"/>
                </a:lnTo>
                <a:lnTo>
                  <a:pt x="86" y="350"/>
                </a:lnTo>
                <a:lnTo>
                  <a:pt x="86" y="356"/>
                </a:lnTo>
                <a:lnTo>
                  <a:pt x="87" y="363"/>
                </a:lnTo>
                <a:lnTo>
                  <a:pt x="89" y="371"/>
                </a:lnTo>
                <a:lnTo>
                  <a:pt x="91" y="378"/>
                </a:lnTo>
                <a:lnTo>
                  <a:pt x="92" y="385"/>
                </a:lnTo>
                <a:lnTo>
                  <a:pt x="94" y="392"/>
                </a:lnTo>
                <a:lnTo>
                  <a:pt x="95" y="397"/>
                </a:lnTo>
                <a:lnTo>
                  <a:pt x="96" y="400"/>
                </a:lnTo>
                <a:lnTo>
                  <a:pt x="97" y="401"/>
                </a:lnTo>
                <a:lnTo>
                  <a:pt x="94" y="428"/>
                </a:lnTo>
                <a:lnTo>
                  <a:pt x="102" y="431"/>
                </a:lnTo>
                <a:lnTo>
                  <a:pt x="102" y="427"/>
                </a:lnTo>
                <a:lnTo>
                  <a:pt x="104" y="428"/>
                </a:lnTo>
                <a:lnTo>
                  <a:pt x="107" y="429"/>
                </a:lnTo>
                <a:lnTo>
                  <a:pt x="109" y="431"/>
                </a:lnTo>
                <a:lnTo>
                  <a:pt x="113" y="432"/>
                </a:lnTo>
                <a:lnTo>
                  <a:pt x="116" y="435"/>
                </a:lnTo>
                <a:lnTo>
                  <a:pt x="119" y="436"/>
                </a:lnTo>
                <a:lnTo>
                  <a:pt x="124" y="438"/>
                </a:lnTo>
                <a:lnTo>
                  <a:pt x="127" y="440"/>
                </a:lnTo>
                <a:lnTo>
                  <a:pt x="131" y="440"/>
                </a:lnTo>
                <a:lnTo>
                  <a:pt x="135" y="440"/>
                </a:lnTo>
                <a:lnTo>
                  <a:pt x="139" y="440"/>
                </a:lnTo>
                <a:lnTo>
                  <a:pt x="141" y="440"/>
                </a:lnTo>
                <a:lnTo>
                  <a:pt x="144" y="439"/>
                </a:lnTo>
                <a:lnTo>
                  <a:pt x="146" y="438"/>
                </a:lnTo>
                <a:lnTo>
                  <a:pt x="145" y="430"/>
                </a:lnTo>
                <a:lnTo>
                  <a:pt x="70" y="2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3" name="Freeform 13">
            <a:extLst>
              <a:ext uri="{FF2B5EF4-FFF2-40B4-BE49-F238E27FC236}">
                <a16:creationId xmlns:a16="http://schemas.microsoft.com/office/drawing/2014/main" id="{B9C1BFA4-DB60-9775-6C92-27D15E40E52D}"/>
              </a:ext>
            </a:extLst>
          </p:cNvPr>
          <p:cNvSpPr>
            <a:spLocks/>
          </p:cNvSpPr>
          <p:nvPr/>
        </p:nvSpPr>
        <p:spPr bwMode="auto">
          <a:xfrm>
            <a:off x="1655763" y="3019425"/>
            <a:ext cx="236537" cy="744538"/>
          </a:xfrm>
          <a:custGeom>
            <a:avLst/>
            <a:gdLst>
              <a:gd name="T0" fmla="*/ 2147483646 w 149"/>
              <a:gd name="T1" fmla="*/ 2147483646 h 469"/>
              <a:gd name="T2" fmla="*/ 2147483646 w 149"/>
              <a:gd name="T3" fmla="*/ 2147483646 h 469"/>
              <a:gd name="T4" fmla="*/ 2147483646 w 149"/>
              <a:gd name="T5" fmla="*/ 2147483646 h 469"/>
              <a:gd name="T6" fmla="*/ 2147483646 w 149"/>
              <a:gd name="T7" fmla="*/ 2147483646 h 469"/>
              <a:gd name="T8" fmla="*/ 2147483646 w 149"/>
              <a:gd name="T9" fmla="*/ 2147483646 h 469"/>
              <a:gd name="T10" fmla="*/ 2147483646 w 149"/>
              <a:gd name="T11" fmla="*/ 2147483646 h 469"/>
              <a:gd name="T12" fmla="*/ 2147483646 w 149"/>
              <a:gd name="T13" fmla="*/ 2147483646 h 469"/>
              <a:gd name="T14" fmla="*/ 2147483646 w 149"/>
              <a:gd name="T15" fmla="*/ 2147483646 h 469"/>
              <a:gd name="T16" fmla="*/ 2147483646 w 149"/>
              <a:gd name="T17" fmla="*/ 2147483646 h 469"/>
              <a:gd name="T18" fmla="*/ 2147483646 w 149"/>
              <a:gd name="T19" fmla="*/ 2147483646 h 469"/>
              <a:gd name="T20" fmla="*/ 2147483646 w 149"/>
              <a:gd name="T21" fmla="*/ 2147483646 h 469"/>
              <a:gd name="T22" fmla="*/ 2147483646 w 149"/>
              <a:gd name="T23" fmla="*/ 2147483646 h 469"/>
              <a:gd name="T24" fmla="*/ 2147483646 w 149"/>
              <a:gd name="T25" fmla="*/ 2147483646 h 469"/>
              <a:gd name="T26" fmla="*/ 2147483646 w 149"/>
              <a:gd name="T27" fmla="*/ 2147483646 h 469"/>
              <a:gd name="T28" fmla="*/ 2147483646 w 149"/>
              <a:gd name="T29" fmla="*/ 2147483646 h 469"/>
              <a:gd name="T30" fmla="*/ 2147483646 w 149"/>
              <a:gd name="T31" fmla="*/ 2147483646 h 469"/>
              <a:gd name="T32" fmla="*/ 2147483646 w 149"/>
              <a:gd name="T33" fmla="*/ 0 h 469"/>
              <a:gd name="T34" fmla="*/ 2147483646 w 149"/>
              <a:gd name="T35" fmla="*/ 0 h 469"/>
              <a:gd name="T36" fmla="*/ 2147483646 w 149"/>
              <a:gd name="T37" fmla="*/ 2147483646 h 469"/>
              <a:gd name="T38" fmla="*/ 2147483646 w 149"/>
              <a:gd name="T39" fmla="*/ 2147483646 h 469"/>
              <a:gd name="T40" fmla="*/ 2147483646 w 149"/>
              <a:gd name="T41" fmla="*/ 2147483646 h 469"/>
              <a:gd name="T42" fmla="*/ 2147483646 w 149"/>
              <a:gd name="T43" fmla="*/ 2147483646 h 469"/>
              <a:gd name="T44" fmla="*/ 2147483646 w 149"/>
              <a:gd name="T45" fmla="*/ 2147483646 h 469"/>
              <a:gd name="T46" fmla="*/ 2147483646 w 149"/>
              <a:gd name="T47" fmla="*/ 2147483646 h 469"/>
              <a:gd name="T48" fmla="*/ 2147483646 w 149"/>
              <a:gd name="T49" fmla="*/ 2147483646 h 469"/>
              <a:gd name="T50" fmla="*/ 2147483646 w 149"/>
              <a:gd name="T51" fmla="*/ 2147483646 h 469"/>
              <a:gd name="T52" fmla="*/ 2147483646 w 149"/>
              <a:gd name="T53" fmla="*/ 2147483646 h 469"/>
              <a:gd name="T54" fmla="*/ 2147483646 w 149"/>
              <a:gd name="T55" fmla="*/ 2147483646 h 469"/>
              <a:gd name="T56" fmla="*/ 0 w 149"/>
              <a:gd name="T57" fmla="*/ 2147483646 h 469"/>
              <a:gd name="T58" fmla="*/ 0 w 149"/>
              <a:gd name="T59" fmla="*/ 2147483646 h 469"/>
              <a:gd name="T60" fmla="*/ 2147483646 w 149"/>
              <a:gd name="T61" fmla="*/ 2147483646 h 469"/>
              <a:gd name="T62" fmla="*/ 2147483646 w 149"/>
              <a:gd name="T63" fmla="*/ 2147483646 h 469"/>
              <a:gd name="T64" fmla="*/ 2147483646 w 149"/>
              <a:gd name="T65" fmla="*/ 2147483646 h 469"/>
              <a:gd name="T66" fmla="*/ 2147483646 w 149"/>
              <a:gd name="T67" fmla="*/ 2147483646 h 469"/>
              <a:gd name="T68" fmla="*/ 2147483646 w 149"/>
              <a:gd name="T69" fmla="*/ 2147483646 h 469"/>
              <a:gd name="T70" fmla="*/ 2147483646 w 149"/>
              <a:gd name="T71" fmla="*/ 2147483646 h 469"/>
              <a:gd name="T72" fmla="*/ 2147483646 w 149"/>
              <a:gd name="T73" fmla="*/ 2147483646 h 469"/>
              <a:gd name="T74" fmla="*/ 2147483646 w 149"/>
              <a:gd name="T75" fmla="*/ 2147483646 h 469"/>
              <a:gd name="T76" fmla="*/ 2147483646 w 149"/>
              <a:gd name="T77" fmla="*/ 2147483646 h 469"/>
              <a:gd name="T78" fmla="*/ 2147483646 w 149"/>
              <a:gd name="T79" fmla="*/ 2147483646 h 469"/>
              <a:gd name="T80" fmla="*/ 2147483646 w 149"/>
              <a:gd name="T81" fmla="*/ 2147483646 h 469"/>
              <a:gd name="T82" fmla="*/ 2147483646 w 149"/>
              <a:gd name="T83" fmla="*/ 2147483646 h 469"/>
              <a:gd name="T84" fmla="*/ 2147483646 w 149"/>
              <a:gd name="T85" fmla="*/ 2147483646 h 469"/>
              <a:gd name="T86" fmla="*/ 2147483646 w 149"/>
              <a:gd name="T87" fmla="*/ 2147483646 h 469"/>
              <a:gd name="T88" fmla="*/ 2147483646 w 149"/>
              <a:gd name="T89" fmla="*/ 2147483646 h 469"/>
              <a:gd name="T90" fmla="*/ 2147483646 w 149"/>
              <a:gd name="T91" fmla="*/ 2147483646 h 469"/>
              <a:gd name="T92" fmla="*/ 2147483646 w 149"/>
              <a:gd name="T93" fmla="*/ 2147483646 h 46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49" h="469">
                <a:moveTo>
                  <a:pt x="118" y="280"/>
                </a:moveTo>
                <a:lnTo>
                  <a:pt x="118" y="393"/>
                </a:lnTo>
                <a:lnTo>
                  <a:pt x="148" y="393"/>
                </a:lnTo>
                <a:lnTo>
                  <a:pt x="148" y="280"/>
                </a:lnTo>
                <a:lnTo>
                  <a:pt x="137" y="280"/>
                </a:lnTo>
                <a:lnTo>
                  <a:pt x="137" y="271"/>
                </a:lnTo>
                <a:lnTo>
                  <a:pt x="138" y="270"/>
                </a:lnTo>
                <a:lnTo>
                  <a:pt x="139" y="269"/>
                </a:lnTo>
                <a:lnTo>
                  <a:pt x="141" y="267"/>
                </a:lnTo>
                <a:lnTo>
                  <a:pt x="142" y="265"/>
                </a:lnTo>
                <a:lnTo>
                  <a:pt x="142" y="264"/>
                </a:lnTo>
                <a:lnTo>
                  <a:pt x="143" y="262"/>
                </a:lnTo>
                <a:lnTo>
                  <a:pt x="143" y="261"/>
                </a:lnTo>
                <a:lnTo>
                  <a:pt x="141" y="248"/>
                </a:lnTo>
                <a:lnTo>
                  <a:pt x="142" y="197"/>
                </a:lnTo>
                <a:lnTo>
                  <a:pt x="142" y="193"/>
                </a:lnTo>
                <a:lnTo>
                  <a:pt x="142" y="184"/>
                </a:lnTo>
                <a:lnTo>
                  <a:pt x="141" y="170"/>
                </a:lnTo>
                <a:lnTo>
                  <a:pt x="140" y="154"/>
                </a:lnTo>
                <a:lnTo>
                  <a:pt x="138" y="137"/>
                </a:lnTo>
                <a:lnTo>
                  <a:pt x="136" y="121"/>
                </a:lnTo>
                <a:lnTo>
                  <a:pt x="132" y="108"/>
                </a:lnTo>
                <a:lnTo>
                  <a:pt x="129" y="100"/>
                </a:lnTo>
                <a:lnTo>
                  <a:pt x="124" y="95"/>
                </a:lnTo>
                <a:lnTo>
                  <a:pt x="117" y="90"/>
                </a:lnTo>
                <a:lnTo>
                  <a:pt x="111" y="84"/>
                </a:lnTo>
                <a:lnTo>
                  <a:pt x="103" y="79"/>
                </a:lnTo>
                <a:lnTo>
                  <a:pt x="96" y="74"/>
                </a:lnTo>
                <a:lnTo>
                  <a:pt x="90" y="71"/>
                </a:lnTo>
                <a:lnTo>
                  <a:pt x="86" y="68"/>
                </a:lnTo>
                <a:lnTo>
                  <a:pt x="84" y="68"/>
                </a:lnTo>
                <a:lnTo>
                  <a:pt x="86" y="56"/>
                </a:lnTo>
                <a:lnTo>
                  <a:pt x="93" y="42"/>
                </a:lnTo>
                <a:lnTo>
                  <a:pt x="94" y="42"/>
                </a:lnTo>
                <a:lnTo>
                  <a:pt x="94" y="39"/>
                </a:lnTo>
                <a:lnTo>
                  <a:pt x="95" y="36"/>
                </a:lnTo>
                <a:lnTo>
                  <a:pt x="95" y="32"/>
                </a:lnTo>
                <a:lnTo>
                  <a:pt x="95" y="27"/>
                </a:lnTo>
                <a:lnTo>
                  <a:pt x="95" y="22"/>
                </a:lnTo>
                <a:lnTo>
                  <a:pt x="93" y="18"/>
                </a:lnTo>
                <a:lnTo>
                  <a:pt x="90" y="14"/>
                </a:lnTo>
                <a:lnTo>
                  <a:pt x="88" y="10"/>
                </a:lnTo>
                <a:lnTo>
                  <a:pt x="86" y="8"/>
                </a:lnTo>
                <a:lnTo>
                  <a:pt x="84" y="5"/>
                </a:lnTo>
                <a:lnTo>
                  <a:pt x="84" y="3"/>
                </a:lnTo>
                <a:lnTo>
                  <a:pt x="82" y="1"/>
                </a:lnTo>
                <a:lnTo>
                  <a:pt x="79" y="0"/>
                </a:lnTo>
                <a:lnTo>
                  <a:pt x="74" y="0"/>
                </a:lnTo>
                <a:lnTo>
                  <a:pt x="67" y="0"/>
                </a:lnTo>
                <a:lnTo>
                  <a:pt x="59" y="0"/>
                </a:lnTo>
                <a:lnTo>
                  <a:pt x="54" y="0"/>
                </a:lnTo>
                <a:lnTo>
                  <a:pt x="52" y="0"/>
                </a:lnTo>
                <a:lnTo>
                  <a:pt x="50" y="2"/>
                </a:lnTo>
                <a:lnTo>
                  <a:pt x="49" y="3"/>
                </a:lnTo>
                <a:lnTo>
                  <a:pt x="47" y="4"/>
                </a:lnTo>
                <a:lnTo>
                  <a:pt x="46" y="7"/>
                </a:lnTo>
                <a:lnTo>
                  <a:pt x="42" y="10"/>
                </a:lnTo>
                <a:lnTo>
                  <a:pt x="40" y="13"/>
                </a:lnTo>
                <a:lnTo>
                  <a:pt x="38" y="17"/>
                </a:lnTo>
                <a:lnTo>
                  <a:pt x="38" y="22"/>
                </a:lnTo>
                <a:lnTo>
                  <a:pt x="38" y="27"/>
                </a:lnTo>
                <a:lnTo>
                  <a:pt x="39" y="31"/>
                </a:lnTo>
                <a:lnTo>
                  <a:pt x="40" y="35"/>
                </a:lnTo>
                <a:lnTo>
                  <a:pt x="41" y="38"/>
                </a:lnTo>
                <a:lnTo>
                  <a:pt x="41" y="39"/>
                </a:lnTo>
                <a:lnTo>
                  <a:pt x="42" y="59"/>
                </a:lnTo>
                <a:lnTo>
                  <a:pt x="52" y="68"/>
                </a:lnTo>
                <a:lnTo>
                  <a:pt x="50" y="69"/>
                </a:lnTo>
                <a:lnTo>
                  <a:pt x="46" y="72"/>
                </a:lnTo>
                <a:lnTo>
                  <a:pt x="39" y="76"/>
                </a:lnTo>
                <a:lnTo>
                  <a:pt x="31" y="81"/>
                </a:lnTo>
                <a:lnTo>
                  <a:pt x="24" y="85"/>
                </a:lnTo>
                <a:lnTo>
                  <a:pt x="17" y="90"/>
                </a:lnTo>
                <a:lnTo>
                  <a:pt x="12" y="94"/>
                </a:lnTo>
                <a:lnTo>
                  <a:pt x="10" y="97"/>
                </a:lnTo>
                <a:lnTo>
                  <a:pt x="10" y="102"/>
                </a:lnTo>
                <a:lnTo>
                  <a:pt x="9" y="111"/>
                </a:lnTo>
                <a:lnTo>
                  <a:pt x="8" y="124"/>
                </a:lnTo>
                <a:lnTo>
                  <a:pt x="6" y="137"/>
                </a:lnTo>
                <a:lnTo>
                  <a:pt x="4" y="152"/>
                </a:lnTo>
                <a:lnTo>
                  <a:pt x="3" y="165"/>
                </a:lnTo>
                <a:lnTo>
                  <a:pt x="1" y="176"/>
                </a:lnTo>
                <a:lnTo>
                  <a:pt x="1" y="182"/>
                </a:lnTo>
                <a:lnTo>
                  <a:pt x="1" y="187"/>
                </a:lnTo>
                <a:lnTo>
                  <a:pt x="0" y="195"/>
                </a:lnTo>
                <a:lnTo>
                  <a:pt x="0" y="206"/>
                </a:lnTo>
                <a:lnTo>
                  <a:pt x="0" y="218"/>
                </a:lnTo>
                <a:lnTo>
                  <a:pt x="0" y="231"/>
                </a:lnTo>
                <a:lnTo>
                  <a:pt x="0" y="244"/>
                </a:lnTo>
                <a:lnTo>
                  <a:pt x="0" y="254"/>
                </a:lnTo>
                <a:lnTo>
                  <a:pt x="2" y="262"/>
                </a:lnTo>
                <a:lnTo>
                  <a:pt x="3" y="266"/>
                </a:lnTo>
                <a:lnTo>
                  <a:pt x="5" y="267"/>
                </a:lnTo>
                <a:lnTo>
                  <a:pt x="8" y="269"/>
                </a:lnTo>
                <a:lnTo>
                  <a:pt x="10" y="270"/>
                </a:lnTo>
                <a:lnTo>
                  <a:pt x="13" y="270"/>
                </a:lnTo>
                <a:lnTo>
                  <a:pt x="15" y="270"/>
                </a:lnTo>
                <a:lnTo>
                  <a:pt x="17" y="269"/>
                </a:lnTo>
                <a:lnTo>
                  <a:pt x="10" y="257"/>
                </a:lnTo>
                <a:lnTo>
                  <a:pt x="23" y="171"/>
                </a:lnTo>
                <a:lnTo>
                  <a:pt x="22" y="263"/>
                </a:lnTo>
                <a:lnTo>
                  <a:pt x="42" y="436"/>
                </a:lnTo>
                <a:lnTo>
                  <a:pt x="26" y="455"/>
                </a:lnTo>
                <a:lnTo>
                  <a:pt x="23" y="468"/>
                </a:lnTo>
                <a:lnTo>
                  <a:pt x="47" y="466"/>
                </a:lnTo>
                <a:lnTo>
                  <a:pt x="68" y="451"/>
                </a:lnTo>
                <a:lnTo>
                  <a:pt x="69" y="452"/>
                </a:lnTo>
                <a:lnTo>
                  <a:pt x="72" y="454"/>
                </a:lnTo>
                <a:lnTo>
                  <a:pt x="76" y="456"/>
                </a:lnTo>
                <a:lnTo>
                  <a:pt x="81" y="459"/>
                </a:lnTo>
                <a:lnTo>
                  <a:pt x="87" y="462"/>
                </a:lnTo>
                <a:lnTo>
                  <a:pt x="92" y="464"/>
                </a:lnTo>
                <a:lnTo>
                  <a:pt x="96" y="466"/>
                </a:lnTo>
                <a:lnTo>
                  <a:pt x="100" y="468"/>
                </a:lnTo>
                <a:lnTo>
                  <a:pt x="103" y="468"/>
                </a:lnTo>
                <a:lnTo>
                  <a:pt x="105" y="468"/>
                </a:lnTo>
                <a:lnTo>
                  <a:pt x="109" y="468"/>
                </a:lnTo>
                <a:lnTo>
                  <a:pt x="112" y="467"/>
                </a:lnTo>
                <a:lnTo>
                  <a:pt x="115" y="466"/>
                </a:lnTo>
                <a:lnTo>
                  <a:pt x="117" y="465"/>
                </a:lnTo>
                <a:lnTo>
                  <a:pt x="118" y="465"/>
                </a:lnTo>
                <a:lnTo>
                  <a:pt x="119" y="464"/>
                </a:lnTo>
                <a:lnTo>
                  <a:pt x="114" y="447"/>
                </a:lnTo>
                <a:lnTo>
                  <a:pt x="95" y="437"/>
                </a:lnTo>
                <a:lnTo>
                  <a:pt x="112" y="274"/>
                </a:lnTo>
                <a:lnTo>
                  <a:pt x="120" y="256"/>
                </a:lnTo>
                <a:lnTo>
                  <a:pt x="111" y="163"/>
                </a:lnTo>
                <a:lnTo>
                  <a:pt x="130" y="258"/>
                </a:lnTo>
                <a:lnTo>
                  <a:pt x="125" y="266"/>
                </a:lnTo>
                <a:lnTo>
                  <a:pt x="125" y="267"/>
                </a:lnTo>
                <a:lnTo>
                  <a:pt x="126" y="268"/>
                </a:lnTo>
                <a:lnTo>
                  <a:pt x="127" y="269"/>
                </a:lnTo>
                <a:lnTo>
                  <a:pt x="127" y="270"/>
                </a:lnTo>
                <a:lnTo>
                  <a:pt x="129" y="270"/>
                </a:lnTo>
                <a:lnTo>
                  <a:pt x="129" y="280"/>
                </a:lnTo>
                <a:lnTo>
                  <a:pt x="118" y="280"/>
                </a:lnTo>
              </a:path>
            </a:pathLst>
          </a:custGeom>
          <a:solidFill>
            <a:schemeClr val="bg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4" name="Freeform 14">
            <a:extLst>
              <a:ext uri="{FF2B5EF4-FFF2-40B4-BE49-F238E27FC236}">
                <a16:creationId xmlns:a16="http://schemas.microsoft.com/office/drawing/2014/main" id="{A9FD0166-73F3-5EDE-E0D1-36D457D9A5BC}"/>
              </a:ext>
            </a:extLst>
          </p:cNvPr>
          <p:cNvSpPr>
            <a:spLocks/>
          </p:cNvSpPr>
          <p:nvPr/>
        </p:nvSpPr>
        <p:spPr bwMode="auto">
          <a:xfrm>
            <a:off x="1262063" y="3068638"/>
            <a:ext cx="234950" cy="712787"/>
          </a:xfrm>
          <a:custGeom>
            <a:avLst/>
            <a:gdLst>
              <a:gd name="T0" fmla="*/ 2147483646 w 148"/>
              <a:gd name="T1" fmla="*/ 2147483646 h 449"/>
              <a:gd name="T2" fmla="*/ 2147483646 w 148"/>
              <a:gd name="T3" fmla="*/ 2147483646 h 449"/>
              <a:gd name="T4" fmla="*/ 2147483646 w 148"/>
              <a:gd name="T5" fmla="*/ 2147483646 h 449"/>
              <a:gd name="T6" fmla="*/ 2147483646 w 148"/>
              <a:gd name="T7" fmla="*/ 2147483646 h 449"/>
              <a:gd name="T8" fmla="*/ 2147483646 w 148"/>
              <a:gd name="T9" fmla="*/ 2147483646 h 449"/>
              <a:gd name="T10" fmla="*/ 2147483646 w 148"/>
              <a:gd name="T11" fmla="*/ 2147483646 h 449"/>
              <a:gd name="T12" fmla="*/ 2147483646 w 148"/>
              <a:gd name="T13" fmla="*/ 2147483646 h 449"/>
              <a:gd name="T14" fmla="*/ 2147483646 w 148"/>
              <a:gd name="T15" fmla="*/ 2147483646 h 449"/>
              <a:gd name="T16" fmla="*/ 2147483646 w 148"/>
              <a:gd name="T17" fmla="*/ 2147483646 h 449"/>
              <a:gd name="T18" fmla="*/ 2147483646 w 148"/>
              <a:gd name="T19" fmla="*/ 2147483646 h 449"/>
              <a:gd name="T20" fmla="*/ 2147483646 w 148"/>
              <a:gd name="T21" fmla="*/ 2147483646 h 449"/>
              <a:gd name="T22" fmla="*/ 2147483646 w 148"/>
              <a:gd name="T23" fmla="*/ 2147483646 h 449"/>
              <a:gd name="T24" fmla="*/ 2147483646 w 148"/>
              <a:gd name="T25" fmla="*/ 2147483646 h 449"/>
              <a:gd name="T26" fmla="*/ 2147483646 w 148"/>
              <a:gd name="T27" fmla="*/ 2147483646 h 449"/>
              <a:gd name="T28" fmla="*/ 2147483646 w 148"/>
              <a:gd name="T29" fmla="*/ 2147483646 h 449"/>
              <a:gd name="T30" fmla="*/ 2147483646 w 148"/>
              <a:gd name="T31" fmla="*/ 2147483646 h 449"/>
              <a:gd name="T32" fmla="*/ 2147483646 w 148"/>
              <a:gd name="T33" fmla="*/ 2147483646 h 449"/>
              <a:gd name="T34" fmla="*/ 2147483646 w 148"/>
              <a:gd name="T35" fmla="*/ 2147483646 h 449"/>
              <a:gd name="T36" fmla="*/ 2147483646 w 148"/>
              <a:gd name="T37" fmla="*/ 2147483646 h 449"/>
              <a:gd name="T38" fmla="*/ 2147483646 w 148"/>
              <a:gd name="T39" fmla="*/ 2147483646 h 449"/>
              <a:gd name="T40" fmla="*/ 2147483646 w 148"/>
              <a:gd name="T41" fmla="*/ 2147483646 h 449"/>
              <a:gd name="T42" fmla="*/ 2147483646 w 148"/>
              <a:gd name="T43" fmla="*/ 2147483646 h 449"/>
              <a:gd name="T44" fmla="*/ 2147483646 w 148"/>
              <a:gd name="T45" fmla="*/ 0 h 449"/>
              <a:gd name="T46" fmla="*/ 2147483646 w 148"/>
              <a:gd name="T47" fmla="*/ 2147483646 h 449"/>
              <a:gd name="T48" fmla="*/ 2147483646 w 148"/>
              <a:gd name="T49" fmla="*/ 2147483646 h 449"/>
              <a:gd name="T50" fmla="*/ 2147483646 w 148"/>
              <a:gd name="T51" fmla="*/ 2147483646 h 449"/>
              <a:gd name="T52" fmla="*/ 2147483646 w 148"/>
              <a:gd name="T53" fmla="*/ 2147483646 h 449"/>
              <a:gd name="T54" fmla="*/ 2147483646 w 148"/>
              <a:gd name="T55" fmla="*/ 2147483646 h 449"/>
              <a:gd name="T56" fmla="*/ 2147483646 w 148"/>
              <a:gd name="T57" fmla="*/ 2147483646 h 449"/>
              <a:gd name="T58" fmla="*/ 2147483646 w 148"/>
              <a:gd name="T59" fmla="*/ 2147483646 h 449"/>
              <a:gd name="T60" fmla="*/ 0 w 148"/>
              <a:gd name="T61" fmla="*/ 2147483646 h 449"/>
              <a:gd name="T62" fmla="*/ 2147483646 w 148"/>
              <a:gd name="T63" fmla="*/ 2147483646 h 449"/>
              <a:gd name="T64" fmla="*/ 2147483646 w 148"/>
              <a:gd name="T65" fmla="*/ 2147483646 h 449"/>
              <a:gd name="T66" fmla="*/ 2147483646 w 148"/>
              <a:gd name="T67" fmla="*/ 2147483646 h 449"/>
              <a:gd name="T68" fmla="*/ 2147483646 w 148"/>
              <a:gd name="T69" fmla="*/ 2147483646 h 449"/>
              <a:gd name="T70" fmla="*/ 2147483646 w 148"/>
              <a:gd name="T71" fmla="*/ 2147483646 h 449"/>
              <a:gd name="T72" fmla="*/ 2147483646 w 148"/>
              <a:gd name="T73" fmla="*/ 2147483646 h 449"/>
              <a:gd name="T74" fmla="*/ 2147483646 w 148"/>
              <a:gd name="T75" fmla="*/ 2147483646 h 449"/>
              <a:gd name="T76" fmla="*/ 2147483646 w 148"/>
              <a:gd name="T77" fmla="*/ 2147483646 h 449"/>
              <a:gd name="T78" fmla="*/ 2147483646 w 148"/>
              <a:gd name="T79" fmla="*/ 2147483646 h 449"/>
              <a:gd name="T80" fmla="*/ 2147483646 w 148"/>
              <a:gd name="T81" fmla="*/ 2147483646 h 449"/>
              <a:gd name="T82" fmla="*/ 2147483646 w 148"/>
              <a:gd name="T83" fmla="*/ 2147483646 h 449"/>
              <a:gd name="T84" fmla="*/ 2147483646 w 148"/>
              <a:gd name="T85" fmla="*/ 2147483646 h 449"/>
              <a:gd name="T86" fmla="*/ 2147483646 w 148"/>
              <a:gd name="T87" fmla="*/ 2147483646 h 449"/>
              <a:gd name="T88" fmla="*/ 2147483646 w 148"/>
              <a:gd name="T89" fmla="*/ 2147483646 h 449"/>
              <a:gd name="T90" fmla="*/ 2147483646 w 148"/>
              <a:gd name="T91" fmla="*/ 2147483646 h 449"/>
              <a:gd name="T92" fmla="*/ 2147483646 w 148"/>
              <a:gd name="T93" fmla="*/ 2147483646 h 449"/>
              <a:gd name="T94" fmla="*/ 2147483646 w 148"/>
              <a:gd name="T95" fmla="*/ 2147483646 h 449"/>
              <a:gd name="T96" fmla="*/ 2147483646 w 148"/>
              <a:gd name="T97" fmla="*/ 2147483646 h 449"/>
              <a:gd name="T98" fmla="*/ 2147483646 w 148"/>
              <a:gd name="T99" fmla="*/ 2147483646 h 449"/>
              <a:gd name="T100" fmla="*/ 2147483646 w 148"/>
              <a:gd name="T101" fmla="*/ 2147483646 h 449"/>
              <a:gd name="T102" fmla="*/ 2147483646 w 148"/>
              <a:gd name="T103" fmla="*/ 2147483646 h 44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48" h="449">
                <a:moveTo>
                  <a:pt x="79" y="212"/>
                </a:moveTo>
                <a:lnTo>
                  <a:pt x="80" y="211"/>
                </a:lnTo>
                <a:lnTo>
                  <a:pt x="80" y="212"/>
                </a:lnTo>
                <a:lnTo>
                  <a:pt x="79" y="212"/>
                </a:lnTo>
                <a:lnTo>
                  <a:pt x="82" y="210"/>
                </a:lnTo>
                <a:lnTo>
                  <a:pt x="83" y="210"/>
                </a:lnTo>
                <a:lnTo>
                  <a:pt x="82" y="210"/>
                </a:lnTo>
                <a:lnTo>
                  <a:pt x="79" y="212"/>
                </a:lnTo>
                <a:lnTo>
                  <a:pt x="145" y="429"/>
                </a:lnTo>
                <a:lnTo>
                  <a:pt x="144" y="428"/>
                </a:lnTo>
                <a:lnTo>
                  <a:pt x="140" y="426"/>
                </a:lnTo>
                <a:lnTo>
                  <a:pt x="135" y="422"/>
                </a:lnTo>
                <a:lnTo>
                  <a:pt x="129" y="418"/>
                </a:lnTo>
                <a:lnTo>
                  <a:pt x="122" y="413"/>
                </a:lnTo>
                <a:lnTo>
                  <a:pt x="117" y="406"/>
                </a:lnTo>
                <a:lnTo>
                  <a:pt x="113" y="401"/>
                </a:lnTo>
                <a:lnTo>
                  <a:pt x="112" y="394"/>
                </a:lnTo>
                <a:lnTo>
                  <a:pt x="112" y="386"/>
                </a:lnTo>
                <a:lnTo>
                  <a:pt x="113" y="374"/>
                </a:lnTo>
                <a:lnTo>
                  <a:pt x="114" y="360"/>
                </a:lnTo>
                <a:lnTo>
                  <a:pt x="115" y="345"/>
                </a:lnTo>
                <a:lnTo>
                  <a:pt x="117" y="332"/>
                </a:lnTo>
                <a:lnTo>
                  <a:pt x="118" y="320"/>
                </a:lnTo>
                <a:lnTo>
                  <a:pt x="118" y="312"/>
                </a:lnTo>
                <a:lnTo>
                  <a:pt x="119" y="310"/>
                </a:lnTo>
                <a:lnTo>
                  <a:pt x="120" y="309"/>
                </a:lnTo>
                <a:lnTo>
                  <a:pt x="121" y="308"/>
                </a:lnTo>
                <a:lnTo>
                  <a:pt x="123" y="307"/>
                </a:lnTo>
                <a:lnTo>
                  <a:pt x="124" y="303"/>
                </a:lnTo>
                <a:lnTo>
                  <a:pt x="126" y="299"/>
                </a:lnTo>
                <a:lnTo>
                  <a:pt x="127" y="294"/>
                </a:lnTo>
                <a:lnTo>
                  <a:pt x="128" y="287"/>
                </a:lnTo>
                <a:lnTo>
                  <a:pt x="118" y="200"/>
                </a:lnTo>
                <a:lnTo>
                  <a:pt x="118" y="199"/>
                </a:lnTo>
                <a:lnTo>
                  <a:pt x="118" y="200"/>
                </a:lnTo>
                <a:lnTo>
                  <a:pt x="118" y="202"/>
                </a:lnTo>
                <a:lnTo>
                  <a:pt x="120" y="205"/>
                </a:lnTo>
                <a:lnTo>
                  <a:pt x="121" y="209"/>
                </a:lnTo>
                <a:lnTo>
                  <a:pt x="123" y="213"/>
                </a:lnTo>
                <a:lnTo>
                  <a:pt x="124" y="215"/>
                </a:lnTo>
                <a:lnTo>
                  <a:pt x="126" y="216"/>
                </a:lnTo>
                <a:lnTo>
                  <a:pt x="128" y="214"/>
                </a:lnTo>
                <a:lnTo>
                  <a:pt x="129" y="212"/>
                </a:lnTo>
                <a:lnTo>
                  <a:pt x="130" y="209"/>
                </a:lnTo>
                <a:lnTo>
                  <a:pt x="131" y="207"/>
                </a:lnTo>
                <a:lnTo>
                  <a:pt x="132" y="204"/>
                </a:lnTo>
                <a:lnTo>
                  <a:pt x="132" y="200"/>
                </a:lnTo>
                <a:lnTo>
                  <a:pt x="132" y="196"/>
                </a:lnTo>
                <a:lnTo>
                  <a:pt x="130" y="191"/>
                </a:lnTo>
                <a:lnTo>
                  <a:pt x="128" y="186"/>
                </a:lnTo>
                <a:lnTo>
                  <a:pt x="124" y="178"/>
                </a:lnTo>
                <a:lnTo>
                  <a:pt x="124" y="171"/>
                </a:lnTo>
                <a:lnTo>
                  <a:pt x="125" y="165"/>
                </a:lnTo>
                <a:lnTo>
                  <a:pt x="127" y="157"/>
                </a:lnTo>
                <a:lnTo>
                  <a:pt x="129" y="147"/>
                </a:lnTo>
                <a:lnTo>
                  <a:pt x="128" y="132"/>
                </a:lnTo>
                <a:lnTo>
                  <a:pt x="125" y="114"/>
                </a:lnTo>
                <a:lnTo>
                  <a:pt x="118" y="87"/>
                </a:lnTo>
                <a:lnTo>
                  <a:pt x="116" y="83"/>
                </a:lnTo>
                <a:lnTo>
                  <a:pt x="113" y="79"/>
                </a:lnTo>
                <a:lnTo>
                  <a:pt x="108" y="76"/>
                </a:lnTo>
                <a:lnTo>
                  <a:pt x="104" y="72"/>
                </a:lnTo>
                <a:lnTo>
                  <a:pt x="101" y="69"/>
                </a:lnTo>
                <a:lnTo>
                  <a:pt x="97" y="68"/>
                </a:lnTo>
                <a:lnTo>
                  <a:pt x="95" y="66"/>
                </a:lnTo>
                <a:lnTo>
                  <a:pt x="94" y="66"/>
                </a:lnTo>
                <a:lnTo>
                  <a:pt x="95" y="66"/>
                </a:lnTo>
                <a:lnTo>
                  <a:pt x="96" y="66"/>
                </a:lnTo>
                <a:lnTo>
                  <a:pt x="97" y="65"/>
                </a:lnTo>
                <a:lnTo>
                  <a:pt x="99" y="65"/>
                </a:lnTo>
                <a:lnTo>
                  <a:pt x="101" y="64"/>
                </a:lnTo>
                <a:lnTo>
                  <a:pt x="101" y="63"/>
                </a:lnTo>
                <a:lnTo>
                  <a:pt x="103" y="60"/>
                </a:lnTo>
                <a:lnTo>
                  <a:pt x="104" y="58"/>
                </a:lnTo>
                <a:lnTo>
                  <a:pt x="104" y="55"/>
                </a:lnTo>
                <a:lnTo>
                  <a:pt x="104" y="53"/>
                </a:lnTo>
                <a:lnTo>
                  <a:pt x="103" y="51"/>
                </a:lnTo>
                <a:lnTo>
                  <a:pt x="102" y="51"/>
                </a:lnTo>
                <a:lnTo>
                  <a:pt x="101" y="49"/>
                </a:lnTo>
                <a:lnTo>
                  <a:pt x="99" y="48"/>
                </a:lnTo>
                <a:lnTo>
                  <a:pt x="97" y="46"/>
                </a:lnTo>
                <a:lnTo>
                  <a:pt x="96" y="43"/>
                </a:lnTo>
                <a:lnTo>
                  <a:pt x="94" y="40"/>
                </a:lnTo>
                <a:lnTo>
                  <a:pt x="94" y="36"/>
                </a:lnTo>
                <a:lnTo>
                  <a:pt x="94" y="31"/>
                </a:lnTo>
                <a:lnTo>
                  <a:pt x="95" y="27"/>
                </a:lnTo>
                <a:lnTo>
                  <a:pt x="96" y="23"/>
                </a:lnTo>
                <a:lnTo>
                  <a:pt x="96" y="20"/>
                </a:lnTo>
                <a:lnTo>
                  <a:pt x="97" y="18"/>
                </a:lnTo>
                <a:lnTo>
                  <a:pt x="98" y="17"/>
                </a:lnTo>
                <a:lnTo>
                  <a:pt x="97" y="17"/>
                </a:lnTo>
                <a:lnTo>
                  <a:pt x="96" y="15"/>
                </a:lnTo>
                <a:lnTo>
                  <a:pt x="95" y="13"/>
                </a:lnTo>
                <a:lnTo>
                  <a:pt x="93" y="11"/>
                </a:lnTo>
                <a:lnTo>
                  <a:pt x="91" y="8"/>
                </a:lnTo>
                <a:lnTo>
                  <a:pt x="90" y="6"/>
                </a:lnTo>
                <a:lnTo>
                  <a:pt x="88" y="4"/>
                </a:lnTo>
                <a:lnTo>
                  <a:pt x="88" y="2"/>
                </a:lnTo>
                <a:lnTo>
                  <a:pt x="87" y="0"/>
                </a:lnTo>
                <a:lnTo>
                  <a:pt x="84" y="0"/>
                </a:lnTo>
                <a:lnTo>
                  <a:pt x="79" y="0"/>
                </a:lnTo>
                <a:lnTo>
                  <a:pt x="74" y="0"/>
                </a:lnTo>
                <a:lnTo>
                  <a:pt x="69" y="0"/>
                </a:lnTo>
                <a:lnTo>
                  <a:pt x="63" y="1"/>
                </a:lnTo>
                <a:lnTo>
                  <a:pt x="59" y="2"/>
                </a:lnTo>
                <a:lnTo>
                  <a:pt x="56" y="3"/>
                </a:lnTo>
                <a:lnTo>
                  <a:pt x="52" y="4"/>
                </a:lnTo>
                <a:lnTo>
                  <a:pt x="50" y="8"/>
                </a:lnTo>
                <a:lnTo>
                  <a:pt x="46" y="12"/>
                </a:lnTo>
                <a:lnTo>
                  <a:pt x="44" y="17"/>
                </a:lnTo>
                <a:lnTo>
                  <a:pt x="41" y="22"/>
                </a:lnTo>
                <a:lnTo>
                  <a:pt x="39" y="28"/>
                </a:lnTo>
                <a:lnTo>
                  <a:pt x="37" y="34"/>
                </a:lnTo>
                <a:lnTo>
                  <a:pt x="35" y="38"/>
                </a:lnTo>
                <a:lnTo>
                  <a:pt x="33" y="43"/>
                </a:lnTo>
                <a:lnTo>
                  <a:pt x="32" y="47"/>
                </a:lnTo>
                <a:lnTo>
                  <a:pt x="30" y="51"/>
                </a:lnTo>
                <a:lnTo>
                  <a:pt x="28" y="54"/>
                </a:lnTo>
                <a:lnTo>
                  <a:pt x="26" y="55"/>
                </a:lnTo>
                <a:lnTo>
                  <a:pt x="24" y="57"/>
                </a:lnTo>
                <a:lnTo>
                  <a:pt x="23" y="59"/>
                </a:lnTo>
                <a:lnTo>
                  <a:pt x="28" y="64"/>
                </a:lnTo>
                <a:lnTo>
                  <a:pt x="29" y="64"/>
                </a:lnTo>
                <a:lnTo>
                  <a:pt x="31" y="66"/>
                </a:lnTo>
                <a:lnTo>
                  <a:pt x="32" y="68"/>
                </a:lnTo>
                <a:lnTo>
                  <a:pt x="33" y="69"/>
                </a:lnTo>
                <a:lnTo>
                  <a:pt x="33" y="71"/>
                </a:lnTo>
                <a:lnTo>
                  <a:pt x="31" y="73"/>
                </a:lnTo>
                <a:lnTo>
                  <a:pt x="28" y="76"/>
                </a:lnTo>
                <a:lnTo>
                  <a:pt x="23" y="80"/>
                </a:lnTo>
                <a:lnTo>
                  <a:pt x="19" y="88"/>
                </a:lnTo>
                <a:lnTo>
                  <a:pt x="14" y="98"/>
                </a:lnTo>
                <a:lnTo>
                  <a:pt x="10" y="110"/>
                </a:lnTo>
                <a:lnTo>
                  <a:pt x="5" y="121"/>
                </a:lnTo>
                <a:lnTo>
                  <a:pt x="2" y="132"/>
                </a:lnTo>
                <a:lnTo>
                  <a:pt x="0" y="139"/>
                </a:lnTo>
                <a:lnTo>
                  <a:pt x="0" y="143"/>
                </a:lnTo>
                <a:lnTo>
                  <a:pt x="0" y="146"/>
                </a:lnTo>
                <a:lnTo>
                  <a:pt x="0" y="152"/>
                </a:lnTo>
                <a:lnTo>
                  <a:pt x="1" y="160"/>
                </a:lnTo>
                <a:lnTo>
                  <a:pt x="4" y="169"/>
                </a:lnTo>
                <a:lnTo>
                  <a:pt x="6" y="178"/>
                </a:lnTo>
                <a:lnTo>
                  <a:pt x="10" y="185"/>
                </a:lnTo>
                <a:lnTo>
                  <a:pt x="13" y="191"/>
                </a:lnTo>
                <a:lnTo>
                  <a:pt x="18" y="193"/>
                </a:lnTo>
                <a:lnTo>
                  <a:pt x="16" y="204"/>
                </a:lnTo>
                <a:lnTo>
                  <a:pt x="16" y="219"/>
                </a:lnTo>
                <a:lnTo>
                  <a:pt x="15" y="237"/>
                </a:lnTo>
                <a:lnTo>
                  <a:pt x="14" y="256"/>
                </a:lnTo>
                <a:lnTo>
                  <a:pt x="13" y="273"/>
                </a:lnTo>
                <a:lnTo>
                  <a:pt x="12" y="288"/>
                </a:lnTo>
                <a:lnTo>
                  <a:pt x="11" y="298"/>
                </a:lnTo>
                <a:lnTo>
                  <a:pt x="11" y="302"/>
                </a:lnTo>
                <a:lnTo>
                  <a:pt x="12" y="303"/>
                </a:lnTo>
                <a:lnTo>
                  <a:pt x="15" y="305"/>
                </a:lnTo>
                <a:lnTo>
                  <a:pt x="18" y="307"/>
                </a:lnTo>
                <a:lnTo>
                  <a:pt x="22" y="309"/>
                </a:lnTo>
                <a:lnTo>
                  <a:pt x="25" y="311"/>
                </a:lnTo>
                <a:lnTo>
                  <a:pt x="28" y="311"/>
                </a:lnTo>
                <a:lnTo>
                  <a:pt x="31" y="311"/>
                </a:lnTo>
                <a:lnTo>
                  <a:pt x="32" y="310"/>
                </a:lnTo>
                <a:lnTo>
                  <a:pt x="32" y="311"/>
                </a:lnTo>
                <a:lnTo>
                  <a:pt x="33" y="315"/>
                </a:lnTo>
                <a:lnTo>
                  <a:pt x="34" y="320"/>
                </a:lnTo>
                <a:lnTo>
                  <a:pt x="36" y="324"/>
                </a:lnTo>
                <a:lnTo>
                  <a:pt x="38" y="329"/>
                </a:lnTo>
                <a:lnTo>
                  <a:pt x="39" y="333"/>
                </a:lnTo>
                <a:lnTo>
                  <a:pt x="40" y="336"/>
                </a:lnTo>
                <a:lnTo>
                  <a:pt x="40" y="337"/>
                </a:lnTo>
                <a:lnTo>
                  <a:pt x="40" y="338"/>
                </a:lnTo>
                <a:lnTo>
                  <a:pt x="39" y="340"/>
                </a:lnTo>
                <a:lnTo>
                  <a:pt x="39" y="341"/>
                </a:lnTo>
                <a:lnTo>
                  <a:pt x="39" y="344"/>
                </a:lnTo>
                <a:lnTo>
                  <a:pt x="38" y="347"/>
                </a:lnTo>
                <a:lnTo>
                  <a:pt x="37" y="350"/>
                </a:lnTo>
                <a:lnTo>
                  <a:pt x="37" y="355"/>
                </a:lnTo>
                <a:lnTo>
                  <a:pt x="37" y="360"/>
                </a:lnTo>
                <a:lnTo>
                  <a:pt x="38" y="367"/>
                </a:lnTo>
                <a:lnTo>
                  <a:pt x="39" y="375"/>
                </a:lnTo>
                <a:lnTo>
                  <a:pt x="41" y="383"/>
                </a:lnTo>
                <a:lnTo>
                  <a:pt x="43" y="390"/>
                </a:lnTo>
                <a:lnTo>
                  <a:pt x="45" y="396"/>
                </a:lnTo>
                <a:lnTo>
                  <a:pt x="46" y="400"/>
                </a:lnTo>
                <a:lnTo>
                  <a:pt x="46" y="401"/>
                </a:lnTo>
                <a:lnTo>
                  <a:pt x="39" y="417"/>
                </a:lnTo>
                <a:lnTo>
                  <a:pt x="42" y="440"/>
                </a:lnTo>
                <a:lnTo>
                  <a:pt x="42" y="441"/>
                </a:lnTo>
                <a:lnTo>
                  <a:pt x="43" y="442"/>
                </a:lnTo>
                <a:lnTo>
                  <a:pt x="45" y="443"/>
                </a:lnTo>
                <a:lnTo>
                  <a:pt x="47" y="445"/>
                </a:lnTo>
                <a:lnTo>
                  <a:pt x="50" y="447"/>
                </a:lnTo>
                <a:lnTo>
                  <a:pt x="52" y="448"/>
                </a:lnTo>
                <a:lnTo>
                  <a:pt x="56" y="448"/>
                </a:lnTo>
                <a:lnTo>
                  <a:pt x="58" y="447"/>
                </a:lnTo>
                <a:lnTo>
                  <a:pt x="60" y="444"/>
                </a:lnTo>
                <a:lnTo>
                  <a:pt x="62" y="442"/>
                </a:lnTo>
                <a:lnTo>
                  <a:pt x="63" y="439"/>
                </a:lnTo>
                <a:lnTo>
                  <a:pt x="64" y="435"/>
                </a:lnTo>
                <a:lnTo>
                  <a:pt x="65" y="433"/>
                </a:lnTo>
                <a:lnTo>
                  <a:pt x="65" y="430"/>
                </a:lnTo>
                <a:lnTo>
                  <a:pt x="65" y="429"/>
                </a:lnTo>
                <a:lnTo>
                  <a:pt x="59" y="398"/>
                </a:lnTo>
                <a:lnTo>
                  <a:pt x="69" y="336"/>
                </a:lnTo>
                <a:lnTo>
                  <a:pt x="72" y="324"/>
                </a:lnTo>
                <a:lnTo>
                  <a:pt x="84" y="324"/>
                </a:lnTo>
                <a:lnTo>
                  <a:pt x="84" y="327"/>
                </a:lnTo>
                <a:lnTo>
                  <a:pt x="84" y="329"/>
                </a:lnTo>
                <a:lnTo>
                  <a:pt x="84" y="333"/>
                </a:lnTo>
                <a:lnTo>
                  <a:pt x="84" y="338"/>
                </a:lnTo>
                <a:lnTo>
                  <a:pt x="85" y="344"/>
                </a:lnTo>
                <a:lnTo>
                  <a:pt x="85" y="349"/>
                </a:lnTo>
                <a:lnTo>
                  <a:pt x="86" y="355"/>
                </a:lnTo>
                <a:lnTo>
                  <a:pt x="88" y="362"/>
                </a:lnTo>
                <a:lnTo>
                  <a:pt x="90" y="370"/>
                </a:lnTo>
                <a:lnTo>
                  <a:pt x="91" y="377"/>
                </a:lnTo>
                <a:lnTo>
                  <a:pt x="93" y="384"/>
                </a:lnTo>
                <a:lnTo>
                  <a:pt x="94" y="391"/>
                </a:lnTo>
                <a:lnTo>
                  <a:pt x="96" y="396"/>
                </a:lnTo>
                <a:lnTo>
                  <a:pt x="96" y="399"/>
                </a:lnTo>
                <a:lnTo>
                  <a:pt x="96" y="400"/>
                </a:lnTo>
                <a:lnTo>
                  <a:pt x="94" y="427"/>
                </a:lnTo>
                <a:lnTo>
                  <a:pt x="102" y="430"/>
                </a:lnTo>
                <a:lnTo>
                  <a:pt x="102" y="426"/>
                </a:lnTo>
                <a:lnTo>
                  <a:pt x="103" y="426"/>
                </a:lnTo>
                <a:lnTo>
                  <a:pt x="105" y="427"/>
                </a:lnTo>
                <a:lnTo>
                  <a:pt x="107" y="428"/>
                </a:lnTo>
                <a:lnTo>
                  <a:pt x="110" y="430"/>
                </a:lnTo>
                <a:lnTo>
                  <a:pt x="113" y="431"/>
                </a:lnTo>
                <a:lnTo>
                  <a:pt x="117" y="433"/>
                </a:lnTo>
                <a:lnTo>
                  <a:pt x="120" y="435"/>
                </a:lnTo>
                <a:lnTo>
                  <a:pt x="124" y="437"/>
                </a:lnTo>
                <a:lnTo>
                  <a:pt x="128" y="439"/>
                </a:lnTo>
                <a:lnTo>
                  <a:pt x="132" y="439"/>
                </a:lnTo>
                <a:lnTo>
                  <a:pt x="135" y="439"/>
                </a:lnTo>
                <a:lnTo>
                  <a:pt x="139" y="439"/>
                </a:lnTo>
                <a:lnTo>
                  <a:pt x="142" y="438"/>
                </a:lnTo>
                <a:lnTo>
                  <a:pt x="144" y="438"/>
                </a:lnTo>
                <a:lnTo>
                  <a:pt x="146" y="437"/>
                </a:lnTo>
                <a:lnTo>
                  <a:pt x="147" y="437"/>
                </a:lnTo>
                <a:lnTo>
                  <a:pt x="145" y="429"/>
                </a:lnTo>
                <a:lnTo>
                  <a:pt x="79" y="2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5" name="Freeform 15">
            <a:extLst>
              <a:ext uri="{FF2B5EF4-FFF2-40B4-BE49-F238E27FC236}">
                <a16:creationId xmlns:a16="http://schemas.microsoft.com/office/drawing/2014/main" id="{31779D9D-8F7E-DF79-BD40-3042AE9CC345}"/>
              </a:ext>
            </a:extLst>
          </p:cNvPr>
          <p:cNvSpPr>
            <a:spLocks/>
          </p:cNvSpPr>
          <p:nvPr/>
        </p:nvSpPr>
        <p:spPr bwMode="auto">
          <a:xfrm>
            <a:off x="1458913" y="3054350"/>
            <a:ext cx="242887" cy="762000"/>
          </a:xfrm>
          <a:custGeom>
            <a:avLst/>
            <a:gdLst>
              <a:gd name="T0" fmla="*/ 2147483646 w 153"/>
              <a:gd name="T1" fmla="*/ 2147483646 h 480"/>
              <a:gd name="T2" fmla="*/ 2147483646 w 153"/>
              <a:gd name="T3" fmla="*/ 2147483646 h 480"/>
              <a:gd name="T4" fmla="*/ 2147483646 w 153"/>
              <a:gd name="T5" fmla="*/ 2147483646 h 480"/>
              <a:gd name="T6" fmla="*/ 2147483646 w 153"/>
              <a:gd name="T7" fmla="*/ 2147483646 h 480"/>
              <a:gd name="T8" fmla="*/ 2147483646 w 153"/>
              <a:gd name="T9" fmla="*/ 2147483646 h 480"/>
              <a:gd name="T10" fmla="*/ 2147483646 w 153"/>
              <a:gd name="T11" fmla="*/ 2147483646 h 480"/>
              <a:gd name="T12" fmla="*/ 2147483646 w 153"/>
              <a:gd name="T13" fmla="*/ 2147483646 h 480"/>
              <a:gd name="T14" fmla="*/ 2147483646 w 153"/>
              <a:gd name="T15" fmla="*/ 2147483646 h 480"/>
              <a:gd name="T16" fmla="*/ 2147483646 w 153"/>
              <a:gd name="T17" fmla="*/ 2147483646 h 480"/>
              <a:gd name="T18" fmla="*/ 2147483646 w 153"/>
              <a:gd name="T19" fmla="*/ 2147483646 h 480"/>
              <a:gd name="T20" fmla="*/ 2147483646 w 153"/>
              <a:gd name="T21" fmla="*/ 2147483646 h 480"/>
              <a:gd name="T22" fmla="*/ 2147483646 w 153"/>
              <a:gd name="T23" fmla="*/ 2147483646 h 480"/>
              <a:gd name="T24" fmla="*/ 2147483646 w 153"/>
              <a:gd name="T25" fmla="*/ 2147483646 h 480"/>
              <a:gd name="T26" fmla="*/ 2147483646 w 153"/>
              <a:gd name="T27" fmla="*/ 2147483646 h 480"/>
              <a:gd name="T28" fmla="*/ 2147483646 w 153"/>
              <a:gd name="T29" fmla="*/ 2147483646 h 480"/>
              <a:gd name="T30" fmla="*/ 2147483646 w 153"/>
              <a:gd name="T31" fmla="*/ 2147483646 h 480"/>
              <a:gd name="T32" fmla="*/ 2147483646 w 153"/>
              <a:gd name="T33" fmla="*/ 2147483646 h 480"/>
              <a:gd name="T34" fmla="*/ 2147483646 w 153"/>
              <a:gd name="T35" fmla="*/ 2147483646 h 480"/>
              <a:gd name="T36" fmla="*/ 2147483646 w 153"/>
              <a:gd name="T37" fmla="*/ 2147483646 h 480"/>
              <a:gd name="T38" fmla="*/ 2147483646 w 153"/>
              <a:gd name="T39" fmla="*/ 0 h 480"/>
              <a:gd name="T40" fmla="*/ 2147483646 w 153"/>
              <a:gd name="T41" fmla="*/ 0 h 480"/>
              <a:gd name="T42" fmla="*/ 2147483646 w 153"/>
              <a:gd name="T43" fmla="*/ 2147483646 h 480"/>
              <a:gd name="T44" fmla="*/ 2147483646 w 153"/>
              <a:gd name="T45" fmla="*/ 2147483646 h 480"/>
              <a:gd name="T46" fmla="*/ 2147483646 w 153"/>
              <a:gd name="T47" fmla="*/ 2147483646 h 480"/>
              <a:gd name="T48" fmla="*/ 2147483646 w 153"/>
              <a:gd name="T49" fmla="*/ 2147483646 h 480"/>
              <a:gd name="T50" fmla="*/ 2147483646 w 153"/>
              <a:gd name="T51" fmla="*/ 2147483646 h 480"/>
              <a:gd name="T52" fmla="*/ 2147483646 w 153"/>
              <a:gd name="T53" fmla="*/ 2147483646 h 480"/>
              <a:gd name="T54" fmla="*/ 2147483646 w 153"/>
              <a:gd name="T55" fmla="*/ 2147483646 h 480"/>
              <a:gd name="T56" fmla="*/ 2147483646 w 153"/>
              <a:gd name="T57" fmla="*/ 2147483646 h 480"/>
              <a:gd name="T58" fmla="*/ 2147483646 w 153"/>
              <a:gd name="T59" fmla="*/ 2147483646 h 480"/>
              <a:gd name="T60" fmla="*/ 2147483646 w 153"/>
              <a:gd name="T61" fmla="*/ 2147483646 h 480"/>
              <a:gd name="T62" fmla="*/ 2147483646 w 153"/>
              <a:gd name="T63" fmla="*/ 2147483646 h 480"/>
              <a:gd name="T64" fmla="*/ 2147483646 w 153"/>
              <a:gd name="T65" fmla="*/ 2147483646 h 480"/>
              <a:gd name="T66" fmla="*/ 2147483646 w 153"/>
              <a:gd name="T67" fmla="*/ 2147483646 h 480"/>
              <a:gd name="T68" fmla="*/ 2147483646 w 153"/>
              <a:gd name="T69" fmla="*/ 2147483646 h 480"/>
              <a:gd name="T70" fmla="*/ 2147483646 w 153"/>
              <a:gd name="T71" fmla="*/ 2147483646 h 480"/>
              <a:gd name="T72" fmla="*/ 2147483646 w 153"/>
              <a:gd name="T73" fmla="*/ 2147483646 h 480"/>
              <a:gd name="T74" fmla="*/ 0 w 153"/>
              <a:gd name="T75" fmla="*/ 2147483646 h 480"/>
              <a:gd name="T76" fmla="*/ 0 w 153"/>
              <a:gd name="T77" fmla="*/ 2147483646 h 480"/>
              <a:gd name="T78" fmla="*/ 0 w 153"/>
              <a:gd name="T79" fmla="*/ 2147483646 h 480"/>
              <a:gd name="T80" fmla="*/ 2147483646 w 153"/>
              <a:gd name="T81" fmla="*/ 2147483646 h 480"/>
              <a:gd name="T82" fmla="*/ 2147483646 w 153"/>
              <a:gd name="T83" fmla="*/ 2147483646 h 480"/>
              <a:gd name="T84" fmla="*/ 2147483646 w 153"/>
              <a:gd name="T85" fmla="*/ 2147483646 h 480"/>
              <a:gd name="T86" fmla="*/ 2147483646 w 153"/>
              <a:gd name="T87" fmla="*/ 2147483646 h 480"/>
              <a:gd name="T88" fmla="*/ 2147483646 w 153"/>
              <a:gd name="T89" fmla="*/ 2147483646 h 480"/>
              <a:gd name="T90" fmla="*/ 2147483646 w 153"/>
              <a:gd name="T91" fmla="*/ 2147483646 h 480"/>
              <a:gd name="T92" fmla="*/ 2147483646 w 153"/>
              <a:gd name="T93" fmla="*/ 2147483646 h 480"/>
              <a:gd name="T94" fmla="*/ 2147483646 w 153"/>
              <a:gd name="T95" fmla="*/ 2147483646 h 480"/>
              <a:gd name="T96" fmla="*/ 2147483646 w 153"/>
              <a:gd name="T97" fmla="*/ 2147483646 h 480"/>
              <a:gd name="T98" fmla="*/ 2147483646 w 153"/>
              <a:gd name="T99" fmla="*/ 2147483646 h 480"/>
              <a:gd name="T100" fmla="*/ 2147483646 w 153"/>
              <a:gd name="T101" fmla="*/ 2147483646 h 480"/>
              <a:gd name="T102" fmla="*/ 2147483646 w 153"/>
              <a:gd name="T103" fmla="*/ 2147483646 h 480"/>
              <a:gd name="T104" fmla="*/ 2147483646 w 153"/>
              <a:gd name="T105" fmla="*/ 2147483646 h 480"/>
              <a:gd name="T106" fmla="*/ 2147483646 w 153"/>
              <a:gd name="T107" fmla="*/ 2147483646 h 480"/>
              <a:gd name="T108" fmla="*/ 2147483646 w 153"/>
              <a:gd name="T109" fmla="*/ 2147483646 h 480"/>
              <a:gd name="T110" fmla="*/ 2147483646 w 153"/>
              <a:gd name="T111" fmla="*/ 2147483646 h 480"/>
              <a:gd name="T112" fmla="*/ 2147483646 w 153"/>
              <a:gd name="T113" fmla="*/ 2147483646 h 480"/>
              <a:gd name="T114" fmla="*/ 2147483646 w 153"/>
              <a:gd name="T115" fmla="*/ 2147483646 h 480"/>
              <a:gd name="T116" fmla="*/ 2147483646 w 153"/>
              <a:gd name="T117" fmla="*/ 2147483646 h 480"/>
              <a:gd name="T118" fmla="*/ 2147483646 w 153"/>
              <a:gd name="T119" fmla="*/ 2147483646 h 48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53" h="480">
                <a:moveTo>
                  <a:pt x="120" y="248"/>
                </a:moveTo>
                <a:lnTo>
                  <a:pt x="123" y="270"/>
                </a:lnTo>
                <a:lnTo>
                  <a:pt x="142" y="243"/>
                </a:lnTo>
                <a:lnTo>
                  <a:pt x="137" y="198"/>
                </a:lnTo>
                <a:lnTo>
                  <a:pt x="152" y="164"/>
                </a:lnTo>
                <a:lnTo>
                  <a:pt x="151" y="163"/>
                </a:lnTo>
                <a:lnTo>
                  <a:pt x="149" y="157"/>
                </a:lnTo>
                <a:lnTo>
                  <a:pt x="147" y="148"/>
                </a:lnTo>
                <a:lnTo>
                  <a:pt x="145" y="138"/>
                </a:lnTo>
                <a:lnTo>
                  <a:pt x="141" y="128"/>
                </a:lnTo>
                <a:lnTo>
                  <a:pt x="138" y="117"/>
                </a:lnTo>
                <a:lnTo>
                  <a:pt x="134" y="108"/>
                </a:lnTo>
                <a:lnTo>
                  <a:pt x="130" y="102"/>
                </a:lnTo>
                <a:lnTo>
                  <a:pt x="124" y="96"/>
                </a:lnTo>
                <a:lnTo>
                  <a:pt x="118" y="90"/>
                </a:lnTo>
                <a:lnTo>
                  <a:pt x="111" y="85"/>
                </a:lnTo>
                <a:lnTo>
                  <a:pt x="103" y="80"/>
                </a:lnTo>
                <a:lnTo>
                  <a:pt x="97" y="76"/>
                </a:lnTo>
                <a:lnTo>
                  <a:pt x="91" y="73"/>
                </a:lnTo>
                <a:lnTo>
                  <a:pt x="86" y="70"/>
                </a:lnTo>
                <a:lnTo>
                  <a:pt x="86" y="69"/>
                </a:lnTo>
                <a:lnTo>
                  <a:pt x="91" y="64"/>
                </a:lnTo>
                <a:lnTo>
                  <a:pt x="92" y="46"/>
                </a:lnTo>
                <a:lnTo>
                  <a:pt x="92" y="44"/>
                </a:lnTo>
                <a:lnTo>
                  <a:pt x="92" y="42"/>
                </a:lnTo>
                <a:lnTo>
                  <a:pt x="93" y="38"/>
                </a:lnTo>
                <a:lnTo>
                  <a:pt x="94" y="34"/>
                </a:lnTo>
                <a:lnTo>
                  <a:pt x="95" y="29"/>
                </a:lnTo>
                <a:lnTo>
                  <a:pt x="94" y="24"/>
                </a:lnTo>
                <a:lnTo>
                  <a:pt x="93" y="19"/>
                </a:lnTo>
                <a:lnTo>
                  <a:pt x="91" y="15"/>
                </a:lnTo>
                <a:lnTo>
                  <a:pt x="88" y="12"/>
                </a:lnTo>
                <a:lnTo>
                  <a:pt x="87" y="9"/>
                </a:lnTo>
                <a:lnTo>
                  <a:pt x="86" y="8"/>
                </a:lnTo>
                <a:lnTo>
                  <a:pt x="86" y="7"/>
                </a:lnTo>
                <a:lnTo>
                  <a:pt x="85" y="6"/>
                </a:lnTo>
                <a:lnTo>
                  <a:pt x="81" y="4"/>
                </a:lnTo>
                <a:lnTo>
                  <a:pt x="77" y="3"/>
                </a:lnTo>
                <a:lnTo>
                  <a:pt x="70" y="0"/>
                </a:lnTo>
                <a:lnTo>
                  <a:pt x="64" y="0"/>
                </a:lnTo>
                <a:lnTo>
                  <a:pt x="59" y="0"/>
                </a:lnTo>
                <a:lnTo>
                  <a:pt x="55" y="0"/>
                </a:lnTo>
                <a:lnTo>
                  <a:pt x="53" y="3"/>
                </a:lnTo>
                <a:lnTo>
                  <a:pt x="49" y="5"/>
                </a:lnTo>
                <a:lnTo>
                  <a:pt x="47" y="8"/>
                </a:lnTo>
                <a:lnTo>
                  <a:pt x="43" y="11"/>
                </a:lnTo>
                <a:lnTo>
                  <a:pt x="40" y="15"/>
                </a:lnTo>
                <a:lnTo>
                  <a:pt x="38" y="21"/>
                </a:lnTo>
                <a:lnTo>
                  <a:pt x="38" y="27"/>
                </a:lnTo>
                <a:lnTo>
                  <a:pt x="39" y="35"/>
                </a:lnTo>
                <a:lnTo>
                  <a:pt x="40" y="42"/>
                </a:lnTo>
                <a:lnTo>
                  <a:pt x="41" y="48"/>
                </a:lnTo>
                <a:lnTo>
                  <a:pt x="42" y="52"/>
                </a:lnTo>
                <a:lnTo>
                  <a:pt x="42" y="54"/>
                </a:lnTo>
                <a:lnTo>
                  <a:pt x="51" y="61"/>
                </a:lnTo>
                <a:lnTo>
                  <a:pt x="52" y="69"/>
                </a:lnTo>
                <a:lnTo>
                  <a:pt x="50" y="70"/>
                </a:lnTo>
                <a:lnTo>
                  <a:pt x="46" y="73"/>
                </a:lnTo>
                <a:lnTo>
                  <a:pt x="39" y="77"/>
                </a:lnTo>
                <a:lnTo>
                  <a:pt x="32" y="81"/>
                </a:lnTo>
                <a:lnTo>
                  <a:pt x="24" y="87"/>
                </a:lnTo>
                <a:lnTo>
                  <a:pt x="17" y="91"/>
                </a:lnTo>
                <a:lnTo>
                  <a:pt x="13" y="95"/>
                </a:lnTo>
                <a:lnTo>
                  <a:pt x="11" y="99"/>
                </a:lnTo>
                <a:lnTo>
                  <a:pt x="10" y="103"/>
                </a:lnTo>
                <a:lnTo>
                  <a:pt x="10" y="112"/>
                </a:lnTo>
                <a:lnTo>
                  <a:pt x="8" y="125"/>
                </a:lnTo>
                <a:lnTo>
                  <a:pt x="6" y="138"/>
                </a:lnTo>
                <a:lnTo>
                  <a:pt x="5" y="153"/>
                </a:lnTo>
                <a:lnTo>
                  <a:pt x="3" y="166"/>
                </a:lnTo>
                <a:lnTo>
                  <a:pt x="2" y="176"/>
                </a:lnTo>
                <a:lnTo>
                  <a:pt x="1" y="183"/>
                </a:lnTo>
                <a:lnTo>
                  <a:pt x="1" y="188"/>
                </a:lnTo>
                <a:lnTo>
                  <a:pt x="0" y="196"/>
                </a:lnTo>
                <a:lnTo>
                  <a:pt x="0" y="207"/>
                </a:lnTo>
                <a:lnTo>
                  <a:pt x="0" y="220"/>
                </a:lnTo>
                <a:lnTo>
                  <a:pt x="0" y="233"/>
                </a:lnTo>
                <a:lnTo>
                  <a:pt x="0" y="245"/>
                </a:lnTo>
                <a:lnTo>
                  <a:pt x="0" y="256"/>
                </a:lnTo>
                <a:lnTo>
                  <a:pt x="2" y="264"/>
                </a:lnTo>
                <a:lnTo>
                  <a:pt x="4" y="267"/>
                </a:lnTo>
                <a:lnTo>
                  <a:pt x="5" y="269"/>
                </a:lnTo>
                <a:lnTo>
                  <a:pt x="8" y="270"/>
                </a:lnTo>
                <a:lnTo>
                  <a:pt x="10" y="271"/>
                </a:lnTo>
                <a:lnTo>
                  <a:pt x="14" y="271"/>
                </a:lnTo>
                <a:lnTo>
                  <a:pt x="16" y="271"/>
                </a:lnTo>
                <a:lnTo>
                  <a:pt x="17" y="271"/>
                </a:lnTo>
                <a:lnTo>
                  <a:pt x="18" y="271"/>
                </a:lnTo>
                <a:lnTo>
                  <a:pt x="16" y="263"/>
                </a:lnTo>
                <a:lnTo>
                  <a:pt x="10" y="258"/>
                </a:lnTo>
                <a:lnTo>
                  <a:pt x="22" y="265"/>
                </a:lnTo>
                <a:lnTo>
                  <a:pt x="19" y="329"/>
                </a:lnTo>
                <a:lnTo>
                  <a:pt x="21" y="349"/>
                </a:lnTo>
                <a:lnTo>
                  <a:pt x="39" y="423"/>
                </a:lnTo>
                <a:lnTo>
                  <a:pt x="17" y="441"/>
                </a:lnTo>
                <a:lnTo>
                  <a:pt x="14" y="453"/>
                </a:lnTo>
                <a:lnTo>
                  <a:pt x="39" y="453"/>
                </a:lnTo>
                <a:lnTo>
                  <a:pt x="69" y="453"/>
                </a:lnTo>
                <a:lnTo>
                  <a:pt x="70" y="454"/>
                </a:lnTo>
                <a:lnTo>
                  <a:pt x="71" y="457"/>
                </a:lnTo>
                <a:lnTo>
                  <a:pt x="74" y="461"/>
                </a:lnTo>
                <a:lnTo>
                  <a:pt x="76" y="465"/>
                </a:lnTo>
                <a:lnTo>
                  <a:pt x="81" y="469"/>
                </a:lnTo>
                <a:lnTo>
                  <a:pt x="84" y="473"/>
                </a:lnTo>
                <a:lnTo>
                  <a:pt x="87" y="476"/>
                </a:lnTo>
                <a:lnTo>
                  <a:pt x="90" y="478"/>
                </a:lnTo>
                <a:lnTo>
                  <a:pt x="93" y="479"/>
                </a:lnTo>
                <a:lnTo>
                  <a:pt x="97" y="478"/>
                </a:lnTo>
                <a:lnTo>
                  <a:pt x="100" y="478"/>
                </a:lnTo>
                <a:lnTo>
                  <a:pt x="103" y="477"/>
                </a:lnTo>
                <a:lnTo>
                  <a:pt x="105" y="476"/>
                </a:lnTo>
                <a:lnTo>
                  <a:pt x="108" y="476"/>
                </a:lnTo>
                <a:lnTo>
                  <a:pt x="109" y="475"/>
                </a:lnTo>
                <a:lnTo>
                  <a:pt x="104" y="458"/>
                </a:lnTo>
                <a:lnTo>
                  <a:pt x="97" y="439"/>
                </a:lnTo>
                <a:lnTo>
                  <a:pt x="114" y="355"/>
                </a:lnTo>
                <a:lnTo>
                  <a:pt x="118" y="276"/>
                </a:lnTo>
                <a:lnTo>
                  <a:pt x="120" y="248"/>
                </a:lnTo>
              </a:path>
            </a:pathLst>
          </a:custGeom>
          <a:solidFill>
            <a:srgbClr val="9966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6" name="Freeform 16">
            <a:extLst>
              <a:ext uri="{FF2B5EF4-FFF2-40B4-BE49-F238E27FC236}">
                <a16:creationId xmlns:a16="http://schemas.microsoft.com/office/drawing/2014/main" id="{DEF06B4F-8459-0DF8-F10A-2F66A97C0D0C}"/>
              </a:ext>
            </a:extLst>
          </p:cNvPr>
          <p:cNvSpPr>
            <a:spLocks/>
          </p:cNvSpPr>
          <p:nvPr/>
        </p:nvSpPr>
        <p:spPr bwMode="auto">
          <a:xfrm>
            <a:off x="1665288" y="3016250"/>
            <a:ext cx="238125" cy="746125"/>
          </a:xfrm>
          <a:custGeom>
            <a:avLst/>
            <a:gdLst>
              <a:gd name="T0" fmla="*/ 2147483646 w 150"/>
              <a:gd name="T1" fmla="*/ 2147483646 h 470"/>
              <a:gd name="T2" fmla="*/ 2147483646 w 150"/>
              <a:gd name="T3" fmla="*/ 2147483646 h 470"/>
              <a:gd name="T4" fmla="*/ 2147483646 w 150"/>
              <a:gd name="T5" fmla="*/ 2147483646 h 470"/>
              <a:gd name="T6" fmla="*/ 2147483646 w 150"/>
              <a:gd name="T7" fmla="*/ 2147483646 h 470"/>
              <a:gd name="T8" fmla="*/ 2147483646 w 150"/>
              <a:gd name="T9" fmla="*/ 2147483646 h 470"/>
              <a:gd name="T10" fmla="*/ 2147483646 w 150"/>
              <a:gd name="T11" fmla="*/ 2147483646 h 470"/>
              <a:gd name="T12" fmla="*/ 2147483646 w 150"/>
              <a:gd name="T13" fmla="*/ 2147483646 h 470"/>
              <a:gd name="T14" fmla="*/ 2147483646 w 150"/>
              <a:gd name="T15" fmla="*/ 2147483646 h 470"/>
              <a:gd name="T16" fmla="*/ 2147483646 w 150"/>
              <a:gd name="T17" fmla="*/ 2147483646 h 470"/>
              <a:gd name="T18" fmla="*/ 2147483646 w 150"/>
              <a:gd name="T19" fmla="*/ 2147483646 h 470"/>
              <a:gd name="T20" fmla="*/ 2147483646 w 150"/>
              <a:gd name="T21" fmla="*/ 2147483646 h 470"/>
              <a:gd name="T22" fmla="*/ 2147483646 w 150"/>
              <a:gd name="T23" fmla="*/ 2147483646 h 470"/>
              <a:gd name="T24" fmla="*/ 2147483646 w 150"/>
              <a:gd name="T25" fmla="*/ 2147483646 h 470"/>
              <a:gd name="T26" fmla="*/ 2147483646 w 150"/>
              <a:gd name="T27" fmla="*/ 2147483646 h 470"/>
              <a:gd name="T28" fmla="*/ 2147483646 w 150"/>
              <a:gd name="T29" fmla="*/ 2147483646 h 470"/>
              <a:gd name="T30" fmla="*/ 2147483646 w 150"/>
              <a:gd name="T31" fmla="*/ 2147483646 h 470"/>
              <a:gd name="T32" fmla="*/ 2147483646 w 150"/>
              <a:gd name="T33" fmla="*/ 0 h 470"/>
              <a:gd name="T34" fmla="*/ 2147483646 w 150"/>
              <a:gd name="T35" fmla="*/ 2147483646 h 470"/>
              <a:gd name="T36" fmla="*/ 2147483646 w 150"/>
              <a:gd name="T37" fmla="*/ 2147483646 h 470"/>
              <a:gd name="T38" fmla="*/ 2147483646 w 150"/>
              <a:gd name="T39" fmla="*/ 2147483646 h 470"/>
              <a:gd name="T40" fmla="*/ 2147483646 w 150"/>
              <a:gd name="T41" fmla="*/ 2147483646 h 470"/>
              <a:gd name="T42" fmla="*/ 2147483646 w 150"/>
              <a:gd name="T43" fmla="*/ 2147483646 h 470"/>
              <a:gd name="T44" fmla="*/ 2147483646 w 150"/>
              <a:gd name="T45" fmla="*/ 2147483646 h 470"/>
              <a:gd name="T46" fmla="*/ 2147483646 w 150"/>
              <a:gd name="T47" fmla="*/ 2147483646 h 470"/>
              <a:gd name="T48" fmla="*/ 2147483646 w 150"/>
              <a:gd name="T49" fmla="*/ 2147483646 h 470"/>
              <a:gd name="T50" fmla="*/ 2147483646 w 150"/>
              <a:gd name="T51" fmla="*/ 2147483646 h 470"/>
              <a:gd name="T52" fmla="*/ 2147483646 w 150"/>
              <a:gd name="T53" fmla="*/ 2147483646 h 470"/>
              <a:gd name="T54" fmla="*/ 2147483646 w 150"/>
              <a:gd name="T55" fmla="*/ 2147483646 h 470"/>
              <a:gd name="T56" fmla="*/ 0 w 150"/>
              <a:gd name="T57" fmla="*/ 2147483646 h 470"/>
              <a:gd name="T58" fmla="*/ 0 w 150"/>
              <a:gd name="T59" fmla="*/ 2147483646 h 470"/>
              <a:gd name="T60" fmla="*/ 2147483646 w 150"/>
              <a:gd name="T61" fmla="*/ 2147483646 h 470"/>
              <a:gd name="T62" fmla="*/ 2147483646 w 150"/>
              <a:gd name="T63" fmla="*/ 2147483646 h 470"/>
              <a:gd name="T64" fmla="*/ 2147483646 w 150"/>
              <a:gd name="T65" fmla="*/ 2147483646 h 470"/>
              <a:gd name="T66" fmla="*/ 2147483646 w 150"/>
              <a:gd name="T67" fmla="*/ 2147483646 h 470"/>
              <a:gd name="T68" fmla="*/ 2147483646 w 150"/>
              <a:gd name="T69" fmla="*/ 2147483646 h 470"/>
              <a:gd name="T70" fmla="*/ 2147483646 w 150"/>
              <a:gd name="T71" fmla="*/ 2147483646 h 470"/>
              <a:gd name="T72" fmla="*/ 2147483646 w 150"/>
              <a:gd name="T73" fmla="*/ 2147483646 h 470"/>
              <a:gd name="T74" fmla="*/ 2147483646 w 150"/>
              <a:gd name="T75" fmla="*/ 2147483646 h 470"/>
              <a:gd name="T76" fmla="*/ 2147483646 w 150"/>
              <a:gd name="T77" fmla="*/ 2147483646 h 470"/>
              <a:gd name="T78" fmla="*/ 2147483646 w 150"/>
              <a:gd name="T79" fmla="*/ 2147483646 h 470"/>
              <a:gd name="T80" fmla="*/ 2147483646 w 150"/>
              <a:gd name="T81" fmla="*/ 2147483646 h 470"/>
              <a:gd name="T82" fmla="*/ 2147483646 w 150"/>
              <a:gd name="T83" fmla="*/ 2147483646 h 470"/>
              <a:gd name="T84" fmla="*/ 2147483646 w 150"/>
              <a:gd name="T85" fmla="*/ 2147483646 h 470"/>
              <a:gd name="T86" fmla="*/ 2147483646 w 150"/>
              <a:gd name="T87" fmla="*/ 2147483646 h 470"/>
              <a:gd name="T88" fmla="*/ 2147483646 w 150"/>
              <a:gd name="T89" fmla="*/ 2147483646 h 470"/>
              <a:gd name="T90" fmla="*/ 2147483646 w 150"/>
              <a:gd name="T91" fmla="*/ 2147483646 h 470"/>
              <a:gd name="T92" fmla="*/ 2147483646 w 150"/>
              <a:gd name="T93" fmla="*/ 2147483646 h 47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50" h="470">
                <a:moveTo>
                  <a:pt x="119" y="281"/>
                </a:moveTo>
                <a:lnTo>
                  <a:pt x="119" y="393"/>
                </a:lnTo>
                <a:lnTo>
                  <a:pt x="149" y="393"/>
                </a:lnTo>
                <a:lnTo>
                  <a:pt x="149" y="281"/>
                </a:lnTo>
                <a:lnTo>
                  <a:pt x="138" y="281"/>
                </a:lnTo>
                <a:lnTo>
                  <a:pt x="138" y="272"/>
                </a:lnTo>
                <a:lnTo>
                  <a:pt x="138" y="271"/>
                </a:lnTo>
                <a:lnTo>
                  <a:pt x="140" y="269"/>
                </a:lnTo>
                <a:lnTo>
                  <a:pt x="141" y="267"/>
                </a:lnTo>
                <a:lnTo>
                  <a:pt x="142" y="266"/>
                </a:lnTo>
                <a:lnTo>
                  <a:pt x="143" y="264"/>
                </a:lnTo>
                <a:lnTo>
                  <a:pt x="143" y="263"/>
                </a:lnTo>
                <a:lnTo>
                  <a:pt x="144" y="262"/>
                </a:lnTo>
                <a:lnTo>
                  <a:pt x="141" y="249"/>
                </a:lnTo>
                <a:lnTo>
                  <a:pt x="143" y="197"/>
                </a:lnTo>
                <a:lnTo>
                  <a:pt x="142" y="194"/>
                </a:lnTo>
                <a:lnTo>
                  <a:pt x="142" y="185"/>
                </a:lnTo>
                <a:lnTo>
                  <a:pt x="141" y="171"/>
                </a:lnTo>
                <a:lnTo>
                  <a:pt x="140" y="154"/>
                </a:lnTo>
                <a:lnTo>
                  <a:pt x="138" y="137"/>
                </a:lnTo>
                <a:lnTo>
                  <a:pt x="136" y="122"/>
                </a:lnTo>
                <a:lnTo>
                  <a:pt x="133" y="109"/>
                </a:lnTo>
                <a:lnTo>
                  <a:pt x="129" y="101"/>
                </a:lnTo>
                <a:lnTo>
                  <a:pt x="124" y="95"/>
                </a:lnTo>
                <a:lnTo>
                  <a:pt x="118" y="90"/>
                </a:lnTo>
                <a:lnTo>
                  <a:pt x="111" y="84"/>
                </a:lnTo>
                <a:lnTo>
                  <a:pt x="103" y="79"/>
                </a:lnTo>
                <a:lnTo>
                  <a:pt x="96" y="75"/>
                </a:lnTo>
                <a:lnTo>
                  <a:pt x="90" y="72"/>
                </a:lnTo>
                <a:lnTo>
                  <a:pt x="86" y="69"/>
                </a:lnTo>
                <a:lnTo>
                  <a:pt x="85" y="68"/>
                </a:lnTo>
                <a:lnTo>
                  <a:pt x="86" y="56"/>
                </a:lnTo>
                <a:lnTo>
                  <a:pt x="94" y="43"/>
                </a:lnTo>
                <a:lnTo>
                  <a:pt x="94" y="42"/>
                </a:lnTo>
                <a:lnTo>
                  <a:pt x="95" y="39"/>
                </a:lnTo>
                <a:lnTo>
                  <a:pt x="95" y="36"/>
                </a:lnTo>
                <a:lnTo>
                  <a:pt x="95" y="32"/>
                </a:lnTo>
                <a:lnTo>
                  <a:pt x="95" y="28"/>
                </a:lnTo>
                <a:lnTo>
                  <a:pt x="95" y="23"/>
                </a:lnTo>
                <a:lnTo>
                  <a:pt x="93" y="18"/>
                </a:lnTo>
                <a:lnTo>
                  <a:pt x="90" y="14"/>
                </a:lnTo>
                <a:lnTo>
                  <a:pt x="88" y="11"/>
                </a:lnTo>
                <a:lnTo>
                  <a:pt x="86" y="8"/>
                </a:lnTo>
                <a:lnTo>
                  <a:pt x="85" y="5"/>
                </a:lnTo>
                <a:lnTo>
                  <a:pt x="84" y="4"/>
                </a:lnTo>
                <a:lnTo>
                  <a:pt x="82" y="2"/>
                </a:lnTo>
                <a:lnTo>
                  <a:pt x="79" y="0"/>
                </a:lnTo>
                <a:lnTo>
                  <a:pt x="74" y="0"/>
                </a:lnTo>
                <a:lnTo>
                  <a:pt x="67" y="0"/>
                </a:lnTo>
                <a:lnTo>
                  <a:pt x="59" y="0"/>
                </a:lnTo>
                <a:lnTo>
                  <a:pt x="55" y="0"/>
                </a:lnTo>
                <a:lnTo>
                  <a:pt x="52" y="1"/>
                </a:lnTo>
                <a:lnTo>
                  <a:pt x="50" y="2"/>
                </a:lnTo>
                <a:lnTo>
                  <a:pt x="49" y="4"/>
                </a:lnTo>
                <a:lnTo>
                  <a:pt x="48" y="5"/>
                </a:lnTo>
                <a:lnTo>
                  <a:pt x="46" y="8"/>
                </a:lnTo>
                <a:lnTo>
                  <a:pt x="42" y="10"/>
                </a:lnTo>
                <a:lnTo>
                  <a:pt x="40" y="13"/>
                </a:lnTo>
                <a:lnTo>
                  <a:pt x="38" y="17"/>
                </a:lnTo>
                <a:lnTo>
                  <a:pt x="38" y="22"/>
                </a:lnTo>
                <a:lnTo>
                  <a:pt x="38" y="27"/>
                </a:lnTo>
                <a:lnTo>
                  <a:pt x="39" y="32"/>
                </a:lnTo>
                <a:lnTo>
                  <a:pt x="40" y="36"/>
                </a:lnTo>
                <a:lnTo>
                  <a:pt x="41" y="38"/>
                </a:lnTo>
                <a:lnTo>
                  <a:pt x="41" y="39"/>
                </a:lnTo>
                <a:lnTo>
                  <a:pt x="42" y="59"/>
                </a:lnTo>
                <a:lnTo>
                  <a:pt x="52" y="68"/>
                </a:lnTo>
                <a:lnTo>
                  <a:pt x="50" y="69"/>
                </a:lnTo>
                <a:lnTo>
                  <a:pt x="46" y="73"/>
                </a:lnTo>
                <a:lnTo>
                  <a:pt x="39" y="77"/>
                </a:lnTo>
                <a:lnTo>
                  <a:pt x="31" y="81"/>
                </a:lnTo>
                <a:lnTo>
                  <a:pt x="24" y="86"/>
                </a:lnTo>
                <a:lnTo>
                  <a:pt x="17" y="91"/>
                </a:lnTo>
                <a:lnTo>
                  <a:pt x="13" y="95"/>
                </a:lnTo>
                <a:lnTo>
                  <a:pt x="11" y="98"/>
                </a:lnTo>
                <a:lnTo>
                  <a:pt x="10" y="103"/>
                </a:lnTo>
                <a:lnTo>
                  <a:pt x="10" y="111"/>
                </a:lnTo>
                <a:lnTo>
                  <a:pt x="8" y="124"/>
                </a:lnTo>
                <a:lnTo>
                  <a:pt x="6" y="138"/>
                </a:lnTo>
                <a:lnTo>
                  <a:pt x="5" y="152"/>
                </a:lnTo>
                <a:lnTo>
                  <a:pt x="3" y="165"/>
                </a:lnTo>
                <a:lnTo>
                  <a:pt x="2" y="176"/>
                </a:lnTo>
                <a:lnTo>
                  <a:pt x="1" y="182"/>
                </a:lnTo>
                <a:lnTo>
                  <a:pt x="1" y="187"/>
                </a:lnTo>
                <a:lnTo>
                  <a:pt x="0" y="195"/>
                </a:lnTo>
                <a:lnTo>
                  <a:pt x="0" y="206"/>
                </a:lnTo>
                <a:lnTo>
                  <a:pt x="0" y="219"/>
                </a:lnTo>
                <a:lnTo>
                  <a:pt x="0" y="232"/>
                </a:lnTo>
                <a:lnTo>
                  <a:pt x="0" y="245"/>
                </a:lnTo>
                <a:lnTo>
                  <a:pt x="0" y="255"/>
                </a:lnTo>
                <a:lnTo>
                  <a:pt x="2" y="263"/>
                </a:lnTo>
                <a:lnTo>
                  <a:pt x="4" y="266"/>
                </a:lnTo>
                <a:lnTo>
                  <a:pt x="5" y="268"/>
                </a:lnTo>
                <a:lnTo>
                  <a:pt x="8" y="269"/>
                </a:lnTo>
                <a:lnTo>
                  <a:pt x="11" y="270"/>
                </a:lnTo>
                <a:lnTo>
                  <a:pt x="14" y="270"/>
                </a:lnTo>
                <a:lnTo>
                  <a:pt x="15" y="270"/>
                </a:lnTo>
                <a:lnTo>
                  <a:pt x="17" y="270"/>
                </a:lnTo>
                <a:lnTo>
                  <a:pt x="18" y="270"/>
                </a:lnTo>
                <a:lnTo>
                  <a:pt x="10" y="258"/>
                </a:lnTo>
                <a:lnTo>
                  <a:pt x="23" y="172"/>
                </a:lnTo>
                <a:lnTo>
                  <a:pt x="23" y="264"/>
                </a:lnTo>
                <a:lnTo>
                  <a:pt x="42" y="436"/>
                </a:lnTo>
                <a:lnTo>
                  <a:pt x="26" y="456"/>
                </a:lnTo>
                <a:lnTo>
                  <a:pt x="23" y="468"/>
                </a:lnTo>
                <a:lnTo>
                  <a:pt x="48" y="467"/>
                </a:lnTo>
                <a:lnTo>
                  <a:pt x="69" y="452"/>
                </a:lnTo>
                <a:lnTo>
                  <a:pt x="73" y="454"/>
                </a:lnTo>
                <a:lnTo>
                  <a:pt x="77" y="456"/>
                </a:lnTo>
                <a:lnTo>
                  <a:pt x="82" y="460"/>
                </a:lnTo>
                <a:lnTo>
                  <a:pt x="87" y="462"/>
                </a:lnTo>
                <a:lnTo>
                  <a:pt x="92" y="464"/>
                </a:lnTo>
                <a:lnTo>
                  <a:pt x="97" y="467"/>
                </a:lnTo>
                <a:lnTo>
                  <a:pt x="101" y="468"/>
                </a:lnTo>
                <a:lnTo>
                  <a:pt x="103" y="469"/>
                </a:lnTo>
                <a:lnTo>
                  <a:pt x="106" y="469"/>
                </a:lnTo>
                <a:lnTo>
                  <a:pt x="110" y="468"/>
                </a:lnTo>
                <a:lnTo>
                  <a:pt x="112" y="467"/>
                </a:lnTo>
                <a:lnTo>
                  <a:pt x="115" y="467"/>
                </a:lnTo>
                <a:lnTo>
                  <a:pt x="117" y="466"/>
                </a:lnTo>
                <a:lnTo>
                  <a:pt x="119" y="465"/>
                </a:lnTo>
                <a:lnTo>
                  <a:pt x="114" y="448"/>
                </a:lnTo>
                <a:lnTo>
                  <a:pt x="96" y="438"/>
                </a:lnTo>
                <a:lnTo>
                  <a:pt x="113" y="275"/>
                </a:lnTo>
                <a:lnTo>
                  <a:pt x="120" y="257"/>
                </a:lnTo>
                <a:lnTo>
                  <a:pt x="111" y="163"/>
                </a:lnTo>
                <a:lnTo>
                  <a:pt x="130" y="259"/>
                </a:lnTo>
                <a:lnTo>
                  <a:pt x="125" y="267"/>
                </a:lnTo>
                <a:lnTo>
                  <a:pt x="126" y="268"/>
                </a:lnTo>
                <a:lnTo>
                  <a:pt x="127" y="269"/>
                </a:lnTo>
                <a:lnTo>
                  <a:pt x="127" y="270"/>
                </a:lnTo>
                <a:lnTo>
                  <a:pt x="128" y="271"/>
                </a:lnTo>
                <a:lnTo>
                  <a:pt x="129" y="271"/>
                </a:lnTo>
                <a:lnTo>
                  <a:pt x="129" y="281"/>
                </a:lnTo>
                <a:lnTo>
                  <a:pt x="119" y="281"/>
                </a:lnTo>
              </a:path>
            </a:pathLst>
          </a:custGeom>
          <a:solidFill>
            <a:srgbClr val="00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7" name="Freeform 17">
            <a:extLst>
              <a:ext uri="{FF2B5EF4-FFF2-40B4-BE49-F238E27FC236}">
                <a16:creationId xmlns:a16="http://schemas.microsoft.com/office/drawing/2014/main" id="{9DBE7343-2EE6-FA53-5A7D-41202F71A19B}"/>
              </a:ext>
            </a:extLst>
          </p:cNvPr>
          <p:cNvSpPr>
            <a:spLocks/>
          </p:cNvSpPr>
          <p:nvPr/>
        </p:nvSpPr>
        <p:spPr bwMode="auto">
          <a:xfrm>
            <a:off x="1271588" y="3067050"/>
            <a:ext cx="233362" cy="712788"/>
          </a:xfrm>
          <a:custGeom>
            <a:avLst/>
            <a:gdLst>
              <a:gd name="T0" fmla="*/ 2147483646 w 147"/>
              <a:gd name="T1" fmla="*/ 2147483646 h 449"/>
              <a:gd name="T2" fmla="*/ 2147483646 w 147"/>
              <a:gd name="T3" fmla="*/ 2147483646 h 449"/>
              <a:gd name="T4" fmla="*/ 2147483646 w 147"/>
              <a:gd name="T5" fmla="*/ 2147483646 h 449"/>
              <a:gd name="T6" fmla="*/ 2147483646 w 147"/>
              <a:gd name="T7" fmla="*/ 2147483646 h 449"/>
              <a:gd name="T8" fmla="*/ 2147483646 w 147"/>
              <a:gd name="T9" fmla="*/ 2147483646 h 449"/>
              <a:gd name="T10" fmla="*/ 2147483646 w 147"/>
              <a:gd name="T11" fmla="*/ 2147483646 h 449"/>
              <a:gd name="T12" fmla="*/ 2147483646 w 147"/>
              <a:gd name="T13" fmla="*/ 2147483646 h 449"/>
              <a:gd name="T14" fmla="*/ 2147483646 w 147"/>
              <a:gd name="T15" fmla="*/ 2147483646 h 449"/>
              <a:gd name="T16" fmla="*/ 2147483646 w 147"/>
              <a:gd name="T17" fmla="*/ 2147483646 h 449"/>
              <a:gd name="T18" fmla="*/ 2147483646 w 147"/>
              <a:gd name="T19" fmla="*/ 2147483646 h 449"/>
              <a:gd name="T20" fmla="*/ 2147483646 w 147"/>
              <a:gd name="T21" fmla="*/ 2147483646 h 449"/>
              <a:gd name="T22" fmla="*/ 2147483646 w 147"/>
              <a:gd name="T23" fmla="*/ 2147483646 h 449"/>
              <a:gd name="T24" fmla="*/ 2147483646 w 147"/>
              <a:gd name="T25" fmla="*/ 2147483646 h 449"/>
              <a:gd name="T26" fmla="*/ 2147483646 w 147"/>
              <a:gd name="T27" fmla="*/ 2147483646 h 449"/>
              <a:gd name="T28" fmla="*/ 2147483646 w 147"/>
              <a:gd name="T29" fmla="*/ 2147483646 h 449"/>
              <a:gd name="T30" fmla="*/ 2147483646 w 147"/>
              <a:gd name="T31" fmla="*/ 2147483646 h 449"/>
              <a:gd name="T32" fmla="*/ 2147483646 w 147"/>
              <a:gd name="T33" fmla="*/ 2147483646 h 449"/>
              <a:gd name="T34" fmla="*/ 2147483646 w 147"/>
              <a:gd name="T35" fmla="*/ 2147483646 h 449"/>
              <a:gd name="T36" fmla="*/ 2147483646 w 147"/>
              <a:gd name="T37" fmla="*/ 2147483646 h 449"/>
              <a:gd name="T38" fmla="*/ 2147483646 w 147"/>
              <a:gd name="T39" fmla="*/ 2147483646 h 449"/>
              <a:gd name="T40" fmla="*/ 2147483646 w 147"/>
              <a:gd name="T41" fmla="*/ 2147483646 h 449"/>
              <a:gd name="T42" fmla="*/ 2147483646 w 147"/>
              <a:gd name="T43" fmla="*/ 2147483646 h 449"/>
              <a:gd name="T44" fmla="*/ 2147483646 w 147"/>
              <a:gd name="T45" fmla="*/ 0 h 449"/>
              <a:gd name="T46" fmla="*/ 2147483646 w 147"/>
              <a:gd name="T47" fmla="*/ 2147483646 h 449"/>
              <a:gd name="T48" fmla="*/ 2147483646 w 147"/>
              <a:gd name="T49" fmla="*/ 2147483646 h 449"/>
              <a:gd name="T50" fmla="*/ 2147483646 w 147"/>
              <a:gd name="T51" fmla="*/ 2147483646 h 449"/>
              <a:gd name="T52" fmla="*/ 2147483646 w 147"/>
              <a:gd name="T53" fmla="*/ 2147483646 h 449"/>
              <a:gd name="T54" fmla="*/ 2147483646 w 147"/>
              <a:gd name="T55" fmla="*/ 2147483646 h 449"/>
              <a:gd name="T56" fmla="*/ 2147483646 w 147"/>
              <a:gd name="T57" fmla="*/ 2147483646 h 449"/>
              <a:gd name="T58" fmla="*/ 2147483646 w 147"/>
              <a:gd name="T59" fmla="*/ 2147483646 h 449"/>
              <a:gd name="T60" fmla="*/ 0 w 147"/>
              <a:gd name="T61" fmla="*/ 2147483646 h 449"/>
              <a:gd name="T62" fmla="*/ 2147483646 w 147"/>
              <a:gd name="T63" fmla="*/ 2147483646 h 449"/>
              <a:gd name="T64" fmla="*/ 2147483646 w 147"/>
              <a:gd name="T65" fmla="*/ 2147483646 h 449"/>
              <a:gd name="T66" fmla="*/ 2147483646 w 147"/>
              <a:gd name="T67" fmla="*/ 2147483646 h 449"/>
              <a:gd name="T68" fmla="*/ 2147483646 w 147"/>
              <a:gd name="T69" fmla="*/ 2147483646 h 449"/>
              <a:gd name="T70" fmla="*/ 2147483646 w 147"/>
              <a:gd name="T71" fmla="*/ 2147483646 h 449"/>
              <a:gd name="T72" fmla="*/ 2147483646 w 147"/>
              <a:gd name="T73" fmla="*/ 2147483646 h 449"/>
              <a:gd name="T74" fmla="*/ 2147483646 w 147"/>
              <a:gd name="T75" fmla="*/ 2147483646 h 449"/>
              <a:gd name="T76" fmla="*/ 2147483646 w 147"/>
              <a:gd name="T77" fmla="*/ 2147483646 h 449"/>
              <a:gd name="T78" fmla="*/ 2147483646 w 147"/>
              <a:gd name="T79" fmla="*/ 2147483646 h 449"/>
              <a:gd name="T80" fmla="*/ 2147483646 w 147"/>
              <a:gd name="T81" fmla="*/ 2147483646 h 449"/>
              <a:gd name="T82" fmla="*/ 2147483646 w 147"/>
              <a:gd name="T83" fmla="*/ 2147483646 h 449"/>
              <a:gd name="T84" fmla="*/ 2147483646 w 147"/>
              <a:gd name="T85" fmla="*/ 2147483646 h 449"/>
              <a:gd name="T86" fmla="*/ 2147483646 w 147"/>
              <a:gd name="T87" fmla="*/ 2147483646 h 449"/>
              <a:gd name="T88" fmla="*/ 2147483646 w 147"/>
              <a:gd name="T89" fmla="*/ 2147483646 h 449"/>
              <a:gd name="T90" fmla="*/ 2147483646 w 147"/>
              <a:gd name="T91" fmla="*/ 2147483646 h 449"/>
              <a:gd name="T92" fmla="*/ 2147483646 w 147"/>
              <a:gd name="T93" fmla="*/ 2147483646 h 449"/>
              <a:gd name="T94" fmla="*/ 2147483646 w 147"/>
              <a:gd name="T95" fmla="*/ 2147483646 h 449"/>
              <a:gd name="T96" fmla="*/ 2147483646 w 147"/>
              <a:gd name="T97" fmla="*/ 2147483646 h 449"/>
              <a:gd name="T98" fmla="*/ 2147483646 w 147"/>
              <a:gd name="T99" fmla="*/ 2147483646 h 449"/>
              <a:gd name="T100" fmla="*/ 2147483646 w 147"/>
              <a:gd name="T101" fmla="*/ 2147483646 h 449"/>
              <a:gd name="T102" fmla="*/ 2147483646 w 147"/>
              <a:gd name="T103" fmla="*/ 2147483646 h 44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47" h="449">
                <a:moveTo>
                  <a:pt x="80" y="211"/>
                </a:moveTo>
                <a:lnTo>
                  <a:pt x="81" y="211"/>
                </a:lnTo>
                <a:lnTo>
                  <a:pt x="80" y="211"/>
                </a:lnTo>
                <a:lnTo>
                  <a:pt x="81" y="211"/>
                </a:lnTo>
                <a:lnTo>
                  <a:pt x="82" y="210"/>
                </a:lnTo>
                <a:lnTo>
                  <a:pt x="81" y="211"/>
                </a:lnTo>
                <a:lnTo>
                  <a:pt x="80" y="211"/>
                </a:lnTo>
                <a:lnTo>
                  <a:pt x="145" y="428"/>
                </a:lnTo>
                <a:lnTo>
                  <a:pt x="143" y="427"/>
                </a:lnTo>
                <a:lnTo>
                  <a:pt x="140" y="425"/>
                </a:lnTo>
                <a:lnTo>
                  <a:pt x="134" y="422"/>
                </a:lnTo>
                <a:lnTo>
                  <a:pt x="128" y="418"/>
                </a:lnTo>
                <a:lnTo>
                  <a:pt x="122" y="412"/>
                </a:lnTo>
                <a:lnTo>
                  <a:pt x="116" y="406"/>
                </a:lnTo>
                <a:lnTo>
                  <a:pt x="113" y="400"/>
                </a:lnTo>
                <a:lnTo>
                  <a:pt x="111" y="394"/>
                </a:lnTo>
                <a:lnTo>
                  <a:pt x="111" y="385"/>
                </a:lnTo>
                <a:lnTo>
                  <a:pt x="113" y="374"/>
                </a:lnTo>
                <a:lnTo>
                  <a:pt x="113" y="360"/>
                </a:lnTo>
                <a:lnTo>
                  <a:pt x="115" y="346"/>
                </a:lnTo>
                <a:lnTo>
                  <a:pt x="116" y="332"/>
                </a:lnTo>
                <a:lnTo>
                  <a:pt x="117" y="321"/>
                </a:lnTo>
                <a:lnTo>
                  <a:pt x="118" y="312"/>
                </a:lnTo>
                <a:lnTo>
                  <a:pt x="118" y="309"/>
                </a:lnTo>
                <a:lnTo>
                  <a:pt x="119" y="309"/>
                </a:lnTo>
                <a:lnTo>
                  <a:pt x="121" y="308"/>
                </a:lnTo>
                <a:lnTo>
                  <a:pt x="122" y="306"/>
                </a:lnTo>
                <a:lnTo>
                  <a:pt x="124" y="304"/>
                </a:lnTo>
                <a:lnTo>
                  <a:pt x="125" y="300"/>
                </a:lnTo>
                <a:lnTo>
                  <a:pt x="126" y="294"/>
                </a:lnTo>
                <a:lnTo>
                  <a:pt x="127" y="287"/>
                </a:lnTo>
                <a:lnTo>
                  <a:pt x="117" y="200"/>
                </a:lnTo>
                <a:lnTo>
                  <a:pt x="118" y="199"/>
                </a:lnTo>
                <a:lnTo>
                  <a:pt x="118" y="200"/>
                </a:lnTo>
                <a:lnTo>
                  <a:pt x="118" y="202"/>
                </a:lnTo>
                <a:lnTo>
                  <a:pt x="119" y="206"/>
                </a:lnTo>
                <a:lnTo>
                  <a:pt x="121" y="209"/>
                </a:lnTo>
                <a:lnTo>
                  <a:pt x="123" y="212"/>
                </a:lnTo>
                <a:lnTo>
                  <a:pt x="124" y="215"/>
                </a:lnTo>
                <a:lnTo>
                  <a:pt x="125" y="215"/>
                </a:lnTo>
                <a:lnTo>
                  <a:pt x="127" y="215"/>
                </a:lnTo>
                <a:lnTo>
                  <a:pt x="129" y="212"/>
                </a:lnTo>
                <a:lnTo>
                  <a:pt x="129" y="210"/>
                </a:lnTo>
                <a:lnTo>
                  <a:pt x="131" y="207"/>
                </a:lnTo>
                <a:lnTo>
                  <a:pt x="132" y="203"/>
                </a:lnTo>
                <a:lnTo>
                  <a:pt x="132" y="200"/>
                </a:lnTo>
                <a:lnTo>
                  <a:pt x="131" y="196"/>
                </a:lnTo>
                <a:lnTo>
                  <a:pt x="129" y="191"/>
                </a:lnTo>
                <a:lnTo>
                  <a:pt x="127" y="186"/>
                </a:lnTo>
                <a:lnTo>
                  <a:pt x="124" y="178"/>
                </a:lnTo>
                <a:lnTo>
                  <a:pt x="123" y="171"/>
                </a:lnTo>
                <a:lnTo>
                  <a:pt x="124" y="165"/>
                </a:lnTo>
                <a:lnTo>
                  <a:pt x="126" y="157"/>
                </a:lnTo>
                <a:lnTo>
                  <a:pt x="128" y="147"/>
                </a:lnTo>
                <a:lnTo>
                  <a:pt x="128" y="133"/>
                </a:lnTo>
                <a:lnTo>
                  <a:pt x="124" y="114"/>
                </a:lnTo>
                <a:lnTo>
                  <a:pt x="117" y="88"/>
                </a:lnTo>
                <a:lnTo>
                  <a:pt x="115" y="84"/>
                </a:lnTo>
                <a:lnTo>
                  <a:pt x="112" y="80"/>
                </a:lnTo>
                <a:lnTo>
                  <a:pt x="108" y="76"/>
                </a:lnTo>
                <a:lnTo>
                  <a:pt x="104" y="72"/>
                </a:lnTo>
                <a:lnTo>
                  <a:pt x="100" y="70"/>
                </a:lnTo>
                <a:lnTo>
                  <a:pt x="97" y="68"/>
                </a:lnTo>
                <a:lnTo>
                  <a:pt x="95" y="67"/>
                </a:lnTo>
                <a:lnTo>
                  <a:pt x="94" y="66"/>
                </a:lnTo>
                <a:lnTo>
                  <a:pt x="95" y="66"/>
                </a:lnTo>
                <a:lnTo>
                  <a:pt x="97" y="66"/>
                </a:lnTo>
                <a:lnTo>
                  <a:pt x="98" y="65"/>
                </a:lnTo>
                <a:lnTo>
                  <a:pt x="100" y="64"/>
                </a:lnTo>
                <a:lnTo>
                  <a:pt x="102" y="63"/>
                </a:lnTo>
                <a:lnTo>
                  <a:pt x="102" y="61"/>
                </a:lnTo>
                <a:lnTo>
                  <a:pt x="103" y="58"/>
                </a:lnTo>
                <a:lnTo>
                  <a:pt x="104" y="55"/>
                </a:lnTo>
                <a:lnTo>
                  <a:pt x="103" y="53"/>
                </a:lnTo>
                <a:lnTo>
                  <a:pt x="102" y="52"/>
                </a:lnTo>
                <a:lnTo>
                  <a:pt x="102" y="50"/>
                </a:lnTo>
                <a:lnTo>
                  <a:pt x="100" y="50"/>
                </a:lnTo>
                <a:lnTo>
                  <a:pt x="98" y="48"/>
                </a:lnTo>
                <a:lnTo>
                  <a:pt x="97" y="46"/>
                </a:lnTo>
                <a:lnTo>
                  <a:pt x="95" y="43"/>
                </a:lnTo>
                <a:lnTo>
                  <a:pt x="93" y="40"/>
                </a:lnTo>
                <a:lnTo>
                  <a:pt x="93" y="36"/>
                </a:lnTo>
                <a:lnTo>
                  <a:pt x="93" y="32"/>
                </a:lnTo>
                <a:lnTo>
                  <a:pt x="94" y="27"/>
                </a:lnTo>
                <a:lnTo>
                  <a:pt x="95" y="24"/>
                </a:lnTo>
                <a:lnTo>
                  <a:pt x="97" y="21"/>
                </a:lnTo>
                <a:lnTo>
                  <a:pt x="97" y="18"/>
                </a:lnTo>
                <a:lnTo>
                  <a:pt x="97" y="17"/>
                </a:lnTo>
                <a:lnTo>
                  <a:pt x="96" y="16"/>
                </a:lnTo>
                <a:lnTo>
                  <a:pt x="94" y="14"/>
                </a:lnTo>
                <a:lnTo>
                  <a:pt x="92" y="12"/>
                </a:lnTo>
                <a:lnTo>
                  <a:pt x="91" y="9"/>
                </a:lnTo>
                <a:lnTo>
                  <a:pt x="89" y="7"/>
                </a:lnTo>
                <a:lnTo>
                  <a:pt x="88" y="4"/>
                </a:lnTo>
                <a:lnTo>
                  <a:pt x="87" y="2"/>
                </a:lnTo>
                <a:lnTo>
                  <a:pt x="86" y="0"/>
                </a:lnTo>
                <a:lnTo>
                  <a:pt x="83" y="0"/>
                </a:lnTo>
                <a:lnTo>
                  <a:pt x="79" y="0"/>
                </a:lnTo>
                <a:lnTo>
                  <a:pt x="74" y="0"/>
                </a:lnTo>
                <a:lnTo>
                  <a:pt x="69" y="0"/>
                </a:lnTo>
                <a:lnTo>
                  <a:pt x="64" y="1"/>
                </a:lnTo>
                <a:lnTo>
                  <a:pt x="59" y="2"/>
                </a:lnTo>
                <a:lnTo>
                  <a:pt x="55" y="4"/>
                </a:lnTo>
                <a:lnTo>
                  <a:pt x="53" y="5"/>
                </a:lnTo>
                <a:lnTo>
                  <a:pt x="49" y="8"/>
                </a:lnTo>
                <a:lnTo>
                  <a:pt x="47" y="12"/>
                </a:lnTo>
                <a:lnTo>
                  <a:pt x="44" y="17"/>
                </a:lnTo>
                <a:lnTo>
                  <a:pt x="42" y="22"/>
                </a:lnTo>
                <a:lnTo>
                  <a:pt x="39" y="28"/>
                </a:lnTo>
                <a:lnTo>
                  <a:pt x="37" y="33"/>
                </a:lnTo>
                <a:lnTo>
                  <a:pt x="36" y="39"/>
                </a:lnTo>
                <a:lnTo>
                  <a:pt x="34" y="43"/>
                </a:lnTo>
                <a:lnTo>
                  <a:pt x="32" y="47"/>
                </a:lnTo>
                <a:lnTo>
                  <a:pt x="30" y="51"/>
                </a:lnTo>
                <a:lnTo>
                  <a:pt x="28" y="54"/>
                </a:lnTo>
                <a:lnTo>
                  <a:pt x="26" y="56"/>
                </a:lnTo>
                <a:lnTo>
                  <a:pt x="24" y="58"/>
                </a:lnTo>
                <a:lnTo>
                  <a:pt x="23" y="59"/>
                </a:lnTo>
                <a:lnTo>
                  <a:pt x="28" y="63"/>
                </a:lnTo>
                <a:lnTo>
                  <a:pt x="28" y="64"/>
                </a:lnTo>
                <a:lnTo>
                  <a:pt x="30" y="65"/>
                </a:lnTo>
                <a:lnTo>
                  <a:pt x="31" y="66"/>
                </a:lnTo>
                <a:lnTo>
                  <a:pt x="32" y="67"/>
                </a:lnTo>
                <a:lnTo>
                  <a:pt x="33" y="69"/>
                </a:lnTo>
                <a:lnTo>
                  <a:pt x="32" y="71"/>
                </a:lnTo>
                <a:lnTo>
                  <a:pt x="31" y="73"/>
                </a:lnTo>
                <a:lnTo>
                  <a:pt x="28" y="76"/>
                </a:lnTo>
                <a:lnTo>
                  <a:pt x="23" y="80"/>
                </a:lnTo>
                <a:lnTo>
                  <a:pt x="19" y="88"/>
                </a:lnTo>
                <a:lnTo>
                  <a:pt x="14" y="98"/>
                </a:lnTo>
                <a:lnTo>
                  <a:pt x="10" y="110"/>
                </a:lnTo>
                <a:lnTo>
                  <a:pt x="5" y="122"/>
                </a:lnTo>
                <a:lnTo>
                  <a:pt x="2" y="131"/>
                </a:lnTo>
                <a:lnTo>
                  <a:pt x="0" y="139"/>
                </a:lnTo>
                <a:lnTo>
                  <a:pt x="0" y="143"/>
                </a:lnTo>
                <a:lnTo>
                  <a:pt x="0" y="146"/>
                </a:lnTo>
                <a:lnTo>
                  <a:pt x="0" y="152"/>
                </a:lnTo>
                <a:lnTo>
                  <a:pt x="2" y="160"/>
                </a:lnTo>
                <a:lnTo>
                  <a:pt x="4" y="169"/>
                </a:lnTo>
                <a:lnTo>
                  <a:pt x="6" y="177"/>
                </a:lnTo>
                <a:lnTo>
                  <a:pt x="10" y="185"/>
                </a:lnTo>
                <a:lnTo>
                  <a:pt x="13" y="191"/>
                </a:lnTo>
                <a:lnTo>
                  <a:pt x="18" y="193"/>
                </a:lnTo>
                <a:lnTo>
                  <a:pt x="17" y="204"/>
                </a:lnTo>
                <a:lnTo>
                  <a:pt x="16" y="219"/>
                </a:lnTo>
                <a:lnTo>
                  <a:pt x="15" y="236"/>
                </a:lnTo>
                <a:lnTo>
                  <a:pt x="14" y="256"/>
                </a:lnTo>
                <a:lnTo>
                  <a:pt x="13" y="274"/>
                </a:lnTo>
                <a:lnTo>
                  <a:pt x="12" y="288"/>
                </a:lnTo>
                <a:lnTo>
                  <a:pt x="12" y="299"/>
                </a:lnTo>
                <a:lnTo>
                  <a:pt x="12" y="302"/>
                </a:lnTo>
                <a:lnTo>
                  <a:pt x="13" y="303"/>
                </a:lnTo>
                <a:lnTo>
                  <a:pt x="15" y="304"/>
                </a:lnTo>
                <a:lnTo>
                  <a:pt x="18" y="307"/>
                </a:lnTo>
                <a:lnTo>
                  <a:pt x="21" y="308"/>
                </a:lnTo>
                <a:lnTo>
                  <a:pt x="26" y="311"/>
                </a:lnTo>
                <a:lnTo>
                  <a:pt x="28" y="312"/>
                </a:lnTo>
                <a:lnTo>
                  <a:pt x="31" y="312"/>
                </a:lnTo>
                <a:lnTo>
                  <a:pt x="32" y="309"/>
                </a:lnTo>
                <a:lnTo>
                  <a:pt x="32" y="312"/>
                </a:lnTo>
                <a:lnTo>
                  <a:pt x="33" y="315"/>
                </a:lnTo>
                <a:lnTo>
                  <a:pt x="34" y="319"/>
                </a:lnTo>
                <a:lnTo>
                  <a:pt x="36" y="324"/>
                </a:lnTo>
                <a:lnTo>
                  <a:pt x="37" y="329"/>
                </a:lnTo>
                <a:lnTo>
                  <a:pt x="39" y="333"/>
                </a:lnTo>
                <a:lnTo>
                  <a:pt x="40" y="336"/>
                </a:lnTo>
                <a:lnTo>
                  <a:pt x="40" y="337"/>
                </a:lnTo>
                <a:lnTo>
                  <a:pt x="40" y="338"/>
                </a:lnTo>
                <a:lnTo>
                  <a:pt x="39" y="339"/>
                </a:lnTo>
                <a:lnTo>
                  <a:pt x="39" y="342"/>
                </a:lnTo>
                <a:lnTo>
                  <a:pt x="38" y="344"/>
                </a:lnTo>
                <a:lnTo>
                  <a:pt x="37" y="346"/>
                </a:lnTo>
                <a:lnTo>
                  <a:pt x="37" y="350"/>
                </a:lnTo>
                <a:lnTo>
                  <a:pt x="37" y="355"/>
                </a:lnTo>
                <a:lnTo>
                  <a:pt x="37" y="360"/>
                </a:lnTo>
                <a:lnTo>
                  <a:pt x="37" y="367"/>
                </a:lnTo>
                <a:lnTo>
                  <a:pt x="39" y="375"/>
                </a:lnTo>
                <a:lnTo>
                  <a:pt x="41" y="382"/>
                </a:lnTo>
                <a:lnTo>
                  <a:pt x="43" y="389"/>
                </a:lnTo>
                <a:lnTo>
                  <a:pt x="45" y="396"/>
                </a:lnTo>
                <a:lnTo>
                  <a:pt x="46" y="400"/>
                </a:lnTo>
                <a:lnTo>
                  <a:pt x="47" y="401"/>
                </a:lnTo>
                <a:lnTo>
                  <a:pt x="39" y="416"/>
                </a:lnTo>
                <a:lnTo>
                  <a:pt x="42" y="440"/>
                </a:lnTo>
                <a:lnTo>
                  <a:pt x="43" y="442"/>
                </a:lnTo>
                <a:lnTo>
                  <a:pt x="45" y="443"/>
                </a:lnTo>
                <a:lnTo>
                  <a:pt x="48" y="445"/>
                </a:lnTo>
                <a:lnTo>
                  <a:pt x="50" y="446"/>
                </a:lnTo>
                <a:lnTo>
                  <a:pt x="53" y="448"/>
                </a:lnTo>
                <a:lnTo>
                  <a:pt x="55" y="448"/>
                </a:lnTo>
                <a:lnTo>
                  <a:pt x="58" y="446"/>
                </a:lnTo>
                <a:lnTo>
                  <a:pt x="59" y="444"/>
                </a:lnTo>
                <a:lnTo>
                  <a:pt x="61" y="441"/>
                </a:lnTo>
                <a:lnTo>
                  <a:pt x="63" y="439"/>
                </a:lnTo>
                <a:lnTo>
                  <a:pt x="64" y="435"/>
                </a:lnTo>
                <a:lnTo>
                  <a:pt x="64" y="433"/>
                </a:lnTo>
                <a:lnTo>
                  <a:pt x="64" y="431"/>
                </a:lnTo>
                <a:lnTo>
                  <a:pt x="65" y="429"/>
                </a:lnTo>
                <a:lnTo>
                  <a:pt x="65" y="428"/>
                </a:lnTo>
                <a:lnTo>
                  <a:pt x="59" y="397"/>
                </a:lnTo>
                <a:lnTo>
                  <a:pt x="69" y="336"/>
                </a:lnTo>
                <a:lnTo>
                  <a:pt x="71" y="324"/>
                </a:lnTo>
                <a:lnTo>
                  <a:pt x="84" y="324"/>
                </a:lnTo>
                <a:lnTo>
                  <a:pt x="84" y="325"/>
                </a:lnTo>
                <a:lnTo>
                  <a:pt x="84" y="326"/>
                </a:lnTo>
                <a:lnTo>
                  <a:pt x="84" y="329"/>
                </a:lnTo>
                <a:lnTo>
                  <a:pt x="84" y="333"/>
                </a:lnTo>
                <a:lnTo>
                  <a:pt x="84" y="338"/>
                </a:lnTo>
                <a:lnTo>
                  <a:pt x="85" y="343"/>
                </a:lnTo>
                <a:lnTo>
                  <a:pt x="86" y="349"/>
                </a:lnTo>
                <a:lnTo>
                  <a:pt x="86" y="355"/>
                </a:lnTo>
                <a:lnTo>
                  <a:pt x="87" y="362"/>
                </a:lnTo>
                <a:lnTo>
                  <a:pt x="89" y="369"/>
                </a:lnTo>
                <a:lnTo>
                  <a:pt x="91" y="377"/>
                </a:lnTo>
                <a:lnTo>
                  <a:pt x="92" y="384"/>
                </a:lnTo>
                <a:lnTo>
                  <a:pt x="94" y="390"/>
                </a:lnTo>
                <a:lnTo>
                  <a:pt x="95" y="395"/>
                </a:lnTo>
                <a:lnTo>
                  <a:pt x="96" y="398"/>
                </a:lnTo>
                <a:lnTo>
                  <a:pt x="96" y="400"/>
                </a:lnTo>
                <a:lnTo>
                  <a:pt x="94" y="427"/>
                </a:lnTo>
                <a:lnTo>
                  <a:pt x="102" y="430"/>
                </a:lnTo>
                <a:lnTo>
                  <a:pt x="102" y="426"/>
                </a:lnTo>
                <a:lnTo>
                  <a:pt x="104" y="426"/>
                </a:lnTo>
                <a:lnTo>
                  <a:pt x="107" y="428"/>
                </a:lnTo>
                <a:lnTo>
                  <a:pt x="109" y="430"/>
                </a:lnTo>
                <a:lnTo>
                  <a:pt x="113" y="431"/>
                </a:lnTo>
                <a:lnTo>
                  <a:pt x="116" y="433"/>
                </a:lnTo>
                <a:lnTo>
                  <a:pt x="119" y="435"/>
                </a:lnTo>
                <a:lnTo>
                  <a:pt x="124" y="436"/>
                </a:lnTo>
                <a:lnTo>
                  <a:pt x="127" y="438"/>
                </a:lnTo>
                <a:lnTo>
                  <a:pt x="131" y="439"/>
                </a:lnTo>
                <a:lnTo>
                  <a:pt x="135" y="439"/>
                </a:lnTo>
                <a:lnTo>
                  <a:pt x="138" y="439"/>
                </a:lnTo>
                <a:lnTo>
                  <a:pt x="141" y="438"/>
                </a:lnTo>
                <a:lnTo>
                  <a:pt x="144" y="437"/>
                </a:lnTo>
                <a:lnTo>
                  <a:pt x="146" y="437"/>
                </a:lnTo>
                <a:lnTo>
                  <a:pt x="146" y="436"/>
                </a:lnTo>
                <a:lnTo>
                  <a:pt x="145" y="428"/>
                </a:lnTo>
                <a:lnTo>
                  <a:pt x="80" y="211"/>
                </a:lnTo>
              </a:path>
            </a:pathLst>
          </a:custGeom>
          <a:solidFill>
            <a:srgbClr val="0099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8" name="Freeform 18">
            <a:extLst>
              <a:ext uri="{FF2B5EF4-FFF2-40B4-BE49-F238E27FC236}">
                <a16:creationId xmlns:a16="http://schemas.microsoft.com/office/drawing/2014/main" id="{C3BA8513-2BEE-CC16-C067-3E54F132A34C}"/>
              </a:ext>
            </a:extLst>
          </p:cNvPr>
          <p:cNvSpPr>
            <a:spLocks/>
          </p:cNvSpPr>
          <p:nvPr/>
        </p:nvSpPr>
        <p:spPr bwMode="auto">
          <a:xfrm>
            <a:off x="1341438" y="3127375"/>
            <a:ext cx="242887" cy="760413"/>
          </a:xfrm>
          <a:custGeom>
            <a:avLst/>
            <a:gdLst>
              <a:gd name="T0" fmla="*/ 2147483646 w 153"/>
              <a:gd name="T1" fmla="*/ 2147483646 h 479"/>
              <a:gd name="T2" fmla="*/ 2147483646 w 153"/>
              <a:gd name="T3" fmla="*/ 2147483646 h 479"/>
              <a:gd name="T4" fmla="*/ 0 w 153"/>
              <a:gd name="T5" fmla="*/ 2147483646 h 479"/>
              <a:gd name="T6" fmla="*/ 2147483646 w 153"/>
              <a:gd name="T7" fmla="*/ 2147483646 h 479"/>
              <a:gd name="T8" fmla="*/ 2147483646 w 153"/>
              <a:gd name="T9" fmla="*/ 2147483646 h 479"/>
              <a:gd name="T10" fmla="*/ 2147483646 w 153"/>
              <a:gd name="T11" fmla="*/ 2147483646 h 479"/>
              <a:gd name="T12" fmla="*/ 2147483646 w 153"/>
              <a:gd name="T13" fmla="*/ 2147483646 h 479"/>
              <a:gd name="T14" fmla="*/ 2147483646 w 153"/>
              <a:gd name="T15" fmla="*/ 2147483646 h 479"/>
              <a:gd name="T16" fmla="*/ 2147483646 w 153"/>
              <a:gd name="T17" fmla="*/ 2147483646 h 479"/>
              <a:gd name="T18" fmla="*/ 2147483646 w 153"/>
              <a:gd name="T19" fmla="*/ 2147483646 h 479"/>
              <a:gd name="T20" fmla="*/ 2147483646 w 153"/>
              <a:gd name="T21" fmla="*/ 2147483646 h 479"/>
              <a:gd name="T22" fmla="*/ 2147483646 w 153"/>
              <a:gd name="T23" fmla="*/ 2147483646 h 479"/>
              <a:gd name="T24" fmla="*/ 2147483646 w 153"/>
              <a:gd name="T25" fmla="*/ 2147483646 h 479"/>
              <a:gd name="T26" fmla="*/ 2147483646 w 153"/>
              <a:gd name="T27" fmla="*/ 2147483646 h 479"/>
              <a:gd name="T28" fmla="*/ 2147483646 w 153"/>
              <a:gd name="T29" fmla="*/ 2147483646 h 479"/>
              <a:gd name="T30" fmla="*/ 2147483646 w 153"/>
              <a:gd name="T31" fmla="*/ 2147483646 h 479"/>
              <a:gd name="T32" fmla="*/ 2147483646 w 153"/>
              <a:gd name="T33" fmla="*/ 2147483646 h 479"/>
              <a:gd name="T34" fmla="*/ 2147483646 w 153"/>
              <a:gd name="T35" fmla="*/ 2147483646 h 479"/>
              <a:gd name="T36" fmla="*/ 2147483646 w 153"/>
              <a:gd name="T37" fmla="*/ 0 h 479"/>
              <a:gd name="T38" fmla="*/ 2147483646 w 153"/>
              <a:gd name="T39" fmla="*/ 0 h 479"/>
              <a:gd name="T40" fmla="*/ 2147483646 w 153"/>
              <a:gd name="T41" fmla="*/ 0 h 479"/>
              <a:gd name="T42" fmla="*/ 2147483646 w 153"/>
              <a:gd name="T43" fmla="*/ 2147483646 h 479"/>
              <a:gd name="T44" fmla="*/ 2147483646 w 153"/>
              <a:gd name="T45" fmla="*/ 2147483646 h 479"/>
              <a:gd name="T46" fmla="*/ 2147483646 w 153"/>
              <a:gd name="T47" fmla="*/ 2147483646 h 479"/>
              <a:gd name="T48" fmla="*/ 2147483646 w 153"/>
              <a:gd name="T49" fmla="*/ 2147483646 h 479"/>
              <a:gd name="T50" fmla="*/ 2147483646 w 153"/>
              <a:gd name="T51" fmla="*/ 2147483646 h 479"/>
              <a:gd name="T52" fmla="*/ 2147483646 w 153"/>
              <a:gd name="T53" fmla="*/ 2147483646 h 479"/>
              <a:gd name="T54" fmla="*/ 2147483646 w 153"/>
              <a:gd name="T55" fmla="*/ 2147483646 h 479"/>
              <a:gd name="T56" fmla="*/ 2147483646 w 153"/>
              <a:gd name="T57" fmla="*/ 2147483646 h 479"/>
              <a:gd name="T58" fmla="*/ 2147483646 w 153"/>
              <a:gd name="T59" fmla="*/ 2147483646 h 479"/>
              <a:gd name="T60" fmla="*/ 2147483646 w 153"/>
              <a:gd name="T61" fmla="*/ 2147483646 h 479"/>
              <a:gd name="T62" fmla="*/ 2147483646 w 153"/>
              <a:gd name="T63" fmla="*/ 2147483646 h 479"/>
              <a:gd name="T64" fmla="*/ 2147483646 w 153"/>
              <a:gd name="T65" fmla="*/ 2147483646 h 479"/>
              <a:gd name="T66" fmla="*/ 2147483646 w 153"/>
              <a:gd name="T67" fmla="*/ 2147483646 h 479"/>
              <a:gd name="T68" fmla="*/ 2147483646 w 153"/>
              <a:gd name="T69" fmla="*/ 2147483646 h 479"/>
              <a:gd name="T70" fmla="*/ 2147483646 w 153"/>
              <a:gd name="T71" fmla="*/ 2147483646 h 479"/>
              <a:gd name="T72" fmla="*/ 2147483646 w 153"/>
              <a:gd name="T73" fmla="*/ 2147483646 h 479"/>
              <a:gd name="T74" fmla="*/ 2147483646 w 153"/>
              <a:gd name="T75" fmla="*/ 2147483646 h 479"/>
              <a:gd name="T76" fmla="*/ 2147483646 w 153"/>
              <a:gd name="T77" fmla="*/ 2147483646 h 479"/>
              <a:gd name="T78" fmla="*/ 2147483646 w 153"/>
              <a:gd name="T79" fmla="*/ 2147483646 h 479"/>
              <a:gd name="T80" fmla="*/ 2147483646 w 153"/>
              <a:gd name="T81" fmla="*/ 2147483646 h 479"/>
              <a:gd name="T82" fmla="*/ 2147483646 w 153"/>
              <a:gd name="T83" fmla="*/ 2147483646 h 479"/>
              <a:gd name="T84" fmla="*/ 2147483646 w 153"/>
              <a:gd name="T85" fmla="*/ 2147483646 h 479"/>
              <a:gd name="T86" fmla="*/ 2147483646 w 153"/>
              <a:gd name="T87" fmla="*/ 2147483646 h 479"/>
              <a:gd name="T88" fmla="*/ 2147483646 w 153"/>
              <a:gd name="T89" fmla="*/ 2147483646 h 479"/>
              <a:gd name="T90" fmla="*/ 2147483646 w 153"/>
              <a:gd name="T91" fmla="*/ 2147483646 h 479"/>
              <a:gd name="T92" fmla="*/ 2147483646 w 153"/>
              <a:gd name="T93" fmla="*/ 2147483646 h 479"/>
              <a:gd name="T94" fmla="*/ 2147483646 w 153"/>
              <a:gd name="T95" fmla="*/ 2147483646 h 479"/>
              <a:gd name="T96" fmla="*/ 2147483646 w 153"/>
              <a:gd name="T97" fmla="*/ 2147483646 h 479"/>
              <a:gd name="T98" fmla="*/ 2147483646 w 153"/>
              <a:gd name="T99" fmla="*/ 2147483646 h 479"/>
              <a:gd name="T100" fmla="*/ 2147483646 w 153"/>
              <a:gd name="T101" fmla="*/ 2147483646 h 479"/>
              <a:gd name="T102" fmla="*/ 2147483646 w 153"/>
              <a:gd name="T103" fmla="*/ 2147483646 h 479"/>
              <a:gd name="T104" fmla="*/ 2147483646 w 153"/>
              <a:gd name="T105" fmla="*/ 2147483646 h 479"/>
              <a:gd name="T106" fmla="*/ 2147483646 w 153"/>
              <a:gd name="T107" fmla="*/ 2147483646 h 479"/>
              <a:gd name="T108" fmla="*/ 2147483646 w 153"/>
              <a:gd name="T109" fmla="*/ 2147483646 h 479"/>
              <a:gd name="T110" fmla="*/ 2147483646 w 153"/>
              <a:gd name="T111" fmla="*/ 2147483646 h 479"/>
              <a:gd name="T112" fmla="*/ 2147483646 w 153"/>
              <a:gd name="T113" fmla="*/ 2147483646 h 479"/>
              <a:gd name="T114" fmla="*/ 2147483646 w 153"/>
              <a:gd name="T115" fmla="*/ 2147483646 h 479"/>
              <a:gd name="T116" fmla="*/ 2147483646 w 153"/>
              <a:gd name="T117" fmla="*/ 2147483646 h 479"/>
              <a:gd name="T118" fmla="*/ 2147483646 w 153"/>
              <a:gd name="T119" fmla="*/ 2147483646 h 47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53" h="479">
                <a:moveTo>
                  <a:pt x="31" y="247"/>
                </a:moveTo>
                <a:lnTo>
                  <a:pt x="28" y="269"/>
                </a:lnTo>
                <a:lnTo>
                  <a:pt x="9" y="243"/>
                </a:lnTo>
                <a:lnTo>
                  <a:pt x="13" y="197"/>
                </a:lnTo>
                <a:lnTo>
                  <a:pt x="0" y="164"/>
                </a:lnTo>
                <a:lnTo>
                  <a:pt x="0" y="161"/>
                </a:lnTo>
                <a:lnTo>
                  <a:pt x="1" y="156"/>
                </a:lnTo>
                <a:lnTo>
                  <a:pt x="4" y="147"/>
                </a:lnTo>
                <a:lnTo>
                  <a:pt x="6" y="138"/>
                </a:lnTo>
                <a:lnTo>
                  <a:pt x="10" y="126"/>
                </a:lnTo>
                <a:lnTo>
                  <a:pt x="13" y="117"/>
                </a:lnTo>
                <a:lnTo>
                  <a:pt x="17" y="107"/>
                </a:lnTo>
                <a:lnTo>
                  <a:pt x="21" y="100"/>
                </a:lnTo>
                <a:lnTo>
                  <a:pt x="27" y="95"/>
                </a:lnTo>
                <a:lnTo>
                  <a:pt x="32" y="90"/>
                </a:lnTo>
                <a:lnTo>
                  <a:pt x="40" y="84"/>
                </a:lnTo>
                <a:lnTo>
                  <a:pt x="48" y="79"/>
                </a:lnTo>
                <a:lnTo>
                  <a:pt x="54" y="74"/>
                </a:lnTo>
                <a:lnTo>
                  <a:pt x="60" y="71"/>
                </a:lnTo>
                <a:lnTo>
                  <a:pt x="65" y="69"/>
                </a:lnTo>
                <a:lnTo>
                  <a:pt x="65" y="68"/>
                </a:lnTo>
                <a:lnTo>
                  <a:pt x="65" y="56"/>
                </a:lnTo>
                <a:lnTo>
                  <a:pt x="57" y="42"/>
                </a:lnTo>
                <a:lnTo>
                  <a:pt x="56" y="39"/>
                </a:lnTo>
                <a:lnTo>
                  <a:pt x="56" y="36"/>
                </a:lnTo>
                <a:lnTo>
                  <a:pt x="55" y="32"/>
                </a:lnTo>
                <a:lnTo>
                  <a:pt x="55" y="27"/>
                </a:lnTo>
                <a:lnTo>
                  <a:pt x="56" y="22"/>
                </a:lnTo>
                <a:lnTo>
                  <a:pt x="58" y="18"/>
                </a:lnTo>
                <a:lnTo>
                  <a:pt x="60" y="13"/>
                </a:lnTo>
                <a:lnTo>
                  <a:pt x="63" y="10"/>
                </a:lnTo>
                <a:lnTo>
                  <a:pt x="65" y="8"/>
                </a:lnTo>
                <a:lnTo>
                  <a:pt x="65" y="4"/>
                </a:lnTo>
                <a:lnTo>
                  <a:pt x="67" y="3"/>
                </a:lnTo>
                <a:lnTo>
                  <a:pt x="69" y="1"/>
                </a:lnTo>
                <a:lnTo>
                  <a:pt x="72" y="0"/>
                </a:lnTo>
                <a:lnTo>
                  <a:pt x="76" y="0"/>
                </a:lnTo>
                <a:lnTo>
                  <a:pt x="84" y="0"/>
                </a:lnTo>
                <a:lnTo>
                  <a:pt x="92" y="0"/>
                </a:lnTo>
                <a:lnTo>
                  <a:pt x="96" y="0"/>
                </a:lnTo>
                <a:lnTo>
                  <a:pt x="99" y="0"/>
                </a:lnTo>
                <a:lnTo>
                  <a:pt x="101" y="1"/>
                </a:lnTo>
                <a:lnTo>
                  <a:pt x="102" y="3"/>
                </a:lnTo>
                <a:lnTo>
                  <a:pt x="103" y="4"/>
                </a:lnTo>
                <a:lnTo>
                  <a:pt x="105" y="7"/>
                </a:lnTo>
                <a:lnTo>
                  <a:pt x="108" y="10"/>
                </a:lnTo>
                <a:lnTo>
                  <a:pt x="111" y="13"/>
                </a:lnTo>
                <a:lnTo>
                  <a:pt x="113" y="17"/>
                </a:lnTo>
                <a:lnTo>
                  <a:pt x="113" y="22"/>
                </a:lnTo>
                <a:lnTo>
                  <a:pt x="113" y="27"/>
                </a:lnTo>
                <a:lnTo>
                  <a:pt x="112" y="31"/>
                </a:lnTo>
                <a:lnTo>
                  <a:pt x="111" y="35"/>
                </a:lnTo>
                <a:lnTo>
                  <a:pt x="110" y="38"/>
                </a:lnTo>
                <a:lnTo>
                  <a:pt x="110" y="39"/>
                </a:lnTo>
                <a:lnTo>
                  <a:pt x="100" y="60"/>
                </a:lnTo>
                <a:lnTo>
                  <a:pt x="99" y="68"/>
                </a:lnTo>
                <a:lnTo>
                  <a:pt x="101" y="69"/>
                </a:lnTo>
                <a:lnTo>
                  <a:pt x="105" y="72"/>
                </a:lnTo>
                <a:lnTo>
                  <a:pt x="112" y="76"/>
                </a:lnTo>
                <a:lnTo>
                  <a:pt x="119" y="81"/>
                </a:lnTo>
                <a:lnTo>
                  <a:pt x="127" y="86"/>
                </a:lnTo>
                <a:lnTo>
                  <a:pt x="134" y="91"/>
                </a:lnTo>
                <a:lnTo>
                  <a:pt x="138" y="95"/>
                </a:lnTo>
                <a:lnTo>
                  <a:pt x="140" y="97"/>
                </a:lnTo>
                <a:lnTo>
                  <a:pt x="141" y="102"/>
                </a:lnTo>
                <a:lnTo>
                  <a:pt x="141" y="111"/>
                </a:lnTo>
                <a:lnTo>
                  <a:pt x="143" y="124"/>
                </a:lnTo>
                <a:lnTo>
                  <a:pt x="145" y="138"/>
                </a:lnTo>
                <a:lnTo>
                  <a:pt x="146" y="152"/>
                </a:lnTo>
                <a:lnTo>
                  <a:pt x="148" y="165"/>
                </a:lnTo>
                <a:lnTo>
                  <a:pt x="149" y="176"/>
                </a:lnTo>
                <a:lnTo>
                  <a:pt x="150" y="182"/>
                </a:lnTo>
                <a:lnTo>
                  <a:pt x="150" y="186"/>
                </a:lnTo>
                <a:lnTo>
                  <a:pt x="151" y="195"/>
                </a:lnTo>
                <a:lnTo>
                  <a:pt x="151" y="206"/>
                </a:lnTo>
                <a:lnTo>
                  <a:pt x="152" y="219"/>
                </a:lnTo>
                <a:lnTo>
                  <a:pt x="152" y="232"/>
                </a:lnTo>
                <a:lnTo>
                  <a:pt x="152" y="244"/>
                </a:lnTo>
                <a:lnTo>
                  <a:pt x="151" y="255"/>
                </a:lnTo>
                <a:lnTo>
                  <a:pt x="149" y="263"/>
                </a:lnTo>
                <a:lnTo>
                  <a:pt x="147" y="266"/>
                </a:lnTo>
                <a:lnTo>
                  <a:pt x="146" y="268"/>
                </a:lnTo>
                <a:lnTo>
                  <a:pt x="143" y="269"/>
                </a:lnTo>
                <a:lnTo>
                  <a:pt x="140" y="269"/>
                </a:lnTo>
                <a:lnTo>
                  <a:pt x="137" y="270"/>
                </a:lnTo>
                <a:lnTo>
                  <a:pt x="135" y="269"/>
                </a:lnTo>
                <a:lnTo>
                  <a:pt x="134" y="269"/>
                </a:lnTo>
                <a:lnTo>
                  <a:pt x="133" y="269"/>
                </a:lnTo>
                <a:lnTo>
                  <a:pt x="135" y="263"/>
                </a:lnTo>
                <a:lnTo>
                  <a:pt x="141" y="257"/>
                </a:lnTo>
                <a:lnTo>
                  <a:pt x="129" y="264"/>
                </a:lnTo>
                <a:lnTo>
                  <a:pt x="132" y="328"/>
                </a:lnTo>
                <a:lnTo>
                  <a:pt x="130" y="348"/>
                </a:lnTo>
                <a:lnTo>
                  <a:pt x="112" y="422"/>
                </a:lnTo>
                <a:lnTo>
                  <a:pt x="134" y="441"/>
                </a:lnTo>
                <a:lnTo>
                  <a:pt x="137" y="453"/>
                </a:lnTo>
                <a:lnTo>
                  <a:pt x="112" y="451"/>
                </a:lnTo>
                <a:lnTo>
                  <a:pt x="82" y="452"/>
                </a:lnTo>
                <a:lnTo>
                  <a:pt x="81" y="453"/>
                </a:lnTo>
                <a:lnTo>
                  <a:pt x="80" y="456"/>
                </a:lnTo>
                <a:lnTo>
                  <a:pt x="77" y="460"/>
                </a:lnTo>
                <a:lnTo>
                  <a:pt x="74" y="464"/>
                </a:lnTo>
                <a:lnTo>
                  <a:pt x="70" y="469"/>
                </a:lnTo>
                <a:lnTo>
                  <a:pt x="67" y="473"/>
                </a:lnTo>
                <a:lnTo>
                  <a:pt x="64" y="476"/>
                </a:lnTo>
                <a:lnTo>
                  <a:pt x="60" y="478"/>
                </a:lnTo>
                <a:lnTo>
                  <a:pt x="58" y="478"/>
                </a:lnTo>
                <a:lnTo>
                  <a:pt x="54" y="478"/>
                </a:lnTo>
                <a:lnTo>
                  <a:pt x="51" y="477"/>
                </a:lnTo>
                <a:lnTo>
                  <a:pt x="48" y="477"/>
                </a:lnTo>
                <a:lnTo>
                  <a:pt x="46" y="476"/>
                </a:lnTo>
                <a:lnTo>
                  <a:pt x="43" y="475"/>
                </a:lnTo>
                <a:lnTo>
                  <a:pt x="42" y="475"/>
                </a:lnTo>
                <a:lnTo>
                  <a:pt x="42" y="474"/>
                </a:lnTo>
                <a:lnTo>
                  <a:pt x="47" y="457"/>
                </a:lnTo>
                <a:lnTo>
                  <a:pt x="54" y="438"/>
                </a:lnTo>
                <a:lnTo>
                  <a:pt x="37" y="355"/>
                </a:lnTo>
                <a:lnTo>
                  <a:pt x="33" y="276"/>
                </a:lnTo>
                <a:lnTo>
                  <a:pt x="31" y="247"/>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9" name="Freeform 19">
            <a:extLst>
              <a:ext uri="{FF2B5EF4-FFF2-40B4-BE49-F238E27FC236}">
                <a16:creationId xmlns:a16="http://schemas.microsoft.com/office/drawing/2014/main" id="{7A9069EC-1FAD-585E-CE6C-BF2DB3EF0B35}"/>
              </a:ext>
            </a:extLst>
          </p:cNvPr>
          <p:cNvSpPr>
            <a:spLocks/>
          </p:cNvSpPr>
          <p:nvPr/>
        </p:nvSpPr>
        <p:spPr bwMode="auto">
          <a:xfrm>
            <a:off x="1335088" y="3128963"/>
            <a:ext cx="241300" cy="762000"/>
          </a:xfrm>
          <a:custGeom>
            <a:avLst/>
            <a:gdLst>
              <a:gd name="T0" fmla="*/ 2147483646 w 152"/>
              <a:gd name="T1" fmla="*/ 2147483646 h 480"/>
              <a:gd name="T2" fmla="*/ 2147483646 w 152"/>
              <a:gd name="T3" fmla="*/ 2147483646 h 480"/>
              <a:gd name="T4" fmla="*/ 0 w 152"/>
              <a:gd name="T5" fmla="*/ 2147483646 h 480"/>
              <a:gd name="T6" fmla="*/ 2147483646 w 152"/>
              <a:gd name="T7" fmla="*/ 2147483646 h 480"/>
              <a:gd name="T8" fmla="*/ 2147483646 w 152"/>
              <a:gd name="T9" fmla="*/ 2147483646 h 480"/>
              <a:gd name="T10" fmla="*/ 2147483646 w 152"/>
              <a:gd name="T11" fmla="*/ 2147483646 h 480"/>
              <a:gd name="T12" fmla="*/ 2147483646 w 152"/>
              <a:gd name="T13" fmla="*/ 2147483646 h 480"/>
              <a:gd name="T14" fmla="*/ 2147483646 w 152"/>
              <a:gd name="T15" fmla="*/ 2147483646 h 480"/>
              <a:gd name="T16" fmla="*/ 2147483646 w 152"/>
              <a:gd name="T17" fmla="*/ 2147483646 h 480"/>
              <a:gd name="T18" fmla="*/ 2147483646 w 152"/>
              <a:gd name="T19" fmla="*/ 2147483646 h 480"/>
              <a:gd name="T20" fmla="*/ 2147483646 w 152"/>
              <a:gd name="T21" fmla="*/ 2147483646 h 480"/>
              <a:gd name="T22" fmla="*/ 2147483646 w 152"/>
              <a:gd name="T23" fmla="*/ 2147483646 h 480"/>
              <a:gd name="T24" fmla="*/ 2147483646 w 152"/>
              <a:gd name="T25" fmla="*/ 2147483646 h 480"/>
              <a:gd name="T26" fmla="*/ 2147483646 w 152"/>
              <a:gd name="T27" fmla="*/ 2147483646 h 480"/>
              <a:gd name="T28" fmla="*/ 2147483646 w 152"/>
              <a:gd name="T29" fmla="*/ 2147483646 h 480"/>
              <a:gd name="T30" fmla="*/ 2147483646 w 152"/>
              <a:gd name="T31" fmla="*/ 2147483646 h 480"/>
              <a:gd name="T32" fmla="*/ 2147483646 w 152"/>
              <a:gd name="T33" fmla="*/ 2147483646 h 480"/>
              <a:gd name="T34" fmla="*/ 2147483646 w 152"/>
              <a:gd name="T35" fmla="*/ 2147483646 h 480"/>
              <a:gd name="T36" fmla="*/ 2147483646 w 152"/>
              <a:gd name="T37" fmla="*/ 0 h 480"/>
              <a:gd name="T38" fmla="*/ 2147483646 w 152"/>
              <a:gd name="T39" fmla="*/ 0 h 480"/>
              <a:gd name="T40" fmla="*/ 2147483646 w 152"/>
              <a:gd name="T41" fmla="*/ 2147483646 h 480"/>
              <a:gd name="T42" fmla="*/ 2147483646 w 152"/>
              <a:gd name="T43" fmla="*/ 2147483646 h 480"/>
              <a:gd name="T44" fmla="*/ 2147483646 w 152"/>
              <a:gd name="T45" fmla="*/ 2147483646 h 480"/>
              <a:gd name="T46" fmla="*/ 2147483646 w 152"/>
              <a:gd name="T47" fmla="*/ 2147483646 h 480"/>
              <a:gd name="T48" fmla="*/ 2147483646 w 152"/>
              <a:gd name="T49" fmla="*/ 2147483646 h 480"/>
              <a:gd name="T50" fmla="*/ 2147483646 w 152"/>
              <a:gd name="T51" fmla="*/ 2147483646 h 480"/>
              <a:gd name="T52" fmla="*/ 2147483646 w 152"/>
              <a:gd name="T53" fmla="*/ 2147483646 h 480"/>
              <a:gd name="T54" fmla="*/ 2147483646 w 152"/>
              <a:gd name="T55" fmla="*/ 2147483646 h 480"/>
              <a:gd name="T56" fmla="*/ 2147483646 w 152"/>
              <a:gd name="T57" fmla="*/ 2147483646 h 480"/>
              <a:gd name="T58" fmla="*/ 2147483646 w 152"/>
              <a:gd name="T59" fmla="*/ 2147483646 h 480"/>
              <a:gd name="T60" fmla="*/ 2147483646 w 152"/>
              <a:gd name="T61" fmla="*/ 2147483646 h 480"/>
              <a:gd name="T62" fmla="*/ 2147483646 w 152"/>
              <a:gd name="T63" fmla="*/ 2147483646 h 480"/>
              <a:gd name="T64" fmla="*/ 2147483646 w 152"/>
              <a:gd name="T65" fmla="*/ 2147483646 h 480"/>
              <a:gd name="T66" fmla="*/ 2147483646 w 152"/>
              <a:gd name="T67" fmla="*/ 2147483646 h 480"/>
              <a:gd name="T68" fmla="*/ 2147483646 w 152"/>
              <a:gd name="T69" fmla="*/ 2147483646 h 480"/>
              <a:gd name="T70" fmla="*/ 2147483646 w 152"/>
              <a:gd name="T71" fmla="*/ 2147483646 h 480"/>
              <a:gd name="T72" fmla="*/ 2147483646 w 152"/>
              <a:gd name="T73" fmla="*/ 2147483646 h 480"/>
              <a:gd name="T74" fmla="*/ 2147483646 w 152"/>
              <a:gd name="T75" fmla="*/ 2147483646 h 480"/>
              <a:gd name="T76" fmla="*/ 2147483646 w 152"/>
              <a:gd name="T77" fmla="*/ 2147483646 h 480"/>
              <a:gd name="T78" fmla="*/ 2147483646 w 152"/>
              <a:gd name="T79" fmla="*/ 2147483646 h 480"/>
              <a:gd name="T80" fmla="*/ 2147483646 w 152"/>
              <a:gd name="T81" fmla="*/ 2147483646 h 480"/>
              <a:gd name="T82" fmla="*/ 2147483646 w 152"/>
              <a:gd name="T83" fmla="*/ 2147483646 h 480"/>
              <a:gd name="T84" fmla="*/ 2147483646 w 152"/>
              <a:gd name="T85" fmla="*/ 2147483646 h 480"/>
              <a:gd name="T86" fmla="*/ 2147483646 w 152"/>
              <a:gd name="T87" fmla="*/ 2147483646 h 480"/>
              <a:gd name="T88" fmla="*/ 2147483646 w 152"/>
              <a:gd name="T89" fmla="*/ 2147483646 h 480"/>
              <a:gd name="T90" fmla="*/ 2147483646 w 152"/>
              <a:gd name="T91" fmla="*/ 2147483646 h 480"/>
              <a:gd name="T92" fmla="*/ 2147483646 w 152"/>
              <a:gd name="T93" fmla="*/ 2147483646 h 480"/>
              <a:gd name="T94" fmla="*/ 2147483646 w 152"/>
              <a:gd name="T95" fmla="*/ 2147483646 h 480"/>
              <a:gd name="T96" fmla="*/ 2147483646 w 152"/>
              <a:gd name="T97" fmla="*/ 2147483646 h 480"/>
              <a:gd name="T98" fmla="*/ 2147483646 w 152"/>
              <a:gd name="T99" fmla="*/ 2147483646 h 480"/>
              <a:gd name="T100" fmla="*/ 2147483646 w 152"/>
              <a:gd name="T101" fmla="*/ 2147483646 h 480"/>
              <a:gd name="T102" fmla="*/ 2147483646 w 152"/>
              <a:gd name="T103" fmla="*/ 2147483646 h 480"/>
              <a:gd name="T104" fmla="*/ 2147483646 w 152"/>
              <a:gd name="T105" fmla="*/ 2147483646 h 480"/>
              <a:gd name="T106" fmla="*/ 2147483646 w 152"/>
              <a:gd name="T107" fmla="*/ 2147483646 h 480"/>
              <a:gd name="T108" fmla="*/ 2147483646 w 152"/>
              <a:gd name="T109" fmla="*/ 2147483646 h 480"/>
              <a:gd name="T110" fmla="*/ 2147483646 w 152"/>
              <a:gd name="T111" fmla="*/ 2147483646 h 480"/>
              <a:gd name="T112" fmla="*/ 2147483646 w 152"/>
              <a:gd name="T113" fmla="*/ 2147483646 h 480"/>
              <a:gd name="T114" fmla="*/ 2147483646 w 152"/>
              <a:gd name="T115" fmla="*/ 2147483646 h 480"/>
              <a:gd name="T116" fmla="*/ 2147483646 w 152"/>
              <a:gd name="T117" fmla="*/ 2147483646 h 480"/>
              <a:gd name="T118" fmla="*/ 2147483646 w 152"/>
              <a:gd name="T119" fmla="*/ 2147483646 h 48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52" h="480">
                <a:moveTo>
                  <a:pt x="30" y="248"/>
                </a:moveTo>
                <a:lnTo>
                  <a:pt x="27" y="269"/>
                </a:lnTo>
                <a:lnTo>
                  <a:pt x="8" y="243"/>
                </a:lnTo>
                <a:lnTo>
                  <a:pt x="13" y="198"/>
                </a:lnTo>
                <a:lnTo>
                  <a:pt x="0" y="165"/>
                </a:lnTo>
                <a:lnTo>
                  <a:pt x="0" y="162"/>
                </a:lnTo>
                <a:lnTo>
                  <a:pt x="1" y="156"/>
                </a:lnTo>
                <a:lnTo>
                  <a:pt x="3" y="148"/>
                </a:lnTo>
                <a:lnTo>
                  <a:pt x="5" y="138"/>
                </a:lnTo>
                <a:lnTo>
                  <a:pt x="9" y="127"/>
                </a:lnTo>
                <a:lnTo>
                  <a:pt x="12" y="117"/>
                </a:lnTo>
                <a:lnTo>
                  <a:pt x="16" y="108"/>
                </a:lnTo>
                <a:lnTo>
                  <a:pt x="21" y="101"/>
                </a:lnTo>
                <a:lnTo>
                  <a:pt x="26" y="95"/>
                </a:lnTo>
                <a:lnTo>
                  <a:pt x="32" y="90"/>
                </a:lnTo>
                <a:lnTo>
                  <a:pt x="39" y="85"/>
                </a:lnTo>
                <a:lnTo>
                  <a:pt x="47" y="79"/>
                </a:lnTo>
                <a:lnTo>
                  <a:pt x="53" y="75"/>
                </a:lnTo>
                <a:lnTo>
                  <a:pt x="59" y="72"/>
                </a:lnTo>
                <a:lnTo>
                  <a:pt x="64" y="69"/>
                </a:lnTo>
                <a:lnTo>
                  <a:pt x="65" y="69"/>
                </a:lnTo>
                <a:lnTo>
                  <a:pt x="64" y="56"/>
                </a:lnTo>
                <a:lnTo>
                  <a:pt x="57" y="43"/>
                </a:lnTo>
                <a:lnTo>
                  <a:pt x="56" y="42"/>
                </a:lnTo>
                <a:lnTo>
                  <a:pt x="56" y="39"/>
                </a:lnTo>
                <a:lnTo>
                  <a:pt x="55" y="36"/>
                </a:lnTo>
                <a:lnTo>
                  <a:pt x="55" y="32"/>
                </a:lnTo>
                <a:lnTo>
                  <a:pt x="55" y="28"/>
                </a:lnTo>
                <a:lnTo>
                  <a:pt x="55" y="23"/>
                </a:lnTo>
                <a:lnTo>
                  <a:pt x="57" y="18"/>
                </a:lnTo>
                <a:lnTo>
                  <a:pt x="59" y="14"/>
                </a:lnTo>
                <a:lnTo>
                  <a:pt x="62" y="11"/>
                </a:lnTo>
                <a:lnTo>
                  <a:pt x="64" y="8"/>
                </a:lnTo>
                <a:lnTo>
                  <a:pt x="64" y="5"/>
                </a:lnTo>
                <a:lnTo>
                  <a:pt x="66" y="4"/>
                </a:lnTo>
                <a:lnTo>
                  <a:pt x="68" y="2"/>
                </a:lnTo>
                <a:lnTo>
                  <a:pt x="71" y="0"/>
                </a:lnTo>
                <a:lnTo>
                  <a:pt x="76" y="0"/>
                </a:lnTo>
                <a:lnTo>
                  <a:pt x="83" y="0"/>
                </a:lnTo>
                <a:lnTo>
                  <a:pt x="91" y="0"/>
                </a:lnTo>
                <a:lnTo>
                  <a:pt x="96" y="0"/>
                </a:lnTo>
                <a:lnTo>
                  <a:pt x="98" y="1"/>
                </a:lnTo>
                <a:lnTo>
                  <a:pt x="100" y="2"/>
                </a:lnTo>
                <a:lnTo>
                  <a:pt x="101" y="4"/>
                </a:lnTo>
                <a:lnTo>
                  <a:pt x="102" y="5"/>
                </a:lnTo>
                <a:lnTo>
                  <a:pt x="104" y="8"/>
                </a:lnTo>
                <a:lnTo>
                  <a:pt x="107" y="10"/>
                </a:lnTo>
                <a:lnTo>
                  <a:pt x="110" y="13"/>
                </a:lnTo>
                <a:lnTo>
                  <a:pt x="112" y="17"/>
                </a:lnTo>
                <a:lnTo>
                  <a:pt x="112" y="22"/>
                </a:lnTo>
                <a:lnTo>
                  <a:pt x="112" y="27"/>
                </a:lnTo>
                <a:lnTo>
                  <a:pt x="111" y="32"/>
                </a:lnTo>
                <a:lnTo>
                  <a:pt x="110" y="36"/>
                </a:lnTo>
                <a:lnTo>
                  <a:pt x="109" y="39"/>
                </a:lnTo>
                <a:lnTo>
                  <a:pt x="99" y="60"/>
                </a:lnTo>
                <a:lnTo>
                  <a:pt x="98" y="69"/>
                </a:lnTo>
                <a:lnTo>
                  <a:pt x="100" y="69"/>
                </a:lnTo>
                <a:lnTo>
                  <a:pt x="104" y="73"/>
                </a:lnTo>
                <a:lnTo>
                  <a:pt x="111" y="77"/>
                </a:lnTo>
                <a:lnTo>
                  <a:pt x="118" y="82"/>
                </a:lnTo>
                <a:lnTo>
                  <a:pt x="126" y="87"/>
                </a:lnTo>
                <a:lnTo>
                  <a:pt x="133" y="91"/>
                </a:lnTo>
                <a:lnTo>
                  <a:pt x="138" y="95"/>
                </a:lnTo>
                <a:lnTo>
                  <a:pt x="140" y="98"/>
                </a:lnTo>
                <a:lnTo>
                  <a:pt x="140" y="103"/>
                </a:lnTo>
                <a:lnTo>
                  <a:pt x="140" y="112"/>
                </a:lnTo>
                <a:lnTo>
                  <a:pt x="142" y="124"/>
                </a:lnTo>
                <a:lnTo>
                  <a:pt x="144" y="139"/>
                </a:lnTo>
                <a:lnTo>
                  <a:pt x="145" y="152"/>
                </a:lnTo>
                <a:lnTo>
                  <a:pt x="147" y="165"/>
                </a:lnTo>
                <a:lnTo>
                  <a:pt x="149" y="176"/>
                </a:lnTo>
                <a:lnTo>
                  <a:pt x="149" y="182"/>
                </a:lnTo>
                <a:lnTo>
                  <a:pt x="149" y="187"/>
                </a:lnTo>
                <a:lnTo>
                  <a:pt x="150" y="195"/>
                </a:lnTo>
                <a:lnTo>
                  <a:pt x="150" y="207"/>
                </a:lnTo>
                <a:lnTo>
                  <a:pt x="151" y="219"/>
                </a:lnTo>
                <a:lnTo>
                  <a:pt x="151" y="232"/>
                </a:lnTo>
                <a:lnTo>
                  <a:pt x="151" y="245"/>
                </a:lnTo>
                <a:lnTo>
                  <a:pt x="150" y="256"/>
                </a:lnTo>
                <a:lnTo>
                  <a:pt x="148" y="264"/>
                </a:lnTo>
                <a:lnTo>
                  <a:pt x="147" y="267"/>
                </a:lnTo>
                <a:lnTo>
                  <a:pt x="145" y="269"/>
                </a:lnTo>
                <a:lnTo>
                  <a:pt x="142" y="269"/>
                </a:lnTo>
                <a:lnTo>
                  <a:pt x="140" y="270"/>
                </a:lnTo>
                <a:lnTo>
                  <a:pt x="137" y="270"/>
                </a:lnTo>
                <a:lnTo>
                  <a:pt x="134" y="270"/>
                </a:lnTo>
                <a:lnTo>
                  <a:pt x="133" y="270"/>
                </a:lnTo>
                <a:lnTo>
                  <a:pt x="134" y="263"/>
                </a:lnTo>
                <a:lnTo>
                  <a:pt x="140" y="258"/>
                </a:lnTo>
                <a:lnTo>
                  <a:pt x="128" y="265"/>
                </a:lnTo>
                <a:lnTo>
                  <a:pt x="131" y="329"/>
                </a:lnTo>
                <a:lnTo>
                  <a:pt x="129" y="349"/>
                </a:lnTo>
                <a:lnTo>
                  <a:pt x="111" y="423"/>
                </a:lnTo>
                <a:lnTo>
                  <a:pt x="133" y="441"/>
                </a:lnTo>
                <a:lnTo>
                  <a:pt x="136" y="453"/>
                </a:lnTo>
                <a:lnTo>
                  <a:pt x="112" y="452"/>
                </a:lnTo>
                <a:lnTo>
                  <a:pt x="81" y="453"/>
                </a:lnTo>
                <a:lnTo>
                  <a:pt x="80" y="454"/>
                </a:lnTo>
                <a:lnTo>
                  <a:pt x="79" y="457"/>
                </a:lnTo>
                <a:lnTo>
                  <a:pt x="76" y="461"/>
                </a:lnTo>
                <a:lnTo>
                  <a:pt x="74" y="465"/>
                </a:lnTo>
                <a:lnTo>
                  <a:pt x="70" y="470"/>
                </a:lnTo>
                <a:lnTo>
                  <a:pt x="66" y="474"/>
                </a:lnTo>
                <a:lnTo>
                  <a:pt x="63" y="476"/>
                </a:lnTo>
                <a:lnTo>
                  <a:pt x="60" y="478"/>
                </a:lnTo>
                <a:lnTo>
                  <a:pt x="57" y="479"/>
                </a:lnTo>
                <a:lnTo>
                  <a:pt x="53" y="479"/>
                </a:lnTo>
                <a:lnTo>
                  <a:pt x="51" y="478"/>
                </a:lnTo>
                <a:lnTo>
                  <a:pt x="48" y="477"/>
                </a:lnTo>
                <a:lnTo>
                  <a:pt x="45" y="477"/>
                </a:lnTo>
                <a:lnTo>
                  <a:pt x="43" y="476"/>
                </a:lnTo>
                <a:lnTo>
                  <a:pt x="41" y="475"/>
                </a:lnTo>
                <a:lnTo>
                  <a:pt x="46" y="458"/>
                </a:lnTo>
                <a:lnTo>
                  <a:pt x="54" y="439"/>
                </a:lnTo>
                <a:lnTo>
                  <a:pt x="37" y="356"/>
                </a:lnTo>
                <a:lnTo>
                  <a:pt x="32" y="277"/>
                </a:lnTo>
                <a:lnTo>
                  <a:pt x="30" y="248"/>
                </a:lnTo>
              </a:path>
            </a:pathLst>
          </a:custGeom>
          <a:solidFill>
            <a:srgbClr val="9933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0" name="Freeform 20">
            <a:extLst>
              <a:ext uri="{FF2B5EF4-FFF2-40B4-BE49-F238E27FC236}">
                <a16:creationId xmlns:a16="http://schemas.microsoft.com/office/drawing/2014/main" id="{567F2ED4-0259-5ACE-2A8C-9E396C03B88E}"/>
              </a:ext>
            </a:extLst>
          </p:cNvPr>
          <p:cNvSpPr>
            <a:spLocks/>
          </p:cNvSpPr>
          <p:nvPr/>
        </p:nvSpPr>
        <p:spPr bwMode="auto">
          <a:xfrm>
            <a:off x="1479550" y="3232150"/>
            <a:ext cx="252413" cy="714375"/>
          </a:xfrm>
          <a:custGeom>
            <a:avLst/>
            <a:gdLst>
              <a:gd name="T0" fmla="*/ 2147483646 w 159"/>
              <a:gd name="T1" fmla="*/ 2147483646 h 450"/>
              <a:gd name="T2" fmla="*/ 2147483646 w 159"/>
              <a:gd name="T3" fmla="*/ 2147483646 h 450"/>
              <a:gd name="T4" fmla="*/ 2147483646 w 159"/>
              <a:gd name="T5" fmla="*/ 2147483646 h 450"/>
              <a:gd name="T6" fmla="*/ 2147483646 w 159"/>
              <a:gd name="T7" fmla="*/ 2147483646 h 450"/>
              <a:gd name="T8" fmla="*/ 2147483646 w 159"/>
              <a:gd name="T9" fmla="*/ 2147483646 h 450"/>
              <a:gd name="T10" fmla="*/ 2147483646 w 159"/>
              <a:gd name="T11" fmla="*/ 2147483646 h 450"/>
              <a:gd name="T12" fmla="*/ 2147483646 w 159"/>
              <a:gd name="T13" fmla="*/ 2147483646 h 450"/>
              <a:gd name="T14" fmla="*/ 2147483646 w 159"/>
              <a:gd name="T15" fmla="*/ 2147483646 h 450"/>
              <a:gd name="T16" fmla="*/ 2147483646 w 159"/>
              <a:gd name="T17" fmla="*/ 2147483646 h 450"/>
              <a:gd name="T18" fmla="*/ 2147483646 w 159"/>
              <a:gd name="T19" fmla="*/ 2147483646 h 450"/>
              <a:gd name="T20" fmla="*/ 2147483646 w 159"/>
              <a:gd name="T21" fmla="*/ 2147483646 h 450"/>
              <a:gd name="T22" fmla="*/ 2147483646 w 159"/>
              <a:gd name="T23" fmla="*/ 2147483646 h 450"/>
              <a:gd name="T24" fmla="*/ 2147483646 w 159"/>
              <a:gd name="T25" fmla="*/ 2147483646 h 450"/>
              <a:gd name="T26" fmla="*/ 2147483646 w 159"/>
              <a:gd name="T27" fmla="*/ 2147483646 h 450"/>
              <a:gd name="T28" fmla="*/ 2147483646 w 159"/>
              <a:gd name="T29" fmla="*/ 2147483646 h 450"/>
              <a:gd name="T30" fmla="*/ 2147483646 w 159"/>
              <a:gd name="T31" fmla="*/ 2147483646 h 450"/>
              <a:gd name="T32" fmla="*/ 2147483646 w 159"/>
              <a:gd name="T33" fmla="*/ 2147483646 h 450"/>
              <a:gd name="T34" fmla="*/ 2147483646 w 159"/>
              <a:gd name="T35" fmla="*/ 2147483646 h 450"/>
              <a:gd name="T36" fmla="*/ 2147483646 w 159"/>
              <a:gd name="T37" fmla="*/ 2147483646 h 450"/>
              <a:gd name="T38" fmla="*/ 2147483646 w 159"/>
              <a:gd name="T39" fmla="*/ 2147483646 h 450"/>
              <a:gd name="T40" fmla="*/ 2147483646 w 159"/>
              <a:gd name="T41" fmla="*/ 2147483646 h 450"/>
              <a:gd name="T42" fmla="*/ 2147483646 w 159"/>
              <a:gd name="T43" fmla="*/ 2147483646 h 450"/>
              <a:gd name="T44" fmla="*/ 2147483646 w 159"/>
              <a:gd name="T45" fmla="*/ 2147483646 h 450"/>
              <a:gd name="T46" fmla="*/ 2147483646 w 159"/>
              <a:gd name="T47" fmla="*/ 0 h 450"/>
              <a:gd name="T48" fmla="*/ 2147483646 w 159"/>
              <a:gd name="T49" fmla="*/ 2147483646 h 450"/>
              <a:gd name="T50" fmla="*/ 2147483646 w 159"/>
              <a:gd name="T51" fmla="*/ 2147483646 h 450"/>
              <a:gd name="T52" fmla="*/ 2147483646 w 159"/>
              <a:gd name="T53" fmla="*/ 2147483646 h 450"/>
              <a:gd name="T54" fmla="*/ 2147483646 w 159"/>
              <a:gd name="T55" fmla="*/ 2147483646 h 450"/>
              <a:gd name="T56" fmla="*/ 2147483646 w 159"/>
              <a:gd name="T57" fmla="*/ 2147483646 h 450"/>
              <a:gd name="T58" fmla="*/ 2147483646 w 159"/>
              <a:gd name="T59" fmla="*/ 2147483646 h 450"/>
              <a:gd name="T60" fmla="*/ 2147483646 w 159"/>
              <a:gd name="T61" fmla="*/ 2147483646 h 450"/>
              <a:gd name="T62" fmla="*/ 2147483646 w 159"/>
              <a:gd name="T63" fmla="*/ 2147483646 h 450"/>
              <a:gd name="T64" fmla="*/ 2147483646 w 159"/>
              <a:gd name="T65" fmla="*/ 2147483646 h 450"/>
              <a:gd name="T66" fmla="*/ 2147483646 w 159"/>
              <a:gd name="T67" fmla="*/ 2147483646 h 450"/>
              <a:gd name="T68" fmla="*/ 2147483646 w 159"/>
              <a:gd name="T69" fmla="*/ 2147483646 h 450"/>
              <a:gd name="T70" fmla="*/ 2147483646 w 159"/>
              <a:gd name="T71" fmla="*/ 2147483646 h 450"/>
              <a:gd name="T72" fmla="*/ 0 w 159"/>
              <a:gd name="T73" fmla="*/ 2147483646 h 450"/>
              <a:gd name="T74" fmla="*/ 2147483646 w 159"/>
              <a:gd name="T75" fmla="*/ 2147483646 h 450"/>
              <a:gd name="T76" fmla="*/ 2147483646 w 159"/>
              <a:gd name="T77" fmla="*/ 2147483646 h 450"/>
              <a:gd name="T78" fmla="*/ 2147483646 w 159"/>
              <a:gd name="T79" fmla="*/ 2147483646 h 450"/>
              <a:gd name="T80" fmla="*/ 2147483646 w 159"/>
              <a:gd name="T81" fmla="*/ 2147483646 h 450"/>
              <a:gd name="T82" fmla="*/ 2147483646 w 159"/>
              <a:gd name="T83" fmla="*/ 2147483646 h 450"/>
              <a:gd name="T84" fmla="*/ 2147483646 w 159"/>
              <a:gd name="T85" fmla="*/ 2147483646 h 450"/>
              <a:gd name="T86" fmla="*/ 2147483646 w 159"/>
              <a:gd name="T87" fmla="*/ 2147483646 h 450"/>
              <a:gd name="T88" fmla="*/ 2147483646 w 159"/>
              <a:gd name="T89" fmla="*/ 2147483646 h 450"/>
              <a:gd name="T90" fmla="*/ 2147483646 w 159"/>
              <a:gd name="T91" fmla="*/ 2147483646 h 450"/>
              <a:gd name="T92" fmla="*/ 2147483646 w 159"/>
              <a:gd name="T93" fmla="*/ 2147483646 h 450"/>
              <a:gd name="T94" fmla="*/ 2147483646 w 159"/>
              <a:gd name="T95" fmla="*/ 2147483646 h 450"/>
              <a:gd name="T96" fmla="*/ 2147483646 w 159"/>
              <a:gd name="T97" fmla="*/ 2147483646 h 450"/>
              <a:gd name="T98" fmla="*/ 2147483646 w 159"/>
              <a:gd name="T99" fmla="*/ 2147483646 h 450"/>
              <a:gd name="T100" fmla="*/ 2147483646 w 159"/>
              <a:gd name="T101" fmla="*/ 2147483646 h 450"/>
              <a:gd name="T102" fmla="*/ 2147483646 w 159"/>
              <a:gd name="T103" fmla="*/ 2147483646 h 450"/>
              <a:gd name="T104" fmla="*/ 2147483646 w 159"/>
              <a:gd name="T105" fmla="*/ 2147483646 h 450"/>
              <a:gd name="T106" fmla="*/ 2147483646 w 159"/>
              <a:gd name="T107" fmla="*/ 2147483646 h 450"/>
              <a:gd name="T108" fmla="*/ 2147483646 w 159"/>
              <a:gd name="T109" fmla="*/ 2147483646 h 450"/>
              <a:gd name="T110" fmla="*/ 2147483646 w 159"/>
              <a:gd name="T111" fmla="*/ 2147483646 h 450"/>
              <a:gd name="T112" fmla="*/ 2147483646 w 159"/>
              <a:gd name="T113" fmla="*/ 2147483646 h 450"/>
              <a:gd name="T114" fmla="*/ 2147483646 w 159"/>
              <a:gd name="T115" fmla="*/ 2147483646 h 450"/>
              <a:gd name="T116" fmla="*/ 2147483646 w 159"/>
              <a:gd name="T117" fmla="*/ 2147483646 h 450"/>
              <a:gd name="T118" fmla="*/ 2147483646 w 159"/>
              <a:gd name="T119" fmla="*/ 2147483646 h 450"/>
              <a:gd name="T120" fmla="*/ 2147483646 w 159"/>
              <a:gd name="T121" fmla="*/ 2147483646 h 450"/>
              <a:gd name="T122" fmla="*/ 2147483646 w 159"/>
              <a:gd name="T123" fmla="*/ 2147483646 h 450"/>
              <a:gd name="T124" fmla="*/ 2147483646 w 159"/>
              <a:gd name="T125" fmla="*/ 2147483646 h 45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59" h="450">
                <a:moveTo>
                  <a:pt x="157" y="429"/>
                </a:moveTo>
                <a:lnTo>
                  <a:pt x="155" y="428"/>
                </a:lnTo>
                <a:lnTo>
                  <a:pt x="152" y="427"/>
                </a:lnTo>
                <a:lnTo>
                  <a:pt x="146" y="423"/>
                </a:lnTo>
                <a:lnTo>
                  <a:pt x="140" y="419"/>
                </a:lnTo>
                <a:lnTo>
                  <a:pt x="134" y="413"/>
                </a:lnTo>
                <a:lnTo>
                  <a:pt x="128" y="407"/>
                </a:lnTo>
                <a:lnTo>
                  <a:pt x="125" y="401"/>
                </a:lnTo>
                <a:lnTo>
                  <a:pt x="123" y="395"/>
                </a:lnTo>
                <a:lnTo>
                  <a:pt x="124" y="386"/>
                </a:lnTo>
                <a:lnTo>
                  <a:pt x="125" y="375"/>
                </a:lnTo>
                <a:lnTo>
                  <a:pt x="125" y="361"/>
                </a:lnTo>
                <a:lnTo>
                  <a:pt x="127" y="346"/>
                </a:lnTo>
                <a:lnTo>
                  <a:pt x="128" y="333"/>
                </a:lnTo>
                <a:lnTo>
                  <a:pt x="130" y="321"/>
                </a:lnTo>
                <a:lnTo>
                  <a:pt x="130" y="313"/>
                </a:lnTo>
                <a:lnTo>
                  <a:pt x="130" y="311"/>
                </a:lnTo>
                <a:lnTo>
                  <a:pt x="130" y="310"/>
                </a:lnTo>
                <a:lnTo>
                  <a:pt x="131" y="310"/>
                </a:lnTo>
                <a:lnTo>
                  <a:pt x="133" y="309"/>
                </a:lnTo>
                <a:lnTo>
                  <a:pt x="135" y="307"/>
                </a:lnTo>
                <a:lnTo>
                  <a:pt x="136" y="304"/>
                </a:lnTo>
                <a:lnTo>
                  <a:pt x="137" y="300"/>
                </a:lnTo>
                <a:lnTo>
                  <a:pt x="138" y="295"/>
                </a:lnTo>
                <a:lnTo>
                  <a:pt x="139" y="288"/>
                </a:lnTo>
                <a:lnTo>
                  <a:pt x="130" y="200"/>
                </a:lnTo>
                <a:lnTo>
                  <a:pt x="130" y="203"/>
                </a:lnTo>
                <a:lnTo>
                  <a:pt x="131" y="206"/>
                </a:lnTo>
                <a:lnTo>
                  <a:pt x="133" y="209"/>
                </a:lnTo>
                <a:lnTo>
                  <a:pt x="135" y="213"/>
                </a:lnTo>
                <a:lnTo>
                  <a:pt x="136" y="215"/>
                </a:lnTo>
                <a:lnTo>
                  <a:pt x="137" y="216"/>
                </a:lnTo>
                <a:lnTo>
                  <a:pt x="139" y="215"/>
                </a:lnTo>
                <a:lnTo>
                  <a:pt x="141" y="213"/>
                </a:lnTo>
                <a:lnTo>
                  <a:pt x="142" y="210"/>
                </a:lnTo>
                <a:lnTo>
                  <a:pt x="143" y="207"/>
                </a:lnTo>
                <a:lnTo>
                  <a:pt x="144" y="204"/>
                </a:lnTo>
                <a:lnTo>
                  <a:pt x="144" y="200"/>
                </a:lnTo>
                <a:lnTo>
                  <a:pt x="143" y="196"/>
                </a:lnTo>
                <a:lnTo>
                  <a:pt x="141" y="192"/>
                </a:lnTo>
                <a:lnTo>
                  <a:pt x="139" y="187"/>
                </a:lnTo>
                <a:lnTo>
                  <a:pt x="136" y="179"/>
                </a:lnTo>
                <a:lnTo>
                  <a:pt x="135" y="172"/>
                </a:lnTo>
                <a:lnTo>
                  <a:pt x="136" y="166"/>
                </a:lnTo>
                <a:lnTo>
                  <a:pt x="138" y="158"/>
                </a:lnTo>
                <a:lnTo>
                  <a:pt x="140" y="148"/>
                </a:lnTo>
                <a:lnTo>
                  <a:pt x="140" y="133"/>
                </a:lnTo>
                <a:lnTo>
                  <a:pt x="136" y="114"/>
                </a:lnTo>
                <a:lnTo>
                  <a:pt x="130" y="88"/>
                </a:lnTo>
                <a:lnTo>
                  <a:pt x="127" y="84"/>
                </a:lnTo>
                <a:lnTo>
                  <a:pt x="124" y="80"/>
                </a:lnTo>
                <a:lnTo>
                  <a:pt x="120" y="76"/>
                </a:lnTo>
                <a:lnTo>
                  <a:pt x="116" y="72"/>
                </a:lnTo>
                <a:lnTo>
                  <a:pt x="112" y="70"/>
                </a:lnTo>
                <a:lnTo>
                  <a:pt x="108" y="68"/>
                </a:lnTo>
                <a:lnTo>
                  <a:pt x="107" y="67"/>
                </a:lnTo>
                <a:lnTo>
                  <a:pt x="106" y="67"/>
                </a:lnTo>
                <a:lnTo>
                  <a:pt x="107" y="66"/>
                </a:lnTo>
                <a:lnTo>
                  <a:pt x="108" y="66"/>
                </a:lnTo>
                <a:lnTo>
                  <a:pt x="110" y="65"/>
                </a:lnTo>
                <a:lnTo>
                  <a:pt x="112" y="64"/>
                </a:lnTo>
                <a:lnTo>
                  <a:pt x="114" y="63"/>
                </a:lnTo>
                <a:lnTo>
                  <a:pt x="114" y="61"/>
                </a:lnTo>
                <a:lnTo>
                  <a:pt x="115" y="58"/>
                </a:lnTo>
                <a:lnTo>
                  <a:pt x="116" y="55"/>
                </a:lnTo>
                <a:lnTo>
                  <a:pt x="115" y="52"/>
                </a:lnTo>
                <a:lnTo>
                  <a:pt x="114" y="50"/>
                </a:lnTo>
                <a:lnTo>
                  <a:pt x="114" y="47"/>
                </a:lnTo>
                <a:lnTo>
                  <a:pt x="112" y="44"/>
                </a:lnTo>
                <a:lnTo>
                  <a:pt x="110" y="42"/>
                </a:lnTo>
                <a:lnTo>
                  <a:pt x="108" y="38"/>
                </a:lnTo>
                <a:lnTo>
                  <a:pt x="107" y="35"/>
                </a:lnTo>
                <a:lnTo>
                  <a:pt x="105" y="32"/>
                </a:lnTo>
                <a:lnTo>
                  <a:pt x="104" y="29"/>
                </a:lnTo>
                <a:lnTo>
                  <a:pt x="103" y="25"/>
                </a:lnTo>
                <a:lnTo>
                  <a:pt x="103" y="23"/>
                </a:lnTo>
                <a:lnTo>
                  <a:pt x="103" y="21"/>
                </a:lnTo>
                <a:lnTo>
                  <a:pt x="102" y="18"/>
                </a:lnTo>
                <a:lnTo>
                  <a:pt x="102" y="17"/>
                </a:lnTo>
                <a:lnTo>
                  <a:pt x="102" y="16"/>
                </a:lnTo>
                <a:lnTo>
                  <a:pt x="102" y="15"/>
                </a:lnTo>
                <a:lnTo>
                  <a:pt x="101" y="13"/>
                </a:lnTo>
                <a:lnTo>
                  <a:pt x="101" y="11"/>
                </a:lnTo>
                <a:lnTo>
                  <a:pt x="100" y="8"/>
                </a:lnTo>
                <a:lnTo>
                  <a:pt x="100" y="6"/>
                </a:lnTo>
                <a:lnTo>
                  <a:pt x="99" y="4"/>
                </a:lnTo>
                <a:lnTo>
                  <a:pt x="99" y="2"/>
                </a:lnTo>
                <a:lnTo>
                  <a:pt x="98" y="1"/>
                </a:lnTo>
                <a:lnTo>
                  <a:pt x="96" y="0"/>
                </a:lnTo>
                <a:lnTo>
                  <a:pt x="92" y="0"/>
                </a:lnTo>
                <a:lnTo>
                  <a:pt x="87" y="0"/>
                </a:lnTo>
                <a:lnTo>
                  <a:pt x="81" y="0"/>
                </a:lnTo>
                <a:lnTo>
                  <a:pt x="76" y="1"/>
                </a:lnTo>
                <a:lnTo>
                  <a:pt x="70" y="3"/>
                </a:lnTo>
                <a:lnTo>
                  <a:pt x="67" y="4"/>
                </a:lnTo>
                <a:lnTo>
                  <a:pt x="65" y="5"/>
                </a:lnTo>
                <a:lnTo>
                  <a:pt x="61" y="8"/>
                </a:lnTo>
                <a:lnTo>
                  <a:pt x="59" y="12"/>
                </a:lnTo>
                <a:lnTo>
                  <a:pt x="56" y="17"/>
                </a:lnTo>
                <a:lnTo>
                  <a:pt x="54" y="23"/>
                </a:lnTo>
                <a:lnTo>
                  <a:pt x="51" y="29"/>
                </a:lnTo>
                <a:lnTo>
                  <a:pt x="49" y="34"/>
                </a:lnTo>
                <a:lnTo>
                  <a:pt x="48" y="39"/>
                </a:lnTo>
                <a:lnTo>
                  <a:pt x="46" y="44"/>
                </a:lnTo>
                <a:lnTo>
                  <a:pt x="43" y="47"/>
                </a:lnTo>
                <a:lnTo>
                  <a:pt x="42" y="51"/>
                </a:lnTo>
                <a:lnTo>
                  <a:pt x="40" y="54"/>
                </a:lnTo>
                <a:lnTo>
                  <a:pt x="38" y="56"/>
                </a:lnTo>
                <a:lnTo>
                  <a:pt x="37" y="58"/>
                </a:lnTo>
                <a:lnTo>
                  <a:pt x="35" y="59"/>
                </a:lnTo>
                <a:lnTo>
                  <a:pt x="40" y="64"/>
                </a:lnTo>
                <a:lnTo>
                  <a:pt x="42" y="65"/>
                </a:lnTo>
                <a:lnTo>
                  <a:pt x="43" y="66"/>
                </a:lnTo>
                <a:lnTo>
                  <a:pt x="44" y="68"/>
                </a:lnTo>
                <a:lnTo>
                  <a:pt x="45" y="69"/>
                </a:lnTo>
                <a:lnTo>
                  <a:pt x="44" y="72"/>
                </a:lnTo>
                <a:lnTo>
                  <a:pt x="43" y="74"/>
                </a:lnTo>
                <a:lnTo>
                  <a:pt x="40" y="76"/>
                </a:lnTo>
                <a:lnTo>
                  <a:pt x="35" y="81"/>
                </a:lnTo>
                <a:lnTo>
                  <a:pt x="30" y="90"/>
                </a:lnTo>
                <a:lnTo>
                  <a:pt x="25" y="103"/>
                </a:lnTo>
                <a:lnTo>
                  <a:pt x="20" y="117"/>
                </a:lnTo>
                <a:lnTo>
                  <a:pt x="15" y="131"/>
                </a:lnTo>
                <a:lnTo>
                  <a:pt x="11" y="143"/>
                </a:lnTo>
                <a:lnTo>
                  <a:pt x="9" y="152"/>
                </a:lnTo>
                <a:lnTo>
                  <a:pt x="8" y="157"/>
                </a:lnTo>
                <a:lnTo>
                  <a:pt x="8" y="158"/>
                </a:lnTo>
                <a:lnTo>
                  <a:pt x="8" y="160"/>
                </a:lnTo>
                <a:lnTo>
                  <a:pt x="9" y="162"/>
                </a:lnTo>
                <a:lnTo>
                  <a:pt x="10" y="163"/>
                </a:lnTo>
                <a:lnTo>
                  <a:pt x="11" y="166"/>
                </a:lnTo>
                <a:lnTo>
                  <a:pt x="12" y="168"/>
                </a:lnTo>
                <a:lnTo>
                  <a:pt x="14" y="171"/>
                </a:lnTo>
                <a:lnTo>
                  <a:pt x="16" y="173"/>
                </a:lnTo>
                <a:lnTo>
                  <a:pt x="9" y="196"/>
                </a:lnTo>
                <a:lnTo>
                  <a:pt x="6" y="200"/>
                </a:lnTo>
                <a:lnTo>
                  <a:pt x="5" y="207"/>
                </a:lnTo>
                <a:lnTo>
                  <a:pt x="3" y="217"/>
                </a:lnTo>
                <a:lnTo>
                  <a:pt x="1" y="227"/>
                </a:lnTo>
                <a:lnTo>
                  <a:pt x="0" y="238"/>
                </a:lnTo>
                <a:lnTo>
                  <a:pt x="0" y="248"/>
                </a:lnTo>
                <a:lnTo>
                  <a:pt x="0" y="256"/>
                </a:lnTo>
                <a:lnTo>
                  <a:pt x="1" y="259"/>
                </a:lnTo>
                <a:lnTo>
                  <a:pt x="3" y="260"/>
                </a:lnTo>
                <a:lnTo>
                  <a:pt x="5" y="260"/>
                </a:lnTo>
                <a:lnTo>
                  <a:pt x="8" y="261"/>
                </a:lnTo>
                <a:lnTo>
                  <a:pt x="11" y="262"/>
                </a:lnTo>
                <a:lnTo>
                  <a:pt x="15" y="263"/>
                </a:lnTo>
                <a:lnTo>
                  <a:pt x="20" y="264"/>
                </a:lnTo>
                <a:lnTo>
                  <a:pt x="24" y="265"/>
                </a:lnTo>
                <a:lnTo>
                  <a:pt x="29" y="265"/>
                </a:lnTo>
                <a:lnTo>
                  <a:pt x="28" y="273"/>
                </a:lnTo>
                <a:lnTo>
                  <a:pt x="27" y="280"/>
                </a:lnTo>
                <a:lnTo>
                  <a:pt x="26" y="286"/>
                </a:lnTo>
                <a:lnTo>
                  <a:pt x="26" y="292"/>
                </a:lnTo>
                <a:lnTo>
                  <a:pt x="25" y="296"/>
                </a:lnTo>
                <a:lnTo>
                  <a:pt x="24" y="300"/>
                </a:lnTo>
                <a:lnTo>
                  <a:pt x="24" y="303"/>
                </a:lnTo>
                <a:lnTo>
                  <a:pt x="25" y="303"/>
                </a:lnTo>
                <a:lnTo>
                  <a:pt x="27" y="305"/>
                </a:lnTo>
                <a:lnTo>
                  <a:pt x="30" y="307"/>
                </a:lnTo>
                <a:lnTo>
                  <a:pt x="34" y="310"/>
                </a:lnTo>
                <a:lnTo>
                  <a:pt x="38" y="312"/>
                </a:lnTo>
                <a:lnTo>
                  <a:pt x="41" y="312"/>
                </a:lnTo>
                <a:lnTo>
                  <a:pt x="43" y="312"/>
                </a:lnTo>
                <a:lnTo>
                  <a:pt x="43" y="311"/>
                </a:lnTo>
                <a:lnTo>
                  <a:pt x="44" y="312"/>
                </a:lnTo>
                <a:lnTo>
                  <a:pt x="45" y="316"/>
                </a:lnTo>
                <a:lnTo>
                  <a:pt x="47" y="320"/>
                </a:lnTo>
                <a:lnTo>
                  <a:pt x="48" y="325"/>
                </a:lnTo>
                <a:lnTo>
                  <a:pt x="49" y="329"/>
                </a:lnTo>
                <a:lnTo>
                  <a:pt x="51" y="333"/>
                </a:lnTo>
                <a:lnTo>
                  <a:pt x="52" y="337"/>
                </a:lnTo>
                <a:lnTo>
                  <a:pt x="53" y="337"/>
                </a:lnTo>
                <a:lnTo>
                  <a:pt x="52" y="338"/>
                </a:lnTo>
                <a:lnTo>
                  <a:pt x="52" y="339"/>
                </a:lnTo>
                <a:lnTo>
                  <a:pt x="52" y="340"/>
                </a:lnTo>
                <a:lnTo>
                  <a:pt x="51" y="342"/>
                </a:lnTo>
                <a:lnTo>
                  <a:pt x="50" y="345"/>
                </a:lnTo>
                <a:lnTo>
                  <a:pt x="49" y="348"/>
                </a:lnTo>
                <a:lnTo>
                  <a:pt x="49" y="351"/>
                </a:lnTo>
                <a:lnTo>
                  <a:pt x="49" y="355"/>
                </a:lnTo>
                <a:lnTo>
                  <a:pt x="49" y="361"/>
                </a:lnTo>
                <a:lnTo>
                  <a:pt x="49" y="367"/>
                </a:lnTo>
                <a:lnTo>
                  <a:pt x="51" y="376"/>
                </a:lnTo>
                <a:lnTo>
                  <a:pt x="53" y="383"/>
                </a:lnTo>
                <a:lnTo>
                  <a:pt x="55" y="390"/>
                </a:lnTo>
                <a:lnTo>
                  <a:pt x="57" y="397"/>
                </a:lnTo>
                <a:lnTo>
                  <a:pt x="58" y="401"/>
                </a:lnTo>
                <a:lnTo>
                  <a:pt x="59" y="402"/>
                </a:lnTo>
                <a:lnTo>
                  <a:pt x="51" y="418"/>
                </a:lnTo>
                <a:lnTo>
                  <a:pt x="54" y="441"/>
                </a:lnTo>
                <a:lnTo>
                  <a:pt x="54" y="442"/>
                </a:lnTo>
                <a:lnTo>
                  <a:pt x="55" y="443"/>
                </a:lnTo>
                <a:lnTo>
                  <a:pt x="57" y="444"/>
                </a:lnTo>
                <a:lnTo>
                  <a:pt x="59" y="446"/>
                </a:lnTo>
                <a:lnTo>
                  <a:pt x="62" y="448"/>
                </a:lnTo>
                <a:lnTo>
                  <a:pt x="65" y="449"/>
                </a:lnTo>
                <a:lnTo>
                  <a:pt x="67" y="449"/>
                </a:lnTo>
                <a:lnTo>
                  <a:pt x="70" y="447"/>
                </a:lnTo>
                <a:lnTo>
                  <a:pt x="72" y="445"/>
                </a:lnTo>
                <a:lnTo>
                  <a:pt x="74" y="443"/>
                </a:lnTo>
                <a:lnTo>
                  <a:pt x="75" y="440"/>
                </a:lnTo>
                <a:lnTo>
                  <a:pt x="76" y="436"/>
                </a:lnTo>
                <a:lnTo>
                  <a:pt x="76" y="434"/>
                </a:lnTo>
                <a:lnTo>
                  <a:pt x="77" y="431"/>
                </a:lnTo>
                <a:lnTo>
                  <a:pt x="77" y="430"/>
                </a:lnTo>
                <a:lnTo>
                  <a:pt x="77" y="429"/>
                </a:lnTo>
                <a:lnTo>
                  <a:pt x="71" y="398"/>
                </a:lnTo>
                <a:lnTo>
                  <a:pt x="81" y="337"/>
                </a:lnTo>
                <a:lnTo>
                  <a:pt x="83" y="324"/>
                </a:lnTo>
                <a:lnTo>
                  <a:pt x="96" y="324"/>
                </a:lnTo>
                <a:lnTo>
                  <a:pt x="96" y="325"/>
                </a:lnTo>
                <a:lnTo>
                  <a:pt x="96" y="327"/>
                </a:lnTo>
                <a:lnTo>
                  <a:pt x="96" y="330"/>
                </a:lnTo>
                <a:lnTo>
                  <a:pt x="96" y="334"/>
                </a:lnTo>
                <a:lnTo>
                  <a:pt x="97" y="339"/>
                </a:lnTo>
                <a:lnTo>
                  <a:pt x="97" y="344"/>
                </a:lnTo>
                <a:lnTo>
                  <a:pt x="98" y="350"/>
                </a:lnTo>
                <a:lnTo>
                  <a:pt x="98" y="355"/>
                </a:lnTo>
                <a:lnTo>
                  <a:pt x="99" y="363"/>
                </a:lnTo>
                <a:lnTo>
                  <a:pt x="101" y="371"/>
                </a:lnTo>
                <a:lnTo>
                  <a:pt x="103" y="378"/>
                </a:lnTo>
                <a:lnTo>
                  <a:pt x="104" y="385"/>
                </a:lnTo>
                <a:lnTo>
                  <a:pt x="106" y="391"/>
                </a:lnTo>
                <a:lnTo>
                  <a:pt x="107" y="397"/>
                </a:lnTo>
                <a:lnTo>
                  <a:pt x="108" y="400"/>
                </a:lnTo>
                <a:lnTo>
                  <a:pt x="108" y="401"/>
                </a:lnTo>
                <a:lnTo>
                  <a:pt x="106" y="428"/>
                </a:lnTo>
                <a:lnTo>
                  <a:pt x="114" y="431"/>
                </a:lnTo>
                <a:lnTo>
                  <a:pt x="114" y="427"/>
                </a:lnTo>
                <a:lnTo>
                  <a:pt x="116" y="428"/>
                </a:lnTo>
                <a:lnTo>
                  <a:pt x="119" y="429"/>
                </a:lnTo>
                <a:lnTo>
                  <a:pt x="121" y="431"/>
                </a:lnTo>
                <a:lnTo>
                  <a:pt x="125" y="432"/>
                </a:lnTo>
                <a:lnTo>
                  <a:pt x="128" y="434"/>
                </a:lnTo>
                <a:lnTo>
                  <a:pt x="131" y="436"/>
                </a:lnTo>
                <a:lnTo>
                  <a:pt x="136" y="438"/>
                </a:lnTo>
                <a:lnTo>
                  <a:pt x="139" y="439"/>
                </a:lnTo>
                <a:lnTo>
                  <a:pt x="143" y="440"/>
                </a:lnTo>
                <a:lnTo>
                  <a:pt x="147" y="440"/>
                </a:lnTo>
                <a:lnTo>
                  <a:pt x="150" y="440"/>
                </a:lnTo>
                <a:lnTo>
                  <a:pt x="153" y="439"/>
                </a:lnTo>
                <a:lnTo>
                  <a:pt x="156" y="438"/>
                </a:lnTo>
                <a:lnTo>
                  <a:pt x="158" y="438"/>
                </a:lnTo>
                <a:lnTo>
                  <a:pt x="157" y="429"/>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1" name="Freeform 21">
            <a:extLst>
              <a:ext uri="{FF2B5EF4-FFF2-40B4-BE49-F238E27FC236}">
                <a16:creationId xmlns:a16="http://schemas.microsoft.com/office/drawing/2014/main" id="{920C41E3-F176-3038-DE47-60D75DE0423A}"/>
              </a:ext>
            </a:extLst>
          </p:cNvPr>
          <p:cNvSpPr>
            <a:spLocks/>
          </p:cNvSpPr>
          <p:nvPr/>
        </p:nvSpPr>
        <p:spPr bwMode="auto">
          <a:xfrm>
            <a:off x="1492250" y="3222625"/>
            <a:ext cx="254000" cy="712788"/>
          </a:xfrm>
          <a:custGeom>
            <a:avLst/>
            <a:gdLst>
              <a:gd name="T0" fmla="*/ 2147483646 w 160"/>
              <a:gd name="T1" fmla="*/ 2147483646 h 449"/>
              <a:gd name="T2" fmla="*/ 2147483646 w 160"/>
              <a:gd name="T3" fmla="*/ 2147483646 h 449"/>
              <a:gd name="T4" fmla="*/ 2147483646 w 160"/>
              <a:gd name="T5" fmla="*/ 2147483646 h 449"/>
              <a:gd name="T6" fmla="*/ 2147483646 w 160"/>
              <a:gd name="T7" fmla="*/ 2147483646 h 449"/>
              <a:gd name="T8" fmla="*/ 2147483646 w 160"/>
              <a:gd name="T9" fmla="*/ 2147483646 h 449"/>
              <a:gd name="T10" fmla="*/ 2147483646 w 160"/>
              <a:gd name="T11" fmla="*/ 2147483646 h 449"/>
              <a:gd name="T12" fmla="*/ 2147483646 w 160"/>
              <a:gd name="T13" fmla="*/ 2147483646 h 449"/>
              <a:gd name="T14" fmla="*/ 2147483646 w 160"/>
              <a:gd name="T15" fmla="*/ 2147483646 h 449"/>
              <a:gd name="T16" fmla="*/ 2147483646 w 160"/>
              <a:gd name="T17" fmla="*/ 2147483646 h 449"/>
              <a:gd name="T18" fmla="*/ 2147483646 w 160"/>
              <a:gd name="T19" fmla="*/ 2147483646 h 449"/>
              <a:gd name="T20" fmla="*/ 2147483646 w 160"/>
              <a:gd name="T21" fmla="*/ 2147483646 h 449"/>
              <a:gd name="T22" fmla="*/ 2147483646 w 160"/>
              <a:gd name="T23" fmla="*/ 2147483646 h 449"/>
              <a:gd name="T24" fmla="*/ 2147483646 w 160"/>
              <a:gd name="T25" fmla="*/ 2147483646 h 449"/>
              <a:gd name="T26" fmla="*/ 2147483646 w 160"/>
              <a:gd name="T27" fmla="*/ 2147483646 h 449"/>
              <a:gd name="T28" fmla="*/ 2147483646 w 160"/>
              <a:gd name="T29" fmla="*/ 2147483646 h 449"/>
              <a:gd name="T30" fmla="*/ 2147483646 w 160"/>
              <a:gd name="T31" fmla="*/ 2147483646 h 449"/>
              <a:gd name="T32" fmla="*/ 2147483646 w 160"/>
              <a:gd name="T33" fmla="*/ 2147483646 h 449"/>
              <a:gd name="T34" fmla="*/ 2147483646 w 160"/>
              <a:gd name="T35" fmla="*/ 2147483646 h 449"/>
              <a:gd name="T36" fmla="*/ 2147483646 w 160"/>
              <a:gd name="T37" fmla="*/ 2147483646 h 449"/>
              <a:gd name="T38" fmla="*/ 2147483646 w 160"/>
              <a:gd name="T39" fmla="*/ 2147483646 h 449"/>
              <a:gd name="T40" fmla="*/ 2147483646 w 160"/>
              <a:gd name="T41" fmla="*/ 2147483646 h 449"/>
              <a:gd name="T42" fmla="*/ 2147483646 w 160"/>
              <a:gd name="T43" fmla="*/ 2147483646 h 449"/>
              <a:gd name="T44" fmla="*/ 2147483646 w 160"/>
              <a:gd name="T45" fmla="*/ 0 h 449"/>
              <a:gd name="T46" fmla="*/ 2147483646 w 160"/>
              <a:gd name="T47" fmla="*/ 0 h 449"/>
              <a:gd name="T48" fmla="*/ 2147483646 w 160"/>
              <a:gd name="T49" fmla="*/ 2147483646 h 449"/>
              <a:gd name="T50" fmla="*/ 2147483646 w 160"/>
              <a:gd name="T51" fmla="*/ 2147483646 h 449"/>
              <a:gd name="T52" fmla="*/ 2147483646 w 160"/>
              <a:gd name="T53" fmla="*/ 2147483646 h 449"/>
              <a:gd name="T54" fmla="*/ 2147483646 w 160"/>
              <a:gd name="T55" fmla="*/ 2147483646 h 449"/>
              <a:gd name="T56" fmla="*/ 2147483646 w 160"/>
              <a:gd name="T57" fmla="*/ 2147483646 h 449"/>
              <a:gd name="T58" fmla="*/ 2147483646 w 160"/>
              <a:gd name="T59" fmla="*/ 2147483646 h 449"/>
              <a:gd name="T60" fmla="*/ 2147483646 w 160"/>
              <a:gd name="T61" fmla="*/ 2147483646 h 449"/>
              <a:gd name="T62" fmla="*/ 2147483646 w 160"/>
              <a:gd name="T63" fmla="*/ 2147483646 h 449"/>
              <a:gd name="T64" fmla="*/ 2147483646 w 160"/>
              <a:gd name="T65" fmla="*/ 2147483646 h 449"/>
              <a:gd name="T66" fmla="*/ 2147483646 w 160"/>
              <a:gd name="T67" fmla="*/ 2147483646 h 449"/>
              <a:gd name="T68" fmla="*/ 2147483646 w 160"/>
              <a:gd name="T69" fmla="*/ 2147483646 h 449"/>
              <a:gd name="T70" fmla="*/ 2147483646 w 160"/>
              <a:gd name="T71" fmla="*/ 2147483646 h 449"/>
              <a:gd name="T72" fmla="*/ 0 w 160"/>
              <a:gd name="T73" fmla="*/ 2147483646 h 449"/>
              <a:gd name="T74" fmla="*/ 2147483646 w 160"/>
              <a:gd name="T75" fmla="*/ 2147483646 h 449"/>
              <a:gd name="T76" fmla="*/ 2147483646 w 160"/>
              <a:gd name="T77" fmla="*/ 2147483646 h 449"/>
              <a:gd name="T78" fmla="*/ 2147483646 w 160"/>
              <a:gd name="T79" fmla="*/ 2147483646 h 449"/>
              <a:gd name="T80" fmla="*/ 2147483646 w 160"/>
              <a:gd name="T81" fmla="*/ 2147483646 h 449"/>
              <a:gd name="T82" fmla="*/ 2147483646 w 160"/>
              <a:gd name="T83" fmla="*/ 2147483646 h 449"/>
              <a:gd name="T84" fmla="*/ 2147483646 w 160"/>
              <a:gd name="T85" fmla="*/ 2147483646 h 449"/>
              <a:gd name="T86" fmla="*/ 2147483646 w 160"/>
              <a:gd name="T87" fmla="*/ 2147483646 h 449"/>
              <a:gd name="T88" fmla="*/ 2147483646 w 160"/>
              <a:gd name="T89" fmla="*/ 2147483646 h 449"/>
              <a:gd name="T90" fmla="*/ 2147483646 w 160"/>
              <a:gd name="T91" fmla="*/ 2147483646 h 449"/>
              <a:gd name="T92" fmla="*/ 2147483646 w 160"/>
              <a:gd name="T93" fmla="*/ 2147483646 h 449"/>
              <a:gd name="T94" fmla="*/ 2147483646 w 160"/>
              <a:gd name="T95" fmla="*/ 2147483646 h 449"/>
              <a:gd name="T96" fmla="*/ 2147483646 w 160"/>
              <a:gd name="T97" fmla="*/ 2147483646 h 449"/>
              <a:gd name="T98" fmla="*/ 2147483646 w 160"/>
              <a:gd name="T99" fmla="*/ 2147483646 h 449"/>
              <a:gd name="T100" fmla="*/ 2147483646 w 160"/>
              <a:gd name="T101" fmla="*/ 2147483646 h 449"/>
              <a:gd name="T102" fmla="*/ 2147483646 w 160"/>
              <a:gd name="T103" fmla="*/ 2147483646 h 449"/>
              <a:gd name="T104" fmla="*/ 2147483646 w 160"/>
              <a:gd name="T105" fmla="*/ 2147483646 h 449"/>
              <a:gd name="T106" fmla="*/ 2147483646 w 160"/>
              <a:gd name="T107" fmla="*/ 2147483646 h 449"/>
              <a:gd name="T108" fmla="*/ 2147483646 w 160"/>
              <a:gd name="T109" fmla="*/ 2147483646 h 449"/>
              <a:gd name="T110" fmla="*/ 2147483646 w 160"/>
              <a:gd name="T111" fmla="*/ 2147483646 h 449"/>
              <a:gd name="T112" fmla="*/ 2147483646 w 160"/>
              <a:gd name="T113" fmla="*/ 2147483646 h 449"/>
              <a:gd name="T114" fmla="*/ 2147483646 w 160"/>
              <a:gd name="T115" fmla="*/ 2147483646 h 449"/>
              <a:gd name="T116" fmla="*/ 2147483646 w 160"/>
              <a:gd name="T117" fmla="*/ 2147483646 h 449"/>
              <a:gd name="T118" fmla="*/ 2147483646 w 160"/>
              <a:gd name="T119" fmla="*/ 2147483646 h 449"/>
              <a:gd name="T120" fmla="*/ 2147483646 w 160"/>
              <a:gd name="T121" fmla="*/ 2147483646 h 449"/>
              <a:gd name="T122" fmla="*/ 2147483646 w 160"/>
              <a:gd name="T123" fmla="*/ 2147483646 h 449"/>
              <a:gd name="T124" fmla="*/ 2147483646 w 160"/>
              <a:gd name="T125" fmla="*/ 2147483646 h 44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0" h="449">
                <a:moveTo>
                  <a:pt x="157" y="429"/>
                </a:moveTo>
                <a:lnTo>
                  <a:pt x="155" y="428"/>
                </a:lnTo>
                <a:lnTo>
                  <a:pt x="152" y="426"/>
                </a:lnTo>
                <a:lnTo>
                  <a:pt x="147" y="422"/>
                </a:lnTo>
                <a:lnTo>
                  <a:pt x="140" y="418"/>
                </a:lnTo>
                <a:lnTo>
                  <a:pt x="134" y="413"/>
                </a:lnTo>
                <a:lnTo>
                  <a:pt x="129" y="407"/>
                </a:lnTo>
                <a:lnTo>
                  <a:pt x="125" y="401"/>
                </a:lnTo>
                <a:lnTo>
                  <a:pt x="124" y="394"/>
                </a:lnTo>
                <a:lnTo>
                  <a:pt x="124" y="386"/>
                </a:lnTo>
                <a:lnTo>
                  <a:pt x="125" y="374"/>
                </a:lnTo>
                <a:lnTo>
                  <a:pt x="126" y="360"/>
                </a:lnTo>
                <a:lnTo>
                  <a:pt x="127" y="346"/>
                </a:lnTo>
                <a:lnTo>
                  <a:pt x="128" y="332"/>
                </a:lnTo>
                <a:lnTo>
                  <a:pt x="130" y="321"/>
                </a:lnTo>
                <a:lnTo>
                  <a:pt x="131" y="313"/>
                </a:lnTo>
                <a:lnTo>
                  <a:pt x="131" y="310"/>
                </a:lnTo>
                <a:lnTo>
                  <a:pt x="132" y="310"/>
                </a:lnTo>
                <a:lnTo>
                  <a:pt x="133" y="308"/>
                </a:lnTo>
                <a:lnTo>
                  <a:pt x="135" y="307"/>
                </a:lnTo>
                <a:lnTo>
                  <a:pt x="137" y="304"/>
                </a:lnTo>
                <a:lnTo>
                  <a:pt x="137" y="300"/>
                </a:lnTo>
                <a:lnTo>
                  <a:pt x="139" y="294"/>
                </a:lnTo>
                <a:lnTo>
                  <a:pt x="140" y="287"/>
                </a:lnTo>
                <a:lnTo>
                  <a:pt x="130" y="200"/>
                </a:lnTo>
                <a:lnTo>
                  <a:pt x="131" y="203"/>
                </a:lnTo>
                <a:lnTo>
                  <a:pt x="131" y="206"/>
                </a:lnTo>
                <a:lnTo>
                  <a:pt x="133" y="209"/>
                </a:lnTo>
                <a:lnTo>
                  <a:pt x="135" y="213"/>
                </a:lnTo>
                <a:lnTo>
                  <a:pt x="137" y="215"/>
                </a:lnTo>
                <a:lnTo>
                  <a:pt x="138" y="216"/>
                </a:lnTo>
                <a:lnTo>
                  <a:pt x="140" y="215"/>
                </a:lnTo>
                <a:lnTo>
                  <a:pt x="141" y="213"/>
                </a:lnTo>
                <a:lnTo>
                  <a:pt x="142" y="210"/>
                </a:lnTo>
                <a:lnTo>
                  <a:pt x="143" y="207"/>
                </a:lnTo>
                <a:lnTo>
                  <a:pt x="144" y="204"/>
                </a:lnTo>
                <a:lnTo>
                  <a:pt x="144" y="200"/>
                </a:lnTo>
                <a:lnTo>
                  <a:pt x="143" y="196"/>
                </a:lnTo>
                <a:lnTo>
                  <a:pt x="142" y="192"/>
                </a:lnTo>
                <a:lnTo>
                  <a:pt x="140" y="186"/>
                </a:lnTo>
                <a:lnTo>
                  <a:pt x="136" y="178"/>
                </a:lnTo>
                <a:lnTo>
                  <a:pt x="136" y="171"/>
                </a:lnTo>
                <a:lnTo>
                  <a:pt x="137" y="165"/>
                </a:lnTo>
                <a:lnTo>
                  <a:pt x="139" y="157"/>
                </a:lnTo>
                <a:lnTo>
                  <a:pt x="140" y="147"/>
                </a:lnTo>
                <a:lnTo>
                  <a:pt x="140" y="133"/>
                </a:lnTo>
                <a:lnTo>
                  <a:pt x="137" y="114"/>
                </a:lnTo>
                <a:lnTo>
                  <a:pt x="130" y="88"/>
                </a:lnTo>
                <a:lnTo>
                  <a:pt x="127" y="83"/>
                </a:lnTo>
                <a:lnTo>
                  <a:pt x="125" y="80"/>
                </a:lnTo>
                <a:lnTo>
                  <a:pt x="120" y="76"/>
                </a:lnTo>
                <a:lnTo>
                  <a:pt x="116" y="72"/>
                </a:lnTo>
                <a:lnTo>
                  <a:pt x="113" y="70"/>
                </a:lnTo>
                <a:lnTo>
                  <a:pt x="109" y="68"/>
                </a:lnTo>
                <a:lnTo>
                  <a:pt x="107" y="67"/>
                </a:lnTo>
                <a:lnTo>
                  <a:pt x="106" y="66"/>
                </a:lnTo>
                <a:lnTo>
                  <a:pt x="108" y="66"/>
                </a:lnTo>
                <a:lnTo>
                  <a:pt x="109" y="66"/>
                </a:lnTo>
                <a:lnTo>
                  <a:pt x="110" y="65"/>
                </a:lnTo>
                <a:lnTo>
                  <a:pt x="112" y="64"/>
                </a:lnTo>
                <a:lnTo>
                  <a:pt x="114" y="63"/>
                </a:lnTo>
                <a:lnTo>
                  <a:pt x="115" y="60"/>
                </a:lnTo>
                <a:lnTo>
                  <a:pt x="116" y="58"/>
                </a:lnTo>
                <a:lnTo>
                  <a:pt x="116" y="55"/>
                </a:lnTo>
                <a:lnTo>
                  <a:pt x="116" y="52"/>
                </a:lnTo>
                <a:lnTo>
                  <a:pt x="115" y="49"/>
                </a:lnTo>
                <a:lnTo>
                  <a:pt x="114" y="46"/>
                </a:lnTo>
                <a:lnTo>
                  <a:pt x="113" y="44"/>
                </a:lnTo>
                <a:lnTo>
                  <a:pt x="111" y="41"/>
                </a:lnTo>
                <a:lnTo>
                  <a:pt x="109" y="38"/>
                </a:lnTo>
                <a:lnTo>
                  <a:pt x="107" y="35"/>
                </a:lnTo>
                <a:lnTo>
                  <a:pt x="105" y="32"/>
                </a:lnTo>
                <a:lnTo>
                  <a:pt x="104" y="29"/>
                </a:lnTo>
                <a:lnTo>
                  <a:pt x="104" y="25"/>
                </a:lnTo>
                <a:lnTo>
                  <a:pt x="103" y="22"/>
                </a:lnTo>
                <a:lnTo>
                  <a:pt x="103" y="20"/>
                </a:lnTo>
                <a:lnTo>
                  <a:pt x="103" y="18"/>
                </a:lnTo>
                <a:lnTo>
                  <a:pt x="103" y="17"/>
                </a:lnTo>
                <a:lnTo>
                  <a:pt x="102" y="16"/>
                </a:lnTo>
                <a:lnTo>
                  <a:pt x="102" y="15"/>
                </a:lnTo>
                <a:lnTo>
                  <a:pt x="102" y="13"/>
                </a:lnTo>
                <a:lnTo>
                  <a:pt x="101" y="11"/>
                </a:lnTo>
                <a:lnTo>
                  <a:pt x="100" y="8"/>
                </a:lnTo>
                <a:lnTo>
                  <a:pt x="100" y="6"/>
                </a:lnTo>
                <a:lnTo>
                  <a:pt x="100" y="4"/>
                </a:lnTo>
                <a:lnTo>
                  <a:pt x="100" y="2"/>
                </a:lnTo>
                <a:lnTo>
                  <a:pt x="98" y="0"/>
                </a:lnTo>
                <a:lnTo>
                  <a:pt x="96" y="0"/>
                </a:lnTo>
                <a:lnTo>
                  <a:pt x="92" y="0"/>
                </a:lnTo>
                <a:lnTo>
                  <a:pt x="87" y="0"/>
                </a:lnTo>
                <a:lnTo>
                  <a:pt x="81" y="0"/>
                </a:lnTo>
                <a:lnTo>
                  <a:pt x="76" y="1"/>
                </a:lnTo>
                <a:lnTo>
                  <a:pt x="71" y="2"/>
                </a:lnTo>
                <a:lnTo>
                  <a:pt x="67" y="3"/>
                </a:lnTo>
                <a:lnTo>
                  <a:pt x="65" y="5"/>
                </a:lnTo>
                <a:lnTo>
                  <a:pt x="62" y="8"/>
                </a:lnTo>
                <a:lnTo>
                  <a:pt x="59" y="12"/>
                </a:lnTo>
                <a:lnTo>
                  <a:pt x="56" y="17"/>
                </a:lnTo>
                <a:lnTo>
                  <a:pt x="54" y="22"/>
                </a:lnTo>
                <a:lnTo>
                  <a:pt x="51" y="28"/>
                </a:lnTo>
                <a:lnTo>
                  <a:pt x="49" y="34"/>
                </a:lnTo>
                <a:lnTo>
                  <a:pt x="48" y="38"/>
                </a:lnTo>
                <a:lnTo>
                  <a:pt x="46" y="43"/>
                </a:lnTo>
                <a:lnTo>
                  <a:pt x="44" y="47"/>
                </a:lnTo>
                <a:lnTo>
                  <a:pt x="42" y="51"/>
                </a:lnTo>
                <a:lnTo>
                  <a:pt x="40" y="54"/>
                </a:lnTo>
                <a:lnTo>
                  <a:pt x="38" y="56"/>
                </a:lnTo>
                <a:lnTo>
                  <a:pt x="37" y="58"/>
                </a:lnTo>
                <a:lnTo>
                  <a:pt x="36" y="59"/>
                </a:lnTo>
                <a:lnTo>
                  <a:pt x="35" y="59"/>
                </a:lnTo>
                <a:lnTo>
                  <a:pt x="40" y="64"/>
                </a:lnTo>
                <a:lnTo>
                  <a:pt x="41" y="64"/>
                </a:lnTo>
                <a:lnTo>
                  <a:pt x="42" y="65"/>
                </a:lnTo>
                <a:lnTo>
                  <a:pt x="43" y="66"/>
                </a:lnTo>
                <a:lnTo>
                  <a:pt x="44" y="68"/>
                </a:lnTo>
                <a:lnTo>
                  <a:pt x="45" y="69"/>
                </a:lnTo>
                <a:lnTo>
                  <a:pt x="45" y="72"/>
                </a:lnTo>
                <a:lnTo>
                  <a:pt x="43" y="73"/>
                </a:lnTo>
                <a:lnTo>
                  <a:pt x="40" y="76"/>
                </a:lnTo>
                <a:lnTo>
                  <a:pt x="36" y="81"/>
                </a:lnTo>
                <a:lnTo>
                  <a:pt x="31" y="90"/>
                </a:lnTo>
                <a:lnTo>
                  <a:pt x="25" y="102"/>
                </a:lnTo>
                <a:lnTo>
                  <a:pt x="20" y="116"/>
                </a:lnTo>
                <a:lnTo>
                  <a:pt x="16" y="131"/>
                </a:lnTo>
                <a:lnTo>
                  <a:pt x="11" y="143"/>
                </a:lnTo>
                <a:lnTo>
                  <a:pt x="9" y="152"/>
                </a:lnTo>
                <a:lnTo>
                  <a:pt x="8" y="157"/>
                </a:lnTo>
                <a:lnTo>
                  <a:pt x="9" y="159"/>
                </a:lnTo>
                <a:lnTo>
                  <a:pt x="10" y="162"/>
                </a:lnTo>
                <a:lnTo>
                  <a:pt x="10" y="163"/>
                </a:lnTo>
                <a:lnTo>
                  <a:pt x="11" y="166"/>
                </a:lnTo>
                <a:lnTo>
                  <a:pt x="13" y="168"/>
                </a:lnTo>
                <a:lnTo>
                  <a:pt x="14" y="170"/>
                </a:lnTo>
                <a:lnTo>
                  <a:pt x="16" y="173"/>
                </a:lnTo>
                <a:lnTo>
                  <a:pt x="9" y="196"/>
                </a:lnTo>
                <a:lnTo>
                  <a:pt x="7" y="200"/>
                </a:lnTo>
                <a:lnTo>
                  <a:pt x="5" y="206"/>
                </a:lnTo>
                <a:lnTo>
                  <a:pt x="3" y="216"/>
                </a:lnTo>
                <a:lnTo>
                  <a:pt x="1" y="227"/>
                </a:lnTo>
                <a:lnTo>
                  <a:pt x="0" y="238"/>
                </a:lnTo>
                <a:lnTo>
                  <a:pt x="0" y="247"/>
                </a:lnTo>
                <a:lnTo>
                  <a:pt x="0" y="255"/>
                </a:lnTo>
                <a:lnTo>
                  <a:pt x="2" y="259"/>
                </a:lnTo>
                <a:lnTo>
                  <a:pt x="3" y="260"/>
                </a:lnTo>
                <a:lnTo>
                  <a:pt x="5" y="260"/>
                </a:lnTo>
                <a:lnTo>
                  <a:pt x="8" y="261"/>
                </a:lnTo>
                <a:lnTo>
                  <a:pt x="11" y="262"/>
                </a:lnTo>
                <a:lnTo>
                  <a:pt x="16" y="263"/>
                </a:lnTo>
                <a:lnTo>
                  <a:pt x="20" y="264"/>
                </a:lnTo>
                <a:lnTo>
                  <a:pt x="24" y="264"/>
                </a:lnTo>
                <a:lnTo>
                  <a:pt x="29" y="264"/>
                </a:lnTo>
                <a:lnTo>
                  <a:pt x="28" y="272"/>
                </a:lnTo>
                <a:lnTo>
                  <a:pt x="27" y="279"/>
                </a:lnTo>
                <a:lnTo>
                  <a:pt x="27" y="285"/>
                </a:lnTo>
                <a:lnTo>
                  <a:pt x="26" y="291"/>
                </a:lnTo>
                <a:lnTo>
                  <a:pt x="25" y="296"/>
                </a:lnTo>
                <a:lnTo>
                  <a:pt x="24" y="300"/>
                </a:lnTo>
                <a:lnTo>
                  <a:pt x="24" y="302"/>
                </a:lnTo>
                <a:lnTo>
                  <a:pt x="25" y="303"/>
                </a:lnTo>
                <a:lnTo>
                  <a:pt x="27" y="305"/>
                </a:lnTo>
                <a:lnTo>
                  <a:pt x="30" y="307"/>
                </a:lnTo>
                <a:lnTo>
                  <a:pt x="34" y="309"/>
                </a:lnTo>
                <a:lnTo>
                  <a:pt x="38" y="311"/>
                </a:lnTo>
                <a:lnTo>
                  <a:pt x="41" y="312"/>
                </a:lnTo>
                <a:lnTo>
                  <a:pt x="43" y="312"/>
                </a:lnTo>
                <a:lnTo>
                  <a:pt x="44" y="310"/>
                </a:lnTo>
                <a:lnTo>
                  <a:pt x="44" y="312"/>
                </a:lnTo>
                <a:lnTo>
                  <a:pt x="45" y="315"/>
                </a:lnTo>
                <a:lnTo>
                  <a:pt x="47" y="320"/>
                </a:lnTo>
                <a:lnTo>
                  <a:pt x="49" y="324"/>
                </a:lnTo>
                <a:lnTo>
                  <a:pt x="50" y="329"/>
                </a:lnTo>
                <a:lnTo>
                  <a:pt x="51" y="333"/>
                </a:lnTo>
                <a:lnTo>
                  <a:pt x="52" y="337"/>
                </a:lnTo>
                <a:lnTo>
                  <a:pt x="53" y="337"/>
                </a:lnTo>
                <a:lnTo>
                  <a:pt x="52" y="338"/>
                </a:lnTo>
                <a:lnTo>
                  <a:pt x="52" y="340"/>
                </a:lnTo>
                <a:lnTo>
                  <a:pt x="51" y="341"/>
                </a:lnTo>
                <a:lnTo>
                  <a:pt x="50" y="345"/>
                </a:lnTo>
                <a:lnTo>
                  <a:pt x="50" y="347"/>
                </a:lnTo>
                <a:lnTo>
                  <a:pt x="49" y="351"/>
                </a:lnTo>
                <a:lnTo>
                  <a:pt x="49" y="355"/>
                </a:lnTo>
                <a:lnTo>
                  <a:pt x="49" y="361"/>
                </a:lnTo>
                <a:lnTo>
                  <a:pt x="50" y="367"/>
                </a:lnTo>
                <a:lnTo>
                  <a:pt x="51" y="375"/>
                </a:lnTo>
                <a:lnTo>
                  <a:pt x="54" y="383"/>
                </a:lnTo>
                <a:lnTo>
                  <a:pt x="55" y="390"/>
                </a:lnTo>
                <a:lnTo>
                  <a:pt x="57" y="396"/>
                </a:lnTo>
                <a:lnTo>
                  <a:pt x="59" y="400"/>
                </a:lnTo>
                <a:lnTo>
                  <a:pt x="59" y="401"/>
                </a:lnTo>
                <a:lnTo>
                  <a:pt x="51" y="417"/>
                </a:lnTo>
                <a:lnTo>
                  <a:pt x="54" y="441"/>
                </a:lnTo>
                <a:lnTo>
                  <a:pt x="55" y="443"/>
                </a:lnTo>
                <a:lnTo>
                  <a:pt x="57" y="444"/>
                </a:lnTo>
                <a:lnTo>
                  <a:pt x="60" y="446"/>
                </a:lnTo>
                <a:lnTo>
                  <a:pt x="62" y="447"/>
                </a:lnTo>
                <a:lnTo>
                  <a:pt x="65" y="448"/>
                </a:lnTo>
                <a:lnTo>
                  <a:pt x="67" y="448"/>
                </a:lnTo>
                <a:lnTo>
                  <a:pt x="70" y="447"/>
                </a:lnTo>
                <a:lnTo>
                  <a:pt x="72" y="444"/>
                </a:lnTo>
                <a:lnTo>
                  <a:pt x="74" y="442"/>
                </a:lnTo>
                <a:lnTo>
                  <a:pt x="75" y="439"/>
                </a:lnTo>
                <a:lnTo>
                  <a:pt x="76" y="436"/>
                </a:lnTo>
                <a:lnTo>
                  <a:pt x="76" y="433"/>
                </a:lnTo>
                <a:lnTo>
                  <a:pt x="77" y="431"/>
                </a:lnTo>
                <a:lnTo>
                  <a:pt x="77" y="430"/>
                </a:lnTo>
                <a:lnTo>
                  <a:pt x="77" y="429"/>
                </a:lnTo>
                <a:lnTo>
                  <a:pt x="71" y="398"/>
                </a:lnTo>
                <a:lnTo>
                  <a:pt x="82" y="337"/>
                </a:lnTo>
                <a:lnTo>
                  <a:pt x="84" y="324"/>
                </a:lnTo>
                <a:lnTo>
                  <a:pt x="96" y="324"/>
                </a:lnTo>
                <a:lnTo>
                  <a:pt x="96" y="325"/>
                </a:lnTo>
                <a:lnTo>
                  <a:pt x="96" y="327"/>
                </a:lnTo>
                <a:lnTo>
                  <a:pt x="96" y="330"/>
                </a:lnTo>
                <a:lnTo>
                  <a:pt x="97" y="334"/>
                </a:lnTo>
                <a:lnTo>
                  <a:pt x="97" y="339"/>
                </a:lnTo>
                <a:lnTo>
                  <a:pt x="97" y="344"/>
                </a:lnTo>
                <a:lnTo>
                  <a:pt x="98" y="349"/>
                </a:lnTo>
                <a:lnTo>
                  <a:pt x="98" y="355"/>
                </a:lnTo>
                <a:lnTo>
                  <a:pt x="100" y="362"/>
                </a:lnTo>
                <a:lnTo>
                  <a:pt x="101" y="370"/>
                </a:lnTo>
                <a:lnTo>
                  <a:pt x="103" y="378"/>
                </a:lnTo>
                <a:lnTo>
                  <a:pt x="104" y="384"/>
                </a:lnTo>
                <a:lnTo>
                  <a:pt x="106" y="391"/>
                </a:lnTo>
                <a:lnTo>
                  <a:pt x="108" y="396"/>
                </a:lnTo>
                <a:lnTo>
                  <a:pt x="108" y="399"/>
                </a:lnTo>
                <a:lnTo>
                  <a:pt x="109" y="401"/>
                </a:lnTo>
                <a:lnTo>
                  <a:pt x="106" y="428"/>
                </a:lnTo>
                <a:lnTo>
                  <a:pt x="115" y="430"/>
                </a:lnTo>
                <a:lnTo>
                  <a:pt x="115" y="426"/>
                </a:lnTo>
                <a:lnTo>
                  <a:pt x="116" y="427"/>
                </a:lnTo>
                <a:lnTo>
                  <a:pt x="119" y="429"/>
                </a:lnTo>
                <a:lnTo>
                  <a:pt x="121" y="430"/>
                </a:lnTo>
                <a:lnTo>
                  <a:pt x="125" y="432"/>
                </a:lnTo>
                <a:lnTo>
                  <a:pt x="128" y="434"/>
                </a:lnTo>
                <a:lnTo>
                  <a:pt x="132" y="435"/>
                </a:lnTo>
                <a:lnTo>
                  <a:pt x="136" y="437"/>
                </a:lnTo>
                <a:lnTo>
                  <a:pt x="140" y="439"/>
                </a:lnTo>
                <a:lnTo>
                  <a:pt x="143" y="439"/>
                </a:lnTo>
                <a:lnTo>
                  <a:pt x="148" y="439"/>
                </a:lnTo>
                <a:lnTo>
                  <a:pt x="151" y="439"/>
                </a:lnTo>
                <a:lnTo>
                  <a:pt x="153" y="439"/>
                </a:lnTo>
                <a:lnTo>
                  <a:pt x="156" y="438"/>
                </a:lnTo>
                <a:lnTo>
                  <a:pt x="158" y="438"/>
                </a:lnTo>
                <a:lnTo>
                  <a:pt x="159" y="437"/>
                </a:lnTo>
                <a:lnTo>
                  <a:pt x="157" y="429"/>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8790" name="Rectangle 22">
            <a:extLst>
              <a:ext uri="{FF2B5EF4-FFF2-40B4-BE49-F238E27FC236}">
                <a16:creationId xmlns:a16="http://schemas.microsoft.com/office/drawing/2014/main" id="{72AA7012-AF58-8AC7-2DA5-3C149723DC71}"/>
              </a:ext>
            </a:extLst>
          </p:cNvPr>
          <p:cNvSpPr>
            <a:spLocks noChangeArrowheads="1"/>
          </p:cNvSpPr>
          <p:nvPr/>
        </p:nvSpPr>
        <p:spPr bwMode="auto">
          <a:xfrm>
            <a:off x="1428750" y="3268663"/>
            <a:ext cx="369888" cy="457200"/>
          </a:xfrm>
          <a:prstGeom prst="rect">
            <a:avLst/>
          </a:prstGeom>
          <a:noFill/>
          <a:ln>
            <a:noFill/>
          </a:ln>
          <a:effectLst/>
        </p:spPr>
        <p:txBody>
          <a:bodyPr wrap="none" lIns="92075" tIns="46038" rIns="92075" bIns="46038">
            <a:spAutoFit/>
          </a:bodyPr>
          <a:lstStyle/>
          <a:p>
            <a:pPr>
              <a:defRPr/>
            </a:pPr>
            <a:r>
              <a:rPr lang="en-US" b="1">
                <a:effectLst>
                  <a:outerShdw blurRad="38100" dist="38100" dir="2700000" algn="tl">
                    <a:srgbClr val="FFFFFF"/>
                  </a:outerShdw>
                </a:effectLst>
              </a:rPr>
              <a:t>?</a:t>
            </a:r>
          </a:p>
        </p:txBody>
      </p:sp>
      <p:sp>
        <p:nvSpPr>
          <p:cNvPr id="8213" name="Rectangle 23">
            <a:extLst>
              <a:ext uri="{FF2B5EF4-FFF2-40B4-BE49-F238E27FC236}">
                <a16:creationId xmlns:a16="http://schemas.microsoft.com/office/drawing/2014/main" id="{7CC16FBB-FD7A-52EB-FE85-858E788155C3}"/>
              </a:ext>
            </a:extLst>
          </p:cNvPr>
          <p:cNvSpPr>
            <a:spLocks noChangeArrowheads="1"/>
          </p:cNvSpPr>
          <p:nvPr/>
        </p:nvSpPr>
        <p:spPr bwMode="auto">
          <a:xfrm>
            <a:off x="2244725" y="4059238"/>
            <a:ext cx="5965825" cy="177006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214" name="Rectangle 24">
            <a:extLst>
              <a:ext uri="{FF2B5EF4-FFF2-40B4-BE49-F238E27FC236}">
                <a16:creationId xmlns:a16="http://schemas.microsoft.com/office/drawing/2014/main" id="{67D438B3-2ACB-7AEC-0C86-F07E80FA3BAD}"/>
              </a:ext>
            </a:extLst>
          </p:cNvPr>
          <p:cNvSpPr>
            <a:spLocks noChangeArrowheads="1"/>
          </p:cNvSpPr>
          <p:nvPr/>
        </p:nvSpPr>
        <p:spPr bwMode="auto">
          <a:xfrm>
            <a:off x="3652838" y="4784725"/>
            <a:ext cx="4002087"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200" b="1">
                <a:solidFill>
                  <a:srgbClr val="000000"/>
                </a:solidFill>
              </a:rPr>
              <a:t>“What is Jones’ salary?”</a:t>
            </a:r>
          </a:p>
        </p:txBody>
      </p:sp>
      <p:sp>
        <p:nvSpPr>
          <p:cNvPr id="8215" name="Oval 25">
            <a:extLst>
              <a:ext uri="{FF2B5EF4-FFF2-40B4-BE49-F238E27FC236}">
                <a16:creationId xmlns:a16="http://schemas.microsoft.com/office/drawing/2014/main" id="{51042BBB-9A16-F1E8-BD17-6C601B7C9E18}"/>
              </a:ext>
            </a:extLst>
          </p:cNvPr>
          <p:cNvSpPr>
            <a:spLocks noChangeArrowheads="1"/>
          </p:cNvSpPr>
          <p:nvPr/>
        </p:nvSpPr>
        <p:spPr bwMode="auto">
          <a:xfrm>
            <a:off x="2422525" y="4484688"/>
            <a:ext cx="1117600" cy="1106487"/>
          </a:xfrm>
          <a:prstGeom prst="ellipse">
            <a:avLst/>
          </a:prstGeom>
          <a:solidFill>
            <a:srgbClr val="FF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8216" name="Group 26">
            <a:extLst>
              <a:ext uri="{FF2B5EF4-FFF2-40B4-BE49-F238E27FC236}">
                <a16:creationId xmlns:a16="http://schemas.microsoft.com/office/drawing/2014/main" id="{8B18D814-2EE3-F13D-7532-7E2565BD986B}"/>
              </a:ext>
            </a:extLst>
          </p:cNvPr>
          <p:cNvGrpSpPr>
            <a:grpSpLocks/>
          </p:cNvGrpSpPr>
          <p:nvPr/>
        </p:nvGrpSpPr>
        <p:grpSpPr bwMode="auto">
          <a:xfrm>
            <a:off x="2695575" y="4648200"/>
            <a:ext cx="612775" cy="776288"/>
            <a:chOff x="1698" y="2928"/>
            <a:chExt cx="386" cy="489"/>
          </a:xfrm>
        </p:grpSpPr>
        <p:grpSp>
          <p:nvGrpSpPr>
            <p:cNvPr id="8220" name="Group 27">
              <a:extLst>
                <a:ext uri="{FF2B5EF4-FFF2-40B4-BE49-F238E27FC236}">
                  <a16:creationId xmlns:a16="http://schemas.microsoft.com/office/drawing/2014/main" id="{E31B92CC-4B67-B9AB-8F36-431553BF2DC7}"/>
                </a:ext>
              </a:extLst>
            </p:cNvPr>
            <p:cNvGrpSpPr>
              <a:grpSpLocks/>
            </p:cNvGrpSpPr>
            <p:nvPr/>
          </p:nvGrpSpPr>
          <p:grpSpPr bwMode="auto">
            <a:xfrm>
              <a:off x="1781" y="3018"/>
              <a:ext cx="303" cy="399"/>
              <a:chOff x="1781" y="3018"/>
              <a:chExt cx="303" cy="399"/>
            </a:xfrm>
          </p:grpSpPr>
          <p:sp>
            <p:nvSpPr>
              <p:cNvPr id="8241" name="Freeform 28">
                <a:extLst>
                  <a:ext uri="{FF2B5EF4-FFF2-40B4-BE49-F238E27FC236}">
                    <a16:creationId xmlns:a16="http://schemas.microsoft.com/office/drawing/2014/main" id="{A0924985-F29E-5A8A-F7A2-AFFC0CDEBF75}"/>
                  </a:ext>
                </a:extLst>
              </p:cNvPr>
              <p:cNvSpPr>
                <a:spLocks/>
              </p:cNvSpPr>
              <p:nvPr/>
            </p:nvSpPr>
            <p:spPr bwMode="auto">
              <a:xfrm>
                <a:off x="1788" y="3044"/>
                <a:ext cx="296" cy="373"/>
              </a:xfrm>
              <a:custGeom>
                <a:avLst/>
                <a:gdLst>
                  <a:gd name="T0" fmla="*/ 2 w 296"/>
                  <a:gd name="T1" fmla="*/ 353 h 373"/>
                  <a:gd name="T2" fmla="*/ 1 w 296"/>
                  <a:gd name="T3" fmla="*/ 348 h 373"/>
                  <a:gd name="T4" fmla="*/ 0 w 296"/>
                  <a:gd name="T5" fmla="*/ 334 h 373"/>
                  <a:gd name="T6" fmla="*/ 0 w 296"/>
                  <a:gd name="T7" fmla="*/ 315 h 373"/>
                  <a:gd name="T8" fmla="*/ 0 w 296"/>
                  <a:gd name="T9" fmla="*/ 290 h 373"/>
                  <a:gd name="T10" fmla="*/ 2 w 296"/>
                  <a:gd name="T11" fmla="*/ 262 h 373"/>
                  <a:gd name="T12" fmla="*/ 6 w 296"/>
                  <a:gd name="T13" fmla="*/ 234 h 373"/>
                  <a:gd name="T14" fmla="*/ 15 w 296"/>
                  <a:gd name="T15" fmla="*/ 209 h 373"/>
                  <a:gd name="T16" fmla="*/ 26 w 296"/>
                  <a:gd name="T17" fmla="*/ 186 h 373"/>
                  <a:gd name="T18" fmla="*/ 40 w 296"/>
                  <a:gd name="T19" fmla="*/ 170 h 373"/>
                  <a:gd name="T20" fmla="*/ 54 w 296"/>
                  <a:gd name="T21" fmla="*/ 161 h 373"/>
                  <a:gd name="T22" fmla="*/ 68 w 296"/>
                  <a:gd name="T23" fmla="*/ 155 h 373"/>
                  <a:gd name="T24" fmla="*/ 80 w 296"/>
                  <a:gd name="T25" fmla="*/ 151 h 373"/>
                  <a:gd name="T26" fmla="*/ 94 w 296"/>
                  <a:gd name="T27" fmla="*/ 146 h 373"/>
                  <a:gd name="T28" fmla="*/ 107 w 296"/>
                  <a:gd name="T29" fmla="*/ 139 h 373"/>
                  <a:gd name="T30" fmla="*/ 121 w 296"/>
                  <a:gd name="T31" fmla="*/ 127 h 373"/>
                  <a:gd name="T32" fmla="*/ 134 w 296"/>
                  <a:gd name="T33" fmla="*/ 108 h 373"/>
                  <a:gd name="T34" fmla="*/ 146 w 296"/>
                  <a:gd name="T35" fmla="*/ 85 h 373"/>
                  <a:gd name="T36" fmla="*/ 154 w 296"/>
                  <a:gd name="T37" fmla="*/ 63 h 373"/>
                  <a:gd name="T38" fmla="*/ 160 w 296"/>
                  <a:gd name="T39" fmla="*/ 45 h 373"/>
                  <a:gd name="T40" fmla="*/ 164 w 296"/>
                  <a:gd name="T41" fmla="*/ 29 h 373"/>
                  <a:gd name="T42" fmla="*/ 167 w 296"/>
                  <a:gd name="T43" fmla="*/ 17 h 373"/>
                  <a:gd name="T44" fmla="*/ 168 w 296"/>
                  <a:gd name="T45" fmla="*/ 7 h 373"/>
                  <a:gd name="T46" fmla="*/ 168 w 296"/>
                  <a:gd name="T47" fmla="*/ 1 h 373"/>
                  <a:gd name="T48" fmla="*/ 168 w 296"/>
                  <a:gd name="T49" fmla="*/ 0 h 373"/>
                  <a:gd name="T50" fmla="*/ 295 w 296"/>
                  <a:gd name="T51" fmla="*/ 19 h 373"/>
                  <a:gd name="T52" fmla="*/ 294 w 296"/>
                  <a:gd name="T53" fmla="*/ 25 h 373"/>
                  <a:gd name="T54" fmla="*/ 292 w 296"/>
                  <a:gd name="T55" fmla="*/ 39 h 373"/>
                  <a:gd name="T56" fmla="*/ 287 w 296"/>
                  <a:gd name="T57" fmla="*/ 60 h 373"/>
                  <a:gd name="T58" fmla="*/ 281 w 296"/>
                  <a:gd name="T59" fmla="*/ 85 h 373"/>
                  <a:gd name="T60" fmla="*/ 273 w 296"/>
                  <a:gd name="T61" fmla="*/ 112 h 373"/>
                  <a:gd name="T62" fmla="*/ 264 w 296"/>
                  <a:gd name="T63" fmla="*/ 136 h 373"/>
                  <a:gd name="T64" fmla="*/ 253 w 296"/>
                  <a:gd name="T65" fmla="*/ 158 h 373"/>
                  <a:gd name="T66" fmla="*/ 242 w 296"/>
                  <a:gd name="T67" fmla="*/ 171 h 373"/>
                  <a:gd name="T68" fmla="*/ 228 w 296"/>
                  <a:gd name="T69" fmla="*/ 180 h 373"/>
                  <a:gd name="T70" fmla="*/ 212 w 296"/>
                  <a:gd name="T71" fmla="*/ 186 h 373"/>
                  <a:gd name="T72" fmla="*/ 194 w 296"/>
                  <a:gd name="T73" fmla="*/ 191 h 373"/>
                  <a:gd name="T74" fmla="*/ 176 w 296"/>
                  <a:gd name="T75" fmla="*/ 195 h 373"/>
                  <a:gd name="T76" fmla="*/ 159 w 296"/>
                  <a:gd name="T77" fmla="*/ 202 h 373"/>
                  <a:gd name="T78" fmla="*/ 145 w 296"/>
                  <a:gd name="T79" fmla="*/ 211 h 373"/>
                  <a:gd name="T80" fmla="*/ 132 w 296"/>
                  <a:gd name="T81" fmla="*/ 224 h 373"/>
                  <a:gd name="T82" fmla="*/ 124 w 296"/>
                  <a:gd name="T83" fmla="*/ 242 h 373"/>
                  <a:gd name="T84" fmla="*/ 121 w 296"/>
                  <a:gd name="T85" fmla="*/ 263 h 373"/>
                  <a:gd name="T86" fmla="*/ 118 w 296"/>
                  <a:gd name="T87" fmla="*/ 286 h 373"/>
                  <a:gd name="T88" fmla="*/ 117 w 296"/>
                  <a:gd name="T89" fmla="*/ 308 h 373"/>
                  <a:gd name="T90" fmla="*/ 117 w 296"/>
                  <a:gd name="T91" fmla="*/ 327 h 373"/>
                  <a:gd name="T92" fmla="*/ 118 w 296"/>
                  <a:gd name="T93" fmla="*/ 345 h 373"/>
                  <a:gd name="T94" fmla="*/ 119 w 296"/>
                  <a:gd name="T95" fmla="*/ 359 h 373"/>
                  <a:gd name="T96" fmla="*/ 120 w 296"/>
                  <a:gd name="T97" fmla="*/ 368 h 373"/>
                  <a:gd name="T98" fmla="*/ 121 w 296"/>
                  <a:gd name="T99" fmla="*/ 372 h 373"/>
                  <a:gd name="T100" fmla="*/ 2 w 296"/>
                  <a:gd name="T101" fmla="*/ 353 h 37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6" h="373">
                    <a:moveTo>
                      <a:pt x="2" y="353"/>
                    </a:moveTo>
                    <a:lnTo>
                      <a:pt x="1" y="348"/>
                    </a:lnTo>
                    <a:lnTo>
                      <a:pt x="0" y="334"/>
                    </a:lnTo>
                    <a:lnTo>
                      <a:pt x="0" y="315"/>
                    </a:lnTo>
                    <a:lnTo>
                      <a:pt x="0" y="290"/>
                    </a:lnTo>
                    <a:lnTo>
                      <a:pt x="2" y="262"/>
                    </a:lnTo>
                    <a:lnTo>
                      <a:pt x="6" y="234"/>
                    </a:lnTo>
                    <a:lnTo>
                      <a:pt x="15" y="209"/>
                    </a:lnTo>
                    <a:lnTo>
                      <a:pt x="26" y="186"/>
                    </a:lnTo>
                    <a:lnTo>
                      <a:pt x="40" y="170"/>
                    </a:lnTo>
                    <a:lnTo>
                      <a:pt x="54" y="161"/>
                    </a:lnTo>
                    <a:lnTo>
                      <a:pt x="68" y="155"/>
                    </a:lnTo>
                    <a:lnTo>
                      <a:pt x="80" y="151"/>
                    </a:lnTo>
                    <a:lnTo>
                      <a:pt x="94" y="146"/>
                    </a:lnTo>
                    <a:lnTo>
                      <a:pt x="107" y="139"/>
                    </a:lnTo>
                    <a:lnTo>
                      <a:pt x="121" y="127"/>
                    </a:lnTo>
                    <a:lnTo>
                      <a:pt x="134" y="108"/>
                    </a:lnTo>
                    <a:lnTo>
                      <a:pt x="146" y="85"/>
                    </a:lnTo>
                    <a:lnTo>
                      <a:pt x="154" y="63"/>
                    </a:lnTo>
                    <a:lnTo>
                      <a:pt x="160" y="45"/>
                    </a:lnTo>
                    <a:lnTo>
                      <a:pt x="164" y="29"/>
                    </a:lnTo>
                    <a:lnTo>
                      <a:pt x="167" y="17"/>
                    </a:lnTo>
                    <a:lnTo>
                      <a:pt x="168" y="7"/>
                    </a:lnTo>
                    <a:lnTo>
                      <a:pt x="168" y="1"/>
                    </a:lnTo>
                    <a:lnTo>
                      <a:pt x="168" y="0"/>
                    </a:lnTo>
                    <a:lnTo>
                      <a:pt x="295" y="19"/>
                    </a:lnTo>
                    <a:lnTo>
                      <a:pt x="294" y="25"/>
                    </a:lnTo>
                    <a:lnTo>
                      <a:pt x="292" y="39"/>
                    </a:lnTo>
                    <a:lnTo>
                      <a:pt x="287" y="60"/>
                    </a:lnTo>
                    <a:lnTo>
                      <a:pt x="281" y="85"/>
                    </a:lnTo>
                    <a:lnTo>
                      <a:pt x="273" y="112"/>
                    </a:lnTo>
                    <a:lnTo>
                      <a:pt x="264" y="136"/>
                    </a:lnTo>
                    <a:lnTo>
                      <a:pt x="253" y="158"/>
                    </a:lnTo>
                    <a:lnTo>
                      <a:pt x="242" y="171"/>
                    </a:lnTo>
                    <a:lnTo>
                      <a:pt x="228" y="180"/>
                    </a:lnTo>
                    <a:lnTo>
                      <a:pt x="212" y="186"/>
                    </a:lnTo>
                    <a:lnTo>
                      <a:pt x="194" y="191"/>
                    </a:lnTo>
                    <a:lnTo>
                      <a:pt x="176" y="195"/>
                    </a:lnTo>
                    <a:lnTo>
                      <a:pt x="159" y="202"/>
                    </a:lnTo>
                    <a:lnTo>
                      <a:pt x="145" y="211"/>
                    </a:lnTo>
                    <a:lnTo>
                      <a:pt x="132" y="224"/>
                    </a:lnTo>
                    <a:lnTo>
                      <a:pt x="124" y="242"/>
                    </a:lnTo>
                    <a:lnTo>
                      <a:pt x="121" y="263"/>
                    </a:lnTo>
                    <a:lnTo>
                      <a:pt x="118" y="286"/>
                    </a:lnTo>
                    <a:lnTo>
                      <a:pt x="117" y="308"/>
                    </a:lnTo>
                    <a:lnTo>
                      <a:pt x="117" y="327"/>
                    </a:lnTo>
                    <a:lnTo>
                      <a:pt x="118" y="345"/>
                    </a:lnTo>
                    <a:lnTo>
                      <a:pt x="119" y="359"/>
                    </a:lnTo>
                    <a:lnTo>
                      <a:pt x="120" y="368"/>
                    </a:lnTo>
                    <a:lnTo>
                      <a:pt x="121" y="372"/>
                    </a:lnTo>
                    <a:lnTo>
                      <a:pt x="2" y="35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2" name="Freeform 29">
                <a:extLst>
                  <a:ext uri="{FF2B5EF4-FFF2-40B4-BE49-F238E27FC236}">
                    <a16:creationId xmlns:a16="http://schemas.microsoft.com/office/drawing/2014/main" id="{CA8B3F4E-F48F-FBF0-5A79-23F57F81FA0D}"/>
                  </a:ext>
                </a:extLst>
              </p:cNvPr>
              <p:cNvSpPr>
                <a:spLocks/>
              </p:cNvSpPr>
              <p:nvPr/>
            </p:nvSpPr>
            <p:spPr bwMode="auto">
              <a:xfrm>
                <a:off x="1781" y="3018"/>
                <a:ext cx="298" cy="374"/>
              </a:xfrm>
              <a:custGeom>
                <a:avLst/>
                <a:gdLst>
                  <a:gd name="T0" fmla="*/ 2 w 298"/>
                  <a:gd name="T1" fmla="*/ 354 h 374"/>
                  <a:gd name="T2" fmla="*/ 1 w 298"/>
                  <a:gd name="T3" fmla="*/ 350 h 374"/>
                  <a:gd name="T4" fmla="*/ 0 w 298"/>
                  <a:gd name="T5" fmla="*/ 336 h 374"/>
                  <a:gd name="T6" fmla="*/ 0 w 298"/>
                  <a:gd name="T7" fmla="*/ 315 h 374"/>
                  <a:gd name="T8" fmla="*/ 0 w 298"/>
                  <a:gd name="T9" fmla="*/ 290 h 374"/>
                  <a:gd name="T10" fmla="*/ 2 w 298"/>
                  <a:gd name="T11" fmla="*/ 263 h 374"/>
                  <a:gd name="T12" fmla="*/ 7 w 298"/>
                  <a:gd name="T13" fmla="*/ 236 h 374"/>
                  <a:gd name="T14" fmla="*/ 15 w 298"/>
                  <a:gd name="T15" fmla="*/ 209 h 374"/>
                  <a:gd name="T16" fmla="*/ 27 w 298"/>
                  <a:gd name="T17" fmla="*/ 187 h 374"/>
                  <a:gd name="T18" fmla="*/ 41 w 298"/>
                  <a:gd name="T19" fmla="*/ 172 h 374"/>
                  <a:gd name="T20" fmla="*/ 54 w 298"/>
                  <a:gd name="T21" fmla="*/ 161 h 374"/>
                  <a:gd name="T22" fmla="*/ 68 w 298"/>
                  <a:gd name="T23" fmla="*/ 156 h 374"/>
                  <a:gd name="T24" fmla="*/ 81 w 298"/>
                  <a:gd name="T25" fmla="*/ 152 h 374"/>
                  <a:gd name="T26" fmla="*/ 94 w 298"/>
                  <a:gd name="T27" fmla="*/ 148 h 374"/>
                  <a:gd name="T28" fmla="*/ 108 w 298"/>
                  <a:gd name="T29" fmla="*/ 141 h 374"/>
                  <a:gd name="T30" fmla="*/ 121 w 298"/>
                  <a:gd name="T31" fmla="*/ 128 h 374"/>
                  <a:gd name="T32" fmla="*/ 135 w 298"/>
                  <a:gd name="T33" fmla="*/ 109 h 374"/>
                  <a:gd name="T34" fmla="*/ 146 w 298"/>
                  <a:gd name="T35" fmla="*/ 85 h 374"/>
                  <a:gd name="T36" fmla="*/ 155 w 298"/>
                  <a:gd name="T37" fmla="*/ 65 h 374"/>
                  <a:gd name="T38" fmla="*/ 162 w 298"/>
                  <a:gd name="T39" fmla="*/ 46 h 374"/>
                  <a:gd name="T40" fmla="*/ 165 w 298"/>
                  <a:gd name="T41" fmla="*/ 30 h 374"/>
                  <a:gd name="T42" fmla="*/ 167 w 298"/>
                  <a:gd name="T43" fmla="*/ 18 h 374"/>
                  <a:gd name="T44" fmla="*/ 168 w 298"/>
                  <a:gd name="T45" fmla="*/ 7 h 374"/>
                  <a:gd name="T46" fmla="*/ 168 w 298"/>
                  <a:gd name="T47" fmla="*/ 2 h 374"/>
                  <a:gd name="T48" fmla="*/ 168 w 298"/>
                  <a:gd name="T49" fmla="*/ 0 h 374"/>
                  <a:gd name="T50" fmla="*/ 297 w 298"/>
                  <a:gd name="T51" fmla="*/ 20 h 374"/>
                  <a:gd name="T52" fmla="*/ 296 w 298"/>
                  <a:gd name="T53" fmla="*/ 25 h 374"/>
                  <a:gd name="T54" fmla="*/ 293 w 298"/>
                  <a:gd name="T55" fmla="*/ 39 h 374"/>
                  <a:gd name="T56" fmla="*/ 288 w 298"/>
                  <a:gd name="T57" fmla="*/ 61 h 374"/>
                  <a:gd name="T58" fmla="*/ 282 w 298"/>
                  <a:gd name="T59" fmla="*/ 86 h 374"/>
                  <a:gd name="T60" fmla="*/ 274 w 298"/>
                  <a:gd name="T61" fmla="*/ 112 h 374"/>
                  <a:gd name="T62" fmla="*/ 265 w 298"/>
                  <a:gd name="T63" fmla="*/ 138 h 374"/>
                  <a:gd name="T64" fmla="*/ 254 w 298"/>
                  <a:gd name="T65" fmla="*/ 158 h 374"/>
                  <a:gd name="T66" fmla="*/ 243 w 298"/>
                  <a:gd name="T67" fmla="*/ 173 h 374"/>
                  <a:gd name="T68" fmla="*/ 229 w 298"/>
                  <a:gd name="T69" fmla="*/ 181 h 374"/>
                  <a:gd name="T70" fmla="*/ 213 w 298"/>
                  <a:gd name="T71" fmla="*/ 187 h 374"/>
                  <a:gd name="T72" fmla="*/ 194 w 298"/>
                  <a:gd name="T73" fmla="*/ 191 h 374"/>
                  <a:gd name="T74" fmla="*/ 177 w 298"/>
                  <a:gd name="T75" fmla="*/ 197 h 374"/>
                  <a:gd name="T76" fmla="*/ 160 w 298"/>
                  <a:gd name="T77" fmla="*/ 203 h 374"/>
                  <a:gd name="T78" fmla="*/ 145 w 298"/>
                  <a:gd name="T79" fmla="*/ 212 h 374"/>
                  <a:gd name="T80" fmla="*/ 133 w 298"/>
                  <a:gd name="T81" fmla="*/ 224 h 374"/>
                  <a:gd name="T82" fmla="*/ 125 w 298"/>
                  <a:gd name="T83" fmla="*/ 242 h 374"/>
                  <a:gd name="T84" fmla="*/ 121 w 298"/>
                  <a:gd name="T85" fmla="*/ 265 h 374"/>
                  <a:gd name="T86" fmla="*/ 118 w 298"/>
                  <a:gd name="T87" fmla="*/ 287 h 374"/>
                  <a:gd name="T88" fmla="*/ 117 w 298"/>
                  <a:gd name="T89" fmla="*/ 309 h 374"/>
                  <a:gd name="T90" fmla="*/ 117 w 298"/>
                  <a:gd name="T91" fmla="*/ 329 h 374"/>
                  <a:gd name="T92" fmla="*/ 118 w 298"/>
                  <a:gd name="T93" fmla="*/ 346 h 374"/>
                  <a:gd name="T94" fmla="*/ 119 w 298"/>
                  <a:gd name="T95" fmla="*/ 360 h 374"/>
                  <a:gd name="T96" fmla="*/ 120 w 298"/>
                  <a:gd name="T97" fmla="*/ 369 h 374"/>
                  <a:gd name="T98" fmla="*/ 121 w 298"/>
                  <a:gd name="T99" fmla="*/ 373 h 374"/>
                  <a:gd name="T100" fmla="*/ 2 w 298"/>
                  <a:gd name="T101" fmla="*/ 354 h 37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8" h="374">
                    <a:moveTo>
                      <a:pt x="2" y="354"/>
                    </a:moveTo>
                    <a:lnTo>
                      <a:pt x="1" y="350"/>
                    </a:lnTo>
                    <a:lnTo>
                      <a:pt x="0" y="336"/>
                    </a:lnTo>
                    <a:lnTo>
                      <a:pt x="0" y="315"/>
                    </a:lnTo>
                    <a:lnTo>
                      <a:pt x="0" y="290"/>
                    </a:lnTo>
                    <a:lnTo>
                      <a:pt x="2" y="263"/>
                    </a:lnTo>
                    <a:lnTo>
                      <a:pt x="7" y="236"/>
                    </a:lnTo>
                    <a:lnTo>
                      <a:pt x="15" y="209"/>
                    </a:lnTo>
                    <a:lnTo>
                      <a:pt x="27" y="187"/>
                    </a:lnTo>
                    <a:lnTo>
                      <a:pt x="41" y="172"/>
                    </a:lnTo>
                    <a:lnTo>
                      <a:pt x="54" y="161"/>
                    </a:lnTo>
                    <a:lnTo>
                      <a:pt x="68" y="156"/>
                    </a:lnTo>
                    <a:lnTo>
                      <a:pt x="81" y="152"/>
                    </a:lnTo>
                    <a:lnTo>
                      <a:pt x="94" y="148"/>
                    </a:lnTo>
                    <a:lnTo>
                      <a:pt x="108" y="141"/>
                    </a:lnTo>
                    <a:lnTo>
                      <a:pt x="121" y="128"/>
                    </a:lnTo>
                    <a:lnTo>
                      <a:pt x="135" y="109"/>
                    </a:lnTo>
                    <a:lnTo>
                      <a:pt x="146" y="85"/>
                    </a:lnTo>
                    <a:lnTo>
                      <a:pt x="155" y="65"/>
                    </a:lnTo>
                    <a:lnTo>
                      <a:pt x="162" y="46"/>
                    </a:lnTo>
                    <a:lnTo>
                      <a:pt x="165" y="30"/>
                    </a:lnTo>
                    <a:lnTo>
                      <a:pt x="167" y="18"/>
                    </a:lnTo>
                    <a:lnTo>
                      <a:pt x="168" y="7"/>
                    </a:lnTo>
                    <a:lnTo>
                      <a:pt x="168" y="2"/>
                    </a:lnTo>
                    <a:lnTo>
                      <a:pt x="168" y="0"/>
                    </a:lnTo>
                    <a:lnTo>
                      <a:pt x="297" y="20"/>
                    </a:lnTo>
                    <a:lnTo>
                      <a:pt x="296" y="25"/>
                    </a:lnTo>
                    <a:lnTo>
                      <a:pt x="293" y="39"/>
                    </a:lnTo>
                    <a:lnTo>
                      <a:pt x="288" y="61"/>
                    </a:lnTo>
                    <a:lnTo>
                      <a:pt x="282" y="86"/>
                    </a:lnTo>
                    <a:lnTo>
                      <a:pt x="274" y="112"/>
                    </a:lnTo>
                    <a:lnTo>
                      <a:pt x="265" y="138"/>
                    </a:lnTo>
                    <a:lnTo>
                      <a:pt x="254" y="158"/>
                    </a:lnTo>
                    <a:lnTo>
                      <a:pt x="243" y="173"/>
                    </a:lnTo>
                    <a:lnTo>
                      <a:pt x="229" y="181"/>
                    </a:lnTo>
                    <a:lnTo>
                      <a:pt x="213" y="187"/>
                    </a:lnTo>
                    <a:lnTo>
                      <a:pt x="194" y="191"/>
                    </a:lnTo>
                    <a:lnTo>
                      <a:pt x="177" y="197"/>
                    </a:lnTo>
                    <a:lnTo>
                      <a:pt x="160" y="203"/>
                    </a:lnTo>
                    <a:lnTo>
                      <a:pt x="145" y="212"/>
                    </a:lnTo>
                    <a:lnTo>
                      <a:pt x="133" y="224"/>
                    </a:lnTo>
                    <a:lnTo>
                      <a:pt x="125" y="242"/>
                    </a:lnTo>
                    <a:lnTo>
                      <a:pt x="121" y="265"/>
                    </a:lnTo>
                    <a:lnTo>
                      <a:pt x="118" y="287"/>
                    </a:lnTo>
                    <a:lnTo>
                      <a:pt x="117" y="309"/>
                    </a:lnTo>
                    <a:lnTo>
                      <a:pt x="117" y="329"/>
                    </a:lnTo>
                    <a:lnTo>
                      <a:pt x="118" y="346"/>
                    </a:lnTo>
                    <a:lnTo>
                      <a:pt x="119" y="360"/>
                    </a:lnTo>
                    <a:lnTo>
                      <a:pt x="120" y="369"/>
                    </a:lnTo>
                    <a:lnTo>
                      <a:pt x="121" y="373"/>
                    </a:lnTo>
                    <a:lnTo>
                      <a:pt x="2" y="354"/>
                    </a:lnTo>
                  </a:path>
                </a:pathLst>
              </a:custGeom>
              <a:solidFill>
                <a:srgbClr val="00CC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3" name="Freeform 30">
                <a:extLst>
                  <a:ext uri="{FF2B5EF4-FFF2-40B4-BE49-F238E27FC236}">
                    <a16:creationId xmlns:a16="http://schemas.microsoft.com/office/drawing/2014/main" id="{1E467103-742B-2222-09DD-C35F1CA4F290}"/>
                  </a:ext>
                </a:extLst>
              </p:cNvPr>
              <p:cNvSpPr>
                <a:spLocks/>
              </p:cNvSpPr>
              <p:nvPr/>
            </p:nvSpPr>
            <p:spPr bwMode="auto">
              <a:xfrm>
                <a:off x="1798" y="3048"/>
                <a:ext cx="259" cy="319"/>
              </a:xfrm>
              <a:custGeom>
                <a:avLst/>
                <a:gdLst>
                  <a:gd name="T0" fmla="*/ 1 w 259"/>
                  <a:gd name="T1" fmla="*/ 303 h 319"/>
                  <a:gd name="T2" fmla="*/ 1 w 259"/>
                  <a:gd name="T3" fmla="*/ 299 h 319"/>
                  <a:gd name="T4" fmla="*/ 0 w 259"/>
                  <a:gd name="T5" fmla="*/ 287 h 319"/>
                  <a:gd name="T6" fmla="*/ 0 w 259"/>
                  <a:gd name="T7" fmla="*/ 270 h 319"/>
                  <a:gd name="T8" fmla="*/ 0 w 259"/>
                  <a:gd name="T9" fmla="*/ 248 h 319"/>
                  <a:gd name="T10" fmla="*/ 0 w 259"/>
                  <a:gd name="T11" fmla="*/ 226 h 319"/>
                  <a:gd name="T12" fmla="*/ 4 w 259"/>
                  <a:gd name="T13" fmla="*/ 203 h 319"/>
                  <a:gd name="T14" fmla="*/ 11 w 259"/>
                  <a:gd name="T15" fmla="*/ 181 h 319"/>
                  <a:gd name="T16" fmla="*/ 22 w 259"/>
                  <a:gd name="T17" fmla="*/ 164 h 319"/>
                  <a:gd name="T18" fmla="*/ 35 w 259"/>
                  <a:gd name="T19" fmla="*/ 152 h 319"/>
                  <a:gd name="T20" fmla="*/ 50 w 259"/>
                  <a:gd name="T21" fmla="*/ 143 h 319"/>
                  <a:gd name="T22" fmla="*/ 66 w 259"/>
                  <a:gd name="T23" fmla="*/ 135 h 319"/>
                  <a:gd name="T24" fmla="*/ 83 w 259"/>
                  <a:gd name="T25" fmla="*/ 128 h 319"/>
                  <a:gd name="T26" fmla="*/ 99 w 259"/>
                  <a:gd name="T27" fmla="*/ 120 h 319"/>
                  <a:gd name="T28" fmla="*/ 114 w 259"/>
                  <a:gd name="T29" fmla="*/ 107 h 319"/>
                  <a:gd name="T30" fmla="*/ 127 w 259"/>
                  <a:gd name="T31" fmla="*/ 91 h 319"/>
                  <a:gd name="T32" fmla="*/ 139 w 259"/>
                  <a:gd name="T33" fmla="*/ 68 h 319"/>
                  <a:gd name="T34" fmla="*/ 145 w 259"/>
                  <a:gd name="T35" fmla="*/ 48 h 319"/>
                  <a:gd name="T36" fmla="*/ 151 w 259"/>
                  <a:gd name="T37" fmla="*/ 34 h 319"/>
                  <a:gd name="T38" fmla="*/ 155 w 259"/>
                  <a:gd name="T39" fmla="*/ 21 h 319"/>
                  <a:gd name="T40" fmla="*/ 159 w 259"/>
                  <a:gd name="T41" fmla="*/ 12 h 319"/>
                  <a:gd name="T42" fmla="*/ 161 w 259"/>
                  <a:gd name="T43" fmla="*/ 6 h 319"/>
                  <a:gd name="T44" fmla="*/ 162 w 259"/>
                  <a:gd name="T45" fmla="*/ 2 h 319"/>
                  <a:gd name="T46" fmla="*/ 163 w 259"/>
                  <a:gd name="T47" fmla="*/ 0 h 319"/>
                  <a:gd name="T48" fmla="*/ 163 w 259"/>
                  <a:gd name="T49" fmla="*/ 0 h 319"/>
                  <a:gd name="T50" fmla="*/ 258 w 259"/>
                  <a:gd name="T51" fmla="*/ 17 h 319"/>
                  <a:gd name="T52" fmla="*/ 257 w 259"/>
                  <a:gd name="T53" fmla="*/ 21 h 319"/>
                  <a:gd name="T54" fmla="*/ 254 w 259"/>
                  <a:gd name="T55" fmla="*/ 32 h 319"/>
                  <a:gd name="T56" fmla="*/ 250 w 259"/>
                  <a:gd name="T57" fmla="*/ 48 h 319"/>
                  <a:gd name="T58" fmla="*/ 245 w 259"/>
                  <a:gd name="T59" fmla="*/ 68 h 319"/>
                  <a:gd name="T60" fmla="*/ 238 w 259"/>
                  <a:gd name="T61" fmla="*/ 88 h 319"/>
                  <a:gd name="T62" fmla="*/ 230 w 259"/>
                  <a:gd name="T63" fmla="*/ 107 h 319"/>
                  <a:gd name="T64" fmla="*/ 222 w 259"/>
                  <a:gd name="T65" fmla="*/ 123 h 319"/>
                  <a:gd name="T66" fmla="*/ 212 w 259"/>
                  <a:gd name="T67" fmla="*/ 134 h 319"/>
                  <a:gd name="T68" fmla="*/ 200 w 259"/>
                  <a:gd name="T69" fmla="*/ 140 h 319"/>
                  <a:gd name="T70" fmla="*/ 184 w 259"/>
                  <a:gd name="T71" fmla="*/ 146 h 319"/>
                  <a:gd name="T72" fmla="*/ 167 w 259"/>
                  <a:gd name="T73" fmla="*/ 152 h 319"/>
                  <a:gd name="T74" fmla="*/ 148 w 259"/>
                  <a:gd name="T75" fmla="*/ 157 h 319"/>
                  <a:gd name="T76" fmla="*/ 130 w 259"/>
                  <a:gd name="T77" fmla="*/ 165 h 319"/>
                  <a:gd name="T78" fmla="*/ 114 w 259"/>
                  <a:gd name="T79" fmla="*/ 176 h 319"/>
                  <a:gd name="T80" fmla="*/ 100 w 259"/>
                  <a:gd name="T81" fmla="*/ 189 h 319"/>
                  <a:gd name="T82" fmla="*/ 90 w 259"/>
                  <a:gd name="T83" fmla="*/ 206 h 319"/>
                  <a:gd name="T84" fmla="*/ 86 w 259"/>
                  <a:gd name="T85" fmla="*/ 223 h 319"/>
                  <a:gd name="T86" fmla="*/ 83 w 259"/>
                  <a:gd name="T87" fmla="*/ 241 h 319"/>
                  <a:gd name="T88" fmla="*/ 83 w 259"/>
                  <a:gd name="T89" fmla="*/ 260 h 319"/>
                  <a:gd name="T90" fmla="*/ 83 w 259"/>
                  <a:gd name="T91" fmla="*/ 278 h 319"/>
                  <a:gd name="T92" fmla="*/ 85 w 259"/>
                  <a:gd name="T93" fmla="*/ 293 h 319"/>
                  <a:gd name="T94" fmla="*/ 86 w 259"/>
                  <a:gd name="T95" fmla="*/ 305 h 319"/>
                  <a:gd name="T96" fmla="*/ 88 w 259"/>
                  <a:gd name="T97" fmla="*/ 314 h 319"/>
                  <a:gd name="T98" fmla="*/ 88 w 259"/>
                  <a:gd name="T99" fmla="*/ 318 h 319"/>
                  <a:gd name="T100" fmla="*/ 1 w 259"/>
                  <a:gd name="T101" fmla="*/ 303 h 31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59" h="319">
                    <a:moveTo>
                      <a:pt x="1" y="303"/>
                    </a:moveTo>
                    <a:lnTo>
                      <a:pt x="1" y="299"/>
                    </a:lnTo>
                    <a:lnTo>
                      <a:pt x="0" y="287"/>
                    </a:lnTo>
                    <a:lnTo>
                      <a:pt x="0" y="270"/>
                    </a:lnTo>
                    <a:lnTo>
                      <a:pt x="0" y="248"/>
                    </a:lnTo>
                    <a:lnTo>
                      <a:pt x="0" y="226"/>
                    </a:lnTo>
                    <a:lnTo>
                      <a:pt x="4" y="203"/>
                    </a:lnTo>
                    <a:lnTo>
                      <a:pt x="11" y="181"/>
                    </a:lnTo>
                    <a:lnTo>
                      <a:pt x="22" y="164"/>
                    </a:lnTo>
                    <a:lnTo>
                      <a:pt x="35" y="152"/>
                    </a:lnTo>
                    <a:lnTo>
                      <a:pt x="50" y="143"/>
                    </a:lnTo>
                    <a:lnTo>
                      <a:pt x="66" y="135"/>
                    </a:lnTo>
                    <a:lnTo>
                      <a:pt x="83" y="128"/>
                    </a:lnTo>
                    <a:lnTo>
                      <a:pt x="99" y="120"/>
                    </a:lnTo>
                    <a:lnTo>
                      <a:pt x="114" y="107"/>
                    </a:lnTo>
                    <a:lnTo>
                      <a:pt x="127" y="91"/>
                    </a:lnTo>
                    <a:lnTo>
                      <a:pt x="139" y="68"/>
                    </a:lnTo>
                    <a:lnTo>
                      <a:pt x="145" y="48"/>
                    </a:lnTo>
                    <a:lnTo>
                      <a:pt x="151" y="34"/>
                    </a:lnTo>
                    <a:lnTo>
                      <a:pt x="155" y="21"/>
                    </a:lnTo>
                    <a:lnTo>
                      <a:pt x="159" y="12"/>
                    </a:lnTo>
                    <a:lnTo>
                      <a:pt x="161" y="6"/>
                    </a:lnTo>
                    <a:lnTo>
                      <a:pt x="162" y="2"/>
                    </a:lnTo>
                    <a:lnTo>
                      <a:pt x="163" y="0"/>
                    </a:lnTo>
                    <a:lnTo>
                      <a:pt x="258" y="17"/>
                    </a:lnTo>
                    <a:lnTo>
                      <a:pt x="257" y="21"/>
                    </a:lnTo>
                    <a:lnTo>
                      <a:pt x="254" y="32"/>
                    </a:lnTo>
                    <a:lnTo>
                      <a:pt x="250" y="48"/>
                    </a:lnTo>
                    <a:lnTo>
                      <a:pt x="245" y="68"/>
                    </a:lnTo>
                    <a:lnTo>
                      <a:pt x="238" y="88"/>
                    </a:lnTo>
                    <a:lnTo>
                      <a:pt x="230" y="107"/>
                    </a:lnTo>
                    <a:lnTo>
                      <a:pt x="222" y="123"/>
                    </a:lnTo>
                    <a:lnTo>
                      <a:pt x="212" y="134"/>
                    </a:lnTo>
                    <a:lnTo>
                      <a:pt x="200" y="140"/>
                    </a:lnTo>
                    <a:lnTo>
                      <a:pt x="184" y="146"/>
                    </a:lnTo>
                    <a:lnTo>
                      <a:pt x="167" y="152"/>
                    </a:lnTo>
                    <a:lnTo>
                      <a:pt x="148" y="157"/>
                    </a:lnTo>
                    <a:lnTo>
                      <a:pt x="130" y="165"/>
                    </a:lnTo>
                    <a:lnTo>
                      <a:pt x="114" y="176"/>
                    </a:lnTo>
                    <a:lnTo>
                      <a:pt x="100" y="189"/>
                    </a:lnTo>
                    <a:lnTo>
                      <a:pt x="90" y="206"/>
                    </a:lnTo>
                    <a:lnTo>
                      <a:pt x="86" y="223"/>
                    </a:lnTo>
                    <a:lnTo>
                      <a:pt x="83" y="241"/>
                    </a:lnTo>
                    <a:lnTo>
                      <a:pt x="83" y="260"/>
                    </a:lnTo>
                    <a:lnTo>
                      <a:pt x="83" y="278"/>
                    </a:lnTo>
                    <a:lnTo>
                      <a:pt x="85" y="293"/>
                    </a:lnTo>
                    <a:lnTo>
                      <a:pt x="86" y="305"/>
                    </a:lnTo>
                    <a:lnTo>
                      <a:pt x="88" y="314"/>
                    </a:lnTo>
                    <a:lnTo>
                      <a:pt x="88" y="318"/>
                    </a:lnTo>
                    <a:lnTo>
                      <a:pt x="1" y="303"/>
                    </a:lnTo>
                  </a:path>
                </a:pathLst>
              </a:custGeom>
              <a:solidFill>
                <a:srgbClr val="CCFF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4" name="Freeform 31">
                <a:extLst>
                  <a:ext uri="{FF2B5EF4-FFF2-40B4-BE49-F238E27FC236}">
                    <a16:creationId xmlns:a16="http://schemas.microsoft.com/office/drawing/2014/main" id="{E061F910-F7E4-4C31-5A74-3582E0587B3C}"/>
                  </a:ext>
                </a:extLst>
              </p:cNvPr>
              <p:cNvSpPr>
                <a:spLocks/>
              </p:cNvSpPr>
              <p:nvPr/>
            </p:nvSpPr>
            <p:spPr bwMode="auto">
              <a:xfrm>
                <a:off x="1850" y="3166"/>
                <a:ext cx="123" cy="56"/>
              </a:xfrm>
              <a:custGeom>
                <a:avLst/>
                <a:gdLst>
                  <a:gd name="T0" fmla="*/ 64 w 123"/>
                  <a:gd name="T1" fmla="*/ 52 h 56"/>
                  <a:gd name="T2" fmla="*/ 76 w 123"/>
                  <a:gd name="T3" fmla="*/ 49 h 56"/>
                  <a:gd name="T4" fmla="*/ 88 w 123"/>
                  <a:gd name="T5" fmla="*/ 45 h 56"/>
                  <a:gd name="T6" fmla="*/ 97 w 123"/>
                  <a:gd name="T7" fmla="*/ 41 h 56"/>
                  <a:gd name="T8" fmla="*/ 106 w 123"/>
                  <a:gd name="T9" fmla="*/ 36 h 56"/>
                  <a:gd name="T10" fmla="*/ 113 w 123"/>
                  <a:gd name="T11" fmla="*/ 30 h 56"/>
                  <a:gd name="T12" fmla="*/ 118 w 123"/>
                  <a:gd name="T13" fmla="*/ 26 h 56"/>
                  <a:gd name="T14" fmla="*/ 121 w 123"/>
                  <a:gd name="T15" fmla="*/ 20 h 56"/>
                  <a:gd name="T16" fmla="*/ 122 w 123"/>
                  <a:gd name="T17" fmla="*/ 14 h 56"/>
                  <a:gd name="T18" fmla="*/ 120 w 123"/>
                  <a:gd name="T19" fmla="*/ 10 h 56"/>
                  <a:gd name="T20" fmla="*/ 116 w 123"/>
                  <a:gd name="T21" fmla="*/ 6 h 56"/>
                  <a:gd name="T22" fmla="*/ 109 w 123"/>
                  <a:gd name="T23" fmla="*/ 3 h 56"/>
                  <a:gd name="T24" fmla="*/ 101 w 123"/>
                  <a:gd name="T25" fmla="*/ 1 h 56"/>
                  <a:gd name="T26" fmla="*/ 91 w 123"/>
                  <a:gd name="T27" fmla="*/ 0 h 56"/>
                  <a:gd name="T28" fmla="*/ 81 w 123"/>
                  <a:gd name="T29" fmla="*/ 0 h 56"/>
                  <a:gd name="T30" fmla="*/ 69 w 123"/>
                  <a:gd name="T31" fmla="*/ 0 h 56"/>
                  <a:gd name="T32" fmla="*/ 57 w 123"/>
                  <a:gd name="T33" fmla="*/ 2 h 56"/>
                  <a:gd name="T34" fmla="*/ 45 w 123"/>
                  <a:gd name="T35" fmla="*/ 5 h 56"/>
                  <a:gd name="T36" fmla="*/ 33 w 123"/>
                  <a:gd name="T37" fmla="*/ 9 h 56"/>
                  <a:gd name="T38" fmla="*/ 24 w 123"/>
                  <a:gd name="T39" fmla="*/ 13 h 56"/>
                  <a:gd name="T40" fmla="*/ 15 w 123"/>
                  <a:gd name="T41" fmla="*/ 18 h 56"/>
                  <a:gd name="T42" fmla="*/ 8 w 123"/>
                  <a:gd name="T43" fmla="*/ 22 h 56"/>
                  <a:gd name="T44" fmla="*/ 3 w 123"/>
                  <a:gd name="T45" fmla="*/ 28 h 56"/>
                  <a:gd name="T46" fmla="*/ 0 w 123"/>
                  <a:gd name="T47" fmla="*/ 34 h 56"/>
                  <a:gd name="T48" fmla="*/ 0 w 123"/>
                  <a:gd name="T49" fmla="*/ 38 h 56"/>
                  <a:gd name="T50" fmla="*/ 1 w 123"/>
                  <a:gd name="T51" fmla="*/ 44 h 56"/>
                  <a:gd name="T52" fmla="*/ 5 w 123"/>
                  <a:gd name="T53" fmla="*/ 48 h 56"/>
                  <a:gd name="T54" fmla="*/ 12 w 123"/>
                  <a:gd name="T55" fmla="*/ 51 h 56"/>
                  <a:gd name="T56" fmla="*/ 20 w 123"/>
                  <a:gd name="T57" fmla="*/ 53 h 56"/>
                  <a:gd name="T58" fmla="*/ 30 w 123"/>
                  <a:gd name="T59" fmla="*/ 55 h 56"/>
                  <a:gd name="T60" fmla="*/ 40 w 123"/>
                  <a:gd name="T61" fmla="*/ 55 h 56"/>
                  <a:gd name="T62" fmla="*/ 52 w 123"/>
                  <a:gd name="T63" fmla="*/ 53 h 56"/>
                  <a:gd name="T64" fmla="*/ 64 w 123"/>
                  <a:gd name="T65" fmla="*/ 52 h 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3" h="56">
                    <a:moveTo>
                      <a:pt x="64" y="52"/>
                    </a:moveTo>
                    <a:lnTo>
                      <a:pt x="76" y="49"/>
                    </a:lnTo>
                    <a:lnTo>
                      <a:pt x="88" y="45"/>
                    </a:lnTo>
                    <a:lnTo>
                      <a:pt x="97" y="41"/>
                    </a:lnTo>
                    <a:lnTo>
                      <a:pt x="106" y="36"/>
                    </a:lnTo>
                    <a:lnTo>
                      <a:pt x="113" y="30"/>
                    </a:lnTo>
                    <a:lnTo>
                      <a:pt x="118" y="26"/>
                    </a:lnTo>
                    <a:lnTo>
                      <a:pt x="121" y="20"/>
                    </a:lnTo>
                    <a:lnTo>
                      <a:pt x="122" y="14"/>
                    </a:lnTo>
                    <a:lnTo>
                      <a:pt x="120" y="10"/>
                    </a:lnTo>
                    <a:lnTo>
                      <a:pt x="116" y="6"/>
                    </a:lnTo>
                    <a:lnTo>
                      <a:pt x="109" y="3"/>
                    </a:lnTo>
                    <a:lnTo>
                      <a:pt x="101" y="1"/>
                    </a:lnTo>
                    <a:lnTo>
                      <a:pt x="91" y="0"/>
                    </a:lnTo>
                    <a:lnTo>
                      <a:pt x="81" y="0"/>
                    </a:lnTo>
                    <a:lnTo>
                      <a:pt x="69" y="0"/>
                    </a:lnTo>
                    <a:lnTo>
                      <a:pt x="57" y="2"/>
                    </a:lnTo>
                    <a:lnTo>
                      <a:pt x="45" y="5"/>
                    </a:lnTo>
                    <a:lnTo>
                      <a:pt x="33" y="9"/>
                    </a:lnTo>
                    <a:lnTo>
                      <a:pt x="24" y="13"/>
                    </a:lnTo>
                    <a:lnTo>
                      <a:pt x="15" y="18"/>
                    </a:lnTo>
                    <a:lnTo>
                      <a:pt x="8" y="22"/>
                    </a:lnTo>
                    <a:lnTo>
                      <a:pt x="3" y="28"/>
                    </a:lnTo>
                    <a:lnTo>
                      <a:pt x="0" y="34"/>
                    </a:lnTo>
                    <a:lnTo>
                      <a:pt x="0" y="38"/>
                    </a:lnTo>
                    <a:lnTo>
                      <a:pt x="1" y="44"/>
                    </a:lnTo>
                    <a:lnTo>
                      <a:pt x="5" y="48"/>
                    </a:lnTo>
                    <a:lnTo>
                      <a:pt x="12" y="51"/>
                    </a:lnTo>
                    <a:lnTo>
                      <a:pt x="20" y="53"/>
                    </a:lnTo>
                    <a:lnTo>
                      <a:pt x="30" y="55"/>
                    </a:lnTo>
                    <a:lnTo>
                      <a:pt x="40" y="55"/>
                    </a:lnTo>
                    <a:lnTo>
                      <a:pt x="52" y="53"/>
                    </a:lnTo>
                    <a:lnTo>
                      <a:pt x="64" y="52"/>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5" name="Freeform 32">
                <a:extLst>
                  <a:ext uri="{FF2B5EF4-FFF2-40B4-BE49-F238E27FC236}">
                    <a16:creationId xmlns:a16="http://schemas.microsoft.com/office/drawing/2014/main" id="{E44A73CC-3B24-D28C-1C27-40A3798C0D1E}"/>
                  </a:ext>
                </a:extLst>
              </p:cNvPr>
              <p:cNvSpPr>
                <a:spLocks/>
              </p:cNvSpPr>
              <p:nvPr/>
            </p:nvSpPr>
            <p:spPr bwMode="auto">
              <a:xfrm>
                <a:off x="1860" y="3170"/>
                <a:ext cx="103" cy="47"/>
              </a:xfrm>
              <a:custGeom>
                <a:avLst/>
                <a:gdLst>
                  <a:gd name="T0" fmla="*/ 53 w 103"/>
                  <a:gd name="T1" fmla="*/ 43 h 47"/>
                  <a:gd name="T2" fmla="*/ 64 w 103"/>
                  <a:gd name="T3" fmla="*/ 41 h 47"/>
                  <a:gd name="T4" fmla="*/ 73 w 103"/>
                  <a:gd name="T5" fmla="*/ 37 h 47"/>
                  <a:gd name="T6" fmla="*/ 81 w 103"/>
                  <a:gd name="T7" fmla="*/ 34 h 47"/>
                  <a:gd name="T8" fmla="*/ 88 w 103"/>
                  <a:gd name="T9" fmla="*/ 29 h 47"/>
                  <a:gd name="T10" fmla="*/ 94 w 103"/>
                  <a:gd name="T11" fmla="*/ 26 h 47"/>
                  <a:gd name="T12" fmla="*/ 99 w 103"/>
                  <a:gd name="T13" fmla="*/ 21 h 47"/>
                  <a:gd name="T14" fmla="*/ 101 w 103"/>
                  <a:gd name="T15" fmla="*/ 17 h 47"/>
                  <a:gd name="T16" fmla="*/ 102 w 103"/>
                  <a:gd name="T17" fmla="*/ 12 h 47"/>
                  <a:gd name="T18" fmla="*/ 100 w 103"/>
                  <a:gd name="T19" fmla="*/ 9 h 47"/>
                  <a:gd name="T20" fmla="*/ 96 w 103"/>
                  <a:gd name="T21" fmla="*/ 5 h 47"/>
                  <a:gd name="T22" fmla="*/ 91 w 103"/>
                  <a:gd name="T23" fmla="*/ 2 h 47"/>
                  <a:gd name="T24" fmla="*/ 84 w 103"/>
                  <a:gd name="T25" fmla="*/ 1 h 47"/>
                  <a:gd name="T26" fmla="*/ 76 w 103"/>
                  <a:gd name="T27" fmla="*/ 0 h 47"/>
                  <a:gd name="T28" fmla="*/ 68 w 103"/>
                  <a:gd name="T29" fmla="*/ 0 h 47"/>
                  <a:gd name="T30" fmla="*/ 58 w 103"/>
                  <a:gd name="T31" fmla="*/ 0 h 47"/>
                  <a:gd name="T32" fmla="*/ 48 w 103"/>
                  <a:gd name="T33" fmla="*/ 2 h 47"/>
                  <a:gd name="T34" fmla="*/ 37 w 103"/>
                  <a:gd name="T35" fmla="*/ 4 h 47"/>
                  <a:gd name="T36" fmla="*/ 28 w 103"/>
                  <a:gd name="T37" fmla="*/ 6 h 47"/>
                  <a:gd name="T38" fmla="*/ 20 w 103"/>
                  <a:gd name="T39" fmla="*/ 11 h 47"/>
                  <a:gd name="T40" fmla="*/ 13 w 103"/>
                  <a:gd name="T41" fmla="*/ 14 h 47"/>
                  <a:gd name="T42" fmla="*/ 7 w 103"/>
                  <a:gd name="T43" fmla="*/ 19 h 47"/>
                  <a:gd name="T44" fmla="*/ 2 w 103"/>
                  <a:gd name="T45" fmla="*/ 24 h 47"/>
                  <a:gd name="T46" fmla="*/ 0 w 103"/>
                  <a:gd name="T47" fmla="*/ 28 h 47"/>
                  <a:gd name="T48" fmla="*/ 0 w 103"/>
                  <a:gd name="T49" fmla="*/ 33 h 47"/>
                  <a:gd name="T50" fmla="*/ 1 w 103"/>
                  <a:gd name="T51" fmla="*/ 36 h 47"/>
                  <a:gd name="T52" fmla="*/ 5 w 103"/>
                  <a:gd name="T53" fmla="*/ 40 h 47"/>
                  <a:gd name="T54" fmla="*/ 10 w 103"/>
                  <a:gd name="T55" fmla="*/ 42 h 47"/>
                  <a:gd name="T56" fmla="*/ 17 w 103"/>
                  <a:gd name="T57" fmla="*/ 44 h 47"/>
                  <a:gd name="T58" fmla="*/ 25 w 103"/>
                  <a:gd name="T59" fmla="*/ 46 h 47"/>
                  <a:gd name="T60" fmla="*/ 33 w 103"/>
                  <a:gd name="T61" fmla="*/ 46 h 47"/>
                  <a:gd name="T62" fmla="*/ 43 w 103"/>
                  <a:gd name="T63" fmla="*/ 44 h 47"/>
                  <a:gd name="T64" fmla="*/ 53 w 103"/>
                  <a:gd name="T65" fmla="*/ 43 h 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03" h="47">
                    <a:moveTo>
                      <a:pt x="53" y="43"/>
                    </a:moveTo>
                    <a:lnTo>
                      <a:pt x="64" y="41"/>
                    </a:lnTo>
                    <a:lnTo>
                      <a:pt x="73" y="37"/>
                    </a:lnTo>
                    <a:lnTo>
                      <a:pt x="81" y="34"/>
                    </a:lnTo>
                    <a:lnTo>
                      <a:pt x="88" y="29"/>
                    </a:lnTo>
                    <a:lnTo>
                      <a:pt x="94" y="26"/>
                    </a:lnTo>
                    <a:lnTo>
                      <a:pt x="99" y="21"/>
                    </a:lnTo>
                    <a:lnTo>
                      <a:pt x="101" y="17"/>
                    </a:lnTo>
                    <a:lnTo>
                      <a:pt x="102" y="12"/>
                    </a:lnTo>
                    <a:lnTo>
                      <a:pt x="100" y="9"/>
                    </a:lnTo>
                    <a:lnTo>
                      <a:pt x="96" y="5"/>
                    </a:lnTo>
                    <a:lnTo>
                      <a:pt x="91" y="2"/>
                    </a:lnTo>
                    <a:lnTo>
                      <a:pt x="84" y="1"/>
                    </a:lnTo>
                    <a:lnTo>
                      <a:pt x="76" y="0"/>
                    </a:lnTo>
                    <a:lnTo>
                      <a:pt x="68" y="0"/>
                    </a:lnTo>
                    <a:lnTo>
                      <a:pt x="58" y="0"/>
                    </a:lnTo>
                    <a:lnTo>
                      <a:pt x="48" y="2"/>
                    </a:lnTo>
                    <a:lnTo>
                      <a:pt x="37" y="4"/>
                    </a:lnTo>
                    <a:lnTo>
                      <a:pt x="28" y="6"/>
                    </a:lnTo>
                    <a:lnTo>
                      <a:pt x="20" y="11"/>
                    </a:lnTo>
                    <a:lnTo>
                      <a:pt x="13" y="14"/>
                    </a:lnTo>
                    <a:lnTo>
                      <a:pt x="7" y="19"/>
                    </a:lnTo>
                    <a:lnTo>
                      <a:pt x="2" y="24"/>
                    </a:lnTo>
                    <a:lnTo>
                      <a:pt x="0" y="28"/>
                    </a:lnTo>
                    <a:lnTo>
                      <a:pt x="0" y="33"/>
                    </a:lnTo>
                    <a:lnTo>
                      <a:pt x="1" y="36"/>
                    </a:lnTo>
                    <a:lnTo>
                      <a:pt x="5" y="40"/>
                    </a:lnTo>
                    <a:lnTo>
                      <a:pt x="10" y="42"/>
                    </a:lnTo>
                    <a:lnTo>
                      <a:pt x="17" y="44"/>
                    </a:lnTo>
                    <a:lnTo>
                      <a:pt x="25" y="46"/>
                    </a:lnTo>
                    <a:lnTo>
                      <a:pt x="33" y="46"/>
                    </a:lnTo>
                    <a:lnTo>
                      <a:pt x="43" y="44"/>
                    </a:lnTo>
                    <a:lnTo>
                      <a:pt x="53" y="4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6" name="Freeform 33">
                <a:extLst>
                  <a:ext uri="{FF2B5EF4-FFF2-40B4-BE49-F238E27FC236}">
                    <a16:creationId xmlns:a16="http://schemas.microsoft.com/office/drawing/2014/main" id="{0789D0C2-07FA-72C4-8B59-4D01F27D5229}"/>
                  </a:ext>
                </a:extLst>
              </p:cNvPr>
              <p:cNvSpPr>
                <a:spLocks/>
              </p:cNvSpPr>
              <p:nvPr/>
            </p:nvSpPr>
            <p:spPr bwMode="auto">
              <a:xfrm>
                <a:off x="1953" y="3034"/>
                <a:ext cx="26" cy="40"/>
              </a:xfrm>
              <a:custGeom>
                <a:avLst/>
                <a:gdLst>
                  <a:gd name="T0" fmla="*/ 2 w 26"/>
                  <a:gd name="T1" fmla="*/ 14 h 40"/>
                  <a:gd name="T2" fmla="*/ 0 w 26"/>
                  <a:gd name="T3" fmla="*/ 17 h 40"/>
                  <a:gd name="T4" fmla="*/ 0 w 26"/>
                  <a:gd name="T5" fmla="*/ 21 h 40"/>
                  <a:gd name="T6" fmla="*/ 0 w 26"/>
                  <a:gd name="T7" fmla="*/ 25 h 40"/>
                  <a:gd name="T8" fmla="*/ 0 w 26"/>
                  <a:gd name="T9" fmla="*/ 28 h 40"/>
                  <a:gd name="T10" fmla="*/ 0 w 26"/>
                  <a:gd name="T11" fmla="*/ 31 h 40"/>
                  <a:gd name="T12" fmla="*/ 1 w 26"/>
                  <a:gd name="T13" fmla="*/ 34 h 40"/>
                  <a:gd name="T14" fmla="*/ 2 w 26"/>
                  <a:gd name="T15" fmla="*/ 36 h 40"/>
                  <a:gd name="T16" fmla="*/ 4 w 26"/>
                  <a:gd name="T17" fmla="*/ 37 h 40"/>
                  <a:gd name="T18" fmla="*/ 6 w 26"/>
                  <a:gd name="T19" fmla="*/ 39 h 40"/>
                  <a:gd name="T20" fmla="*/ 8 w 26"/>
                  <a:gd name="T21" fmla="*/ 39 h 40"/>
                  <a:gd name="T22" fmla="*/ 11 w 26"/>
                  <a:gd name="T23" fmla="*/ 37 h 40"/>
                  <a:gd name="T24" fmla="*/ 13 w 26"/>
                  <a:gd name="T25" fmla="*/ 36 h 40"/>
                  <a:gd name="T26" fmla="*/ 16 w 26"/>
                  <a:gd name="T27" fmla="*/ 34 h 40"/>
                  <a:gd name="T28" fmla="*/ 18 w 26"/>
                  <a:gd name="T29" fmla="*/ 31 h 40"/>
                  <a:gd name="T30" fmla="*/ 20 w 26"/>
                  <a:gd name="T31" fmla="*/ 27 h 40"/>
                  <a:gd name="T32" fmla="*/ 22 w 26"/>
                  <a:gd name="T33" fmla="*/ 24 h 40"/>
                  <a:gd name="T34" fmla="*/ 23 w 26"/>
                  <a:gd name="T35" fmla="*/ 21 h 40"/>
                  <a:gd name="T36" fmla="*/ 24 w 26"/>
                  <a:gd name="T37" fmla="*/ 16 h 40"/>
                  <a:gd name="T38" fmla="*/ 25 w 26"/>
                  <a:gd name="T39" fmla="*/ 13 h 40"/>
                  <a:gd name="T40" fmla="*/ 24 w 26"/>
                  <a:gd name="T41" fmla="*/ 10 h 40"/>
                  <a:gd name="T42" fmla="*/ 24 w 26"/>
                  <a:gd name="T43" fmla="*/ 6 h 40"/>
                  <a:gd name="T44" fmla="*/ 23 w 26"/>
                  <a:gd name="T45" fmla="*/ 4 h 40"/>
                  <a:gd name="T46" fmla="*/ 22 w 26"/>
                  <a:gd name="T47" fmla="*/ 2 h 40"/>
                  <a:gd name="T48" fmla="*/ 20 w 26"/>
                  <a:gd name="T49" fmla="*/ 1 h 40"/>
                  <a:gd name="T50" fmla="*/ 18 w 26"/>
                  <a:gd name="T51" fmla="*/ 0 h 40"/>
                  <a:gd name="T52" fmla="*/ 15 w 26"/>
                  <a:gd name="T53" fmla="*/ 0 h 40"/>
                  <a:gd name="T54" fmla="*/ 13 w 26"/>
                  <a:gd name="T55" fmla="*/ 1 h 40"/>
                  <a:gd name="T56" fmla="*/ 10 w 26"/>
                  <a:gd name="T57" fmla="*/ 2 h 40"/>
                  <a:gd name="T58" fmla="*/ 8 w 26"/>
                  <a:gd name="T59" fmla="*/ 4 h 40"/>
                  <a:gd name="T60" fmla="*/ 6 w 26"/>
                  <a:gd name="T61" fmla="*/ 7 h 40"/>
                  <a:gd name="T62" fmla="*/ 4 w 26"/>
                  <a:gd name="T63" fmla="*/ 10 h 40"/>
                  <a:gd name="T64" fmla="*/ 2 w 26"/>
                  <a:gd name="T65" fmla="*/ 14 h 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6" h="40">
                    <a:moveTo>
                      <a:pt x="2" y="14"/>
                    </a:moveTo>
                    <a:lnTo>
                      <a:pt x="0" y="17"/>
                    </a:lnTo>
                    <a:lnTo>
                      <a:pt x="0" y="21"/>
                    </a:lnTo>
                    <a:lnTo>
                      <a:pt x="0" y="25"/>
                    </a:lnTo>
                    <a:lnTo>
                      <a:pt x="0" y="28"/>
                    </a:lnTo>
                    <a:lnTo>
                      <a:pt x="0" y="31"/>
                    </a:lnTo>
                    <a:lnTo>
                      <a:pt x="1" y="34"/>
                    </a:lnTo>
                    <a:lnTo>
                      <a:pt x="2" y="36"/>
                    </a:lnTo>
                    <a:lnTo>
                      <a:pt x="4" y="37"/>
                    </a:lnTo>
                    <a:lnTo>
                      <a:pt x="6" y="39"/>
                    </a:lnTo>
                    <a:lnTo>
                      <a:pt x="8" y="39"/>
                    </a:lnTo>
                    <a:lnTo>
                      <a:pt x="11" y="37"/>
                    </a:lnTo>
                    <a:lnTo>
                      <a:pt x="13" y="36"/>
                    </a:lnTo>
                    <a:lnTo>
                      <a:pt x="16" y="34"/>
                    </a:lnTo>
                    <a:lnTo>
                      <a:pt x="18" y="31"/>
                    </a:lnTo>
                    <a:lnTo>
                      <a:pt x="20" y="27"/>
                    </a:lnTo>
                    <a:lnTo>
                      <a:pt x="22" y="24"/>
                    </a:lnTo>
                    <a:lnTo>
                      <a:pt x="23" y="21"/>
                    </a:lnTo>
                    <a:lnTo>
                      <a:pt x="24" y="16"/>
                    </a:lnTo>
                    <a:lnTo>
                      <a:pt x="25" y="13"/>
                    </a:lnTo>
                    <a:lnTo>
                      <a:pt x="24" y="10"/>
                    </a:lnTo>
                    <a:lnTo>
                      <a:pt x="24" y="6"/>
                    </a:lnTo>
                    <a:lnTo>
                      <a:pt x="23" y="4"/>
                    </a:lnTo>
                    <a:lnTo>
                      <a:pt x="22" y="2"/>
                    </a:lnTo>
                    <a:lnTo>
                      <a:pt x="20" y="1"/>
                    </a:lnTo>
                    <a:lnTo>
                      <a:pt x="18" y="0"/>
                    </a:lnTo>
                    <a:lnTo>
                      <a:pt x="15" y="0"/>
                    </a:lnTo>
                    <a:lnTo>
                      <a:pt x="13" y="1"/>
                    </a:lnTo>
                    <a:lnTo>
                      <a:pt x="10" y="2"/>
                    </a:lnTo>
                    <a:lnTo>
                      <a:pt x="8" y="4"/>
                    </a:lnTo>
                    <a:lnTo>
                      <a:pt x="6" y="7"/>
                    </a:lnTo>
                    <a:lnTo>
                      <a:pt x="4" y="10"/>
                    </a:lnTo>
                    <a:lnTo>
                      <a:pt x="2" y="14"/>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7" name="Freeform 34">
                <a:extLst>
                  <a:ext uri="{FF2B5EF4-FFF2-40B4-BE49-F238E27FC236}">
                    <a16:creationId xmlns:a16="http://schemas.microsoft.com/office/drawing/2014/main" id="{D2D652F1-3F6C-436C-6CB0-050564EFD994}"/>
                  </a:ext>
                </a:extLst>
              </p:cNvPr>
              <p:cNvSpPr>
                <a:spLocks/>
              </p:cNvSpPr>
              <p:nvPr/>
            </p:nvSpPr>
            <p:spPr bwMode="auto">
              <a:xfrm>
                <a:off x="2033" y="3046"/>
                <a:ext cx="26" cy="40"/>
              </a:xfrm>
              <a:custGeom>
                <a:avLst/>
                <a:gdLst>
                  <a:gd name="T0" fmla="*/ 2 w 26"/>
                  <a:gd name="T1" fmla="*/ 13 h 40"/>
                  <a:gd name="T2" fmla="*/ 1 w 26"/>
                  <a:gd name="T3" fmla="*/ 18 h 40"/>
                  <a:gd name="T4" fmla="*/ 0 w 26"/>
                  <a:gd name="T5" fmla="*/ 21 h 40"/>
                  <a:gd name="T6" fmla="*/ 0 w 26"/>
                  <a:gd name="T7" fmla="*/ 26 h 40"/>
                  <a:gd name="T8" fmla="*/ 0 w 26"/>
                  <a:gd name="T9" fmla="*/ 29 h 40"/>
                  <a:gd name="T10" fmla="*/ 0 w 26"/>
                  <a:gd name="T11" fmla="*/ 32 h 40"/>
                  <a:gd name="T12" fmla="*/ 1 w 26"/>
                  <a:gd name="T13" fmla="*/ 35 h 40"/>
                  <a:gd name="T14" fmla="*/ 2 w 26"/>
                  <a:gd name="T15" fmla="*/ 36 h 40"/>
                  <a:gd name="T16" fmla="*/ 4 w 26"/>
                  <a:gd name="T17" fmla="*/ 39 h 40"/>
                  <a:gd name="T18" fmla="*/ 6 w 26"/>
                  <a:gd name="T19" fmla="*/ 39 h 40"/>
                  <a:gd name="T20" fmla="*/ 8 w 26"/>
                  <a:gd name="T21" fmla="*/ 39 h 40"/>
                  <a:gd name="T22" fmla="*/ 11 w 26"/>
                  <a:gd name="T23" fmla="*/ 39 h 40"/>
                  <a:gd name="T24" fmla="*/ 13 w 26"/>
                  <a:gd name="T25" fmla="*/ 36 h 40"/>
                  <a:gd name="T26" fmla="*/ 16 w 26"/>
                  <a:gd name="T27" fmla="*/ 34 h 40"/>
                  <a:gd name="T28" fmla="*/ 18 w 26"/>
                  <a:gd name="T29" fmla="*/ 32 h 40"/>
                  <a:gd name="T30" fmla="*/ 20 w 26"/>
                  <a:gd name="T31" fmla="*/ 28 h 40"/>
                  <a:gd name="T32" fmla="*/ 22 w 26"/>
                  <a:gd name="T33" fmla="*/ 25 h 40"/>
                  <a:gd name="T34" fmla="*/ 23 w 26"/>
                  <a:gd name="T35" fmla="*/ 21 h 40"/>
                  <a:gd name="T36" fmla="*/ 24 w 26"/>
                  <a:gd name="T37" fmla="*/ 17 h 40"/>
                  <a:gd name="T38" fmla="*/ 25 w 26"/>
                  <a:gd name="T39" fmla="*/ 13 h 40"/>
                  <a:gd name="T40" fmla="*/ 25 w 26"/>
                  <a:gd name="T41" fmla="*/ 10 h 40"/>
                  <a:gd name="T42" fmla="*/ 24 w 26"/>
                  <a:gd name="T43" fmla="*/ 6 h 40"/>
                  <a:gd name="T44" fmla="*/ 23 w 26"/>
                  <a:gd name="T45" fmla="*/ 4 h 40"/>
                  <a:gd name="T46" fmla="*/ 22 w 26"/>
                  <a:gd name="T47" fmla="*/ 2 h 40"/>
                  <a:gd name="T48" fmla="*/ 20 w 26"/>
                  <a:gd name="T49" fmla="*/ 1 h 40"/>
                  <a:gd name="T50" fmla="*/ 18 w 26"/>
                  <a:gd name="T51" fmla="*/ 0 h 40"/>
                  <a:gd name="T52" fmla="*/ 15 w 26"/>
                  <a:gd name="T53" fmla="*/ 0 h 40"/>
                  <a:gd name="T54" fmla="*/ 13 w 26"/>
                  <a:gd name="T55" fmla="*/ 1 h 40"/>
                  <a:gd name="T56" fmla="*/ 11 w 26"/>
                  <a:gd name="T57" fmla="*/ 2 h 40"/>
                  <a:gd name="T58" fmla="*/ 8 w 26"/>
                  <a:gd name="T59" fmla="*/ 4 h 40"/>
                  <a:gd name="T60" fmla="*/ 6 w 26"/>
                  <a:gd name="T61" fmla="*/ 6 h 40"/>
                  <a:gd name="T62" fmla="*/ 4 w 26"/>
                  <a:gd name="T63" fmla="*/ 10 h 40"/>
                  <a:gd name="T64" fmla="*/ 2 w 26"/>
                  <a:gd name="T65" fmla="*/ 13 h 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6" h="40">
                    <a:moveTo>
                      <a:pt x="2" y="13"/>
                    </a:moveTo>
                    <a:lnTo>
                      <a:pt x="1" y="18"/>
                    </a:lnTo>
                    <a:lnTo>
                      <a:pt x="0" y="21"/>
                    </a:lnTo>
                    <a:lnTo>
                      <a:pt x="0" y="26"/>
                    </a:lnTo>
                    <a:lnTo>
                      <a:pt x="0" y="29"/>
                    </a:lnTo>
                    <a:lnTo>
                      <a:pt x="0" y="32"/>
                    </a:lnTo>
                    <a:lnTo>
                      <a:pt x="1" y="35"/>
                    </a:lnTo>
                    <a:lnTo>
                      <a:pt x="2" y="36"/>
                    </a:lnTo>
                    <a:lnTo>
                      <a:pt x="4" y="39"/>
                    </a:lnTo>
                    <a:lnTo>
                      <a:pt x="6" y="39"/>
                    </a:lnTo>
                    <a:lnTo>
                      <a:pt x="8" y="39"/>
                    </a:lnTo>
                    <a:lnTo>
                      <a:pt x="11" y="39"/>
                    </a:lnTo>
                    <a:lnTo>
                      <a:pt x="13" y="36"/>
                    </a:lnTo>
                    <a:lnTo>
                      <a:pt x="16" y="34"/>
                    </a:lnTo>
                    <a:lnTo>
                      <a:pt x="18" y="32"/>
                    </a:lnTo>
                    <a:lnTo>
                      <a:pt x="20" y="28"/>
                    </a:lnTo>
                    <a:lnTo>
                      <a:pt x="22" y="25"/>
                    </a:lnTo>
                    <a:lnTo>
                      <a:pt x="23" y="21"/>
                    </a:lnTo>
                    <a:lnTo>
                      <a:pt x="24" y="17"/>
                    </a:lnTo>
                    <a:lnTo>
                      <a:pt x="25" y="13"/>
                    </a:lnTo>
                    <a:lnTo>
                      <a:pt x="25" y="10"/>
                    </a:lnTo>
                    <a:lnTo>
                      <a:pt x="24" y="6"/>
                    </a:lnTo>
                    <a:lnTo>
                      <a:pt x="23" y="4"/>
                    </a:lnTo>
                    <a:lnTo>
                      <a:pt x="22" y="2"/>
                    </a:lnTo>
                    <a:lnTo>
                      <a:pt x="20" y="1"/>
                    </a:lnTo>
                    <a:lnTo>
                      <a:pt x="18" y="0"/>
                    </a:lnTo>
                    <a:lnTo>
                      <a:pt x="15" y="0"/>
                    </a:lnTo>
                    <a:lnTo>
                      <a:pt x="13" y="1"/>
                    </a:lnTo>
                    <a:lnTo>
                      <a:pt x="11" y="2"/>
                    </a:lnTo>
                    <a:lnTo>
                      <a:pt x="8" y="4"/>
                    </a:lnTo>
                    <a:lnTo>
                      <a:pt x="6" y="6"/>
                    </a:lnTo>
                    <a:lnTo>
                      <a:pt x="4" y="10"/>
                    </a:lnTo>
                    <a:lnTo>
                      <a:pt x="2" y="1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8" name="Freeform 35">
                <a:extLst>
                  <a:ext uri="{FF2B5EF4-FFF2-40B4-BE49-F238E27FC236}">
                    <a16:creationId xmlns:a16="http://schemas.microsoft.com/office/drawing/2014/main" id="{E6DA5B9A-1363-4B48-4F54-391F3A0D596C}"/>
                  </a:ext>
                </a:extLst>
              </p:cNvPr>
              <p:cNvSpPr>
                <a:spLocks/>
              </p:cNvSpPr>
              <p:nvPr/>
            </p:nvSpPr>
            <p:spPr bwMode="auto">
              <a:xfrm>
                <a:off x="1871" y="3338"/>
                <a:ext cx="23" cy="43"/>
              </a:xfrm>
              <a:custGeom>
                <a:avLst/>
                <a:gdLst>
                  <a:gd name="T0" fmla="*/ 0 w 23"/>
                  <a:gd name="T1" fmla="*/ 20 h 43"/>
                  <a:gd name="T2" fmla="*/ 0 w 23"/>
                  <a:gd name="T3" fmla="*/ 23 h 43"/>
                  <a:gd name="T4" fmla="*/ 0 w 23"/>
                  <a:gd name="T5" fmla="*/ 28 h 43"/>
                  <a:gd name="T6" fmla="*/ 1 w 23"/>
                  <a:gd name="T7" fmla="*/ 31 h 43"/>
                  <a:gd name="T8" fmla="*/ 2 w 23"/>
                  <a:gd name="T9" fmla="*/ 35 h 43"/>
                  <a:gd name="T10" fmla="*/ 3 w 23"/>
                  <a:gd name="T11" fmla="*/ 37 h 43"/>
                  <a:gd name="T12" fmla="*/ 5 w 23"/>
                  <a:gd name="T13" fmla="*/ 39 h 43"/>
                  <a:gd name="T14" fmla="*/ 7 w 23"/>
                  <a:gd name="T15" fmla="*/ 40 h 43"/>
                  <a:gd name="T16" fmla="*/ 9 w 23"/>
                  <a:gd name="T17" fmla="*/ 42 h 43"/>
                  <a:gd name="T18" fmla="*/ 12 w 23"/>
                  <a:gd name="T19" fmla="*/ 42 h 43"/>
                  <a:gd name="T20" fmla="*/ 14 w 23"/>
                  <a:gd name="T21" fmla="*/ 40 h 43"/>
                  <a:gd name="T22" fmla="*/ 16 w 23"/>
                  <a:gd name="T23" fmla="*/ 38 h 43"/>
                  <a:gd name="T24" fmla="*/ 18 w 23"/>
                  <a:gd name="T25" fmla="*/ 36 h 43"/>
                  <a:gd name="T26" fmla="*/ 19 w 23"/>
                  <a:gd name="T27" fmla="*/ 32 h 43"/>
                  <a:gd name="T28" fmla="*/ 20 w 23"/>
                  <a:gd name="T29" fmla="*/ 29 h 43"/>
                  <a:gd name="T30" fmla="*/ 21 w 23"/>
                  <a:gd name="T31" fmla="*/ 26 h 43"/>
                  <a:gd name="T32" fmla="*/ 22 w 23"/>
                  <a:gd name="T33" fmla="*/ 21 h 43"/>
                  <a:gd name="T34" fmla="*/ 21 w 23"/>
                  <a:gd name="T35" fmla="*/ 17 h 43"/>
                  <a:gd name="T36" fmla="*/ 21 w 23"/>
                  <a:gd name="T37" fmla="*/ 13 h 43"/>
                  <a:gd name="T38" fmla="*/ 20 w 23"/>
                  <a:gd name="T39" fmla="*/ 10 h 43"/>
                  <a:gd name="T40" fmla="*/ 19 w 23"/>
                  <a:gd name="T41" fmla="*/ 6 h 43"/>
                  <a:gd name="T42" fmla="*/ 18 w 23"/>
                  <a:gd name="T43" fmla="*/ 4 h 43"/>
                  <a:gd name="T44" fmla="*/ 16 w 23"/>
                  <a:gd name="T45" fmla="*/ 2 h 43"/>
                  <a:gd name="T46" fmla="*/ 14 w 23"/>
                  <a:gd name="T47" fmla="*/ 1 h 43"/>
                  <a:gd name="T48" fmla="*/ 12 w 23"/>
                  <a:gd name="T49" fmla="*/ 0 h 43"/>
                  <a:gd name="T50" fmla="*/ 9 w 23"/>
                  <a:gd name="T51" fmla="*/ 0 h 43"/>
                  <a:gd name="T52" fmla="*/ 7 w 23"/>
                  <a:gd name="T53" fmla="*/ 1 h 43"/>
                  <a:gd name="T54" fmla="*/ 5 w 23"/>
                  <a:gd name="T55" fmla="*/ 3 h 43"/>
                  <a:gd name="T56" fmla="*/ 3 w 23"/>
                  <a:gd name="T57" fmla="*/ 5 h 43"/>
                  <a:gd name="T58" fmla="*/ 2 w 23"/>
                  <a:gd name="T59" fmla="*/ 9 h 43"/>
                  <a:gd name="T60" fmla="*/ 1 w 23"/>
                  <a:gd name="T61" fmla="*/ 12 h 43"/>
                  <a:gd name="T62" fmla="*/ 0 w 23"/>
                  <a:gd name="T63" fmla="*/ 15 h 43"/>
                  <a:gd name="T64" fmla="*/ 0 w 23"/>
                  <a:gd name="T65" fmla="*/ 20 h 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 h="43">
                    <a:moveTo>
                      <a:pt x="0" y="20"/>
                    </a:moveTo>
                    <a:lnTo>
                      <a:pt x="0" y="23"/>
                    </a:lnTo>
                    <a:lnTo>
                      <a:pt x="0" y="28"/>
                    </a:lnTo>
                    <a:lnTo>
                      <a:pt x="1" y="31"/>
                    </a:lnTo>
                    <a:lnTo>
                      <a:pt x="2" y="35"/>
                    </a:lnTo>
                    <a:lnTo>
                      <a:pt x="3" y="37"/>
                    </a:lnTo>
                    <a:lnTo>
                      <a:pt x="5" y="39"/>
                    </a:lnTo>
                    <a:lnTo>
                      <a:pt x="7" y="40"/>
                    </a:lnTo>
                    <a:lnTo>
                      <a:pt x="9" y="42"/>
                    </a:lnTo>
                    <a:lnTo>
                      <a:pt x="12" y="42"/>
                    </a:lnTo>
                    <a:lnTo>
                      <a:pt x="14" y="40"/>
                    </a:lnTo>
                    <a:lnTo>
                      <a:pt x="16" y="38"/>
                    </a:lnTo>
                    <a:lnTo>
                      <a:pt x="18" y="36"/>
                    </a:lnTo>
                    <a:lnTo>
                      <a:pt x="19" y="32"/>
                    </a:lnTo>
                    <a:lnTo>
                      <a:pt x="20" y="29"/>
                    </a:lnTo>
                    <a:lnTo>
                      <a:pt x="21" y="26"/>
                    </a:lnTo>
                    <a:lnTo>
                      <a:pt x="22" y="21"/>
                    </a:lnTo>
                    <a:lnTo>
                      <a:pt x="21" y="17"/>
                    </a:lnTo>
                    <a:lnTo>
                      <a:pt x="21" y="13"/>
                    </a:lnTo>
                    <a:lnTo>
                      <a:pt x="20" y="10"/>
                    </a:lnTo>
                    <a:lnTo>
                      <a:pt x="19" y="6"/>
                    </a:lnTo>
                    <a:lnTo>
                      <a:pt x="18" y="4"/>
                    </a:lnTo>
                    <a:lnTo>
                      <a:pt x="16" y="2"/>
                    </a:lnTo>
                    <a:lnTo>
                      <a:pt x="14" y="1"/>
                    </a:lnTo>
                    <a:lnTo>
                      <a:pt x="12" y="0"/>
                    </a:lnTo>
                    <a:lnTo>
                      <a:pt x="9" y="0"/>
                    </a:lnTo>
                    <a:lnTo>
                      <a:pt x="7" y="1"/>
                    </a:lnTo>
                    <a:lnTo>
                      <a:pt x="5" y="3"/>
                    </a:lnTo>
                    <a:lnTo>
                      <a:pt x="3" y="5"/>
                    </a:lnTo>
                    <a:lnTo>
                      <a:pt x="2" y="9"/>
                    </a:lnTo>
                    <a:lnTo>
                      <a:pt x="1"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9" name="Freeform 36">
                <a:extLst>
                  <a:ext uri="{FF2B5EF4-FFF2-40B4-BE49-F238E27FC236}">
                    <a16:creationId xmlns:a16="http://schemas.microsoft.com/office/drawing/2014/main" id="{0BBDB9D2-A47F-58C0-BC8A-A1095D587BDE}"/>
                  </a:ext>
                </a:extLst>
              </p:cNvPr>
              <p:cNvSpPr>
                <a:spLocks/>
              </p:cNvSpPr>
              <p:nvPr/>
            </p:nvSpPr>
            <p:spPr bwMode="auto">
              <a:xfrm>
                <a:off x="1791" y="3324"/>
                <a:ext cx="23" cy="43"/>
              </a:xfrm>
              <a:custGeom>
                <a:avLst/>
                <a:gdLst>
                  <a:gd name="T0" fmla="*/ 0 w 23"/>
                  <a:gd name="T1" fmla="*/ 20 h 43"/>
                  <a:gd name="T2" fmla="*/ 0 w 23"/>
                  <a:gd name="T3" fmla="*/ 24 h 43"/>
                  <a:gd name="T4" fmla="*/ 0 w 23"/>
                  <a:gd name="T5" fmla="*/ 28 h 43"/>
                  <a:gd name="T6" fmla="*/ 1 w 23"/>
                  <a:gd name="T7" fmla="*/ 31 h 43"/>
                  <a:gd name="T8" fmla="*/ 2 w 23"/>
                  <a:gd name="T9" fmla="*/ 35 h 43"/>
                  <a:gd name="T10" fmla="*/ 4 w 23"/>
                  <a:gd name="T11" fmla="*/ 37 h 43"/>
                  <a:gd name="T12" fmla="*/ 6 w 23"/>
                  <a:gd name="T13" fmla="*/ 39 h 43"/>
                  <a:gd name="T14" fmla="*/ 8 w 23"/>
                  <a:gd name="T15" fmla="*/ 40 h 43"/>
                  <a:gd name="T16" fmla="*/ 10 w 23"/>
                  <a:gd name="T17" fmla="*/ 42 h 43"/>
                  <a:gd name="T18" fmla="*/ 12 w 23"/>
                  <a:gd name="T19" fmla="*/ 40 h 43"/>
                  <a:gd name="T20" fmla="*/ 14 w 23"/>
                  <a:gd name="T21" fmla="*/ 39 h 43"/>
                  <a:gd name="T22" fmla="*/ 16 w 23"/>
                  <a:gd name="T23" fmla="*/ 38 h 43"/>
                  <a:gd name="T24" fmla="*/ 18 w 23"/>
                  <a:gd name="T25" fmla="*/ 35 h 43"/>
                  <a:gd name="T26" fmla="*/ 19 w 23"/>
                  <a:gd name="T27" fmla="*/ 32 h 43"/>
                  <a:gd name="T28" fmla="*/ 20 w 23"/>
                  <a:gd name="T29" fmla="*/ 29 h 43"/>
                  <a:gd name="T30" fmla="*/ 21 w 23"/>
                  <a:gd name="T31" fmla="*/ 24 h 43"/>
                  <a:gd name="T32" fmla="*/ 22 w 23"/>
                  <a:gd name="T33" fmla="*/ 21 h 43"/>
                  <a:gd name="T34" fmla="*/ 21 w 23"/>
                  <a:gd name="T35" fmla="*/ 17 h 43"/>
                  <a:gd name="T36" fmla="*/ 21 w 23"/>
                  <a:gd name="T37" fmla="*/ 13 h 43"/>
                  <a:gd name="T38" fmla="*/ 20 w 23"/>
                  <a:gd name="T39" fmla="*/ 9 h 43"/>
                  <a:gd name="T40" fmla="*/ 19 w 23"/>
                  <a:gd name="T41" fmla="*/ 6 h 43"/>
                  <a:gd name="T42" fmla="*/ 17 w 23"/>
                  <a:gd name="T43" fmla="*/ 3 h 43"/>
                  <a:gd name="T44" fmla="*/ 15 w 23"/>
                  <a:gd name="T45" fmla="*/ 2 h 43"/>
                  <a:gd name="T46" fmla="*/ 13 w 23"/>
                  <a:gd name="T47" fmla="*/ 0 h 43"/>
                  <a:gd name="T48" fmla="*/ 11 w 23"/>
                  <a:gd name="T49" fmla="*/ 0 h 43"/>
                  <a:gd name="T50" fmla="*/ 9 w 23"/>
                  <a:gd name="T51" fmla="*/ 0 h 43"/>
                  <a:gd name="T52" fmla="*/ 7 w 23"/>
                  <a:gd name="T53" fmla="*/ 1 h 43"/>
                  <a:gd name="T54" fmla="*/ 5 w 23"/>
                  <a:gd name="T55" fmla="*/ 3 h 43"/>
                  <a:gd name="T56" fmla="*/ 3 w 23"/>
                  <a:gd name="T57" fmla="*/ 5 h 43"/>
                  <a:gd name="T58" fmla="*/ 2 w 23"/>
                  <a:gd name="T59" fmla="*/ 9 h 43"/>
                  <a:gd name="T60" fmla="*/ 1 w 23"/>
                  <a:gd name="T61" fmla="*/ 12 h 43"/>
                  <a:gd name="T62" fmla="*/ 0 w 23"/>
                  <a:gd name="T63" fmla="*/ 15 h 43"/>
                  <a:gd name="T64" fmla="*/ 0 w 23"/>
                  <a:gd name="T65" fmla="*/ 20 h 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 h="43">
                    <a:moveTo>
                      <a:pt x="0" y="20"/>
                    </a:moveTo>
                    <a:lnTo>
                      <a:pt x="0" y="24"/>
                    </a:lnTo>
                    <a:lnTo>
                      <a:pt x="0" y="28"/>
                    </a:lnTo>
                    <a:lnTo>
                      <a:pt x="1" y="31"/>
                    </a:lnTo>
                    <a:lnTo>
                      <a:pt x="2" y="35"/>
                    </a:lnTo>
                    <a:lnTo>
                      <a:pt x="4" y="37"/>
                    </a:lnTo>
                    <a:lnTo>
                      <a:pt x="6" y="39"/>
                    </a:lnTo>
                    <a:lnTo>
                      <a:pt x="8" y="40"/>
                    </a:lnTo>
                    <a:lnTo>
                      <a:pt x="10" y="42"/>
                    </a:lnTo>
                    <a:lnTo>
                      <a:pt x="12" y="40"/>
                    </a:lnTo>
                    <a:lnTo>
                      <a:pt x="14" y="39"/>
                    </a:lnTo>
                    <a:lnTo>
                      <a:pt x="16" y="38"/>
                    </a:lnTo>
                    <a:lnTo>
                      <a:pt x="18" y="35"/>
                    </a:lnTo>
                    <a:lnTo>
                      <a:pt x="19" y="32"/>
                    </a:lnTo>
                    <a:lnTo>
                      <a:pt x="20" y="29"/>
                    </a:lnTo>
                    <a:lnTo>
                      <a:pt x="21" y="24"/>
                    </a:lnTo>
                    <a:lnTo>
                      <a:pt x="22" y="21"/>
                    </a:lnTo>
                    <a:lnTo>
                      <a:pt x="21" y="17"/>
                    </a:lnTo>
                    <a:lnTo>
                      <a:pt x="21" y="13"/>
                    </a:lnTo>
                    <a:lnTo>
                      <a:pt x="20" y="9"/>
                    </a:lnTo>
                    <a:lnTo>
                      <a:pt x="19" y="6"/>
                    </a:lnTo>
                    <a:lnTo>
                      <a:pt x="17" y="3"/>
                    </a:lnTo>
                    <a:lnTo>
                      <a:pt x="15" y="2"/>
                    </a:lnTo>
                    <a:lnTo>
                      <a:pt x="13" y="0"/>
                    </a:lnTo>
                    <a:lnTo>
                      <a:pt x="11" y="0"/>
                    </a:lnTo>
                    <a:lnTo>
                      <a:pt x="9" y="0"/>
                    </a:lnTo>
                    <a:lnTo>
                      <a:pt x="7" y="1"/>
                    </a:lnTo>
                    <a:lnTo>
                      <a:pt x="5" y="3"/>
                    </a:lnTo>
                    <a:lnTo>
                      <a:pt x="3" y="5"/>
                    </a:lnTo>
                    <a:lnTo>
                      <a:pt x="2" y="9"/>
                    </a:lnTo>
                    <a:lnTo>
                      <a:pt x="1"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8221" name="Group 37">
              <a:extLst>
                <a:ext uri="{FF2B5EF4-FFF2-40B4-BE49-F238E27FC236}">
                  <a16:creationId xmlns:a16="http://schemas.microsoft.com/office/drawing/2014/main" id="{62421CD5-6120-2442-31A8-44008F70BA2A}"/>
                </a:ext>
              </a:extLst>
            </p:cNvPr>
            <p:cNvGrpSpPr>
              <a:grpSpLocks/>
            </p:cNvGrpSpPr>
            <p:nvPr/>
          </p:nvGrpSpPr>
          <p:grpSpPr bwMode="auto">
            <a:xfrm>
              <a:off x="1740" y="2985"/>
              <a:ext cx="303" cy="399"/>
              <a:chOff x="1740" y="2985"/>
              <a:chExt cx="303" cy="399"/>
            </a:xfrm>
          </p:grpSpPr>
          <p:sp>
            <p:nvSpPr>
              <p:cNvPr id="8232" name="Freeform 38">
                <a:extLst>
                  <a:ext uri="{FF2B5EF4-FFF2-40B4-BE49-F238E27FC236}">
                    <a16:creationId xmlns:a16="http://schemas.microsoft.com/office/drawing/2014/main" id="{E6847313-FE46-50DB-8092-9110998BDD8D}"/>
                  </a:ext>
                </a:extLst>
              </p:cNvPr>
              <p:cNvSpPr>
                <a:spLocks/>
              </p:cNvSpPr>
              <p:nvPr/>
            </p:nvSpPr>
            <p:spPr bwMode="auto">
              <a:xfrm>
                <a:off x="1746" y="3012"/>
                <a:ext cx="297" cy="372"/>
              </a:xfrm>
              <a:custGeom>
                <a:avLst/>
                <a:gdLst>
                  <a:gd name="T0" fmla="*/ 2 w 297"/>
                  <a:gd name="T1" fmla="*/ 352 h 372"/>
                  <a:gd name="T2" fmla="*/ 1 w 297"/>
                  <a:gd name="T3" fmla="*/ 347 h 372"/>
                  <a:gd name="T4" fmla="*/ 0 w 297"/>
                  <a:gd name="T5" fmla="*/ 333 h 372"/>
                  <a:gd name="T6" fmla="*/ 0 w 297"/>
                  <a:gd name="T7" fmla="*/ 314 h 372"/>
                  <a:gd name="T8" fmla="*/ 0 w 297"/>
                  <a:gd name="T9" fmla="*/ 289 h 372"/>
                  <a:gd name="T10" fmla="*/ 2 w 297"/>
                  <a:gd name="T11" fmla="*/ 262 h 372"/>
                  <a:gd name="T12" fmla="*/ 6 w 297"/>
                  <a:gd name="T13" fmla="*/ 233 h 372"/>
                  <a:gd name="T14" fmla="*/ 15 w 297"/>
                  <a:gd name="T15" fmla="*/ 208 h 372"/>
                  <a:gd name="T16" fmla="*/ 26 w 297"/>
                  <a:gd name="T17" fmla="*/ 186 h 372"/>
                  <a:gd name="T18" fmla="*/ 40 w 297"/>
                  <a:gd name="T19" fmla="*/ 170 h 372"/>
                  <a:gd name="T20" fmla="*/ 54 w 297"/>
                  <a:gd name="T21" fmla="*/ 161 h 372"/>
                  <a:gd name="T22" fmla="*/ 68 w 297"/>
                  <a:gd name="T23" fmla="*/ 155 h 372"/>
                  <a:gd name="T24" fmla="*/ 80 w 297"/>
                  <a:gd name="T25" fmla="*/ 150 h 372"/>
                  <a:gd name="T26" fmla="*/ 94 w 297"/>
                  <a:gd name="T27" fmla="*/ 146 h 372"/>
                  <a:gd name="T28" fmla="*/ 107 w 297"/>
                  <a:gd name="T29" fmla="*/ 139 h 372"/>
                  <a:gd name="T30" fmla="*/ 121 w 297"/>
                  <a:gd name="T31" fmla="*/ 127 h 372"/>
                  <a:gd name="T32" fmla="*/ 134 w 297"/>
                  <a:gd name="T33" fmla="*/ 107 h 372"/>
                  <a:gd name="T34" fmla="*/ 146 w 297"/>
                  <a:gd name="T35" fmla="*/ 85 h 372"/>
                  <a:gd name="T36" fmla="*/ 155 w 297"/>
                  <a:gd name="T37" fmla="*/ 63 h 372"/>
                  <a:gd name="T38" fmla="*/ 161 w 297"/>
                  <a:gd name="T39" fmla="*/ 45 h 372"/>
                  <a:gd name="T40" fmla="*/ 164 w 297"/>
                  <a:gd name="T41" fmla="*/ 29 h 372"/>
                  <a:gd name="T42" fmla="*/ 167 w 297"/>
                  <a:gd name="T43" fmla="*/ 17 h 372"/>
                  <a:gd name="T44" fmla="*/ 168 w 297"/>
                  <a:gd name="T45" fmla="*/ 7 h 372"/>
                  <a:gd name="T46" fmla="*/ 168 w 297"/>
                  <a:gd name="T47" fmla="*/ 1 h 372"/>
                  <a:gd name="T48" fmla="*/ 168 w 297"/>
                  <a:gd name="T49" fmla="*/ 0 h 372"/>
                  <a:gd name="T50" fmla="*/ 296 w 297"/>
                  <a:gd name="T51" fmla="*/ 19 h 372"/>
                  <a:gd name="T52" fmla="*/ 295 w 297"/>
                  <a:gd name="T53" fmla="*/ 24 h 372"/>
                  <a:gd name="T54" fmla="*/ 293 w 297"/>
                  <a:gd name="T55" fmla="*/ 39 h 372"/>
                  <a:gd name="T56" fmla="*/ 288 w 297"/>
                  <a:gd name="T57" fmla="*/ 60 h 372"/>
                  <a:gd name="T58" fmla="*/ 282 w 297"/>
                  <a:gd name="T59" fmla="*/ 85 h 372"/>
                  <a:gd name="T60" fmla="*/ 274 w 297"/>
                  <a:gd name="T61" fmla="*/ 112 h 372"/>
                  <a:gd name="T62" fmla="*/ 265 w 297"/>
                  <a:gd name="T63" fmla="*/ 136 h 372"/>
                  <a:gd name="T64" fmla="*/ 254 w 297"/>
                  <a:gd name="T65" fmla="*/ 157 h 372"/>
                  <a:gd name="T66" fmla="*/ 242 w 297"/>
                  <a:gd name="T67" fmla="*/ 171 h 372"/>
                  <a:gd name="T68" fmla="*/ 229 w 297"/>
                  <a:gd name="T69" fmla="*/ 180 h 372"/>
                  <a:gd name="T70" fmla="*/ 213 w 297"/>
                  <a:gd name="T71" fmla="*/ 186 h 372"/>
                  <a:gd name="T72" fmla="*/ 194 w 297"/>
                  <a:gd name="T73" fmla="*/ 190 h 372"/>
                  <a:gd name="T74" fmla="*/ 177 w 297"/>
                  <a:gd name="T75" fmla="*/ 195 h 372"/>
                  <a:gd name="T76" fmla="*/ 160 w 297"/>
                  <a:gd name="T77" fmla="*/ 201 h 372"/>
                  <a:gd name="T78" fmla="*/ 145 w 297"/>
                  <a:gd name="T79" fmla="*/ 211 h 372"/>
                  <a:gd name="T80" fmla="*/ 133 w 297"/>
                  <a:gd name="T81" fmla="*/ 223 h 372"/>
                  <a:gd name="T82" fmla="*/ 125 w 297"/>
                  <a:gd name="T83" fmla="*/ 241 h 372"/>
                  <a:gd name="T84" fmla="*/ 121 w 297"/>
                  <a:gd name="T85" fmla="*/ 263 h 372"/>
                  <a:gd name="T86" fmla="*/ 118 w 297"/>
                  <a:gd name="T87" fmla="*/ 285 h 372"/>
                  <a:gd name="T88" fmla="*/ 117 w 297"/>
                  <a:gd name="T89" fmla="*/ 307 h 372"/>
                  <a:gd name="T90" fmla="*/ 117 w 297"/>
                  <a:gd name="T91" fmla="*/ 326 h 372"/>
                  <a:gd name="T92" fmla="*/ 118 w 297"/>
                  <a:gd name="T93" fmla="*/ 344 h 372"/>
                  <a:gd name="T94" fmla="*/ 119 w 297"/>
                  <a:gd name="T95" fmla="*/ 358 h 372"/>
                  <a:gd name="T96" fmla="*/ 120 w 297"/>
                  <a:gd name="T97" fmla="*/ 367 h 372"/>
                  <a:gd name="T98" fmla="*/ 121 w 297"/>
                  <a:gd name="T99" fmla="*/ 371 h 372"/>
                  <a:gd name="T100" fmla="*/ 2 w 297"/>
                  <a:gd name="T101" fmla="*/ 352 h 3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7" h="372">
                    <a:moveTo>
                      <a:pt x="2" y="352"/>
                    </a:moveTo>
                    <a:lnTo>
                      <a:pt x="1" y="347"/>
                    </a:lnTo>
                    <a:lnTo>
                      <a:pt x="0" y="333"/>
                    </a:lnTo>
                    <a:lnTo>
                      <a:pt x="0" y="314"/>
                    </a:lnTo>
                    <a:lnTo>
                      <a:pt x="0" y="289"/>
                    </a:lnTo>
                    <a:lnTo>
                      <a:pt x="2" y="262"/>
                    </a:lnTo>
                    <a:lnTo>
                      <a:pt x="6" y="233"/>
                    </a:lnTo>
                    <a:lnTo>
                      <a:pt x="15" y="208"/>
                    </a:lnTo>
                    <a:lnTo>
                      <a:pt x="26" y="186"/>
                    </a:lnTo>
                    <a:lnTo>
                      <a:pt x="40" y="170"/>
                    </a:lnTo>
                    <a:lnTo>
                      <a:pt x="54" y="161"/>
                    </a:lnTo>
                    <a:lnTo>
                      <a:pt x="68" y="155"/>
                    </a:lnTo>
                    <a:lnTo>
                      <a:pt x="80" y="150"/>
                    </a:lnTo>
                    <a:lnTo>
                      <a:pt x="94" y="146"/>
                    </a:lnTo>
                    <a:lnTo>
                      <a:pt x="107" y="139"/>
                    </a:lnTo>
                    <a:lnTo>
                      <a:pt x="121" y="127"/>
                    </a:lnTo>
                    <a:lnTo>
                      <a:pt x="134" y="107"/>
                    </a:lnTo>
                    <a:lnTo>
                      <a:pt x="146" y="85"/>
                    </a:lnTo>
                    <a:lnTo>
                      <a:pt x="155" y="63"/>
                    </a:lnTo>
                    <a:lnTo>
                      <a:pt x="161" y="45"/>
                    </a:lnTo>
                    <a:lnTo>
                      <a:pt x="164" y="29"/>
                    </a:lnTo>
                    <a:lnTo>
                      <a:pt x="167" y="17"/>
                    </a:lnTo>
                    <a:lnTo>
                      <a:pt x="168" y="7"/>
                    </a:lnTo>
                    <a:lnTo>
                      <a:pt x="168" y="1"/>
                    </a:lnTo>
                    <a:lnTo>
                      <a:pt x="168" y="0"/>
                    </a:lnTo>
                    <a:lnTo>
                      <a:pt x="296" y="19"/>
                    </a:lnTo>
                    <a:lnTo>
                      <a:pt x="295" y="24"/>
                    </a:lnTo>
                    <a:lnTo>
                      <a:pt x="293" y="39"/>
                    </a:lnTo>
                    <a:lnTo>
                      <a:pt x="288" y="60"/>
                    </a:lnTo>
                    <a:lnTo>
                      <a:pt x="282" y="85"/>
                    </a:lnTo>
                    <a:lnTo>
                      <a:pt x="274" y="112"/>
                    </a:lnTo>
                    <a:lnTo>
                      <a:pt x="265" y="136"/>
                    </a:lnTo>
                    <a:lnTo>
                      <a:pt x="254" y="157"/>
                    </a:lnTo>
                    <a:lnTo>
                      <a:pt x="242" y="171"/>
                    </a:lnTo>
                    <a:lnTo>
                      <a:pt x="229" y="180"/>
                    </a:lnTo>
                    <a:lnTo>
                      <a:pt x="213" y="186"/>
                    </a:lnTo>
                    <a:lnTo>
                      <a:pt x="194" y="190"/>
                    </a:lnTo>
                    <a:lnTo>
                      <a:pt x="177" y="195"/>
                    </a:lnTo>
                    <a:lnTo>
                      <a:pt x="160" y="201"/>
                    </a:lnTo>
                    <a:lnTo>
                      <a:pt x="145" y="211"/>
                    </a:lnTo>
                    <a:lnTo>
                      <a:pt x="133" y="223"/>
                    </a:lnTo>
                    <a:lnTo>
                      <a:pt x="125" y="241"/>
                    </a:lnTo>
                    <a:lnTo>
                      <a:pt x="121" y="263"/>
                    </a:lnTo>
                    <a:lnTo>
                      <a:pt x="118" y="285"/>
                    </a:lnTo>
                    <a:lnTo>
                      <a:pt x="117" y="307"/>
                    </a:lnTo>
                    <a:lnTo>
                      <a:pt x="117" y="326"/>
                    </a:lnTo>
                    <a:lnTo>
                      <a:pt x="118" y="344"/>
                    </a:lnTo>
                    <a:lnTo>
                      <a:pt x="119" y="358"/>
                    </a:lnTo>
                    <a:lnTo>
                      <a:pt x="120" y="367"/>
                    </a:lnTo>
                    <a:lnTo>
                      <a:pt x="121" y="371"/>
                    </a:lnTo>
                    <a:lnTo>
                      <a:pt x="2" y="35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3" name="Freeform 39">
                <a:extLst>
                  <a:ext uri="{FF2B5EF4-FFF2-40B4-BE49-F238E27FC236}">
                    <a16:creationId xmlns:a16="http://schemas.microsoft.com/office/drawing/2014/main" id="{6CC2A297-2B7C-73E8-A676-E2602C6F1E3B}"/>
                  </a:ext>
                </a:extLst>
              </p:cNvPr>
              <p:cNvSpPr>
                <a:spLocks/>
              </p:cNvSpPr>
              <p:nvPr/>
            </p:nvSpPr>
            <p:spPr bwMode="auto">
              <a:xfrm>
                <a:off x="1740" y="2985"/>
                <a:ext cx="297" cy="374"/>
              </a:xfrm>
              <a:custGeom>
                <a:avLst/>
                <a:gdLst>
                  <a:gd name="T0" fmla="*/ 2 w 297"/>
                  <a:gd name="T1" fmla="*/ 354 h 374"/>
                  <a:gd name="T2" fmla="*/ 1 w 297"/>
                  <a:gd name="T3" fmla="*/ 350 h 374"/>
                  <a:gd name="T4" fmla="*/ 0 w 297"/>
                  <a:gd name="T5" fmla="*/ 336 h 374"/>
                  <a:gd name="T6" fmla="*/ 0 w 297"/>
                  <a:gd name="T7" fmla="*/ 315 h 374"/>
                  <a:gd name="T8" fmla="*/ 0 w 297"/>
                  <a:gd name="T9" fmla="*/ 290 h 374"/>
                  <a:gd name="T10" fmla="*/ 2 w 297"/>
                  <a:gd name="T11" fmla="*/ 263 h 374"/>
                  <a:gd name="T12" fmla="*/ 7 w 297"/>
                  <a:gd name="T13" fmla="*/ 236 h 374"/>
                  <a:gd name="T14" fmla="*/ 15 w 297"/>
                  <a:gd name="T15" fmla="*/ 209 h 374"/>
                  <a:gd name="T16" fmla="*/ 26 w 297"/>
                  <a:gd name="T17" fmla="*/ 187 h 374"/>
                  <a:gd name="T18" fmla="*/ 41 w 297"/>
                  <a:gd name="T19" fmla="*/ 172 h 374"/>
                  <a:gd name="T20" fmla="*/ 54 w 297"/>
                  <a:gd name="T21" fmla="*/ 161 h 374"/>
                  <a:gd name="T22" fmla="*/ 68 w 297"/>
                  <a:gd name="T23" fmla="*/ 156 h 374"/>
                  <a:gd name="T24" fmla="*/ 81 w 297"/>
                  <a:gd name="T25" fmla="*/ 152 h 374"/>
                  <a:gd name="T26" fmla="*/ 94 w 297"/>
                  <a:gd name="T27" fmla="*/ 148 h 374"/>
                  <a:gd name="T28" fmla="*/ 107 w 297"/>
                  <a:gd name="T29" fmla="*/ 141 h 374"/>
                  <a:gd name="T30" fmla="*/ 121 w 297"/>
                  <a:gd name="T31" fmla="*/ 128 h 374"/>
                  <a:gd name="T32" fmla="*/ 134 w 297"/>
                  <a:gd name="T33" fmla="*/ 109 h 374"/>
                  <a:gd name="T34" fmla="*/ 146 w 297"/>
                  <a:gd name="T35" fmla="*/ 85 h 374"/>
                  <a:gd name="T36" fmla="*/ 154 w 297"/>
                  <a:gd name="T37" fmla="*/ 65 h 374"/>
                  <a:gd name="T38" fmla="*/ 161 w 297"/>
                  <a:gd name="T39" fmla="*/ 46 h 374"/>
                  <a:gd name="T40" fmla="*/ 165 w 297"/>
                  <a:gd name="T41" fmla="*/ 30 h 374"/>
                  <a:gd name="T42" fmla="*/ 167 w 297"/>
                  <a:gd name="T43" fmla="*/ 18 h 374"/>
                  <a:gd name="T44" fmla="*/ 168 w 297"/>
                  <a:gd name="T45" fmla="*/ 7 h 374"/>
                  <a:gd name="T46" fmla="*/ 168 w 297"/>
                  <a:gd name="T47" fmla="*/ 2 h 374"/>
                  <a:gd name="T48" fmla="*/ 168 w 297"/>
                  <a:gd name="T49" fmla="*/ 0 h 374"/>
                  <a:gd name="T50" fmla="*/ 296 w 297"/>
                  <a:gd name="T51" fmla="*/ 20 h 374"/>
                  <a:gd name="T52" fmla="*/ 295 w 297"/>
                  <a:gd name="T53" fmla="*/ 25 h 374"/>
                  <a:gd name="T54" fmla="*/ 292 w 297"/>
                  <a:gd name="T55" fmla="*/ 39 h 374"/>
                  <a:gd name="T56" fmla="*/ 287 w 297"/>
                  <a:gd name="T57" fmla="*/ 61 h 374"/>
                  <a:gd name="T58" fmla="*/ 281 w 297"/>
                  <a:gd name="T59" fmla="*/ 86 h 374"/>
                  <a:gd name="T60" fmla="*/ 273 w 297"/>
                  <a:gd name="T61" fmla="*/ 112 h 374"/>
                  <a:gd name="T62" fmla="*/ 264 w 297"/>
                  <a:gd name="T63" fmla="*/ 138 h 374"/>
                  <a:gd name="T64" fmla="*/ 253 w 297"/>
                  <a:gd name="T65" fmla="*/ 158 h 374"/>
                  <a:gd name="T66" fmla="*/ 242 w 297"/>
                  <a:gd name="T67" fmla="*/ 173 h 374"/>
                  <a:gd name="T68" fmla="*/ 228 w 297"/>
                  <a:gd name="T69" fmla="*/ 181 h 374"/>
                  <a:gd name="T70" fmla="*/ 212 w 297"/>
                  <a:gd name="T71" fmla="*/ 187 h 374"/>
                  <a:gd name="T72" fmla="*/ 194 w 297"/>
                  <a:gd name="T73" fmla="*/ 191 h 374"/>
                  <a:gd name="T74" fmla="*/ 176 w 297"/>
                  <a:gd name="T75" fmla="*/ 197 h 374"/>
                  <a:gd name="T76" fmla="*/ 159 w 297"/>
                  <a:gd name="T77" fmla="*/ 203 h 374"/>
                  <a:gd name="T78" fmla="*/ 145 w 297"/>
                  <a:gd name="T79" fmla="*/ 212 h 374"/>
                  <a:gd name="T80" fmla="*/ 132 w 297"/>
                  <a:gd name="T81" fmla="*/ 224 h 374"/>
                  <a:gd name="T82" fmla="*/ 124 w 297"/>
                  <a:gd name="T83" fmla="*/ 242 h 374"/>
                  <a:gd name="T84" fmla="*/ 121 w 297"/>
                  <a:gd name="T85" fmla="*/ 265 h 374"/>
                  <a:gd name="T86" fmla="*/ 118 w 297"/>
                  <a:gd name="T87" fmla="*/ 287 h 374"/>
                  <a:gd name="T88" fmla="*/ 117 w 297"/>
                  <a:gd name="T89" fmla="*/ 309 h 374"/>
                  <a:gd name="T90" fmla="*/ 117 w 297"/>
                  <a:gd name="T91" fmla="*/ 329 h 374"/>
                  <a:gd name="T92" fmla="*/ 118 w 297"/>
                  <a:gd name="T93" fmla="*/ 346 h 374"/>
                  <a:gd name="T94" fmla="*/ 119 w 297"/>
                  <a:gd name="T95" fmla="*/ 360 h 374"/>
                  <a:gd name="T96" fmla="*/ 120 w 297"/>
                  <a:gd name="T97" fmla="*/ 369 h 374"/>
                  <a:gd name="T98" fmla="*/ 121 w 297"/>
                  <a:gd name="T99" fmla="*/ 373 h 374"/>
                  <a:gd name="T100" fmla="*/ 2 w 297"/>
                  <a:gd name="T101" fmla="*/ 354 h 37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7" h="374">
                    <a:moveTo>
                      <a:pt x="2" y="354"/>
                    </a:moveTo>
                    <a:lnTo>
                      <a:pt x="1" y="350"/>
                    </a:lnTo>
                    <a:lnTo>
                      <a:pt x="0" y="336"/>
                    </a:lnTo>
                    <a:lnTo>
                      <a:pt x="0" y="315"/>
                    </a:lnTo>
                    <a:lnTo>
                      <a:pt x="0" y="290"/>
                    </a:lnTo>
                    <a:lnTo>
                      <a:pt x="2" y="263"/>
                    </a:lnTo>
                    <a:lnTo>
                      <a:pt x="7" y="236"/>
                    </a:lnTo>
                    <a:lnTo>
                      <a:pt x="15" y="209"/>
                    </a:lnTo>
                    <a:lnTo>
                      <a:pt x="26" y="187"/>
                    </a:lnTo>
                    <a:lnTo>
                      <a:pt x="41" y="172"/>
                    </a:lnTo>
                    <a:lnTo>
                      <a:pt x="54" y="161"/>
                    </a:lnTo>
                    <a:lnTo>
                      <a:pt x="68" y="156"/>
                    </a:lnTo>
                    <a:lnTo>
                      <a:pt x="81" y="152"/>
                    </a:lnTo>
                    <a:lnTo>
                      <a:pt x="94" y="148"/>
                    </a:lnTo>
                    <a:lnTo>
                      <a:pt x="107" y="141"/>
                    </a:lnTo>
                    <a:lnTo>
                      <a:pt x="121" y="128"/>
                    </a:lnTo>
                    <a:lnTo>
                      <a:pt x="134" y="109"/>
                    </a:lnTo>
                    <a:lnTo>
                      <a:pt x="146" y="85"/>
                    </a:lnTo>
                    <a:lnTo>
                      <a:pt x="154" y="65"/>
                    </a:lnTo>
                    <a:lnTo>
                      <a:pt x="161" y="46"/>
                    </a:lnTo>
                    <a:lnTo>
                      <a:pt x="165" y="30"/>
                    </a:lnTo>
                    <a:lnTo>
                      <a:pt x="167" y="18"/>
                    </a:lnTo>
                    <a:lnTo>
                      <a:pt x="168" y="7"/>
                    </a:lnTo>
                    <a:lnTo>
                      <a:pt x="168" y="2"/>
                    </a:lnTo>
                    <a:lnTo>
                      <a:pt x="168" y="0"/>
                    </a:lnTo>
                    <a:lnTo>
                      <a:pt x="296" y="20"/>
                    </a:lnTo>
                    <a:lnTo>
                      <a:pt x="295" y="25"/>
                    </a:lnTo>
                    <a:lnTo>
                      <a:pt x="292" y="39"/>
                    </a:lnTo>
                    <a:lnTo>
                      <a:pt x="287" y="61"/>
                    </a:lnTo>
                    <a:lnTo>
                      <a:pt x="281" y="86"/>
                    </a:lnTo>
                    <a:lnTo>
                      <a:pt x="273" y="112"/>
                    </a:lnTo>
                    <a:lnTo>
                      <a:pt x="264" y="138"/>
                    </a:lnTo>
                    <a:lnTo>
                      <a:pt x="253" y="158"/>
                    </a:lnTo>
                    <a:lnTo>
                      <a:pt x="242" y="173"/>
                    </a:lnTo>
                    <a:lnTo>
                      <a:pt x="228" y="181"/>
                    </a:lnTo>
                    <a:lnTo>
                      <a:pt x="212" y="187"/>
                    </a:lnTo>
                    <a:lnTo>
                      <a:pt x="194" y="191"/>
                    </a:lnTo>
                    <a:lnTo>
                      <a:pt x="176" y="197"/>
                    </a:lnTo>
                    <a:lnTo>
                      <a:pt x="159" y="203"/>
                    </a:lnTo>
                    <a:lnTo>
                      <a:pt x="145" y="212"/>
                    </a:lnTo>
                    <a:lnTo>
                      <a:pt x="132" y="224"/>
                    </a:lnTo>
                    <a:lnTo>
                      <a:pt x="124" y="242"/>
                    </a:lnTo>
                    <a:lnTo>
                      <a:pt x="121" y="265"/>
                    </a:lnTo>
                    <a:lnTo>
                      <a:pt x="118" y="287"/>
                    </a:lnTo>
                    <a:lnTo>
                      <a:pt x="117" y="309"/>
                    </a:lnTo>
                    <a:lnTo>
                      <a:pt x="117" y="329"/>
                    </a:lnTo>
                    <a:lnTo>
                      <a:pt x="118" y="346"/>
                    </a:lnTo>
                    <a:lnTo>
                      <a:pt x="119" y="360"/>
                    </a:lnTo>
                    <a:lnTo>
                      <a:pt x="120" y="369"/>
                    </a:lnTo>
                    <a:lnTo>
                      <a:pt x="121" y="373"/>
                    </a:lnTo>
                    <a:lnTo>
                      <a:pt x="2" y="354"/>
                    </a:lnTo>
                  </a:path>
                </a:pathLst>
              </a:custGeom>
              <a:solidFill>
                <a:srgbClr val="00CC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4" name="Freeform 40">
                <a:extLst>
                  <a:ext uri="{FF2B5EF4-FFF2-40B4-BE49-F238E27FC236}">
                    <a16:creationId xmlns:a16="http://schemas.microsoft.com/office/drawing/2014/main" id="{6ECAD116-1FAA-5C37-73A0-5521D648092B}"/>
                  </a:ext>
                </a:extLst>
              </p:cNvPr>
              <p:cNvSpPr>
                <a:spLocks/>
              </p:cNvSpPr>
              <p:nvPr/>
            </p:nvSpPr>
            <p:spPr bwMode="auto">
              <a:xfrm>
                <a:off x="1757" y="3015"/>
                <a:ext cx="258" cy="319"/>
              </a:xfrm>
              <a:custGeom>
                <a:avLst/>
                <a:gdLst>
                  <a:gd name="T0" fmla="*/ 1 w 258"/>
                  <a:gd name="T1" fmla="*/ 303 h 319"/>
                  <a:gd name="T2" fmla="*/ 1 w 258"/>
                  <a:gd name="T3" fmla="*/ 299 h 319"/>
                  <a:gd name="T4" fmla="*/ 0 w 258"/>
                  <a:gd name="T5" fmla="*/ 287 h 319"/>
                  <a:gd name="T6" fmla="*/ 0 w 258"/>
                  <a:gd name="T7" fmla="*/ 270 h 319"/>
                  <a:gd name="T8" fmla="*/ 0 w 258"/>
                  <a:gd name="T9" fmla="*/ 248 h 319"/>
                  <a:gd name="T10" fmla="*/ 0 w 258"/>
                  <a:gd name="T11" fmla="*/ 226 h 319"/>
                  <a:gd name="T12" fmla="*/ 4 w 258"/>
                  <a:gd name="T13" fmla="*/ 203 h 319"/>
                  <a:gd name="T14" fmla="*/ 11 w 258"/>
                  <a:gd name="T15" fmla="*/ 181 h 319"/>
                  <a:gd name="T16" fmla="*/ 22 w 258"/>
                  <a:gd name="T17" fmla="*/ 164 h 319"/>
                  <a:gd name="T18" fmla="*/ 35 w 258"/>
                  <a:gd name="T19" fmla="*/ 152 h 319"/>
                  <a:gd name="T20" fmla="*/ 50 w 258"/>
                  <a:gd name="T21" fmla="*/ 143 h 319"/>
                  <a:gd name="T22" fmla="*/ 66 w 258"/>
                  <a:gd name="T23" fmla="*/ 135 h 319"/>
                  <a:gd name="T24" fmla="*/ 82 w 258"/>
                  <a:gd name="T25" fmla="*/ 128 h 319"/>
                  <a:gd name="T26" fmla="*/ 99 w 258"/>
                  <a:gd name="T27" fmla="*/ 120 h 319"/>
                  <a:gd name="T28" fmla="*/ 113 w 258"/>
                  <a:gd name="T29" fmla="*/ 107 h 319"/>
                  <a:gd name="T30" fmla="*/ 127 w 258"/>
                  <a:gd name="T31" fmla="*/ 91 h 319"/>
                  <a:gd name="T32" fmla="*/ 138 w 258"/>
                  <a:gd name="T33" fmla="*/ 68 h 319"/>
                  <a:gd name="T34" fmla="*/ 145 w 258"/>
                  <a:gd name="T35" fmla="*/ 48 h 319"/>
                  <a:gd name="T36" fmla="*/ 151 w 258"/>
                  <a:gd name="T37" fmla="*/ 34 h 319"/>
                  <a:gd name="T38" fmla="*/ 154 w 258"/>
                  <a:gd name="T39" fmla="*/ 21 h 319"/>
                  <a:gd name="T40" fmla="*/ 158 w 258"/>
                  <a:gd name="T41" fmla="*/ 12 h 319"/>
                  <a:gd name="T42" fmla="*/ 160 w 258"/>
                  <a:gd name="T43" fmla="*/ 6 h 319"/>
                  <a:gd name="T44" fmla="*/ 161 w 258"/>
                  <a:gd name="T45" fmla="*/ 2 h 319"/>
                  <a:gd name="T46" fmla="*/ 162 w 258"/>
                  <a:gd name="T47" fmla="*/ 0 h 319"/>
                  <a:gd name="T48" fmla="*/ 162 w 258"/>
                  <a:gd name="T49" fmla="*/ 0 h 319"/>
                  <a:gd name="T50" fmla="*/ 257 w 258"/>
                  <a:gd name="T51" fmla="*/ 17 h 319"/>
                  <a:gd name="T52" fmla="*/ 256 w 258"/>
                  <a:gd name="T53" fmla="*/ 21 h 319"/>
                  <a:gd name="T54" fmla="*/ 253 w 258"/>
                  <a:gd name="T55" fmla="*/ 32 h 319"/>
                  <a:gd name="T56" fmla="*/ 249 w 258"/>
                  <a:gd name="T57" fmla="*/ 48 h 319"/>
                  <a:gd name="T58" fmla="*/ 244 w 258"/>
                  <a:gd name="T59" fmla="*/ 68 h 319"/>
                  <a:gd name="T60" fmla="*/ 237 w 258"/>
                  <a:gd name="T61" fmla="*/ 88 h 319"/>
                  <a:gd name="T62" fmla="*/ 230 w 258"/>
                  <a:gd name="T63" fmla="*/ 107 h 319"/>
                  <a:gd name="T64" fmla="*/ 221 w 258"/>
                  <a:gd name="T65" fmla="*/ 123 h 319"/>
                  <a:gd name="T66" fmla="*/ 211 w 258"/>
                  <a:gd name="T67" fmla="*/ 134 h 319"/>
                  <a:gd name="T68" fmla="*/ 199 w 258"/>
                  <a:gd name="T69" fmla="*/ 140 h 319"/>
                  <a:gd name="T70" fmla="*/ 183 w 258"/>
                  <a:gd name="T71" fmla="*/ 146 h 319"/>
                  <a:gd name="T72" fmla="*/ 166 w 258"/>
                  <a:gd name="T73" fmla="*/ 152 h 319"/>
                  <a:gd name="T74" fmla="*/ 148 w 258"/>
                  <a:gd name="T75" fmla="*/ 157 h 319"/>
                  <a:gd name="T76" fmla="*/ 129 w 258"/>
                  <a:gd name="T77" fmla="*/ 165 h 319"/>
                  <a:gd name="T78" fmla="*/ 113 w 258"/>
                  <a:gd name="T79" fmla="*/ 176 h 319"/>
                  <a:gd name="T80" fmla="*/ 100 w 258"/>
                  <a:gd name="T81" fmla="*/ 189 h 319"/>
                  <a:gd name="T82" fmla="*/ 90 w 258"/>
                  <a:gd name="T83" fmla="*/ 206 h 319"/>
                  <a:gd name="T84" fmla="*/ 85 w 258"/>
                  <a:gd name="T85" fmla="*/ 223 h 319"/>
                  <a:gd name="T86" fmla="*/ 82 w 258"/>
                  <a:gd name="T87" fmla="*/ 241 h 319"/>
                  <a:gd name="T88" fmla="*/ 82 w 258"/>
                  <a:gd name="T89" fmla="*/ 260 h 319"/>
                  <a:gd name="T90" fmla="*/ 82 w 258"/>
                  <a:gd name="T91" fmla="*/ 278 h 319"/>
                  <a:gd name="T92" fmla="*/ 84 w 258"/>
                  <a:gd name="T93" fmla="*/ 293 h 319"/>
                  <a:gd name="T94" fmla="*/ 86 w 258"/>
                  <a:gd name="T95" fmla="*/ 305 h 319"/>
                  <a:gd name="T96" fmla="*/ 88 w 258"/>
                  <a:gd name="T97" fmla="*/ 314 h 319"/>
                  <a:gd name="T98" fmla="*/ 88 w 258"/>
                  <a:gd name="T99" fmla="*/ 318 h 319"/>
                  <a:gd name="T100" fmla="*/ 1 w 258"/>
                  <a:gd name="T101" fmla="*/ 303 h 31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58" h="319">
                    <a:moveTo>
                      <a:pt x="1" y="303"/>
                    </a:moveTo>
                    <a:lnTo>
                      <a:pt x="1" y="299"/>
                    </a:lnTo>
                    <a:lnTo>
                      <a:pt x="0" y="287"/>
                    </a:lnTo>
                    <a:lnTo>
                      <a:pt x="0" y="270"/>
                    </a:lnTo>
                    <a:lnTo>
                      <a:pt x="0" y="248"/>
                    </a:lnTo>
                    <a:lnTo>
                      <a:pt x="0" y="226"/>
                    </a:lnTo>
                    <a:lnTo>
                      <a:pt x="4" y="203"/>
                    </a:lnTo>
                    <a:lnTo>
                      <a:pt x="11" y="181"/>
                    </a:lnTo>
                    <a:lnTo>
                      <a:pt x="22" y="164"/>
                    </a:lnTo>
                    <a:lnTo>
                      <a:pt x="35" y="152"/>
                    </a:lnTo>
                    <a:lnTo>
                      <a:pt x="50" y="143"/>
                    </a:lnTo>
                    <a:lnTo>
                      <a:pt x="66" y="135"/>
                    </a:lnTo>
                    <a:lnTo>
                      <a:pt x="82" y="128"/>
                    </a:lnTo>
                    <a:lnTo>
                      <a:pt x="99" y="120"/>
                    </a:lnTo>
                    <a:lnTo>
                      <a:pt x="113" y="107"/>
                    </a:lnTo>
                    <a:lnTo>
                      <a:pt x="127" y="91"/>
                    </a:lnTo>
                    <a:lnTo>
                      <a:pt x="138" y="68"/>
                    </a:lnTo>
                    <a:lnTo>
                      <a:pt x="145" y="48"/>
                    </a:lnTo>
                    <a:lnTo>
                      <a:pt x="151" y="34"/>
                    </a:lnTo>
                    <a:lnTo>
                      <a:pt x="154" y="21"/>
                    </a:lnTo>
                    <a:lnTo>
                      <a:pt x="158" y="12"/>
                    </a:lnTo>
                    <a:lnTo>
                      <a:pt x="160" y="6"/>
                    </a:lnTo>
                    <a:lnTo>
                      <a:pt x="161" y="2"/>
                    </a:lnTo>
                    <a:lnTo>
                      <a:pt x="162" y="0"/>
                    </a:lnTo>
                    <a:lnTo>
                      <a:pt x="257" y="17"/>
                    </a:lnTo>
                    <a:lnTo>
                      <a:pt x="256" y="21"/>
                    </a:lnTo>
                    <a:lnTo>
                      <a:pt x="253" y="32"/>
                    </a:lnTo>
                    <a:lnTo>
                      <a:pt x="249" y="48"/>
                    </a:lnTo>
                    <a:lnTo>
                      <a:pt x="244" y="68"/>
                    </a:lnTo>
                    <a:lnTo>
                      <a:pt x="237" y="88"/>
                    </a:lnTo>
                    <a:lnTo>
                      <a:pt x="230" y="107"/>
                    </a:lnTo>
                    <a:lnTo>
                      <a:pt x="221" y="123"/>
                    </a:lnTo>
                    <a:lnTo>
                      <a:pt x="211" y="134"/>
                    </a:lnTo>
                    <a:lnTo>
                      <a:pt x="199" y="140"/>
                    </a:lnTo>
                    <a:lnTo>
                      <a:pt x="183" y="146"/>
                    </a:lnTo>
                    <a:lnTo>
                      <a:pt x="166" y="152"/>
                    </a:lnTo>
                    <a:lnTo>
                      <a:pt x="148" y="157"/>
                    </a:lnTo>
                    <a:lnTo>
                      <a:pt x="129" y="165"/>
                    </a:lnTo>
                    <a:lnTo>
                      <a:pt x="113" y="176"/>
                    </a:lnTo>
                    <a:lnTo>
                      <a:pt x="100" y="189"/>
                    </a:lnTo>
                    <a:lnTo>
                      <a:pt x="90" y="206"/>
                    </a:lnTo>
                    <a:lnTo>
                      <a:pt x="85" y="223"/>
                    </a:lnTo>
                    <a:lnTo>
                      <a:pt x="82" y="241"/>
                    </a:lnTo>
                    <a:lnTo>
                      <a:pt x="82" y="260"/>
                    </a:lnTo>
                    <a:lnTo>
                      <a:pt x="82" y="278"/>
                    </a:lnTo>
                    <a:lnTo>
                      <a:pt x="84" y="293"/>
                    </a:lnTo>
                    <a:lnTo>
                      <a:pt x="86" y="305"/>
                    </a:lnTo>
                    <a:lnTo>
                      <a:pt x="88" y="314"/>
                    </a:lnTo>
                    <a:lnTo>
                      <a:pt x="88" y="318"/>
                    </a:lnTo>
                    <a:lnTo>
                      <a:pt x="1" y="303"/>
                    </a:lnTo>
                  </a:path>
                </a:pathLst>
              </a:custGeom>
              <a:solidFill>
                <a:srgbClr val="CCFF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5" name="Freeform 41">
                <a:extLst>
                  <a:ext uri="{FF2B5EF4-FFF2-40B4-BE49-F238E27FC236}">
                    <a16:creationId xmlns:a16="http://schemas.microsoft.com/office/drawing/2014/main" id="{4923D138-069B-5F86-C3F7-25BEF01EE681}"/>
                  </a:ext>
                </a:extLst>
              </p:cNvPr>
              <p:cNvSpPr>
                <a:spLocks/>
              </p:cNvSpPr>
              <p:nvPr/>
            </p:nvSpPr>
            <p:spPr bwMode="auto">
              <a:xfrm>
                <a:off x="1809" y="3134"/>
                <a:ext cx="122" cy="55"/>
              </a:xfrm>
              <a:custGeom>
                <a:avLst/>
                <a:gdLst>
                  <a:gd name="T0" fmla="*/ 64 w 122"/>
                  <a:gd name="T1" fmla="*/ 51 h 55"/>
                  <a:gd name="T2" fmla="*/ 75 w 122"/>
                  <a:gd name="T3" fmla="*/ 48 h 55"/>
                  <a:gd name="T4" fmla="*/ 87 w 122"/>
                  <a:gd name="T5" fmla="*/ 45 h 55"/>
                  <a:gd name="T6" fmla="*/ 96 w 122"/>
                  <a:gd name="T7" fmla="*/ 40 h 55"/>
                  <a:gd name="T8" fmla="*/ 105 w 122"/>
                  <a:gd name="T9" fmla="*/ 36 h 55"/>
                  <a:gd name="T10" fmla="*/ 112 w 122"/>
                  <a:gd name="T11" fmla="*/ 30 h 55"/>
                  <a:gd name="T12" fmla="*/ 117 w 122"/>
                  <a:gd name="T13" fmla="*/ 25 h 55"/>
                  <a:gd name="T14" fmla="*/ 120 w 122"/>
                  <a:gd name="T15" fmla="*/ 20 h 55"/>
                  <a:gd name="T16" fmla="*/ 121 w 122"/>
                  <a:gd name="T17" fmla="*/ 14 h 55"/>
                  <a:gd name="T18" fmla="*/ 119 w 122"/>
                  <a:gd name="T19" fmla="*/ 10 h 55"/>
                  <a:gd name="T20" fmla="*/ 115 w 122"/>
                  <a:gd name="T21" fmla="*/ 6 h 55"/>
                  <a:gd name="T22" fmla="*/ 108 w 122"/>
                  <a:gd name="T23" fmla="*/ 3 h 55"/>
                  <a:gd name="T24" fmla="*/ 100 w 122"/>
                  <a:gd name="T25" fmla="*/ 1 h 55"/>
                  <a:gd name="T26" fmla="*/ 91 w 122"/>
                  <a:gd name="T27" fmla="*/ 0 h 55"/>
                  <a:gd name="T28" fmla="*/ 80 w 122"/>
                  <a:gd name="T29" fmla="*/ 0 h 55"/>
                  <a:gd name="T30" fmla="*/ 69 w 122"/>
                  <a:gd name="T31" fmla="*/ 0 h 55"/>
                  <a:gd name="T32" fmla="*/ 56 w 122"/>
                  <a:gd name="T33" fmla="*/ 2 h 55"/>
                  <a:gd name="T34" fmla="*/ 45 w 122"/>
                  <a:gd name="T35" fmla="*/ 5 h 55"/>
                  <a:gd name="T36" fmla="*/ 33 w 122"/>
                  <a:gd name="T37" fmla="*/ 9 h 55"/>
                  <a:gd name="T38" fmla="*/ 24 w 122"/>
                  <a:gd name="T39" fmla="*/ 13 h 55"/>
                  <a:gd name="T40" fmla="*/ 15 w 122"/>
                  <a:gd name="T41" fmla="*/ 18 h 55"/>
                  <a:gd name="T42" fmla="*/ 8 w 122"/>
                  <a:gd name="T43" fmla="*/ 22 h 55"/>
                  <a:gd name="T44" fmla="*/ 3 w 122"/>
                  <a:gd name="T45" fmla="*/ 28 h 55"/>
                  <a:gd name="T46" fmla="*/ 0 w 122"/>
                  <a:gd name="T47" fmla="*/ 33 h 55"/>
                  <a:gd name="T48" fmla="*/ 0 w 122"/>
                  <a:gd name="T49" fmla="*/ 38 h 55"/>
                  <a:gd name="T50" fmla="*/ 1 w 122"/>
                  <a:gd name="T51" fmla="*/ 43 h 55"/>
                  <a:gd name="T52" fmla="*/ 5 w 122"/>
                  <a:gd name="T53" fmla="*/ 47 h 55"/>
                  <a:gd name="T54" fmla="*/ 12 w 122"/>
                  <a:gd name="T55" fmla="*/ 50 h 55"/>
                  <a:gd name="T56" fmla="*/ 20 w 122"/>
                  <a:gd name="T57" fmla="*/ 52 h 55"/>
                  <a:gd name="T58" fmla="*/ 29 w 122"/>
                  <a:gd name="T59" fmla="*/ 54 h 55"/>
                  <a:gd name="T60" fmla="*/ 40 w 122"/>
                  <a:gd name="T61" fmla="*/ 54 h 55"/>
                  <a:gd name="T62" fmla="*/ 51 w 122"/>
                  <a:gd name="T63" fmla="*/ 52 h 55"/>
                  <a:gd name="T64" fmla="*/ 64 w 122"/>
                  <a:gd name="T65" fmla="*/ 51 h 5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2" h="55">
                    <a:moveTo>
                      <a:pt x="64" y="51"/>
                    </a:moveTo>
                    <a:lnTo>
                      <a:pt x="75" y="48"/>
                    </a:lnTo>
                    <a:lnTo>
                      <a:pt x="87" y="45"/>
                    </a:lnTo>
                    <a:lnTo>
                      <a:pt x="96" y="40"/>
                    </a:lnTo>
                    <a:lnTo>
                      <a:pt x="105" y="36"/>
                    </a:lnTo>
                    <a:lnTo>
                      <a:pt x="112" y="30"/>
                    </a:lnTo>
                    <a:lnTo>
                      <a:pt x="117" y="25"/>
                    </a:lnTo>
                    <a:lnTo>
                      <a:pt x="120" y="20"/>
                    </a:lnTo>
                    <a:lnTo>
                      <a:pt x="121" y="14"/>
                    </a:lnTo>
                    <a:lnTo>
                      <a:pt x="119" y="10"/>
                    </a:lnTo>
                    <a:lnTo>
                      <a:pt x="115" y="6"/>
                    </a:lnTo>
                    <a:lnTo>
                      <a:pt x="108" y="3"/>
                    </a:lnTo>
                    <a:lnTo>
                      <a:pt x="100" y="1"/>
                    </a:lnTo>
                    <a:lnTo>
                      <a:pt x="91" y="0"/>
                    </a:lnTo>
                    <a:lnTo>
                      <a:pt x="80" y="0"/>
                    </a:lnTo>
                    <a:lnTo>
                      <a:pt x="69" y="0"/>
                    </a:lnTo>
                    <a:lnTo>
                      <a:pt x="56" y="2"/>
                    </a:lnTo>
                    <a:lnTo>
                      <a:pt x="45" y="5"/>
                    </a:lnTo>
                    <a:lnTo>
                      <a:pt x="33" y="9"/>
                    </a:lnTo>
                    <a:lnTo>
                      <a:pt x="24" y="13"/>
                    </a:lnTo>
                    <a:lnTo>
                      <a:pt x="15" y="18"/>
                    </a:lnTo>
                    <a:lnTo>
                      <a:pt x="8" y="22"/>
                    </a:lnTo>
                    <a:lnTo>
                      <a:pt x="3" y="28"/>
                    </a:lnTo>
                    <a:lnTo>
                      <a:pt x="0" y="33"/>
                    </a:lnTo>
                    <a:lnTo>
                      <a:pt x="0" y="38"/>
                    </a:lnTo>
                    <a:lnTo>
                      <a:pt x="1" y="43"/>
                    </a:lnTo>
                    <a:lnTo>
                      <a:pt x="5" y="47"/>
                    </a:lnTo>
                    <a:lnTo>
                      <a:pt x="12" y="50"/>
                    </a:lnTo>
                    <a:lnTo>
                      <a:pt x="20" y="52"/>
                    </a:lnTo>
                    <a:lnTo>
                      <a:pt x="29" y="54"/>
                    </a:lnTo>
                    <a:lnTo>
                      <a:pt x="40" y="54"/>
                    </a:lnTo>
                    <a:lnTo>
                      <a:pt x="51" y="52"/>
                    </a:lnTo>
                    <a:lnTo>
                      <a:pt x="64" y="51"/>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6" name="Freeform 42">
                <a:extLst>
                  <a:ext uri="{FF2B5EF4-FFF2-40B4-BE49-F238E27FC236}">
                    <a16:creationId xmlns:a16="http://schemas.microsoft.com/office/drawing/2014/main" id="{417382B5-A68A-5582-EDCA-4B2B422D8AD0}"/>
                  </a:ext>
                </a:extLst>
              </p:cNvPr>
              <p:cNvSpPr>
                <a:spLocks/>
              </p:cNvSpPr>
              <p:nvPr/>
            </p:nvSpPr>
            <p:spPr bwMode="auto">
              <a:xfrm>
                <a:off x="1818" y="3138"/>
                <a:ext cx="103" cy="47"/>
              </a:xfrm>
              <a:custGeom>
                <a:avLst/>
                <a:gdLst>
                  <a:gd name="T0" fmla="*/ 53 w 103"/>
                  <a:gd name="T1" fmla="*/ 43 h 47"/>
                  <a:gd name="T2" fmla="*/ 64 w 103"/>
                  <a:gd name="T3" fmla="*/ 41 h 47"/>
                  <a:gd name="T4" fmla="*/ 73 w 103"/>
                  <a:gd name="T5" fmla="*/ 37 h 47"/>
                  <a:gd name="T6" fmla="*/ 81 w 103"/>
                  <a:gd name="T7" fmla="*/ 34 h 47"/>
                  <a:gd name="T8" fmla="*/ 88 w 103"/>
                  <a:gd name="T9" fmla="*/ 29 h 47"/>
                  <a:gd name="T10" fmla="*/ 94 w 103"/>
                  <a:gd name="T11" fmla="*/ 26 h 47"/>
                  <a:gd name="T12" fmla="*/ 99 w 103"/>
                  <a:gd name="T13" fmla="*/ 21 h 47"/>
                  <a:gd name="T14" fmla="*/ 101 w 103"/>
                  <a:gd name="T15" fmla="*/ 17 h 47"/>
                  <a:gd name="T16" fmla="*/ 102 w 103"/>
                  <a:gd name="T17" fmla="*/ 12 h 47"/>
                  <a:gd name="T18" fmla="*/ 100 w 103"/>
                  <a:gd name="T19" fmla="*/ 9 h 47"/>
                  <a:gd name="T20" fmla="*/ 96 w 103"/>
                  <a:gd name="T21" fmla="*/ 5 h 47"/>
                  <a:gd name="T22" fmla="*/ 91 w 103"/>
                  <a:gd name="T23" fmla="*/ 2 h 47"/>
                  <a:gd name="T24" fmla="*/ 84 w 103"/>
                  <a:gd name="T25" fmla="*/ 1 h 47"/>
                  <a:gd name="T26" fmla="*/ 76 w 103"/>
                  <a:gd name="T27" fmla="*/ 0 h 47"/>
                  <a:gd name="T28" fmla="*/ 68 w 103"/>
                  <a:gd name="T29" fmla="*/ 0 h 47"/>
                  <a:gd name="T30" fmla="*/ 58 w 103"/>
                  <a:gd name="T31" fmla="*/ 0 h 47"/>
                  <a:gd name="T32" fmla="*/ 48 w 103"/>
                  <a:gd name="T33" fmla="*/ 2 h 47"/>
                  <a:gd name="T34" fmla="*/ 37 w 103"/>
                  <a:gd name="T35" fmla="*/ 4 h 47"/>
                  <a:gd name="T36" fmla="*/ 28 w 103"/>
                  <a:gd name="T37" fmla="*/ 6 h 47"/>
                  <a:gd name="T38" fmla="*/ 20 w 103"/>
                  <a:gd name="T39" fmla="*/ 11 h 47"/>
                  <a:gd name="T40" fmla="*/ 13 w 103"/>
                  <a:gd name="T41" fmla="*/ 14 h 47"/>
                  <a:gd name="T42" fmla="*/ 7 w 103"/>
                  <a:gd name="T43" fmla="*/ 19 h 47"/>
                  <a:gd name="T44" fmla="*/ 2 w 103"/>
                  <a:gd name="T45" fmla="*/ 24 h 47"/>
                  <a:gd name="T46" fmla="*/ 0 w 103"/>
                  <a:gd name="T47" fmla="*/ 28 h 47"/>
                  <a:gd name="T48" fmla="*/ 0 w 103"/>
                  <a:gd name="T49" fmla="*/ 33 h 47"/>
                  <a:gd name="T50" fmla="*/ 1 w 103"/>
                  <a:gd name="T51" fmla="*/ 36 h 47"/>
                  <a:gd name="T52" fmla="*/ 5 w 103"/>
                  <a:gd name="T53" fmla="*/ 40 h 47"/>
                  <a:gd name="T54" fmla="*/ 10 w 103"/>
                  <a:gd name="T55" fmla="*/ 42 h 47"/>
                  <a:gd name="T56" fmla="*/ 17 w 103"/>
                  <a:gd name="T57" fmla="*/ 44 h 47"/>
                  <a:gd name="T58" fmla="*/ 25 w 103"/>
                  <a:gd name="T59" fmla="*/ 46 h 47"/>
                  <a:gd name="T60" fmla="*/ 33 w 103"/>
                  <a:gd name="T61" fmla="*/ 46 h 47"/>
                  <a:gd name="T62" fmla="*/ 43 w 103"/>
                  <a:gd name="T63" fmla="*/ 44 h 47"/>
                  <a:gd name="T64" fmla="*/ 53 w 103"/>
                  <a:gd name="T65" fmla="*/ 43 h 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03" h="47">
                    <a:moveTo>
                      <a:pt x="53" y="43"/>
                    </a:moveTo>
                    <a:lnTo>
                      <a:pt x="64" y="41"/>
                    </a:lnTo>
                    <a:lnTo>
                      <a:pt x="73" y="37"/>
                    </a:lnTo>
                    <a:lnTo>
                      <a:pt x="81" y="34"/>
                    </a:lnTo>
                    <a:lnTo>
                      <a:pt x="88" y="29"/>
                    </a:lnTo>
                    <a:lnTo>
                      <a:pt x="94" y="26"/>
                    </a:lnTo>
                    <a:lnTo>
                      <a:pt x="99" y="21"/>
                    </a:lnTo>
                    <a:lnTo>
                      <a:pt x="101" y="17"/>
                    </a:lnTo>
                    <a:lnTo>
                      <a:pt x="102" y="12"/>
                    </a:lnTo>
                    <a:lnTo>
                      <a:pt x="100" y="9"/>
                    </a:lnTo>
                    <a:lnTo>
                      <a:pt x="96" y="5"/>
                    </a:lnTo>
                    <a:lnTo>
                      <a:pt x="91" y="2"/>
                    </a:lnTo>
                    <a:lnTo>
                      <a:pt x="84" y="1"/>
                    </a:lnTo>
                    <a:lnTo>
                      <a:pt x="76" y="0"/>
                    </a:lnTo>
                    <a:lnTo>
                      <a:pt x="68" y="0"/>
                    </a:lnTo>
                    <a:lnTo>
                      <a:pt x="58" y="0"/>
                    </a:lnTo>
                    <a:lnTo>
                      <a:pt x="48" y="2"/>
                    </a:lnTo>
                    <a:lnTo>
                      <a:pt x="37" y="4"/>
                    </a:lnTo>
                    <a:lnTo>
                      <a:pt x="28" y="6"/>
                    </a:lnTo>
                    <a:lnTo>
                      <a:pt x="20" y="11"/>
                    </a:lnTo>
                    <a:lnTo>
                      <a:pt x="13" y="14"/>
                    </a:lnTo>
                    <a:lnTo>
                      <a:pt x="7" y="19"/>
                    </a:lnTo>
                    <a:lnTo>
                      <a:pt x="2" y="24"/>
                    </a:lnTo>
                    <a:lnTo>
                      <a:pt x="0" y="28"/>
                    </a:lnTo>
                    <a:lnTo>
                      <a:pt x="0" y="33"/>
                    </a:lnTo>
                    <a:lnTo>
                      <a:pt x="1" y="36"/>
                    </a:lnTo>
                    <a:lnTo>
                      <a:pt x="5" y="40"/>
                    </a:lnTo>
                    <a:lnTo>
                      <a:pt x="10" y="42"/>
                    </a:lnTo>
                    <a:lnTo>
                      <a:pt x="17" y="44"/>
                    </a:lnTo>
                    <a:lnTo>
                      <a:pt x="25" y="46"/>
                    </a:lnTo>
                    <a:lnTo>
                      <a:pt x="33" y="46"/>
                    </a:lnTo>
                    <a:lnTo>
                      <a:pt x="43" y="44"/>
                    </a:lnTo>
                    <a:lnTo>
                      <a:pt x="53" y="4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7" name="Freeform 43">
                <a:extLst>
                  <a:ext uri="{FF2B5EF4-FFF2-40B4-BE49-F238E27FC236}">
                    <a16:creationId xmlns:a16="http://schemas.microsoft.com/office/drawing/2014/main" id="{6EBC8339-A8C0-69FA-431D-F875E49EAEC5}"/>
                  </a:ext>
                </a:extLst>
              </p:cNvPr>
              <p:cNvSpPr>
                <a:spLocks/>
              </p:cNvSpPr>
              <p:nvPr/>
            </p:nvSpPr>
            <p:spPr bwMode="auto">
              <a:xfrm>
                <a:off x="1911" y="3001"/>
                <a:ext cx="26" cy="40"/>
              </a:xfrm>
              <a:custGeom>
                <a:avLst/>
                <a:gdLst>
                  <a:gd name="T0" fmla="*/ 2 w 26"/>
                  <a:gd name="T1" fmla="*/ 14 h 40"/>
                  <a:gd name="T2" fmla="*/ 0 w 26"/>
                  <a:gd name="T3" fmla="*/ 17 h 40"/>
                  <a:gd name="T4" fmla="*/ 0 w 26"/>
                  <a:gd name="T5" fmla="*/ 21 h 40"/>
                  <a:gd name="T6" fmla="*/ 0 w 26"/>
                  <a:gd name="T7" fmla="*/ 25 h 40"/>
                  <a:gd name="T8" fmla="*/ 0 w 26"/>
                  <a:gd name="T9" fmla="*/ 28 h 40"/>
                  <a:gd name="T10" fmla="*/ 0 w 26"/>
                  <a:gd name="T11" fmla="*/ 31 h 40"/>
                  <a:gd name="T12" fmla="*/ 1 w 26"/>
                  <a:gd name="T13" fmla="*/ 34 h 40"/>
                  <a:gd name="T14" fmla="*/ 2 w 26"/>
                  <a:gd name="T15" fmla="*/ 36 h 40"/>
                  <a:gd name="T16" fmla="*/ 4 w 26"/>
                  <a:gd name="T17" fmla="*/ 37 h 40"/>
                  <a:gd name="T18" fmla="*/ 6 w 26"/>
                  <a:gd name="T19" fmla="*/ 39 h 40"/>
                  <a:gd name="T20" fmla="*/ 8 w 26"/>
                  <a:gd name="T21" fmla="*/ 39 h 40"/>
                  <a:gd name="T22" fmla="*/ 11 w 26"/>
                  <a:gd name="T23" fmla="*/ 37 h 40"/>
                  <a:gd name="T24" fmla="*/ 13 w 26"/>
                  <a:gd name="T25" fmla="*/ 36 h 40"/>
                  <a:gd name="T26" fmla="*/ 16 w 26"/>
                  <a:gd name="T27" fmla="*/ 34 h 40"/>
                  <a:gd name="T28" fmla="*/ 18 w 26"/>
                  <a:gd name="T29" fmla="*/ 31 h 40"/>
                  <a:gd name="T30" fmla="*/ 20 w 26"/>
                  <a:gd name="T31" fmla="*/ 27 h 40"/>
                  <a:gd name="T32" fmla="*/ 22 w 26"/>
                  <a:gd name="T33" fmla="*/ 24 h 40"/>
                  <a:gd name="T34" fmla="*/ 23 w 26"/>
                  <a:gd name="T35" fmla="*/ 21 h 40"/>
                  <a:gd name="T36" fmla="*/ 24 w 26"/>
                  <a:gd name="T37" fmla="*/ 16 h 40"/>
                  <a:gd name="T38" fmla="*/ 25 w 26"/>
                  <a:gd name="T39" fmla="*/ 13 h 40"/>
                  <a:gd name="T40" fmla="*/ 24 w 26"/>
                  <a:gd name="T41" fmla="*/ 10 h 40"/>
                  <a:gd name="T42" fmla="*/ 24 w 26"/>
                  <a:gd name="T43" fmla="*/ 6 h 40"/>
                  <a:gd name="T44" fmla="*/ 23 w 26"/>
                  <a:gd name="T45" fmla="*/ 4 h 40"/>
                  <a:gd name="T46" fmla="*/ 22 w 26"/>
                  <a:gd name="T47" fmla="*/ 2 h 40"/>
                  <a:gd name="T48" fmla="*/ 20 w 26"/>
                  <a:gd name="T49" fmla="*/ 1 h 40"/>
                  <a:gd name="T50" fmla="*/ 18 w 26"/>
                  <a:gd name="T51" fmla="*/ 0 h 40"/>
                  <a:gd name="T52" fmla="*/ 15 w 26"/>
                  <a:gd name="T53" fmla="*/ 0 h 40"/>
                  <a:gd name="T54" fmla="*/ 13 w 26"/>
                  <a:gd name="T55" fmla="*/ 1 h 40"/>
                  <a:gd name="T56" fmla="*/ 10 w 26"/>
                  <a:gd name="T57" fmla="*/ 2 h 40"/>
                  <a:gd name="T58" fmla="*/ 8 w 26"/>
                  <a:gd name="T59" fmla="*/ 4 h 40"/>
                  <a:gd name="T60" fmla="*/ 6 w 26"/>
                  <a:gd name="T61" fmla="*/ 7 h 40"/>
                  <a:gd name="T62" fmla="*/ 4 w 26"/>
                  <a:gd name="T63" fmla="*/ 10 h 40"/>
                  <a:gd name="T64" fmla="*/ 2 w 26"/>
                  <a:gd name="T65" fmla="*/ 14 h 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6" h="40">
                    <a:moveTo>
                      <a:pt x="2" y="14"/>
                    </a:moveTo>
                    <a:lnTo>
                      <a:pt x="0" y="17"/>
                    </a:lnTo>
                    <a:lnTo>
                      <a:pt x="0" y="21"/>
                    </a:lnTo>
                    <a:lnTo>
                      <a:pt x="0" y="25"/>
                    </a:lnTo>
                    <a:lnTo>
                      <a:pt x="0" y="28"/>
                    </a:lnTo>
                    <a:lnTo>
                      <a:pt x="0" y="31"/>
                    </a:lnTo>
                    <a:lnTo>
                      <a:pt x="1" y="34"/>
                    </a:lnTo>
                    <a:lnTo>
                      <a:pt x="2" y="36"/>
                    </a:lnTo>
                    <a:lnTo>
                      <a:pt x="4" y="37"/>
                    </a:lnTo>
                    <a:lnTo>
                      <a:pt x="6" y="39"/>
                    </a:lnTo>
                    <a:lnTo>
                      <a:pt x="8" y="39"/>
                    </a:lnTo>
                    <a:lnTo>
                      <a:pt x="11" y="37"/>
                    </a:lnTo>
                    <a:lnTo>
                      <a:pt x="13" y="36"/>
                    </a:lnTo>
                    <a:lnTo>
                      <a:pt x="16" y="34"/>
                    </a:lnTo>
                    <a:lnTo>
                      <a:pt x="18" y="31"/>
                    </a:lnTo>
                    <a:lnTo>
                      <a:pt x="20" y="27"/>
                    </a:lnTo>
                    <a:lnTo>
                      <a:pt x="22" y="24"/>
                    </a:lnTo>
                    <a:lnTo>
                      <a:pt x="23" y="21"/>
                    </a:lnTo>
                    <a:lnTo>
                      <a:pt x="24" y="16"/>
                    </a:lnTo>
                    <a:lnTo>
                      <a:pt x="25" y="13"/>
                    </a:lnTo>
                    <a:lnTo>
                      <a:pt x="24" y="10"/>
                    </a:lnTo>
                    <a:lnTo>
                      <a:pt x="24" y="6"/>
                    </a:lnTo>
                    <a:lnTo>
                      <a:pt x="23" y="4"/>
                    </a:lnTo>
                    <a:lnTo>
                      <a:pt x="22" y="2"/>
                    </a:lnTo>
                    <a:lnTo>
                      <a:pt x="20" y="1"/>
                    </a:lnTo>
                    <a:lnTo>
                      <a:pt x="18" y="0"/>
                    </a:lnTo>
                    <a:lnTo>
                      <a:pt x="15" y="0"/>
                    </a:lnTo>
                    <a:lnTo>
                      <a:pt x="13" y="1"/>
                    </a:lnTo>
                    <a:lnTo>
                      <a:pt x="10" y="2"/>
                    </a:lnTo>
                    <a:lnTo>
                      <a:pt x="8" y="4"/>
                    </a:lnTo>
                    <a:lnTo>
                      <a:pt x="6" y="7"/>
                    </a:lnTo>
                    <a:lnTo>
                      <a:pt x="4" y="10"/>
                    </a:lnTo>
                    <a:lnTo>
                      <a:pt x="2" y="14"/>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8" name="Freeform 44">
                <a:extLst>
                  <a:ext uri="{FF2B5EF4-FFF2-40B4-BE49-F238E27FC236}">
                    <a16:creationId xmlns:a16="http://schemas.microsoft.com/office/drawing/2014/main" id="{8E8C387D-8DCD-5FF5-88FB-2576E96D0FEE}"/>
                  </a:ext>
                </a:extLst>
              </p:cNvPr>
              <p:cNvSpPr>
                <a:spLocks/>
              </p:cNvSpPr>
              <p:nvPr/>
            </p:nvSpPr>
            <p:spPr bwMode="auto">
              <a:xfrm>
                <a:off x="1991" y="3014"/>
                <a:ext cx="27" cy="40"/>
              </a:xfrm>
              <a:custGeom>
                <a:avLst/>
                <a:gdLst>
                  <a:gd name="T0" fmla="*/ 3 w 27"/>
                  <a:gd name="T1" fmla="*/ 13 h 40"/>
                  <a:gd name="T2" fmla="*/ 2 w 27"/>
                  <a:gd name="T3" fmla="*/ 18 h 40"/>
                  <a:gd name="T4" fmla="*/ 1 w 27"/>
                  <a:gd name="T5" fmla="*/ 21 h 40"/>
                  <a:gd name="T6" fmla="*/ 0 w 27"/>
                  <a:gd name="T7" fmla="*/ 26 h 40"/>
                  <a:gd name="T8" fmla="*/ 0 w 27"/>
                  <a:gd name="T9" fmla="*/ 29 h 40"/>
                  <a:gd name="T10" fmla="*/ 1 w 27"/>
                  <a:gd name="T11" fmla="*/ 32 h 40"/>
                  <a:gd name="T12" fmla="*/ 2 w 27"/>
                  <a:gd name="T13" fmla="*/ 35 h 40"/>
                  <a:gd name="T14" fmla="*/ 3 w 27"/>
                  <a:gd name="T15" fmla="*/ 36 h 40"/>
                  <a:gd name="T16" fmla="*/ 5 w 27"/>
                  <a:gd name="T17" fmla="*/ 39 h 40"/>
                  <a:gd name="T18" fmla="*/ 7 w 27"/>
                  <a:gd name="T19" fmla="*/ 39 h 40"/>
                  <a:gd name="T20" fmla="*/ 9 w 27"/>
                  <a:gd name="T21" fmla="*/ 39 h 40"/>
                  <a:gd name="T22" fmla="*/ 12 w 27"/>
                  <a:gd name="T23" fmla="*/ 39 h 40"/>
                  <a:gd name="T24" fmla="*/ 14 w 27"/>
                  <a:gd name="T25" fmla="*/ 36 h 40"/>
                  <a:gd name="T26" fmla="*/ 17 w 27"/>
                  <a:gd name="T27" fmla="*/ 34 h 40"/>
                  <a:gd name="T28" fmla="*/ 19 w 27"/>
                  <a:gd name="T29" fmla="*/ 32 h 40"/>
                  <a:gd name="T30" fmla="*/ 21 w 27"/>
                  <a:gd name="T31" fmla="*/ 28 h 40"/>
                  <a:gd name="T32" fmla="*/ 23 w 27"/>
                  <a:gd name="T33" fmla="*/ 25 h 40"/>
                  <a:gd name="T34" fmla="*/ 24 w 27"/>
                  <a:gd name="T35" fmla="*/ 21 h 40"/>
                  <a:gd name="T36" fmla="*/ 25 w 27"/>
                  <a:gd name="T37" fmla="*/ 17 h 40"/>
                  <a:gd name="T38" fmla="*/ 26 w 27"/>
                  <a:gd name="T39" fmla="*/ 13 h 40"/>
                  <a:gd name="T40" fmla="*/ 26 w 27"/>
                  <a:gd name="T41" fmla="*/ 10 h 40"/>
                  <a:gd name="T42" fmla="*/ 25 w 27"/>
                  <a:gd name="T43" fmla="*/ 6 h 40"/>
                  <a:gd name="T44" fmla="*/ 24 w 27"/>
                  <a:gd name="T45" fmla="*/ 4 h 40"/>
                  <a:gd name="T46" fmla="*/ 23 w 27"/>
                  <a:gd name="T47" fmla="*/ 2 h 40"/>
                  <a:gd name="T48" fmla="*/ 21 w 27"/>
                  <a:gd name="T49" fmla="*/ 1 h 40"/>
                  <a:gd name="T50" fmla="*/ 19 w 27"/>
                  <a:gd name="T51" fmla="*/ 0 h 40"/>
                  <a:gd name="T52" fmla="*/ 16 w 27"/>
                  <a:gd name="T53" fmla="*/ 0 h 40"/>
                  <a:gd name="T54" fmla="*/ 14 w 27"/>
                  <a:gd name="T55" fmla="*/ 1 h 40"/>
                  <a:gd name="T56" fmla="*/ 12 w 27"/>
                  <a:gd name="T57" fmla="*/ 2 h 40"/>
                  <a:gd name="T58" fmla="*/ 9 w 27"/>
                  <a:gd name="T59" fmla="*/ 4 h 40"/>
                  <a:gd name="T60" fmla="*/ 7 w 27"/>
                  <a:gd name="T61" fmla="*/ 6 h 40"/>
                  <a:gd name="T62" fmla="*/ 5 w 27"/>
                  <a:gd name="T63" fmla="*/ 10 h 40"/>
                  <a:gd name="T64" fmla="*/ 3 w 27"/>
                  <a:gd name="T65" fmla="*/ 13 h 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7" h="40">
                    <a:moveTo>
                      <a:pt x="3" y="13"/>
                    </a:moveTo>
                    <a:lnTo>
                      <a:pt x="2" y="18"/>
                    </a:lnTo>
                    <a:lnTo>
                      <a:pt x="1" y="21"/>
                    </a:lnTo>
                    <a:lnTo>
                      <a:pt x="0" y="26"/>
                    </a:lnTo>
                    <a:lnTo>
                      <a:pt x="0" y="29"/>
                    </a:lnTo>
                    <a:lnTo>
                      <a:pt x="1" y="32"/>
                    </a:lnTo>
                    <a:lnTo>
                      <a:pt x="2" y="35"/>
                    </a:lnTo>
                    <a:lnTo>
                      <a:pt x="3" y="36"/>
                    </a:lnTo>
                    <a:lnTo>
                      <a:pt x="5" y="39"/>
                    </a:lnTo>
                    <a:lnTo>
                      <a:pt x="7" y="39"/>
                    </a:lnTo>
                    <a:lnTo>
                      <a:pt x="9" y="39"/>
                    </a:lnTo>
                    <a:lnTo>
                      <a:pt x="12" y="39"/>
                    </a:lnTo>
                    <a:lnTo>
                      <a:pt x="14" y="36"/>
                    </a:lnTo>
                    <a:lnTo>
                      <a:pt x="17" y="34"/>
                    </a:lnTo>
                    <a:lnTo>
                      <a:pt x="19" y="32"/>
                    </a:lnTo>
                    <a:lnTo>
                      <a:pt x="21" y="28"/>
                    </a:lnTo>
                    <a:lnTo>
                      <a:pt x="23" y="25"/>
                    </a:lnTo>
                    <a:lnTo>
                      <a:pt x="24" y="21"/>
                    </a:lnTo>
                    <a:lnTo>
                      <a:pt x="25" y="17"/>
                    </a:lnTo>
                    <a:lnTo>
                      <a:pt x="26" y="13"/>
                    </a:lnTo>
                    <a:lnTo>
                      <a:pt x="26" y="10"/>
                    </a:lnTo>
                    <a:lnTo>
                      <a:pt x="25" y="6"/>
                    </a:lnTo>
                    <a:lnTo>
                      <a:pt x="24" y="4"/>
                    </a:lnTo>
                    <a:lnTo>
                      <a:pt x="23" y="2"/>
                    </a:lnTo>
                    <a:lnTo>
                      <a:pt x="21" y="1"/>
                    </a:lnTo>
                    <a:lnTo>
                      <a:pt x="19" y="0"/>
                    </a:lnTo>
                    <a:lnTo>
                      <a:pt x="16" y="0"/>
                    </a:lnTo>
                    <a:lnTo>
                      <a:pt x="14" y="1"/>
                    </a:lnTo>
                    <a:lnTo>
                      <a:pt x="12" y="2"/>
                    </a:lnTo>
                    <a:lnTo>
                      <a:pt x="9" y="4"/>
                    </a:lnTo>
                    <a:lnTo>
                      <a:pt x="7" y="6"/>
                    </a:lnTo>
                    <a:lnTo>
                      <a:pt x="5" y="10"/>
                    </a:lnTo>
                    <a:lnTo>
                      <a:pt x="3" y="1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9" name="Freeform 45">
                <a:extLst>
                  <a:ext uri="{FF2B5EF4-FFF2-40B4-BE49-F238E27FC236}">
                    <a16:creationId xmlns:a16="http://schemas.microsoft.com/office/drawing/2014/main" id="{96969EA6-3E5F-EFC6-0927-25EA78DBAE66}"/>
                  </a:ext>
                </a:extLst>
              </p:cNvPr>
              <p:cNvSpPr>
                <a:spLocks/>
              </p:cNvSpPr>
              <p:nvPr/>
            </p:nvSpPr>
            <p:spPr bwMode="auto">
              <a:xfrm>
                <a:off x="1830" y="3306"/>
                <a:ext cx="22" cy="43"/>
              </a:xfrm>
              <a:custGeom>
                <a:avLst/>
                <a:gdLst>
                  <a:gd name="T0" fmla="*/ 0 w 22"/>
                  <a:gd name="T1" fmla="*/ 20 h 43"/>
                  <a:gd name="T2" fmla="*/ 0 w 22"/>
                  <a:gd name="T3" fmla="*/ 23 h 43"/>
                  <a:gd name="T4" fmla="*/ 0 w 22"/>
                  <a:gd name="T5" fmla="*/ 28 h 43"/>
                  <a:gd name="T6" fmla="*/ 0 w 22"/>
                  <a:gd name="T7" fmla="*/ 31 h 43"/>
                  <a:gd name="T8" fmla="*/ 1 w 22"/>
                  <a:gd name="T9" fmla="*/ 35 h 43"/>
                  <a:gd name="T10" fmla="*/ 2 w 22"/>
                  <a:gd name="T11" fmla="*/ 37 h 43"/>
                  <a:gd name="T12" fmla="*/ 4 w 22"/>
                  <a:gd name="T13" fmla="*/ 39 h 43"/>
                  <a:gd name="T14" fmla="*/ 6 w 22"/>
                  <a:gd name="T15" fmla="*/ 40 h 43"/>
                  <a:gd name="T16" fmla="*/ 8 w 22"/>
                  <a:gd name="T17" fmla="*/ 42 h 43"/>
                  <a:gd name="T18" fmla="*/ 11 w 22"/>
                  <a:gd name="T19" fmla="*/ 42 h 43"/>
                  <a:gd name="T20" fmla="*/ 13 w 22"/>
                  <a:gd name="T21" fmla="*/ 40 h 43"/>
                  <a:gd name="T22" fmla="*/ 15 w 22"/>
                  <a:gd name="T23" fmla="*/ 38 h 43"/>
                  <a:gd name="T24" fmla="*/ 17 w 22"/>
                  <a:gd name="T25" fmla="*/ 36 h 43"/>
                  <a:gd name="T26" fmla="*/ 18 w 22"/>
                  <a:gd name="T27" fmla="*/ 32 h 43"/>
                  <a:gd name="T28" fmla="*/ 19 w 22"/>
                  <a:gd name="T29" fmla="*/ 29 h 43"/>
                  <a:gd name="T30" fmla="*/ 20 w 22"/>
                  <a:gd name="T31" fmla="*/ 26 h 43"/>
                  <a:gd name="T32" fmla="*/ 21 w 22"/>
                  <a:gd name="T33" fmla="*/ 21 h 43"/>
                  <a:gd name="T34" fmla="*/ 20 w 22"/>
                  <a:gd name="T35" fmla="*/ 17 h 43"/>
                  <a:gd name="T36" fmla="*/ 20 w 22"/>
                  <a:gd name="T37" fmla="*/ 13 h 43"/>
                  <a:gd name="T38" fmla="*/ 19 w 22"/>
                  <a:gd name="T39" fmla="*/ 10 h 43"/>
                  <a:gd name="T40" fmla="*/ 18 w 22"/>
                  <a:gd name="T41" fmla="*/ 6 h 43"/>
                  <a:gd name="T42" fmla="*/ 17 w 22"/>
                  <a:gd name="T43" fmla="*/ 4 h 43"/>
                  <a:gd name="T44" fmla="*/ 15 w 22"/>
                  <a:gd name="T45" fmla="*/ 2 h 43"/>
                  <a:gd name="T46" fmla="*/ 13 w 22"/>
                  <a:gd name="T47" fmla="*/ 1 h 43"/>
                  <a:gd name="T48" fmla="*/ 11 w 22"/>
                  <a:gd name="T49" fmla="*/ 0 h 43"/>
                  <a:gd name="T50" fmla="*/ 8 w 22"/>
                  <a:gd name="T51" fmla="*/ 0 h 43"/>
                  <a:gd name="T52" fmla="*/ 6 w 22"/>
                  <a:gd name="T53" fmla="*/ 1 h 43"/>
                  <a:gd name="T54" fmla="*/ 4 w 22"/>
                  <a:gd name="T55" fmla="*/ 3 h 43"/>
                  <a:gd name="T56" fmla="*/ 2 w 22"/>
                  <a:gd name="T57" fmla="*/ 5 h 43"/>
                  <a:gd name="T58" fmla="*/ 1 w 22"/>
                  <a:gd name="T59" fmla="*/ 9 h 43"/>
                  <a:gd name="T60" fmla="*/ 0 w 22"/>
                  <a:gd name="T61" fmla="*/ 12 h 43"/>
                  <a:gd name="T62" fmla="*/ 0 w 22"/>
                  <a:gd name="T63" fmla="*/ 15 h 43"/>
                  <a:gd name="T64" fmla="*/ 0 w 22"/>
                  <a:gd name="T65" fmla="*/ 20 h 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2" h="43">
                    <a:moveTo>
                      <a:pt x="0" y="20"/>
                    </a:moveTo>
                    <a:lnTo>
                      <a:pt x="0" y="23"/>
                    </a:lnTo>
                    <a:lnTo>
                      <a:pt x="0" y="28"/>
                    </a:lnTo>
                    <a:lnTo>
                      <a:pt x="0" y="31"/>
                    </a:lnTo>
                    <a:lnTo>
                      <a:pt x="1" y="35"/>
                    </a:lnTo>
                    <a:lnTo>
                      <a:pt x="2" y="37"/>
                    </a:lnTo>
                    <a:lnTo>
                      <a:pt x="4" y="39"/>
                    </a:lnTo>
                    <a:lnTo>
                      <a:pt x="6" y="40"/>
                    </a:lnTo>
                    <a:lnTo>
                      <a:pt x="8" y="42"/>
                    </a:lnTo>
                    <a:lnTo>
                      <a:pt x="11" y="42"/>
                    </a:lnTo>
                    <a:lnTo>
                      <a:pt x="13" y="40"/>
                    </a:lnTo>
                    <a:lnTo>
                      <a:pt x="15" y="38"/>
                    </a:lnTo>
                    <a:lnTo>
                      <a:pt x="17" y="36"/>
                    </a:lnTo>
                    <a:lnTo>
                      <a:pt x="18" y="32"/>
                    </a:lnTo>
                    <a:lnTo>
                      <a:pt x="19" y="29"/>
                    </a:lnTo>
                    <a:lnTo>
                      <a:pt x="20" y="26"/>
                    </a:lnTo>
                    <a:lnTo>
                      <a:pt x="21" y="21"/>
                    </a:lnTo>
                    <a:lnTo>
                      <a:pt x="20" y="17"/>
                    </a:lnTo>
                    <a:lnTo>
                      <a:pt x="20" y="13"/>
                    </a:lnTo>
                    <a:lnTo>
                      <a:pt x="19" y="10"/>
                    </a:lnTo>
                    <a:lnTo>
                      <a:pt x="18" y="6"/>
                    </a:lnTo>
                    <a:lnTo>
                      <a:pt x="17" y="4"/>
                    </a:lnTo>
                    <a:lnTo>
                      <a:pt x="15" y="2"/>
                    </a:lnTo>
                    <a:lnTo>
                      <a:pt x="13" y="1"/>
                    </a:lnTo>
                    <a:lnTo>
                      <a:pt x="11" y="0"/>
                    </a:lnTo>
                    <a:lnTo>
                      <a:pt x="8" y="0"/>
                    </a:lnTo>
                    <a:lnTo>
                      <a:pt x="6" y="1"/>
                    </a:lnTo>
                    <a:lnTo>
                      <a:pt x="4" y="3"/>
                    </a:lnTo>
                    <a:lnTo>
                      <a:pt x="2" y="5"/>
                    </a:lnTo>
                    <a:lnTo>
                      <a:pt x="1" y="9"/>
                    </a:lnTo>
                    <a:lnTo>
                      <a:pt x="0"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0" name="Freeform 46">
                <a:extLst>
                  <a:ext uri="{FF2B5EF4-FFF2-40B4-BE49-F238E27FC236}">
                    <a16:creationId xmlns:a16="http://schemas.microsoft.com/office/drawing/2014/main" id="{99E1269E-DA65-3CCA-DD6E-660B8DE03A5F}"/>
                  </a:ext>
                </a:extLst>
              </p:cNvPr>
              <p:cNvSpPr>
                <a:spLocks/>
              </p:cNvSpPr>
              <p:nvPr/>
            </p:nvSpPr>
            <p:spPr bwMode="auto">
              <a:xfrm>
                <a:off x="1750" y="3291"/>
                <a:ext cx="23" cy="43"/>
              </a:xfrm>
              <a:custGeom>
                <a:avLst/>
                <a:gdLst>
                  <a:gd name="T0" fmla="*/ 0 w 23"/>
                  <a:gd name="T1" fmla="*/ 20 h 43"/>
                  <a:gd name="T2" fmla="*/ 0 w 23"/>
                  <a:gd name="T3" fmla="*/ 24 h 43"/>
                  <a:gd name="T4" fmla="*/ 0 w 23"/>
                  <a:gd name="T5" fmla="*/ 28 h 43"/>
                  <a:gd name="T6" fmla="*/ 1 w 23"/>
                  <a:gd name="T7" fmla="*/ 31 h 43"/>
                  <a:gd name="T8" fmla="*/ 2 w 23"/>
                  <a:gd name="T9" fmla="*/ 35 h 43"/>
                  <a:gd name="T10" fmla="*/ 4 w 23"/>
                  <a:gd name="T11" fmla="*/ 37 h 43"/>
                  <a:gd name="T12" fmla="*/ 6 w 23"/>
                  <a:gd name="T13" fmla="*/ 39 h 43"/>
                  <a:gd name="T14" fmla="*/ 8 w 23"/>
                  <a:gd name="T15" fmla="*/ 40 h 43"/>
                  <a:gd name="T16" fmla="*/ 10 w 23"/>
                  <a:gd name="T17" fmla="*/ 42 h 43"/>
                  <a:gd name="T18" fmla="*/ 12 w 23"/>
                  <a:gd name="T19" fmla="*/ 40 h 43"/>
                  <a:gd name="T20" fmla="*/ 14 w 23"/>
                  <a:gd name="T21" fmla="*/ 39 h 43"/>
                  <a:gd name="T22" fmla="*/ 16 w 23"/>
                  <a:gd name="T23" fmla="*/ 38 h 43"/>
                  <a:gd name="T24" fmla="*/ 18 w 23"/>
                  <a:gd name="T25" fmla="*/ 35 h 43"/>
                  <a:gd name="T26" fmla="*/ 19 w 23"/>
                  <a:gd name="T27" fmla="*/ 32 h 43"/>
                  <a:gd name="T28" fmla="*/ 20 w 23"/>
                  <a:gd name="T29" fmla="*/ 29 h 43"/>
                  <a:gd name="T30" fmla="*/ 21 w 23"/>
                  <a:gd name="T31" fmla="*/ 24 h 43"/>
                  <a:gd name="T32" fmla="*/ 22 w 23"/>
                  <a:gd name="T33" fmla="*/ 21 h 43"/>
                  <a:gd name="T34" fmla="*/ 21 w 23"/>
                  <a:gd name="T35" fmla="*/ 17 h 43"/>
                  <a:gd name="T36" fmla="*/ 21 w 23"/>
                  <a:gd name="T37" fmla="*/ 13 h 43"/>
                  <a:gd name="T38" fmla="*/ 20 w 23"/>
                  <a:gd name="T39" fmla="*/ 9 h 43"/>
                  <a:gd name="T40" fmla="*/ 19 w 23"/>
                  <a:gd name="T41" fmla="*/ 6 h 43"/>
                  <a:gd name="T42" fmla="*/ 17 w 23"/>
                  <a:gd name="T43" fmla="*/ 3 h 43"/>
                  <a:gd name="T44" fmla="*/ 15 w 23"/>
                  <a:gd name="T45" fmla="*/ 2 h 43"/>
                  <a:gd name="T46" fmla="*/ 13 w 23"/>
                  <a:gd name="T47" fmla="*/ 0 h 43"/>
                  <a:gd name="T48" fmla="*/ 11 w 23"/>
                  <a:gd name="T49" fmla="*/ 0 h 43"/>
                  <a:gd name="T50" fmla="*/ 9 w 23"/>
                  <a:gd name="T51" fmla="*/ 0 h 43"/>
                  <a:gd name="T52" fmla="*/ 7 w 23"/>
                  <a:gd name="T53" fmla="*/ 1 h 43"/>
                  <a:gd name="T54" fmla="*/ 5 w 23"/>
                  <a:gd name="T55" fmla="*/ 3 h 43"/>
                  <a:gd name="T56" fmla="*/ 3 w 23"/>
                  <a:gd name="T57" fmla="*/ 5 h 43"/>
                  <a:gd name="T58" fmla="*/ 2 w 23"/>
                  <a:gd name="T59" fmla="*/ 9 h 43"/>
                  <a:gd name="T60" fmla="*/ 1 w 23"/>
                  <a:gd name="T61" fmla="*/ 12 h 43"/>
                  <a:gd name="T62" fmla="*/ 0 w 23"/>
                  <a:gd name="T63" fmla="*/ 15 h 43"/>
                  <a:gd name="T64" fmla="*/ 0 w 23"/>
                  <a:gd name="T65" fmla="*/ 20 h 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 h="43">
                    <a:moveTo>
                      <a:pt x="0" y="20"/>
                    </a:moveTo>
                    <a:lnTo>
                      <a:pt x="0" y="24"/>
                    </a:lnTo>
                    <a:lnTo>
                      <a:pt x="0" y="28"/>
                    </a:lnTo>
                    <a:lnTo>
                      <a:pt x="1" y="31"/>
                    </a:lnTo>
                    <a:lnTo>
                      <a:pt x="2" y="35"/>
                    </a:lnTo>
                    <a:lnTo>
                      <a:pt x="4" y="37"/>
                    </a:lnTo>
                    <a:lnTo>
                      <a:pt x="6" y="39"/>
                    </a:lnTo>
                    <a:lnTo>
                      <a:pt x="8" y="40"/>
                    </a:lnTo>
                    <a:lnTo>
                      <a:pt x="10" y="42"/>
                    </a:lnTo>
                    <a:lnTo>
                      <a:pt x="12" y="40"/>
                    </a:lnTo>
                    <a:lnTo>
                      <a:pt x="14" y="39"/>
                    </a:lnTo>
                    <a:lnTo>
                      <a:pt x="16" y="38"/>
                    </a:lnTo>
                    <a:lnTo>
                      <a:pt x="18" y="35"/>
                    </a:lnTo>
                    <a:lnTo>
                      <a:pt x="19" y="32"/>
                    </a:lnTo>
                    <a:lnTo>
                      <a:pt x="20" y="29"/>
                    </a:lnTo>
                    <a:lnTo>
                      <a:pt x="21" y="24"/>
                    </a:lnTo>
                    <a:lnTo>
                      <a:pt x="22" y="21"/>
                    </a:lnTo>
                    <a:lnTo>
                      <a:pt x="21" y="17"/>
                    </a:lnTo>
                    <a:lnTo>
                      <a:pt x="21" y="13"/>
                    </a:lnTo>
                    <a:lnTo>
                      <a:pt x="20" y="9"/>
                    </a:lnTo>
                    <a:lnTo>
                      <a:pt x="19" y="6"/>
                    </a:lnTo>
                    <a:lnTo>
                      <a:pt x="17" y="3"/>
                    </a:lnTo>
                    <a:lnTo>
                      <a:pt x="15" y="2"/>
                    </a:lnTo>
                    <a:lnTo>
                      <a:pt x="13" y="0"/>
                    </a:lnTo>
                    <a:lnTo>
                      <a:pt x="11" y="0"/>
                    </a:lnTo>
                    <a:lnTo>
                      <a:pt x="9" y="0"/>
                    </a:lnTo>
                    <a:lnTo>
                      <a:pt x="7" y="1"/>
                    </a:lnTo>
                    <a:lnTo>
                      <a:pt x="5" y="3"/>
                    </a:lnTo>
                    <a:lnTo>
                      <a:pt x="3" y="5"/>
                    </a:lnTo>
                    <a:lnTo>
                      <a:pt x="2" y="9"/>
                    </a:lnTo>
                    <a:lnTo>
                      <a:pt x="1"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8222" name="Group 47">
              <a:extLst>
                <a:ext uri="{FF2B5EF4-FFF2-40B4-BE49-F238E27FC236}">
                  <a16:creationId xmlns:a16="http://schemas.microsoft.com/office/drawing/2014/main" id="{39FB3156-7EB1-F494-54B0-4ACBFA850787}"/>
                </a:ext>
              </a:extLst>
            </p:cNvPr>
            <p:cNvGrpSpPr>
              <a:grpSpLocks/>
            </p:cNvGrpSpPr>
            <p:nvPr/>
          </p:nvGrpSpPr>
          <p:grpSpPr bwMode="auto">
            <a:xfrm>
              <a:off x="1698" y="2928"/>
              <a:ext cx="303" cy="399"/>
              <a:chOff x="1698" y="2928"/>
              <a:chExt cx="303" cy="399"/>
            </a:xfrm>
          </p:grpSpPr>
          <p:sp>
            <p:nvSpPr>
              <p:cNvPr id="8223" name="Freeform 48">
                <a:extLst>
                  <a:ext uri="{FF2B5EF4-FFF2-40B4-BE49-F238E27FC236}">
                    <a16:creationId xmlns:a16="http://schemas.microsoft.com/office/drawing/2014/main" id="{2A497AC3-2773-D171-02A2-66E3D8191780}"/>
                  </a:ext>
                </a:extLst>
              </p:cNvPr>
              <p:cNvSpPr>
                <a:spLocks/>
              </p:cNvSpPr>
              <p:nvPr/>
            </p:nvSpPr>
            <p:spPr bwMode="auto">
              <a:xfrm>
                <a:off x="1705" y="2954"/>
                <a:ext cx="296" cy="373"/>
              </a:xfrm>
              <a:custGeom>
                <a:avLst/>
                <a:gdLst>
                  <a:gd name="T0" fmla="*/ 2 w 296"/>
                  <a:gd name="T1" fmla="*/ 353 h 373"/>
                  <a:gd name="T2" fmla="*/ 1 w 296"/>
                  <a:gd name="T3" fmla="*/ 348 h 373"/>
                  <a:gd name="T4" fmla="*/ 0 w 296"/>
                  <a:gd name="T5" fmla="*/ 334 h 373"/>
                  <a:gd name="T6" fmla="*/ 0 w 296"/>
                  <a:gd name="T7" fmla="*/ 315 h 373"/>
                  <a:gd name="T8" fmla="*/ 0 w 296"/>
                  <a:gd name="T9" fmla="*/ 290 h 373"/>
                  <a:gd name="T10" fmla="*/ 2 w 296"/>
                  <a:gd name="T11" fmla="*/ 262 h 373"/>
                  <a:gd name="T12" fmla="*/ 6 w 296"/>
                  <a:gd name="T13" fmla="*/ 234 h 373"/>
                  <a:gd name="T14" fmla="*/ 15 w 296"/>
                  <a:gd name="T15" fmla="*/ 209 h 373"/>
                  <a:gd name="T16" fmla="*/ 26 w 296"/>
                  <a:gd name="T17" fmla="*/ 186 h 373"/>
                  <a:gd name="T18" fmla="*/ 40 w 296"/>
                  <a:gd name="T19" fmla="*/ 170 h 373"/>
                  <a:gd name="T20" fmla="*/ 54 w 296"/>
                  <a:gd name="T21" fmla="*/ 161 h 373"/>
                  <a:gd name="T22" fmla="*/ 68 w 296"/>
                  <a:gd name="T23" fmla="*/ 155 h 373"/>
                  <a:gd name="T24" fmla="*/ 80 w 296"/>
                  <a:gd name="T25" fmla="*/ 151 h 373"/>
                  <a:gd name="T26" fmla="*/ 94 w 296"/>
                  <a:gd name="T27" fmla="*/ 146 h 373"/>
                  <a:gd name="T28" fmla="*/ 107 w 296"/>
                  <a:gd name="T29" fmla="*/ 139 h 373"/>
                  <a:gd name="T30" fmla="*/ 121 w 296"/>
                  <a:gd name="T31" fmla="*/ 127 h 373"/>
                  <a:gd name="T32" fmla="*/ 134 w 296"/>
                  <a:gd name="T33" fmla="*/ 108 h 373"/>
                  <a:gd name="T34" fmla="*/ 146 w 296"/>
                  <a:gd name="T35" fmla="*/ 85 h 373"/>
                  <a:gd name="T36" fmla="*/ 154 w 296"/>
                  <a:gd name="T37" fmla="*/ 63 h 373"/>
                  <a:gd name="T38" fmla="*/ 160 w 296"/>
                  <a:gd name="T39" fmla="*/ 45 h 373"/>
                  <a:gd name="T40" fmla="*/ 164 w 296"/>
                  <a:gd name="T41" fmla="*/ 29 h 373"/>
                  <a:gd name="T42" fmla="*/ 167 w 296"/>
                  <a:gd name="T43" fmla="*/ 17 h 373"/>
                  <a:gd name="T44" fmla="*/ 168 w 296"/>
                  <a:gd name="T45" fmla="*/ 7 h 373"/>
                  <a:gd name="T46" fmla="*/ 168 w 296"/>
                  <a:gd name="T47" fmla="*/ 1 h 373"/>
                  <a:gd name="T48" fmla="*/ 168 w 296"/>
                  <a:gd name="T49" fmla="*/ 0 h 373"/>
                  <a:gd name="T50" fmla="*/ 295 w 296"/>
                  <a:gd name="T51" fmla="*/ 19 h 373"/>
                  <a:gd name="T52" fmla="*/ 294 w 296"/>
                  <a:gd name="T53" fmla="*/ 25 h 373"/>
                  <a:gd name="T54" fmla="*/ 292 w 296"/>
                  <a:gd name="T55" fmla="*/ 39 h 373"/>
                  <a:gd name="T56" fmla="*/ 287 w 296"/>
                  <a:gd name="T57" fmla="*/ 60 h 373"/>
                  <a:gd name="T58" fmla="*/ 281 w 296"/>
                  <a:gd name="T59" fmla="*/ 85 h 373"/>
                  <a:gd name="T60" fmla="*/ 273 w 296"/>
                  <a:gd name="T61" fmla="*/ 112 h 373"/>
                  <a:gd name="T62" fmla="*/ 264 w 296"/>
                  <a:gd name="T63" fmla="*/ 136 h 373"/>
                  <a:gd name="T64" fmla="*/ 253 w 296"/>
                  <a:gd name="T65" fmla="*/ 158 h 373"/>
                  <a:gd name="T66" fmla="*/ 242 w 296"/>
                  <a:gd name="T67" fmla="*/ 171 h 373"/>
                  <a:gd name="T68" fmla="*/ 228 w 296"/>
                  <a:gd name="T69" fmla="*/ 180 h 373"/>
                  <a:gd name="T70" fmla="*/ 212 w 296"/>
                  <a:gd name="T71" fmla="*/ 186 h 373"/>
                  <a:gd name="T72" fmla="*/ 194 w 296"/>
                  <a:gd name="T73" fmla="*/ 191 h 373"/>
                  <a:gd name="T74" fmla="*/ 176 w 296"/>
                  <a:gd name="T75" fmla="*/ 195 h 373"/>
                  <a:gd name="T76" fmla="*/ 159 w 296"/>
                  <a:gd name="T77" fmla="*/ 202 h 373"/>
                  <a:gd name="T78" fmla="*/ 145 w 296"/>
                  <a:gd name="T79" fmla="*/ 211 h 373"/>
                  <a:gd name="T80" fmla="*/ 132 w 296"/>
                  <a:gd name="T81" fmla="*/ 224 h 373"/>
                  <a:gd name="T82" fmla="*/ 124 w 296"/>
                  <a:gd name="T83" fmla="*/ 242 h 373"/>
                  <a:gd name="T84" fmla="*/ 121 w 296"/>
                  <a:gd name="T85" fmla="*/ 263 h 373"/>
                  <a:gd name="T86" fmla="*/ 118 w 296"/>
                  <a:gd name="T87" fmla="*/ 286 h 373"/>
                  <a:gd name="T88" fmla="*/ 117 w 296"/>
                  <a:gd name="T89" fmla="*/ 308 h 373"/>
                  <a:gd name="T90" fmla="*/ 117 w 296"/>
                  <a:gd name="T91" fmla="*/ 327 h 373"/>
                  <a:gd name="T92" fmla="*/ 118 w 296"/>
                  <a:gd name="T93" fmla="*/ 345 h 373"/>
                  <a:gd name="T94" fmla="*/ 119 w 296"/>
                  <a:gd name="T95" fmla="*/ 359 h 373"/>
                  <a:gd name="T96" fmla="*/ 120 w 296"/>
                  <a:gd name="T97" fmla="*/ 368 h 373"/>
                  <a:gd name="T98" fmla="*/ 121 w 296"/>
                  <a:gd name="T99" fmla="*/ 372 h 373"/>
                  <a:gd name="T100" fmla="*/ 2 w 296"/>
                  <a:gd name="T101" fmla="*/ 353 h 37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6" h="373">
                    <a:moveTo>
                      <a:pt x="2" y="353"/>
                    </a:moveTo>
                    <a:lnTo>
                      <a:pt x="1" y="348"/>
                    </a:lnTo>
                    <a:lnTo>
                      <a:pt x="0" y="334"/>
                    </a:lnTo>
                    <a:lnTo>
                      <a:pt x="0" y="315"/>
                    </a:lnTo>
                    <a:lnTo>
                      <a:pt x="0" y="290"/>
                    </a:lnTo>
                    <a:lnTo>
                      <a:pt x="2" y="262"/>
                    </a:lnTo>
                    <a:lnTo>
                      <a:pt x="6" y="234"/>
                    </a:lnTo>
                    <a:lnTo>
                      <a:pt x="15" y="209"/>
                    </a:lnTo>
                    <a:lnTo>
                      <a:pt x="26" y="186"/>
                    </a:lnTo>
                    <a:lnTo>
                      <a:pt x="40" y="170"/>
                    </a:lnTo>
                    <a:lnTo>
                      <a:pt x="54" y="161"/>
                    </a:lnTo>
                    <a:lnTo>
                      <a:pt x="68" y="155"/>
                    </a:lnTo>
                    <a:lnTo>
                      <a:pt x="80" y="151"/>
                    </a:lnTo>
                    <a:lnTo>
                      <a:pt x="94" y="146"/>
                    </a:lnTo>
                    <a:lnTo>
                      <a:pt x="107" y="139"/>
                    </a:lnTo>
                    <a:lnTo>
                      <a:pt x="121" y="127"/>
                    </a:lnTo>
                    <a:lnTo>
                      <a:pt x="134" y="108"/>
                    </a:lnTo>
                    <a:lnTo>
                      <a:pt x="146" y="85"/>
                    </a:lnTo>
                    <a:lnTo>
                      <a:pt x="154" y="63"/>
                    </a:lnTo>
                    <a:lnTo>
                      <a:pt x="160" y="45"/>
                    </a:lnTo>
                    <a:lnTo>
                      <a:pt x="164" y="29"/>
                    </a:lnTo>
                    <a:lnTo>
                      <a:pt x="167" y="17"/>
                    </a:lnTo>
                    <a:lnTo>
                      <a:pt x="168" y="7"/>
                    </a:lnTo>
                    <a:lnTo>
                      <a:pt x="168" y="1"/>
                    </a:lnTo>
                    <a:lnTo>
                      <a:pt x="168" y="0"/>
                    </a:lnTo>
                    <a:lnTo>
                      <a:pt x="295" y="19"/>
                    </a:lnTo>
                    <a:lnTo>
                      <a:pt x="294" y="25"/>
                    </a:lnTo>
                    <a:lnTo>
                      <a:pt x="292" y="39"/>
                    </a:lnTo>
                    <a:lnTo>
                      <a:pt x="287" y="60"/>
                    </a:lnTo>
                    <a:lnTo>
                      <a:pt x="281" y="85"/>
                    </a:lnTo>
                    <a:lnTo>
                      <a:pt x="273" y="112"/>
                    </a:lnTo>
                    <a:lnTo>
                      <a:pt x="264" y="136"/>
                    </a:lnTo>
                    <a:lnTo>
                      <a:pt x="253" y="158"/>
                    </a:lnTo>
                    <a:lnTo>
                      <a:pt x="242" y="171"/>
                    </a:lnTo>
                    <a:lnTo>
                      <a:pt x="228" y="180"/>
                    </a:lnTo>
                    <a:lnTo>
                      <a:pt x="212" y="186"/>
                    </a:lnTo>
                    <a:lnTo>
                      <a:pt x="194" y="191"/>
                    </a:lnTo>
                    <a:lnTo>
                      <a:pt x="176" y="195"/>
                    </a:lnTo>
                    <a:lnTo>
                      <a:pt x="159" y="202"/>
                    </a:lnTo>
                    <a:lnTo>
                      <a:pt x="145" y="211"/>
                    </a:lnTo>
                    <a:lnTo>
                      <a:pt x="132" y="224"/>
                    </a:lnTo>
                    <a:lnTo>
                      <a:pt x="124" y="242"/>
                    </a:lnTo>
                    <a:lnTo>
                      <a:pt x="121" y="263"/>
                    </a:lnTo>
                    <a:lnTo>
                      <a:pt x="118" y="286"/>
                    </a:lnTo>
                    <a:lnTo>
                      <a:pt x="117" y="308"/>
                    </a:lnTo>
                    <a:lnTo>
                      <a:pt x="117" y="327"/>
                    </a:lnTo>
                    <a:lnTo>
                      <a:pt x="118" y="345"/>
                    </a:lnTo>
                    <a:lnTo>
                      <a:pt x="119" y="359"/>
                    </a:lnTo>
                    <a:lnTo>
                      <a:pt x="120" y="368"/>
                    </a:lnTo>
                    <a:lnTo>
                      <a:pt x="121" y="372"/>
                    </a:lnTo>
                    <a:lnTo>
                      <a:pt x="2" y="35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4" name="Freeform 49">
                <a:extLst>
                  <a:ext uri="{FF2B5EF4-FFF2-40B4-BE49-F238E27FC236}">
                    <a16:creationId xmlns:a16="http://schemas.microsoft.com/office/drawing/2014/main" id="{33CA7790-76D7-BBDB-0ED5-36E6879AEDDE}"/>
                  </a:ext>
                </a:extLst>
              </p:cNvPr>
              <p:cNvSpPr>
                <a:spLocks/>
              </p:cNvSpPr>
              <p:nvPr/>
            </p:nvSpPr>
            <p:spPr bwMode="auto">
              <a:xfrm>
                <a:off x="1698" y="2928"/>
                <a:ext cx="298" cy="373"/>
              </a:xfrm>
              <a:custGeom>
                <a:avLst/>
                <a:gdLst>
                  <a:gd name="T0" fmla="*/ 2 w 298"/>
                  <a:gd name="T1" fmla="*/ 353 h 373"/>
                  <a:gd name="T2" fmla="*/ 1 w 298"/>
                  <a:gd name="T3" fmla="*/ 349 h 373"/>
                  <a:gd name="T4" fmla="*/ 0 w 298"/>
                  <a:gd name="T5" fmla="*/ 335 h 373"/>
                  <a:gd name="T6" fmla="*/ 0 w 298"/>
                  <a:gd name="T7" fmla="*/ 315 h 373"/>
                  <a:gd name="T8" fmla="*/ 0 w 298"/>
                  <a:gd name="T9" fmla="*/ 290 h 373"/>
                  <a:gd name="T10" fmla="*/ 2 w 298"/>
                  <a:gd name="T11" fmla="*/ 262 h 373"/>
                  <a:gd name="T12" fmla="*/ 7 w 298"/>
                  <a:gd name="T13" fmla="*/ 235 h 373"/>
                  <a:gd name="T14" fmla="*/ 15 w 298"/>
                  <a:gd name="T15" fmla="*/ 209 h 373"/>
                  <a:gd name="T16" fmla="*/ 27 w 298"/>
                  <a:gd name="T17" fmla="*/ 186 h 373"/>
                  <a:gd name="T18" fmla="*/ 41 w 298"/>
                  <a:gd name="T19" fmla="*/ 171 h 373"/>
                  <a:gd name="T20" fmla="*/ 54 w 298"/>
                  <a:gd name="T21" fmla="*/ 161 h 373"/>
                  <a:gd name="T22" fmla="*/ 68 w 298"/>
                  <a:gd name="T23" fmla="*/ 155 h 373"/>
                  <a:gd name="T24" fmla="*/ 81 w 298"/>
                  <a:gd name="T25" fmla="*/ 152 h 373"/>
                  <a:gd name="T26" fmla="*/ 94 w 298"/>
                  <a:gd name="T27" fmla="*/ 147 h 373"/>
                  <a:gd name="T28" fmla="*/ 108 w 298"/>
                  <a:gd name="T29" fmla="*/ 141 h 373"/>
                  <a:gd name="T30" fmla="*/ 121 w 298"/>
                  <a:gd name="T31" fmla="*/ 128 h 373"/>
                  <a:gd name="T32" fmla="*/ 135 w 298"/>
                  <a:gd name="T33" fmla="*/ 109 h 373"/>
                  <a:gd name="T34" fmla="*/ 146 w 298"/>
                  <a:gd name="T35" fmla="*/ 85 h 373"/>
                  <a:gd name="T36" fmla="*/ 155 w 298"/>
                  <a:gd name="T37" fmla="*/ 64 h 373"/>
                  <a:gd name="T38" fmla="*/ 162 w 298"/>
                  <a:gd name="T39" fmla="*/ 46 h 373"/>
                  <a:gd name="T40" fmla="*/ 165 w 298"/>
                  <a:gd name="T41" fmla="*/ 30 h 373"/>
                  <a:gd name="T42" fmla="*/ 167 w 298"/>
                  <a:gd name="T43" fmla="*/ 18 h 373"/>
                  <a:gd name="T44" fmla="*/ 168 w 298"/>
                  <a:gd name="T45" fmla="*/ 7 h 373"/>
                  <a:gd name="T46" fmla="*/ 168 w 298"/>
                  <a:gd name="T47" fmla="*/ 2 h 373"/>
                  <a:gd name="T48" fmla="*/ 168 w 298"/>
                  <a:gd name="T49" fmla="*/ 0 h 373"/>
                  <a:gd name="T50" fmla="*/ 297 w 298"/>
                  <a:gd name="T51" fmla="*/ 20 h 373"/>
                  <a:gd name="T52" fmla="*/ 296 w 298"/>
                  <a:gd name="T53" fmla="*/ 25 h 373"/>
                  <a:gd name="T54" fmla="*/ 293 w 298"/>
                  <a:gd name="T55" fmla="*/ 39 h 373"/>
                  <a:gd name="T56" fmla="*/ 288 w 298"/>
                  <a:gd name="T57" fmla="*/ 61 h 373"/>
                  <a:gd name="T58" fmla="*/ 282 w 298"/>
                  <a:gd name="T59" fmla="*/ 86 h 373"/>
                  <a:gd name="T60" fmla="*/ 274 w 298"/>
                  <a:gd name="T61" fmla="*/ 112 h 373"/>
                  <a:gd name="T62" fmla="*/ 265 w 298"/>
                  <a:gd name="T63" fmla="*/ 137 h 373"/>
                  <a:gd name="T64" fmla="*/ 254 w 298"/>
                  <a:gd name="T65" fmla="*/ 158 h 373"/>
                  <a:gd name="T66" fmla="*/ 243 w 298"/>
                  <a:gd name="T67" fmla="*/ 172 h 373"/>
                  <a:gd name="T68" fmla="*/ 229 w 298"/>
                  <a:gd name="T69" fmla="*/ 180 h 373"/>
                  <a:gd name="T70" fmla="*/ 213 w 298"/>
                  <a:gd name="T71" fmla="*/ 186 h 373"/>
                  <a:gd name="T72" fmla="*/ 194 w 298"/>
                  <a:gd name="T73" fmla="*/ 191 h 373"/>
                  <a:gd name="T74" fmla="*/ 177 w 298"/>
                  <a:gd name="T75" fmla="*/ 196 h 373"/>
                  <a:gd name="T76" fmla="*/ 160 w 298"/>
                  <a:gd name="T77" fmla="*/ 202 h 373"/>
                  <a:gd name="T78" fmla="*/ 145 w 298"/>
                  <a:gd name="T79" fmla="*/ 211 h 373"/>
                  <a:gd name="T80" fmla="*/ 133 w 298"/>
                  <a:gd name="T81" fmla="*/ 224 h 373"/>
                  <a:gd name="T82" fmla="*/ 125 w 298"/>
                  <a:gd name="T83" fmla="*/ 242 h 373"/>
                  <a:gd name="T84" fmla="*/ 121 w 298"/>
                  <a:gd name="T85" fmla="*/ 265 h 373"/>
                  <a:gd name="T86" fmla="*/ 118 w 298"/>
                  <a:gd name="T87" fmla="*/ 286 h 373"/>
                  <a:gd name="T88" fmla="*/ 117 w 298"/>
                  <a:gd name="T89" fmla="*/ 308 h 373"/>
                  <a:gd name="T90" fmla="*/ 117 w 298"/>
                  <a:gd name="T91" fmla="*/ 328 h 373"/>
                  <a:gd name="T92" fmla="*/ 118 w 298"/>
                  <a:gd name="T93" fmla="*/ 345 h 373"/>
                  <a:gd name="T94" fmla="*/ 119 w 298"/>
                  <a:gd name="T95" fmla="*/ 359 h 373"/>
                  <a:gd name="T96" fmla="*/ 120 w 298"/>
                  <a:gd name="T97" fmla="*/ 368 h 373"/>
                  <a:gd name="T98" fmla="*/ 121 w 298"/>
                  <a:gd name="T99" fmla="*/ 372 h 373"/>
                  <a:gd name="T100" fmla="*/ 2 w 298"/>
                  <a:gd name="T101" fmla="*/ 353 h 37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8" h="373">
                    <a:moveTo>
                      <a:pt x="2" y="353"/>
                    </a:moveTo>
                    <a:lnTo>
                      <a:pt x="1" y="349"/>
                    </a:lnTo>
                    <a:lnTo>
                      <a:pt x="0" y="335"/>
                    </a:lnTo>
                    <a:lnTo>
                      <a:pt x="0" y="315"/>
                    </a:lnTo>
                    <a:lnTo>
                      <a:pt x="0" y="290"/>
                    </a:lnTo>
                    <a:lnTo>
                      <a:pt x="2" y="262"/>
                    </a:lnTo>
                    <a:lnTo>
                      <a:pt x="7" y="235"/>
                    </a:lnTo>
                    <a:lnTo>
                      <a:pt x="15" y="209"/>
                    </a:lnTo>
                    <a:lnTo>
                      <a:pt x="27" y="186"/>
                    </a:lnTo>
                    <a:lnTo>
                      <a:pt x="41" y="171"/>
                    </a:lnTo>
                    <a:lnTo>
                      <a:pt x="54" y="161"/>
                    </a:lnTo>
                    <a:lnTo>
                      <a:pt x="68" y="155"/>
                    </a:lnTo>
                    <a:lnTo>
                      <a:pt x="81" y="152"/>
                    </a:lnTo>
                    <a:lnTo>
                      <a:pt x="94" y="147"/>
                    </a:lnTo>
                    <a:lnTo>
                      <a:pt x="108" y="141"/>
                    </a:lnTo>
                    <a:lnTo>
                      <a:pt x="121" y="128"/>
                    </a:lnTo>
                    <a:lnTo>
                      <a:pt x="135" y="109"/>
                    </a:lnTo>
                    <a:lnTo>
                      <a:pt x="146" y="85"/>
                    </a:lnTo>
                    <a:lnTo>
                      <a:pt x="155" y="64"/>
                    </a:lnTo>
                    <a:lnTo>
                      <a:pt x="162" y="46"/>
                    </a:lnTo>
                    <a:lnTo>
                      <a:pt x="165" y="30"/>
                    </a:lnTo>
                    <a:lnTo>
                      <a:pt x="167" y="18"/>
                    </a:lnTo>
                    <a:lnTo>
                      <a:pt x="168" y="7"/>
                    </a:lnTo>
                    <a:lnTo>
                      <a:pt x="168" y="2"/>
                    </a:lnTo>
                    <a:lnTo>
                      <a:pt x="168" y="0"/>
                    </a:lnTo>
                    <a:lnTo>
                      <a:pt x="297" y="20"/>
                    </a:lnTo>
                    <a:lnTo>
                      <a:pt x="296" y="25"/>
                    </a:lnTo>
                    <a:lnTo>
                      <a:pt x="293" y="39"/>
                    </a:lnTo>
                    <a:lnTo>
                      <a:pt x="288" y="61"/>
                    </a:lnTo>
                    <a:lnTo>
                      <a:pt x="282" y="86"/>
                    </a:lnTo>
                    <a:lnTo>
                      <a:pt x="274" y="112"/>
                    </a:lnTo>
                    <a:lnTo>
                      <a:pt x="265" y="137"/>
                    </a:lnTo>
                    <a:lnTo>
                      <a:pt x="254" y="158"/>
                    </a:lnTo>
                    <a:lnTo>
                      <a:pt x="243" y="172"/>
                    </a:lnTo>
                    <a:lnTo>
                      <a:pt x="229" y="180"/>
                    </a:lnTo>
                    <a:lnTo>
                      <a:pt x="213" y="186"/>
                    </a:lnTo>
                    <a:lnTo>
                      <a:pt x="194" y="191"/>
                    </a:lnTo>
                    <a:lnTo>
                      <a:pt x="177" y="196"/>
                    </a:lnTo>
                    <a:lnTo>
                      <a:pt x="160" y="202"/>
                    </a:lnTo>
                    <a:lnTo>
                      <a:pt x="145" y="211"/>
                    </a:lnTo>
                    <a:lnTo>
                      <a:pt x="133" y="224"/>
                    </a:lnTo>
                    <a:lnTo>
                      <a:pt x="125" y="242"/>
                    </a:lnTo>
                    <a:lnTo>
                      <a:pt x="121" y="265"/>
                    </a:lnTo>
                    <a:lnTo>
                      <a:pt x="118" y="286"/>
                    </a:lnTo>
                    <a:lnTo>
                      <a:pt x="117" y="308"/>
                    </a:lnTo>
                    <a:lnTo>
                      <a:pt x="117" y="328"/>
                    </a:lnTo>
                    <a:lnTo>
                      <a:pt x="118" y="345"/>
                    </a:lnTo>
                    <a:lnTo>
                      <a:pt x="119" y="359"/>
                    </a:lnTo>
                    <a:lnTo>
                      <a:pt x="120" y="368"/>
                    </a:lnTo>
                    <a:lnTo>
                      <a:pt x="121" y="372"/>
                    </a:lnTo>
                    <a:lnTo>
                      <a:pt x="2" y="353"/>
                    </a:lnTo>
                  </a:path>
                </a:pathLst>
              </a:custGeom>
              <a:solidFill>
                <a:srgbClr val="00CC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5" name="Freeform 50">
                <a:extLst>
                  <a:ext uri="{FF2B5EF4-FFF2-40B4-BE49-F238E27FC236}">
                    <a16:creationId xmlns:a16="http://schemas.microsoft.com/office/drawing/2014/main" id="{D261DF2C-8442-BA88-1305-2B2DE821B1B0}"/>
                  </a:ext>
                </a:extLst>
              </p:cNvPr>
              <p:cNvSpPr>
                <a:spLocks/>
              </p:cNvSpPr>
              <p:nvPr/>
            </p:nvSpPr>
            <p:spPr bwMode="auto">
              <a:xfrm>
                <a:off x="1715" y="2957"/>
                <a:ext cx="258" cy="320"/>
              </a:xfrm>
              <a:custGeom>
                <a:avLst/>
                <a:gdLst>
                  <a:gd name="T0" fmla="*/ 1 w 258"/>
                  <a:gd name="T1" fmla="*/ 304 h 320"/>
                  <a:gd name="T2" fmla="*/ 1 w 258"/>
                  <a:gd name="T3" fmla="*/ 300 h 320"/>
                  <a:gd name="T4" fmla="*/ 0 w 258"/>
                  <a:gd name="T5" fmla="*/ 288 h 320"/>
                  <a:gd name="T6" fmla="*/ 0 w 258"/>
                  <a:gd name="T7" fmla="*/ 271 h 320"/>
                  <a:gd name="T8" fmla="*/ 0 w 258"/>
                  <a:gd name="T9" fmla="*/ 249 h 320"/>
                  <a:gd name="T10" fmla="*/ 0 w 258"/>
                  <a:gd name="T11" fmla="*/ 226 h 320"/>
                  <a:gd name="T12" fmla="*/ 4 w 258"/>
                  <a:gd name="T13" fmla="*/ 203 h 320"/>
                  <a:gd name="T14" fmla="*/ 11 w 258"/>
                  <a:gd name="T15" fmla="*/ 182 h 320"/>
                  <a:gd name="T16" fmla="*/ 22 w 258"/>
                  <a:gd name="T17" fmla="*/ 165 h 320"/>
                  <a:gd name="T18" fmla="*/ 35 w 258"/>
                  <a:gd name="T19" fmla="*/ 152 h 320"/>
                  <a:gd name="T20" fmla="*/ 50 w 258"/>
                  <a:gd name="T21" fmla="*/ 143 h 320"/>
                  <a:gd name="T22" fmla="*/ 66 w 258"/>
                  <a:gd name="T23" fmla="*/ 135 h 320"/>
                  <a:gd name="T24" fmla="*/ 82 w 258"/>
                  <a:gd name="T25" fmla="*/ 128 h 320"/>
                  <a:gd name="T26" fmla="*/ 99 w 258"/>
                  <a:gd name="T27" fmla="*/ 120 h 320"/>
                  <a:gd name="T28" fmla="*/ 113 w 258"/>
                  <a:gd name="T29" fmla="*/ 108 h 320"/>
                  <a:gd name="T30" fmla="*/ 127 w 258"/>
                  <a:gd name="T31" fmla="*/ 92 h 320"/>
                  <a:gd name="T32" fmla="*/ 138 w 258"/>
                  <a:gd name="T33" fmla="*/ 68 h 320"/>
                  <a:gd name="T34" fmla="*/ 145 w 258"/>
                  <a:gd name="T35" fmla="*/ 48 h 320"/>
                  <a:gd name="T36" fmla="*/ 151 w 258"/>
                  <a:gd name="T37" fmla="*/ 34 h 320"/>
                  <a:gd name="T38" fmla="*/ 154 w 258"/>
                  <a:gd name="T39" fmla="*/ 21 h 320"/>
                  <a:gd name="T40" fmla="*/ 158 w 258"/>
                  <a:gd name="T41" fmla="*/ 12 h 320"/>
                  <a:gd name="T42" fmla="*/ 160 w 258"/>
                  <a:gd name="T43" fmla="*/ 6 h 320"/>
                  <a:gd name="T44" fmla="*/ 161 w 258"/>
                  <a:gd name="T45" fmla="*/ 2 h 320"/>
                  <a:gd name="T46" fmla="*/ 162 w 258"/>
                  <a:gd name="T47" fmla="*/ 0 h 320"/>
                  <a:gd name="T48" fmla="*/ 162 w 258"/>
                  <a:gd name="T49" fmla="*/ 0 h 320"/>
                  <a:gd name="T50" fmla="*/ 257 w 258"/>
                  <a:gd name="T51" fmla="*/ 17 h 320"/>
                  <a:gd name="T52" fmla="*/ 256 w 258"/>
                  <a:gd name="T53" fmla="*/ 21 h 320"/>
                  <a:gd name="T54" fmla="*/ 253 w 258"/>
                  <a:gd name="T55" fmla="*/ 33 h 320"/>
                  <a:gd name="T56" fmla="*/ 249 w 258"/>
                  <a:gd name="T57" fmla="*/ 48 h 320"/>
                  <a:gd name="T58" fmla="*/ 244 w 258"/>
                  <a:gd name="T59" fmla="*/ 68 h 320"/>
                  <a:gd name="T60" fmla="*/ 237 w 258"/>
                  <a:gd name="T61" fmla="*/ 88 h 320"/>
                  <a:gd name="T62" fmla="*/ 230 w 258"/>
                  <a:gd name="T63" fmla="*/ 108 h 320"/>
                  <a:gd name="T64" fmla="*/ 221 w 258"/>
                  <a:gd name="T65" fmla="*/ 124 h 320"/>
                  <a:gd name="T66" fmla="*/ 211 w 258"/>
                  <a:gd name="T67" fmla="*/ 134 h 320"/>
                  <a:gd name="T68" fmla="*/ 199 w 258"/>
                  <a:gd name="T69" fmla="*/ 141 h 320"/>
                  <a:gd name="T70" fmla="*/ 183 w 258"/>
                  <a:gd name="T71" fmla="*/ 146 h 320"/>
                  <a:gd name="T72" fmla="*/ 166 w 258"/>
                  <a:gd name="T73" fmla="*/ 152 h 320"/>
                  <a:gd name="T74" fmla="*/ 148 w 258"/>
                  <a:gd name="T75" fmla="*/ 158 h 320"/>
                  <a:gd name="T76" fmla="*/ 129 w 258"/>
                  <a:gd name="T77" fmla="*/ 166 h 320"/>
                  <a:gd name="T78" fmla="*/ 113 w 258"/>
                  <a:gd name="T79" fmla="*/ 176 h 320"/>
                  <a:gd name="T80" fmla="*/ 100 w 258"/>
                  <a:gd name="T81" fmla="*/ 190 h 320"/>
                  <a:gd name="T82" fmla="*/ 90 w 258"/>
                  <a:gd name="T83" fmla="*/ 207 h 320"/>
                  <a:gd name="T84" fmla="*/ 85 w 258"/>
                  <a:gd name="T85" fmla="*/ 224 h 320"/>
                  <a:gd name="T86" fmla="*/ 82 w 258"/>
                  <a:gd name="T87" fmla="*/ 242 h 320"/>
                  <a:gd name="T88" fmla="*/ 82 w 258"/>
                  <a:gd name="T89" fmla="*/ 260 h 320"/>
                  <a:gd name="T90" fmla="*/ 82 w 258"/>
                  <a:gd name="T91" fmla="*/ 279 h 320"/>
                  <a:gd name="T92" fmla="*/ 84 w 258"/>
                  <a:gd name="T93" fmla="*/ 293 h 320"/>
                  <a:gd name="T94" fmla="*/ 86 w 258"/>
                  <a:gd name="T95" fmla="*/ 306 h 320"/>
                  <a:gd name="T96" fmla="*/ 88 w 258"/>
                  <a:gd name="T97" fmla="*/ 315 h 320"/>
                  <a:gd name="T98" fmla="*/ 88 w 258"/>
                  <a:gd name="T99" fmla="*/ 319 h 320"/>
                  <a:gd name="T100" fmla="*/ 1 w 258"/>
                  <a:gd name="T101" fmla="*/ 304 h 32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58" h="320">
                    <a:moveTo>
                      <a:pt x="1" y="304"/>
                    </a:moveTo>
                    <a:lnTo>
                      <a:pt x="1" y="300"/>
                    </a:lnTo>
                    <a:lnTo>
                      <a:pt x="0" y="288"/>
                    </a:lnTo>
                    <a:lnTo>
                      <a:pt x="0" y="271"/>
                    </a:lnTo>
                    <a:lnTo>
                      <a:pt x="0" y="249"/>
                    </a:lnTo>
                    <a:lnTo>
                      <a:pt x="0" y="226"/>
                    </a:lnTo>
                    <a:lnTo>
                      <a:pt x="4" y="203"/>
                    </a:lnTo>
                    <a:lnTo>
                      <a:pt x="11" y="182"/>
                    </a:lnTo>
                    <a:lnTo>
                      <a:pt x="22" y="165"/>
                    </a:lnTo>
                    <a:lnTo>
                      <a:pt x="35" y="152"/>
                    </a:lnTo>
                    <a:lnTo>
                      <a:pt x="50" y="143"/>
                    </a:lnTo>
                    <a:lnTo>
                      <a:pt x="66" y="135"/>
                    </a:lnTo>
                    <a:lnTo>
                      <a:pt x="82" y="128"/>
                    </a:lnTo>
                    <a:lnTo>
                      <a:pt x="99" y="120"/>
                    </a:lnTo>
                    <a:lnTo>
                      <a:pt x="113" y="108"/>
                    </a:lnTo>
                    <a:lnTo>
                      <a:pt x="127" y="92"/>
                    </a:lnTo>
                    <a:lnTo>
                      <a:pt x="138" y="68"/>
                    </a:lnTo>
                    <a:lnTo>
                      <a:pt x="145" y="48"/>
                    </a:lnTo>
                    <a:lnTo>
                      <a:pt x="151" y="34"/>
                    </a:lnTo>
                    <a:lnTo>
                      <a:pt x="154" y="21"/>
                    </a:lnTo>
                    <a:lnTo>
                      <a:pt x="158" y="12"/>
                    </a:lnTo>
                    <a:lnTo>
                      <a:pt x="160" y="6"/>
                    </a:lnTo>
                    <a:lnTo>
                      <a:pt x="161" y="2"/>
                    </a:lnTo>
                    <a:lnTo>
                      <a:pt x="162" y="0"/>
                    </a:lnTo>
                    <a:lnTo>
                      <a:pt x="257" y="17"/>
                    </a:lnTo>
                    <a:lnTo>
                      <a:pt x="256" y="21"/>
                    </a:lnTo>
                    <a:lnTo>
                      <a:pt x="253" y="33"/>
                    </a:lnTo>
                    <a:lnTo>
                      <a:pt x="249" y="48"/>
                    </a:lnTo>
                    <a:lnTo>
                      <a:pt x="244" y="68"/>
                    </a:lnTo>
                    <a:lnTo>
                      <a:pt x="237" y="88"/>
                    </a:lnTo>
                    <a:lnTo>
                      <a:pt x="230" y="108"/>
                    </a:lnTo>
                    <a:lnTo>
                      <a:pt x="221" y="124"/>
                    </a:lnTo>
                    <a:lnTo>
                      <a:pt x="211" y="134"/>
                    </a:lnTo>
                    <a:lnTo>
                      <a:pt x="199" y="141"/>
                    </a:lnTo>
                    <a:lnTo>
                      <a:pt x="183" y="146"/>
                    </a:lnTo>
                    <a:lnTo>
                      <a:pt x="166" y="152"/>
                    </a:lnTo>
                    <a:lnTo>
                      <a:pt x="148" y="158"/>
                    </a:lnTo>
                    <a:lnTo>
                      <a:pt x="129" y="166"/>
                    </a:lnTo>
                    <a:lnTo>
                      <a:pt x="113" y="176"/>
                    </a:lnTo>
                    <a:lnTo>
                      <a:pt x="100" y="190"/>
                    </a:lnTo>
                    <a:lnTo>
                      <a:pt x="90" y="207"/>
                    </a:lnTo>
                    <a:lnTo>
                      <a:pt x="85" y="224"/>
                    </a:lnTo>
                    <a:lnTo>
                      <a:pt x="82" y="242"/>
                    </a:lnTo>
                    <a:lnTo>
                      <a:pt x="82" y="260"/>
                    </a:lnTo>
                    <a:lnTo>
                      <a:pt x="82" y="279"/>
                    </a:lnTo>
                    <a:lnTo>
                      <a:pt x="84" y="293"/>
                    </a:lnTo>
                    <a:lnTo>
                      <a:pt x="86" y="306"/>
                    </a:lnTo>
                    <a:lnTo>
                      <a:pt x="88" y="315"/>
                    </a:lnTo>
                    <a:lnTo>
                      <a:pt x="88" y="319"/>
                    </a:lnTo>
                    <a:lnTo>
                      <a:pt x="1" y="304"/>
                    </a:lnTo>
                  </a:path>
                </a:pathLst>
              </a:custGeom>
              <a:solidFill>
                <a:srgbClr val="CCFF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6" name="Freeform 51">
                <a:extLst>
                  <a:ext uri="{FF2B5EF4-FFF2-40B4-BE49-F238E27FC236}">
                    <a16:creationId xmlns:a16="http://schemas.microsoft.com/office/drawing/2014/main" id="{1E48B2C2-B846-61DB-315C-C4D82B3C7443}"/>
                  </a:ext>
                </a:extLst>
              </p:cNvPr>
              <p:cNvSpPr>
                <a:spLocks/>
              </p:cNvSpPr>
              <p:nvPr/>
            </p:nvSpPr>
            <p:spPr bwMode="auto">
              <a:xfrm>
                <a:off x="1767" y="3076"/>
                <a:ext cx="122" cy="55"/>
              </a:xfrm>
              <a:custGeom>
                <a:avLst/>
                <a:gdLst>
                  <a:gd name="T0" fmla="*/ 64 w 122"/>
                  <a:gd name="T1" fmla="*/ 51 h 55"/>
                  <a:gd name="T2" fmla="*/ 75 w 122"/>
                  <a:gd name="T3" fmla="*/ 48 h 55"/>
                  <a:gd name="T4" fmla="*/ 87 w 122"/>
                  <a:gd name="T5" fmla="*/ 45 h 55"/>
                  <a:gd name="T6" fmla="*/ 96 w 122"/>
                  <a:gd name="T7" fmla="*/ 40 h 55"/>
                  <a:gd name="T8" fmla="*/ 105 w 122"/>
                  <a:gd name="T9" fmla="*/ 36 h 55"/>
                  <a:gd name="T10" fmla="*/ 112 w 122"/>
                  <a:gd name="T11" fmla="*/ 30 h 55"/>
                  <a:gd name="T12" fmla="*/ 117 w 122"/>
                  <a:gd name="T13" fmla="*/ 25 h 55"/>
                  <a:gd name="T14" fmla="*/ 120 w 122"/>
                  <a:gd name="T15" fmla="*/ 20 h 55"/>
                  <a:gd name="T16" fmla="*/ 121 w 122"/>
                  <a:gd name="T17" fmla="*/ 14 h 55"/>
                  <a:gd name="T18" fmla="*/ 119 w 122"/>
                  <a:gd name="T19" fmla="*/ 10 h 55"/>
                  <a:gd name="T20" fmla="*/ 115 w 122"/>
                  <a:gd name="T21" fmla="*/ 6 h 55"/>
                  <a:gd name="T22" fmla="*/ 108 w 122"/>
                  <a:gd name="T23" fmla="*/ 3 h 55"/>
                  <a:gd name="T24" fmla="*/ 100 w 122"/>
                  <a:gd name="T25" fmla="*/ 1 h 55"/>
                  <a:gd name="T26" fmla="*/ 91 w 122"/>
                  <a:gd name="T27" fmla="*/ 0 h 55"/>
                  <a:gd name="T28" fmla="*/ 80 w 122"/>
                  <a:gd name="T29" fmla="*/ 0 h 55"/>
                  <a:gd name="T30" fmla="*/ 69 w 122"/>
                  <a:gd name="T31" fmla="*/ 0 h 55"/>
                  <a:gd name="T32" fmla="*/ 56 w 122"/>
                  <a:gd name="T33" fmla="*/ 2 h 55"/>
                  <a:gd name="T34" fmla="*/ 45 w 122"/>
                  <a:gd name="T35" fmla="*/ 5 h 55"/>
                  <a:gd name="T36" fmla="*/ 33 w 122"/>
                  <a:gd name="T37" fmla="*/ 9 h 55"/>
                  <a:gd name="T38" fmla="*/ 24 w 122"/>
                  <a:gd name="T39" fmla="*/ 13 h 55"/>
                  <a:gd name="T40" fmla="*/ 15 w 122"/>
                  <a:gd name="T41" fmla="*/ 18 h 55"/>
                  <a:gd name="T42" fmla="*/ 8 w 122"/>
                  <a:gd name="T43" fmla="*/ 22 h 55"/>
                  <a:gd name="T44" fmla="*/ 3 w 122"/>
                  <a:gd name="T45" fmla="*/ 28 h 55"/>
                  <a:gd name="T46" fmla="*/ 0 w 122"/>
                  <a:gd name="T47" fmla="*/ 33 h 55"/>
                  <a:gd name="T48" fmla="*/ 0 w 122"/>
                  <a:gd name="T49" fmla="*/ 38 h 55"/>
                  <a:gd name="T50" fmla="*/ 1 w 122"/>
                  <a:gd name="T51" fmla="*/ 43 h 55"/>
                  <a:gd name="T52" fmla="*/ 5 w 122"/>
                  <a:gd name="T53" fmla="*/ 47 h 55"/>
                  <a:gd name="T54" fmla="*/ 12 w 122"/>
                  <a:gd name="T55" fmla="*/ 50 h 55"/>
                  <a:gd name="T56" fmla="*/ 20 w 122"/>
                  <a:gd name="T57" fmla="*/ 52 h 55"/>
                  <a:gd name="T58" fmla="*/ 29 w 122"/>
                  <a:gd name="T59" fmla="*/ 54 h 55"/>
                  <a:gd name="T60" fmla="*/ 40 w 122"/>
                  <a:gd name="T61" fmla="*/ 54 h 55"/>
                  <a:gd name="T62" fmla="*/ 51 w 122"/>
                  <a:gd name="T63" fmla="*/ 52 h 55"/>
                  <a:gd name="T64" fmla="*/ 64 w 122"/>
                  <a:gd name="T65" fmla="*/ 51 h 5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2" h="55">
                    <a:moveTo>
                      <a:pt x="64" y="51"/>
                    </a:moveTo>
                    <a:lnTo>
                      <a:pt x="75" y="48"/>
                    </a:lnTo>
                    <a:lnTo>
                      <a:pt x="87" y="45"/>
                    </a:lnTo>
                    <a:lnTo>
                      <a:pt x="96" y="40"/>
                    </a:lnTo>
                    <a:lnTo>
                      <a:pt x="105" y="36"/>
                    </a:lnTo>
                    <a:lnTo>
                      <a:pt x="112" y="30"/>
                    </a:lnTo>
                    <a:lnTo>
                      <a:pt x="117" y="25"/>
                    </a:lnTo>
                    <a:lnTo>
                      <a:pt x="120" y="20"/>
                    </a:lnTo>
                    <a:lnTo>
                      <a:pt x="121" y="14"/>
                    </a:lnTo>
                    <a:lnTo>
                      <a:pt x="119" y="10"/>
                    </a:lnTo>
                    <a:lnTo>
                      <a:pt x="115" y="6"/>
                    </a:lnTo>
                    <a:lnTo>
                      <a:pt x="108" y="3"/>
                    </a:lnTo>
                    <a:lnTo>
                      <a:pt x="100" y="1"/>
                    </a:lnTo>
                    <a:lnTo>
                      <a:pt x="91" y="0"/>
                    </a:lnTo>
                    <a:lnTo>
                      <a:pt x="80" y="0"/>
                    </a:lnTo>
                    <a:lnTo>
                      <a:pt x="69" y="0"/>
                    </a:lnTo>
                    <a:lnTo>
                      <a:pt x="56" y="2"/>
                    </a:lnTo>
                    <a:lnTo>
                      <a:pt x="45" y="5"/>
                    </a:lnTo>
                    <a:lnTo>
                      <a:pt x="33" y="9"/>
                    </a:lnTo>
                    <a:lnTo>
                      <a:pt x="24" y="13"/>
                    </a:lnTo>
                    <a:lnTo>
                      <a:pt x="15" y="18"/>
                    </a:lnTo>
                    <a:lnTo>
                      <a:pt x="8" y="22"/>
                    </a:lnTo>
                    <a:lnTo>
                      <a:pt x="3" y="28"/>
                    </a:lnTo>
                    <a:lnTo>
                      <a:pt x="0" y="33"/>
                    </a:lnTo>
                    <a:lnTo>
                      <a:pt x="0" y="38"/>
                    </a:lnTo>
                    <a:lnTo>
                      <a:pt x="1" y="43"/>
                    </a:lnTo>
                    <a:lnTo>
                      <a:pt x="5" y="47"/>
                    </a:lnTo>
                    <a:lnTo>
                      <a:pt x="12" y="50"/>
                    </a:lnTo>
                    <a:lnTo>
                      <a:pt x="20" y="52"/>
                    </a:lnTo>
                    <a:lnTo>
                      <a:pt x="29" y="54"/>
                    </a:lnTo>
                    <a:lnTo>
                      <a:pt x="40" y="54"/>
                    </a:lnTo>
                    <a:lnTo>
                      <a:pt x="51" y="52"/>
                    </a:lnTo>
                    <a:lnTo>
                      <a:pt x="64" y="51"/>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7" name="Freeform 52">
                <a:extLst>
                  <a:ext uri="{FF2B5EF4-FFF2-40B4-BE49-F238E27FC236}">
                    <a16:creationId xmlns:a16="http://schemas.microsoft.com/office/drawing/2014/main" id="{567BA393-9ADB-7887-39B1-B84F2A723AC6}"/>
                  </a:ext>
                </a:extLst>
              </p:cNvPr>
              <p:cNvSpPr>
                <a:spLocks/>
              </p:cNvSpPr>
              <p:nvPr/>
            </p:nvSpPr>
            <p:spPr bwMode="auto">
              <a:xfrm>
                <a:off x="1777" y="3080"/>
                <a:ext cx="103" cy="47"/>
              </a:xfrm>
              <a:custGeom>
                <a:avLst/>
                <a:gdLst>
                  <a:gd name="T0" fmla="*/ 53 w 103"/>
                  <a:gd name="T1" fmla="*/ 43 h 47"/>
                  <a:gd name="T2" fmla="*/ 64 w 103"/>
                  <a:gd name="T3" fmla="*/ 41 h 47"/>
                  <a:gd name="T4" fmla="*/ 73 w 103"/>
                  <a:gd name="T5" fmla="*/ 37 h 47"/>
                  <a:gd name="T6" fmla="*/ 81 w 103"/>
                  <a:gd name="T7" fmla="*/ 34 h 47"/>
                  <a:gd name="T8" fmla="*/ 88 w 103"/>
                  <a:gd name="T9" fmla="*/ 29 h 47"/>
                  <a:gd name="T10" fmla="*/ 94 w 103"/>
                  <a:gd name="T11" fmla="*/ 26 h 47"/>
                  <a:gd name="T12" fmla="*/ 99 w 103"/>
                  <a:gd name="T13" fmla="*/ 21 h 47"/>
                  <a:gd name="T14" fmla="*/ 101 w 103"/>
                  <a:gd name="T15" fmla="*/ 17 h 47"/>
                  <a:gd name="T16" fmla="*/ 102 w 103"/>
                  <a:gd name="T17" fmla="*/ 12 h 47"/>
                  <a:gd name="T18" fmla="*/ 100 w 103"/>
                  <a:gd name="T19" fmla="*/ 9 h 47"/>
                  <a:gd name="T20" fmla="*/ 96 w 103"/>
                  <a:gd name="T21" fmla="*/ 5 h 47"/>
                  <a:gd name="T22" fmla="*/ 91 w 103"/>
                  <a:gd name="T23" fmla="*/ 2 h 47"/>
                  <a:gd name="T24" fmla="*/ 84 w 103"/>
                  <a:gd name="T25" fmla="*/ 1 h 47"/>
                  <a:gd name="T26" fmla="*/ 76 w 103"/>
                  <a:gd name="T27" fmla="*/ 0 h 47"/>
                  <a:gd name="T28" fmla="*/ 68 w 103"/>
                  <a:gd name="T29" fmla="*/ 0 h 47"/>
                  <a:gd name="T30" fmla="*/ 58 w 103"/>
                  <a:gd name="T31" fmla="*/ 0 h 47"/>
                  <a:gd name="T32" fmla="*/ 48 w 103"/>
                  <a:gd name="T33" fmla="*/ 2 h 47"/>
                  <a:gd name="T34" fmla="*/ 37 w 103"/>
                  <a:gd name="T35" fmla="*/ 4 h 47"/>
                  <a:gd name="T36" fmla="*/ 28 w 103"/>
                  <a:gd name="T37" fmla="*/ 6 h 47"/>
                  <a:gd name="T38" fmla="*/ 20 w 103"/>
                  <a:gd name="T39" fmla="*/ 11 h 47"/>
                  <a:gd name="T40" fmla="*/ 13 w 103"/>
                  <a:gd name="T41" fmla="*/ 14 h 47"/>
                  <a:gd name="T42" fmla="*/ 7 w 103"/>
                  <a:gd name="T43" fmla="*/ 19 h 47"/>
                  <a:gd name="T44" fmla="*/ 2 w 103"/>
                  <a:gd name="T45" fmla="*/ 24 h 47"/>
                  <a:gd name="T46" fmla="*/ 0 w 103"/>
                  <a:gd name="T47" fmla="*/ 28 h 47"/>
                  <a:gd name="T48" fmla="*/ 0 w 103"/>
                  <a:gd name="T49" fmla="*/ 33 h 47"/>
                  <a:gd name="T50" fmla="*/ 1 w 103"/>
                  <a:gd name="T51" fmla="*/ 36 h 47"/>
                  <a:gd name="T52" fmla="*/ 5 w 103"/>
                  <a:gd name="T53" fmla="*/ 40 h 47"/>
                  <a:gd name="T54" fmla="*/ 10 w 103"/>
                  <a:gd name="T55" fmla="*/ 42 h 47"/>
                  <a:gd name="T56" fmla="*/ 17 w 103"/>
                  <a:gd name="T57" fmla="*/ 44 h 47"/>
                  <a:gd name="T58" fmla="*/ 25 w 103"/>
                  <a:gd name="T59" fmla="*/ 46 h 47"/>
                  <a:gd name="T60" fmla="*/ 33 w 103"/>
                  <a:gd name="T61" fmla="*/ 46 h 47"/>
                  <a:gd name="T62" fmla="*/ 43 w 103"/>
                  <a:gd name="T63" fmla="*/ 44 h 47"/>
                  <a:gd name="T64" fmla="*/ 53 w 103"/>
                  <a:gd name="T65" fmla="*/ 43 h 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03" h="47">
                    <a:moveTo>
                      <a:pt x="53" y="43"/>
                    </a:moveTo>
                    <a:lnTo>
                      <a:pt x="64" y="41"/>
                    </a:lnTo>
                    <a:lnTo>
                      <a:pt x="73" y="37"/>
                    </a:lnTo>
                    <a:lnTo>
                      <a:pt x="81" y="34"/>
                    </a:lnTo>
                    <a:lnTo>
                      <a:pt x="88" y="29"/>
                    </a:lnTo>
                    <a:lnTo>
                      <a:pt x="94" y="26"/>
                    </a:lnTo>
                    <a:lnTo>
                      <a:pt x="99" y="21"/>
                    </a:lnTo>
                    <a:lnTo>
                      <a:pt x="101" y="17"/>
                    </a:lnTo>
                    <a:lnTo>
                      <a:pt x="102" y="12"/>
                    </a:lnTo>
                    <a:lnTo>
                      <a:pt x="100" y="9"/>
                    </a:lnTo>
                    <a:lnTo>
                      <a:pt x="96" y="5"/>
                    </a:lnTo>
                    <a:lnTo>
                      <a:pt x="91" y="2"/>
                    </a:lnTo>
                    <a:lnTo>
                      <a:pt x="84" y="1"/>
                    </a:lnTo>
                    <a:lnTo>
                      <a:pt x="76" y="0"/>
                    </a:lnTo>
                    <a:lnTo>
                      <a:pt x="68" y="0"/>
                    </a:lnTo>
                    <a:lnTo>
                      <a:pt x="58" y="0"/>
                    </a:lnTo>
                    <a:lnTo>
                      <a:pt x="48" y="2"/>
                    </a:lnTo>
                    <a:lnTo>
                      <a:pt x="37" y="4"/>
                    </a:lnTo>
                    <a:lnTo>
                      <a:pt x="28" y="6"/>
                    </a:lnTo>
                    <a:lnTo>
                      <a:pt x="20" y="11"/>
                    </a:lnTo>
                    <a:lnTo>
                      <a:pt x="13" y="14"/>
                    </a:lnTo>
                    <a:lnTo>
                      <a:pt x="7" y="19"/>
                    </a:lnTo>
                    <a:lnTo>
                      <a:pt x="2" y="24"/>
                    </a:lnTo>
                    <a:lnTo>
                      <a:pt x="0" y="28"/>
                    </a:lnTo>
                    <a:lnTo>
                      <a:pt x="0" y="33"/>
                    </a:lnTo>
                    <a:lnTo>
                      <a:pt x="1" y="36"/>
                    </a:lnTo>
                    <a:lnTo>
                      <a:pt x="5" y="40"/>
                    </a:lnTo>
                    <a:lnTo>
                      <a:pt x="10" y="42"/>
                    </a:lnTo>
                    <a:lnTo>
                      <a:pt x="17" y="44"/>
                    </a:lnTo>
                    <a:lnTo>
                      <a:pt x="25" y="46"/>
                    </a:lnTo>
                    <a:lnTo>
                      <a:pt x="33" y="46"/>
                    </a:lnTo>
                    <a:lnTo>
                      <a:pt x="43" y="44"/>
                    </a:lnTo>
                    <a:lnTo>
                      <a:pt x="53" y="4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8" name="Freeform 53">
                <a:extLst>
                  <a:ext uri="{FF2B5EF4-FFF2-40B4-BE49-F238E27FC236}">
                    <a16:creationId xmlns:a16="http://schemas.microsoft.com/office/drawing/2014/main" id="{E1706468-BE7A-9F26-3E8A-C4A997382DA4}"/>
                  </a:ext>
                </a:extLst>
              </p:cNvPr>
              <p:cNvSpPr>
                <a:spLocks/>
              </p:cNvSpPr>
              <p:nvPr/>
            </p:nvSpPr>
            <p:spPr bwMode="auto">
              <a:xfrm>
                <a:off x="1869" y="2944"/>
                <a:ext cx="27" cy="40"/>
              </a:xfrm>
              <a:custGeom>
                <a:avLst/>
                <a:gdLst>
                  <a:gd name="T0" fmla="*/ 3 w 27"/>
                  <a:gd name="T1" fmla="*/ 14 h 40"/>
                  <a:gd name="T2" fmla="*/ 1 w 27"/>
                  <a:gd name="T3" fmla="*/ 17 h 40"/>
                  <a:gd name="T4" fmla="*/ 1 w 27"/>
                  <a:gd name="T5" fmla="*/ 21 h 40"/>
                  <a:gd name="T6" fmla="*/ 0 w 27"/>
                  <a:gd name="T7" fmla="*/ 25 h 40"/>
                  <a:gd name="T8" fmla="*/ 0 w 27"/>
                  <a:gd name="T9" fmla="*/ 28 h 40"/>
                  <a:gd name="T10" fmla="*/ 1 w 27"/>
                  <a:gd name="T11" fmla="*/ 31 h 40"/>
                  <a:gd name="T12" fmla="*/ 2 w 27"/>
                  <a:gd name="T13" fmla="*/ 34 h 40"/>
                  <a:gd name="T14" fmla="*/ 3 w 27"/>
                  <a:gd name="T15" fmla="*/ 36 h 40"/>
                  <a:gd name="T16" fmla="*/ 5 w 27"/>
                  <a:gd name="T17" fmla="*/ 37 h 40"/>
                  <a:gd name="T18" fmla="*/ 7 w 27"/>
                  <a:gd name="T19" fmla="*/ 39 h 40"/>
                  <a:gd name="T20" fmla="*/ 9 w 27"/>
                  <a:gd name="T21" fmla="*/ 39 h 40"/>
                  <a:gd name="T22" fmla="*/ 12 w 27"/>
                  <a:gd name="T23" fmla="*/ 37 h 40"/>
                  <a:gd name="T24" fmla="*/ 14 w 27"/>
                  <a:gd name="T25" fmla="*/ 36 h 40"/>
                  <a:gd name="T26" fmla="*/ 17 w 27"/>
                  <a:gd name="T27" fmla="*/ 34 h 40"/>
                  <a:gd name="T28" fmla="*/ 19 w 27"/>
                  <a:gd name="T29" fmla="*/ 31 h 40"/>
                  <a:gd name="T30" fmla="*/ 21 w 27"/>
                  <a:gd name="T31" fmla="*/ 27 h 40"/>
                  <a:gd name="T32" fmla="*/ 23 w 27"/>
                  <a:gd name="T33" fmla="*/ 24 h 40"/>
                  <a:gd name="T34" fmla="*/ 24 w 27"/>
                  <a:gd name="T35" fmla="*/ 21 h 40"/>
                  <a:gd name="T36" fmla="*/ 25 w 27"/>
                  <a:gd name="T37" fmla="*/ 16 h 40"/>
                  <a:gd name="T38" fmla="*/ 26 w 27"/>
                  <a:gd name="T39" fmla="*/ 13 h 40"/>
                  <a:gd name="T40" fmla="*/ 25 w 27"/>
                  <a:gd name="T41" fmla="*/ 10 h 40"/>
                  <a:gd name="T42" fmla="*/ 25 w 27"/>
                  <a:gd name="T43" fmla="*/ 6 h 40"/>
                  <a:gd name="T44" fmla="*/ 24 w 27"/>
                  <a:gd name="T45" fmla="*/ 4 h 40"/>
                  <a:gd name="T46" fmla="*/ 23 w 27"/>
                  <a:gd name="T47" fmla="*/ 2 h 40"/>
                  <a:gd name="T48" fmla="*/ 21 w 27"/>
                  <a:gd name="T49" fmla="*/ 1 h 40"/>
                  <a:gd name="T50" fmla="*/ 19 w 27"/>
                  <a:gd name="T51" fmla="*/ 0 h 40"/>
                  <a:gd name="T52" fmla="*/ 16 w 27"/>
                  <a:gd name="T53" fmla="*/ 0 h 40"/>
                  <a:gd name="T54" fmla="*/ 14 w 27"/>
                  <a:gd name="T55" fmla="*/ 1 h 40"/>
                  <a:gd name="T56" fmla="*/ 11 w 27"/>
                  <a:gd name="T57" fmla="*/ 2 h 40"/>
                  <a:gd name="T58" fmla="*/ 9 w 27"/>
                  <a:gd name="T59" fmla="*/ 4 h 40"/>
                  <a:gd name="T60" fmla="*/ 7 w 27"/>
                  <a:gd name="T61" fmla="*/ 7 h 40"/>
                  <a:gd name="T62" fmla="*/ 5 w 27"/>
                  <a:gd name="T63" fmla="*/ 10 h 40"/>
                  <a:gd name="T64" fmla="*/ 3 w 27"/>
                  <a:gd name="T65" fmla="*/ 14 h 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7" h="40">
                    <a:moveTo>
                      <a:pt x="3" y="14"/>
                    </a:moveTo>
                    <a:lnTo>
                      <a:pt x="1" y="17"/>
                    </a:lnTo>
                    <a:lnTo>
                      <a:pt x="1" y="21"/>
                    </a:lnTo>
                    <a:lnTo>
                      <a:pt x="0" y="25"/>
                    </a:lnTo>
                    <a:lnTo>
                      <a:pt x="0" y="28"/>
                    </a:lnTo>
                    <a:lnTo>
                      <a:pt x="1" y="31"/>
                    </a:lnTo>
                    <a:lnTo>
                      <a:pt x="2" y="34"/>
                    </a:lnTo>
                    <a:lnTo>
                      <a:pt x="3" y="36"/>
                    </a:lnTo>
                    <a:lnTo>
                      <a:pt x="5" y="37"/>
                    </a:lnTo>
                    <a:lnTo>
                      <a:pt x="7" y="39"/>
                    </a:lnTo>
                    <a:lnTo>
                      <a:pt x="9" y="39"/>
                    </a:lnTo>
                    <a:lnTo>
                      <a:pt x="12" y="37"/>
                    </a:lnTo>
                    <a:lnTo>
                      <a:pt x="14" y="36"/>
                    </a:lnTo>
                    <a:lnTo>
                      <a:pt x="17" y="34"/>
                    </a:lnTo>
                    <a:lnTo>
                      <a:pt x="19" y="31"/>
                    </a:lnTo>
                    <a:lnTo>
                      <a:pt x="21" y="27"/>
                    </a:lnTo>
                    <a:lnTo>
                      <a:pt x="23" y="24"/>
                    </a:lnTo>
                    <a:lnTo>
                      <a:pt x="24" y="21"/>
                    </a:lnTo>
                    <a:lnTo>
                      <a:pt x="25" y="16"/>
                    </a:lnTo>
                    <a:lnTo>
                      <a:pt x="26" y="13"/>
                    </a:lnTo>
                    <a:lnTo>
                      <a:pt x="25" y="10"/>
                    </a:lnTo>
                    <a:lnTo>
                      <a:pt x="25" y="6"/>
                    </a:lnTo>
                    <a:lnTo>
                      <a:pt x="24" y="4"/>
                    </a:lnTo>
                    <a:lnTo>
                      <a:pt x="23" y="2"/>
                    </a:lnTo>
                    <a:lnTo>
                      <a:pt x="21" y="1"/>
                    </a:lnTo>
                    <a:lnTo>
                      <a:pt x="19" y="0"/>
                    </a:lnTo>
                    <a:lnTo>
                      <a:pt x="16" y="0"/>
                    </a:lnTo>
                    <a:lnTo>
                      <a:pt x="14" y="1"/>
                    </a:lnTo>
                    <a:lnTo>
                      <a:pt x="11" y="2"/>
                    </a:lnTo>
                    <a:lnTo>
                      <a:pt x="9" y="4"/>
                    </a:lnTo>
                    <a:lnTo>
                      <a:pt x="7" y="7"/>
                    </a:lnTo>
                    <a:lnTo>
                      <a:pt x="5" y="10"/>
                    </a:lnTo>
                    <a:lnTo>
                      <a:pt x="3" y="14"/>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9" name="Freeform 54">
                <a:extLst>
                  <a:ext uri="{FF2B5EF4-FFF2-40B4-BE49-F238E27FC236}">
                    <a16:creationId xmlns:a16="http://schemas.microsoft.com/office/drawing/2014/main" id="{0D4CFBD9-7CE5-623F-CBA8-99932F18D4CB}"/>
                  </a:ext>
                </a:extLst>
              </p:cNvPr>
              <p:cNvSpPr>
                <a:spLocks/>
              </p:cNvSpPr>
              <p:nvPr/>
            </p:nvSpPr>
            <p:spPr bwMode="auto">
              <a:xfrm>
                <a:off x="1950" y="2956"/>
                <a:ext cx="26" cy="40"/>
              </a:xfrm>
              <a:custGeom>
                <a:avLst/>
                <a:gdLst>
                  <a:gd name="T0" fmla="*/ 2 w 26"/>
                  <a:gd name="T1" fmla="*/ 13 h 40"/>
                  <a:gd name="T2" fmla="*/ 1 w 26"/>
                  <a:gd name="T3" fmla="*/ 18 h 40"/>
                  <a:gd name="T4" fmla="*/ 0 w 26"/>
                  <a:gd name="T5" fmla="*/ 21 h 40"/>
                  <a:gd name="T6" fmla="*/ 0 w 26"/>
                  <a:gd name="T7" fmla="*/ 26 h 40"/>
                  <a:gd name="T8" fmla="*/ 0 w 26"/>
                  <a:gd name="T9" fmla="*/ 29 h 40"/>
                  <a:gd name="T10" fmla="*/ 0 w 26"/>
                  <a:gd name="T11" fmla="*/ 32 h 40"/>
                  <a:gd name="T12" fmla="*/ 1 w 26"/>
                  <a:gd name="T13" fmla="*/ 35 h 40"/>
                  <a:gd name="T14" fmla="*/ 2 w 26"/>
                  <a:gd name="T15" fmla="*/ 36 h 40"/>
                  <a:gd name="T16" fmla="*/ 4 w 26"/>
                  <a:gd name="T17" fmla="*/ 39 h 40"/>
                  <a:gd name="T18" fmla="*/ 6 w 26"/>
                  <a:gd name="T19" fmla="*/ 39 h 40"/>
                  <a:gd name="T20" fmla="*/ 8 w 26"/>
                  <a:gd name="T21" fmla="*/ 39 h 40"/>
                  <a:gd name="T22" fmla="*/ 11 w 26"/>
                  <a:gd name="T23" fmla="*/ 39 h 40"/>
                  <a:gd name="T24" fmla="*/ 13 w 26"/>
                  <a:gd name="T25" fmla="*/ 36 h 40"/>
                  <a:gd name="T26" fmla="*/ 16 w 26"/>
                  <a:gd name="T27" fmla="*/ 34 h 40"/>
                  <a:gd name="T28" fmla="*/ 18 w 26"/>
                  <a:gd name="T29" fmla="*/ 32 h 40"/>
                  <a:gd name="T30" fmla="*/ 20 w 26"/>
                  <a:gd name="T31" fmla="*/ 28 h 40"/>
                  <a:gd name="T32" fmla="*/ 22 w 26"/>
                  <a:gd name="T33" fmla="*/ 25 h 40"/>
                  <a:gd name="T34" fmla="*/ 23 w 26"/>
                  <a:gd name="T35" fmla="*/ 21 h 40"/>
                  <a:gd name="T36" fmla="*/ 24 w 26"/>
                  <a:gd name="T37" fmla="*/ 17 h 40"/>
                  <a:gd name="T38" fmla="*/ 25 w 26"/>
                  <a:gd name="T39" fmla="*/ 13 h 40"/>
                  <a:gd name="T40" fmla="*/ 25 w 26"/>
                  <a:gd name="T41" fmla="*/ 10 h 40"/>
                  <a:gd name="T42" fmla="*/ 24 w 26"/>
                  <a:gd name="T43" fmla="*/ 6 h 40"/>
                  <a:gd name="T44" fmla="*/ 23 w 26"/>
                  <a:gd name="T45" fmla="*/ 4 h 40"/>
                  <a:gd name="T46" fmla="*/ 22 w 26"/>
                  <a:gd name="T47" fmla="*/ 2 h 40"/>
                  <a:gd name="T48" fmla="*/ 20 w 26"/>
                  <a:gd name="T49" fmla="*/ 1 h 40"/>
                  <a:gd name="T50" fmla="*/ 18 w 26"/>
                  <a:gd name="T51" fmla="*/ 0 h 40"/>
                  <a:gd name="T52" fmla="*/ 15 w 26"/>
                  <a:gd name="T53" fmla="*/ 0 h 40"/>
                  <a:gd name="T54" fmla="*/ 13 w 26"/>
                  <a:gd name="T55" fmla="*/ 1 h 40"/>
                  <a:gd name="T56" fmla="*/ 11 w 26"/>
                  <a:gd name="T57" fmla="*/ 2 h 40"/>
                  <a:gd name="T58" fmla="*/ 8 w 26"/>
                  <a:gd name="T59" fmla="*/ 4 h 40"/>
                  <a:gd name="T60" fmla="*/ 6 w 26"/>
                  <a:gd name="T61" fmla="*/ 6 h 40"/>
                  <a:gd name="T62" fmla="*/ 4 w 26"/>
                  <a:gd name="T63" fmla="*/ 10 h 40"/>
                  <a:gd name="T64" fmla="*/ 2 w 26"/>
                  <a:gd name="T65" fmla="*/ 13 h 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6" h="40">
                    <a:moveTo>
                      <a:pt x="2" y="13"/>
                    </a:moveTo>
                    <a:lnTo>
                      <a:pt x="1" y="18"/>
                    </a:lnTo>
                    <a:lnTo>
                      <a:pt x="0" y="21"/>
                    </a:lnTo>
                    <a:lnTo>
                      <a:pt x="0" y="26"/>
                    </a:lnTo>
                    <a:lnTo>
                      <a:pt x="0" y="29"/>
                    </a:lnTo>
                    <a:lnTo>
                      <a:pt x="0" y="32"/>
                    </a:lnTo>
                    <a:lnTo>
                      <a:pt x="1" y="35"/>
                    </a:lnTo>
                    <a:lnTo>
                      <a:pt x="2" y="36"/>
                    </a:lnTo>
                    <a:lnTo>
                      <a:pt x="4" y="39"/>
                    </a:lnTo>
                    <a:lnTo>
                      <a:pt x="6" y="39"/>
                    </a:lnTo>
                    <a:lnTo>
                      <a:pt x="8" y="39"/>
                    </a:lnTo>
                    <a:lnTo>
                      <a:pt x="11" y="39"/>
                    </a:lnTo>
                    <a:lnTo>
                      <a:pt x="13" y="36"/>
                    </a:lnTo>
                    <a:lnTo>
                      <a:pt x="16" y="34"/>
                    </a:lnTo>
                    <a:lnTo>
                      <a:pt x="18" y="32"/>
                    </a:lnTo>
                    <a:lnTo>
                      <a:pt x="20" y="28"/>
                    </a:lnTo>
                    <a:lnTo>
                      <a:pt x="22" y="25"/>
                    </a:lnTo>
                    <a:lnTo>
                      <a:pt x="23" y="21"/>
                    </a:lnTo>
                    <a:lnTo>
                      <a:pt x="24" y="17"/>
                    </a:lnTo>
                    <a:lnTo>
                      <a:pt x="25" y="13"/>
                    </a:lnTo>
                    <a:lnTo>
                      <a:pt x="25" y="10"/>
                    </a:lnTo>
                    <a:lnTo>
                      <a:pt x="24" y="6"/>
                    </a:lnTo>
                    <a:lnTo>
                      <a:pt x="23" y="4"/>
                    </a:lnTo>
                    <a:lnTo>
                      <a:pt x="22" y="2"/>
                    </a:lnTo>
                    <a:lnTo>
                      <a:pt x="20" y="1"/>
                    </a:lnTo>
                    <a:lnTo>
                      <a:pt x="18" y="0"/>
                    </a:lnTo>
                    <a:lnTo>
                      <a:pt x="15" y="0"/>
                    </a:lnTo>
                    <a:lnTo>
                      <a:pt x="13" y="1"/>
                    </a:lnTo>
                    <a:lnTo>
                      <a:pt x="11" y="2"/>
                    </a:lnTo>
                    <a:lnTo>
                      <a:pt x="8" y="4"/>
                    </a:lnTo>
                    <a:lnTo>
                      <a:pt x="6" y="6"/>
                    </a:lnTo>
                    <a:lnTo>
                      <a:pt x="4" y="10"/>
                    </a:lnTo>
                    <a:lnTo>
                      <a:pt x="2" y="1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0" name="Freeform 55">
                <a:extLst>
                  <a:ext uri="{FF2B5EF4-FFF2-40B4-BE49-F238E27FC236}">
                    <a16:creationId xmlns:a16="http://schemas.microsoft.com/office/drawing/2014/main" id="{B3183D5B-0D70-1ABB-9159-B03FAD5051EC}"/>
                  </a:ext>
                </a:extLst>
              </p:cNvPr>
              <p:cNvSpPr>
                <a:spLocks/>
              </p:cNvSpPr>
              <p:nvPr/>
            </p:nvSpPr>
            <p:spPr bwMode="auto">
              <a:xfrm>
                <a:off x="1788" y="3248"/>
                <a:ext cx="23" cy="43"/>
              </a:xfrm>
              <a:custGeom>
                <a:avLst/>
                <a:gdLst>
                  <a:gd name="T0" fmla="*/ 0 w 23"/>
                  <a:gd name="T1" fmla="*/ 20 h 43"/>
                  <a:gd name="T2" fmla="*/ 0 w 23"/>
                  <a:gd name="T3" fmla="*/ 23 h 43"/>
                  <a:gd name="T4" fmla="*/ 0 w 23"/>
                  <a:gd name="T5" fmla="*/ 28 h 43"/>
                  <a:gd name="T6" fmla="*/ 1 w 23"/>
                  <a:gd name="T7" fmla="*/ 31 h 43"/>
                  <a:gd name="T8" fmla="*/ 2 w 23"/>
                  <a:gd name="T9" fmla="*/ 35 h 43"/>
                  <a:gd name="T10" fmla="*/ 3 w 23"/>
                  <a:gd name="T11" fmla="*/ 37 h 43"/>
                  <a:gd name="T12" fmla="*/ 5 w 23"/>
                  <a:gd name="T13" fmla="*/ 39 h 43"/>
                  <a:gd name="T14" fmla="*/ 7 w 23"/>
                  <a:gd name="T15" fmla="*/ 40 h 43"/>
                  <a:gd name="T16" fmla="*/ 9 w 23"/>
                  <a:gd name="T17" fmla="*/ 42 h 43"/>
                  <a:gd name="T18" fmla="*/ 12 w 23"/>
                  <a:gd name="T19" fmla="*/ 42 h 43"/>
                  <a:gd name="T20" fmla="*/ 14 w 23"/>
                  <a:gd name="T21" fmla="*/ 40 h 43"/>
                  <a:gd name="T22" fmla="*/ 16 w 23"/>
                  <a:gd name="T23" fmla="*/ 38 h 43"/>
                  <a:gd name="T24" fmla="*/ 18 w 23"/>
                  <a:gd name="T25" fmla="*/ 36 h 43"/>
                  <a:gd name="T26" fmla="*/ 19 w 23"/>
                  <a:gd name="T27" fmla="*/ 32 h 43"/>
                  <a:gd name="T28" fmla="*/ 20 w 23"/>
                  <a:gd name="T29" fmla="*/ 29 h 43"/>
                  <a:gd name="T30" fmla="*/ 21 w 23"/>
                  <a:gd name="T31" fmla="*/ 26 h 43"/>
                  <a:gd name="T32" fmla="*/ 22 w 23"/>
                  <a:gd name="T33" fmla="*/ 21 h 43"/>
                  <a:gd name="T34" fmla="*/ 21 w 23"/>
                  <a:gd name="T35" fmla="*/ 17 h 43"/>
                  <a:gd name="T36" fmla="*/ 21 w 23"/>
                  <a:gd name="T37" fmla="*/ 13 h 43"/>
                  <a:gd name="T38" fmla="*/ 20 w 23"/>
                  <a:gd name="T39" fmla="*/ 10 h 43"/>
                  <a:gd name="T40" fmla="*/ 19 w 23"/>
                  <a:gd name="T41" fmla="*/ 6 h 43"/>
                  <a:gd name="T42" fmla="*/ 18 w 23"/>
                  <a:gd name="T43" fmla="*/ 4 h 43"/>
                  <a:gd name="T44" fmla="*/ 16 w 23"/>
                  <a:gd name="T45" fmla="*/ 2 h 43"/>
                  <a:gd name="T46" fmla="*/ 14 w 23"/>
                  <a:gd name="T47" fmla="*/ 1 h 43"/>
                  <a:gd name="T48" fmla="*/ 12 w 23"/>
                  <a:gd name="T49" fmla="*/ 0 h 43"/>
                  <a:gd name="T50" fmla="*/ 9 w 23"/>
                  <a:gd name="T51" fmla="*/ 0 h 43"/>
                  <a:gd name="T52" fmla="*/ 7 w 23"/>
                  <a:gd name="T53" fmla="*/ 1 h 43"/>
                  <a:gd name="T54" fmla="*/ 5 w 23"/>
                  <a:gd name="T55" fmla="*/ 3 h 43"/>
                  <a:gd name="T56" fmla="*/ 3 w 23"/>
                  <a:gd name="T57" fmla="*/ 5 h 43"/>
                  <a:gd name="T58" fmla="*/ 2 w 23"/>
                  <a:gd name="T59" fmla="*/ 9 h 43"/>
                  <a:gd name="T60" fmla="*/ 1 w 23"/>
                  <a:gd name="T61" fmla="*/ 12 h 43"/>
                  <a:gd name="T62" fmla="*/ 0 w 23"/>
                  <a:gd name="T63" fmla="*/ 15 h 43"/>
                  <a:gd name="T64" fmla="*/ 0 w 23"/>
                  <a:gd name="T65" fmla="*/ 20 h 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 h="43">
                    <a:moveTo>
                      <a:pt x="0" y="20"/>
                    </a:moveTo>
                    <a:lnTo>
                      <a:pt x="0" y="23"/>
                    </a:lnTo>
                    <a:lnTo>
                      <a:pt x="0" y="28"/>
                    </a:lnTo>
                    <a:lnTo>
                      <a:pt x="1" y="31"/>
                    </a:lnTo>
                    <a:lnTo>
                      <a:pt x="2" y="35"/>
                    </a:lnTo>
                    <a:lnTo>
                      <a:pt x="3" y="37"/>
                    </a:lnTo>
                    <a:lnTo>
                      <a:pt x="5" y="39"/>
                    </a:lnTo>
                    <a:lnTo>
                      <a:pt x="7" y="40"/>
                    </a:lnTo>
                    <a:lnTo>
                      <a:pt x="9" y="42"/>
                    </a:lnTo>
                    <a:lnTo>
                      <a:pt x="12" y="42"/>
                    </a:lnTo>
                    <a:lnTo>
                      <a:pt x="14" y="40"/>
                    </a:lnTo>
                    <a:lnTo>
                      <a:pt x="16" y="38"/>
                    </a:lnTo>
                    <a:lnTo>
                      <a:pt x="18" y="36"/>
                    </a:lnTo>
                    <a:lnTo>
                      <a:pt x="19" y="32"/>
                    </a:lnTo>
                    <a:lnTo>
                      <a:pt x="20" y="29"/>
                    </a:lnTo>
                    <a:lnTo>
                      <a:pt x="21" y="26"/>
                    </a:lnTo>
                    <a:lnTo>
                      <a:pt x="22" y="21"/>
                    </a:lnTo>
                    <a:lnTo>
                      <a:pt x="21" y="17"/>
                    </a:lnTo>
                    <a:lnTo>
                      <a:pt x="21" y="13"/>
                    </a:lnTo>
                    <a:lnTo>
                      <a:pt x="20" y="10"/>
                    </a:lnTo>
                    <a:lnTo>
                      <a:pt x="19" y="6"/>
                    </a:lnTo>
                    <a:lnTo>
                      <a:pt x="18" y="4"/>
                    </a:lnTo>
                    <a:lnTo>
                      <a:pt x="16" y="2"/>
                    </a:lnTo>
                    <a:lnTo>
                      <a:pt x="14" y="1"/>
                    </a:lnTo>
                    <a:lnTo>
                      <a:pt x="12" y="0"/>
                    </a:lnTo>
                    <a:lnTo>
                      <a:pt x="9" y="0"/>
                    </a:lnTo>
                    <a:lnTo>
                      <a:pt x="7" y="1"/>
                    </a:lnTo>
                    <a:lnTo>
                      <a:pt x="5" y="3"/>
                    </a:lnTo>
                    <a:lnTo>
                      <a:pt x="3" y="5"/>
                    </a:lnTo>
                    <a:lnTo>
                      <a:pt x="2" y="9"/>
                    </a:lnTo>
                    <a:lnTo>
                      <a:pt x="1"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1" name="Freeform 56">
                <a:extLst>
                  <a:ext uri="{FF2B5EF4-FFF2-40B4-BE49-F238E27FC236}">
                    <a16:creationId xmlns:a16="http://schemas.microsoft.com/office/drawing/2014/main" id="{E0102A55-04C3-690D-6F94-5B82551C0D74}"/>
                  </a:ext>
                </a:extLst>
              </p:cNvPr>
              <p:cNvSpPr>
                <a:spLocks/>
              </p:cNvSpPr>
              <p:nvPr/>
            </p:nvSpPr>
            <p:spPr bwMode="auto">
              <a:xfrm>
                <a:off x="1708" y="3234"/>
                <a:ext cx="23" cy="43"/>
              </a:xfrm>
              <a:custGeom>
                <a:avLst/>
                <a:gdLst>
                  <a:gd name="T0" fmla="*/ 0 w 23"/>
                  <a:gd name="T1" fmla="*/ 20 h 43"/>
                  <a:gd name="T2" fmla="*/ 0 w 23"/>
                  <a:gd name="T3" fmla="*/ 24 h 43"/>
                  <a:gd name="T4" fmla="*/ 0 w 23"/>
                  <a:gd name="T5" fmla="*/ 28 h 43"/>
                  <a:gd name="T6" fmla="*/ 1 w 23"/>
                  <a:gd name="T7" fmla="*/ 31 h 43"/>
                  <a:gd name="T8" fmla="*/ 2 w 23"/>
                  <a:gd name="T9" fmla="*/ 35 h 43"/>
                  <a:gd name="T10" fmla="*/ 4 w 23"/>
                  <a:gd name="T11" fmla="*/ 37 h 43"/>
                  <a:gd name="T12" fmla="*/ 6 w 23"/>
                  <a:gd name="T13" fmla="*/ 39 h 43"/>
                  <a:gd name="T14" fmla="*/ 8 w 23"/>
                  <a:gd name="T15" fmla="*/ 40 h 43"/>
                  <a:gd name="T16" fmla="*/ 10 w 23"/>
                  <a:gd name="T17" fmla="*/ 42 h 43"/>
                  <a:gd name="T18" fmla="*/ 12 w 23"/>
                  <a:gd name="T19" fmla="*/ 40 h 43"/>
                  <a:gd name="T20" fmla="*/ 14 w 23"/>
                  <a:gd name="T21" fmla="*/ 39 h 43"/>
                  <a:gd name="T22" fmla="*/ 16 w 23"/>
                  <a:gd name="T23" fmla="*/ 38 h 43"/>
                  <a:gd name="T24" fmla="*/ 18 w 23"/>
                  <a:gd name="T25" fmla="*/ 35 h 43"/>
                  <a:gd name="T26" fmla="*/ 19 w 23"/>
                  <a:gd name="T27" fmla="*/ 32 h 43"/>
                  <a:gd name="T28" fmla="*/ 20 w 23"/>
                  <a:gd name="T29" fmla="*/ 29 h 43"/>
                  <a:gd name="T30" fmla="*/ 21 w 23"/>
                  <a:gd name="T31" fmla="*/ 24 h 43"/>
                  <a:gd name="T32" fmla="*/ 22 w 23"/>
                  <a:gd name="T33" fmla="*/ 21 h 43"/>
                  <a:gd name="T34" fmla="*/ 21 w 23"/>
                  <a:gd name="T35" fmla="*/ 17 h 43"/>
                  <a:gd name="T36" fmla="*/ 21 w 23"/>
                  <a:gd name="T37" fmla="*/ 13 h 43"/>
                  <a:gd name="T38" fmla="*/ 20 w 23"/>
                  <a:gd name="T39" fmla="*/ 9 h 43"/>
                  <a:gd name="T40" fmla="*/ 19 w 23"/>
                  <a:gd name="T41" fmla="*/ 6 h 43"/>
                  <a:gd name="T42" fmla="*/ 17 w 23"/>
                  <a:gd name="T43" fmla="*/ 3 h 43"/>
                  <a:gd name="T44" fmla="*/ 15 w 23"/>
                  <a:gd name="T45" fmla="*/ 2 h 43"/>
                  <a:gd name="T46" fmla="*/ 13 w 23"/>
                  <a:gd name="T47" fmla="*/ 0 h 43"/>
                  <a:gd name="T48" fmla="*/ 11 w 23"/>
                  <a:gd name="T49" fmla="*/ 0 h 43"/>
                  <a:gd name="T50" fmla="*/ 9 w 23"/>
                  <a:gd name="T51" fmla="*/ 0 h 43"/>
                  <a:gd name="T52" fmla="*/ 7 w 23"/>
                  <a:gd name="T53" fmla="*/ 1 h 43"/>
                  <a:gd name="T54" fmla="*/ 5 w 23"/>
                  <a:gd name="T55" fmla="*/ 3 h 43"/>
                  <a:gd name="T56" fmla="*/ 3 w 23"/>
                  <a:gd name="T57" fmla="*/ 5 h 43"/>
                  <a:gd name="T58" fmla="*/ 2 w 23"/>
                  <a:gd name="T59" fmla="*/ 9 h 43"/>
                  <a:gd name="T60" fmla="*/ 1 w 23"/>
                  <a:gd name="T61" fmla="*/ 12 h 43"/>
                  <a:gd name="T62" fmla="*/ 0 w 23"/>
                  <a:gd name="T63" fmla="*/ 15 h 43"/>
                  <a:gd name="T64" fmla="*/ 0 w 23"/>
                  <a:gd name="T65" fmla="*/ 20 h 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 h="43">
                    <a:moveTo>
                      <a:pt x="0" y="20"/>
                    </a:moveTo>
                    <a:lnTo>
                      <a:pt x="0" y="24"/>
                    </a:lnTo>
                    <a:lnTo>
                      <a:pt x="0" y="28"/>
                    </a:lnTo>
                    <a:lnTo>
                      <a:pt x="1" y="31"/>
                    </a:lnTo>
                    <a:lnTo>
                      <a:pt x="2" y="35"/>
                    </a:lnTo>
                    <a:lnTo>
                      <a:pt x="4" y="37"/>
                    </a:lnTo>
                    <a:lnTo>
                      <a:pt x="6" y="39"/>
                    </a:lnTo>
                    <a:lnTo>
                      <a:pt x="8" y="40"/>
                    </a:lnTo>
                    <a:lnTo>
                      <a:pt x="10" y="42"/>
                    </a:lnTo>
                    <a:lnTo>
                      <a:pt x="12" y="40"/>
                    </a:lnTo>
                    <a:lnTo>
                      <a:pt x="14" y="39"/>
                    </a:lnTo>
                    <a:lnTo>
                      <a:pt x="16" y="38"/>
                    </a:lnTo>
                    <a:lnTo>
                      <a:pt x="18" y="35"/>
                    </a:lnTo>
                    <a:lnTo>
                      <a:pt x="19" y="32"/>
                    </a:lnTo>
                    <a:lnTo>
                      <a:pt x="20" y="29"/>
                    </a:lnTo>
                    <a:lnTo>
                      <a:pt x="21" y="24"/>
                    </a:lnTo>
                    <a:lnTo>
                      <a:pt x="22" y="21"/>
                    </a:lnTo>
                    <a:lnTo>
                      <a:pt x="21" y="17"/>
                    </a:lnTo>
                    <a:lnTo>
                      <a:pt x="21" y="13"/>
                    </a:lnTo>
                    <a:lnTo>
                      <a:pt x="20" y="9"/>
                    </a:lnTo>
                    <a:lnTo>
                      <a:pt x="19" y="6"/>
                    </a:lnTo>
                    <a:lnTo>
                      <a:pt x="17" y="3"/>
                    </a:lnTo>
                    <a:lnTo>
                      <a:pt x="15" y="2"/>
                    </a:lnTo>
                    <a:lnTo>
                      <a:pt x="13" y="0"/>
                    </a:lnTo>
                    <a:lnTo>
                      <a:pt x="11" y="0"/>
                    </a:lnTo>
                    <a:lnTo>
                      <a:pt x="9" y="0"/>
                    </a:lnTo>
                    <a:lnTo>
                      <a:pt x="7" y="1"/>
                    </a:lnTo>
                    <a:lnTo>
                      <a:pt x="5" y="3"/>
                    </a:lnTo>
                    <a:lnTo>
                      <a:pt x="3" y="5"/>
                    </a:lnTo>
                    <a:lnTo>
                      <a:pt x="2" y="9"/>
                    </a:lnTo>
                    <a:lnTo>
                      <a:pt x="1"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288825" name="Rectangle 57">
            <a:extLst>
              <a:ext uri="{FF2B5EF4-FFF2-40B4-BE49-F238E27FC236}">
                <a16:creationId xmlns:a16="http://schemas.microsoft.com/office/drawing/2014/main" id="{9288BBCB-7659-7E38-193F-1294357B69FF}"/>
              </a:ext>
            </a:extLst>
          </p:cNvPr>
          <p:cNvSpPr>
            <a:spLocks noChangeArrowheads="1"/>
          </p:cNvSpPr>
          <p:nvPr/>
        </p:nvSpPr>
        <p:spPr bwMode="auto">
          <a:xfrm>
            <a:off x="2546350" y="4538663"/>
            <a:ext cx="369888" cy="457200"/>
          </a:xfrm>
          <a:prstGeom prst="rect">
            <a:avLst/>
          </a:prstGeom>
          <a:noFill/>
          <a:ln>
            <a:noFill/>
          </a:ln>
          <a:effectLst/>
        </p:spPr>
        <p:txBody>
          <a:bodyPr wrap="none" lIns="92075" tIns="46038" rIns="92075" bIns="46038">
            <a:spAutoFit/>
          </a:bodyPr>
          <a:lstStyle/>
          <a:p>
            <a:pPr>
              <a:defRPr/>
            </a:pPr>
            <a:r>
              <a:rPr lang="en-US" b="1">
                <a:solidFill>
                  <a:srgbClr val="000000"/>
                </a:solidFill>
                <a:effectLst>
                  <a:outerShdw blurRad="38100" dist="38100" dir="2700000" algn="tl">
                    <a:srgbClr val="FFFFFF"/>
                  </a:outerShdw>
                </a:effectLst>
              </a:rPr>
              <a:t>?</a:t>
            </a:r>
          </a:p>
        </p:txBody>
      </p:sp>
      <p:sp>
        <p:nvSpPr>
          <p:cNvPr id="8218" name="Rectangle 58">
            <a:extLst>
              <a:ext uri="{FF2B5EF4-FFF2-40B4-BE49-F238E27FC236}">
                <a16:creationId xmlns:a16="http://schemas.microsoft.com/office/drawing/2014/main" id="{3EADD774-0065-21A9-CF66-65B58C1C1565}"/>
              </a:ext>
            </a:extLst>
          </p:cNvPr>
          <p:cNvSpPr>
            <a:spLocks noChangeArrowheads="1"/>
          </p:cNvSpPr>
          <p:nvPr/>
        </p:nvSpPr>
        <p:spPr bwMode="auto">
          <a:xfrm>
            <a:off x="2343150" y="4098925"/>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rPr>
              <a:t>Subquery</a:t>
            </a:r>
          </a:p>
        </p:txBody>
      </p:sp>
      <p:sp>
        <p:nvSpPr>
          <p:cNvPr id="288827" name="Arc 59">
            <a:extLst>
              <a:ext uri="{FF2B5EF4-FFF2-40B4-BE49-F238E27FC236}">
                <a16:creationId xmlns:a16="http://schemas.microsoft.com/office/drawing/2014/main" id="{BA22FF84-6468-669E-88C3-600C605692BC}"/>
              </a:ext>
            </a:extLst>
          </p:cNvPr>
          <p:cNvSpPr>
            <a:spLocks/>
          </p:cNvSpPr>
          <p:nvPr/>
        </p:nvSpPr>
        <p:spPr bwMode="auto">
          <a:xfrm rot="-1980000">
            <a:off x="6019800" y="3638550"/>
            <a:ext cx="381000" cy="800100"/>
          </a:xfrm>
          <a:custGeom>
            <a:avLst/>
            <a:gdLst>
              <a:gd name="T0" fmla="*/ 2147483646 w 21600"/>
              <a:gd name="T1" fmla="*/ 0 h 21600"/>
              <a:gd name="T2" fmla="*/ 0 w 21600"/>
              <a:gd name="T3" fmla="*/ 2147483646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50800" cap="rnd">
            <a:solidFill>
              <a:srgbClr val="FF505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88827"/>
                                        </p:tgtEl>
                                        <p:attrNameLst>
                                          <p:attrName>style.visibility</p:attrName>
                                        </p:attrNameLst>
                                      </p:cBhvr>
                                      <p:to>
                                        <p:strVal val="visible"/>
                                      </p:to>
                                    </p:set>
                                    <p:animEffect transition="in" filter="wipe(down)">
                                      <p:cBhvr>
                                        <p:cTn id="7" dur="500"/>
                                        <p:tgtEl>
                                          <p:spTgt spid="288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FE4FFFB-43D6-55BC-01EF-A8BD3A91044A}"/>
              </a:ext>
            </a:extLst>
          </p:cNvPr>
          <p:cNvSpPr>
            <a:spLocks noChangeArrowheads="1"/>
          </p:cNvSpPr>
          <p:nvPr/>
        </p:nvSpPr>
        <p:spPr bwMode="blackWhite">
          <a:xfrm>
            <a:off x="704850" y="1857375"/>
            <a:ext cx="7161213" cy="14652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0243" name="Rectangle 3">
            <a:extLst>
              <a:ext uri="{FF2B5EF4-FFF2-40B4-BE49-F238E27FC236}">
                <a16:creationId xmlns:a16="http://schemas.microsoft.com/office/drawing/2014/main" id="{5B92E998-4F9F-CDF2-C898-65CAFBD80351}"/>
              </a:ext>
            </a:extLst>
          </p:cNvPr>
          <p:cNvSpPr>
            <a:spLocks noGrp="1" noChangeArrowheads="1"/>
          </p:cNvSpPr>
          <p:nvPr>
            <p:ph type="title"/>
          </p:nvPr>
        </p:nvSpPr>
        <p:spPr>
          <a:xfrm>
            <a:off x="323850" y="660400"/>
            <a:ext cx="2266950" cy="608013"/>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Subqueries</a:t>
            </a:r>
          </a:p>
        </p:txBody>
      </p:sp>
      <p:sp>
        <p:nvSpPr>
          <p:cNvPr id="10244" name="Rectangle 4">
            <a:extLst>
              <a:ext uri="{FF2B5EF4-FFF2-40B4-BE49-F238E27FC236}">
                <a16:creationId xmlns:a16="http://schemas.microsoft.com/office/drawing/2014/main" id="{DA2849FD-DE89-2F06-6DF0-CE81B2B74E8E}"/>
              </a:ext>
            </a:extLst>
          </p:cNvPr>
          <p:cNvSpPr>
            <a:spLocks noGrp="1" noChangeArrowheads="1"/>
          </p:cNvSpPr>
          <p:nvPr>
            <p:ph type="body" idx="1"/>
          </p:nvPr>
        </p:nvSpPr>
        <p:spPr>
          <a:xfrm>
            <a:off x="387350" y="1196975"/>
            <a:ext cx="8288338" cy="4371975"/>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lstStyle/>
          <a:p>
            <a:pPr algn="just"/>
            <a:r>
              <a:rPr lang="en-US" altLang="en-US" sz="2400" dirty="0"/>
              <a:t>Query within a query is called </a:t>
            </a:r>
            <a:r>
              <a:rPr lang="en-US" altLang="en-US" sz="2400" dirty="0">
                <a:solidFill>
                  <a:schemeClr val="accent2"/>
                </a:solidFill>
              </a:rPr>
              <a:t>subquery.</a:t>
            </a:r>
          </a:p>
          <a:p>
            <a:pPr lvl="1" algn="just"/>
            <a:endParaRPr lang="en-US" altLang="en-US" dirty="0"/>
          </a:p>
          <a:p>
            <a:pPr lvl="1" algn="just"/>
            <a:endParaRPr lang="en-US" altLang="en-US" dirty="0"/>
          </a:p>
          <a:p>
            <a:pPr lvl="1" algn="just"/>
            <a:endParaRPr lang="en-US" altLang="en-US" dirty="0"/>
          </a:p>
          <a:p>
            <a:pPr algn="just"/>
            <a:endParaRPr lang="en-US" altLang="en-US" sz="2400" dirty="0"/>
          </a:p>
          <a:p>
            <a:pPr algn="just"/>
            <a:r>
              <a:rPr lang="en-US" altLang="en-US" sz="2400" dirty="0"/>
              <a:t>The subquery </a:t>
            </a:r>
            <a:r>
              <a:rPr lang="en-US" altLang="en-US" sz="2400" dirty="0">
                <a:solidFill>
                  <a:schemeClr val="accent6"/>
                </a:solidFill>
              </a:rPr>
              <a:t>(inner query)</a:t>
            </a:r>
            <a:r>
              <a:rPr lang="en-US" altLang="en-US" sz="2400" dirty="0"/>
              <a:t> executes once before the main query.</a:t>
            </a:r>
          </a:p>
          <a:p>
            <a:pPr algn="just"/>
            <a:r>
              <a:rPr lang="en-US" altLang="en-US" sz="2400" dirty="0"/>
              <a:t>The result of the subquery is used by the main query </a:t>
            </a:r>
            <a:r>
              <a:rPr lang="en-US" altLang="en-US" sz="2400" dirty="0">
                <a:solidFill>
                  <a:schemeClr val="accent6"/>
                </a:solidFill>
              </a:rPr>
              <a:t>(outer query).</a:t>
            </a:r>
          </a:p>
          <a:p>
            <a:pPr algn="just"/>
            <a:r>
              <a:rPr lang="en-US" altLang="en-US" sz="2400" dirty="0"/>
              <a:t>Bottom-up or inward-outward parsing</a:t>
            </a:r>
          </a:p>
          <a:p>
            <a:pPr algn="just"/>
            <a:r>
              <a:rPr lang="en-US" altLang="en-US" sz="2400" dirty="0"/>
              <a:t>The subquery can also be paced in the </a:t>
            </a:r>
            <a:r>
              <a:rPr lang="en-US" altLang="en-US" sz="2400" dirty="0" err="1">
                <a:solidFill>
                  <a:schemeClr val="accent6"/>
                </a:solidFill>
              </a:rPr>
              <a:t>select_list</a:t>
            </a:r>
            <a:r>
              <a:rPr lang="en-US" altLang="en-US" sz="2400" dirty="0">
                <a:solidFill>
                  <a:schemeClr val="accent6"/>
                </a:solidFill>
              </a:rPr>
              <a:t>,</a:t>
            </a:r>
            <a:r>
              <a:rPr lang="en-US" altLang="en-US" sz="2400" dirty="0"/>
              <a:t> </a:t>
            </a:r>
            <a:r>
              <a:rPr lang="en-US" altLang="en-US" sz="2400" dirty="0">
                <a:solidFill>
                  <a:schemeClr val="accent2"/>
                </a:solidFill>
              </a:rPr>
              <a:t>FROM, </a:t>
            </a:r>
            <a:r>
              <a:rPr lang="en-US" altLang="en-US" sz="2400" dirty="0"/>
              <a:t>and</a:t>
            </a:r>
            <a:r>
              <a:rPr lang="en-US" altLang="en-US" sz="2400" dirty="0">
                <a:solidFill>
                  <a:schemeClr val="accent2"/>
                </a:solidFill>
              </a:rPr>
              <a:t> HAVING</a:t>
            </a:r>
            <a:r>
              <a:rPr lang="en-US" altLang="en-US" sz="2400" dirty="0"/>
              <a:t> clause of the outer query. </a:t>
            </a:r>
          </a:p>
        </p:txBody>
      </p:sp>
      <p:sp>
        <p:nvSpPr>
          <p:cNvPr id="10245" name="Rectangle 5">
            <a:extLst>
              <a:ext uri="{FF2B5EF4-FFF2-40B4-BE49-F238E27FC236}">
                <a16:creationId xmlns:a16="http://schemas.microsoft.com/office/drawing/2014/main" id="{916DF105-8C12-F31D-D338-FB15CF5E58B7}"/>
              </a:ext>
            </a:extLst>
          </p:cNvPr>
          <p:cNvSpPr>
            <a:spLocks noChangeArrowheads="1"/>
          </p:cNvSpPr>
          <p:nvPr/>
        </p:nvSpPr>
        <p:spPr bwMode="ltGray">
          <a:xfrm>
            <a:off x="3443288" y="2703513"/>
            <a:ext cx="4189412" cy="552450"/>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0246" name="Rectangle 6">
            <a:extLst>
              <a:ext uri="{FF2B5EF4-FFF2-40B4-BE49-F238E27FC236}">
                <a16:creationId xmlns:a16="http://schemas.microsoft.com/office/drawing/2014/main" id="{55FFD709-C556-0A94-DEC5-51973E1D0370}"/>
              </a:ext>
            </a:extLst>
          </p:cNvPr>
          <p:cNvSpPr>
            <a:spLocks noChangeArrowheads="1"/>
          </p:cNvSpPr>
          <p:nvPr/>
        </p:nvSpPr>
        <p:spPr bwMode="blackWhite">
          <a:xfrm>
            <a:off x="827088" y="1844675"/>
            <a:ext cx="7694612" cy="149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SELECT	</a:t>
            </a:r>
            <a:r>
              <a:rPr lang="en-US" altLang="en-US" sz="1800" b="1" i="1">
                <a:solidFill>
                  <a:srgbClr val="000000"/>
                </a:solidFill>
                <a:latin typeface="Courier New" panose="02070309020205020404" pitchFamily="49" charset="0"/>
              </a:rPr>
              <a:t>select_list</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FROM	</a:t>
            </a:r>
            <a:r>
              <a:rPr lang="en-US" altLang="en-US" sz="1800" b="1" i="1">
                <a:solidFill>
                  <a:srgbClr val="000000"/>
                </a:solidFill>
                <a:latin typeface="Courier New" panose="02070309020205020404" pitchFamily="49" charset="0"/>
              </a:rPr>
              <a:t>table</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WHERE	</a:t>
            </a:r>
            <a:r>
              <a:rPr lang="en-US" altLang="en-US" sz="1800" b="1" i="1">
                <a:solidFill>
                  <a:srgbClr val="000000"/>
                </a:solidFill>
                <a:latin typeface="Courier New" panose="02070309020205020404" pitchFamily="49" charset="0"/>
              </a:rPr>
              <a:t>expr operator</a:t>
            </a:r>
          </a:p>
          <a:p>
            <a:pPr>
              <a:spcBef>
                <a:spcPct val="0"/>
              </a:spcBef>
              <a:buFontTx/>
              <a:buNone/>
            </a:pPr>
            <a:r>
              <a:rPr lang="en-US" altLang="en-US" sz="1800" b="1">
                <a:solidFill>
                  <a:srgbClr val="000000"/>
                </a:solidFill>
                <a:latin typeface="Courier New" panose="02070309020205020404" pitchFamily="49" charset="0"/>
              </a:rPr>
              <a:t>		 	(SELECT	</a:t>
            </a:r>
            <a:r>
              <a:rPr lang="en-US" altLang="en-US" sz="1800" b="1" i="1">
                <a:solidFill>
                  <a:srgbClr val="000000"/>
                </a:solidFill>
                <a:latin typeface="Courier New" panose="02070309020205020404" pitchFamily="49" charset="0"/>
              </a:rPr>
              <a:t>select_list</a:t>
            </a:r>
          </a:p>
          <a:p>
            <a:pPr>
              <a:spcBef>
                <a:spcPct val="0"/>
              </a:spcBef>
              <a:buFontTx/>
              <a:buNone/>
            </a:pPr>
            <a:r>
              <a:rPr lang="en-US" altLang="en-US" sz="1800" b="1">
                <a:solidFill>
                  <a:srgbClr val="000000"/>
                </a:solidFill>
                <a:latin typeface="Courier New" panose="02070309020205020404" pitchFamily="49" charset="0"/>
              </a:rPr>
              <a:t>		       FROM		</a:t>
            </a:r>
            <a:r>
              <a:rPr lang="en-US" altLang="en-US" sz="1800" b="1" i="1">
                <a:solidFill>
                  <a:srgbClr val="000000"/>
                </a:solidFill>
                <a:latin typeface="Courier New" panose="02070309020205020404" pitchFamily="49" charset="0"/>
              </a:rPr>
              <a:t>table</a:t>
            </a:r>
            <a:r>
              <a:rPr lang="en-US" altLang="en-US" sz="1800" b="1">
                <a:solidFill>
                  <a:srgbClr val="000000"/>
                </a:solidFill>
                <a:latin typeface="Courier New" panose="02070309020205020404" pitchFamily="49" charset="0"/>
              </a:rPr>
              <a:t>);</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0EF0EC8C-4B20-FC62-79C9-C1115FCABC90}"/>
              </a:ext>
            </a:extLst>
          </p:cNvPr>
          <p:cNvSpPr>
            <a:spLocks noChangeArrowheads="1"/>
          </p:cNvSpPr>
          <p:nvPr/>
        </p:nvSpPr>
        <p:spPr bwMode="blackWhite">
          <a:xfrm>
            <a:off x="949325" y="1384300"/>
            <a:ext cx="7470775" cy="17621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292867" name="Group 3">
            <a:extLst>
              <a:ext uri="{FF2B5EF4-FFF2-40B4-BE49-F238E27FC236}">
                <a16:creationId xmlns:a16="http://schemas.microsoft.com/office/drawing/2014/main" id="{020BAB56-70ED-F9F3-D051-C1B6AC586DA5}"/>
              </a:ext>
            </a:extLst>
          </p:cNvPr>
          <p:cNvGrpSpPr>
            <a:grpSpLocks/>
          </p:cNvGrpSpPr>
          <p:nvPr/>
        </p:nvGrpSpPr>
        <p:grpSpPr bwMode="auto">
          <a:xfrm>
            <a:off x="3335338" y="1708150"/>
            <a:ext cx="4811712" cy="1379538"/>
            <a:chOff x="2101" y="1076"/>
            <a:chExt cx="3031" cy="869"/>
          </a:xfrm>
        </p:grpSpPr>
        <p:sp>
          <p:nvSpPr>
            <p:cNvPr id="12296" name="Rectangle 4">
              <a:extLst>
                <a:ext uri="{FF2B5EF4-FFF2-40B4-BE49-F238E27FC236}">
                  <a16:creationId xmlns:a16="http://schemas.microsoft.com/office/drawing/2014/main" id="{88107B1F-DC3C-AA53-888B-D97E331863BA}"/>
                </a:ext>
              </a:extLst>
            </p:cNvPr>
            <p:cNvSpPr>
              <a:spLocks noChangeArrowheads="1"/>
            </p:cNvSpPr>
            <p:nvPr/>
          </p:nvSpPr>
          <p:spPr bwMode="ltGray">
            <a:xfrm>
              <a:off x="2101" y="1413"/>
              <a:ext cx="303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2297" name="Arc 5">
              <a:extLst>
                <a:ext uri="{FF2B5EF4-FFF2-40B4-BE49-F238E27FC236}">
                  <a16:creationId xmlns:a16="http://schemas.microsoft.com/office/drawing/2014/main" id="{20D8C3AE-C4AD-32CF-C9CA-0856D7E86D62}"/>
                </a:ext>
              </a:extLst>
            </p:cNvPr>
            <p:cNvSpPr>
              <a:spLocks/>
            </p:cNvSpPr>
            <p:nvPr/>
          </p:nvSpPr>
          <p:spPr bwMode="auto">
            <a:xfrm rot="10800000">
              <a:off x="2317" y="1290"/>
              <a:ext cx="1084" cy="248"/>
            </a:xfrm>
            <a:custGeom>
              <a:avLst/>
              <a:gdLst>
                <a:gd name="T0" fmla="*/ 0 w 27008"/>
                <a:gd name="T1" fmla="*/ 0 h 21600"/>
                <a:gd name="T2" fmla="*/ 0 w 27008"/>
                <a:gd name="T3" fmla="*/ 0 h 21600"/>
                <a:gd name="T4" fmla="*/ 0 w 27008"/>
                <a:gd name="T5" fmla="*/ 0 h 21600"/>
                <a:gd name="T6" fmla="*/ 0 60000 65536"/>
                <a:gd name="T7" fmla="*/ 0 60000 65536"/>
                <a:gd name="T8" fmla="*/ 0 60000 65536"/>
              </a:gdLst>
              <a:ahLst/>
              <a:cxnLst>
                <a:cxn ang="T6">
                  <a:pos x="T0" y="T1"/>
                </a:cxn>
                <a:cxn ang="T7">
                  <a:pos x="T2" y="T3"/>
                </a:cxn>
                <a:cxn ang="T8">
                  <a:pos x="T4" y="T5"/>
                </a:cxn>
              </a:cxnLst>
              <a:rect l="0" t="0" r="r" b="b"/>
              <a:pathLst>
                <a:path w="27008" h="21600" fill="none" extrusionOk="0">
                  <a:moveTo>
                    <a:pt x="27008" y="20912"/>
                  </a:moveTo>
                  <a:cubicBezTo>
                    <a:pt x="25241" y="21368"/>
                    <a:pt x="23424" y="21599"/>
                    <a:pt x="21600" y="21600"/>
                  </a:cubicBezTo>
                  <a:cubicBezTo>
                    <a:pt x="9670" y="21600"/>
                    <a:pt x="0" y="11929"/>
                    <a:pt x="0" y="0"/>
                  </a:cubicBezTo>
                </a:path>
                <a:path w="27008" h="21600" stroke="0" extrusionOk="0">
                  <a:moveTo>
                    <a:pt x="27008" y="20912"/>
                  </a:moveTo>
                  <a:cubicBezTo>
                    <a:pt x="25241" y="21368"/>
                    <a:pt x="23424" y="21599"/>
                    <a:pt x="21600" y="21600"/>
                  </a:cubicBezTo>
                  <a:cubicBezTo>
                    <a:pt x="9670" y="21600"/>
                    <a:pt x="0" y="11929"/>
                    <a:pt x="0" y="0"/>
                  </a:cubicBezTo>
                  <a:lnTo>
                    <a:pt x="21600" y="0"/>
                  </a:lnTo>
                  <a:lnTo>
                    <a:pt x="27008" y="20912"/>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2298" name="Rectangle 6">
              <a:extLst>
                <a:ext uri="{FF2B5EF4-FFF2-40B4-BE49-F238E27FC236}">
                  <a16:creationId xmlns:a16="http://schemas.microsoft.com/office/drawing/2014/main" id="{C649DDDC-2CE8-770B-4E2B-ACEF0B2D464F}"/>
                </a:ext>
              </a:extLst>
            </p:cNvPr>
            <p:cNvSpPr>
              <a:spLocks noChangeArrowheads="1"/>
            </p:cNvSpPr>
            <p:nvPr/>
          </p:nvSpPr>
          <p:spPr bwMode="auto">
            <a:xfrm>
              <a:off x="2379" y="1076"/>
              <a:ext cx="401"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600" b="1">
                  <a:solidFill>
                    <a:srgbClr val="FF5050"/>
                  </a:solidFill>
                </a:rPr>
                <a:t>2975</a:t>
              </a:r>
            </a:p>
          </p:txBody>
        </p:sp>
      </p:grpSp>
      <p:sp>
        <p:nvSpPr>
          <p:cNvPr id="12292" name="Rectangle 7">
            <a:extLst>
              <a:ext uri="{FF2B5EF4-FFF2-40B4-BE49-F238E27FC236}">
                <a16:creationId xmlns:a16="http://schemas.microsoft.com/office/drawing/2014/main" id="{85885B50-9EF0-CD95-A9D1-902EA1AA8056}"/>
              </a:ext>
            </a:extLst>
          </p:cNvPr>
          <p:cNvSpPr>
            <a:spLocks noChangeArrowheads="1"/>
          </p:cNvSpPr>
          <p:nvPr/>
        </p:nvSpPr>
        <p:spPr bwMode="auto">
          <a:xfrm>
            <a:off x="1079500" y="1379538"/>
            <a:ext cx="5672138"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ename</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sal &gt; </a:t>
            </a:r>
          </a:p>
          <a:p>
            <a:pPr>
              <a:spcBef>
                <a:spcPct val="0"/>
              </a:spcBef>
              <a:buFontTx/>
              <a:buNone/>
            </a:pPr>
            <a:r>
              <a:rPr lang="en-US" altLang="en-US" sz="1800" b="1">
                <a:solidFill>
                  <a:srgbClr val="000000"/>
                </a:solidFill>
                <a:latin typeface="Courier New" panose="02070309020205020404" pitchFamily="49" charset="0"/>
              </a:rPr>
              <a:t>  4		    (SELECT sal</a:t>
            </a:r>
          </a:p>
          <a:p>
            <a:pPr>
              <a:spcBef>
                <a:spcPct val="0"/>
              </a:spcBef>
              <a:buFontTx/>
              <a:buNone/>
            </a:pPr>
            <a:r>
              <a:rPr lang="en-US" altLang="en-US" sz="1800" b="1">
                <a:solidFill>
                  <a:srgbClr val="000000"/>
                </a:solidFill>
                <a:latin typeface="Courier New" panose="02070309020205020404" pitchFamily="49" charset="0"/>
              </a:rPr>
              <a:t>  5               FROM   emp</a:t>
            </a:r>
          </a:p>
          <a:p>
            <a:pPr>
              <a:spcBef>
                <a:spcPct val="0"/>
              </a:spcBef>
              <a:buFontTx/>
              <a:buNone/>
            </a:pPr>
            <a:r>
              <a:rPr lang="en-US" altLang="en-US" sz="1800" b="1">
                <a:solidFill>
                  <a:srgbClr val="000000"/>
                </a:solidFill>
                <a:latin typeface="Courier New" panose="02070309020205020404" pitchFamily="49" charset="0"/>
              </a:rPr>
              <a:t>  6               WHERE  empno=7566);</a:t>
            </a:r>
          </a:p>
        </p:txBody>
      </p:sp>
      <p:sp>
        <p:nvSpPr>
          <p:cNvPr id="12293" name="Rectangle 8">
            <a:extLst>
              <a:ext uri="{FF2B5EF4-FFF2-40B4-BE49-F238E27FC236}">
                <a16:creationId xmlns:a16="http://schemas.microsoft.com/office/drawing/2014/main" id="{658B0252-54FC-EE5A-22A4-62BC335CB63D}"/>
              </a:ext>
            </a:extLst>
          </p:cNvPr>
          <p:cNvSpPr>
            <a:spLocks noChangeArrowheads="1"/>
          </p:cNvSpPr>
          <p:nvPr/>
        </p:nvSpPr>
        <p:spPr bwMode="auto">
          <a:xfrm>
            <a:off x="950913" y="1431925"/>
            <a:ext cx="7315200" cy="180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400050">
              <a:spcBef>
                <a:spcPct val="20000"/>
              </a:spcBef>
              <a:buChar char="•"/>
              <a:tabLst>
                <a:tab pos="400050" algn="r"/>
                <a:tab pos="685800" algn="l"/>
              </a:tabLst>
              <a:defRPr sz="2800">
                <a:solidFill>
                  <a:schemeClr val="tx1"/>
                </a:solidFill>
                <a:latin typeface="Arial" panose="020B0604020202020204" pitchFamily="34" charset="0"/>
              </a:defRPr>
            </a:lvl1pPr>
            <a:lvl2pPr marL="742950" indent="-285750" defTabSz="400050">
              <a:spcBef>
                <a:spcPct val="20000"/>
              </a:spcBef>
              <a:buChar char="–"/>
              <a:tabLst>
                <a:tab pos="400050" algn="r"/>
                <a:tab pos="685800" algn="l"/>
              </a:tabLst>
              <a:defRPr sz="2400">
                <a:solidFill>
                  <a:schemeClr val="tx1"/>
                </a:solidFill>
                <a:latin typeface="Arial" panose="020B0604020202020204" pitchFamily="34" charset="0"/>
              </a:defRPr>
            </a:lvl2pPr>
            <a:lvl3pPr marL="1143000" indent="-228600" defTabSz="400050">
              <a:spcBef>
                <a:spcPct val="20000"/>
              </a:spcBef>
              <a:buChar char="•"/>
              <a:tabLst>
                <a:tab pos="400050" algn="r"/>
                <a:tab pos="685800" algn="l"/>
              </a:tabLst>
              <a:defRPr sz="2000">
                <a:solidFill>
                  <a:schemeClr val="tx1"/>
                </a:solidFill>
                <a:latin typeface="Arial" panose="020B0604020202020204" pitchFamily="34" charset="0"/>
              </a:defRPr>
            </a:lvl3pPr>
            <a:lvl4pPr marL="1600200" indent="-228600" defTabSz="400050">
              <a:spcBef>
                <a:spcPct val="20000"/>
              </a:spcBef>
              <a:buChar char="–"/>
              <a:tabLst>
                <a:tab pos="400050" algn="r"/>
                <a:tab pos="685800" algn="l"/>
              </a:tabLst>
              <a:defRPr sz="2000">
                <a:solidFill>
                  <a:schemeClr val="tx1"/>
                </a:solidFill>
                <a:latin typeface="Arial" panose="020B0604020202020204" pitchFamily="34" charset="0"/>
              </a:defRPr>
            </a:lvl4pPr>
            <a:lvl5pPr marL="2057400" indent="-228600" defTabSz="400050">
              <a:spcBef>
                <a:spcPct val="20000"/>
              </a:spcBef>
              <a:buChar char="»"/>
              <a:tabLst>
                <a:tab pos="400050" algn="r"/>
                <a:tab pos="685800" algn="l"/>
              </a:tabLst>
              <a:defRPr sz="2000">
                <a:solidFill>
                  <a:schemeClr val="tx1"/>
                </a:solidFill>
                <a:latin typeface="Arial" panose="020B0604020202020204" pitchFamily="34" charset="0"/>
              </a:defRPr>
            </a:lvl5pPr>
            <a:lvl6pPr marL="25146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6pPr>
            <a:lvl7pPr marL="29718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7pPr>
            <a:lvl8pPr marL="34290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8pPr>
            <a:lvl9pPr marL="38862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9pPr>
          </a:lstStyle>
          <a:p>
            <a:pPr>
              <a:lnSpc>
                <a:spcPct val="125000"/>
              </a:lnSpc>
              <a:spcBef>
                <a:spcPct val="0"/>
              </a:spcBef>
              <a:buFontTx/>
              <a:buNone/>
            </a:pPr>
            <a:endParaRPr lang="en-US" altLang="en-US" sz="1800" b="1">
              <a:solidFill>
                <a:srgbClr val="000000"/>
              </a:solidFill>
              <a:latin typeface="Courier New" panose="02070309020205020404" pitchFamily="49" charset="0"/>
            </a:endParaRPr>
          </a:p>
          <a:p>
            <a:pPr>
              <a:lnSpc>
                <a:spcPct val="125000"/>
              </a:lnSpc>
              <a:spcBef>
                <a:spcPct val="0"/>
              </a:spcBef>
              <a:buFontTx/>
              <a:buNone/>
            </a:pPr>
            <a:endParaRPr lang="en-US" altLang="en-US" sz="1800" b="1">
              <a:solidFill>
                <a:srgbClr val="000000"/>
              </a:solidFill>
              <a:latin typeface="Courier New" panose="02070309020205020404" pitchFamily="49" charset="0"/>
            </a:endParaRPr>
          </a:p>
          <a:p>
            <a:pPr>
              <a:lnSpc>
                <a:spcPct val="125000"/>
              </a:lnSpc>
              <a:spcBef>
                <a:spcPct val="0"/>
              </a:spcBef>
              <a:buFontTx/>
              <a:buNone/>
            </a:pPr>
            <a:endParaRPr lang="en-US" altLang="en-US" sz="1800" b="1">
              <a:solidFill>
                <a:srgbClr val="000000"/>
              </a:solidFill>
              <a:latin typeface="Courier New" panose="02070309020205020404" pitchFamily="49" charset="0"/>
            </a:endParaRPr>
          </a:p>
          <a:p>
            <a:pPr>
              <a:lnSpc>
                <a:spcPct val="125000"/>
              </a:lnSpc>
              <a:spcBef>
                <a:spcPct val="0"/>
              </a:spcBef>
              <a:buFontTx/>
              <a:buNone/>
            </a:pPr>
            <a:endParaRPr lang="en-US" altLang="en-US" sz="1800" b="1">
              <a:solidFill>
                <a:srgbClr val="000000"/>
              </a:solidFill>
              <a:latin typeface="Courier New" panose="02070309020205020404" pitchFamily="49" charset="0"/>
            </a:endParaRPr>
          </a:p>
          <a:p>
            <a:pPr>
              <a:lnSpc>
                <a:spcPct val="125000"/>
              </a:lnSpc>
              <a:spcBef>
                <a:spcPct val="0"/>
              </a:spcBef>
              <a:buFontTx/>
              <a:buNone/>
            </a:pPr>
            <a:endParaRPr lang="en-US" altLang="en-US" sz="1800" b="1">
              <a:solidFill>
                <a:srgbClr val="000000"/>
              </a:solidFill>
              <a:latin typeface="Courier New" panose="02070309020205020404" pitchFamily="49" charset="0"/>
            </a:endParaRPr>
          </a:p>
        </p:txBody>
      </p:sp>
      <p:sp>
        <p:nvSpPr>
          <p:cNvPr id="12294" name="Rectangle 9">
            <a:extLst>
              <a:ext uri="{FF2B5EF4-FFF2-40B4-BE49-F238E27FC236}">
                <a16:creationId xmlns:a16="http://schemas.microsoft.com/office/drawing/2014/main" id="{0D2A9079-4278-5632-8D08-6279A754B8C9}"/>
              </a:ext>
            </a:extLst>
          </p:cNvPr>
          <p:cNvSpPr>
            <a:spLocks noGrp="1" noChangeArrowheads="1"/>
          </p:cNvSpPr>
          <p:nvPr>
            <p:ph type="title"/>
          </p:nvPr>
        </p:nvSpPr>
        <p:spPr>
          <a:xfrm>
            <a:off x="395288" y="661988"/>
            <a:ext cx="3346450" cy="463550"/>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Using a Subquery</a:t>
            </a:r>
          </a:p>
        </p:txBody>
      </p:sp>
      <p:sp>
        <p:nvSpPr>
          <p:cNvPr id="292874" name="Rectangle 10">
            <a:extLst>
              <a:ext uri="{FF2B5EF4-FFF2-40B4-BE49-F238E27FC236}">
                <a16:creationId xmlns:a16="http://schemas.microsoft.com/office/drawing/2014/main" id="{EA25B239-21D0-15C6-F69D-235C4107CE37}"/>
              </a:ext>
            </a:extLst>
          </p:cNvPr>
          <p:cNvSpPr>
            <a:spLocks noChangeArrowheads="1"/>
          </p:cNvSpPr>
          <p:nvPr/>
        </p:nvSpPr>
        <p:spPr bwMode="blackWhite">
          <a:xfrm>
            <a:off x="920750" y="3543300"/>
            <a:ext cx="7499350" cy="1465263"/>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KING</a:t>
            </a:r>
          </a:p>
          <a:p>
            <a:pPr>
              <a:spcBef>
                <a:spcPct val="0"/>
              </a:spcBef>
              <a:buFontTx/>
              <a:buNone/>
            </a:pPr>
            <a:r>
              <a:rPr lang="en-US" altLang="en-US" sz="1800" b="1">
                <a:solidFill>
                  <a:srgbClr val="000000"/>
                </a:solidFill>
                <a:latin typeface="Courier New" panose="02070309020205020404" pitchFamily="49" charset="0"/>
              </a:rPr>
              <a:t>FORD</a:t>
            </a:r>
          </a:p>
          <a:p>
            <a:pPr>
              <a:spcBef>
                <a:spcPct val="0"/>
              </a:spcBef>
              <a:buFontTx/>
              <a:buNone/>
            </a:pPr>
            <a:r>
              <a:rPr lang="en-US" altLang="en-US" sz="1800" b="1">
                <a:solidFill>
                  <a:srgbClr val="000000"/>
                </a:solidFill>
                <a:latin typeface="Courier New" panose="02070309020205020404" pitchFamily="49" charset="0"/>
              </a:rPr>
              <a:t>SCOTT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92867"/>
                                        </p:tgtEl>
                                        <p:attrNameLst>
                                          <p:attrName>style.visibility</p:attrName>
                                        </p:attrNameLst>
                                      </p:cBhvr>
                                      <p:to>
                                        <p:strVal val="visible"/>
                                      </p:to>
                                    </p:set>
                                    <p:animEffect transition="in" filter="wipe(up)">
                                      <p:cBhvr>
                                        <p:cTn id="7" dur="500"/>
                                        <p:tgtEl>
                                          <p:spTgt spid="2928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92874"/>
                                        </p:tgtEl>
                                        <p:attrNameLst>
                                          <p:attrName>style.visibility</p:attrName>
                                        </p:attrNameLst>
                                      </p:cBhvr>
                                      <p:to>
                                        <p:strVal val="visible"/>
                                      </p:to>
                                    </p:set>
                                    <p:animEffect transition="in" filter="wipe(up)">
                                      <p:cBhvr>
                                        <p:cTn id="12" dur="500"/>
                                        <p:tgtEl>
                                          <p:spTgt spid="292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74"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B0B44EA6-1306-C70E-08AB-80E7ACD94894}"/>
              </a:ext>
            </a:extLst>
          </p:cNvPr>
          <p:cNvSpPr>
            <a:spLocks noGrp="1" noChangeArrowheads="1"/>
          </p:cNvSpPr>
          <p:nvPr>
            <p:ph type="title"/>
          </p:nvPr>
        </p:nvSpPr>
        <p:spPr>
          <a:xfrm>
            <a:off x="323850" y="660400"/>
            <a:ext cx="5040313" cy="608013"/>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Exercise</a:t>
            </a:r>
          </a:p>
        </p:txBody>
      </p:sp>
      <p:sp>
        <p:nvSpPr>
          <p:cNvPr id="14339" name="Rectangle 4">
            <a:extLst>
              <a:ext uri="{FF2B5EF4-FFF2-40B4-BE49-F238E27FC236}">
                <a16:creationId xmlns:a16="http://schemas.microsoft.com/office/drawing/2014/main" id="{8F1DE6BD-C4FC-3B12-03BC-30C52BA1D1EC}"/>
              </a:ext>
            </a:extLst>
          </p:cNvPr>
          <p:cNvSpPr>
            <a:spLocks noGrp="1" noChangeArrowheads="1"/>
          </p:cNvSpPr>
          <p:nvPr>
            <p:ph type="body" idx="1"/>
          </p:nvPr>
        </p:nvSpPr>
        <p:spPr>
          <a:xfrm>
            <a:off x="323850" y="1268413"/>
            <a:ext cx="8288338" cy="3816350"/>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lstStyle/>
          <a:p>
            <a:pPr algn="just"/>
            <a:r>
              <a:rPr lang="en-US" altLang="en-US" sz="2400"/>
              <a:t>List all employees with salary greater than the average salary of the employees. </a:t>
            </a:r>
          </a:p>
          <a:p>
            <a:pPr algn="just"/>
            <a:r>
              <a:rPr lang="en-US" altLang="en-US" sz="2400"/>
              <a:t>List all employees with salary greater than the average salary of the employees of a certain job/department.</a:t>
            </a:r>
          </a:p>
          <a:p>
            <a:pPr algn="just"/>
            <a:r>
              <a:rPr lang="en-US" altLang="en-US" sz="2400"/>
              <a:t>Find the name of the highest paid employee.</a:t>
            </a:r>
          </a:p>
          <a:p>
            <a:pPr algn="just"/>
            <a:r>
              <a:rPr lang="en-US" altLang="en-US" sz="2400"/>
              <a:t>Find the name of the most senior employee.</a:t>
            </a:r>
          </a:p>
          <a:p>
            <a:pPr algn="just"/>
            <a:r>
              <a:rPr lang="en-US" altLang="en-US" sz="2400"/>
              <a:t>List all employees with the same job/department  as that of a given employee. </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F9EF71C1-C256-EF2A-6844-85B0DDF3FE19}"/>
              </a:ext>
            </a:extLst>
          </p:cNvPr>
          <p:cNvSpPr>
            <a:spLocks noGrp="1" noChangeArrowheads="1"/>
          </p:cNvSpPr>
          <p:nvPr>
            <p:ph type="title"/>
          </p:nvPr>
        </p:nvSpPr>
        <p:spPr>
          <a:xfrm>
            <a:off x="323850" y="620713"/>
            <a:ext cx="5362575"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Types of Subqueries</a:t>
            </a:r>
          </a:p>
        </p:txBody>
      </p:sp>
      <p:sp>
        <p:nvSpPr>
          <p:cNvPr id="16387" name="Rectangle 3">
            <a:extLst>
              <a:ext uri="{FF2B5EF4-FFF2-40B4-BE49-F238E27FC236}">
                <a16:creationId xmlns:a16="http://schemas.microsoft.com/office/drawing/2014/main" id="{AE82C03B-0CDD-FB0E-591F-66C1ECE748D2}"/>
              </a:ext>
            </a:extLst>
          </p:cNvPr>
          <p:cNvSpPr>
            <a:spLocks noGrp="1" noChangeArrowheads="1"/>
          </p:cNvSpPr>
          <p:nvPr>
            <p:ph type="body" idx="1"/>
          </p:nvPr>
        </p:nvSpPr>
        <p:spPr>
          <a:xfrm>
            <a:off x="395288" y="1185863"/>
            <a:ext cx="8497887" cy="5485221"/>
          </a:xfrm>
        </p:spPr>
        <p:txBody>
          <a:bodyPr lIns="92075" tIns="46038" rIns="92075" bIns="46038">
            <a:spAutoFit/>
          </a:bodyPr>
          <a:lstStyle/>
          <a:p>
            <a:pPr marL="0" indent="0" algn="just">
              <a:buFontTx/>
              <a:buNone/>
              <a:defRPr/>
            </a:pPr>
            <a:r>
              <a:rPr lang="en-US" altLang="en-US" sz="2400" b="1" dirty="0">
                <a:solidFill>
                  <a:schemeClr val="accent2"/>
                </a:solidFill>
              </a:rPr>
              <a:t>1. Single-row subquery</a:t>
            </a:r>
          </a:p>
          <a:p>
            <a:pPr marL="230188" indent="-230188" algn="just">
              <a:defRPr/>
            </a:pPr>
            <a:r>
              <a:rPr lang="en-US" altLang="en-US" sz="2400" dirty="0"/>
              <a:t>Returns </a:t>
            </a:r>
            <a:r>
              <a:rPr lang="en-US" altLang="en-US" sz="2400" u="sng" dirty="0">
                <a:solidFill>
                  <a:srgbClr val="FF0000"/>
                </a:solidFill>
              </a:rPr>
              <a:t>zero</a:t>
            </a:r>
            <a:r>
              <a:rPr lang="en-US" altLang="en-US" sz="2400" dirty="0"/>
              <a:t> or </a:t>
            </a:r>
            <a:r>
              <a:rPr lang="en-US" altLang="en-US" sz="2400" u="sng" dirty="0">
                <a:solidFill>
                  <a:srgbClr val="FF0000"/>
                </a:solidFill>
              </a:rPr>
              <a:t>one row</a:t>
            </a:r>
            <a:r>
              <a:rPr lang="en-US" altLang="en-US" sz="2400" dirty="0"/>
              <a:t> to the outer query. </a:t>
            </a:r>
          </a:p>
          <a:p>
            <a:pPr marL="230188" indent="-230188" algn="just">
              <a:defRPr/>
            </a:pPr>
            <a:r>
              <a:rPr lang="en-US" altLang="en-US" sz="2400" dirty="0"/>
              <a:t>A special case called </a:t>
            </a:r>
            <a:r>
              <a:rPr lang="en-US" altLang="en-US" sz="2400" dirty="0">
                <a:solidFill>
                  <a:srgbClr val="FF0000"/>
                </a:solidFill>
              </a:rPr>
              <a:t>scalar subquery</a:t>
            </a:r>
            <a:r>
              <a:rPr lang="en-US" altLang="en-US" sz="2400" dirty="0"/>
              <a:t> contains exactly one column.</a:t>
            </a:r>
          </a:p>
          <a:p>
            <a:pPr marL="0" indent="0" algn="just">
              <a:buFontTx/>
              <a:buNone/>
              <a:defRPr/>
            </a:pPr>
            <a:r>
              <a:rPr lang="en-US" altLang="en-US" sz="2400" b="1" dirty="0">
                <a:solidFill>
                  <a:schemeClr val="accent2"/>
                </a:solidFill>
              </a:rPr>
              <a:t>2. Multiple-row subquery</a:t>
            </a:r>
          </a:p>
          <a:p>
            <a:pPr marL="230188" indent="-230188" algn="just">
              <a:defRPr/>
            </a:pPr>
            <a:r>
              <a:rPr lang="en-US" altLang="en-US" sz="2400" dirty="0"/>
              <a:t>Returns one or more rows to the outer query. </a:t>
            </a:r>
          </a:p>
          <a:p>
            <a:pPr marL="230188" indent="-230188" algn="just">
              <a:defRPr/>
            </a:pPr>
            <a:r>
              <a:rPr lang="en-US" altLang="en-US" sz="2400" dirty="0"/>
              <a:t>In addition, there are </a:t>
            </a:r>
            <a:r>
              <a:rPr lang="en-US" altLang="en-US" sz="2400" u="sng" dirty="0">
                <a:solidFill>
                  <a:srgbClr val="FF0000"/>
                </a:solidFill>
              </a:rPr>
              <a:t>three subtypes of subqueries</a:t>
            </a:r>
            <a:r>
              <a:rPr lang="en-US" altLang="en-US" sz="2400" dirty="0"/>
              <a:t> that may return single or multiple rows:</a:t>
            </a:r>
          </a:p>
          <a:p>
            <a:pPr marL="0" indent="0" algn="just">
              <a:buFontTx/>
              <a:buAutoNum type="alphaLcParenR"/>
              <a:defRPr/>
            </a:pPr>
            <a:r>
              <a:rPr lang="en-US" altLang="en-US" sz="2400" dirty="0">
                <a:solidFill>
                  <a:srgbClr val="FF0000"/>
                </a:solidFill>
              </a:rPr>
              <a:t>Multiple-column subqueries</a:t>
            </a:r>
            <a:r>
              <a:rPr lang="en-US" altLang="en-US" sz="2400" dirty="0"/>
              <a:t> return more than one column to the outer SQL statement.</a:t>
            </a:r>
          </a:p>
          <a:p>
            <a:pPr marL="0" indent="0" algn="just">
              <a:buFontTx/>
              <a:buAutoNum type="alphaLcParenR"/>
              <a:defRPr/>
            </a:pPr>
            <a:r>
              <a:rPr lang="en-US" altLang="en-US" sz="2400" dirty="0">
                <a:solidFill>
                  <a:srgbClr val="FF0000"/>
                </a:solidFill>
              </a:rPr>
              <a:t>Correlated subqueries</a:t>
            </a:r>
            <a:r>
              <a:rPr lang="en-US" altLang="en-US" sz="2400" dirty="0"/>
              <a:t> reference one or more columns in the outer SQL statement. </a:t>
            </a:r>
          </a:p>
          <a:p>
            <a:pPr marL="0" indent="0" algn="just">
              <a:buFontTx/>
              <a:buAutoNum type="alphaLcParenR"/>
              <a:defRPr/>
            </a:pPr>
            <a:r>
              <a:rPr lang="en-US" altLang="en-US" sz="2400" dirty="0">
                <a:solidFill>
                  <a:srgbClr val="FF0000"/>
                </a:solidFill>
              </a:rPr>
              <a:t>Nested subqueries</a:t>
            </a:r>
            <a:r>
              <a:rPr lang="en-US" altLang="en-US" sz="2400" dirty="0"/>
              <a:t> are placed within another subquery. </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BC5B8107-8674-82A3-F769-B8617260A52C}"/>
              </a:ext>
            </a:extLst>
          </p:cNvPr>
          <p:cNvSpPr>
            <a:spLocks noGrp="1" noChangeArrowheads="1"/>
          </p:cNvSpPr>
          <p:nvPr>
            <p:ph type="title"/>
          </p:nvPr>
        </p:nvSpPr>
        <p:spPr>
          <a:xfrm>
            <a:off x="323850" y="620713"/>
            <a:ext cx="3649663" cy="5492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Types of Subqueries</a:t>
            </a:r>
          </a:p>
        </p:txBody>
      </p:sp>
      <p:sp>
        <p:nvSpPr>
          <p:cNvPr id="20483" name="Rectangle 3">
            <a:extLst>
              <a:ext uri="{FF2B5EF4-FFF2-40B4-BE49-F238E27FC236}">
                <a16:creationId xmlns:a16="http://schemas.microsoft.com/office/drawing/2014/main" id="{DC24E378-362E-7247-AB71-62AAD98D9EAB}"/>
              </a:ext>
            </a:extLst>
          </p:cNvPr>
          <p:cNvSpPr>
            <a:spLocks noGrp="1" noChangeArrowheads="1"/>
          </p:cNvSpPr>
          <p:nvPr>
            <p:ph type="body" idx="1"/>
          </p:nvPr>
        </p:nvSpPr>
        <p:spPr>
          <a:xfrm>
            <a:off x="468313" y="1231900"/>
            <a:ext cx="8567737" cy="461963"/>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pPr lvl="1">
              <a:buFont typeface="Arial" panose="020B0604020202020204" pitchFamily="34" charset="0"/>
              <a:buChar char="•"/>
            </a:pPr>
            <a:r>
              <a:rPr lang="en-US" altLang="en-US"/>
              <a:t>Single-row subquery</a:t>
            </a:r>
          </a:p>
        </p:txBody>
      </p:sp>
      <p:grpSp>
        <p:nvGrpSpPr>
          <p:cNvPr id="20484" name="Group 4">
            <a:extLst>
              <a:ext uri="{FF2B5EF4-FFF2-40B4-BE49-F238E27FC236}">
                <a16:creationId xmlns:a16="http://schemas.microsoft.com/office/drawing/2014/main" id="{8115F1E6-5062-533C-2DB7-1D25BD99E0A2}"/>
              </a:ext>
            </a:extLst>
          </p:cNvPr>
          <p:cNvGrpSpPr>
            <a:grpSpLocks/>
          </p:cNvGrpSpPr>
          <p:nvPr/>
        </p:nvGrpSpPr>
        <p:grpSpPr bwMode="auto">
          <a:xfrm>
            <a:off x="1881188" y="1739900"/>
            <a:ext cx="3967162" cy="1038225"/>
            <a:chOff x="1185" y="938"/>
            <a:chExt cx="2499" cy="654"/>
          </a:xfrm>
        </p:grpSpPr>
        <p:sp>
          <p:nvSpPr>
            <p:cNvPr id="20509" name="Rectangle 5">
              <a:extLst>
                <a:ext uri="{FF2B5EF4-FFF2-40B4-BE49-F238E27FC236}">
                  <a16:creationId xmlns:a16="http://schemas.microsoft.com/office/drawing/2014/main" id="{13F28CD0-FD79-F46A-F2D9-E538515A79E4}"/>
                </a:ext>
              </a:extLst>
            </p:cNvPr>
            <p:cNvSpPr>
              <a:spLocks noChangeArrowheads="1"/>
            </p:cNvSpPr>
            <p:nvPr/>
          </p:nvSpPr>
          <p:spPr bwMode="blackWhite">
            <a:xfrm>
              <a:off x="1200" y="939"/>
              <a:ext cx="1231" cy="65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0510" name="Rectangle 6">
              <a:extLst>
                <a:ext uri="{FF2B5EF4-FFF2-40B4-BE49-F238E27FC236}">
                  <a16:creationId xmlns:a16="http://schemas.microsoft.com/office/drawing/2014/main" id="{CE0B9602-9B80-7131-0BD0-1BFA349DADC0}"/>
                </a:ext>
              </a:extLst>
            </p:cNvPr>
            <p:cNvSpPr>
              <a:spLocks noChangeArrowheads="1"/>
            </p:cNvSpPr>
            <p:nvPr/>
          </p:nvSpPr>
          <p:spPr bwMode="auto">
            <a:xfrm>
              <a:off x="1185" y="938"/>
              <a:ext cx="8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rPr>
                <a:t>Main query</a:t>
              </a:r>
            </a:p>
          </p:txBody>
        </p:sp>
        <p:sp>
          <p:nvSpPr>
            <p:cNvPr id="20511" name="Rectangle 7">
              <a:extLst>
                <a:ext uri="{FF2B5EF4-FFF2-40B4-BE49-F238E27FC236}">
                  <a16:creationId xmlns:a16="http://schemas.microsoft.com/office/drawing/2014/main" id="{95A4A8BD-35F7-40E7-0A86-CF860572ECF8}"/>
                </a:ext>
              </a:extLst>
            </p:cNvPr>
            <p:cNvSpPr>
              <a:spLocks noChangeArrowheads="1"/>
            </p:cNvSpPr>
            <p:nvPr/>
          </p:nvSpPr>
          <p:spPr bwMode="ltGray">
            <a:xfrm>
              <a:off x="1458" y="1236"/>
              <a:ext cx="967" cy="347"/>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0512" name="Rectangle 8">
              <a:extLst>
                <a:ext uri="{FF2B5EF4-FFF2-40B4-BE49-F238E27FC236}">
                  <a16:creationId xmlns:a16="http://schemas.microsoft.com/office/drawing/2014/main" id="{8CCD2913-534A-E50B-F718-AFF0E164E609}"/>
                </a:ext>
              </a:extLst>
            </p:cNvPr>
            <p:cNvSpPr>
              <a:spLocks noChangeArrowheads="1"/>
            </p:cNvSpPr>
            <p:nvPr/>
          </p:nvSpPr>
          <p:spPr bwMode="auto">
            <a:xfrm>
              <a:off x="1551" y="1305"/>
              <a:ext cx="7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rPr>
                <a:t>Subquery</a:t>
              </a:r>
            </a:p>
          </p:txBody>
        </p:sp>
        <p:sp>
          <p:nvSpPr>
            <p:cNvPr id="296969" name="Rectangle 9">
              <a:extLst>
                <a:ext uri="{FF2B5EF4-FFF2-40B4-BE49-F238E27FC236}">
                  <a16:creationId xmlns:a16="http://schemas.microsoft.com/office/drawing/2014/main" id="{F13D4A6B-B440-9A31-EA80-EF0B16022A8A}"/>
                </a:ext>
              </a:extLst>
            </p:cNvPr>
            <p:cNvSpPr>
              <a:spLocks noChangeArrowheads="1"/>
            </p:cNvSpPr>
            <p:nvPr/>
          </p:nvSpPr>
          <p:spPr bwMode="auto">
            <a:xfrm>
              <a:off x="3388" y="1254"/>
              <a:ext cx="178" cy="327"/>
            </a:xfrm>
            <a:prstGeom prst="rect">
              <a:avLst/>
            </a:prstGeom>
            <a:noFill/>
            <a:ln>
              <a:noFill/>
            </a:ln>
            <a:effectLst/>
          </p:spPr>
          <p:txBody>
            <a:bodyPr wrap="none" lIns="92075" tIns="46038" rIns="92075" bIns="46038">
              <a:spAutoFit/>
            </a:bodyPr>
            <a:lstStyle/>
            <a:p>
              <a:pPr defTabSz="822325">
                <a:spcBef>
                  <a:spcPct val="50000"/>
                </a:spcBef>
                <a:defRPr/>
              </a:pPr>
              <a:r>
                <a:rPr lang="en-US" sz="2800" b="1">
                  <a:solidFill>
                    <a:srgbClr val="D3EAF8"/>
                  </a:solidFill>
                  <a:effectLst>
                    <a:outerShdw blurRad="38100" dist="38100" dir="2700000" algn="tl">
                      <a:srgbClr val="000000"/>
                    </a:outerShdw>
                  </a:effectLst>
                </a:rPr>
                <a:t> </a:t>
              </a:r>
            </a:p>
          </p:txBody>
        </p:sp>
        <p:sp>
          <p:nvSpPr>
            <p:cNvPr id="20514" name="Line 10">
              <a:extLst>
                <a:ext uri="{FF2B5EF4-FFF2-40B4-BE49-F238E27FC236}">
                  <a16:creationId xmlns:a16="http://schemas.microsoft.com/office/drawing/2014/main" id="{784B4978-8E54-EA5A-697C-0A32F73DF959}"/>
                </a:ext>
              </a:extLst>
            </p:cNvPr>
            <p:cNvSpPr>
              <a:spLocks noChangeShapeType="1"/>
            </p:cNvSpPr>
            <p:nvPr/>
          </p:nvSpPr>
          <p:spPr bwMode="auto">
            <a:xfrm>
              <a:off x="2336" y="1415"/>
              <a:ext cx="1348" cy="0"/>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296971" name="Rectangle 11">
              <a:extLst>
                <a:ext uri="{FF2B5EF4-FFF2-40B4-BE49-F238E27FC236}">
                  <a16:creationId xmlns:a16="http://schemas.microsoft.com/office/drawing/2014/main" id="{AC37C660-F02C-19A0-3D3E-C7E7B8109428}"/>
                </a:ext>
              </a:extLst>
            </p:cNvPr>
            <p:cNvSpPr>
              <a:spLocks noChangeArrowheads="1"/>
            </p:cNvSpPr>
            <p:nvPr/>
          </p:nvSpPr>
          <p:spPr bwMode="auto">
            <a:xfrm>
              <a:off x="2664" y="1169"/>
              <a:ext cx="612" cy="231"/>
            </a:xfrm>
            <a:prstGeom prst="rect">
              <a:avLst/>
            </a:prstGeom>
            <a:noFill/>
            <a:ln>
              <a:noFill/>
            </a:ln>
            <a:effectLst/>
          </p:spPr>
          <p:txBody>
            <a:bodyPr wrap="none" lIns="92075" tIns="46038" rIns="92075" bIns="46038">
              <a:spAutoFit/>
            </a:bodyPr>
            <a:lstStyle/>
            <a:p>
              <a:pPr defTabSz="822325">
                <a:spcBef>
                  <a:spcPct val="50000"/>
                </a:spcBef>
                <a:defRPr/>
              </a:pPr>
              <a:r>
                <a:rPr lang="en-US" sz="1800" b="1">
                  <a:effectLst>
                    <a:outerShdw blurRad="38100" dist="38100" dir="2700000" algn="tl">
                      <a:srgbClr val="FFFFFF"/>
                    </a:outerShdw>
                  </a:effectLst>
                </a:rPr>
                <a:t>returns</a:t>
              </a:r>
            </a:p>
          </p:txBody>
        </p:sp>
      </p:grpSp>
      <p:sp>
        <p:nvSpPr>
          <p:cNvPr id="296972" name="Rectangle 12">
            <a:extLst>
              <a:ext uri="{FF2B5EF4-FFF2-40B4-BE49-F238E27FC236}">
                <a16:creationId xmlns:a16="http://schemas.microsoft.com/office/drawing/2014/main" id="{1378562D-9FE7-8DBF-F6D6-A45335E9745A}"/>
              </a:ext>
            </a:extLst>
          </p:cNvPr>
          <p:cNvSpPr>
            <a:spLocks noChangeArrowheads="1"/>
          </p:cNvSpPr>
          <p:nvPr/>
        </p:nvSpPr>
        <p:spPr bwMode="auto">
          <a:xfrm>
            <a:off x="5972175" y="2265363"/>
            <a:ext cx="1233488" cy="457200"/>
          </a:xfrm>
          <a:prstGeom prst="rect">
            <a:avLst/>
          </a:prstGeom>
          <a:noFill/>
          <a:ln>
            <a:noFill/>
          </a:ln>
          <a:effectLst/>
        </p:spPr>
        <p:txBody>
          <a:bodyPr wrap="none" lIns="92075" tIns="46038" rIns="92075" bIns="46038">
            <a:spAutoFit/>
          </a:bodyPr>
          <a:lstStyle/>
          <a:p>
            <a:pPr defTabSz="822325">
              <a:spcBef>
                <a:spcPct val="50000"/>
              </a:spcBef>
              <a:defRPr/>
            </a:pPr>
            <a:r>
              <a:rPr lang="en-US" b="1">
                <a:solidFill>
                  <a:schemeClr val="accent2"/>
                </a:solidFill>
                <a:effectLst>
                  <a:outerShdw blurRad="38100" dist="38100" dir="2700000" algn="tl">
                    <a:srgbClr val="000000"/>
                  </a:outerShdw>
                </a:effectLst>
              </a:rPr>
              <a:t>CLERK</a:t>
            </a:r>
          </a:p>
        </p:txBody>
      </p:sp>
      <p:grpSp>
        <p:nvGrpSpPr>
          <p:cNvPr id="296973" name="Group 13">
            <a:extLst>
              <a:ext uri="{FF2B5EF4-FFF2-40B4-BE49-F238E27FC236}">
                <a16:creationId xmlns:a16="http://schemas.microsoft.com/office/drawing/2014/main" id="{910C5EEC-EFB0-17B7-5122-769ED3D7FC13}"/>
              </a:ext>
            </a:extLst>
          </p:cNvPr>
          <p:cNvGrpSpPr>
            <a:grpSpLocks/>
          </p:cNvGrpSpPr>
          <p:nvPr/>
        </p:nvGrpSpPr>
        <p:grpSpPr bwMode="auto">
          <a:xfrm>
            <a:off x="860425" y="2997200"/>
            <a:ext cx="7324725" cy="1676400"/>
            <a:chOff x="542" y="1730"/>
            <a:chExt cx="4614" cy="1056"/>
          </a:xfrm>
        </p:grpSpPr>
        <p:sp>
          <p:nvSpPr>
            <p:cNvPr id="20499" name="Rectangle 14">
              <a:extLst>
                <a:ext uri="{FF2B5EF4-FFF2-40B4-BE49-F238E27FC236}">
                  <a16:creationId xmlns:a16="http://schemas.microsoft.com/office/drawing/2014/main" id="{C3274489-F54F-A6BA-278B-66DD43448D91}"/>
                </a:ext>
              </a:extLst>
            </p:cNvPr>
            <p:cNvSpPr>
              <a:spLocks noChangeArrowheads="1"/>
            </p:cNvSpPr>
            <p:nvPr/>
          </p:nvSpPr>
          <p:spPr bwMode="auto">
            <a:xfrm>
              <a:off x="542" y="1730"/>
              <a:ext cx="4614"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lstStyle>
              <a:lvl1pPr marL="342900" indent="-342900" defTabSz="346075">
                <a:spcBef>
                  <a:spcPct val="20000"/>
                </a:spcBef>
                <a:buChar char="•"/>
                <a:tabLst>
                  <a:tab pos="571500" algn="l"/>
                </a:tabLst>
                <a:defRPr sz="2800">
                  <a:solidFill>
                    <a:schemeClr val="tx1"/>
                  </a:solidFill>
                  <a:latin typeface="Arial" panose="020B0604020202020204" pitchFamily="34" charset="0"/>
                </a:defRPr>
              </a:lvl1pPr>
              <a:lvl2pPr marL="341313" indent="-227013" defTabSz="346075">
                <a:spcBef>
                  <a:spcPct val="20000"/>
                </a:spcBef>
                <a:buChar char="–"/>
                <a:tabLst>
                  <a:tab pos="571500" algn="l"/>
                </a:tabLst>
                <a:defRPr sz="2400">
                  <a:solidFill>
                    <a:schemeClr val="tx1"/>
                  </a:solidFill>
                  <a:latin typeface="Arial" panose="020B0604020202020204" pitchFamily="34" charset="0"/>
                </a:defRPr>
              </a:lvl2pPr>
              <a:lvl3pPr marL="1143000" indent="-228600" defTabSz="346075">
                <a:spcBef>
                  <a:spcPct val="20000"/>
                </a:spcBef>
                <a:buChar char="•"/>
                <a:tabLst>
                  <a:tab pos="571500" algn="l"/>
                </a:tabLst>
                <a:defRPr sz="2000">
                  <a:solidFill>
                    <a:schemeClr val="tx1"/>
                  </a:solidFill>
                  <a:latin typeface="Arial" panose="020B0604020202020204" pitchFamily="34" charset="0"/>
                </a:defRPr>
              </a:lvl3pPr>
              <a:lvl4pPr marL="1600200" indent="-228600" defTabSz="346075">
                <a:spcBef>
                  <a:spcPct val="20000"/>
                </a:spcBef>
                <a:buChar char="–"/>
                <a:tabLst>
                  <a:tab pos="571500" algn="l"/>
                </a:tabLst>
                <a:defRPr sz="2000">
                  <a:solidFill>
                    <a:schemeClr val="tx1"/>
                  </a:solidFill>
                  <a:latin typeface="Arial" panose="020B0604020202020204" pitchFamily="34" charset="0"/>
                </a:defRPr>
              </a:lvl4pPr>
              <a:lvl5pPr marL="2057400" indent="-228600" defTabSz="346075">
                <a:spcBef>
                  <a:spcPct val="20000"/>
                </a:spcBef>
                <a:buChar char="»"/>
                <a:tabLst>
                  <a:tab pos="571500" algn="l"/>
                </a:tabLst>
                <a:defRPr sz="2000">
                  <a:solidFill>
                    <a:schemeClr val="tx1"/>
                  </a:solidFill>
                  <a:latin typeface="Arial" panose="020B0604020202020204" pitchFamily="34" charset="0"/>
                </a:defRPr>
              </a:lvl5pPr>
              <a:lvl6pPr marL="25146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6pPr>
              <a:lvl7pPr marL="29718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7pPr>
              <a:lvl8pPr marL="34290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8pPr>
              <a:lvl9pPr marL="38862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9pPr>
            </a:lstStyle>
            <a:p>
              <a:pPr lvl="1">
                <a:lnSpc>
                  <a:spcPct val="95000"/>
                </a:lnSpc>
                <a:spcBef>
                  <a:spcPct val="35000"/>
                </a:spcBef>
                <a:buClr>
                  <a:srgbClr val="FFCC66"/>
                </a:buClr>
                <a:buFontTx/>
                <a:buChar char="•"/>
              </a:pPr>
              <a:r>
                <a:rPr lang="en-US" altLang="en-US"/>
                <a:t>Multiple-row subquery</a:t>
              </a:r>
            </a:p>
          </p:txBody>
        </p:sp>
        <p:sp>
          <p:nvSpPr>
            <p:cNvPr id="296975" name="Rectangle 15">
              <a:extLst>
                <a:ext uri="{FF2B5EF4-FFF2-40B4-BE49-F238E27FC236}">
                  <a16:creationId xmlns:a16="http://schemas.microsoft.com/office/drawing/2014/main" id="{45202884-ACF0-6239-76CD-89CB7ABBC689}"/>
                </a:ext>
              </a:extLst>
            </p:cNvPr>
            <p:cNvSpPr>
              <a:spLocks noChangeArrowheads="1"/>
            </p:cNvSpPr>
            <p:nvPr/>
          </p:nvSpPr>
          <p:spPr bwMode="auto">
            <a:xfrm>
              <a:off x="3762" y="2268"/>
              <a:ext cx="1108" cy="518"/>
            </a:xfrm>
            <a:prstGeom prst="rect">
              <a:avLst/>
            </a:prstGeom>
            <a:noFill/>
            <a:ln>
              <a:noFill/>
            </a:ln>
            <a:effectLst/>
          </p:spPr>
          <p:txBody>
            <a:bodyPr wrap="none" lIns="92075" tIns="46038" rIns="92075" bIns="46038">
              <a:spAutoFit/>
            </a:bodyPr>
            <a:lstStyle/>
            <a:p>
              <a:pPr defTabSz="822325">
                <a:defRPr/>
              </a:pPr>
              <a:r>
                <a:rPr lang="en-US" b="1">
                  <a:solidFill>
                    <a:schemeClr val="accent2"/>
                  </a:solidFill>
                  <a:effectLst>
                    <a:outerShdw blurRad="38100" dist="38100" dir="2700000" algn="tl">
                      <a:srgbClr val="000000"/>
                    </a:outerShdw>
                  </a:effectLst>
                </a:rPr>
                <a:t>CLERK</a:t>
              </a:r>
            </a:p>
            <a:p>
              <a:pPr defTabSz="822325">
                <a:defRPr/>
              </a:pPr>
              <a:r>
                <a:rPr lang="en-US" b="1">
                  <a:solidFill>
                    <a:schemeClr val="accent2"/>
                  </a:solidFill>
                  <a:effectLst>
                    <a:outerShdw blurRad="38100" dist="38100" dir="2700000" algn="tl">
                      <a:srgbClr val="000000"/>
                    </a:outerShdw>
                  </a:effectLst>
                </a:rPr>
                <a:t>MANAGER</a:t>
              </a:r>
            </a:p>
          </p:txBody>
        </p:sp>
        <p:grpSp>
          <p:nvGrpSpPr>
            <p:cNvPr id="20501" name="Group 16">
              <a:extLst>
                <a:ext uri="{FF2B5EF4-FFF2-40B4-BE49-F238E27FC236}">
                  <a16:creationId xmlns:a16="http://schemas.microsoft.com/office/drawing/2014/main" id="{5D9660A2-80D8-D30C-7B95-9E80FE418B33}"/>
                </a:ext>
              </a:extLst>
            </p:cNvPr>
            <p:cNvGrpSpPr>
              <a:grpSpLocks/>
            </p:cNvGrpSpPr>
            <p:nvPr/>
          </p:nvGrpSpPr>
          <p:grpSpPr bwMode="auto">
            <a:xfrm>
              <a:off x="1185" y="2042"/>
              <a:ext cx="2499" cy="654"/>
              <a:chOff x="1185" y="2042"/>
              <a:chExt cx="2499" cy="654"/>
            </a:xfrm>
          </p:grpSpPr>
          <p:sp>
            <p:nvSpPr>
              <p:cNvPr id="20502" name="Rectangle 17">
                <a:extLst>
                  <a:ext uri="{FF2B5EF4-FFF2-40B4-BE49-F238E27FC236}">
                    <a16:creationId xmlns:a16="http://schemas.microsoft.com/office/drawing/2014/main" id="{BEAC9582-2515-6E93-71A1-B0B9126E2B92}"/>
                  </a:ext>
                </a:extLst>
              </p:cNvPr>
              <p:cNvSpPr>
                <a:spLocks noChangeArrowheads="1"/>
              </p:cNvSpPr>
              <p:nvPr/>
            </p:nvSpPr>
            <p:spPr bwMode="blackWhite">
              <a:xfrm>
                <a:off x="1200" y="2043"/>
                <a:ext cx="1231" cy="65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0503" name="Rectangle 18">
                <a:extLst>
                  <a:ext uri="{FF2B5EF4-FFF2-40B4-BE49-F238E27FC236}">
                    <a16:creationId xmlns:a16="http://schemas.microsoft.com/office/drawing/2014/main" id="{EC7F2795-AD0E-4EFF-2FAE-B849C50EED95}"/>
                  </a:ext>
                </a:extLst>
              </p:cNvPr>
              <p:cNvSpPr>
                <a:spLocks noChangeArrowheads="1"/>
              </p:cNvSpPr>
              <p:nvPr/>
            </p:nvSpPr>
            <p:spPr bwMode="auto">
              <a:xfrm>
                <a:off x="1185" y="2042"/>
                <a:ext cx="8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rPr>
                  <a:t>Main query</a:t>
                </a:r>
              </a:p>
            </p:txBody>
          </p:sp>
          <p:sp>
            <p:nvSpPr>
              <p:cNvPr id="20504" name="Rectangle 19">
                <a:extLst>
                  <a:ext uri="{FF2B5EF4-FFF2-40B4-BE49-F238E27FC236}">
                    <a16:creationId xmlns:a16="http://schemas.microsoft.com/office/drawing/2014/main" id="{128C3B26-A32D-EE36-3BF9-90FF13E7E8C8}"/>
                  </a:ext>
                </a:extLst>
              </p:cNvPr>
              <p:cNvSpPr>
                <a:spLocks noChangeArrowheads="1"/>
              </p:cNvSpPr>
              <p:nvPr/>
            </p:nvSpPr>
            <p:spPr bwMode="ltGray">
              <a:xfrm>
                <a:off x="1458" y="2340"/>
                <a:ext cx="967" cy="347"/>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0505" name="Rectangle 20">
                <a:extLst>
                  <a:ext uri="{FF2B5EF4-FFF2-40B4-BE49-F238E27FC236}">
                    <a16:creationId xmlns:a16="http://schemas.microsoft.com/office/drawing/2014/main" id="{C78393D0-8765-F3C6-E1E8-1A46F66B6FDA}"/>
                  </a:ext>
                </a:extLst>
              </p:cNvPr>
              <p:cNvSpPr>
                <a:spLocks noChangeArrowheads="1"/>
              </p:cNvSpPr>
              <p:nvPr/>
            </p:nvSpPr>
            <p:spPr bwMode="auto">
              <a:xfrm>
                <a:off x="1551" y="2409"/>
                <a:ext cx="7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rPr>
                  <a:t>Subquery</a:t>
                </a:r>
              </a:p>
            </p:txBody>
          </p:sp>
          <p:sp>
            <p:nvSpPr>
              <p:cNvPr id="296981" name="Rectangle 21">
                <a:extLst>
                  <a:ext uri="{FF2B5EF4-FFF2-40B4-BE49-F238E27FC236}">
                    <a16:creationId xmlns:a16="http://schemas.microsoft.com/office/drawing/2014/main" id="{A948EA8C-4252-E75C-7C5E-918961D02FAF}"/>
                  </a:ext>
                </a:extLst>
              </p:cNvPr>
              <p:cNvSpPr>
                <a:spLocks noChangeArrowheads="1"/>
              </p:cNvSpPr>
              <p:nvPr/>
            </p:nvSpPr>
            <p:spPr bwMode="auto">
              <a:xfrm>
                <a:off x="3388" y="2358"/>
                <a:ext cx="178" cy="327"/>
              </a:xfrm>
              <a:prstGeom prst="rect">
                <a:avLst/>
              </a:prstGeom>
              <a:noFill/>
              <a:ln>
                <a:noFill/>
              </a:ln>
              <a:effectLst/>
            </p:spPr>
            <p:txBody>
              <a:bodyPr wrap="none" lIns="92075" tIns="46038" rIns="92075" bIns="46038">
                <a:spAutoFit/>
              </a:bodyPr>
              <a:lstStyle/>
              <a:p>
                <a:pPr defTabSz="822325">
                  <a:spcBef>
                    <a:spcPct val="50000"/>
                  </a:spcBef>
                  <a:defRPr/>
                </a:pPr>
                <a:r>
                  <a:rPr lang="en-US" sz="2800" b="1">
                    <a:solidFill>
                      <a:srgbClr val="D3EAF8"/>
                    </a:solidFill>
                    <a:effectLst>
                      <a:outerShdw blurRad="38100" dist="38100" dir="2700000" algn="tl">
                        <a:srgbClr val="000000"/>
                      </a:outerShdw>
                    </a:effectLst>
                  </a:rPr>
                  <a:t> </a:t>
                </a:r>
              </a:p>
            </p:txBody>
          </p:sp>
          <p:sp>
            <p:nvSpPr>
              <p:cNvPr id="20507" name="Line 22">
                <a:extLst>
                  <a:ext uri="{FF2B5EF4-FFF2-40B4-BE49-F238E27FC236}">
                    <a16:creationId xmlns:a16="http://schemas.microsoft.com/office/drawing/2014/main" id="{EC0722C5-BC4D-A539-6A57-79A4FAF65A39}"/>
                  </a:ext>
                </a:extLst>
              </p:cNvPr>
              <p:cNvSpPr>
                <a:spLocks noChangeShapeType="1"/>
              </p:cNvSpPr>
              <p:nvPr/>
            </p:nvSpPr>
            <p:spPr bwMode="auto">
              <a:xfrm>
                <a:off x="2336" y="2519"/>
                <a:ext cx="1348" cy="0"/>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296983" name="Rectangle 23">
                <a:extLst>
                  <a:ext uri="{FF2B5EF4-FFF2-40B4-BE49-F238E27FC236}">
                    <a16:creationId xmlns:a16="http://schemas.microsoft.com/office/drawing/2014/main" id="{73E134A3-4244-3912-7ACC-69B5763D2A00}"/>
                  </a:ext>
                </a:extLst>
              </p:cNvPr>
              <p:cNvSpPr>
                <a:spLocks noChangeArrowheads="1"/>
              </p:cNvSpPr>
              <p:nvPr/>
            </p:nvSpPr>
            <p:spPr bwMode="auto">
              <a:xfrm>
                <a:off x="2664" y="2273"/>
                <a:ext cx="612" cy="231"/>
              </a:xfrm>
              <a:prstGeom prst="rect">
                <a:avLst/>
              </a:prstGeom>
              <a:noFill/>
              <a:ln>
                <a:noFill/>
              </a:ln>
              <a:effectLst/>
            </p:spPr>
            <p:txBody>
              <a:bodyPr wrap="none" lIns="92075" tIns="46038" rIns="92075" bIns="46038">
                <a:spAutoFit/>
              </a:bodyPr>
              <a:lstStyle/>
              <a:p>
                <a:pPr defTabSz="822325">
                  <a:spcBef>
                    <a:spcPct val="50000"/>
                  </a:spcBef>
                  <a:defRPr/>
                </a:pPr>
                <a:r>
                  <a:rPr lang="en-US" sz="1800" b="1">
                    <a:effectLst>
                      <a:outerShdw blurRad="38100" dist="38100" dir="2700000" algn="tl">
                        <a:srgbClr val="FFFFFF"/>
                      </a:outerShdw>
                    </a:effectLst>
                  </a:rPr>
                  <a:t>returns</a:t>
                </a:r>
              </a:p>
            </p:txBody>
          </p:sp>
        </p:grpSp>
      </p:grpSp>
      <p:grpSp>
        <p:nvGrpSpPr>
          <p:cNvPr id="296984" name="Group 24">
            <a:extLst>
              <a:ext uri="{FF2B5EF4-FFF2-40B4-BE49-F238E27FC236}">
                <a16:creationId xmlns:a16="http://schemas.microsoft.com/office/drawing/2014/main" id="{D2B33AF0-4EF4-2E89-DA8C-A2A32F508A97}"/>
              </a:ext>
            </a:extLst>
          </p:cNvPr>
          <p:cNvGrpSpPr>
            <a:grpSpLocks/>
          </p:cNvGrpSpPr>
          <p:nvPr/>
        </p:nvGrpSpPr>
        <p:grpSpPr bwMode="auto">
          <a:xfrm>
            <a:off x="841375" y="4708525"/>
            <a:ext cx="7718425" cy="1889125"/>
            <a:chOff x="530" y="2808"/>
            <a:chExt cx="4862" cy="1190"/>
          </a:xfrm>
        </p:grpSpPr>
        <p:sp>
          <p:nvSpPr>
            <p:cNvPr id="20488" name="Rectangle 25">
              <a:extLst>
                <a:ext uri="{FF2B5EF4-FFF2-40B4-BE49-F238E27FC236}">
                  <a16:creationId xmlns:a16="http://schemas.microsoft.com/office/drawing/2014/main" id="{85507090-0168-0BD5-283C-71553FE42E72}"/>
                </a:ext>
              </a:extLst>
            </p:cNvPr>
            <p:cNvSpPr>
              <a:spLocks noChangeArrowheads="1"/>
            </p:cNvSpPr>
            <p:nvPr/>
          </p:nvSpPr>
          <p:spPr bwMode="auto">
            <a:xfrm>
              <a:off x="2267" y="2808"/>
              <a:ext cx="252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0489" name="Rectangle 26">
              <a:extLst>
                <a:ext uri="{FF2B5EF4-FFF2-40B4-BE49-F238E27FC236}">
                  <a16:creationId xmlns:a16="http://schemas.microsoft.com/office/drawing/2014/main" id="{03FE11F9-C16C-DA68-06B9-EF924DEF2B79}"/>
                </a:ext>
              </a:extLst>
            </p:cNvPr>
            <p:cNvSpPr>
              <a:spLocks noChangeArrowheads="1"/>
            </p:cNvSpPr>
            <p:nvPr/>
          </p:nvSpPr>
          <p:spPr bwMode="auto">
            <a:xfrm>
              <a:off x="530" y="2844"/>
              <a:ext cx="4614"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lstStyle>
              <a:lvl1pPr marL="342900" indent="-342900" defTabSz="346075">
                <a:spcBef>
                  <a:spcPct val="20000"/>
                </a:spcBef>
                <a:buChar char="•"/>
                <a:tabLst>
                  <a:tab pos="571500" algn="l"/>
                </a:tabLst>
                <a:defRPr sz="2800">
                  <a:solidFill>
                    <a:schemeClr val="tx1"/>
                  </a:solidFill>
                  <a:latin typeface="Arial" panose="020B0604020202020204" pitchFamily="34" charset="0"/>
                </a:defRPr>
              </a:lvl1pPr>
              <a:lvl2pPr marL="341313" indent="-227013" defTabSz="346075">
                <a:spcBef>
                  <a:spcPct val="20000"/>
                </a:spcBef>
                <a:buChar char="–"/>
                <a:tabLst>
                  <a:tab pos="571500" algn="l"/>
                </a:tabLst>
                <a:defRPr sz="2400">
                  <a:solidFill>
                    <a:schemeClr val="tx1"/>
                  </a:solidFill>
                  <a:latin typeface="Arial" panose="020B0604020202020204" pitchFamily="34" charset="0"/>
                </a:defRPr>
              </a:lvl2pPr>
              <a:lvl3pPr marL="1143000" indent="-228600" defTabSz="346075">
                <a:spcBef>
                  <a:spcPct val="20000"/>
                </a:spcBef>
                <a:buChar char="•"/>
                <a:tabLst>
                  <a:tab pos="571500" algn="l"/>
                </a:tabLst>
                <a:defRPr sz="2000">
                  <a:solidFill>
                    <a:schemeClr val="tx1"/>
                  </a:solidFill>
                  <a:latin typeface="Arial" panose="020B0604020202020204" pitchFamily="34" charset="0"/>
                </a:defRPr>
              </a:lvl3pPr>
              <a:lvl4pPr marL="1600200" indent="-228600" defTabSz="346075">
                <a:spcBef>
                  <a:spcPct val="20000"/>
                </a:spcBef>
                <a:buChar char="–"/>
                <a:tabLst>
                  <a:tab pos="571500" algn="l"/>
                </a:tabLst>
                <a:defRPr sz="2000">
                  <a:solidFill>
                    <a:schemeClr val="tx1"/>
                  </a:solidFill>
                  <a:latin typeface="Arial" panose="020B0604020202020204" pitchFamily="34" charset="0"/>
                </a:defRPr>
              </a:lvl4pPr>
              <a:lvl5pPr marL="2057400" indent="-228600" defTabSz="346075">
                <a:spcBef>
                  <a:spcPct val="20000"/>
                </a:spcBef>
                <a:buChar char="»"/>
                <a:tabLst>
                  <a:tab pos="571500" algn="l"/>
                </a:tabLst>
                <a:defRPr sz="2000">
                  <a:solidFill>
                    <a:schemeClr val="tx1"/>
                  </a:solidFill>
                  <a:latin typeface="Arial" panose="020B0604020202020204" pitchFamily="34" charset="0"/>
                </a:defRPr>
              </a:lvl5pPr>
              <a:lvl6pPr marL="25146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6pPr>
              <a:lvl7pPr marL="29718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7pPr>
              <a:lvl8pPr marL="34290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8pPr>
              <a:lvl9pPr marL="38862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9pPr>
            </a:lstStyle>
            <a:p>
              <a:pPr lvl="1">
                <a:lnSpc>
                  <a:spcPct val="95000"/>
                </a:lnSpc>
                <a:spcBef>
                  <a:spcPct val="35000"/>
                </a:spcBef>
                <a:buClr>
                  <a:srgbClr val="FFCC66"/>
                </a:buClr>
                <a:buFontTx/>
                <a:buChar char="•"/>
              </a:pPr>
              <a:r>
                <a:rPr lang="en-US" altLang="en-US"/>
                <a:t>Multiple-column subquery</a:t>
              </a:r>
            </a:p>
          </p:txBody>
        </p:sp>
        <p:sp>
          <p:nvSpPr>
            <p:cNvPr id="296987" name="Rectangle 27">
              <a:extLst>
                <a:ext uri="{FF2B5EF4-FFF2-40B4-BE49-F238E27FC236}">
                  <a16:creationId xmlns:a16="http://schemas.microsoft.com/office/drawing/2014/main" id="{5B87C24F-6FA4-DA35-B409-55FE580A21DE}"/>
                </a:ext>
              </a:extLst>
            </p:cNvPr>
            <p:cNvSpPr>
              <a:spLocks noChangeArrowheads="1"/>
            </p:cNvSpPr>
            <p:nvPr/>
          </p:nvSpPr>
          <p:spPr bwMode="auto">
            <a:xfrm>
              <a:off x="3750" y="3480"/>
              <a:ext cx="1642" cy="518"/>
            </a:xfrm>
            <a:prstGeom prst="rect">
              <a:avLst/>
            </a:prstGeom>
            <a:noFill/>
            <a:ln>
              <a:noFill/>
            </a:ln>
            <a:effectLst/>
          </p:spPr>
          <p:txBody>
            <a:bodyPr wrap="none" lIns="92075" tIns="46038" rIns="92075" bIns="46038">
              <a:spAutoFit/>
            </a:bodyPr>
            <a:lstStyle/>
            <a:p>
              <a:pPr defTabSz="822325">
                <a:spcBef>
                  <a:spcPct val="50000"/>
                </a:spcBef>
                <a:defRPr/>
              </a:pPr>
              <a:r>
                <a:rPr lang="en-US" b="1">
                  <a:solidFill>
                    <a:schemeClr val="accent2"/>
                  </a:solidFill>
                  <a:effectLst>
                    <a:outerShdw blurRad="38100" dist="38100" dir="2700000" algn="tl">
                      <a:srgbClr val="000000"/>
                    </a:outerShdw>
                  </a:effectLst>
                </a:rPr>
                <a:t>CLERK        7900</a:t>
              </a:r>
              <a:br>
                <a:rPr lang="en-US" b="1">
                  <a:solidFill>
                    <a:schemeClr val="accent2"/>
                  </a:solidFill>
                  <a:effectLst>
                    <a:outerShdw blurRad="38100" dist="38100" dir="2700000" algn="tl">
                      <a:srgbClr val="000000"/>
                    </a:outerShdw>
                  </a:effectLst>
                </a:rPr>
              </a:br>
              <a:r>
                <a:rPr lang="en-US" b="1">
                  <a:solidFill>
                    <a:schemeClr val="accent2"/>
                  </a:solidFill>
                  <a:effectLst>
                    <a:outerShdw blurRad="38100" dist="38100" dir="2700000" algn="tl">
                      <a:srgbClr val="000000"/>
                    </a:outerShdw>
                  </a:effectLst>
                </a:rPr>
                <a:t>MANAGER  7698</a:t>
              </a:r>
            </a:p>
          </p:txBody>
        </p:sp>
        <p:grpSp>
          <p:nvGrpSpPr>
            <p:cNvPr id="20491" name="Group 28">
              <a:extLst>
                <a:ext uri="{FF2B5EF4-FFF2-40B4-BE49-F238E27FC236}">
                  <a16:creationId xmlns:a16="http://schemas.microsoft.com/office/drawing/2014/main" id="{4BCD952E-3095-A55E-2C89-85F98EE00430}"/>
                </a:ext>
              </a:extLst>
            </p:cNvPr>
            <p:cNvGrpSpPr>
              <a:grpSpLocks/>
            </p:cNvGrpSpPr>
            <p:nvPr/>
          </p:nvGrpSpPr>
          <p:grpSpPr bwMode="auto">
            <a:xfrm>
              <a:off x="1173" y="3146"/>
              <a:ext cx="2499" cy="654"/>
              <a:chOff x="1173" y="3146"/>
              <a:chExt cx="2499" cy="654"/>
            </a:xfrm>
          </p:grpSpPr>
          <p:sp>
            <p:nvSpPr>
              <p:cNvPr id="20492" name="Rectangle 29">
                <a:extLst>
                  <a:ext uri="{FF2B5EF4-FFF2-40B4-BE49-F238E27FC236}">
                    <a16:creationId xmlns:a16="http://schemas.microsoft.com/office/drawing/2014/main" id="{784D448F-2077-018C-203C-849BA3B989E5}"/>
                  </a:ext>
                </a:extLst>
              </p:cNvPr>
              <p:cNvSpPr>
                <a:spLocks noChangeArrowheads="1"/>
              </p:cNvSpPr>
              <p:nvPr/>
            </p:nvSpPr>
            <p:spPr bwMode="blackWhite">
              <a:xfrm>
                <a:off x="1188" y="3147"/>
                <a:ext cx="1231" cy="65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0493" name="Rectangle 30">
                <a:extLst>
                  <a:ext uri="{FF2B5EF4-FFF2-40B4-BE49-F238E27FC236}">
                    <a16:creationId xmlns:a16="http://schemas.microsoft.com/office/drawing/2014/main" id="{AC5EE442-7BED-CCF3-F28A-62D7C9756E62}"/>
                  </a:ext>
                </a:extLst>
              </p:cNvPr>
              <p:cNvSpPr>
                <a:spLocks noChangeArrowheads="1"/>
              </p:cNvSpPr>
              <p:nvPr/>
            </p:nvSpPr>
            <p:spPr bwMode="auto">
              <a:xfrm>
                <a:off x="1173" y="3146"/>
                <a:ext cx="8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rPr>
                  <a:t>Main query</a:t>
                </a:r>
              </a:p>
            </p:txBody>
          </p:sp>
          <p:sp>
            <p:nvSpPr>
              <p:cNvPr id="20494" name="Rectangle 31">
                <a:extLst>
                  <a:ext uri="{FF2B5EF4-FFF2-40B4-BE49-F238E27FC236}">
                    <a16:creationId xmlns:a16="http://schemas.microsoft.com/office/drawing/2014/main" id="{318C7C14-766A-5997-981A-DF71045652EB}"/>
                  </a:ext>
                </a:extLst>
              </p:cNvPr>
              <p:cNvSpPr>
                <a:spLocks noChangeArrowheads="1"/>
              </p:cNvSpPr>
              <p:nvPr/>
            </p:nvSpPr>
            <p:spPr bwMode="ltGray">
              <a:xfrm>
                <a:off x="1446" y="3444"/>
                <a:ext cx="967" cy="347"/>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0495" name="Rectangle 32">
                <a:extLst>
                  <a:ext uri="{FF2B5EF4-FFF2-40B4-BE49-F238E27FC236}">
                    <a16:creationId xmlns:a16="http://schemas.microsoft.com/office/drawing/2014/main" id="{DE73F397-EE9B-407C-5E91-33456E5E494E}"/>
                  </a:ext>
                </a:extLst>
              </p:cNvPr>
              <p:cNvSpPr>
                <a:spLocks noChangeArrowheads="1"/>
              </p:cNvSpPr>
              <p:nvPr/>
            </p:nvSpPr>
            <p:spPr bwMode="auto">
              <a:xfrm>
                <a:off x="1539" y="3513"/>
                <a:ext cx="7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rPr>
                  <a:t>Subquery</a:t>
                </a:r>
              </a:p>
            </p:txBody>
          </p:sp>
          <p:sp>
            <p:nvSpPr>
              <p:cNvPr id="296993" name="Rectangle 33">
                <a:extLst>
                  <a:ext uri="{FF2B5EF4-FFF2-40B4-BE49-F238E27FC236}">
                    <a16:creationId xmlns:a16="http://schemas.microsoft.com/office/drawing/2014/main" id="{FA42601B-6827-95B3-33A2-64497460FD19}"/>
                  </a:ext>
                </a:extLst>
              </p:cNvPr>
              <p:cNvSpPr>
                <a:spLocks noChangeArrowheads="1"/>
              </p:cNvSpPr>
              <p:nvPr/>
            </p:nvSpPr>
            <p:spPr bwMode="auto">
              <a:xfrm>
                <a:off x="3376" y="3462"/>
                <a:ext cx="178" cy="327"/>
              </a:xfrm>
              <a:prstGeom prst="rect">
                <a:avLst/>
              </a:prstGeom>
              <a:noFill/>
              <a:ln>
                <a:noFill/>
              </a:ln>
              <a:effectLst/>
            </p:spPr>
            <p:txBody>
              <a:bodyPr wrap="none" lIns="92075" tIns="46038" rIns="92075" bIns="46038">
                <a:spAutoFit/>
              </a:bodyPr>
              <a:lstStyle/>
              <a:p>
                <a:pPr defTabSz="822325">
                  <a:spcBef>
                    <a:spcPct val="50000"/>
                  </a:spcBef>
                  <a:defRPr/>
                </a:pPr>
                <a:r>
                  <a:rPr lang="en-US" sz="2800" b="1">
                    <a:solidFill>
                      <a:srgbClr val="D3EAF8"/>
                    </a:solidFill>
                    <a:effectLst>
                      <a:outerShdw blurRad="38100" dist="38100" dir="2700000" algn="tl">
                        <a:srgbClr val="000000"/>
                      </a:outerShdw>
                    </a:effectLst>
                  </a:rPr>
                  <a:t> </a:t>
                </a:r>
              </a:p>
            </p:txBody>
          </p:sp>
          <p:sp>
            <p:nvSpPr>
              <p:cNvPr id="20497" name="Line 34">
                <a:extLst>
                  <a:ext uri="{FF2B5EF4-FFF2-40B4-BE49-F238E27FC236}">
                    <a16:creationId xmlns:a16="http://schemas.microsoft.com/office/drawing/2014/main" id="{520500D6-3E83-35B5-D72E-603CBC19D6DE}"/>
                  </a:ext>
                </a:extLst>
              </p:cNvPr>
              <p:cNvSpPr>
                <a:spLocks noChangeShapeType="1"/>
              </p:cNvSpPr>
              <p:nvPr/>
            </p:nvSpPr>
            <p:spPr bwMode="auto">
              <a:xfrm>
                <a:off x="2324" y="3623"/>
                <a:ext cx="1348" cy="0"/>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296995" name="Rectangle 35">
                <a:extLst>
                  <a:ext uri="{FF2B5EF4-FFF2-40B4-BE49-F238E27FC236}">
                    <a16:creationId xmlns:a16="http://schemas.microsoft.com/office/drawing/2014/main" id="{39C86C6F-90F8-6AA3-FC55-43DB9DC15C3F}"/>
                  </a:ext>
                </a:extLst>
              </p:cNvPr>
              <p:cNvSpPr>
                <a:spLocks noChangeArrowheads="1"/>
              </p:cNvSpPr>
              <p:nvPr/>
            </p:nvSpPr>
            <p:spPr bwMode="auto">
              <a:xfrm>
                <a:off x="2652" y="3377"/>
                <a:ext cx="612" cy="231"/>
              </a:xfrm>
              <a:prstGeom prst="rect">
                <a:avLst/>
              </a:prstGeom>
              <a:noFill/>
              <a:ln>
                <a:noFill/>
              </a:ln>
              <a:effectLst/>
            </p:spPr>
            <p:txBody>
              <a:bodyPr wrap="none" lIns="92075" tIns="46038" rIns="92075" bIns="46038">
                <a:spAutoFit/>
              </a:bodyPr>
              <a:lstStyle/>
              <a:p>
                <a:pPr defTabSz="822325">
                  <a:spcBef>
                    <a:spcPct val="50000"/>
                  </a:spcBef>
                  <a:defRPr/>
                </a:pPr>
                <a:r>
                  <a:rPr lang="en-US" sz="1800" b="1">
                    <a:effectLst>
                      <a:outerShdw blurRad="38100" dist="38100" dir="2700000" algn="tl">
                        <a:srgbClr val="FFFFFF"/>
                      </a:outerShdw>
                    </a:effectLst>
                  </a:rPr>
                  <a:t>returns</a:t>
                </a:r>
              </a:p>
            </p:txBody>
          </p:sp>
        </p:gr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96973"/>
                                        </p:tgtEl>
                                        <p:attrNameLst>
                                          <p:attrName>style.visibility</p:attrName>
                                        </p:attrNameLst>
                                      </p:cBhvr>
                                      <p:to>
                                        <p:strVal val="visible"/>
                                      </p:to>
                                    </p:set>
                                    <p:animEffect transition="in" filter="wipe(left)">
                                      <p:cBhvr>
                                        <p:cTn id="7" dur="500"/>
                                        <p:tgtEl>
                                          <p:spTgt spid="2969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96984"/>
                                        </p:tgtEl>
                                        <p:attrNameLst>
                                          <p:attrName>style.visibility</p:attrName>
                                        </p:attrNameLst>
                                      </p:cBhvr>
                                      <p:to>
                                        <p:strVal val="visible"/>
                                      </p:to>
                                    </p:set>
                                    <p:animEffect transition="in" filter="wipe(left)">
                                      <p:cBhvr>
                                        <p:cTn id="12" dur="500"/>
                                        <p:tgtEl>
                                          <p:spTgt spid="2969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E73F685C-DBE7-3ED8-88D4-3F80740A6113}"/>
              </a:ext>
            </a:extLst>
          </p:cNvPr>
          <p:cNvSpPr>
            <a:spLocks noGrp="1" noChangeArrowheads="1"/>
          </p:cNvSpPr>
          <p:nvPr>
            <p:ph type="title"/>
          </p:nvPr>
        </p:nvSpPr>
        <p:spPr>
          <a:xfrm>
            <a:off x="323850" y="620713"/>
            <a:ext cx="5362575"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Guidelines for Using Subqueries</a:t>
            </a:r>
          </a:p>
        </p:txBody>
      </p:sp>
      <p:sp>
        <p:nvSpPr>
          <p:cNvPr id="22531" name="Rectangle 3">
            <a:extLst>
              <a:ext uri="{FF2B5EF4-FFF2-40B4-BE49-F238E27FC236}">
                <a16:creationId xmlns:a16="http://schemas.microsoft.com/office/drawing/2014/main" id="{045A7304-DC19-1549-EED4-DA407DCF0B4A}"/>
              </a:ext>
            </a:extLst>
          </p:cNvPr>
          <p:cNvSpPr>
            <a:spLocks noGrp="1" noChangeArrowheads="1"/>
          </p:cNvSpPr>
          <p:nvPr>
            <p:ph type="body" idx="1"/>
          </p:nvPr>
        </p:nvSpPr>
        <p:spPr>
          <a:xfrm>
            <a:off x="395288" y="1341438"/>
            <a:ext cx="8208962" cy="4314825"/>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pPr algn="just"/>
            <a:r>
              <a:rPr lang="en-US" altLang="en-US"/>
              <a:t>Enclose subqueries in parentheses. </a:t>
            </a:r>
          </a:p>
          <a:p>
            <a:pPr algn="just"/>
            <a:r>
              <a:rPr lang="en-US" altLang="en-US"/>
              <a:t>Place subqueries on the right side of the comparison operator.</a:t>
            </a:r>
          </a:p>
          <a:p>
            <a:pPr algn="just"/>
            <a:r>
              <a:rPr lang="en-US" altLang="en-US"/>
              <a:t>ORDER BY clause is mostly not required in  a subquery.</a:t>
            </a:r>
          </a:p>
          <a:p>
            <a:pPr algn="just"/>
            <a:r>
              <a:rPr lang="en-US" altLang="en-US"/>
              <a:t>Use </a:t>
            </a:r>
            <a:r>
              <a:rPr lang="en-US" altLang="en-US">
                <a:solidFill>
                  <a:srgbClr val="FF0000"/>
                </a:solidFill>
              </a:rPr>
              <a:t>single-row operators</a:t>
            </a:r>
            <a:r>
              <a:rPr lang="en-US" altLang="en-US"/>
              <a:t> with</a:t>
            </a:r>
            <a:r>
              <a:rPr lang="en-US" altLang="en-US">
                <a:solidFill>
                  <a:srgbClr val="FF0000"/>
                </a:solidFill>
              </a:rPr>
              <a:t> single-row subqueries.</a:t>
            </a:r>
          </a:p>
          <a:p>
            <a:pPr algn="just"/>
            <a:r>
              <a:rPr lang="en-US" altLang="en-US"/>
              <a:t>Use </a:t>
            </a:r>
            <a:r>
              <a:rPr lang="en-US" altLang="en-US">
                <a:solidFill>
                  <a:srgbClr val="FF0000"/>
                </a:solidFill>
              </a:rPr>
              <a:t>multiple-row operators (IN,ANY,ALL)</a:t>
            </a:r>
            <a:r>
              <a:rPr lang="en-US" altLang="en-US"/>
              <a:t> with </a:t>
            </a:r>
            <a:r>
              <a:rPr lang="en-US" altLang="en-US">
                <a:solidFill>
                  <a:srgbClr val="FF0000"/>
                </a:solidFill>
              </a:rPr>
              <a:t>multiple-row subqueries.</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A621EF48-E7EA-CAA2-2414-6F5C7E70E541}"/>
              </a:ext>
            </a:extLst>
          </p:cNvPr>
          <p:cNvSpPr>
            <a:spLocks noGrp="1" noChangeArrowheads="1"/>
          </p:cNvSpPr>
          <p:nvPr>
            <p:ph type="title"/>
          </p:nvPr>
        </p:nvSpPr>
        <p:spPr>
          <a:xfrm>
            <a:off x="323850" y="660400"/>
            <a:ext cx="3994150"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Single-Row Subqueries</a:t>
            </a:r>
          </a:p>
        </p:txBody>
      </p:sp>
      <p:sp>
        <p:nvSpPr>
          <p:cNvPr id="24579" name="Rectangle 3">
            <a:extLst>
              <a:ext uri="{FF2B5EF4-FFF2-40B4-BE49-F238E27FC236}">
                <a16:creationId xmlns:a16="http://schemas.microsoft.com/office/drawing/2014/main" id="{D68FFBD4-9F6F-9625-96D3-4DEE26E2B641}"/>
              </a:ext>
            </a:extLst>
          </p:cNvPr>
          <p:cNvSpPr>
            <a:spLocks noGrp="1" noChangeArrowheads="1"/>
          </p:cNvSpPr>
          <p:nvPr>
            <p:ph type="body" idx="1"/>
          </p:nvPr>
        </p:nvSpPr>
        <p:spPr>
          <a:xfrm>
            <a:off x="825500" y="1293813"/>
            <a:ext cx="7385050" cy="895350"/>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pPr lvl="1"/>
            <a:r>
              <a:rPr lang="en-US" altLang="en-US"/>
              <a:t>Return only one row</a:t>
            </a:r>
          </a:p>
          <a:p>
            <a:pPr lvl="1"/>
            <a:r>
              <a:rPr lang="en-US" altLang="en-US"/>
              <a:t>Use single-row comparison operators</a:t>
            </a:r>
          </a:p>
        </p:txBody>
      </p:sp>
      <p:sp>
        <p:nvSpPr>
          <p:cNvPr id="24580" name="Rectangle 4">
            <a:extLst>
              <a:ext uri="{FF2B5EF4-FFF2-40B4-BE49-F238E27FC236}">
                <a16:creationId xmlns:a16="http://schemas.microsoft.com/office/drawing/2014/main" id="{397514A6-F5EB-3C4F-AB02-B321503E4F6A}"/>
              </a:ext>
            </a:extLst>
          </p:cNvPr>
          <p:cNvSpPr>
            <a:spLocks noChangeArrowheads="1"/>
          </p:cNvSpPr>
          <p:nvPr/>
        </p:nvSpPr>
        <p:spPr bwMode="auto">
          <a:xfrm>
            <a:off x="2441575" y="2554288"/>
            <a:ext cx="1293813" cy="3419475"/>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0000"/>
              </a:lnSpc>
              <a:spcBef>
                <a:spcPct val="60000"/>
              </a:spcBef>
              <a:buFontTx/>
              <a:buNone/>
            </a:pPr>
            <a:r>
              <a:rPr lang="en-US" altLang="en-US" sz="1800" b="1">
                <a:solidFill>
                  <a:srgbClr val="000000"/>
                </a:solidFill>
              </a:rPr>
              <a:t>Operator</a:t>
            </a:r>
          </a:p>
          <a:p>
            <a:pPr algn="ctr">
              <a:lnSpc>
                <a:spcPct val="120000"/>
              </a:lnSpc>
              <a:spcBef>
                <a:spcPct val="60000"/>
              </a:spcBef>
              <a:buFontTx/>
              <a:buNone/>
            </a:pPr>
            <a:r>
              <a:rPr lang="en-US" altLang="en-US" sz="1800" b="1">
                <a:solidFill>
                  <a:srgbClr val="000000"/>
                </a:solidFill>
              </a:rPr>
              <a:t>=</a:t>
            </a:r>
          </a:p>
          <a:p>
            <a:pPr algn="ctr">
              <a:lnSpc>
                <a:spcPct val="120000"/>
              </a:lnSpc>
              <a:spcBef>
                <a:spcPct val="60000"/>
              </a:spcBef>
              <a:buFontTx/>
              <a:buNone/>
            </a:pPr>
            <a:r>
              <a:rPr lang="en-US" altLang="en-US" sz="1800" b="1">
                <a:solidFill>
                  <a:srgbClr val="000000"/>
                </a:solidFill>
              </a:rPr>
              <a:t>&gt;</a:t>
            </a:r>
          </a:p>
          <a:p>
            <a:pPr algn="ctr">
              <a:lnSpc>
                <a:spcPct val="120000"/>
              </a:lnSpc>
              <a:spcBef>
                <a:spcPct val="60000"/>
              </a:spcBef>
              <a:buFontTx/>
              <a:buNone/>
            </a:pPr>
            <a:r>
              <a:rPr lang="en-US" altLang="en-US" sz="1800" b="1">
                <a:solidFill>
                  <a:srgbClr val="000000"/>
                </a:solidFill>
              </a:rPr>
              <a:t>      &gt;=	</a:t>
            </a:r>
          </a:p>
          <a:p>
            <a:pPr algn="ctr">
              <a:lnSpc>
                <a:spcPct val="120000"/>
              </a:lnSpc>
              <a:spcBef>
                <a:spcPct val="60000"/>
              </a:spcBef>
              <a:buFontTx/>
              <a:buNone/>
            </a:pPr>
            <a:r>
              <a:rPr lang="en-US" altLang="en-US" sz="1800" b="1">
                <a:solidFill>
                  <a:srgbClr val="000000"/>
                </a:solidFill>
              </a:rPr>
              <a:t>&lt;</a:t>
            </a:r>
          </a:p>
          <a:p>
            <a:pPr algn="ctr">
              <a:lnSpc>
                <a:spcPct val="120000"/>
              </a:lnSpc>
              <a:spcBef>
                <a:spcPct val="60000"/>
              </a:spcBef>
              <a:buFontTx/>
              <a:buNone/>
            </a:pPr>
            <a:r>
              <a:rPr lang="en-US" altLang="en-US" sz="1800" b="1">
                <a:solidFill>
                  <a:srgbClr val="000000"/>
                </a:solidFill>
              </a:rPr>
              <a:t>      &lt;=	</a:t>
            </a:r>
          </a:p>
          <a:p>
            <a:pPr algn="ctr">
              <a:lnSpc>
                <a:spcPct val="120000"/>
              </a:lnSpc>
              <a:spcBef>
                <a:spcPct val="60000"/>
              </a:spcBef>
              <a:buFontTx/>
              <a:buNone/>
            </a:pPr>
            <a:r>
              <a:rPr lang="en-US" altLang="en-US" sz="1800" b="1">
                <a:solidFill>
                  <a:srgbClr val="000000"/>
                </a:solidFill>
              </a:rPr>
              <a:t>&lt;&gt;</a:t>
            </a:r>
          </a:p>
        </p:txBody>
      </p:sp>
      <p:sp>
        <p:nvSpPr>
          <p:cNvPr id="24581" name="Rectangle 5">
            <a:extLst>
              <a:ext uri="{FF2B5EF4-FFF2-40B4-BE49-F238E27FC236}">
                <a16:creationId xmlns:a16="http://schemas.microsoft.com/office/drawing/2014/main" id="{F55420CB-A666-E499-1085-DF328C1ED31C}"/>
              </a:ext>
            </a:extLst>
          </p:cNvPr>
          <p:cNvSpPr>
            <a:spLocks noChangeArrowheads="1"/>
          </p:cNvSpPr>
          <p:nvPr/>
        </p:nvSpPr>
        <p:spPr bwMode="auto">
          <a:xfrm>
            <a:off x="3727450" y="2554288"/>
            <a:ext cx="3178175" cy="3419475"/>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0000"/>
              </a:lnSpc>
              <a:spcBef>
                <a:spcPct val="60000"/>
              </a:spcBef>
              <a:buFontTx/>
              <a:buNone/>
            </a:pPr>
            <a:r>
              <a:rPr lang="en-US" altLang="en-US" sz="1800" b="1">
                <a:solidFill>
                  <a:srgbClr val="000000"/>
                </a:solidFill>
              </a:rPr>
              <a:t>Meaning</a:t>
            </a:r>
          </a:p>
          <a:p>
            <a:pPr>
              <a:lnSpc>
                <a:spcPct val="120000"/>
              </a:lnSpc>
              <a:spcBef>
                <a:spcPct val="60000"/>
              </a:spcBef>
              <a:buFontTx/>
              <a:buNone/>
            </a:pPr>
            <a:r>
              <a:rPr lang="en-US" altLang="en-US" sz="1800" b="1">
                <a:solidFill>
                  <a:srgbClr val="000000"/>
                </a:solidFill>
              </a:rPr>
              <a:t>Equal to</a:t>
            </a:r>
          </a:p>
          <a:p>
            <a:pPr>
              <a:lnSpc>
                <a:spcPct val="120000"/>
              </a:lnSpc>
              <a:spcBef>
                <a:spcPct val="60000"/>
              </a:spcBef>
              <a:buFontTx/>
              <a:buNone/>
            </a:pPr>
            <a:r>
              <a:rPr lang="en-US" altLang="en-US" sz="1800" b="1">
                <a:solidFill>
                  <a:srgbClr val="000000"/>
                </a:solidFill>
              </a:rPr>
              <a:t>Greater than </a:t>
            </a:r>
          </a:p>
          <a:p>
            <a:pPr>
              <a:lnSpc>
                <a:spcPct val="120000"/>
              </a:lnSpc>
              <a:spcBef>
                <a:spcPct val="60000"/>
              </a:spcBef>
              <a:buFontTx/>
              <a:buNone/>
            </a:pPr>
            <a:r>
              <a:rPr lang="en-US" altLang="en-US" sz="1800" b="1">
                <a:solidFill>
                  <a:srgbClr val="000000"/>
                </a:solidFill>
              </a:rPr>
              <a:t>Greater than or equal to </a:t>
            </a:r>
          </a:p>
          <a:p>
            <a:pPr>
              <a:lnSpc>
                <a:spcPct val="120000"/>
              </a:lnSpc>
              <a:spcBef>
                <a:spcPct val="60000"/>
              </a:spcBef>
              <a:buFontTx/>
              <a:buNone/>
            </a:pPr>
            <a:r>
              <a:rPr lang="en-US" altLang="en-US" sz="1800" b="1">
                <a:solidFill>
                  <a:srgbClr val="000000"/>
                </a:solidFill>
              </a:rPr>
              <a:t>Less than </a:t>
            </a:r>
          </a:p>
          <a:p>
            <a:pPr>
              <a:lnSpc>
                <a:spcPct val="120000"/>
              </a:lnSpc>
              <a:spcBef>
                <a:spcPct val="60000"/>
              </a:spcBef>
              <a:buFontTx/>
              <a:buNone/>
            </a:pPr>
            <a:r>
              <a:rPr lang="en-US" altLang="en-US" sz="1800" b="1">
                <a:solidFill>
                  <a:srgbClr val="000000"/>
                </a:solidFill>
              </a:rPr>
              <a:t>Less than or equal to</a:t>
            </a:r>
          </a:p>
          <a:p>
            <a:pPr>
              <a:lnSpc>
                <a:spcPct val="120000"/>
              </a:lnSpc>
              <a:spcBef>
                <a:spcPct val="60000"/>
              </a:spcBef>
              <a:buFontTx/>
              <a:buNone/>
            </a:pPr>
            <a:r>
              <a:rPr lang="en-US" altLang="en-US" sz="1800" b="1">
                <a:solidFill>
                  <a:srgbClr val="000000"/>
                </a:solidFill>
              </a:rPr>
              <a:t>Not equal to</a:t>
            </a:r>
          </a:p>
        </p:txBody>
      </p:sp>
      <p:sp>
        <p:nvSpPr>
          <p:cNvPr id="24582" name="Line 6">
            <a:extLst>
              <a:ext uri="{FF2B5EF4-FFF2-40B4-BE49-F238E27FC236}">
                <a16:creationId xmlns:a16="http://schemas.microsoft.com/office/drawing/2014/main" id="{176EEC88-9E61-D7AE-E60D-349F4D1F3705}"/>
              </a:ext>
            </a:extLst>
          </p:cNvPr>
          <p:cNvSpPr>
            <a:spLocks noChangeShapeType="1"/>
          </p:cNvSpPr>
          <p:nvPr/>
        </p:nvSpPr>
        <p:spPr bwMode="auto">
          <a:xfrm flipV="1">
            <a:off x="2439988" y="2971800"/>
            <a:ext cx="4475162" cy="1588"/>
          </a:xfrm>
          <a:prstGeom prst="line">
            <a:avLst/>
          </a:prstGeom>
          <a:noFill/>
          <a:ln w="508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3" name="Line 7">
            <a:extLst>
              <a:ext uri="{FF2B5EF4-FFF2-40B4-BE49-F238E27FC236}">
                <a16:creationId xmlns:a16="http://schemas.microsoft.com/office/drawing/2014/main" id="{9D3312F9-34D7-1023-39E0-878164E6E06B}"/>
              </a:ext>
            </a:extLst>
          </p:cNvPr>
          <p:cNvSpPr>
            <a:spLocks noChangeShapeType="1"/>
          </p:cNvSpPr>
          <p:nvPr/>
        </p:nvSpPr>
        <p:spPr bwMode="auto">
          <a:xfrm>
            <a:off x="2454275" y="3968750"/>
            <a:ext cx="4448175"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4" name="Line 8">
            <a:extLst>
              <a:ext uri="{FF2B5EF4-FFF2-40B4-BE49-F238E27FC236}">
                <a16:creationId xmlns:a16="http://schemas.microsoft.com/office/drawing/2014/main" id="{A7C5C0D0-BE67-D46A-ACC7-95278A801796}"/>
              </a:ext>
            </a:extLst>
          </p:cNvPr>
          <p:cNvSpPr>
            <a:spLocks noChangeShapeType="1"/>
          </p:cNvSpPr>
          <p:nvPr/>
        </p:nvSpPr>
        <p:spPr bwMode="auto">
          <a:xfrm>
            <a:off x="2439988" y="3463925"/>
            <a:ext cx="4462462"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5" name="Line 9">
            <a:extLst>
              <a:ext uri="{FF2B5EF4-FFF2-40B4-BE49-F238E27FC236}">
                <a16:creationId xmlns:a16="http://schemas.microsoft.com/office/drawing/2014/main" id="{27E85B40-DEC3-6010-D197-C3812F4B0B25}"/>
              </a:ext>
            </a:extLst>
          </p:cNvPr>
          <p:cNvSpPr>
            <a:spLocks noChangeShapeType="1"/>
          </p:cNvSpPr>
          <p:nvPr/>
        </p:nvSpPr>
        <p:spPr bwMode="auto">
          <a:xfrm>
            <a:off x="2454275" y="4506913"/>
            <a:ext cx="4448175"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6" name="Line 10">
            <a:extLst>
              <a:ext uri="{FF2B5EF4-FFF2-40B4-BE49-F238E27FC236}">
                <a16:creationId xmlns:a16="http://schemas.microsoft.com/office/drawing/2014/main" id="{D064F38B-E730-6360-5C4D-6CB0F428C372}"/>
              </a:ext>
            </a:extLst>
          </p:cNvPr>
          <p:cNvSpPr>
            <a:spLocks noChangeShapeType="1"/>
          </p:cNvSpPr>
          <p:nvPr/>
        </p:nvSpPr>
        <p:spPr bwMode="auto">
          <a:xfrm>
            <a:off x="2425700" y="5019675"/>
            <a:ext cx="44831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7" name="Line 11">
            <a:extLst>
              <a:ext uri="{FF2B5EF4-FFF2-40B4-BE49-F238E27FC236}">
                <a16:creationId xmlns:a16="http://schemas.microsoft.com/office/drawing/2014/main" id="{9E319567-C422-43E1-1B69-48D72EEB9FD0}"/>
              </a:ext>
            </a:extLst>
          </p:cNvPr>
          <p:cNvSpPr>
            <a:spLocks noChangeShapeType="1"/>
          </p:cNvSpPr>
          <p:nvPr/>
        </p:nvSpPr>
        <p:spPr bwMode="auto">
          <a:xfrm>
            <a:off x="2444750" y="5534025"/>
            <a:ext cx="44704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B82FD2D2-1A77-6BAD-7C22-4DEAE10B2924}"/>
              </a:ext>
            </a:extLst>
          </p:cNvPr>
          <p:cNvSpPr>
            <a:spLocks noChangeArrowheads="1"/>
          </p:cNvSpPr>
          <p:nvPr/>
        </p:nvSpPr>
        <p:spPr bwMode="blackWhite">
          <a:xfrm>
            <a:off x="939800" y="1473200"/>
            <a:ext cx="7480300" cy="28384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857500" algn="l"/>
                <a:tab pos="4572000" algn="l"/>
              </a:tabLst>
              <a:defRPr sz="2800">
                <a:solidFill>
                  <a:schemeClr val="tx1"/>
                </a:solidFill>
                <a:latin typeface="Arial" panose="020B0604020202020204" pitchFamily="34" charset="0"/>
              </a:defRPr>
            </a:lvl1pPr>
            <a:lvl2pPr marL="742950" indent="-285750">
              <a:spcBef>
                <a:spcPct val="20000"/>
              </a:spcBef>
              <a:buChar char="–"/>
              <a:tabLst>
                <a:tab pos="1200150" algn="l"/>
                <a:tab pos="2857500" algn="l"/>
                <a:tab pos="4572000" algn="l"/>
              </a:tabLst>
              <a:defRPr sz="2400">
                <a:solidFill>
                  <a:schemeClr val="tx1"/>
                </a:solidFill>
                <a:latin typeface="Arial" panose="020B0604020202020204" pitchFamily="34" charset="0"/>
              </a:defRPr>
            </a:lvl2pPr>
            <a:lvl3pPr marL="1143000" indent="-228600">
              <a:spcBef>
                <a:spcPct val="20000"/>
              </a:spcBef>
              <a:buChar char="•"/>
              <a:tabLst>
                <a:tab pos="1200150" algn="l"/>
                <a:tab pos="2857500" algn="l"/>
                <a:tab pos="4572000" algn="l"/>
              </a:tabLst>
              <a:defRPr sz="2000">
                <a:solidFill>
                  <a:schemeClr val="tx1"/>
                </a:solidFill>
                <a:latin typeface="Arial" panose="020B0604020202020204" pitchFamily="34" charset="0"/>
              </a:defRPr>
            </a:lvl3pPr>
            <a:lvl4pPr marL="1600200" indent="-228600">
              <a:spcBef>
                <a:spcPct val="20000"/>
              </a:spcBef>
              <a:buChar char="–"/>
              <a:tabLst>
                <a:tab pos="1200150" algn="l"/>
                <a:tab pos="2857500" algn="l"/>
                <a:tab pos="4572000" algn="l"/>
              </a:tabLst>
              <a:defRPr sz="2000">
                <a:solidFill>
                  <a:schemeClr val="tx1"/>
                </a:solidFill>
                <a:latin typeface="Arial" panose="020B0604020202020204" pitchFamily="34" charset="0"/>
              </a:defRPr>
            </a:lvl4pPr>
            <a:lvl5pPr marL="2057400" indent="-228600">
              <a:spcBef>
                <a:spcPct val="20000"/>
              </a:spcBef>
              <a:buChar char="»"/>
              <a:tabLst>
                <a:tab pos="1200150" algn="l"/>
                <a:tab pos="2857500" algn="l"/>
                <a:tab pos="45720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857500" algn="l"/>
                <a:tab pos="45720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857500" algn="l"/>
                <a:tab pos="45720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857500" algn="l"/>
                <a:tab pos="45720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857500" algn="l"/>
                <a:tab pos="45720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 </a:t>
            </a:r>
          </a:p>
        </p:txBody>
      </p:sp>
      <p:sp>
        <p:nvSpPr>
          <p:cNvPr id="26627" name="Rectangle 3">
            <a:extLst>
              <a:ext uri="{FF2B5EF4-FFF2-40B4-BE49-F238E27FC236}">
                <a16:creationId xmlns:a16="http://schemas.microsoft.com/office/drawing/2014/main" id="{62BEE631-6682-A518-2636-C7771DCFE4BB}"/>
              </a:ext>
            </a:extLst>
          </p:cNvPr>
          <p:cNvSpPr>
            <a:spLocks noGrp="1" noChangeArrowheads="1"/>
          </p:cNvSpPr>
          <p:nvPr>
            <p:ph type="title"/>
          </p:nvPr>
        </p:nvSpPr>
        <p:spPr>
          <a:xfrm>
            <a:off x="323850" y="603250"/>
            <a:ext cx="5616575" cy="522288"/>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Executing Single-Row Subqueries</a:t>
            </a:r>
          </a:p>
        </p:txBody>
      </p:sp>
      <p:grpSp>
        <p:nvGrpSpPr>
          <p:cNvPr id="301060" name="Group 4">
            <a:extLst>
              <a:ext uri="{FF2B5EF4-FFF2-40B4-BE49-F238E27FC236}">
                <a16:creationId xmlns:a16="http://schemas.microsoft.com/office/drawing/2014/main" id="{CE39AFC3-F58F-4D2D-51C9-A087385EE603}"/>
              </a:ext>
            </a:extLst>
          </p:cNvPr>
          <p:cNvGrpSpPr>
            <a:grpSpLocks/>
          </p:cNvGrpSpPr>
          <p:nvPr/>
        </p:nvGrpSpPr>
        <p:grpSpPr bwMode="auto">
          <a:xfrm>
            <a:off x="3754438" y="1993900"/>
            <a:ext cx="4335462" cy="1189038"/>
            <a:chOff x="2365" y="1256"/>
            <a:chExt cx="2731" cy="749"/>
          </a:xfrm>
        </p:grpSpPr>
        <p:sp>
          <p:nvSpPr>
            <p:cNvPr id="26635" name="Rectangle 5">
              <a:extLst>
                <a:ext uri="{FF2B5EF4-FFF2-40B4-BE49-F238E27FC236}">
                  <a16:creationId xmlns:a16="http://schemas.microsoft.com/office/drawing/2014/main" id="{AB66B959-D84B-4DF7-7EB4-8B968BEDF84A}"/>
                </a:ext>
              </a:extLst>
            </p:cNvPr>
            <p:cNvSpPr>
              <a:spLocks noChangeArrowheads="1"/>
            </p:cNvSpPr>
            <p:nvPr/>
          </p:nvSpPr>
          <p:spPr bwMode="ltGray">
            <a:xfrm>
              <a:off x="2365" y="1473"/>
              <a:ext cx="273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6636" name="Arc 6">
              <a:extLst>
                <a:ext uri="{FF2B5EF4-FFF2-40B4-BE49-F238E27FC236}">
                  <a16:creationId xmlns:a16="http://schemas.microsoft.com/office/drawing/2014/main" id="{29275364-C77A-8C8E-41E6-87312ACB4C5B}"/>
                </a:ext>
              </a:extLst>
            </p:cNvPr>
            <p:cNvSpPr>
              <a:spLocks/>
            </p:cNvSpPr>
            <p:nvPr/>
          </p:nvSpPr>
          <p:spPr bwMode="auto">
            <a:xfrm rot="10800000">
              <a:off x="2629" y="1338"/>
              <a:ext cx="1777" cy="383"/>
            </a:xfrm>
            <a:custGeom>
              <a:avLst/>
              <a:gdLst>
                <a:gd name="T0" fmla="*/ 0 w 27031"/>
                <a:gd name="T1" fmla="*/ 0 h 24187"/>
                <a:gd name="T2" fmla="*/ 0 w 27031"/>
                <a:gd name="T3" fmla="*/ 0 h 24187"/>
                <a:gd name="T4" fmla="*/ 0 w 27031"/>
                <a:gd name="T5" fmla="*/ 0 h 24187"/>
                <a:gd name="T6" fmla="*/ 0 60000 65536"/>
                <a:gd name="T7" fmla="*/ 0 60000 65536"/>
                <a:gd name="T8" fmla="*/ 0 60000 65536"/>
              </a:gdLst>
              <a:ahLst/>
              <a:cxnLst>
                <a:cxn ang="T6">
                  <a:pos x="T0" y="T1"/>
                </a:cxn>
                <a:cxn ang="T7">
                  <a:pos x="T2" y="T3"/>
                </a:cxn>
                <a:cxn ang="T8">
                  <a:pos x="T4" y="T5"/>
                </a:cxn>
              </a:cxnLst>
              <a:rect l="0" t="0" r="r" b="b"/>
              <a:pathLst>
                <a:path w="27031" h="24187" fill="none" extrusionOk="0">
                  <a:moveTo>
                    <a:pt x="27031" y="23493"/>
                  </a:moveTo>
                  <a:cubicBezTo>
                    <a:pt x="25257" y="23953"/>
                    <a:pt x="23432" y="24186"/>
                    <a:pt x="21600" y="24187"/>
                  </a:cubicBezTo>
                  <a:cubicBezTo>
                    <a:pt x="9670" y="24187"/>
                    <a:pt x="0" y="14516"/>
                    <a:pt x="0" y="2587"/>
                  </a:cubicBezTo>
                  <a:cubicBezTo>
                    <a:pt x="-1" y="1722"/>
                    <a:pt x="51" y="858"/>
                    <a:pt x="155" y="-1"/>
                  </a:cubicBezTo>
                </a:path>
                <a:path w="27031" h="24187" stroke="0" extrusionOk="0">
                  <a:moveTo>
                    <a:pt x="27031" y="23493"/>
                  </a:moveTo>
                  <a:cubicBezTo>
                    <a:pt x="25257" y="23953"/>
                    <a:pt x="23432" y="24186"/>
                    <a:pt x="21600" y="24187"/>
                  </a:cubicBezTo>
                  <a:cubicBezTo>
                    <a:pt x="9670" y="24187"/>
                    <a:pt x="0" y="14516"/>
                    <a:pt x="0" y="2587"/>
                  </a:cubicBezTo>
                  <a:cubicBezTo>
                    <a:pt x="-1" y="1722"/>
                    <a:pt x="51" y="858"/>
                    <a:pt x="155" y="-1"/>
                  </a:cubicBezTo>
                  <a:lnTo>
                    <a:pt x="21600" y="2587"/>
                  </a:lnTo>
                  <a:lnTo>
                    <a:pt x="27031" y="23493"/>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6637" name="Rectangle 7">
              <a:extLst>
                <a:ext uri="{FF2B5EF4-FFF2-40B4-BE49-F238E27FC236}">
                  <a16:creationId xmlns:a16="http://schemas.microsoft.com/office/drawing/2014/main" id="{DFEC57FD-244B-2DEF-02C1-02C87CC00CC2}"/>
                </a:ext>
              </a:extLst>
            </p:cNvPr>
            <p:cNvSpPr>
              <a:spLocks noChangeArrowheads="1"/>
            </p:cNvSpPr>
            <p:nvPr/>
          </p:nvSpPr>
          <p:spPr bwMode="auto">
            <a:xfrm>
              <a:off x="3898" y="1256"/>
              <a:ext cx="557"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600" b="1">
                  <a:solidFill>
                    <a:srgbClr val="FF5050"/>
                  </a:solidFill>
                </a:rPr>
                <a:t>CLERK</a:t>
              </a:r>
            </a:p>
          </p:txBody>
        </p:sp>
      </p:grpSp>
      <p:grpSp>
        <p:nvGrpSpPr>
          <p:cNvPr id="301064" name="Group 8">
            <a:extLst>
              <a:ext uri="{FF2B5EF4-FFF2-40B4-BE49-F238E27FC236}">
                <a16:creationId xmlns:a16="http://schemas.microsoft.com/office/drawing/2014/main" id="{4875213F-378E-32B8-FDB7-BB321EDB12EC}"/>
              </a:ext>
            </a:extLst>
          </p:cNvPr>
          <p:cNvGrpSpPr>
            <a:grpSpLocks/>
          </p:cNvGrpSpPr>
          <p:nvPr/>
        </p:nvGrpSpPr>
        <p:grpSpPr bwMode="auto">
          <a:xfrm>
            <a:off x="3754438" y="3098800"/>
            <a:ext cx="4335462" cy="1150938"/>
            <a:chOff x="2365" y="1952"/>
            <a:chExt cx="2731" cy="725"/>
          </a:xfrm>
        </p:grpSpPr>
        <p:sp>
          <p:nvSpPr>
            <p:cNvPr id="26632" name="Rectangle 9">
              <a:extLst>
                <a:ext uri="{FF2B5EF4-FFF2-40B4-BE49-F238E27FC236}">
                  <a16:creationId xmlns:a16="http://schemas.microsoft.com/office/drawing/2014/main" id="{0B51ADA0-B436-0B35-06AB-B6864978980F}"/>
                </a:ext>
              </a:extLst>
            </p:cNvPr>
            <p:cNvSpPr>
              <a:spLocks noChangeArrowheads="1"/>
            </p:cNvSpPr>
            <p:nvPr/>
          </p:nvSpPr>
          <p:spPr bwMode="ltGray">
            <a:xfrm>
              <a:off x="2365" y="2145"/>
              <a:ext cx="273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6633" name="Arc 10">
              <a:extLst>
                <a:ext uri="{FF2B5EF4-FFF2-40B4-BE49-F238E27FC236}">
                  <a16:creationId xmlns:a16="http://schemas.microsoft.com/office/drawing/2014/main" id="{EC1FDC32-5C71-6CE2-2601-78134115DB08}"/>
                </a:ext>
              </a:extLst>
            </p:cNvPr>
            <p:cNvSpPr>
              <a:spLocks/>
            </p:cNvSpPr>
            <p:nvPr/>
          </p:nvSpPr>
          <p:spPr bwMode="auto">
            <a:xfrm rot="10800000">
              <a:off x="2629" y="2046"/>
              <a:ext cx="1777" cy="383"/>
            </a:xfrm>
            <a:custGeom>
              <a:avLst/>
              <a:gdLst>
                <a:gd name="T0" fmla="*/ 0 w 27031"/>
                <a:gd name="T1" fmla="*/ 0 h 24187"/>
                <a:gd name="T2" fmla="*/ 0 w 27031"/>
                <a:gd name="T3" fmla="*/ 0 h 24187"/>
                <a:gd name="T4" fmla="*/ 0 w 27031"/>
                <a:gd name="T5" fmla="*/ 0 h 24187"/>
                <a:gd name="T6" fmla="*/ 0 60000 65536"/>
                <a:gd name="T7" fmla="*/ 0 60000 65536"/>
                <a:gd name="T8" fmla="*/ 0 60000 65536"/>
              </a:gdLst>
              <a:ahLst/>
              <a:cxnLst>
                <a:cxn ang="T6">
                  <a:pos x="T0" y="T1"/>
                </a:cxn>
                <a:cxn ang="T7">
                  <a:pos x="T2" y="T3"/>
                </a:cxn>
                <a:cxn ang="T8">
                  <a:pos x="T4" y="T5"/>
                </a:cxn>
              </a:cxnLst>
              <a:rect l="0" t="0" r="r" b="b"/>
              <a:pathLst>
                <a:path w="27031" h="24187" fill="none" extrusionOk="0">
                  <a:moveTo>
                    <a:pt x="27031" y="23493"/>
                  </a:moveTo>
                  <a:cubicBezTo>
                    <a:pt x="25257" y="23953"/>
                    <a:pt x="23432" y="24186"/>
                    <a:pt x="21600" y="24187"/>
                  </a:cubicBezTo>
                  <a:cubicBezTo>
                    <a:pt x="9670" y="24187"/>
                    <a:pt x="0" y="14516"/>
                    <a:pt x="0" y="2587"/>
                  </a:cubicBezTo>
                  <a:cubicBezTo>
                    <a:pt x="-1" y="1722"/>
                    <a:pt x="51" y="858"/>
                    <a:pt x="155" y="-1"/>
                  </a:cubicBezTo>
                </a:path>
                <a:path w="27031" h="24187" stroke="0" extrusionOk="0">
                  <a:moveTo>
                    <a:pt x="27031" y="23493"/>
                  </a:moveTo>
                  <a:cubicBezTo>
                    <a:pt x="25257" y="23953"/>
                    <a:pt x="23432" y="24186"/>
                    <a:pt x="21600" y="24187"/>
                  </a:cubicBezTo>
                  <a:cubicBezTo>
                    <a:pt x="9670" y="24187"/>
                    <a:pt x="0" y="14516"/>
                    <a:pt x="0" y="2587"/>
                  </a:cubicBezTo>
                  <a:cubicBezTo>
                    <a:pt x="-1" y="1722"/>
                    <a:pt x="51" y="858"/>
                    <a:pt x="155" y="-1"/>
                  </a:cubicBezTo>
                  <a:lnTo>
                    <a:pt x="21600" y="2587"/>
                  </a:lnTo>
                  <a:lnTo>
                    <a:pt x="27031" y="23493"/>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6634" name="Rectangle 11">
              <a:extLst>
                <a:ext uri="{FF2B5EF4-FFF2-40B4-BE49-F238E27FC236}">
                  <a16:creationId xmlns:a16="http://schemas.microsoft.com/office/drawing/2014/main" id="{6ED6F79E-64C4-03CC-66AC-13E0D0EA9ED5}"/>
                </a:ext>
              </a:extLst>
            </p:cNvPr>
            <p:cNvSpPr>
              <a:spLocks noChangeArrowheads="1"/>
            </p:cNvSpPr>
            <p:nvPr/>
          </p:nvSpPr>
          <p:spPr bwMode="auto">
            <a:xfrm>
              <a:off x="3920" y="1952"/>
              <a:ext cx="401"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600" b="1">
                  <a:solidFill>
                    <a:srgbClr val="FF5050"/>
                  </a:solidFill>
                </a:rPr>
                <a:t>1100</a:t>
              </a:r>
            </a:p>
          </p:txBody>
        </p:sp>
      </p:grpSp>
      <p:sp>
        <p:nvSpPr>
          <p:cNvPr id="301068" name="Rectangle 12">
            <a:extLst>
              <a:ext uri="{FF2B5EF4-FFF2-40B4-BE49-F238E27FC236}">
                <a16:creationId xmlns:a16="http://schemas.microsoft.com/office/drawing/2014/main" id="{1860D621-75D4-CBD0-C668-DA7C34D88529}"/>
              </a:ext>
            </a:extLst>
          </p:cNvPr>
          <p:cNvSpPr>
            <a:spLocks noChangeArrowheads="1"/>
          </p:cNvSpPr>
          <p:nvPr/>
        </p:nvSpPr>
        <p:spPr bwMode="blackWhite">
          <a:xfrm>
            <a:off x="941388" y="4733925"/>
            <a:ext cx="7478712" cy="915988"/>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      JOB</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MILLER     CLERK</a:t>
            </a:r>
          </a:p>
        </p:txBody>
      </p:sp>
      <p:sp>
        <p:nvSpPr>
          <p:cNvPr id="26631" name="Rectangle 13">
            <a:extLst>
              <a:ext uri="{FF2B5EF4-FFF2-40B4-BE49-F238E27FC236}">
                <a16:creationId xmlns:a16="http://schemas.microsoft.com/office/drawing/2014/main" id="{D90F5BB0-B757-619D-15E0-B5EBDFBE665C}"/>
              </a:ext>
            </a:extLst>
          </p:cNvPr>
          <p:cNvSpPr>
            <a:spLocks noChangeArrowheads="1"/>
          </p:cNvSpPr>
          <p:nvPr/>
        </p:nvSpPr>
        <p:spPr bwMode="blackWhite">
          <a:xfrm>
            <a:off x="928688" y="1460500"/>
            <a:ext cx="7229475" cy="286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2857500" algn="l"/>
                <a:tab pos="4572000" algn="l"/>
              </a:tabLst>
              <a:defRPr sz="2800">
                <a:solidFill>
                  <a:schemeClr val="tx1"/>
                </a:solidFill>
                <a:latin typeface="Arial" panose="020B0604020202020204" pitchFamily="34" charset="0"/>
              </a:defRPr>
            </a:lvl1pPr>
            <a:lvl2pPr marL="742950" indent="-285750">
              <a:spcBef>
                <a:spcPct val="20000"/>
              </a:spcBef>
              <a:buChar char="–"/>
              <a:tabLst>
                <a:tab pos="1200150" algn="l"/>
                <a:tab pos="2857500" algn="l"/>
                <a:tab pos="4572000" algn="l"/>
              </a:tabLst>
              <a:defRPr sz="2400">
                <a:solidFill>
                  <a:schemeClr val="tx1"/>
                </a:solidFill>
                <a:latin typeface="Arial" panose="020B0604020202020204" pitchFamily="34" charset="0"/>
              </a:defRPr>
            </a:lvl2pPr>
            <a:lvl3pPr marL="1143000" indent="-228600">
              <a:spcBef>
                <a:spcPct val="20000"/>
              </a:spcBef>
              <a:buChar char="•"/>
              <a:tabLst>
                <a:tab pos="1200150" algn="l"/>
                <a:tab pos="2857500" algn="l"/>
                <a:tab pos="4572000" algn="l"/>
              </a:tabLst>
              <a:defRPr sz="2000">
                <a:solidFill>
                  <a:schemeClr val="tx1"/>
                </a:solidFill>
                <a:latin typeface="Arial" panose="020B0604020202020204" pitchFamily="34" charset="0"/>
              </a:defRPr>
            </a:lvl3pPr>
            <a:lvl4pPr marL="1600200" indent="-228600">
              <a:spcBef>
                <a:spcPct val="20000"/>
              </a:spcBef>
              <a:buChar char="–"/>
              <a:tabLst>
                <a:tab pos="1200150" algn="l"/>
                <a:tab pos="2857500" algn="l"/>
                <a:tab pos="4572000" algn="l"/>
              </a:tabLst>
              <a:defRPr sz="2000">
                <a:solidFill>
                  <a:schemeClr val="tx1"/>
                </a:solidFill>
                <a:latin typeface="Arial" panose="020B0604020202020204" pitchFamily="34" charset="0"/>
              </a:defRPr>
            </a:lvl4pPr>
            <a:lvl5pPr marL="2057400" indent="-228600">
              <a:spcBef>
                <a:spcPct val="20000"/>
              </a:spcBef>
              <a:buChar char="»"/>
              <a:tabLst>
                <a:tab pos="1200150" algn="l"/>
                <a:tab pos="2857500" algn="l"/>
                <a:tab pos="45720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857500" algn="l"/>
                <a:tab pos="45720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857500" algn="l"/>
                <a:tab pos="45720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857500" algn="l"/>
                <a:tab pos="45720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857500" algn="l"/>
                <a:tab pos="457200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ename, job</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job = </a:t>
            </a:r>
          </a:p>
          <a:p>
            <a:pPr>
              <a:spcBef>
                <a:spcPct val="0"/>
              </a:spcBef>
              <a:buFontTx/>
              <a:buNone/>
            </a:pPr>
            <a:r>
              <a:rPr lang="en-US" altLang="en-US" sz="1800" b="1">
                <a:solidFill>
                  <a:srgbClr val="000000"/>
                </a:solidFill>
                <a:latin typeface="Courier New" panose="02070309020205020404" pitchFamily="49" charset="0"/>
              </a:rPr>
              <a:t>  4		(SELECT  	job</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5	     	FROM     	emp</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6	    	WHERE    	empno = 7369)</a:t>
            </a:r>
          </a:p>
          <a:p>
            <a:pPr>
              <a:spcBef>
                <a:spcPct val="0"/>
              </a:spcBef>
              <a:buFontTx/>
              <a:buNone/>
            </a:pPr>
            <a:r>
              <a:rPr lang="en-US" altLang="en-US" sz="1800" b="1">
                <a:solidFill>
                  <a:srgbClr val="000000"/>
                </a:solidFill>
                <a:latin typeface="Courier New" panose="02070309020205020404" pitchFamily="49" charset="0"/>
              </a:rPr>
              <a:t>  7  AND      sal &gt; </a:t>
            </a:r>
          </a:p>
          <a:p>
            <a:pPr>
              <a:spcBef>
                <a:spcPct val="0"/>
              </a:spcBef>
              <a:buFontTx/>
              <a:buNone/>
            </a:pPr>
            <a:r>
              <a:rPr lang="en-US" altLang="en-US" sz="1800" b="1">
                <a:solidFill>
                  <a:srgbClr val="000000"/>
                </a:solidFill>
                <a:latin typeface="Courier New" panose="02070309020205020404" pitchFamily="49" charset="0"/>
              </a:rPr>
              <a:t>  8		(SELECT  	sal</a:t>
            </a:r>
          </a:p>
          <a:p>
            <a:pPr>
              <a:spcBef>
                <a:spcPct val="0"/>
              </a:spcBef>
              <a:buFontTx/>
              <a:buNone/>
            </a:pPr>
            <a:r>
              <a:rPr lang="en-US" altLang="en-US" sz="1800" b="1">
                <a:solidFill>
                  <a:srgbClr val="000000"/>
                </a:solidFill>
                <a:latin typeface="Courier New" panose="02070309020205020404" pitchFamily="49" charset="0"/>
              </a:rPr>
              <a:t>  9		FROM	emp</a:t>
            </a:r>
          </a:p>
          <a:p>
            <a:pPr>
              <a:spcBef>
                <a:spcPct val="0"/>
              </a:spcBef>
              <a:buFontTx/>
              <a:buNone/>
            </a:pPr>
            <a:r>
              <a:rPr lang="en-US" altLang="en-US" sz="1800" b="1">
                <a:solidFill>
                  <a:srgbClr val="000000"/>
                </a:solidFill>
                <a:latin typeface="Courier New" panose="02070309020205020404" pitchFamily="49" charset="0"/>
              </a:rPr>
              <a:t>  10		WHERE	empno = 7876);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01060"/>
                                        </p:tgtEl>
                                        <p:attrNameLst>
                                          <p:attrName>style.visibility</p:attrName>
                                        </p:attrNameLst>
                                      </p:cBhvr>
                                      <p:to>
                                        <p:strVal val="visible"/>
                                      </p:to>
                                    </p:set>
                                    <p:animEffect transition="in" filter="wipe(up)">
                                      <p:cBhvr>
                                        <p:cTn id="7" dur="500"/>
                                        <p:tgtEl>
                                          <p:spTgt spid="301060"/>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01064"/>
                                        </p:tgtEl>
                                        <p:attrNameLst>
                                          <p:attrName>style.visibility</p:attrName>
                                        </p:attrNameLst>
                                      </p:cBhvr>
                                      <p:to>
                                        <p:strVal val="visible"/>
                                      </p:to>
                                    </p:set>
                                    <p:animEffect transition="in" filter="wipe(up)">
                                      <p:cBhvr>
                                        <p:cTn id="11" dur="500"/>
                                        <p:tgtEl>
                                          <p:spTgt spid="30106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01068"/>
                                        </p:tgtEl>
                                        <p:attrNameLst>
                                          <p:attrName>style.visibility</p:attrName>
                                        </p:attrNameLst>
                                      </p:cBhvr>
                                      <p:to>
                                        <p:strVal val="visible"/>
                                      </p:to>
                                    </p:set>
                                    <p:animEffect transition="in" filter="wipe(up)">
                                      <p:cBhvr>
                                        <p:cTn id="16" dur="500"/>
                                        <p:tgtEl>
                                          <p:spTgt spid="301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68"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5E35AA96-F007-ACE4-E16D-ACCCC60EB5AA}"/>
              </a:ext>
            </a:extLst>
          </p:cNvPr>
          <p:cNvSpPr>
            <a:spLocks noChangeArrowheads="1"/>
          </p:cNvSpPr>
          <p:nvPr/>
        </p:nvSpPr>
        <p:spPr bwMode="blackWhite">
          <a:xfrm>
            <a:off x="949325" y="1978025"/>
            <a:ext cx="7470775" cy="1590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8675" name="Rectangle 3">
            <a:extLst>
              <a:ext uri="{FF2B5EF4-FFF2-40B4-BE49-F238E27FC236}">
                <a16:creationId xmlns:a16="http://schemas.microsoft.com/office/drawing/2014/main" id="{6A2D1730-5363-89A5-2892-3369EF09EEF0}"/>
              </a:ext>
            </a:extLst>
          </p:cNvPr>
          <p:cNvSpPr>
            <a:spLocks noGrp="1" noChangeArrowheads="1"/>
          </p:cNvSpPr>
          <p:nvPr>
            <p:ph type="title"/>
          </p:nvPr>
        </p:nvSpPr>
        <p:spPr>
          <a:xfrm>
            <a:off x="433388" y="188913"/>
            <a:ext cx="8277225" cy="823912"/>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Using Group Functions </a:t>
            </a:r>
            <a:br>
              <a:rPr lang="en-US" altLang="en-US" sz="2800">
                <a:solidFill>
                  <a:srgbClr val="800000"/>
                </a:solidFill>
              </a:rPr>
            </a:br>
            <a:r>
              <a:rPr lang="en-US" altLang="en-US" sz="2800">
                <a:solidFill>
                  <a:srgbClr val="800000"/>
                </a:solidFill>
              </a:rPr>
              <a:t>in a Subquery (Scalar Subquery)</a:t>
            </a:r>
          </a:p>
        </p:txBody>
      </p:sp>
      <p:grpSp>
        <p:nvGrpSpPr>
          <p:cNvPr id="303108" name="Group 4">
            <a:extLst>
              <a:ext uri="{FF2B5EF4-FFF2-40B4-BE49-F238E27FC236}">
                <a16:creationId xmlns:a16="http://schemas.microsoft.com/office/drawing/2014/main" id="{DA211590-3B2C-9C2D-9A0F-BC5F9B78B2DC}"/>
              </a:ext>
            </a:extLst>
          </p:cNvPr>
          <p:cNvGrpSpPr>
            <a:grpSpLocks/>
          </p:cNvGrpSpPr>
          <p:nvPr/>
        </p:nvGrpSpPr>
        <p:grpSpPr bwMode="auto">
          <a:xfrm>
            <a:off x="3678238" y="2184400"/>
            <a:ext cx="4508500" cy="1339850"/>
            <a:chOff x="2317" y="1376"/>
            <a:chExt cx="2840" cy="844"/>
          </a:xfrm>
        </p:grpSpPr>
        <p:sp>
          <p:nvSpPr>
            <p:cNvPr id="28680" name="Rectangle 5">
              <a:extLst>
                <a:ext uri="{FF2B5EF4-FFF2-40B4-BE49-F238E27FC236}">
                  <a16:creationId xmlns:a16="http://schemas.microsoft.com/office/drawing/2014/main" id="{593800E2-5D86-E38C-0595-2BD020E110BB}"/>
                </a:ext>
              </a:extLst>
            </p:cNvPr>
            <p:cNvSpPr>
              <a:spLocks noChangeArrowheads="1"/>
            </p:cNvSpPr>
            <p:nvPr/>
          </p:nvSpPr>
          <p:spPr bwMode="ltGray">
            <a:xfrm>
              <a:off x="2317" y="1812"/>
              <a:ext cx="2840" cy="408"/>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81" name="Rectangle 6">
              <a:extLst>
                <a:ext uri="{FF2B5EF4-FFF2-40B4-BE49-F238E27FC236}">
                  <a16:creationId xmlns:a16="http://schemas.microsoft.com/office/drawing/2014/main" id="{8177B822-A03F-46E7-2F6F-258F338BABDC}"/>
                </a:ext>
              </a:extLst>
            </p:cNvPr>
            <p:cNvSpPr>
              <a:spLocks noChangeArrowheads="1"/>
            </p:cNvSpPr>
            <p:nvPr/>
          </p:nvSpPr>
          <p:spPr bwMode="ltGray">
            <a:xfrm>
              <a:off x="3457" y="1824"/>
              <a:ext cx="792" cy="192"/>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82" name="Arc 7">
              <a:extLst>
                <a:ext uri="{FF2B5EF4-FFF2-40B4-BE49-F238E27FC236}">
                  <a16:creationId xmlns:a16="http://schemas.microsoft.com/office/drawing/2014/main" id="{6E03C6A9-22A3-964A-C11A-E9A254FFF93B}"/>
                </a:ext>
              </a:extLst>
            </p:cNvPr>
            <p:cNvSpPr>
              <a:spLocks/>
            </p:cNvSpPr>
            <p:nvPr/>
          </p:nvSpPr>
          <p:spPr bwMode="auto">
            <a:xfrm rot="10380000">
              <a:off x="2534" y="1578"/>
              <a:ext cx="1969" cy="342"/>
            </a:xfrm>
            <a:custGeom>
              <a:avLst/>
              <a:gdLst>
                <a:gd name="T0" fmla="*/ 0 w 27023"/>
                <a:gd name="T1" fmla="*/ 0 h 21600"/>
                <a:gd name="T2" fmla="*/ 0 w 27023"/>
                <a:gd name="T3" fmla="*/ 0 h 21600"/>
                <a:gd name="T4" fmla="*/ 0 w 27023"/>
                <a:gd name="T5" fmla="*/ 0 h 21600"/>
                <a:gd name="T6" fmla="*/ 0 60000 65536"/>
                <a:gd name="T7" fmla="*/ 0 60000 65536"/>
                <a:gd name="T8" fmla="*/ 0 60000 65536"/>
              </a:gdLst>
              <a:ahLst/>
              <a:cxnLst>
                <a:cxn ang="T6">
                  <a:pos x="T0" y="T1"/>
                </a:cxn>
                <a:cxn ang="T7">
                  <a:pos x="T2" y="T3"/>
                </a:cxn>
                <a:cxn ang="T8">
                  <a:pos x="T4" y="T5"/>
                </a:cxn>
              </a:cxnLst>
              <a:rect l="0" t="0" r="r" b="b"/>
              <a:pathLst>
                <a:path w="27023" h="21600" fill="none" extrusionOk="0">
                  <a:moveTo>
                    <a:pt x="27023" y="20908"/>
                  </a:moveTo>
                  <a:cubicBezTo>
                    <a:pt x="25251" y="21367"/>
                    <a:pt x="23429" y="21599"/>
                    <a:pt x="21600" y="21600"/>
                  </a:cubicBezTo>
                  <a:cubicBezTo>
                    <a:pt x="9670" y="21600"/>
                    <a:pt x="0" y="11929"/>
                    <a:pt x="0" y="0"/>
                  </a:cubicBezTo>
                </a:path>
                <a:path w="27023" h="21600" stroke="0" extrusionOk="0">
                  <a:moveTo>
                    <a:pt x="27023" y="20908"/>
                  </a:moveTo>
                  <a:cubicBezTo>
                    <a:pt x="25251" y="21367"/>
                    <a:pt x="23429" y="21599"/>
                    <a:pt x="21600" y="21600"/>
                  </a:cubicBezTo>
                  <a:cubicBezTo>
                    <a:pt x="9670" y="21600"/>
                    <a:pt x="0" y="11929"/>
                    <a:pt x="0" y="0"/>
                  </a:cubicBezTo>
                  <a:lnTo>
                    <a:pt x="21600" y="0"/>
                  </a:lnTo>
                  <a:lnTo>
                    <a:pt x="27023" y="20908"/>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8683" name="Rectangle 8">
              <a:extLst>
                <a:ext uri="{FF2B5EF4-FFF2-40B4-BE49-F238E27FC236}">
                  <a16:creationId xmlns:a16="http://schemas.microsoft.com/office/drawing/2014/main" id="{F7280B17-0537-1914-3F0C-B94F5B362789}"/>
                </a:ext>
              </a:extLst>
            </p:cNvPr>
            <p:cNvSpPr>
              <a:spLocks noChangeArrowheads="1"/>
            </p:cNvSpPr>
            <p:nvPr/>
          </p:nvSpPr>
          <p:spPr bwMode="auto">
            <a:xfrm>
              <a:off x="3629" y="1376"/>
              <a:ext cx="330"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600" b="1">
                  <a:solidFill>
                    <a:srgbClr val="FF5050"/>
                  </a:solidFill>
                </a:rPr>
                <a:t>800</a:t>
              </a:r>
            </a:p>
          </p:txBody>
        </p:sp>
      </p:grpSp>
      <p:sp>
        <p:nvSpPr>
          <p:cNvPr id="303113" name="Rectangle 9">
            <a:extLst>
              <a:ext uri="{FF2B5EF4-FFF2-40B4-BE49-F238E27FC236}">
                <a16:creationId xmlns:a16="http://schemas.microsoft.com/office/drawing/2014/main" id="{69B78C8F-B32C-C075-CF65-A37E35BD39C1}"/>
              </a:ext>
            </a:extLst>
          </p:cNvPr>
          <p:cNvSpPr>
            <a:spLocks noChangeArrowheads="1"/>
          </p:cNvSpPr>
          <p:nvPr/>
        </p:nvSpPr>
        <p:spPr bwMode="blackWhite">
          <a:xfrm>
            <a:off x="939800" y="4016375"/>
            <a:ext cx="7480300" cy="915988"/>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      JOB             SAL</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SMITH      CLERK           800</a:t>
            </a:r>
          </a:p>
        </p:txBody>
      </p:sp>
      <p:sp>
        <p:nvSpPr>
          <p:cNvPr id="28678" name="Rectangle 10">
            <a:extLst>
              <a:ext uri="{FF2B5EF4-FFF2-40B4-BE49-F238E27FC236}">
                <a16:creationId xmlns:a16="http://schemas.microsoft.com/office/drawing/2014/main" id="{072D7EDB-096C-3121-3B18-76F6C731A320}"/>
              </a:ext>
            </a:extLst>
          </p:cNvPr>
          <p:cNvSpPr>
            <a:spLocks noChangeArrowheads="1"/>
          </p:cNvSpPr>
          <p:nvPr/>
        </p:nvSpPr>
        <p:spPr bwMode="blackWhite">
          <a:xfrm>
            <a:off x="936625" y="1965325"/>
            <a:ext cx="730885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ename, job, sal</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sal = </a:t>
            </a:r>
          </a:p>
          <a:p>
            <a:pPr>
              <a:spcBef>
                <a:spcPct val="0"/>
              </a:spcBef>
              <a:buFontTx/>
              <a:buNone/>
            </a:pPr>
            <a:r>
              <a:rPr lang="en-US" altLang="en-US" sz="1800" b="1">
                <a:solidFill>
                  <a:srgbClr val="000000"/>
                </a:solidFill>
                <a:latin typeface="Courier New" panose="02070309020205020404" pitchFamily="49" charset="0"/>
              </a:rPr>
              <a:t>  4			(SELECT	MIN(sal)</a:t>
            </a:r>
          </a:p>
          <a:p>
            <a:pPr>
              <a:spcBef>
                <a:spcPct val="0"/>
              </a:spcBef>
              <a:buFontTx/>
              <a:buNone/>
            </a:pPr>
            <a:r>
              <a:rPr lang="en-US" altLang="en-US" sz="1800" b="1">
                <a:solidFill>
                  <a:srgbClr val="000000"/>
                </a:solidFill>
                <a:latin typeface="Courier New" panose="02070309020205020404" pitchFamily="49" charset="0"/>
              </a:rPr>
              <a:t>  5			FROM		emp);</a:t>
            </a:r>
          </a:p>
        </p:txBody>
      </p:sp>
      <p:sp>
        <p:nvSpPr>
          <p:cNvPr id="2" name="Rectangle 4">
            <a:extLst>
              <a:ext uri="{FF2B5EF4-FFF2-40B4-BE49-F238E27FC236}">
                <a16:creationId xmlns:a16="http://schemas.microsoft.com/office/drawing/2014/main" id="{E729713C-F74D-C29B-6A33-DFD731C8C04E}"/>
              </a:ext>
            </a:extLst>
          </p:cNvPr>
          <p:cNvSpPr txBox="1">
            <a:spLocks noChangeArrowheads="1"/>
          </p:cNvSpPr>
          <p:nvPr/>
        </p:nvSpPr>
        <p:spPr bwMode="auto">
          <a:xfrm>
            <a:off x="879475" y="1335088"/>
            <a:ext cx="7385050" cy="461962"/>
          </a:xfrm>
          <a:prstGeom prst="rect">
            <a:avLst/>
          </a:prstGeom>
          <a:noFill/>
          <a:ln>
            <a:noFill/>
          </a:ln>
        </p:spPr>
        <p:txBody>
          <a:bodyPr lIns="92075" tIns="46038" rIns="92075" bIns="46038">
            <a:spAutoFit/>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a:lstStyle>
          <a:p>
            <a:pPr lvl="1">
              <a:defRPr/>
            </a:pPr>
            <a:r>
              <a:rPr lang="en-US" altLang="en-US" kern="0" dirty="0"/>
              <a:t>Find the lowest paid employee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03108"/>
                                        </p:tgtEl>
                                        <p:attrNameLst>
                                          <p:attrName>style.visibility</p:attrName>
                                        </p:attrNameLst>
                                      </p:cBhvr>
                                      <p:to>
                                        <p:strVal val="visible"/>
                                      </p:to>
                                    </p:set>
                                    <p:animEffect transition="in" filter="wipe(up)">
                                      <p:cBhvr>
                                        <p:cTn id="7" dur="500"/>
                                        <p:tgtEl>
                                          <p:spTgt spid="3031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03113"/>
                                        </p:tgtEl>
                                        <p:attrNameLst>
                                          <p:attrName>style.visibility</p:attrName>
                                        </p:attrNameLst>
                                      </p:cBhvr>
                                      <p:to>
                                        <p:strVal val="visible"/>
                                      </p:to>
                                    </p:set>
                                    <p:animEffect transition="in" filter="wipe(up)">
                                      <p:cBhvr>
                                        <p:cTn id="12" dur="500"/>
                                        <p:tgtEl>
                                          <p:spTgt spid="303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13"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F3CB77FA-CA82-23D1-8712-2E0D571B4813}"/>
              </a:ext>
            </a:extLst>
          </p:cNvPr>
          <p:cNvSpPr>
            <a:spLocks noChangeArrowheads="1"/>
          </p:cNvSpPr>
          <p:nvPr/>
        </p:nvSpPr>
        <p:spPr bwMode="blackWhite">
          <a:xfrm>
            <a:off x="949325" y="1425575"/>
            <a:ext cx="7470775" cy="79533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0723" name="Rectangle 3">
            <a:extLst>
              <a:ext uri="{FF2B5EF4-FFF2-40B4-BE49-F238E27FC236}">
                <a16:creationId xmlns:a16="http://schemas.microsoft.com/office/drawing/2014/main" id="{DF5D88E9-C52D-08E4-B3B6-51E28699F352}"/>
              </a:ext>
            </a:extLst>
          </p:cNvPr>
          <p:cNvSpPr>
            <a:spLocks noGrp="1" noChangeArrowheads="1"/>
          </p:cNvSpPr>
          <p:nvPr>
            <p:ph type="title"/>
          </p:nvPr>
        </p:nvSpPr>
        <p:spPr>
          <a:xfrm>
            <a:off x="433388" y="620713"/>
            <a:ext cx="4498975"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Finding second highest sal</a:t>
            </a:r>
          </a:p>
        </p:txBody>
      </p:sp>
      <p:sp>
        <p:nvSpPr>
          <p:cNvPr id="30724" name="Rectangle 10">
            <a:extLst>
              <a:ext uri="{FF2B5EF4-FFF2-40B4-BE49-F238E27FC236}">
                <a16:creationId xmlns:a16="http://schemas.microsoft.com/office/drawing/2014/main" id="{F8E29A6A-86DF-5570-1913-1C3F953D31F6}"/>
              </a:ext>
            </a:extLst>
          </p:cNvPr>
          <p:cNvSpPr>
            <a:spLocks noChangeArrowheads="1"/>
          </p:cNvSpPr>
          <p:nvPr/>
        </p:nvSpPr>
        <p:spPr bwMode="blackWhite">
          <a:xfrm>
            <a:off x="936625" y="1412875"/>
            <a:ext cx="7308850" cy="80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MAX(sal) FROM	emp</a:t>
            </a:r>
          </a:p>
          <a:p>
            <a:pPr>
              <a:spcBef>
                <a:spcPct val="0"/>
              </a:spcBef>
              <a:buFontTx/>
              <a:buNone/>
            </a:pPr>
            <a:r>
              <a:rPr lang="en-US" altLang="en-US" sz="1800" b="1">
                <a:solidFill>
                  <a:srgbClr val="000000"/>
                </a:solidFill>
                <a:latin typeface="Courier New" panose="02070309020205020404" pitchFamily="49" charset="0"/>
              </a:rPr>
              <a:t>  2  WHERE sal &lt; (SELECT	MAX(sal) FROM	 emp);</a:t>
            </a:r>
          </a:p>
        </p:txBody>
      </p:sp>
      <p:sp>
        <p:nvSpPr>
          <p:cNvPr id="30725" name="Rectangle 2">
            <a:extLst>
              <a:ext uri="{FF2B5EF4-FFF2-40B4-BE49-F238E27FC236}">
                <a16:creationId xmlns:a16="http://schemas.microsoft.com/office/drawing/2014/main" id="{A533BA00-CEAF-C175-D927-AAE7C1AC81A8}"/>
              </a:ext>
            </a:extLst>
          </p:cNvPr>
          <p:cNvSpPr>
            <a:spLocks noChangeArrowheads="1"/>
          </p:cNvSpPr>
          <p:nvPr/>
        </p:nvSpPr>
        <p:spPr bwMode="blackWhite">
          <a:xfrm>
            <a:off x="958850" y="2505075"/>
            <a:ext cx="7470775" cy="1590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0726" name="Rectangle 10">
            <a:extLst>
              <a:ext uri="{FF2B5EF4-FFF2-40B4-BE49-F238E27FC236}">
                <a16:creationId xmlns:a16="http://schemas.microsoft.com/office/drawing/2014/main" id="{72304717-4718-A104-80C2-CB49AC4F5340}"/>
              </a:ext>
            </a:extLst>
          </p:cNvPr>
          <p:cNvSpPr>
            <a:spLocks noChangeArrowheads="1"/>
          </p:cNvSpPr>
          <p:nvPr/>
        </p:nvSpPr>
        <p:spPr bwMode="blackWhite">
          <a:xfrm>
            <a:off x="946150" y="2492375"/>
            <a:ext cx="730885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ename, job, sal</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sal = </a:t>
            </a:r>
          </a:p>
          <a:p>
            <a:pPr>
              <a:spcBef>
                <a:spcPct val="0"/>
              </a:spcBef>
              <a:buFontTx/>
              <a:buNone/>
            </a:pPr>
            <a:r>
              <a:rPr lang="en-US" altLang="en-US" sz="1800" b="1">
                <a:solidFill>
                  <a:srgbClr val="000000"/>
                </a:solidFill>
                <a:latin typeface="Courier New" panose="02070309020205020404" pitchFamily="49" charset="0"/>
              </a:rPr>
              <a:t>  4		    (SELECT MAX(sal) FROM	emp</a:t>
            </a:r>
          </a:p>
          <a:p>
            <a:pPr>
              <a:spcBef>
                <a:spcPct val="0"/>
              </a:spcBef>
              <a:buFontTx/>
              <a:buNone/>
            </a:pPr>
            <a:r>
              <a:rPr lang="en-US" altLang="en-US" sz="1800" b="1">
                <a:solidFill>
                  <a:srgbClr val="000000"/>
                </a:solidFill>
                <a:latin typeface="Courier New" panose="02070309020205020404" pitchFamily="49" charset="0"/>
              </a:rPr>
              <a:t>  5  WHERE sal &lt; (SELECT	MAX(sal) FROM	 emp));</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68800CFF-E2F1-C386-058C-63E4211ACF06}"/>
              </a:ext>
            </a:extLst>
          </p:cNvPr>
          <p:cNvSpPr>
            <a:spLocks noChangeArrowheads="1"/>
          </p:cNvSpPr>
          <p:nvPr/>
        </p:nvSpPr>
        <p:spPr bwMode="blackWhite">
          <a:xfrm>
            <a:off x="879475" y="2852738"/>
            <a:ext cx="7480300" cy="21304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2400300" algn="l"/>
                <a:tab pos="3600450" algn="l"/>
                <a:tab pos="5029200" algn="l"/>
              </a:tabLst>
              <a:defRPr sz="2800">
                <a:solidFill>
                  <a:schemeClr val="tx1"/>
                </a:solidFill>
                <a:latin typeface="Arial" panose="020B0604020202020204" pitchFamily="34" charset="0"/>
              </a:defRPr>
            </a:lvl1pPr>
            <a:lvl2pPr marL="742950" indent="-285750">
              <a:spcBef>
                <a:spcPct val="20000"/>
              </a:spcBef>
              <a:buChar char="–"/>
              <a:tabLst>
                <a:tab pos="2400300" algn="l"/>
                <a:tab pos="3600450" algn="l"/>
                <a:tab pos="5029200" algn="l"/>
              </a:tabLst>
              <a:defRPr sz="2400">
                <a:solidFill>
                  <a:schemeClr val="tx1"/>
                </a:solidFill>
                <a:latin typeface="Arial" panose="020B0604020202020204" pitchFamily="34" charset="0"/>
              </a:defRPr>
            </a:lvl2pPr>
            <a:lvl3pPr marL="1143000" indent="-228600">
              <a:spcBef>
                <a:spcPct val="20000"/>
              </a:spcBef>
              <a:buChar char="•"/>
              <a:tabLst>
                <a:tab pos="2400300" algn="l"/>
                <a:tab pos="3600450" algn="l"/>
                <a:tab pos="5029200" algn="l"/>
              </a:tabLst>
              <a:defRPr sz="2000">
                <a:solidFill>
                  <a:schemeClr val="tx1"/>
                </a:solidFill>
                <a:latin typeface="Arial" panose="020B0604020202020204" pitchFamily="34" charset="0"/>
              </a:defRPr>
            </a:lvl3pPr>
            <a:lvl4pPr marL="1600200" indent="-228600">
              <a:spcBef>
                <a:spcPct val="20000"/>
              </a:spcBef>
              <a:buChar char="–"/>
              <a:tabLst>
                <a:tab pos="2400300" algn="l"/>
                <a:tab pos="3600450" algn="l"/>
                <a:tab pos="5029200" algn="l"/>
              </a:tabLst>
              <a:defRPr sz="2000">
                <a:solidFill>
                  <a:schemeClr val="tx1"/>
                </a:solidFill>
                <a:latin typeface="Arial" panose="020B0604020202020204" pitchFamily="34" charset="0"/>
              </a:defRPr>
            </a:lvl4pPr>
            <a:lvl5pPr marL="2057400" indent="-228600">
              <a:spcBef>
                <a:spcPct val="20000"/>
              </a:spcBef>
              <a:buChar char="»"/>
              <a:tabLst>
                <a:tab pos="2400300" algn="l"/>
                <a:tab pos="3600450" algn="l"/>
                <a:tab pos="50292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2400300" algn="l"/>
                <a:tab pos="3600450" algn="l"/>
                <a:tab pos="50292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2400300" algn="l"/>
                <a:tab pos="3600450" algn="l"/>
                <a:tab pos="50292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2400300" algn="l"/>
                <a:tab pos="3600450" algn="l"/>
                <a:tab pos="50292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2400300" algn="l"/>
                <a:tab pos="3600450" algn="l"/>
                <a:tab pos="50292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2771" name="Rectangle 3">
            <a:extLst>
              <a:ext uri="{FF2B5EF4-FFF2-40B4-BE49-F238E27FC236}">
                <a16:creationId xmlns:a16="http://schemas.microsoft.com/office/drawing/2014/main" id="{BE8DE76A-BB7C-C70E-EFA0-AC4987CDF9C7}"/>
              </a:ext>
            </a:extLst>
          </p:cNvPr>
          <p:cNvSpPr>
            <a:spLocks noGrp="1" noChangeArrowheads="1"/>
          </p:cNvSpPr>
          <p:nvPr>
            <p:ph type="title"/>
          </p:nvPr>
        </p:nvSpPr>
        <p:spPr>
          <a:xfrm>
            <a:off x="323850" y="660400"/>
            <a:ext cx="5578475"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dirty="0">
                <a:solidFill>
                  <a:srgbClr val="800000"/>
                </a:solidFill>
              </a:rPr>
              <a:t>HAVING Clause with Subqueries</a:t>
            </a:r>
          </a:p>
        </p:txBody>
      </p:sp>
      <p:sp>
        <p:nvSpPr>
          <p:cNvPr id="32772" name="Rectangle 4">
            <a:extLst>
              <a:ext uri="{FF2B5EF4-FFF2-40B4-BE49-F238E27FC236}">
                <a16:creationId xmlns:a16="http://schemas.microsoft.com/office/drawing/2014/main" id="{53329880-1E14-75CF-C75A-6AA7CA9FE6E5}"/>
              </a:ext>
            </a:extLst>
          </p:cNvPr>
          <p:cNvSpPr>
            <a:spLocks noGrp="1" noChangeArrowheads="1"/>
          </p:cNvSpPr>
          <p:nvPr>
            <p:ph type="body" idx="1"/>
          </p:nvPr>
        </p:nvSpPr>
        <p:spPr>
          <a:xfrm>
            <a:off x="879475" y="1335088"/>
            <a:ext cx="7385050" cy="1260475"/>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pPr lvl="1"/>
            <a:r>
              <a:rPr lang="en-US" altLang="en-US"/>
              <a:t>The Oracle Server executes subqueries first.</a:t>
            </a:r>
          </a:p>
          <a:p>
            <a:pPr lvl="1"/>
            <a:r>
              <a:rPr lang="en-US" altLang="en-US"/>
              <a:t>The Oracle Server returns results into the HAVING clause of the main query.</a:t>
            </a:r>
          </a:p>
        </p:txBody>
      </p:sp>
      <p:grpSp>
        <p:nvGrpSpPr>
          <p:cNvPr id="305157" name="Group 5">
            <a:extLst>
              <a:ext uri="{FF2B5EF4-FFF2-40B4-BE49-F238E27FC236}">
                <a16:creationId xmlns:a16="http://schemas.microsoft.com/office/drawing/2014/main" id="{966CB675-8069-9984-7ACD-A9B4ACF672DE}"/>
              </a:ext>
            </a:extLst>
          </p:cNvPr>
          <p:cNvGrpSpPr>
            <a:grpSpLocks/>
          </p:cNvGrpSpPr>
          <p:nvPr/>
        </p:nvGrpSpPr>
        <p:grpSpPr bwMode="auto">
          <a:xfrm>
            <a:off x="1612900" y="3603625"/>
            <a:ext cx="6356350" cy="1354138"/>
            <a:chOff x="1054" y="2723"/>
            <a:chExt cx="4004" cy="853"/>
          </a:xfrm>
        </p:grpSpPr>
        <p:sp>
          <p:nvSpPr>
            <p:cNvPr id="32776" name="Rectangle 6">
              <a:extLst>
                <a:ext uri="{FF2B5EF4-FFF2-40B4-BE49-F238E27FC236}">
                  <a16:creationId xmlns:a16="http://schemas.microsoft.com/office/drawing/2014/main" id="{373D353F-0EA5-29AD-048F-F1CAC05A8081}"/>
                </a:ext>
              </a:extLst>
            </p:cNvPr>
            <p:cNvSpPr>
              <a:spLocks noChangeArrowheads="1"/>
            </p:cNvSpPr>
            <p:nvPr/>
          </p:nvSpPr>
          <p:spPr bwMode="ltGray">
            <a:xfrm>
              <a:off x="1054" y="2841"/>
              <a:ext cx="1872" cy="207"/>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2777" name="Rectangle 7">
              <a:extLst>
                <a:ext uri="{FF2B5EF4-FFF2-40B4-BE49-F238E27FC236}">
                  <a16:creationId xmlns:a16="http://schemas.microsoft.com/office/drawing/2014/main" id="{0FAAC25B-D04C-2B38-BDD6-82A4E070150B}"/>
                </a:ext>
              </a:extLst>
            </p:cNvPr>
            <p:cNvSpPr>
              <a:spLocks noChangeArrowheads="1"/>
            </p:cNvSpPr>
            <p:nvPr/>
          </p:nvSpPr>
          <p:spPr bwMode="ltGray">
            <a:xfrm>
              <a:off x="2926" y="3020"/>
              <a:ext cx="2132" cy="556"/>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2778" name="Arc 8">
              <a:extLst>
                <a:ext uri="{FF2B5EF4-FFF2-40B4-BE49-F238E27FC236}">
                  <a16:creationId xmlns:a16="http://schemas.microsoft.com/office/drawing/2014/main" id="{E5347199-485C-9239-A408-0596E8EBA09B}"/>
                </a:ext>
              </a:extLst>
            </p:cNvPr>
            <p:cNvSpPr>
              <a:spLocks/>
            </p:cNvSpPr>
            <p:nvPr/>
          </p:nvSpPr>
          <p:spPr bwMode="auto">
            <a:xfrm rot="-10740000">
              <a:off x="3263" y="2912"/>
              <a:ext cx="1788" cy="342"/>
            </a:xfrm>
            <a:custGeom>
              <a:avLst/>
              <a:gdLst>
                <a:gd name="T0" fmla="*/ 0 w 27027"/>
                <a:gd name="T1" fmla="*/ 0 h 21600"/>
                <a:gd name="T2" fmla="*/ 0 w 27027"/>
                <a:gd name="T3" fmla="*/ 0 h 21600"/>
                <a:gd name="T4" fmla="*/ 0 w 27027"/>
                <a:gd name="T5" fmla="*/ 0 h 21600"/>
                <a:gd name="T6" fmla="*/ 0 60000 65536"/>
                <a:gd name="T7" fmla="*/ 0 60000 65536"/>
                <a:gd name="T8" fmla="*/ 0 60000 65536"/>
              </a:gdLst>
              <a:ahLst/>
              <a:cxnLst>
                <a:cxn ang="T6">
                  <a:pos x="T0" y="T1"/>
                </a:cxn>
                <a:cxn ang="T7">
                  <a:pos x="T2" y="T3"/>
                </a:cxn>
                <a:cxn ang="T8">
                  <a:pos x="T4" y="T5"/>
                </a:cxn>
              </a:cxnLst>
              <a:rect l="0" t="0" r="r" b="b"/>
              <a:pathLst>
                <a:path w="27027" h="21600" fill="none" extrusionOk="0">
                  <a:moveTo>
                    <a:pt x="27027" y="20907"/>
                  </a:moveTo>
                  <a:cubicBezTo>
                    <a:pt x="25254" y="21367"/>
                    <a:pt x="23431" y="21599"/>
                    <a:pt x="21600" y="21600"/>
                  </a:cubicBezTo>
                  <a:cubicBezTo>
                    <a:pt x="9670" y="21600"/>
                    <a:pt x="0" y="11929"/>
                    <a:pt x="0" y="0"/>
                  </a:cubicBezTo>
                </a:path>
                <a:path w="27027" h="21600" stroke="0" extrusionOk="0">
                  <a:moveTo>
                    <a:pt x="27027" y="20907"/>
                  </a:moveTo>
                  <a:cubicBezTo>
                    <a:pt x="25254" y="21367"/>
                    <a:pt x="23431" y="21599"/>
                    <a:pt x="21600" y="21600"/>
                  </a:cubicBezTo>
                  <a:cubicBezTo>
                    <a:pt x="9670" y="21600"/>
                    <a:pt x="0" y="11929"/>
                    <a:pt x="0" y="0"/>
                  </a:cubicBezTo>
                  <a:lnTo>
                    <a:pt x="21600" y="0"/>
                  </a:lnTo>
                  <a:lnTo>
                    <a:pt x="27027" y="20907"/>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32779" name="Rectangle 9">
              <a:extLst>
                <a:ext uri="{FF2B5EF4-FFF2-40B4-BE49-F238E27FC236}">
                  <a16:creationId xmlns:a16="http://schemas.microsoft.com/office/drawing/2014/main" id="{D2280B29-8FB0-4D3B-8F76-049453ED736B}"/>
                </a:ext>
              </a:extLst>
            </p:cNvPr>
            <p:cNvSpPr>
              <a:spLocks noChangeArrowheads="1"/>
            </p:cNvSpPr>
            <p:nvPr/>
          </p:nvSpPr>
          <p:spPr bwMode="auto">
            <a:xfrm>
              <a:off x="3904" y="2723"/>
              <a:ext cx="330"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600" b="1">
                  <a:solidFill>
                    <a:srgbClr val="FF5050"/>
                  </a:solidFill>
                </a:rPr>
                <a:t>800</a:t>
              </a:r>
            </a:p>
          </p:txBody>
        </p:sp>
      </p:grpSp>
      <p:sp>
        <p:nvSpPr>
          <p:cNvPr id="32774" name="Rectangle 10">
            <a:extLst>
              <a:ext uri="{FF2B5EF4-FFF2-40B4-BE49-F238E27FC236}">
                <a16:creationId xmlns:a16="http://schemas.microsoft.com/office/drawing/2014/main" id="{0A891E45-E184-7A58-ADE2-9D15C4CB6872}"/>
              </a:ext>
            </a:extLst>
          </p:cNvPr>
          <p:cNvSpPr>
            <a:spLocks noChangeArrowheads="1"/>
          </p:cNvSpPr>
          <p:nvPr/>
        </p:nvSpPr>
        <p:spPr bwMode="blackWhite">
          <a:xfrm>
            <a:off x="977900" y="2878138"/>
            <a:ext cx="7169150" cy="215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2400300" algn="l"/>
                <a:tab pos="3600450" algn="l"/>
                <a:tab pos="5029200" algn="l"/>
              </a:tabLst>
              <a:defRPr sz="2800">
                <a:solidFill>
                  <a:schemeClr val="tx1"/>
                </a:solidFill>
                <a:latin typeface="Arial" panose="020B0604020202020204" pitchFamily="34" charset="0"/>
              </a:defRPr>
            </a:lvl1pPr>
            <a:lvl2pPr marL="742950" indent="-285750">
              <a:spcBef>
                <a:spcPct val="20000"/>
              </a:spcBef>
              <a:buChar char="–"/>
              <a:tabLst>
                <a:tab pos="2400300" algn="l"/>
                <a:tab pos="3600450" algn="l"/>
                <a:tab pos="5029200" algn="l"/>
              </a:tabLst>
              <a:defRPr sz="2400">
                <a:solidFill>
                  <a:schemeClr val="tx1"/>
                </a:solidFill>
                <a:latin typeface="Arial" panose="020B0604020202020204" pitchFamily="34" charset="0"/>
              </a:defRPr>
            </a:lvl2pPr>
            <a:lvl3pPr marL="1143000" indent="-228600">
              <a:spcBef>
                <a:spcPct val="20000"/>
              </a:spcBef>
              <a:buChar char="•"/>
              <a:tabLst>
                <a:tab pos="2400300" algn="l"/>
                <a:tab pos="3600450" algn="l"/>
                <a:tab pos="5029200" algn="l"/>
              </a:tabLst>
              <a:defRPr sz="2000">
                <a:solidFill>
                  <a:schemeClr val="tx1"/>
                </a:solidFill>
                <a:latin typeface="Arial" panose="020B0604020202020204" pitchFamily="34" charset="0"/>
              </a:defRPr>
            </a:lvl3pPr>
            <a:lvl4pPr marL="1600200" indent="-228600">
              <a:spcBef>
                <a:spcPct val="20000"/>
              </a:spcBef>
              <a:buChar char="–"/>
              <a:tabLst>
                <a:tab pos="2400300" algn="l"/>
                <a:tab pos="3600450" algn="l"/>
                <a:tab pos="5029200" algn="l"/>
              </a:tabLst>
              <a:defRPr sz="2000">
                <a:solidFill>
                  <a:schemeClr val="tx1"/>
                </a:solidFill>
                <a:latin typeface="Arial" panose="020B0604020202020204" pitchFamily="34" charset="0"/>
              </a:defRPr>
            </a:lvl4pPr>
            <a:lvl5pPr marL="2057400" indent="-228600">
              <a:spcBef>
                <a:spcPct val="20000"/>
              </a:spcBef>
              <a:buChar char="»"/>
              <a:tabLst>
                <a:tab pos="2400300" algn="l"/>
                <a:tab pos="3600450" algn="l"/>
                <a:tab pos="50292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2400300" algn="l"/>
                <a:tab pos="3600450" algn="l"/>
                <a:tab pos="50292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2400300" algn="l"/>
                <a:tab pos="3600450" algn="l"/>
                <a:tab pos="50292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2400300" algn="l"/>
                <a:tab pos="3600450" algn="l"/>
                <a:tab pos="50292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2400300" algn="l"/>
                <a:tab pos="3600450" algn="l"/>
                <a:tab pos="502920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deptno, MIN(sal)</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GROUP BY	deptno</a:t>
            </a:r>
          </a:p>
          <a:p>
            <a:pPr>
              <a:spcBef>
                <a:spcPct val="0"/>
              </a:spcBef>
              <a:buFontTx/>
              <a:buNone/>
            </a:pPr>
            <a:r>
              <a:rPr lang="en-US" altLang="en-US" sz="1800" b="1">
                <a:solidFill>
                  <a:srgbClr val="000000"/>
                </a:solidFill>
                <a:latin typeface="Courier New" panose="02070309020205020404" pitchFamily="49" charset="0"/>
              </a:rPr>
              <a:t>  4  HAVING	MIN(sal) &gt;</a:t>
            </a:r>
          </a:p>
          <a:p>
            <a:pPr>
              <a:spcBef>
                <a:spcPct val="0"/>
              </a:spcBef>
              <a:buFontTx/>
              <a:buNone/>
            </a:pPr>
            <a:r>
              <a:rPr lang="en-US" altLang="en-US" sz="1800" b="1">
                <a:solidFill>
                  <a:srgbClr val="000000"/>
                </a:solidFill>
                <a:latin typeface="Courier New" panose="02070309020205020404" pitchFamily="49" charset="0"/>
              </a:rPr>
              <a:t>  5		(SELECT	MIN(sal)</a:t>
            </a:r>
          </a:p>
          <a:p>
            <a:pPr>
              <a:spcBef>
                <a:spcPct val="0"/>
              </a:spcBef>
              <a:buFontTx/>
              <a:buNone/>
            </a:pPr>
            <a:r>
              <a:rPr lang="en-US" altLang="en-US" sz="1800" b="1">
                <a:solidFill>
                  <a:srgbClr val="000000"/>
                </a:solidFill>
                <a:latin typeface="Courier New" panose="02070309020205020404" pitchFamily="49" charset="0"/>
              </a:rPr>
              <a:t>  6		FROM	emp</a:t>
            </a:r>
          </a:p>
          <a:p>
            <a:pPr>
              <a:spcBef>
                <a:spcPct val="0"/>
              </a:spcBef>
              <a:buFontTx/>
              <a:buNone/>
            </a:pPr>
            <a:r>
              <a:rPr lang="en-US" altLang="en-US" sz="1800" b="1">
                <a:solidFill>
                  <a:srgbClr val="000000"/>
                </a:solidFill>
                <a:latin typeface="Courier New" panose="02070309020205020404" pitchFamily="49" charset="0"/>
              </a:rPr>
              <a:t>  7		WHERE	deptno = 20);</a:t>
            </a:r>
          </a:p>
        </p:txBody>
      </p:sp>
      <p:sp>
        <p:nvSpPr>
          <p:cNvPr id="2" name="Rectangle 4">
            <a:extLst>
              <a:ext uri="{FF2B5EF4-FFF2-40B4-BE49-F238E27FC236}">
                <a16:creationId xmlns:a16="http://schemas.microsoft.com/office/drawing/2014/main" id="{77E9F425-9B6B-206D-F6F5-6E7EB053FDC4}"/>
              </a:ext>
            </a:extLst>
          </p:cNvPr>
          <p:cNvSpPr txBox="1">
            <a:spLocks noChangeArrowheads="1"/>
          </p:cNvSpPr>
          <p:nvPr/>
        </p:nvSpPr>
        <p:spPr bwMode="auto">
          <a:xfrm>
            <a:off x="796925" y="5173663"/>
            <a:ext cx="7385050" cy="831850"/>
          </a:xfrm>
          <a:prstGeom prst="rect">
            <a:avLst/>
          </a:prstGeom>
          <a:noFill/>
          <a:ln>
            <a:noFill/>
          </a:ln>
        </p:spPr>
        <p:txBody>
          <a:bodyPr lIns="92075" tIns="46038" rIns="92075" bIns="46038">
            <a:spAutoFit/>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a:lstStyle>
          <a:p>
            <a:pPr lvl="1">
              <a:defRPr/>
            </a:pPr>
            <a:r>
              <a:rPr lang="en-US" altLang="en-US" kern="0" dirty="0">
                <a:solidFill>
                  <a:schemeClr val="accent2"/>
                </a:solidFill>
              </a:rPr>
              <a:t>Find the name of the department with the highest/lowest number of employees.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05157"/>
                                        </p:tgtEl>
                                        <p:attrNameLst>
                                          <p:attrName>style.visibility</p:attrName>
                                        </p:attrNameLst>
                                      </p:cBhvr>
                                      <p:to>
                                        <p:strVal val="visible"/>
                                      </p:to>
                                    </p:set>
                                    <p:animEffect transition="in" filter="wipe(up)">
                                      <p:cBhvr>
                                        <p:cTn id="7" dur="500"/>
                                        <p:tgtEl>
                                          <p:spTgt spid="3051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7DDE9320-385F-58A1-F5FA-7EEC35AB6854}"/>
              </a:ext>
            </a:extLst>
          </p:cNvPr>
          <p:cNvSpPr>
            <a:spLocks noGrp="1" noChangeArrowheads="1"/>
          </p:cNvSpPr>
          <p:nvPr>
            <p:ph type="title"/>
          </p:nvPr>
        </p:nvSpPr>
        <p:spPr>
          <a:xfrm>
            <a:off x="323850" y="660400"/>
            <a:ext cx="5578475"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HAVING Clause with Subqueries</a:t>
            </a:r>
          </a:p>
        </p:txBody>
      </p:sp>
      <p:sp>
        <p:nvSpPr>
          <p:cNvPr id="34819" name="Rectangle 4">
            <a:extLst>
              <a:ext uri="{FF2B5EF4-FFF2-40B4-BE49-F238E27FC236}">
                <a16:creationId xmlns:a16="http://schemas.microsoft.com/office/drawing/2014/main" id="{3EEF745B-5B5C-55E6-B7E7-53D43D880440}"/>
              </a:ext>
            </a:extLst>
          </p:cNvPr>
          <p:cNvSpPr>
            <a:spLocks noGrp="1" noChangeArrowheads="1"/>
          </p:cNvSpPr>
          <p:nvPr>
            <p:ph type="body" idx="1"/>
          </p:nvPr>
        </p:nvSpPr>
        <p:spPr>
          <a:xfrm>
            <a:off x="347663" y="1341438"/>
            <a:ext cx="7753350" cy="1385887"/>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r>
              <a:rPr lang="en-US" altLang="en-US"/>
              <a:t>List job, average salary of those jobs whose average salary is greater than the minimum average of different jobs. </a:t>
            </a:r>
          </a:p>
        </p:txBody>
      </p:sp>
      <p:sp>
        <p:nvSpPr>
          <p:cNvPr id="34820" name="Rectangle 2">
            <a:extLst>
              <a:ext uri="{FF2B5EF4-FFF2-40B4-BE49-F238E27FC236}">
                <a16:creationId xmlns:a16="http://schemas.microsoft.com/office/drawing/2014/main" id="{1552C14F-1695-A6A9-2832-3395F7F10243}"/>
              </a:ext>
            </a:extLst>
          </p:cNvPr>
          <p:cNvSpPr>
            <a:spLocks noChangeArrowheads="1"/>
          </p:cNvSpPr>
          <p:nvPr/>
        </p:nvSpPr>
        <p:spPr bwMode="blackWhite">
          <a:xfrm>
            <a:off x="488950" y="2871788"/>
            <a:ext cx="7470775" cy="17668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2000" b="1">
              <a:solidFill>
                <a:srgbClr val="000000"/>
              </a:solidFill>
              <a:latin typeface="Courier New" panose="02070309020205020404" pitchFamily="49" charset="0"/>
            </a:endParaRPr>
          </a:p>
          <a:p>
            <a:pPr>
              <a:spcBef>
                <a:spcPct val="0"/>
              </a:spcBef>
              <a:buFontTx/>
              <a:buNone/>
            </a:pPr>
            <a:endParaRPr lang="en-US" altLang="en-US" sz="2000" b="1">
              <a:solidFill>
                <a:srgbClr val="000000"/>
              </a:solidFill>
              <a:latin typeface="Courier New" panose="02070309020205020404" pitchFamily="49" charset="0"/>
            </a:endParaRPr>
          </a:p>
        </p:txBody>
      </p:sp>
      <p:sp>
        <p:nvSpPr>
          <p:cNvPr id="34821" name="Rectangle 10">
            <a:extLst>
              <a:ext uri="{FF2B5EF4-FFF2-40B4-BE49-F238E27FC236}">
                <a16:creationId xmlns:a16="http://schemas.microsoft.com/office/drawing/2014/main" id="{FC81E0AA-9381-9102-2EFE-88F058DB4977}"/>
              </a:ext>
            </a:extLst>
          </p:cNvPr>
          <p:cNvSpPr>
            <a:spLocks noChangeArrowheads="1"/>
          </p:cNvSpPr>
          <p:nvPr/>
        </p:nvSpPr>
        <p:spPr bwMode="blackWhite">
          <a:xfrm>
            <a:off x="795338" y="3232150"/>
            <a:ext cx="73088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000" b="1">
                <a:solidFill>
                  <a:srgbClr val="000000"/>
                </a:solidFill>
                <a:latin typeface="Courier New" panose="02070309020205020404" pitchFamily="49" charset="0"/>
              </a:rPr>
              <a:t>SELECT JOB, AVG(SAL) FROM EMP</a:t>
            </a:r>
          </a:p>
          <a:p>
            <a:pPr>
              <a:spcBef>
                <a:spcPct val="0"/>
              </a:spcBef>
              <a:buFontTx/>
              <a:buNone/>
            </a:pPr>
            <a:r>
              <a:rPr lang="en-US" altLang="en-US" sz="2000" b="1">
                <a:solidFill>
                  <a:srgbClr val="000000"/>
                </a:solidFill>
                <a:latin typeface="Courier New" panose="02070309020205020404" pitchFamily="49" charset="0"/>
              </a:rPr>
              <a:t>GROUP BY JOB</a:t>
            </a:r>
          </a:p>
          <a:p>
            <a:pPr>
              <a:spcBef>
                <a:spcPct val="0"/>
              </a:spcBef>
              <a:buFontTx/>
              <a:buNone/>
            </a:pPr>
            <a:r>
              <a:rPr lang="en-US" altLang="en-US" sz="2000" b="1">
                <a:solidFill>
                  <a:srgbClr val="000000"/>
                </a:solidFill>
                <a:latin typeface="Courier New" panose="02070309020205020404" pitchFamily="49" charset="0"/>
              </a:rPr>
              <a:t>HAVING AVG(SAL) &gt; </a:t>
            </a:r>
          </a:p>
          <a:p>
            <a:pPr>
              <a:spcBef>
                <a:spcPct val="0"/>
              </a:spcBef>
              <a:buFontTx/>
              <a:buNone/>
            </a:pPr>
            <a:r>
              <a:rPr lang="en-US" altLang="en-US" sz="2000" b="1">
                <a:solidFill>
                  <a:schemeClr val="accent2"/>
                </a:solidFill>
                <a:latin typeface="Courier New" panose="02070309020205020404" pitchFamily="49" charset="0"/>
              </a:rPr>
              <a:t>(SELECT MIN(AVG(SAL)) FROM EMP </a:t>
            </a:r>
          </a:p>
          <a:p>
            <a:pPr>
              <a:spcBef>
                <a:spcPct val="0"/>
              </a:spcBef>
              <a:buFontTx/>
              <a:buNone/>
            </a:pPr>
            <a:r>
              <a:rPr lang="en-US" altLang="en-US" sz="2000" b="1">
                <a:solidFill>
                  <a:schemeClr val="accent2"/>
                </a:solidFill>
                <a:latin typeface="Courier New" panose="02070309020205020404" pitchFamily="49" charset="0"/>
              </a:rPr>
              <a:t>GROUP BY JOB)</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8925ADBA-79D4-AC53-6867-98B5B06C05E2}"/>
              </a:ext>
            </a:extLst>
          </p:cNvPr>
          <p:cNvSpPr>
            <a:spLocks noChangeArrowheads="1"/>
          </p:cNvSpPr>
          <p:nvPr/>
        </p:nvSpPr>
        <p:spPr bwMode="blackWhite">
          <a:xfrm>
            <a:off x="933450" y="1812925"/>
            <a:ext cx="7486650" cy="17541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3087688" algn="l"/>
              </a:tabLst>
              <a:defRPr sz="2800">
                <a:solidFill>
                  <a:schemeClr val="tx1"/>
                </a:solidFill>
                <a:latin typeface="Arial" panose="020B0604020202020204" pitchFamily="34" charset="0"/>
              </a:defRPr>
            </a:lvl1pPr>
            <a:lvl2pPr marL="742950" indent="-285750">
              <a:spcBef>
                <a:spcPct val="20000"/>
              </a:spcBef>
              <a:buChar char="–"/>
              <a:tabLst>
                <a:tab pos="1200150" algn="l"/>
                <a:tab pos="3087688" algn="l"/>
              </a:tabLst>
              <a:defRPr sz="2400">
                <a:solidFill>
                  <a:schemeClr val="tx1"/>
                </a:solidFill>
                <a:latin typeface="Arial" panose="020B0604020202020204" pitchFamily="34" charset="0"/>
              </a:defRPr>
            </a:lvl2pPr>
            <a:lvl3pPr marL="1143000" indent="-228600">
              <a:spcBef>
                <a:spcPct val="20000"/>
              </a:spcBef>
              <a:buChar char="•"/>
              <a:tabLst>
                <a:tab pos="1200150" algn="l"/>
                <a:tab pos="3087688" algn="l"/>
              </a:tabLst>
              <a:defRPr sz="2000">
                <a:solidFill>
                  <a:schemeClr val="tx1"/>
                </a:solidFill>
                <a:latin typeface="Arial" panose="020B0604020202020204" pitchFamily="34" charset="0"/>
              </a:defRPr>
            </a:lvl3pPr>
            <a:lvl4pPr marL="1600200" indent="-228600">
              <a:spcBef>
                <a:spcPct val="20000"/>
              </a:spcBef>
              <a:buChar char="–"/>
              <a:tabLst>
                <a:tab pos="1200150" algn="l"/>
                <a:tab pos="3087688" algn="l"/>
              </a:tabLst>
              <a:defRPr sz="2000">
                <a:solidFill>
                  <a:schemeClr val="tx1"/>
                </a:solidFill>
                <a:latin typeface="Arial" panose="020B0604020202020204" pitchFamily="34" charset="0"/>
              </a:defRPr>
            </a:lvl4pPr>
            <a:lvl5pPr marL="2057400" indent="-228600">
              <a:spcBef>
                <a:spcPct val="20000"/>
              </a:spcBef>
              <a:buChar char="»"/>
              <a:tabLst>
                <a:tab pos="1200150" algn="l"/>
                <a:tab pos="30876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6867" name="Rectangle 3">
            <a:extLst>
              <a:ext uri="{FF2B5EF4-FFF2-40B4-BE49-F238E27FC236}">
                <a16:creationId xmlns:a16="http://schemas.microsoft.com/office/drawing/2014/main" id="{2D9A6E8B-FC0E-034F-E333-F8DCB2A527AC}"/>
              </a:ext>
            </a:extLst>
          </p:cNvPr>
          <p:cNvSpPr>
            <a:spLocks noGrp="1" noChangeArrowheads="1"/>
          </p:cNvSpPr>
          <p:nvPr>
            <p:ph type="title"/>
          </p:nvPr>
        </p:nvSpPr>
        <p:spPr>
          <a:xfrm>
            <a:off x="433388" y="228600"/>
            <a:ext cx="4067175" cy="896938"/>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What Is Wrong </a:t>
            </a:r>
            <a:br>
              <a:rPr lang="en-US" altLang="en-US" sz="2800">
                <a:solidFill>
                  <a:srgbClr val="800000"/>
                </a:solidFill>
              </a:rPr>
            </a:br>
            <a:r>
              <a:rPr lang="en-US" altLang="en-US" sz="2800">
                <a:solidFill>
                  <a:srgbClr val="800000"/>
                </a:solidFill>
              </a:rPr>
              <a:t>with This Statement?</a:t>
            </a:r>
          </a:p>
        </p:txBody>
      </p:sp>
      <p:grpSp>
        <p:nvGrpSpPr>
          <p:cNvPr id="307204" name="Group 4">
            <a:extLst>
              <a:ext uri="{FF2B5EF4-FFF2-40B4-BE49-F238E27FC236}">
                <a16:creationId xmlns:a16="http://schemas.microsoft.com/office/drawing/2014/main" id="{350337EF-CC0C-34E8-9964-5F2681D6F3AA}"/>
              </a:ext>
            </a:extLst>
          </p:cNvPr>
          <p:cNvGrpSpPr>
            <a:grpSpLocks/>
          </p:cNvGrpSpPr>
          <p:nvPr/>
        </p:nvGrpSpPr>
        <p:grpSpPr bwMode="auto">
          <a:xfrm>
            <a:off x="3105150" y="2374900"/>
            <a:ext cx="5041900" cy="1174750"/>
            <a:chOff x="1956" y="1496"/>
            <a:chExt cx="3176" cy="740"/>
          </a:xfrm>
        </p:grpSpPr>
        <p:sp>
          <p:nvSpPr>
            <p:cNvPr id="36872" name="Rectangle 5">
              <a:extLst>
                <a:ext uri="{FF2B5EF4-FFF2-40B4-BE49-F238E27FC236}">
                  <a16:creationId xmlns:a16="http://schemas.microsoft.com/office/drawing/2014/main" id="{D0D56F3C-3E7C-FFDA-90F0-C3306E43B42F}"/>
                </a:ext>
              </a:extLst>
            </p:cNvPr>
            <p:cNvSpPr>
              <a:spLocks noChangeArrowheads="1"/>
            </p:cNvSpPr>
            <p:nvPr/>
          </p:nvSpPr>
          <p:spPr bwMode="ltGray">
            <a:xfrm>
              <a:off x="2532" y="1668"/>
              <a:ext cx="2600" cy="567"/>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36873" name="Group 6">
              <a:extLst>
                <a:ext uri="{FF2B5EF4-FFF2-40B4-BE49-F238E27FC236}">
                  <a16:creationId xmlns:a16="http://schemas.microsoft.com/office/drawing/2014/main" id="{D8761C60-9597-40DD-1412-D7FA0A922CE2}"/>
                </a:ext>
              </a:extLst>
            </p:cNvPr>
            <p:cNvGrpSpPr>
              <a:grpSpLocks/>
            </p:cNvGrpSpPr>
            <p:nvPr/>
          </p:nvGrpSpPr>
          <p:grpSpPr bwMode="auto">
            <a:xfrm>
              <a:off x="1956" y="1496"/>
              <a:ext cx="2228" cy="740"/>
              <a:chOff x="1956" y="1496"/>
              <a:chExt cx="2228" cy="740"/>
            </a:xfrm>
          </p:grpSpPr>
          <p:sp>
            <p:nvSpPr>
              <p:cNvPr id="36874" name="Rectangle 7">
                <a:extLst>
                  <a:ext uri="{FF2B5EF4-FFF2-40B4-BE49-F238E27FC236}">
                    <a16:creationId xmlns:a16="http://schemas.microsoft.com/office/drawing/2014/main" id="{5CDB87FE-8913-546F-BA4C-72293FA994FF}"/>
                  </a:ext>
                </a:extLst>
              </p:cNvPr>
              <p:cNvSpPr>
                <a:spLocks noChangeArrowheads="1"/>
              </p:cNvSpPr>
              <p:nvPr/>
            </p:nvSpPr>
            <p:spPr bwMode="ltGray">
              <a:xfrm>
                <a:off x="2568" y="2016"/>
                <a:ext cx="1616" cy="220"/>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6875" name="Rectangle 8">
                <a:extLst>
                  <a:ext uri="{FF2B5EF4-FFF2-40B4-BE49-F238E27FC236}">
                    <a16:creationId xmlns:a16="http://schemas.microsoft.com/office/drawing/2014/main" id="{B5AFEE06-464A-9444-A98B-BE9D2D836650}"/>
                  </a:ext>
                </a:extLst>
              </p:cNvPr>
              <p:cNvSpPr>
                <a:spLocks noChangeArrowheads="1"/>
              </p:cNvSpPr>
              <p:nvPr/>
            </p:nvSpPr>
            <p:spPr bwMode="ltGray">
              <a:xfrm>
                <a:off x="1956" y="1496"/>
                <a:ext cx="288" cy="220"/>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grpSp>
      <p:sp>
        <p:nvSpPr>
          <p:cNvPr id="307209" name="Rectangle 9">
            <a:extLst>
              <a:ext uri="{FF2B5EF4-FFF2-40B4-BE49-F238E27FC236}">
                <a16:creationId xmlns:a16="http://schemas.microsoft.com/office/drawing/2014/main" id="{2062EE3B-0540-7850-B905-1EA387935568}"/>
              </a:ext>
            </a:extLst>
          </p:cNvPr>
          <p:cNvSpPr>
            <a:spLocks noChangeArrowheads="1"/>
          </p:cNvSpPr>
          <p:nvPr/>
        </p:nvSpPr>
        <p:spPr bwMode="blackWhite">
          <a:xfrm>
            <a:off x="946150" y="3789040"/>
            <a:ext cx="7473950" cy="1465263"/>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ERROR:</a:t>
            </a:r>
          </a:p>
          <a:p>
            <a:pPr>
              <a:spcBef>
                <a:spcPct val="0"/>
              </a:spcBef>
              <a:buFontTx/>
              <a:buNone/>
            </a:pPr>
            <a:r>
              <a:rPr lang="en-US" altLang="en-US" sz="1800" b="1">
                <a:solidFill>
                  <a:srgbClr val="000000"/>
                </a:solidFill>
                <a:latin typeface="Courier New" panose="02070309020205020404" pitchFamily="49" charset="0"/>
              </a:rPr>
              <a:t>ORA-01427: single-row subquery returns more than</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one row</a:t>
            </a: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no rows selected</a:t>
            </a:r>
          </a:p>
        </p:txBody>
      </p:sp>
      <p:sp>
        <p:nvSpPr>
          <p:cNvPr id="36870" name="Rectangle 10">
            <a:extLst>
              <a:ext uri="{FF2B5EF4-FFF2-40B4-BE49-F238E27FC236}">
                <a16:creationId xmlns:a16="http://schemas.microsoft.com/office/drawing/2014/main" id="{3502E14F-56B3-74A9-6C03-042BAE5F8F56}"/>
              </a:ext>
            </a:extLst>
          </p:cNvPr>
          <p:cNvSpPr>
            <a:spLocks noChangeArrowheads="1"/>
          </p:cNvSpPr>
          <p:nvPr/>
        </p:nvSpPr>
        <p:spPr bwMode="blackWhite">
          <a:xfrm>
            <a:off x="933450" y="1800225"/>
            <a:ext cx="7315200" cy="177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3087688" algn="l"/>
              </a:tabLst>
              <a:defRPr sz="2800">
                <a:solidFill>
                  <a:schemeClr val="tx1"/>
                </a:solidFill>
                <a:latin typeface="Arial" panose="020B0604020202020204" pitchFamily="34" charset="0"/>
              </a:defRPr>
            </a:lvl1pPr>
            <a:lvl2pPr marL="742950" indent="-285750">
              <a:spcBef>
                <a:spcPct val="20000"/>
              </a:spcBef>
              <a:buChar char="–"/>
              <a:tabLst>
                <a:tab pos="1200150" algn="l"/>
                <a:tab pos="3087688" algn="l"/>
              </a:tabLst>
              <a:defRPr sz="2400">
                <a:solidFill>
                  <a:schemeClr val="tx1"/>
                </a:solidFill>
                <a:latin typeface="Arial" panose="020B0604020202020204" pitchFamily="34" charset="0"/>
              </a:defRPr>
            </a:lvl2pPr>
            <a:lvl3pPr marL="1143000" indent="-228600">
              <a:spcBef>
                <a:spcPct val="20000"/>
              </a:spcBef>
              <a:buChar char="•"/>
              <a:tabLst>
                <a:tab pos="1200150" algn="l"/>
                <a:tab pos="3087688" algn="l"/>
              </a:tabLst>
              <a:defRPr sz="2000">
                <a:solidFill>
                  <a:schemeClr val="tx1"/>
                </a:solidFill>
                <a:latin typeface="Arial" panose="020B0604020202020204" pitchFamily="34" charset="0"/>
              </a:defRPr>
            </a:lvl3pPr>
            <a:lvl4pPr marL="1600200" indent="-228600">
              <a:spcBef>
                <a:spcPct val="20000"/>
              </a:spcBef>
              <a:buChar char="–"/>
              <a:tabLst>
                <a:tab pos="1200150" algn="l"/>
                <a:tab pos="3087688" algn="l"/>
              </a:tabLst>
              <a:defRPr sz="2000">
                <a:solidFill>
                  <a:schemeClr val="tx1"/>
                </a:solidFill>
                <a:latin typeface="Arial" panose="020B0604020202020204" pitchFamily="34" charset="0"/>
              </a:defRPr>
            </a:lvl4pPr>
            <a:lvl5pPr marL="2057400" indent="-228600">
              <a:spcBef>
                <a:spcPct val="20000"/>
              </a:spcBef>
              <a:buChar char="»"/>
              <a:tabLst>
                <a:tab pos="1200150" algn="l"/>
                <a:tab pos="30876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empno, ename</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sal = </a:t>
            </a:r>
          </a:p>
          <a:p>
            <a:pPr>
              <a:spcBef>
                <a:spcPct val="0"/>
              </a:spcBef>
              <a:buFontTx/>
              <a:buNone/>
            </a:pPr>
            <a:r>
              <a:rPr lang="en-US" altLang="en-US" sz="1800" b="1">
                <a:solidFill>
                  <a:srgbClr val="000000"/>
                </a:solidFill>
                <a:latin typeface="Courier New" panose="02070309020205020404" pitchFamily="49" charset="0"/>
              </a:rPr>
              <a:t>  4		(SELECT   MIN(sal)</a:t>
            </a:r>
          </a:p>
          <a:p>
            <a:pPr>
              <a:spcBef>
                <a:spcPct val="0"/>
              </a:spcBef>
              <a:buFontTx/>
              <a:buNone/>
            </a:pPr>
            <a:r>
              <a:rPr lang="en-US" altLang="en-US" sz="1800" b="1">
                <a:solidFill>
                  <a:srgbClr val="000000"/>
                </a:solidFill>
                <a:latin typeface="Courier New" panose="02070309020205020404" pitchFamily="49" charset="0"/>
              </a:rPr>
              <a:t>  5		FROM      emp</a:t>
            </a:r>
          </a:p>
          <a:p>
            <a:pPr>
              <a:spcBef>
                <a:spcPct val="0"/>
              </a:spcBef>
              <a:buFontTx/>
              <a:buNone/>
            </a:pPr>
            <a:r>
              <a:rPr lang="en-US" altLang="en-US" sz="1800" b="1">
                <a:solidFill>
                  <a:srgbClr val="000000"/>
                </a:solidFill>
                <a:latin typeface="Courier New" panose="02070309020205020404" pitchFamily="49" charset="0"/>
              </a:rPr>
              <a:t>  6		GROUP BY  deptno);</a:t>
            </a:r>
          </a:p>
        </p:txBody>
      </p:sp>
      <p:sp>
        <p:nvSpPr>
          <p:cNvPr id="307211" name="Rectangle 11">
            <a:extLst>
              <a:ext uri="{FF2B5EF4-FFF2-40B4-BE49-F238E27FC236}">
                <a16:creationId xmlns:a16="http://schemas.microsoft.com/office/drawing/2014/main" id="{ECEDCE0B-49C3-79D0-DDAA-35EEF3FC39B6}"/>
              </a:ext>
            </a:extLst>
          </p:cNvPr>
          <p:cNvSpPr>
            <a:spLocks noChangeArrowheads="1"/>
          </p:cNvSpPr>
          <p:nvPr/>
        </p:nvSpPr>
        <p:spPr bwMode="auto">
          <a:xfrm>
            <a:off x="2466975" y="5481949"/>
            <a:ext cx="3874459" cy="831639"/>
          </a:xfrm>
          <a:prstGeom prst="rect">
            <a:avLst/>
          </a:prstGeom>
          <a:noFill/>
          <a:ln>
            <a:noFill/>
          </a:ln>
          <a:effectLst/>
        </p:spPr>
        <p:txBody>
          <a:bodyPr wrap="none" lIns="92075" tIns="46038" rIns="92075" bIns="46038">
            <a:spAutoFit/>
          </a:bodyPr>
          <a:lstStyle/>
          <a:p>
            <a:pPr>
              <a:defRPr/>
            </a:pPr>
            <a:r>
              <a:rPr lang="en-US" b="1" dirty="0">
                <a:solidFill>
                  <a:srgbClr val="FF0000"/>
                </a:solidFill>
                <a:effectLst>
                  <a:outerShdw blurRad="38100" dist="38100" dir="2700000" algn="tl">
                    <a:srgbClr val="000000"/>
                  </a:outerShdw>
                </a:effectLst>
              </a:rPr>
              <a:t>Single-row operator with </a:t>
            </a:r>
          </a:p>
          <a:p>
            <a:pPr>
              <a:defRPr/>
            </a:pPr>
            <a:r>
              <a:rPr lang="en-US" b="1" dirty="0">
                <a:solidFill>
                  <a:srgbClr val="FF0000"/>
                </a:solidFill>
                <a:effectLst>
                  <a:outerShdw blurRad="38100" dist="38100" dir="2700000" algn="tl">
                    <a:srgbClr val="000000"/>
                  </a:outerShdw>
                </a:effectLst>
              </a:rPr>
              <a:t>multiple-row subquery</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07204"/>
                                        </p:tgtEl>
                                        <p:attrNameLst>
                                          <p:attrName>style.visibility</p:attrName>
                                        </p:attrNameLst>
                                      </p:cBhvr>
                                      <p:to>
                                        <p:strVal val="visible"/>
                                      </p:to>
                                    </p:set>
                                    <p:animEffect transition="in" filter="wipe(up)">
                                      <p:cBhvr>
                                        <p:cTn id="7" dur="500"/>
                                        <p:tgtEl>
                                          <p:spTgt spid="3072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07209"/>
                                        </p:tgtEl>
                                        <p:attrNameLst>
                                          <p:attrName>style.visibility</p:attrName>
                                        </p:attrNameLst>
                                      </p:cBhvr>
                                      <p:to>
                                        <p:strVal val="visible"/>
                                      </p:to>
                                    </p:set>
                                    <p:animEffect transition="in" filter="wipe(up)">
                                      <p:cBhvr>
                                        <p:cTn id="12" dur="500"/>
                                        <p:tgtEl>
                                          <p:spTgt spid="307209"/>
                                        </p:tgtEl>
                                      </p:cBhvr>
                                    </p:animEffect>
                                  </p:childTnLst>
                                </p:cTn>
                              </p:par>
                            </p:childTnLst>
                          </p:cTn>
                        </p:par>
                        <p:par>
                          <p:cTn id="13" fill="hold" nodeType="afterGroup">
                            <p:stCondLst>
                              <p:cond delay="500"/>
                            </p:stCondLst>
                            <p:childTnLst>
                              <p:par>
                                <p:cTn id="14" presetID="22" presetClass="entr" presetSubtype="4" fill="hold" nodeType="afterEffect">
                                  <p:stCondLst>
                                    <p:cond delay="0"/>
                                  </p:stCondLst>
                                  <p:childTnLst>
                                    <p:set>
                                      <p:cBhvr>
                                        <p:cTn id="15" dur="1" fill="hold">
                                          <p:stCondLst>
                                            <p:cond delay="0"/>
                                          </p:stCondLst>
                                        </p:cTn>
                                        <p:tgtEl>
                                          <p:spTgt spid="307211"/>
                                        </p:tgtEl>
                                        <p:attrNameLst>
                                          <p:attrName>style.visibility</p:attrName>
                                        </p:attrNameLst>
                                      </p:cBhvr>
                                      <p:to>
                                        <p:strVal val="visible"/>
                                      </p:to>
                                    </p:set>
                                    <p:animEffect transition="in" filter="wipe(down)">
                                      <p:cBhvr>
                                        <p:cTn id="16" dur="500"/>
                                        <p:tgtEl>
                                          <p:spTgt spid="307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9" grpId="0" animBg="1" autoUpdateAnimBg="0"/>
      <p:bldP spid="307211"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F1C7AA32-ACE7-453B-31C3-A1BCA884D8F1}"/>
              </a:ext>
            </a:extLst>
          </p:cNvPr>
          <p:cNvSpPr>
            <a:spLocks noChangeArrowheads="1"/>
          </p:cNvSpPr>
          <p:nvPr/>
        </p:nvSpPr>
        <p:spPr bwMode="blackWhite">
          <a:xfrm>
            <a:off x="927100" y="1965325"/>
            <a:ext cx="7493000" cy="17938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8915" name="Rectangle 3">
            <a:extLst>
              <a:ext uri="{FF2B5EF4-FFF2-40B4-BE49-F238E27FC236}">
                <a16:creationId xmlns:a16="http://schemas.microsoft.com/office/drawing/2014/main" id="{EF42686C-C687-E9E2-F045-5802308E74B3}"/>
              </a:ext>
            </a:extLst>
          </p:cNvPr>
          <p:cNvSpPr>
            <a:spLocks noGrp="1" noChangeArrowheads="1"/>
          </p:cNvSpPr>
          <p:nvPr>
            <p:ph type="title"/>
          </p:nvPr>
        </p:nvSpPr>
        <p:spPr>
          <a:xfrm>
            <a:off x="323850" y="660400"/>
            <a:ext cx="4570413"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Will This Statement Work?</a:t>
            </a:r>
          </a:p>
        </p:txBody>
      </p:sp>
      <p:grpSp>
        <p:nvGrpSpPr>
          <p:cNvPr id="309252" name="Group 4">
            <a:extLst>
              <a:ext uri="{FF2B5EF4-FFF2-40B4-BE49-F238E27FC236}">
                <a16:creationId xmlns:a16="http://schemas.microsoft.com/office/drawing/2014/main" id="{2219975E-3024-E002-6882-715BB500C332}"/>
              </a:ext>
            </a:extLst>
          </p:cNvPr>
          <p:cNvGrpSpPr>
            <a:grpSpLocks/>
          </p:cNvGrpSpPr>
          <p:nvPr/>
        </p:nvGrpSpPr>
        <p:grpSpPr bwMode="auto">
          <a:xfrm>
            <a:off x="3506788" y="2800350"/>
            <a:ext cx="4640262" cy="935038"/>
            <a:chOff x="2209" y="1764"/>
            <a:chExt cx="2923" cy="589"/>
          </a:xfrm>
        </p:grpSpPr>
        <p:sp>
          <p:nvSpPr>
            <p:cNvPr id="38920" name="Rectangle 5">
              <a:extLst>
                <a:ext uri="{FF2B5EF4-FFF2-40B4-BE49-F238E27FC236}">
                  <a16:creationId xmlns:a16="http://schemas.microsoft.com/office/drawing/2014/main" id="{D53DB3B4-4120-83BB-01FF-3384A2A20ECB}"/>
                </a:ext>
              </a:extLst>
            </p:cNvPr>
            <p:cNvSpPr>
              <a:spLocks noChangeArrowheads="1"/>
            </p:cNvSpPr>
            <p:nvPr/>
          </p:nvSpPr>
          <p:spPr bwMode="ltGray">
            <a:xfrm>
              <a:off x="2209" y="1764"/>
              <a:ext cx="2923" cy="589"/>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21" name="Rectangle 6">
              <a:extLst>
                <a:ext uri="{FF2B5EF4-FFF2-40B4-BE49-F238E27FC236}">
                  <a16:creationId xmlns:a16="http://schemas.microsoft.com/office/drawing/2014/main" id="{F69CD77A-16F4-DD24-9D24-D8B25329ECA4}"/>
                </a:ext>
              </a:extLst>
            </p:cNvPr>
            <p:cNvSpPr>
              <a:spLocks noChangeArrowheads="1"/>
            </p:cNvSpPr>
            <p:nvPr/>
          </p:nvSpPr>
          <p:spPr bwMode="ltGray">
            <a:xfrm>
              <a:off x="2220" y="2124"/>
              <a:ext cx="2040" cy="216"/>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309255" name="Rectangle 7">
            <a:extLst>
              <a:ext uri="{FF2B5EF4-FFF2-40B4-BE49-F238E27FC236}">
                <a16:creationId xmlns:a16="http://schemas.microsoft.com/office/drawing/2014/main" id="{18B74C7E-A271-1820-D153-0B760F9905CB}"/>
              </a:ext>
            </a:extLst>
          </p:cNvPr>
          <p:cNvSpPr>
            <a:spLocks noChangeArrowheads="1"/>
          </p:cNvSpPr>
          <p:nvPr/>
        </p:nvSpPr>
        <p:spPr bwMode="blackWhite">
          <a:xfrm>
            <a:off x="927100" y="4171950"/>
            <a:ext cx="7493000" cy="4064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3087688" algn="l"/>
              </a:tabLst>
              <a:defRPr sz="2800">
                <a:solidFill>
                  <a:schemeClr val="tx1"/>
                </a:solidFill>
                <a:latin typeface="Arial" panose="020B0604020202020204" pitchFamily="34" charset="0"/>
              </a:defRPr>
            </a:lvl1pPr>
            <a:lvl2pPr marL="742950" indent="-285750">
              <a:spcBef>
                <a:spcPct val="20000"/>
              </a:spcBef>
              <a:buChar char="–"/>
              <a:tabLst>
                <a:tab pos="1200150" algn="l"/>
                <a:tab pos="3087688" algn="l"/>
              </a:tabLst>
              <a:defRPr sz="2400">
                <a:solidFill>
                  <a:schemeClr val="tx1"/>
                </a:solidFill>
                <a:latin typeface="Arial" panose="020B0604020202020204" pitchFamily="34" charset="0"/>
              </a:defRPr>
            </a:lvl2pPr>
            <a:lvl3pPr marL="1143000" indent="-228600">
              <a:spcBef>
                <a:spcPct val="20000"/>
              </a:spcBef>
              <a:buChar char="•"/>
              <a:tabLst>
                <a:tab pos="1200150" algn="l"/>
                <a:tab pos="3087688" algn="l"/>
              </a:tabLst>
              <a:defRPr sz="2000">
                <a:solidFill>
                  <a:schemeClr val="tx1"/>
                </a:solidFill>
                <a:latin typeface="Arial" panose="020B0604020202020204" pitchFamily="34" charset="0"/>
              </a:defRPr>
            </a:lvl3pPr>
            <a:lvl4pPr marL="1600200" indent="-228600">
              <a:spcBef>
                <a:spcPct val="20000"/>
              </a:spcBef>
              <a:buChar char="–"/>
              <a:tabLst>
                <a:tab pos="1200150" algn="l"/>
                <a:tab pos="3087688" algn="l"/>
              </a:tabLst>
              <a:defRPr sz="2000">
                <a:solidFill>
                  <a:schemeClr val="tx1"/>
                </a:solidFill>
                <a:latin typeface="Arial" panose="020B0604020202020204" pitchFamily="34" charset="0"/>
              </a:defRPr>
            </a:lvl4pPr>
            <a:lvl5pPr marL="2057400" indent="-228600">
              <a:spcBef>
                <a:spcPct val="20000"/>
              </a:spcBef>
              <a:buChar char="»"/>
              <a:tabLst>
                <a:tab pos="1200150" algn="l"/>
                <a:tab pos="30876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3087688"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no rows selected</a:t>
            </a:r>
          </a:p>
        </p:txBody>
      </p:sp>
      <p:sp>
        <p:nvSpPr>
          <p:cNvPr id="309256" name="Rectangle 8">
            <a:extLst>
              <a:ext uri="{FF2B5EF4-FFF2-40B4-BE49-F238E27FC236}">
                <a16:creationId xmlns:a16="http://schemas.microsoft.com/office/drawing/2014/main" id="{4315E0B2-740C-80C4-F9BD-76428F56CDF0}"/>
              </a:ext>
            </a:extLst>
          </p:cNvPr>
          <p:cNvSpPr>
            <a:spLocks noChangeArrowheads="1"/>
          </p:cNvSpPr>
          <p:nvPr/>
        </p:nvSpPr>
        <p:spPr bwMode="auto">
          <a:xfrm rot="20340000">
            <a:off x="3003550" y="4171950"/>
            <a:ext cx="4214813" cy="457200"/>
          </a:xfrm>
          <a:prstGeom prst="rect">
            <a:avLst/>
          </a:prstGeom>
          <a:noFill/>
          <a:ln>
            <a:noFill/>
          </a:ln>
          <a:effectLst/>
        </p:spPr>
        <p:txBody>
          <a:bodyPr wrap="none" lIns="92075" tIns="46038" rIns="92075" bIns="46038">
            <a:spAutoFit/>
          </a:bodyPr>
          <a:lstStyle/>
          <a:p>
            <a:pPr>
              <a:defRPr/>
            </a:pPr>
            <a:r>
              <a:rPr lang="en-US" b="1" dirty="0">
                <a:solidFill>
                  <a:schemeClr val="accent2"/>
                </a:solidFill>
                <a:effectLst>
                  <a:outerShdw blurRad="38100" dist="38100" dir="2700000" algn="tl">
                    <a:srgbClr val="000000"/>
                  </a:outerShdw>
                </a:effectLst>
              </a:rPr>
              <a:t>Subquery returns no values</a:t>
            </a:r>
          </a:p>
        </p:txBody>
      </p:sp>
      <p:sp>
        <p:nvSpPr>
          <p:cNvPr id="38919" name="Rectangle 9">
            <a:extLst>
              <a:ext uri="{FF2B5EF4-FFF2-40B4-BE49-F238E27FC236}">
                <a16:creationId xmlns:a16="http://schemas.microsoft.com/office/drawing/2014/main" id="{344C1E93-C80B-04CD-5624-14C6331C96C8}"/>
              </a:ext>
            </a:extLst>
          </p:cNvPr>
          <p:cNvSpPr>
            <a:spLocks noChangeArrowheads="1"/>
          </p:cNvSpPr>
          <p:nvPr/>
        </p:nvSpPr>
        <p:spPr bwMode="blackWhite">
          <a:xfrm>
            <a:off x="914400" y="1952625"/>
            <a:ext cx="7315200" cy="181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257175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ename, job</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job = </a:t>
            </a:r>
          </a:p>
          <a:p>
            <a:pPr>
              <a:spcBef>
                <a:spcPct val="0"/>
              </a:spcBef>
              <a:buFontTx/>
              <a:buNone/>
            </a:pPr>
            <a:r>
              <a:rPr lang="en-US" altLang="en-US" sz="1800" b="1">
                <a:solidFill>
                  <a:srgbClr val="000000"/>
                </a:solidFill>
                <a:latin typeface="Courier New" panose="02070309020205020404" pitchFamily="49" charset="0"/>
              </a:rPr>
              <a:t>  4		(SELECT	job</a:t>
            </a:r>
          </a:p>
          <a:p>
            <a:pPr>
              <a:spcBef>
                <a:spcPct val="0"/>
              </a:spcBef>
              <a:buFontTx/>
              <a:buNone/>
            </a:pPr>
            <a:r>
              <a:rPr lang="en-US" altLang="en-US" sz="1800" b="1">
                <a:solidFill>
                  <a:srgbClr val="000000"/>
                </a:solidFill>
                <a:latin typeface="Courier New" panose="02070309020205020404" pitchFamily="49" charset="0"/>
              </a:rPr>
              <a:t>  5		FROM	emp</a:t>
            </a:r>
          </a:p>
          <a:p>
            <a:pPr>
              <a:spcBef>
                <a:spcPct val="0"/>
              </a:spcBef>
              <a:buFontTx/>
              <a:buNone/>
            </a:pPr>
            <a:r>
              <a:rPr lang="en-US" altLang="en-US" sz="1800" b="1">
                <a:solidFill>
                  <a:srgbClr val="000000"/>
                </a:solidFill>
                <a:latin typeface="Courier New" panose="02070309020205020404" pitchFamily="49" charset="0"/>
              </a:rPr>
              <a:t>  6		WHERE	ename='SMYTHE');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09252"/>
                                        </p:tgtEl>
                                        <p:attrNameLst>
                                          <p:attrName>style.visibility</p:attrName>
                                        </p:attrNameLst>
                                      </p:cBhvr>
                                      <p:to>
                                        <p:strVal val="visible"/>
                                      </p:to>
                                    </p:set>
                                    <p:animEffect transition="in" filter="wipe(up)">
                                      <p:cBhvr>
                                        <p:cTn id="7" dur="500"/>
                                        <p:tgtEl>
                                          <p:spTgt spid="3092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09255"/>
                                        </p:tgtEl>
                                        <p:attrNameLst>
                                          <p:attrName>style.visibility</p:attrName>
                                        </p:attrNameLst>
                                      </p:cBhvr>
                                      <p:to>
                                        <p:strVal val="visible"/>
                                      </p:to>
                                    </p:set>
                                    <p:animEffect transition="in" filter="wipe(up)">
                                      <p:cBhvr>
                                        <p:cTn id="12" dur="500"/>
                                        <p:tgtEl>
                                          <p:spTgt spid="309255"/>
                                        </p:tgtEl>
                                      </p:cBhvr>
                                    </p:animEffect>
                                  </p:childTnLst>
                                </p:cTn>
                              </p:par>
                            </p:childTnLst>
                          </p:cTn>
                        </p:par>
                        <p:par>
                          <p:cTn id="13" fill="hold" nodeType="afterGroup">
                            <p:stCondLst>
                              <p:cond delay="500"/>
                            </p:stCondLst>
                            <p:childTnLst>
                              <p:par>
                                <p:cTn id="14" presetID="22" presetClass="entr" presetSubtype="4" fill="hold" nodeType="afterEffect">
                                  <p:stCondLst>
                                    <p:cond delay="0"/>
                                  </p:stCondLst>
                                  <p:childTnLst>
                                    <p:set>
                                      <p:cBhvr>
                                        <p:cTn id="15" dur="1" fill="hold">
                                          <p:stCondLst>
                                            <p:cond delay="0"/>
                                          </p:stCondLst>
                                        </p:cTn>
                                        <p:tgtEl>
                                          <p:spTgt spid="309256"/>
                                        </p:tgtEl>
                                        <p:attrNameLst>
                                          <p:attrName>style.visibility</p:attrName>
                                        </p:attrNameLst>
                                      </p:cBhvr>
                                      <p:to>
                                        <p:strVal val="visible"/>
                                      </p:to>
                                    </p:set>
                                    <p:animEffect transition="in" filter="wipe(down)">
                                      <p:cBhvr>
                                        <p:cTn id="16" dur="500"/>
                                        <p:tgtEl>
                                          <p:spTgt spid="309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5" grpId="0" animBg="1" autoUpdateAnimBg="0"/>
      <p:bldP spid="30925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CA080C6-5F15-7B9A-1781-0C862CCC49D1}"/>
              </a:ext>
            </a:extLst>
          </p:cNvPr>
          <p:cNvSpPr>
            <a:spLocks noGrp="1" noChangeArrowheads="1"/>
          </p:cNvSpPr>
          <p:nvPr>
            <p:ph type="title"/>
          </p:nvPr>
        </p:nvSpPr>
        <p:spPr>
          <a:xfrm>
            <a:off x="323850" y="660400"/>
            <a:ext cx="4210050"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Multiple-Row Subqueries</a:t>
            </a:r>
          </a:p>
        </p:txBody>
      </p:sp>
      <p:sp>
        <p:nvSpPr>
          <p:cNvPr id="40963" name="Rectangle 3">
            <a:extLst>
              <a:ext uri="{FF2B5EF4-FFF2-40B4-BE49-F238E27FC236}">
                <a16:creationId xmlns:a16="http://schemas.microsoft.com/office/drawing/2014/main" id="{C134F5BD-713B-4F96-1413-5FC487FF2BBB}"/>
              </a:ext>
            </a:extLst>
          </p:cNvPr>
          <p:cNvSpPr>
            <a:spLocks noGrp="1" noChangeArrowheads="1"/>
          </p:cNvSpPr>
          <p:nvPr>
            <p:ph type="body" idx="1"/>
          </p:nvPr>
        </p:nvSpPr>
        <p:spPr>
          <a:xfrm>
            <a:off x="179388" y="1263650"/>
            <a:ext cx="8275637" cy="5262563"/>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pPr lvl="1"/>
            <a:r>
              <a:rPr lang="en-US" altLang="en-US"/>
              <a:t>Return more than one row</a:t>
            </a:r>
          </a:p>
          <a:p>
            <a:pPr lvl="1"/>
            <a:r>
              <a:rPr lang="en-US" altLang="en-US"/>
              <a:t>Use multiple-row comparison operators</a:t>
            </a:r>
          </a:p>
          <a:p>
            <a:pPr lvl="1"/>
            <a:endParaRPr lang="en-US" altLang="en-US"/>
          </a:p>
          <a:p>
            <a:pPr lvl="1"/>
            <a:endParaRPr lang="en-US" altLang="en-US"/>
          </a:p>
          <a:p>
            <a:pPr lvl="1"/>
            <a:endParaRPr lang="en-US" altLang="en-US"/>
          </a:p>
          <a:p>
            <a:pPr lvl="1"/>
            <a:endParaRPr lang="en-US" altLang="en-US"/>
          </a:p>
          <a:p>
            <a:pPr lvl="1"/>
            <a:endParaRPr lang="en-US" altLang="en-US"/>
          </a:p>
          <a:p>
            <a:pPr lvl="1"/>
            <a:endParaRPr lang="en-US" altLang="en-US"/>
          </a:p>
          <a:p>
            <a:pPr lvl="1"/>
            <a:endParaRPr lang="en-US" altLang="en-US"/>
          </a:p>
          <a:p>
            <a:pPr lvl="1"/>
            <a:endParaRPr lang="en-US" altLang="en-US"/>
          </a:p>
          <a:p>
            <a:pPr lvl="1"/>
            <a:r>
              <a:rPr lang="en-US" altLang="en-US"/>
              <a:t>ANY, ALL must always be proceeded by any of the </a:t>
            </a:r>
            <a:r>
              <a:rPr lang="en-US" altLang="en-US">
                <a:solidFill>
                  <a:schemeClr val="accent2"/>
                </a:solidFill>
              </a:rPr>
              <a:t>relational operators (&lt;, &lt;=, &gt;, &gt;=, =, &lt;&gt;)</a:t>
            </a:r>
          </a:p>
        </p:txBody>
      </p:sp>
      <p:sp>
        <p:nvSpPr>
          <p:cNvPr id="40964" name="Rectangle 4">
            <a:extLst>
              <a:ext uri="{FF2B5EF4-FFF2-40B4-BE49-F238E27FC236}">
                <a16:creationId xmlns:a16="http://schemas.microsoft.com/office/drawing/2014/main" id="{3AFDE458-58A1-52FC-C6D8-0D580F1431BF}"/>
              </a:ext>
            </a:extLst>
          </p:cNvPr>
          <p:cNvSpPr>
            <a:spLocks noChangeArrowheads="1"/>
          </p:cNvSpPr>
          <p:nvPr/>
        </p:nvSpPr>
        <p:spPr bwMode="auto">
          <a:xfrm>
            <a:off x="684213" y="2227263"/>
            <a:ext cx="1939925" cy="3384550"/>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0000"/>
              </a:lnSpc>
              <a:spcBef>
                <a:spcPct val="60000"/>
              </a:spcBef>
              <a:buFontTx/>
              <a:buNone/>
            </a:pPr>
            <a:r>
              <a:rPr lang="en-US" altLang="en-US" sz="1800" b="1">
                <a:solidFill>
                  <a:srgbClr val="000000"/>
                </a:solidFill>
              </a:rPr>
              <a:t>Operator</a:t>
            </a:r>
          </a:p>
          <a:p>
            <a:pPr>
              <a:lnSpc>
                <a:spcPct val="120000"/>
              </a:lnSpc>
              <a:spcBef>
                <a:spcPct val="60000"/>
              </a:spcBef>
              <a:buFontTx/>
              <a:buNone/>
            </a:pPr>
            <a:r>
              <a:rPr lang="en-US" altLang="en-US" sz="1800" b="1">
                <a:solidFill>
                  <a:srgbClr val="000000"/>
                </a:solidFill>
              </a:rPr>
              <a:t>      IN</a:t>
            </a:r>
          </a:p>
          <a:p>
            <a:pPr>
              <a:lnSpc>
                <a:spcPct val="120000"/>
              </a:lnSpc>
              <a:spcBef>
                <a:spcPct val="60000"/>
              </a:spcBef>
              <a:buFontTx/>
              <a:buNone/>
            </a:pPr>
            <a:r>
              <a:rPr lang="en-US" altLang="en-US" sz="1800" b="1">
                <a:solidFill>
                  <a:srgbClr val="000000"/>
                </a:solidFill>
              </a:rPr>
              <a:t>     ANY</a:t>
            </a:r>
          </a:p>
          <a:p>
            <a:pPr>
              <a:lnSpc>
                <a:spcPct val="120000"/>
              </a:lnSpc>
              <a:spcBef>
                <a:spcPct val="60000"/>
              </a:spcBef>
              <a:buFontTx/>
              <a:buNone/>
            </a:pPr>
            <a:r>
              <a:rPr lang="en-US" altLang="en-US" sz="1800" b="1">
                <a:solidFill>
                  <a:srgbClr val="000000"/>
                </a:solidFill>
              </a:rPr>
              <a:t>   </a:t>
            </a:r>
          </a:p>
          <a:p>
            <a:pPr>
              <a:lnSpc>
                <a:spcPct val="120000"/>
              </a:lnSpc>
              <a:spcBef>
                <a:spcPct val="60000"/>
              </a:spcBef>
              <a:buFontTx/>
              <a:buNone/>
            </a:pPr>
            <a:endParaRPr lang="en-US" altLang="en-US" sz="1800" b="1">
              <a:solidFill>
                <a:srgbClr val="000000"/>
              </a:solidFill>
            </a:endParaRPr>
          </a:p>
          <a:p>
            <a:pPr>
              <a:lnSpc>
                <a:spcPct val="120000"/>
              </a:lnSpc>
              <a:spcBef>
                <a:spcPct val="60000"/>
              </a:spcBef>
              <a:buFontTx/>
              <a:buNone/>
            </a:pPr>
            <a:r>
              <a:rPr lang="en-US" altLang="en-US" sz="1800" b="1">
                <a:solidFill>
                  <a:srgbClr val="000000"/>
                </a:solidFill>
              </a:rPr>
              <a:t>    ALL</a:t>
            </a:r>
          </a:p>
        </p:txBody>
      </p:sp>
      <p:sp>
        <p:nvSpPr>
          <p:cNvPr id="40965" name="Rectangle 5">
            <a:extLst>
              <a:ext uri="{FF2B5EF4-FFF2-40B4-BE49-F238E27FC236}">
                <a16:creationId xmlns:a16="http://schemas.microsoft.com/office/drawing/2014/main" id="{D243D982-2441-C468-C0DE-FECE48725594}"/>
              </a:ext>
            </a:extLst>
          </p:cNvPr>
          <p:cNvSpPr>
            <a:spLocks noChangeArrowheads="1"/>
          </p:cNvSpPr>
          <p:nvPr/>
        </p:nvSpPr>
        <p:spPr bwMode="auto">
          <a:xfrm>
            <a:off x="1979613" y="2222500"/>
            <a:ext cx="6192837" cy="3389313"/>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0000"/>
              </a:lnSpc>
              <a:spcBef>
                <a:spcPct val="60000"/>
              </a:spcBef>
              <a:buFontTx/>
              <a:buNone/>
            </a:pPr>
            <a:r>
              <a:rPr lang="en-US" altLang="en-US" sz="1800" b="1" dirty="0">
                <a:solidFill>
                  <a:srgbClr val="000000"/>
                </a:solidFill>
              </a:rPr>
              <a:t>Meaning</a:t>
            </a:r>
          </a:p>
          <a:p>
            <a:pPr>
              <a:lnSpc>
                <a:spcPct val="120000"/>
              </a:lnSpc>
              <a:spcBef>
                <a:spcPct val="60000"/>
              </a:spcBef>
              <a:buFontTx/>
              <a:buNone/>
            </a:pPr>
            <a:r>
              <a:rPr lang="en-US" altLang="en-US" sz="1800" b="1" dirty="0">
                <a:solidFill>
                  <a:srgbClr val="000000"/>
                </a:solidFill>
              </a:rPr>
              <a:t>Equal to any member in the list</a:t>
            </a:r>
          </a:p>
          <a:p>
            <a:pPr>
              <a:lnSpc>
                <a:spcPct val="120000"/>
              </a:lnSpc>
              <a:spcBef>
                <a:spcPct val="60000"/>
              </a:spcBef>
              <a:buFontTx/>
              <a:buNone/>
            </a:pPr>
            <a:r>
              <a:rPr lang="en-US" altLang="en-US" sz="1800" b="1" dirty="0">
                <a:solidFill>
                  <a:srgbClr val="000000"/>
                </a:solidFill>
              </a:rPr>
              <a:t>Compare value to each value returned by the subquery. The overall result is TRUE if it is TRUE for ANY of the values returned by the subquery. </a:t>
            </a:r>
          </a:p>
          <a:p>
            <a:pPr>
              <a:lnSpc>
                <a:spcPct val="120000"/>
              </a:lnSpc>
              <a:spcBef>
                <a:spcPct val="60000"/>
              </a:spcBef>
              <a:buFontTx/>
              <a:buNone/>
            </a:pPr>
            <a:r>
              <a:rPr lang="en-US" altLang="en-US" sz="1800" b="1" dirty="0">
                <a:solidFill>
                  <a:srgbClr val="000000"/>
                </a:solidFill>
              </a:rPr>
              <a:t>Compare value to every value returned by the subquery. The overall result is TRUE only if it is TRUE for ALL of the values returned by the subquery. </a:t>
            </a:r>
          </a:p>
          <a:p>
            <a:pPr>
              <a:lnSpc>
                <a:spcPct val="120000"/>
              </a:lnSpc>
              <a:spcBef>
                <a:spcPct val="60000"/>
              </a:spcBef>
              <a:buFontTx/>
              <a:buNone/>
            </a:pPr>
            <a:r>
              <a:rPr lang="en-US" altLang="en-US" sz="1800" b="1" dirty="0">
                <a:solidFill>
                  <a:srgbClr val="000000"/>
                </a:solidFill>
              </a:rPr>
              <a:t> </a:t>
            </a:r>
          </a:p>
        </p:txBody>
      </p:sp>
      <p:sp>
        <p:nvSpPr>
          <p:cNvPr id="40966" name="Line 6">
            <a:extLst>
              <a:ext uri="{FF2B5EF4-FFF2-40B4-BE49-F238E27FC236}">
                <a16:creationId xmlns:a16="http://schemas.microsoft.com/office/drawing/2014/main" id="{E16299D4-3E1E-04B7-A4CE-51B38A00CD45}"/>
              </a:ext>
            </a:extLst>
          </p:cNvPr>
          <p:cNvSpPr>
            <a:spLocks noChangeShapeType="1"/>
          </p:cNvSpPr>
          <p:nvPr/>
        </p:nvSpPr>
        <p:spPr bwMode="auto">
          <a:xfrm>
            <a:off x="688975" y="2641600"/>
            <a:ext cx="7412038" cy="17463"/>
          </a:xfrm>
          <a:prstGeom prst="line">
            <a:avLst/>
          </a:prstGeom>
          <a:noFill/>
          <a:ln w="508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7" name="Line 7">
            <a:extLst>
              <a:ext uri="{FF2B5EF4-FFF2-40B4-BE49-F238E27FC236}">
                <a16:creationId xmlns:a16="http://schemas.microsoft.com/office/drawing/2014/main" id="{EE5BEF1D-9F4F-CF53-5579-D0581B3401D8}"/>
              </a:ext>
            </a:extLst>
          </p:cNvPr>
          <p:cNvSpPr>
            <a:spLocks noChangeShapeType="1"/>
          </p:cNvSpPr>
          <p:nvPr/>
        </p:nvSpPr>
        <p:spPr bwMode="auto">
          <a:xfrm flipV="1">
            <a:off x="688975" y="3090863"/>
            <a:ext cx="7412038" cy="41275"/>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8" name="Line 8">
            <a:extLst>
              <a:ext uri="{FF2B5EF4-FFF2-40B4-BE49-F238E27FC236}">
                <a16:creationId xmlns:a16="http://schemas.microsoft.com/office/drawing/2014/main" id="{D41755D5-E310-DC4C-1F9F-93CB84649E78}"/>
              </a:ext>
            </a:extLst>
          </p:cNvPr>
          <p:cNvSpPr>
            <a:spLocks noChangeShapeType="1"/>
          </p:cNvSpPr>
          <p:nvPr/>
        </p:nvSpPr>
        <p:spPr bwMode="auto">
          <a:xfrm flipV="1">
            <a:off x="688975" y="4295775"/>
            <a:ext cx="7412038" cy="1905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199FCA86-F0F1-ED51-1DFF-82489BF352C8}"/>
              </a:ext>
            </a:extLst>
          </p:cNvPr>
          <p:cNvSpPr>
            <a:spLocks noChangeArrowheads="1"/>
          </p:cNvSpPr>
          <p:nvPr/>
        </p:nvSpPr>
        <p:spPr bwMode="blackWhite">
          <a:xfrm>
            <a:off x="939800" y="1341438"/>
            <a:ext cx="7480300" cy="18002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 pos="320040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 pos="320040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43011" name="Rectangle 3">
            <a:extLst>
              <a:ext uri="{FF2B5EF4-FFF2-40B4-BE49-F238E27FC236}">
                <a16:creationId xmlns:a16="http://schemas.microsoft.com/office/drawing/2014/main" id="{72F8AF05-9FC0-915F-3423-905FC5964102}"/>
              </a:ext>
            </a:extLst>
          </p:cNvPr>
          <p:cNvSpPr>
            <a:spLocks noGrp="1" noChangeArrowheads="1"/>
          </p:cNvSpPr>
          <p:nvPr>
            <p:ph type="title"/>
          </p:nvPr>
        </p:nvSpPr>
        <p:spPr>
          <a:xfrm>
            <a:off x="433388" y="228600"/>
            <a:ext cx="4859337" cy="823913"/>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Using IN Operator </a:t>
            </a:r>
            <a:br>
              <a:rPr lang="en-US" altLang="en-US" sz="2800">
                <a:solidFill>
                  <a:srgbClr val="800000"/>
                </a:solidFill>
              </a:rPr>
            </a:br>
            <a:r>
              <a:rPr lang="en-US" altLang="en-US" sz="2800">
                <a:solidFill>
                  <a:srgbClr val="800000"/>
                </a:solidFill>
              </a:rPr>
              <a:t>in Multiple-Row Subqueries</a:t>
            </a:r>
          </a:p>
        </p:txBody>
      </p:sp>
      <p:sp>
        <p:nvSpPr>
          <p:cNvPr id="321552" name="Rectangle 16">
            <a:extLst>
              <a:ext uri="{FF2B5EF4-FFF2-40B4-BE49-F238E27FC236}">
                <a16:creationId xmlns:a16="http://schemas.microsoft.com/office/drawing/2014/main" id="{A36AE6D5-E5F8-5B9A-679E-563549179088}"/>
              </a:ext>
            </a:extLst>
          </p:cNvPr>
          <p:cNvSpPr>
            <a:spLocks noChangeArrowheads="1"/>
          </p:cNvSpPr>
          <p:nvPr/>
        </p:nvSpPr>
        <p:spPr bwMode="blackWhite">
          <a:xfrm>
            <a:off x="933450" y="4652963"/>
            <a:ext cx="7486650" cy="1800225"/>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EMPNO ENAME      JOB</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     7369 SMITH      CLERK </a:t>
            </a:r>
          </a:p>
          <a:p>
            <a:pPr>
              <a:spcBef>
                <a:spcPct val="0"/>
              </a:spcBef>
              <a:buFontTx/>
              <a:buNone/>
            </a:pPr>
            <a:r>
              <a:rPr lang="en-US" altLang="en-US" sz="1800" b="1">
                <a:solidFill>
                  <a:srgbClr val="000000"/>
                </a:solidFill>
                <a:latin typeface="Courier New" panose="02070309020205020404" pitchFamily="49" charset="0"/>
              </a:rPr>
              <a:t>     7900 JAMES      CLERK</a:t>
            </a:r>
          </a:p>
          <a:p>
            <a:pPr>
              <a:spcBef>
                <a:spcPct val="0"/>
              </a:spcBef>
              <a:buFontTx/>
              <a:buNone/>
            </a:pPr>
            <a:r>
              <a:rPr lang="en-US" altLang="en-US" sz="1800" b="1">
                <a:solidFill>
                  <a:srgbClr val="000000"/>
                </a:solidFill>
                <a:latin typeface="Courier New" panose="02070309020205020404" pitchFamily="49" charset="0"/>
              </a:rPr>
              <a:t>     7934 MILLER     CLERK 	 </a:t>
            </a:r>
          </a:p>
        </p:txBody>
      </p:sp>
      <p:sp>
        <p:nvSpPr>
          <p:cNvPr id="43013" name="Rectangle 17">
            <a:extLst>
              <a:ext uri="{FF2B5EF4-FFF2-40B4-BE49-F238E27FC236}">
                <a16:creationId xmlns:a16="http://schemas.microsoft.com/office/drawing/2014/main" id="{4A9C0487-176C-0684-13D3-517D020B675C}"/>
              </a:ext>
            </a:extLst>
          </p:cNvPr>
          <p:cNvSpPr>
            <a:spLocks noChangeArrowheads="1"/>
          </p:cNvSpPr>
          <p:nvPr/>
        </p:nvSpPr>
        <p:spPr bwMode="blackWhite">
          <a:xfrm>
            <a:off x="920750" y="1341438"/>
            <a:ext cx="743267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2571750" algn="l"/>
                <a:tab pos="320040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 pos="320040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SQL&gt; SELECT  empno, ename, job</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sal IN 	(SELECT	MIN(sal)</a:t>
            </a:r>
          </a:p>
          <a:p>
            <a:pPr>
              <a:spcBef>
                <a:spcPct val="0"/>
              </a:spcBef>
              <a:buFontTx/>
              <a:buNone/>
            </a:pPr>
            <a:r>
              <a:rPr lang="en-US" altLang="en-US" sz="1800" b="1">
                <a:solidFill>
                  <a:srgbClr val="000000"/>
                </a:solidFill>
                <a:latin typeface="Courier New" panose="02070309020205020404" pitchFamily="49" charset="0"/>
              </a:rPr>
              <a:t>  4 			FROM	emp</a:t>
            </a:r>
          </a:p>
          <a:p>
            <a:pPr>
              <a:spcBef>
                <a:spcPct val="0"/>
              </a:spcBef>
              <a:buFontTx/>
              <a:buNone/>
            </a:pPr>
            <a:r>
              <a:rPr lang="en-US" altLang="en-US" sz="1800" b="1">
                <a:solidFill>
                  <a:srgbClr val="000000"/>
                </a:solidFill>
                <a:latin typeface="Courier New" panose="02070309020205020404" pitchFamily="49" charset="0"/>
              </a:rPr>
              <a:t>  5			GROUP BY deptno);</a:t>
            </a:r>
          </a:p>
          <a:p>
            <a:pPr>
              <a:spcBef>
                <a:spcPct val="0"/>
              </a:spcBef>
              <a:buFontTx/>
              <a:buNone/>
            </a:pPr>
            <a:r>
              <a:rPr lang="en-US" altLang="en-US" sz="1800" b="1">
                <a:solidFill>
                  <a:srgbClr val="000000"/>
                </a:solidFill>
                <a:latin typeface="Courier New" panose="02070309020205020404" pitchFamily="49" charset="0"/>
              </a:rPr>
              <a:t>  </a:t>
            </a:r>
          </a:p>
        </p:txBody>
      </p:sp>
      <p:sp>
        <p:nvSpPr>
          <p:cNvPr id="43014" name="Rectangle 18">
            <a:extLst>
              <a:ext uri="{FF2B5EF4-FFF2-40B4-BE49-F238E27FC236}">
                <a16:creationId xmlns:a16="http://schemas.microsoft.com/office/drawing/2014/main" id="{D9596B33-93E6-16AD-280C-28720312868B}"/>
              </a:ext>
            </a:extLst>
          </p:cNvPr>
          <p:cNvSpPr>
            <a:spLocks noChangeArrowheads="1"/>
          </p:cNvSpPr>
          <p:nvPr/>
        </p:nvSpPr>
        <p:spPr bwMode="blackWhite">
          <a:xfrm>
            <a:off x="919163" y="3357563"/>
            <a:ext cx="7480300" cy="10080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 pos="320040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 pos="320040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43015" name="Rectangle 19">
            <a:extLst>
              <a:ext uri="{FF2B5EF4-FFF2-40B4-BE49-F238E27FC236}">
                <a16:creationId xmlns:a16="http://schemas.microsoft.com/office/drawing/2014/main" id="{49176B66-D8AF-6229-6B81-35B76EE5F22A}"/>
              </a:ext>
            </a:extLst>
          </p:cNvPr>
          <p:cNvSpPr>
            <a:spLocks noChangeArrowheads="1"/>
          </p:cNvSpPr>
          <p:nvPr/>
        </p:nvSpPr>
        <p:spPr bwMode="blackWhite">
          <a:xfrm>
            <a:off x="971550" y="3357563"/>
            <a:ext cx="7432675"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2571750" algn="l"/>
                <a:tab pos="320040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 pos="320040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SQL&gt; SELECT  empno, sal, detpno</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sal &lt; IN (800, 950, 1300);</a:t>
            </a:r>
          </a:p>
          <a:p>
            <a:pPr>
              <a:spcBef>
                <a:spcPct val="0"/>
              </a:spcBef>
              <a:buFontTx/>
              <a:buNone/>
            </a:pPr>
            <a:r>
              <a:rPr lang="en-US" altLang="en-US" sz="1800" b="1">
                <a:solidFill>
                  <a:srgbClr val="000000"/>
                </a:solidFill>
                <a:latin typeface="Courier New" panose="02070309020205020404" pitchFamily="49" charset="0"/>
              </a:rPr>
              <a: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21552"/>
                                        </p:tgtEl>
                                        <p:attrNameLst>
                                          <p:attrName>style.visibility</p:attrName>
                                        </p:attrNameLst>
                                      </p:cBhvr>
                                      <p:to>
                                        <p:strVal val="visible"/>
                                      </p:to>
                                    </p:set>
                                    <p:animEffect transition="in" filter="wipe(up)">
                                      <p:cBhvr>
                                        <p:cTn id="7" dur="500"/>
                                        <p:tgtEl>
                                          <p:spTgt spid="3215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52"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1985C6F8-6ED7-BA0E-0F23-08F00966153A}"/>
              </a:ext>
            </a:extLst>
          </p:cNvPr>
          <p:cNvSpPr>
            <a:spLocks noChangeArrowheads="1"/>
          </p:cNvSpPr>
          <p:nvPr/>
        </p:nvSpPr>
        <p:spPr bwMode="blackWhite">
          <a:xfrm>
            <a:off x="939800" y="1857375"/>
            <a:ext cx="7480300" cy="20923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 pos="320040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 pos="320040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45059" name="Rectangle 3">
            <a:extLst>
              <a:ext uri="{FF2B5EF4-FFF2-40B4-BE49-F238E27FC236}">
                <a16:creationId xmlns:a16="http://schemas.microsoft.com/office/drawing/2014/main" id="{8DBC6B74-7F39-9E12-2ED9-E510D5BE917D}"/>
              </a:ext>
            </a:extLst>
          </p:cNvPr>
          <p:cNvSpPr>
            <a:spLocks noGrp="1" noChangeArrowheads="1"/>
          </p:cNvSpPr>
          <p:nvPr>
            <p:ph type="title"/>
          </p:nvPr>
        </p:nvSpPr>
        <p:spPr>
          <a:xfrm>
            <a:off x="433388" y="228600"/>
            <a:ext cx="4859337" cy="823913"/>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Using ANY Operator </a:t>
            </a:r>
            <a:br>
              <a:rPr lang="en-US" altLang="en-US" sz="2800">
                <a:solidFill>
                  <a:srgbClr val="800000"/>
                </a:solidFill>
              </a:rPr>
            </a:br>
            <a:r>
              <a:rPr lang="en-US" altLang="en-US" sz="2800">
                <a:solidFill>
                  <a:srgbClr val="800000"/>
                </a:solidFill>
              </a:rPr>
              <a:t>in Multiple-Row Subqueries</a:t>
            </a:r>
          </a:p>
        </p:txBody>
      </p:sp>
      <p:grpSp>
        <p:nvGrpSpPr>
          <p:cNvPr id="313348" name="Group 4">
            <a:extLst>
              <a:ext uri="{FF2B5EF4-FFF2-40B4-BE49-F238E27FC236}">
                <a16:creationId xmlns:a16="http://schemas.microsoft.com/office/drawing/2014/main" id="{AFE64154-FFEF-BD86-C8AA-685A3900978A}"/>
              </a:ext>
            </a:extLst>
          </p:cNvPr>
          <p:cNvGrpSpPr>
            <a:grpSpLocks/>
          </p:cNvGrpSpPr>
          <p:nvPr/>
        </p:nvGrpSpPr>
        <p:grpSpPr bwMode="auto">
          <a:xfrm>
            <a:off x="3557588" y="1973263"/>
            <a:ext cx="4722812" cy="1651000"/>
            <a:chOff x="2241" y="1243"/>
            <a:chExt cx="2975" cy="1040"/>
          </a:xfrm>
        </p:grpSpPr>
        <p:sp>
          <p:nvSpPr>
            <p:cNvPr id="45063" name="Rectangle 5">
              <a:extLst>
                <a:ext uri="{FF2B5EF4-FFF2-40B4-BE49-F238E27FC236}">
                  <a16:creationId xmlns:a16="http://schemas.microsoft.com/office/drawing/2014/main" id="{F3E4E95C-5AB2-2256-A9BF-0499DCA670E6}"/>
                </a:ext>
              </a:extLst>
            </p:cNvPr>
            <p:cNvSpPr>
              <a:spLocks noChangeArrowheads="1"/>
            </p:cNvSpPr>
            <p:nvPr/>
          </p:nvSpPr>
          <p:spPr bwMode="ltGray">
            <a:xfrm>
              <a:off x="2605" y="1751"/>
              <a:ext cx="261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45064" name="Group 6">
              <a:extLst>
                <a:ext uri="{FF2B5EF4-FFF2-40B4-BE49-F238E27FC236}">
                  <a16:creationId xmlns:a16="http://schemas.microsoft.com/office/drawing/2014/main" id="{96D4E8F1-A4D3-3DBD-56BD-9E03E69AF895}"/>
                </a:ext>
              </a:extLst>
            </p:cNvPr>
            <p:cNvGrpSpPr>
              <a:grpSpLocks/>
            </p:cNvGrpSpPr>
            <p:nvPr/>
          </p:nvGrpSpPr>
          <p:grpSpPr bwMode="auto">
            <a:xfrm>
              <a:off x="2241" y="1243"/>
              <a:ext cx="2040" cy="846"/>
              <a:chOff x="2241" y="1243"/>
              <a:chExt cx="2040" cy="846"/>
            </a:xfrm>
          </p:grpSpPr>
          <p:sp>
            <p:nvSpPr>
              <p:cNvPr id="45065" name="Rectangle 7">
                <a:extLst>
                  <a:ext uri="{FF2B5EF4-FFF2-40B4-BE49-F238E27FC236}">
                    <a16:creationId xmlns:a16="http://schemas.microsoft.com/office/drawing/2014/main" id="{7BF8F503-5D0C-17CB-1561-3FDA5E36DC2E}"/>
                  </a:ext>
                </a:extLst>
              </p:cNvPr>
              <p:cNvSpPr>
                <a:spLocks noChangeArrowheads="1"/>
              </p:cNvSpPr>
              <p:nvPr/>
            </p:nvSpPr>
            <p:spPr bwMode="ltGray">
              <a:xfrm>
                <a:off x="2241" y="1569"/>
                <a:ext cx="339" cy="207"/>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5066" name="Arc 8">
                <a:extLst>
                  <a:ext uri="{FF2B5EF4-FFF2-40B4-BE49-F238E27FC236}">
                    <a16:creationId xmlns:a16="http://schemas.microsoft.com/office/drawing/2014/main" id="{B1C933C8-5397-495C-8236-7FE32D58534C}"/>
                  </a:ext>
                </a:extLst>
              </p:cNvPr>
              <p:cNvSpPr>
                <a:spLocks/>
              </p:cNvSpPr>
              <p:nvPr/>
            </p:nvSpPr>
            <p:spPr bwMode="auto">
              <a:xfrm rot="10800000">
                <a:off x="2756" y="1706"/>
                <a:ext cx="1349" cy="383"/>
              </a:xfrm>
              <a:custGeom>
                <a:avLst/>
                <a:gdLst>
                  <a:gd name="T0" fmla="*/ 0 w 27030"/>
                  <a:gd name="T1" fmla="*/ 0 h 24188"/>
                  <a:gd name="T2" fmla="*/ 0 w 27030"/>
                  <a:gd name="T3" fmla="*/ 0 h 24188"/>
                  <a:gd name="T4" fmla="*/ 0 w 27030"/>
                  <a:gd name="T5" fmla="*/ 0 h 24188"/>
                  <a:gd name="T6" fmla="*/ 0 60000 65536"/>
                  <a:gd name="T7" fmla="*/ 0 60000 65536"/>
                  <a:gd name="T8" fmla="*/ 0 60000 65536"/>
                </a:gdLst>
                <a:ahLst/>
                <a:cxnLst>
                  <a:cxn ang="T6">
                    <a:pos x="T0" y="T1"/>
                  </a:cxn>
                  <a:cxn ang="T7">
                    <a:pos x="T2" y="T3"/>
                  </a:cxn>
                  <a:cxn ang="T8">
                    <a:pos x="T4" y="T5"/>
                  </a:cxn>
                </a:cxnLst>
                <a:rect l="0" t="0" r="r" b="b"/>
                <a:pathLst>
                  <a:path w="27030" h="24188" fill="none" extrusionOk="0">
                    <a:moveTo>
                      <a:pt x="27030" y="23494"/>
                    </a:moveTo>
                    <a:cubicBezTo>
                      <a:pt x="25256" y="23954"/>
                      <a:pt x="23432" y="24187"/>
                      <a:pt x="21600" y="24188"/>
                    </a:cubicBezTo>
                    <a:cubicBezTo>
                      <a:pt x="9670" y="24188"/>
                      <a:pt x="0" y="14517"/>
                      <a:pt x="0" y="2588"/>
                    </a:cubicBezTo>
                    <a:cubicBezTo>
                      <a:pt x="-1" y="1722"/>
                      <a:pt x="51" y="858"/>
                      <a:pt x="155" y="-1"/>
                    </a:cubicBezTo>
                  </a:path>
                  <a:path w="27030" h="24188" stroke="0" extrusionOk="0">
                    <a:moveTo>
                      <a:pt x="27030" y="23494"/>
                    </a:moveTo>
                    <a:cubicBezTo>
                      <a:pt x="25256" y="23954"/>
                      <a:pt x="23432" y="24187"/>
                      <a:pt x="21600" y="24188"/>
                    </a:cubicBezTo>
                    <a:cubicBezTo>
                      <a:pt x="9670" y="24188"/>
                      <a:pt x="0" y="14517"/>
                      <a:pt x="0" y="2588"/>
                    </a:cubicBezTo>
                    <a:cubicBezTo>
                      <a:pt x="-1" y="1722"/>
                      <a:pt x="51" y="858"/>
                      <a:pt x="155" y="-1"/>
                    </a:cubicBezTo>
                    <a:lnTo>
                      <a:pt x="21600" y="2588"/>
                    </a:lnTo>
                    <a:lnTo>
                      <a:pt x="27030" y="23494"/>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45067" name="Rectangle 9">
                <a:extLst>
                  <a:ext uri="{FF2B5EF4-FFF2-40B4-BE49-F238E27FC236}">
                    <a16:creationId xmlns:a16="http://schemas.microsoft.com/office/drawing/2014/main" id="{41BA010D-6ADB-7489-919B-84F8986200D7}"/>
                  </a:ext>
                </a:extLst>
              </p:cNvPr>
              <p:cNvSpPr>
                <a:spLocks noChangeArrowheads="1"/>
              </p:cNvSpPr>
              <p:nvPr/>
            </p:nvSpPr>
            <p:spPr bwMode="auto">
              <a:xfrm>
                <a:off x="2847" y="1571"/>
                <a:ext cx="276"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200" b="1">
                    <a:solidFill>
                      <a:srgbClr val="FF5050"/>
                    </a:solidFill>
                  </a:rPr>
                  <a:t>950</a:t>
                </a:r>
              </a:p>
            </p:txBody>
          </p:sp>
          <p:sp>
            <p:nvSpPr>
              <p:cNvPr id="45068" name="Arc 10">
                <a:extLst>
                  <a:ext uri="{FF2B5EF4-FFF2-40B4-BE49-F238E27FC236}">
                    <a16:creationId xmlns:a16="http://schemas.microsoft.com/office/drawing/2014/main" id="{CBDBC502-DB3B-0C30-8F1D-1AC8C78C001F}"/>
                  </a:ext>
                </a:extLst>
              </p:cNvPr>
              <p:cNvSpPr>
                <a:spLocks/>
              </p:cNvSpPr>
              <p:nvPr/>
            </p:nvSpPr>
            <p:spPr bwMode="auto">
              <a:xfrm rot="10800000">
                <a:off x="2757" y="1594"/>
                <a:ext cx="1389" cy="383"/>
              </a:xfrm>
              <a:custGeom>
                <a:avLst/>
                <a:gdLst>
                  <a:gd name="T0" fmla="*/ 0 w 27030"/>
                  <a:gd name="T1" fmla="*/ 0 h 24187"/>
                  <a:gd name="T2" fmla="*/ 0 w 27030"/>
                  <a:gd name="T3" fmla="*/ 0 h 24187"/>
                  <a:gd name="T4" fmla="*/ 0 w 27030"/>
                  <a:gd name="T5" fmla="*/ 0 h 24187"/>
                  <a:gd name="T6" fmla="*/ 0 60000 65536"/>
                  <a:gd name="T7" fmla="*/ 0 60000 65536"/>
                  <a:gd name="T8" fmla="*/ 0 60000 65536"/>
                </a:gdLst>
                <a:ahLst/>
                <a:cxnLst>
                  <a:cxn ang="T6">
                    <a:pos x="T0" y="T1"/>
                  </a:cxn>
                  <a:cxn ang="T7">
                    <a:pos x="T2" y="T3"/>
                  </a:cxn>
                  <a:cxn ang="T8">
                    <a:pos x="T4" y="T5"/>
                  </a:cxn>
                </a:cxnLst>
                <a:rect l="0" t="0" r="r" b="b"/>
                <a:pathLst>
                  <a:path w="27030" h="24187" fill="none" extrusionOk="0">
                    <a:moveTo>
                      <a:pt x="27030" y="23493"/>
                    </a:moveTo>
                    <a:cubicBezTo>
                      <a:pt x="25256" y="23953"/>
                      <a:pt x="23432" y="24186"/>
                      <a:pt x="21600" y="24187"/>
                    </a:cubicBezTo>
                    <a:cubicBezTo>
                      <a:pt x="9670" y="24187"/>
                      <a:pt x="0" y="14516"/>
                      <a:pt x="0" y="2587"/>
                    </a:cubicBezTo>
                    <a:cubicBezTo>
                      <a:pt x="-1" y="1722"/>
                      <a:pt x="51" y="858"/>
                      <a:pt x="155" y="0"/>
                    </a:cubicBezTo>
                  </a:path>
                  <a:path w="27030" h="24187" stroke="0" extrusionOk="0">
                    <a:moveTo>
                      <a:pt x="27030" y="23493"/>
                    </a:moveTo>
                    <a:cubicBezTo>
                      <a:pt x="25256" y="23953"/>
                      <a:pt x="23432" y="24186"/>
                      <a:pt x="21600" y="24187"/>
                    </a:cubicBezTo>
                    <a:cubicBezTo>
                      <a:pt x="9670" y="24187"/>
                      <a:pt x="0" y="14516"/>
                      <a:pt x="0" y="2587"/>
                    </a:cubicBezTo>
                    <a:cubicBezTo>
                      <a:pt x="-1" y="1722"/>
                      <a:pt x="51" y="858"/>
                      <a:pt x="155" y="0"/>
                    </a:cubicBezTo>
                    <a:lnTo>
                      <a:pt x="21600" y="2587"/>
                    </a:lnTo>
                    <a:lnTo>
                      <a:pt x="27030" y="23493"/>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45069" name="Arc 11">
                <a:extLst>
                  <a:ext uri="{FF2B5EF4-FFF2-40B4-BE49-F238E27FC236}">
                    <a16:creationId xmlns:a16="http://schemas.microsoft.com/office/drawing/2014/main" id="{C0F0604A-C8F1-C32F-C73D-336A216EF1EE}"/>
                  </a:ext>
                </a:extLst>
              </p:cNvPr>
              <p:cNvSpPr>
                <a:spLocks/>
              </p:cNvSpPr>
              <p:nvPr/>
            </p:nvSpPr>
            <p:spPr bwMode="auto">
              <a:xfrm rot="10800000">
                <a:off x="2757" y="1482"/>
                <a:ext cx="1457" cy="383"/>
              </a:xfrm>
              <a:custGeom>
                <a:avLst/>
                <a:gdLst>
                  <a:gd name="T0" fmla="*/ 0 w 27017"/>
                  <a:gd name="T1" fmla="*/ 0 h 24187"/>
                  <a:gd name="T2" fmla="*/ 0 w 27017"/>
                  <a:gd name="T3" fmla="*/ 0 h 24187"/>
                  <a:gd name="T4" fmla="*/ 0 w 27017"/>
                  <a:gd name="T5" fmla="*/ 0 h 24187"/>
                  <a:gd name="T6" fmla="*/ 0 60000 65536"/>
                  <a:gd name="T7" fmla="*/ 0 60000 65536"/>
                  <a:gd name="T8" fmla="*/ 0 60000 65536"/>
                </a:gdLst>
                <a:ahLst/>
                <a:cxnLst>
                  <a:cxn ang="T6">
                    <a:pos x="T0" y="T1"/>
                  </a:cxn>
                  <a:cxn ang="T7">
                    <a:pos x="T2" y="T3"/>
                  </a:cxn>
                  <a:cxn ang="T8">
                    <a:pos x="T4" y="T5"/>
                  </a:cxn>
                </a:cxnLst>
                <a:rect l="0" t="0" r="r" b="b"/>
                <a:pathLst>
                  <a:path w="27017" h="24187" fill="none" extrusionOk="0">
                    <a:moveTo>
                      <a:pt x="27016" y="23496"/>
                    </a:moveTo>
                    <a:cubicBezTo>
                      <a:pt x="25247" y="23955"/>
                      <a:pt x="23427" y="24186"/>
                      <a:pt x="21600" y="24187"/>
                    </a:cubicBezTo>
                    <a:cubicBezTo>
                      <a:pt x="9670" y="24187"/>
                      <a:pt x="0" y="14516"/>
                      <a:pt x="0" y="2587"/>
                    </a:cubicBezTo>
                    <a:cubicBezTo>
                      <a:pt x="-1" y="1722"/>
                      <a:pt x="51" y="858"/>
                      <a:pt x="155" y="-1"/>
                    </a:cubicBezTo>
                  </a:path>
                  <a:path w="27017" h="24187" stroke="0" extrusionOk="0">
                    <a:moveTo>
                      <a:pt x="27016" y="23496"/>
                    </a:moveTo>
                    <a:cubicBezTo>
                      <a:pt x="25247" y="23955"/>
                      <a:pt x="23427" y="24186"/>
                      <a:pt x="21600" y="24187"/>
                    </a:cubicBezTo>
                    <a:cubicBezTo>
                      <a:pt x="9670" y="24187"/>
                      <a:pt x="0" y="14516"/>
                      <a:pt x="0" y="2587"/>
                    </a:cubicBezTo>
                    <a:cubicBezTo>
                      <a:pt x="-1" y="1722"/>
                      <a:pt x="51" y="858"/>
                      <a:pt x="155" y="-1"/>
                    </a:cubicBezTo>
                    <a:lnTo>
                      <a:pt x="21600" y="2587"/>
                    </a:lnTo>
                    <a:lnTo>
                      <a:pt x="27016" y="23496"/>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45070" name="Arc 12">
                <a:extLst>
                  <a:ext uri="{FF2B5EF4-FFF2-40B4-BE49-F238E27FC236}">
                    <a16:creationId xmlns:a16="http://schemas.microsoft.com/office/drawing/2014/main" id="{BCB99D80-562B-BDF9-1224-ACD799D34879}"/>
                  </a:ext>
                </a:extLst>
              </p:cNvPr>
              <p:cNvSpPr>
                <a:spLocks/>
              </p:cNvSpPr>
              <p:nvPr/>
            </p:nvSpPr>
            <p:spPr bwMode="auto">
              <a:xfrm rot="10800000">
                <a:off x="2757" y="1370"/>
                <a:ext cx="1524" cy="383"/>
              </a:xfrm>
              <a:custGeom>
                <a:avLst/>
                <a:gdLst>
                  <a:gd name="T0" fmla="*/ 0 w 27008"/>
                  <a:gd name="T1" fmla="*/ 0 h 24187"/>
                  <a:gd name="T2" fmla="*/ 0 w 27008"/>
                  <a:gd name="T3" fmla="*/ 0 h 24187"/>
                  <a:gd name="T4" fmla="*/ 0 w 27008"/>
                  <a:gd name="T5" fmla="*/ 0 h 24187"/>
                  <a:gd name="T6" fmla="*/ 0 60000 65536"/>
                  <a:gd name="T7" fmla="*/ 0 60000 65536"/>
                  <a:gd name="T8" fmla="*/ 0 60000 65536"/>
                </a:gdLst>
                <a:ahLst/>
                <a:cxnLst>
                  <a:cxn ang="T6">
                    <a:pos x="T0" y="T1"/>
                  </a:cxn>
                  <a:cxn ang="T7">
                    <a:pos x="T2" y="T3"/>
                  </a:cxn>
                  <a:cxn ang="T8">
                    <a:pos x="T4" y="T5"/>
                  </a:cxn>
                </a:cxnLst>
                <a:rect l="0" t="0" r="r" b="b"/>
                <a:pathLst>
                  <a:path w="27008" h="24187" fill="none" extrusionOk="0">
                    <a:moveTo>
                      <a:pt x="27008" y="23499"/>
                    </a:moveTo>
                    <a:cubicBezTo>
                      <a:pt x="25241" y="23955"/>
                      <a:pt x="23424" y="24186"/>
                      <a:pt x="21600" y="24187"/>
                    </a:cubicBezTo>
                    <a:cubicBezTo>
                      <a:pt x="9670" y="24187"/>
                      <a:pt x="0" y="14516"/>
                      <a:pt x="0" y="2587"/>
                    </a:cubicBezTo>
                    <a:cubicBezTo>
                      <a:pt x="-1" y="1722"/>
                      <a:pt x="51" y="858"/>
                      <a:pt x="155" y="0"/>
                    </a:cubicBezTo>
                  </a:path>
                  <a:path w="27008" h="24187" stroke="0" extrusionOk="0">
                    <a:moveTo>
                      <a:pt x="27008" y="23499"/>
                    </a:moveTo>
                    <a:cubicBezTo>
                      <a:pt x="25241" y="23955"/>
                      <a:pt x="23424" y="24186"/>
                      <a:pt x="21600" y="24187"/>
                    </a:cubicBezTo>
                    <a:cubicBezTo>
                      <a:pt x="9670" y="24187"/>
                      <a:pt x="0" y="14516"/>
                      <a:pt x="0" y="2587"/>
                    </a:cubicBezTo>
                    <a:cubicBezTo>
                      <a:pt x="-1" y="1722"/>
                      <a:pt x="51" y="858"/>
                      <a:pt x="155" y="0"/>
                    </a:cubicBezTo>
                    <a:lnTo>
                      <a:pt x="21600" y="2587"/>
                    </a:lnTo>
                    <a:lnTo>
                      <a:pt x="27008" y="23499"/>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45071" name="Rectangle 13">
                <a:extLst>
                  <a:ext uri="{FF2B5EF4-FFF2-40B4-BE49-F238E27FC236}">
                    <a16:creationId xmlns:a16="http://schemas.microsoft.com/office/drawing/2014/main" id="{4E9A4767-4CC4-83BB-2B8B-8EC74B09CD74}"/>
                  </a:ext>
                </a:extLst>
              </p:cNvPr>
              <p:cNvSpPr>
                <a:spLocks noChangeArrowheads="1"/>
              </p:cNvSpPr>
              <p:nvPr/>
            </p:nvSpPr>
            <p:spPr bwMode="auto">
              <a:xfrm>
                <a:off x="2891" y="1459"/>
                <a:ext cx="276"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200" b="1">
                    <a:solidFill>
                      <a:srgbClr val="FF5050"/>
                    </a:solidFill>
                  </a:rPr>
                  <a:t>800</a:t>
                </a:r>
              </a:p>
            </p:txBody>
          </p:sp>
          <p:sp>
            <p:nvSpPr>
              <p:cNvPr id="45072" name="Rectangle 14">
                <a:extLst>
                  <a:ext uri="{FF2B5EF4-FFF2-40B4-BE49-F238E27FC236}">
                    <a16:creationId xmlns:a16="http://schemas.microsoft.com/office/drawing/2014/main" id="{EF07C282-8504-1C5D-CCBE-B756C7139B5B}"/>
                  </a:ext>
                </a:extLst>
              </p:cNvPr>
              <p:cNvSpPr>
                <a:spLocks noChangeArrowheads="1"/>
              </p:cNvSpPr>
              <p:nvPr/>
            </p:nvSpPr>
            <p:spPr bwMode="auto">
              <a:xfrm>
                <a:off x="2908" y="1347"/>
                <a:ext cx="330"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200" b="1">
                    <a:solidFill>
                      <a:srgbClr val="FF5050"/>
                    </a:solidFill>
                  </a:rPr>
                  <a:t>1100</a:t>
                </a:r>
              </a:p>
            </p:txBody>
          </p:sp>
          <p:sp>
            <p:nvSpPr>
              <p:cNvPr id="45073" name="Rectangle 15">
                <a:extLst>
                  <a:ext uri="{FF2B5EF4-FFF2-40B4-BE49-F238E27FC236}">
                    <a16:creationId xmlns:a16="http://schemas.microsoft.com/office/drawing/2014/main" id="{117138E8-20C3-26D9-787D-90B350B780BC}"/>
                  </a:ext>
                </a:extLst>
              </p:cNvPr>
              <p:cNvSpPr>
                <a:spLocks noChangeArrowheads="1"/>
              </p:cNvSpPr>
              <p:nvPr/>
            </p:nvSpPr>
            <p:spPr bwMode="auto">
              <a:xfrm>
                <a:off x="3228" y="1243"/>
                <a:ext cx="330"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200" b="1">
                    <a:solidFill>
                      <a:srgbClr val="FF5050"/>
                    </a:solidFill>
                  </a:rPr>
                  <a:t>1300</a:t>
                </a:r>
              </a:p>
            </p:txBody>
          </p:sp>
        </p:grpSp>
      </p:grpSp>
      <p:sp>
        <p:nvSpPr>
          <p:cNvPr id="313360" name="Rectangle 16">
            <a:extLst>
              <a:ext uri="{FF2B5EF4-FFF2-40B4-BE49-F238E27FC236}">
                <a16:creationId xmlns:a16="http://schemas.microsoft.com/office/drawing/2014/main" id="{99E5AD5D-E866-AEF1-664E-5E65566E8831}"/>
              </a:ext>
            </a:extLst>
          </p:cNvPr>
          <p:cNvSpPr>
            <a:spLocks noChangeArrowheads="1"/>
          </p:cNvSpPr>
          <p:nvPr/>
        </p:nvSpPr>
        <p:spPr bwMode="blackWhite">
          <a:xfrm>
            <a:off x="933450" y="4238625"/>
            <a:ext cx="7486650" cy="1190625"/>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EMPNO ENAME      JOB</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     7654 MARTIN     SALESMAN </a:t>
            </a:r>
          </a:p>
          <a:p>
            <a:pPr>
              <a:spcBef>
                <a:spcPct val="0"/>
              </a:spcBef>
              <a:buFontTx/>
              <a:buNone/>
            </a:pPr>
            <a:r>
              <a:rPr lang="en-US" altLang="en-US" sz="1800" b="1">
                <a:solidFill>
                  <a:srgbClr val="000000"/>
                </a:solidFill>
                <a:latin typeface="Courier New" panose="02070309020205020404" pitchFamily="49" charset="0"/>
              </a:rPr>
              <a:t>     7521 WARD       SALESMAN </a:t>
            </a:r>
          </a:p>
        </p:txBody>
      </p:sp>
      <p:sp>
        <p:nvSpPr>
          <p:cNvPr id="45062" name="Rectangle 17">
            <a:extLst>
              <a:ext uri="{FF2B5EF4-FFF2-40B4-BE49-F238E27FC236}">
                <a16:creationId xmlns:a16="http://schemas.microsoft.com/office/drawing/2014/main" id="{05B93F44-8F13-F9C3-0A42-3304E7EC0E17}"/>
              </a:ext>
            </a:extLst>
          </p:cNvPr>
          <p:cNvSpPr>
            <a:spLocks noChangeArrowheads="1"/>
          </p:cNvSpPr>
          <p:nvPr/>
        </p:nvSpPr>
        <p:spPr bwMode="blackWhite">
          <a:xfrm>
            <a:off x="920750" y="1844675"/>
            <a:ext cx="7432675" cy="211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2571750" algn="l"/>
                <a:tab pos="320040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 pos="320040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 pos="3200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 pos="320040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empno, ename, job</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sal &lt; ANY </a:t>
            </a:r>
          </a:p>
          <a:p>
            <a:pPr>
              <a:spcBef>
                <a:spcPct val="0"/>
              </a:spcBef>
              <a:buFontTx/>
              <a:buNone/>
            </a:pPr>
            <a:r>
              <a:rPr lang="en-US" altLang="en-US" sz="1800" b="1">
                <a:solidFill>
                  <a:srgbClr val="000000"/>
                </a:solidFill>
                <a:latin typeface="Courier New" panose="02070309020205020404" pitchFamily="49" charset="0"/>
              </a:rPr>
              <a:t>  4			(SELECT	sal</a:t>
            </a:r>
          </a:p>
          <a:p>
            <a:pPr>
              <a:spcBef>
                <a:spcPct val="0"/>
              </a:spcBef>
              <a:buFontTx/>
              <a:buNone/>
            </a:pPr>
            <a:r>
              <a:rPr lang="en-US" altLang="en-US" sz="1800" b="1">
                <a:solidFill>
                  <a:srgbClr val="000000"/>
                </a:solidFill>
                <a:latin typeface="Courier New" panose="02070309020205020404" pitchFamily="49" charset="0"/>
              </a:rPr>
              <a:t>  5 			FROM	emp</a:t>
            </a:r>
          </a:p>
          <a:p>
            <a:pPr>
              <a:spcBef>
                <a:spcPct val="0"/>
              </a:spcBef>
              <a:buFontTx/>
              <a:buNone/>
            </a:pPr>
            <a:r>
              <a:rPr lang="en-US" altLang="en-US" sz="1800" b="1">
                <a:solidFill>
                  <a:srgbClr val="000000"/>
                </a:solidFill>
                <a:latin typeface="Courier New" panose="02070309020205020404" pitchFamily="49" charset="0"/>
              </a:rPr>
              <a:t>  6			WHERE	job = 'CLERK')</a:t>
            </a:r>
          </a:p>
          <a:p>
            <a:pPr>
              <a:spcBef>
                <a:spcPct val="0"/>
              </a:spcBef>
              <a:buFontTx/>
              <a:buNone/>
            </a:pPr>
            <a:r>
              <a:rPr lang="en-US" altLang="en-US" sz="1800" b="1">
                <a:solidFill>
                  <a:srgbClr val="000000"/>
                </a:solidFill>
                <a:latin typeface="Courier New" panose="02070309020205020404" pitchFamily="49" charset="0"/>
              </a:rPr>
              <a:t>  7  AND	    job &lt;&gt; 'CLERK';</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13348"/>
                                        </p:tgtEl>
                                        <p:attrNameLst>
                                          <p:attrName>style.visibility</p:attrName>
                                        </p:attrNameLst>
                                      </p:cBhvr>
                                      <p:to>
                                        <p:strVal val="visible"/>
                                      </p:to>
                                    </p:set>
                                    <p:animEffect transition="in" filter="wipe(up)">
                                      <p:cBhvr>
                                        <p:cTn id="7" dur="500"/>
                                        <p:tgtEl>
                                          <p:spTgt spid="3133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13360"/>
                                        </p:tgtEl>
                                        <p:attrNameLst>
                                          <p:attrName>style.visibility</p:attrName>
                                        </p:attrNameLst>
                                      </p:cBhvr>
                                      <p:to>
                                        <p:strVal val="visible"/>
                                      </p:to>
                                    </p:set>
                                    <p:animEffect transition="in" filter="wipe(up)">
                                      <p:cBhvr>
                                        <p:cTn id="12" dur="500"/>
                                        <p:tgtEl>
                                          <p:spTgt spid="313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60"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A7024353-57CF-B018-9776-E841800E951E}"/>
              </a:ext>
            </a:extLst>
          </p:cNvPr>
          <p:cNvSpPr>
            <a:spLocks noChangeArrowheads="1"/>
          </p:cNvSpPr>
          <p:nvPr/>
        </p:nvSpPr>
        <p:spPr bwMode="blackWhite">
          <a:xfrm>
            <a:off x="946150" y="1890713"/>
            <a:ext cx="7473950" cy="184943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47107" name="Rectangle 3">
            <a:extLst>
              <a:ext uri="{FF2B5EF4-FFF2-40B4-BE49-F238E27FC236}">
                <a16:creationId xmlns:a16="http://schemas.microsoft.com/office/drawing/2014/main" id="{D4342313-A65F-D8C9-BA40-624916F752A8}"/>
              </a:ext>
            </a:extLst>
          </p:cNvPr>
          <p:cNvSpPr>
            <a:spLocks noGrp="1" noChangeArrowheads="1"/>
          </p:cNvSpPr>
          <p:nvPr>
            <p:ph type="title"/>
          </p:nvPr>
        </p:nvSpPr>
        <p:spPr>
          <a:xfrm>
            <a:off x="433388" y="228600"/>
            <a:ext cx="4570412" cy="896938"/>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Using ALL Operator </a:t>
            </a:r>
            <a:br>
              <a:rPr lang="en-US" altLang="en-US" sz="2800">
                <a:solidFill>
                  <a:srgbClr val="800000"/>
                </a:solidFill>
              </a:rPr>
            </a:br>
            <a:r>
              <a:rPr lang="en-US" altLang="en-US" sz="2800">
                <a:solidFill>
                  <a:srgbClr val="800000"/>
                </a:solidFill>
              </a:rPr>
              <a:t>in Multiple-Row Subqueries</a:t>
            </a:r>
          </a:p>
        </p:txBody>
      </p:sp>
      <p:grpSp>
        <p:nvGrpSpPr>
          <p:cNvPr id="315396" name="Group 4">
            <a:extLst>
              <a:ext uri="{FF2B5EF4-FFF2-40B4-BE49-F238E27FC236}">
                <a16:creationId xmlns:a16="http://schemas.microsoft.com/office/drawing/2014/main" id="{21A9561C-0424-1AAE-63F5-11E28AB5A867}"/>
              </a:ext>
            </a:extLst>
          </p:cNvPr>
          <p:cNvGrpSpPr>
            <a:grpSpLocks/>
          </p:cNvGrpSpPr>
          <p:nvPr/>
        </p:nvGrpSpPr>
        <p:grpSpPr bwMode="auto">
          <a:xfrm>
            <a:off x="3536950" y="2090738"/>
            <a:ext cx="4697413" cy="1584325"/>
            <a:chOff x="2228" y="1317"/>
            <a:chExt cx="2959" cy="998"/>
          </a:xfrm>
        </p:grpSpPr>
        <p:sp>
          <p:nvSpPr>
            <p:cNvPr id="47111" name="Rectangle 5">
              <a:extLst>
                <a:ext uri="{FF2B5EF4-FFF2-40B4-BE49-F238E27FC236}">
                  <a16:creationId xmlns:a16="http://schemas.microsoft.com/office/drawing/2014/main" id="{366FEEB2-6A12-F086-EC45-7A7396B8D07C}"/>
                </a:ext>
              </a:extLst>
            </p:cNvPr>
            <p:cNvSpPr>
              <a:spLocks noChangeArrowheads="1"/>
            </p:cNvSpPr>
            <p:nvPr/>
          </p:nvSpPr>
          <p:spPr bwMode="ltGray">
            <a:xfrm>
              <a:off x="2336" y="1783"/>
              <a:ext cx="285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47112" name="Group 6">
              <a:extLst>
                <a:ext uri="{FF2B5EF4-FFF2-40B4-BE49-F238E27FC236}">
                  <a16:creationId xmlns:a16="http://schemas.microsoft.com/office/drawing/2014/main" id="{BCEE8732-913C-90E6-2705-7819D9867649}"/>
                </a:ext>
              </a:extLst>
            </p:cNvPr>
            <p:cNvGrpSpPr>
              <a:grpSpLocks/>
            </p:cNvGrpSpPr>
            <p:nvPr/>
          </p:nvGrpSpPr>
          <p:grpSpPr bwMode="auto">
            <a:xfrm>
              <a:off x="2228" y="1317"/>
              <a:ext cx="2365" cy="736"/>
              <a:chOff x="2228" y="1317"/>
              <a:chExt cx="2365" cy="736"/>
            </a:xfrm>
          </p:grpSpPr>
          <p:sp>
            <p:nvSpPr>
              <p:cNvPr id="47113" name="Rectangle 7">
                <a:extLst>
                  <a:ext uri="{FF2B5EF4-FFF2-40B4-BE49-F238E27FC236}">
                    <a16:creationId xmlns:a16="http://schemas.microsoft.com/office/drawing/2014/main" id="{008DE928-113E-2C92-E072-737B9100926C}"/>
                  </a:ext>
                </a:extLst>
              </p:cNvPr>
              <p:cNvSpPr>
                <a:spLocks noChangeArrowheads="1"/>
              </p:cNvSpPr>
              <p:nvPr/>
            </p:nvSpPr>
            <p:spPr bwMode="ltGray">
              <a:xfrm>
                <a:off x="2228" y="1573"/>
                <a:ext cx="339" cy="207"/>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7114" name="Arc 8">
                <a:extLst>
                  <a:ext uri="{FF2B5EF4-FFF2-40B4-BE49-F238E27FC236}">
                    <a16:creationId xmlns:a16="http://schemas.microsoft.com/office/drawing/2014/main" id="{C33B6189-07D4-367B-05D8-8C9A5F3948EA}"/>
                  </a:ext>
                </a:extLst>
              </p:cNvPr>
              <p:cNvSpPr>
                <a:spLocks/>
              </p:cNvSpPr>
              <p:nvPr/>
            </p:nvSpPr>
            <p:spPr bwMode="auto">
              <a:xfrm rot="10800000">
                <a:off x="2728" y="1670"/>
                <a:ext cx="1775" cy="383"/>
              </a:xfrm>
              <a:custGeom>
                <a:avLst/>
                <a:gdLst>
                  <a:gd name="T0" fmla="*/ 0 w 27022"/>
                  <a:gd name="T1" fmla="*/ 0 h 24186"/>
                  <a:gd name="T2" fmla="*/ 0 w 27022"/>
                  <a:gd name="T3" fmla="*/ 0 h 24186"/>
                  <a:gd name="T4" fmla="*/ 0 w 27022"/>
                  <a:gd name="T5" fmla="*/ 0 h 24186"/>
                  <a:gd name="T6" fmla="*/ 0 60000 65536"/>
                  <a:gd name="T7" fmla="*/ 0 60000 65536"/>
                  <a:gd name="T8" fmla="*/ 0 60000 65536"/>
                </a:gdLst>
                <a:ahLst/>
                <a:cxnLst>
                  <a:cxn ang="T6">
                    <a:pos x="T0" y="T1"/>
                  </a:cxn>
                  <a:cxn ang="T7">
                    <a:pos x="T2" y="T3"/>
                  </a:cxn>
                  <a:cxn ang="T8">
                    <a:pos x="T4" y="T5"/>
                  </a:cxn>
                </a:cxnLst>
                <a:rect l="0" t="0" r="r" b="b"/>
                <a:pathLst>
                  <a:path w="27022" h="24186" fill="none" extrusionOk="0">
                    <a:moveTo>
                      <a:pt x="27022" y="23494"/>
                    </a:moveTo>
                    <a:cubicBezTo>
                      <a:pt x="25251" y="23953"/>
                      <a:pt x="23429" y="24185"/>
                      <a:pt x="21600" y="24186"/>
                    </a:cubicBezTo>
                    <a:cubicBezTo>
                      <a:pt x="9670" y="24186"/>
                      <a:pt x="0" y="14515"/>
                      <a:pt x="0" y="2586"/>
                    </a:cubicBezTo>
                    <a:cubicBezTo>
                      <a:pt x="-1" y="1721"/>
                      <a:pt x="51" y="858"/>
                      <a:pt x="155" y="0"/>
                    </a:cubicBezTo>
                  </a:path>
                  <a:path w="27022" h="24186" stroke="0" extrusionOk="0">
                    <a:moveTo>
                      <a:pt x="27022" y="23494"/>
                    </a:moveTo>
                    <a:cubicBezTo>
                      <a:pt x="25251" y="23953"/>
                      <a:pt x="23429" y="24185"/>
                      <a:pt x="21600" y="24186"/>
                    </a:cubicBezTo>
                    <a:cubicBezTo>
                      <a:pt x="9670" y="24186"/>
                      <a:pt x="0" y="14515"/>
                      <a:pt x="0" y="2586"/>
                    </a:cubicBezTo>
                    <a:cubicBezTo>
                      <a:pt x="-1" y="1721"/>
                      <a:pt x="51" y="858"/>
                      <a:pt x="155" y="0"/>
                    </a:cubicBezTo>
                    <a:lnTo>
                      <a:pt x="21600" y="2586"/>
                    </a:lnTo>
                    <a:lnTo>
                      <a:pt x="27022" y="23494"/>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47115" name="Rectangle 9">
                <a:extLst>
                  <a:ext uri="{FF2B5EF4-FFF2-40B4-BE49-F238E27FC236}">
                    <a16:creationId xmlns:a16="http://schemas.microsoft.com/office/drawing/2014/main" id="{1A8CB6A7-E6CC-3646-81A2-BD6A3A0EA712}"/>
                  </a:ext>
                </a:extLst>
              </p:cNvPr>
              <p:cNvSpPr>
                <a:spLocks noChangeArrowheads="1"/>
              </p:cNvSpPr>
              <p:nvPr/>
            </p:nvSpPr>
            <p:spPr bwMode="auto">
              <a:xfrm>
                <a:off x="2752" y="1547"/>
                <a:ext cx="49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000" b="1">
                    <a:solidFill>
                      <a:srgbClr val="FF5050"/>
                    </a:solidFill>
                  </a:rPr>
                  <a:t>2916.6667</a:t>
                </a:r>
              </a:p>
            </p:txBody>
          </p:sp>
          <p:sp>
            <p:nvSpPr>
              <p:cNvPr id="47116" name="Arc 10">
                <a:extLst>
                  <a:ext uri="{FF2B5EF4-FFF2-40B4-BE49-F238E27FC236}">
                    <a16:creationId xmlns:a16="http://schemas.microsoft.com/office/drawing/2014/main" id="{C75B0BB0-1C8A-5FFF-A94D-8BBB3A8300A0}"/>
                  </a:ext>
                </a:extLst>
              </p:cNvPr>
              <p:cNvSpPr>
                <a:spLocks/>
              </p:cNvSpPr>
              <p:nvPr/>
            </p:nvSpPr>
            <p:spPr bwMode="auto">
              <a:xfrm rot="10800000">
                <a:off x="2728" y="1558"/>
                <a:ext cx="1810" cy="383"/>
              </a:xfrm>
              <a:custGeom>
                <a:avLst/>
                <a:gdLst>
                  <a:gd name="T0" fmla="*/ 0 w 27020"/>
                  <a:gd name="T1" fmla="*/ 0 h 24189"/>
                  <a:gd name="T2" fmla="*/ 0 w 27020"/>
                  <a:gd name="T3" fmla="*/ 0 h 24189"/>
                  <a:gd name="T4" fmla="*/ 0 w 27020"/>
                  <a:gd name="T5" fmla="*/ 0 h 24189"/>
                  <a:gd name="T6" fmla="*/ 0 60000 65536"/>
                  <a:gd name="T7" fmla="*/ 0 60000 65536"/>
                  <a:gd name="T8" fmla="*/ 0 60000 65536"/>
                </a:gdLst>
                <a:ahLst/>
                <a:cxnLst>
                  <a:cxn ang="T6">
                    <a:pos x="T0" y="T1"/>
                  </a:cxn>
                  <a:cxn ang="T7">
                    <a:pos x="T2" y="T3"/>
                  </a:cxn>
                  <a:cxn ang="T8">
                    <a:pos x="T4" y="T5"/>
                  </a:cxn>
                </a:cxnLst>
                <a:rect l="0" t="0" r="r" b="b"/>
                <a:pathLst>
                  <a:path w="27020" h="24189" fill="none" extrusionOk="0">
                    <a:moveTo>
                      <a:pt x="27019" y="23497"/>
                    </a:moveTo>
                    <a:cubicBezTo>
                      <a:pt x="25249" y="23956"/>
                      <a:pt x="23428" y="24188"/>
                      <a:pt x="21600" y="24189"/>
                    </a:cubicBezTo>
                    <a:cubicBezTo>
                      <a:pt x="9670" y="24189"/>
                      <a:pt x="0" y="14518"/>
                      <a:pt x="0" y="2589"/>
                    </a:cubicBezTo>
                    <a:cubicBezTo>
                      <a:pt x="-1" y="1723"/>
                      <a:pt x="52" y="859"/>
                      <a:pt x="155" y="-1"/>
                    </a:cubicBezTo>
                  </a:path>
                  <a:path w="27020" h="24189" stroke="0" extrusionOk="0">
                    <a:moveTo>
                      <a:pt x="27019" y="23497"/>
                    </a:moveTo>
                    <a:cubicBezTo>
                      <a:pt x="25249" y="23956"/>
                      <a:pt x="23428" y="24188"/>
                      <a:pt x="21600" y="24189"/>
                    </a:cubicBezTo>
                    <a:cubicBezTo>
                      <a:pt x="9670" y="24189"/>
                      <a:pt x="0" y="14518"/>
                      <a:pt x="0" y="2589"/>
                    </a:cubicBezTo>
                    <a:cubicBezTo>
                      <a:pt x="-1" y="1723"/>
                      <a:pt x="52" y="859"/>
                      <a:pt x="155" y="-1"/>
                    </a:cubicBezTo>
                    <a:lnTo>
                      <a:pt x="21600" y="2589"/>
                    </a:lnTo>
                    <a:lnTo>
                      <a:pt x="27019" y="23497"/>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47117" name="Arc 11">
                <a:extLst>
                  <a:ext uri="{FF2B5EF4-FFF2-40B4-BE49-F238E27FC236}">
                    <a16:creationId xmlns:a16="http://schemas.microsoft.com/office/drawing/2014/main" id="{EE068BCD-6EC0-83B3-6046-9305994BDC32}"/>
                  </a:ext>
                </a:extLst>
              </p:cNvPr>
              <p:cNvSpPr>
                <a:spLocks/>
              </p:cNvSpPr>
              <p:nvPr/>
            </p:nvSpPr>
            <p:spPr bwMode="auto">
              <a:xfrm rot="10800000">
                <a:off x="2728" y="1446"/>
                <a:ext cx="1865" cy="383"/>
              </a:xfrm>
              <a:custGeom>
                <a:avLst/>
                <a:gdLst>
                  <a:gd name="T0" fmla="*/ 0 w 27021"/>
                  <a:gd name="T1" fmla="*/ 0 h 24187"/>
                  <a:gd name="T2" fmla="*/ 0 w 27021"/>
                  <a:gd name="T3" fmla="*/ 0 h 24187"/>
                  <a:gd name="T4" fmla="*/ 0 w 27021"/>
                  <a:gd name="T5" fmla="*/ 0 h 24187"/>
                  <a:gd name="T6" fmla="*/ 0 60000 65536"/>
                  <a:gd name="T7" fmla="*/ 0 60000 65536"/>
                  <a:gd name="T8" fmla="*/ 0 60000 65536"/>
                </a:gdLst>
                <a:ahLst/>
                <a:cxnLst>
                  <a:cxn ang="T6">
                    <a:pos x="T0" y="T1"/>
                  </a:cxn>
                  <a:cxn ang="T7">
                    <a:pos x="T2" y="T3"/>
                  </a:cxn>
                  <a:cxn ang="T8">
                    <a:pos x="T4" y="T5"/>
                  </a:cxn>
                </a:cxnLst>
                <a:rect l="0" t="0" r="r" b="b"/>
                <a:pathLst>
                  <a:path w="27021" h="24187" fill="none" extrusionOk="0">
                    <a:moveTo>
                      <a:pt x="27020" y="23495"/>
                    </a:moveTo>
                    <a:cubicBezTo>
                      <a:pt x="25250" y="23954"/>
                      <a:pt x="23428" y="24186"/>
                      <a:pt x="21600" y="24187"/>
                    </a:cubicBezTo>
                    <a:cubicBezTo>
                      <a:pt x="9670" y="24187"/>
                      <a:pt x="0" y="14516"/>
                      <a:pt x="0" y="2587"/>
                    </a:cubicBezTo>
                    <a:cubicBezTo>
                      <a:pt x="-1" y="1722"/>
                      <a:pt x="51" y="858"/>
                      <a:pt x="155" y="-1"/>
                    </a:cubicBezTo>
                  </a:path>
                  <a:path w="27021" h="24187" stroke="0" extrusionOk="0">
                    <a:moveTo>
                      <a:pt x="27020" y="23495"/>
                    </a:moveTo>
                    <a:cubicBezTo>
                      <a:pt x="25250" y="23954"/>
                      <a:pt x="23428" y="24186"/>
                      <a:pt x="21600" y="24187"/>
                    </a:cubicBezTo>
                    <a:cubicBezTo>
                      <a:pt x="9670" y="24187"/>
                      <a:pt x="0" y="14516"/>
                      <a:pt x="0" y="2587"/>
                    </a:cubicBezTo>
                    <a:cubicBezTo>
                      <a:pt x="-1" y="1722"/>
                      <a:pt x="51" y="858"/>
                      <a:pt x="155" y="-1"/>
                    </a:cubicBezTo>
                    <a:lnTo>
                      <a:pt x="21600" y="2587"/>
                    </a:lnTo>
                    <a:lnTo>
                      <a:pt x="27020" y="23495"/>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47118" name="Rectangle 12">
                <a:extLst>
                  <a:ext uri="{FF2B5EF4-FFF2-40B4-BE49-F238E27FC236}">
                    <a16:creationId xmlns:a16="http://schemas.microsoft.com/office/drawing/2014/main" id="{4354150F-9F02-C132-0664-8F82D6047A41}"/>
                  </a:ext>
                </a:extLst>
              </p:cNvPr>
              <p:cNvSpPr>
                <a:spLocks noChangeArrowheads="1"/>
              </p:cNvSpPr>
              <p:nvPr/>
            </p:nvSpPr>
            <p:spPr bwMode="auto">
              <a:xfrm>
                <a:off x="2841" y="1429"/>
                <a:ext cx="29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000" b="1">
                    <a:solidFill>
                      <a:srgbClr val="FF5050"/>
                    </a:solidFill>
                  </a:rPr>
                  <a:t>2175</a:t>
                </a:r>
              </a:p>
            </p:txBody>
          </p:sp>
          <p:sp>
            <p:nvSpPr>
              <p:cNvPr id="47119" name="Rectangle 13">
                <a:extLst>
                  <a:ext uri="{FF2B5EF4-FFF2-40B4-BE49-F238E27FC236}">
                    <a16:creationId xmlns:a16="http://schemas.microsoft.com/office/drawing/2014/main" id="{959BAA44-A66D-C7F6-A5F3-401BBCC00612}"/>
                  </a:ext>
                </a:extLst>
              </p:cNvPr>
              <p:cNvSpPr>
                <a:spLocks noChangeArrowheads="1"/>
              </p:cNvSpPr>
              <p:nvPr/>
            </p:nvSpPr>
            <p:spPr bwMode="auto">
              <a:xfrm>
                <a:off x="3212" y="1317"/>
                <a:ext cx="49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000" b="1">
                    <a:solidFill>
                      <a:srgbClr val="FF5050"/>
                    </a:solidFill>
                  </a:rPr>
                  <a:t>1566.6667</a:t>
                </a:r>
              </a:p>
            </p:txBody>
          </p:sp>
        </p:grpSp>
      </p:grpSp>
      <p:sp>
        <p:nvSpPr>
          <p:cNvPr id="315406" name="Rectangle 14">
            <a:extLst>
              <a:ext uri="{FF2B5EF4-FFF2-40B4-BE49-F238E27FC236}">
                <a16:creationId xmlns:a16="http://schemas.microsoft.com/office/drawing/2014/main" id="{67A94E63-E715-054E-E248-A84ACD0FEFE2}"/>
              </a:ext>
            </a:extLst>
          </p:cNvPr>
          <p:cNvSpPr>
            <a:spLocks noChangeArrowheads="1"/>
          </p:cNvSpPr>
          <p:nvPr/>
        </p:nvSpPr>
        <p:spPr bwMode="blackWhite">
          <a:xfrm>
            <a:off x="939800" y="4017963"/>
            <a:ext cx="7480300" cy="17399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257175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EMPNO ENAME      JOB</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     7839 KING       PRESIDENT</a:t>
            </a:r>
          </a:p>
          <a:p>
            <a:pPr>
              <a:spcBef>
                <a:spcPct val="0"/>
              </a:spcBef>
              <a:buFontTx/>
              <a:buNone/>
            </a:pPr>
            <a:r>
              <a:rPr lang="en-US" altLang="en-US" sz="1800" b="1">
                <a:solidFill>
                  <a:srgbClr val="000000"/>
                </a:solidFill>
                <a:latin typeface="Courier New" panose="02070309020205020404" pitchFamily="49" charset="0"/>
              </a:rPr>
              <a:t>     7566 JONES      MANAGER</a:t>
            </a:r>
          </a:p>
          <a:p>
            <a:pPr>
              <a:spcBef>
                <a:spcPct val="0"/>
              </a:spcBef>
              <a:buFontTx/>
              <a:buNone/>
            </a:pPr>
            <a:r>
              <a:rPr lang="en-US" altLang="en-US" sz="1800" b="1">
                <a:solidFill>
                  <a:srgbClr val="000000"/>
                </a:solidFill>
                <a:latin typeface="Courier New" panose="02070309020205020404" pitchFamily="49" charset="0"/>
              </a:rPr>
              <a:t>     7902 FORD       ANALYST</a:t>
            </a:r>
          </a:p>
          <a:p>
            <a:pPr>
              <a:spcBef>
                <a:spcPct val="0"/>
              </a:spcBef>
              <a:buFontTx/>
              <a:buNone/>
            </a:pPr>
            <a:r>
              <a:rPr lang="en-US" altLang="en-US" sz="1800" b="1">
                <a:solidFill>
                  <a:srgbClr val="000000"/>
                </a:solidFill>
                <a:latin typeface="Courier New" panose="02070309020205020404" pitchFamily="49" charset="0"/>
              </a:rPr>
              <a:t>     7788 SCOTT      ANALYST</a:t>
            </a:r>
          </a:p>
        </p:txBody>
      </p:sp>
      <p:sp>
        <p:nvSpPr>
          <p:cNvPr id="47110" name="Rectangle 15">
            <a:extLst>
              <a:ext uri="{FF2B5EF4-FFF2-40B4-BE49-F238E27FC236}">
                <a16:creationId xmlns:a16="http://schemas.microsoft.com/office/drawing/2014/main" id="{0429F8C2-5AEA-6F12-679B-47D247298C41}"/>
              </a:ext>
            </a:extLst>
          </p:cNvPr>
          <p:cNvSpPr>
            <a:spLocks noChangeArrowheads="1"/>
          </p:cNvSpPr>
          <p:nvPr/>
        </p:nvSpPr>
        <p:spPr bwMode="blackWhite">
          <a:xfrm>
            <a:off x="927100" y="1878013"/>
            <a:ext cx="7432675" cy="187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2571750" algn="l"/>
              </a:tabLst>
              <a:defRPr sz="2800">
                <a:solidFill>
                  <a:schemeClr val="tx1"/>
                </a:solidFill>
                <a:latin typeface="Arial" panose="020B0604020202020204" pitchFamily="34" charset="0"/>
              </a:defRPr>
            </a:lvl1pPr>
            <a:lvl2pPr marL="742950" indent="-285750">
              <a:spcBef>
                <a:spcPct val="20000"/>
              </a:spcBef>
              <a:buChar char="–"/>
              <a:tabLst>
                <a:tab pos="1200150" algn="l"/>
                <a:tab pos="2571750" algn="l"/>
              </a:tabLst>
              <a:defRPr sz="2400">
                <a:solidFill>
                  <a:schemeClr val="tx1"/>
                </a:solidFill>
                <a:latin typeface="Arial" panose="020B0604020202020204" pitchFamily="34" charset="0"/>
              </a:defRPr>
            </a:lvl2pPr>
            <a:lvl3pPr marL="1143000" indent="-228600">
              <a:spcBef>
                <a:spcPct val="20000"/>
              </a:spcBef>
              <a:buChar char="•"/>
              <a:tabLst>
                <a:tab pos="1200150" algn="l"/>
                <a:tab pos="2571750" algn="l"/>
              </a:tabLst>
              <a:defRPr sz="2000">
                <a:solidFill>
                  <a:schemeClr val="tx1"/>
                </a:solidFill>
                <a:latin typeface="Arial" panose="020B0604020202020204" pitchFamily="34" charset="0"/>
              </a:defRPr>
            </a:lvl3pPr>
            <a:lvl4pPr marL="1600200" indent="-228600">
              <a:spcBef>
                <a:spcPct val="20000"/>
              </a:spcBef>
              <a:buChar char="–"/>
              <a:tabLst>
                <a:tab pos="1200150" algn="l"/>
                <a:tab pos="2571750" algn="l"/>
              </a:tabLst>
              <a:defRPr sz="2000">
                <a:solidFill>
                  <a:schemeClr val="tx1"/>
                </a:solidFill>
                <a:latin typeface="Arial" panose="020B0604020202020204" pitchFamily="34" charset="0"/>
              </a:defRPr>
            </a:lvl4pPr>
            <a:lvl5pPr marL="2057400" indent="-228600">
              <a:spcBef>
                <a:spcPct val="20000"/>
              </a:spcBef>
              <a:buChar char="»"/>
              <a:tabLst>
                <a:tab pos="1200150" algn="l"/>
                <a:tab pos="2571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25717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empno, ename, job</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sal &gt; ALL </a:t>
            </a:r>
          </a:p>
          <a:p>
            <a:pPr>
              <a:spcBef>
                <a:spcPct val="0"/>
              </a:spcBef>
              <a:buFontTx/>
              <a:buNone/>
            </a:pPr>
            <a:r>
              <a:rPr lang="en-US" altLang="en-US" sz="1800" b="1">
                <a:solidFill>
                  <a:srgbClr val="000000"/>
                </a:solidFill>
                <a:latin typeface="Courier New" panose="02070309020205020404" pitchFamily="49" charset="0"/>
              </a:rPr>
              <a:t>  4		 (SELECT	avg(sal)</a:t>
            </a:r>
          </a:p>
          <a:p>
            <a:pPr>
              <a:spcBef>
                <a:spcPct val="0"/>
              </a:spcBef>
              <a:buFontTx/>
              <a:buNone/>
            </a:pPr>
            <a:r>
              <a:rPr lang="en-US" altLang="en-US" sz="1800" b="1">
                <a:solidFill>
                  <a:srgbClr val="000000"/>
                </a:solidFill>
                <a:latin typeface="Courier New" panose="02070309020205020404" pitchFamily="49" charset="0"/>
              </a:rPr>
              <a:t>  5 			FROM		emp</a:t>
            </a:r>
          </a:p>
          <a:p>
            <a:pPr>
              <a:spcBef>
                <a:spcPct val="0"/>
              </a:spcBef>
              <a:buFontTx/>
              <a:buNone/>
            </a:pPr>
            <a:r>
              <a:rPr lang="en-US" altLang="en-US" sz="1800" b="1">
                <a:solidFill>
                  <a:srgbClr val="000000"/>
                </a:solidFill>
                <a:latin typeface="Courier New" panose="02070309020205020404" pitchFamily="49" charset="0"/>
              </a:rPr>
              <a:t>  6			GROUP BY	deptno);</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15396"/>
                                        </p:tgtEl>
                                        <p:attrNameLst>
                                          <p:attrName>style.visibility</p:attrName>
                                        </p:attrNameLst>
                                      </p:cBhvr>
                                      <p:to>
                                        <p:strVal val="visible"/>
                                      </p:to>
                                    </p:set>
                                    <p:animEffect transition="in" filter="wipe(up)">
                                      <p:cBhvr>
                                        <p:cTn id="7" dur="500"/>
                                        <p:tgtEl>
                                          <p:spTgt spid="3153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15406"/>
                                        </p:tgtEl>
                                        <p:attrNameLst>
                                          <p:attrName>style.visibility</p:attrName>
                                        </p:attrNameLst>
                                      </p:cBhvr>
                                      <p:to>
                                        <p:strVal val="visible"/>
                                      </p:to>
                                    </p:set>
                                    <p:animEffect transition="in" filter="wipe(up)">
                                      <p:cBhvr>
                                        <p:cTn id="12" dur="500"/>
                                        <p:tgtEl>
                                          <p:spTgt spid="315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06"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FA880183-9A06-714C-BF84-C0D537D03258}"/>
              </a:ext>
            </a:extLst>
          </p:cNvPr>
          <p:cNvSpPr>
            <a:spLocks noChangeArrowheads="1"/>
          </p:cNvSpPr>
          <p:nvPr/>
        </p:nvSpPr>
        <p:spPr bwMode="blackWhite">
          <a:xfrm>
            <a:off x="927100" y="2205038"/>
            <a:ext cx="7489825" cy="18764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49155" name="Rectangle 3">
            <a:extLst>
              <a:ext uri="{FF2B5EF4-FFF2-40B4-BE49-F238E27FC236}">
                <a16:creationId xmlns:a16="http://schemas.microsoft.com/office/drawing/2014/main" id="{E30CFD86-E7DF-2B46-1DC0-6C9546F04851}"/>
              </a:ext>
            </a:extLst>
          </p:cNvPr>
          <p:cNvSpPr>
            <a:spLocks noGrp="1" noChangeArrowheads="1"/>
          </p:cNvSpPr>
          <p:nvPr>
            <p:ph type="title"/>
          </p:nvPr>
        </p:nvSpPr>
        <p:spPr>
          <a:xfrm>
            <a:off x="323850" y="661988"/>
            <a:ext cx="4354513" cy="463550"/>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Null Values in a Subquery</a:t>
            </a:r>
          </a:p>
        </p:txBody>
      </p:sp>
      <p:sp>
        <p:nvSpPr>
          <p:cNvPr id="49156" name="Rectangle 4">
            <a:extLst>
              <a:ext uri="{FF2B5EF4-FFF2-40B4-BE49-F238E27FC236}">
                <a16:creationId xmlns:a16="http://schemas.microsoft.com/office/drawing/2014/main" id="{B1804D1C-79EB-B72E-A6EF-4EDA9C68D3CC}"/>
              </a:ext>
            </a:extLst>
          </p:cNvPr>
          <p:cNvSpPr>
            <a:spLocks noChangeArrowheads="1"/>
          </p:cNvSpPr>
          <p:nvPr/>
        </p:nvSpPr>
        <p:spPr bwMode="auto">
          <a:xfrm>
            <a:off x="4545013" y="3133725"/>
            <a:ext cx="3371850" cy="617538"/>
          </a:xfrm>
          <a:prstGeom prst="rect">
            <a:avLst/>
          </a:prstGeom>
          <a:gradFill rotWithShape="0">
            <a:gsLst>
              <a:gs pos="0">
                <a:srgbClr val="FF9966"/>
              </a:gs>
              <a:gs pos="100000">
                <a:srgbClr val="FF996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44069" name="Rectangle 5">
            <a:extLst>
              <a:ext uri="{FF2B5EF4-FFF2-40B4-BE49-F238E27FC236}">
                <a16:creationId xmlns:a16="http://schemas.microsoft.com/office/drawing/2014/main" id="{833B78D0-A326-FE0B-BA4C-745E9E30307C}"/>
              </a:ext>
            </a:extLst>
          </p:cNvPr>
          <p:cNvSpPr>
            <a:spLocks noChangeArrowheads="1"/>
          </p:cNvSpPr>
          <p:nvPr/>
        </p:nvSpPr>
        <p:spPr bwMode="blackWhite">
          <a:xfrm>
            <a:off x="971550" y="2211388"/>
            <a:ext cx="7180263" cy="1901825"/>
          </a:xfrm>
          <a:prstGeom prst="rect">
            <a:avLst/>
          </a:prstGeom>
          <a:noFill/>
          <a:ln>
            <a:noFill/>
          </a:ln>
          <a:effectLst/>
        </p:spPr>
        <p:txBody>
          <a:bodyPr wrap="none" lIns="92075" tIns="46038" rIns="92075" bIns="46038" anchor="ctr"/>
          <a:lstStyle/>
          <a:p>
            <a:pPr>
              <a:tabLst>
                <a:tab pos="1200150" algn="l"/>
              </a:tabLst>
              <a:defRPr/>
            </a:pPr>
            <a:r>
              <a:rPr lang="en-US" sz="1800" b="1" dirty="0">
                <a:solidFill>
                  <a:srgbClr val="000000"/>
                </a:solidFill>
                <a:latin typeface="Courier New" pitchFamily="49" charset="0"/>
              </a:rPr>
              <a:t>SQL&gt; SELECT	</a:t>
            </a:r>
            <a:r>
              <a:rPr lang="en-US" sz="1800" b="1" dirty="0" err="1">
                <a:solidFill>
                  <a:srgbClr val="000000"/>
                </a:solidFill>
                <a:latin typeface="Courier New" pitchFamily="49" charset="0"/>
              </a:rPr>
              <a:t>e.ename</a:t>
            </a:r>
            <a:endParaRPr lang="en-US" sz="1800" b="1" dirty="0">
              <a:solidFill>
                <a:srgbClr val="000000"/>
              </a:solidFill>
              <a:latin typeface="Courier New" pitchFamily="49" charset="0"/>
            </a:endParaRPr>
          </a:p>
          <a:p>
            <a:pPr>
              <a:tabLst>
                <a:tab pos="1200150" algn="l"/>
              </a:tabLst>
              <a:defRPr/>
            </a:pPr>
            <a:r>
              <a:rPr lang="en-US" sz="1800" b="1" dirty="0">
                <a:solidFill>
                  <a:srgbClr val="000000"/>
                </a:solidFill>
                <a:latin typeface="Courier New" pitchFamily="49" charset="0"/>
              </a:rPr>
              <a:t>  2  FROM 	emp e</a:t>
            </a:r>
          </a:p>
          <a:p>
            <a:pPr>
              <a:tabLst>
                <a:tab pos="1200150" algn="l"/>
              </a:tabLst>
              <a:defRPr/>
            </a:pPr>
            <a:r>
              <a:rPr lang="en-US" sz="1800" b="1" dirty="0">
                <a:solidFill>
                  <a:srgbClr val="000000"/>
                </a:solidFill>
                <a:latin typeface="Courier New" pitchFamily="49" charset="0"/>
              </a:rPr>
              <a:t>  3  WHERE 	</a:t>
            </a:r>
            <a:r>
              <a:rPr lang="en-US" sz="1800" b="1" dirty="0" err="1">
                <a:solidFill>
                  <a:srgbClr val="000000"/>
                </a:solidFill>
                <a:latin typeface="Courier New" pitchFamily="49" charset="0"/>
              </a:rPr>
              <a:t>e.empno</a:t>
            </a:r>
            <a:r>
              <a:rPr lang="en-US" sz="1800" b="1" dirty="0">
                <a:solidFill>
                  <a:srgbClr val="000000"/>
                </a:solidFill>
                <a:latin typeface="Courier New" pitchFamily="49" charset="0"/>
              </a:rPr>
              <a:t> NOT IN</a:t>
            </a:r>
          </a:p>
          <a:p>
            <a:pPr>
              <a:tabLst>
                <a:tab pos="1200150" algn="l"/>
              </a:tabLst>
              <a:defRPr/>
            </a:pPr>
            <a:r>
              <a:rPr lang="en-US" sz="1800" b="1" dirty="0">
                <a:solidFill>
                  <a:srgbClr val="000000"/>
                </a:solidFill>
                <a:latin typeface="Courier New" pitchFamily="49" charset="0"/>
              </a:rPr>
              <a:t>  4				(SELECT </a:t>
            </a:r>
            <a:r>
              <a:rPr lang="en-US" sz="1800" b="1" dirty="0" err="1">
                <a:solidFill>
                  <a:srgbClr val="000000"/>
                </a:solidFill>
                <a:latin typeface="Courier New" pitchFamily="49" charset="0"/>
              </a:rPr>
              <a:t>manager.mgr</a:t>
            </a:r>
            <a:endParaRPr lang="en-US" sz="1800" b="1" dirty="0">
              <a:solidFill>
                <a:srgbClr val="000000"/>
              </a:solidFill>
              <a:latin typeface="Courier New" pitchFamily="49" charset="0"/>
            </a:endParaRPr>
          </a:p>
          <a:p>
            <a:pPr>
              <a:tabLst>
                <a:tab pos="1200150" algn="l"/>
              </a:tabLst>
              <a:defRPr/>
            </a:pPr>
            <a:r>
              <a:rPr lang="en-US" sz="1800" b="1" dirty="0">
                <a:solidFill>
                  <a:srgbClr val="000000"/>
                </a:solidFill>
                <a:latin typeface="Courier New" pitchFamily="49" charset="0"/>
              </a:rPr>
              <a:t>  5				 FROM   emp manager);</a:t>
            </a:r>
          </a:p>
          <a:p>
            <a:pPr>
              <a:tabLst>
                <a:tab pos="1200150" algn="l"/>
              </a:tabLst>
              <a:defRPr/>
            </a:pPr>
            <a:r>
              <a:rPr lang="en-US" sz="1800" b="1" dirty="0">
                <a:solidFill>
                  <a:srgbClr val="FF3300"/>
                </a:solidFill>
                <a:effectLst>
                  <a:outerShdw blurRad="38100" dist="38100" dir="2700000" algn="tl">
                    <a:srgbClr val="000000"/>
                  </a:outerShdw>
                </a:effectLst>
                <a:latin typeface="Courier New" pitchFamily="49" charset="0"/>
              </a:rPr>
              <a:t>no rows selected.</a:t>
            </a:r>
          </a:p>
        </p:txBody>
      </p:sp>
      <p:sp>
        <p:nvSpPr>
          <p:cNvPr id="2" name="Rectangle 3">
            <a:extLst>
              <a:ext uri="{FF2B5EF4-FFF2-40B4-BE49-F238E27FC236}">
                <a16:creationId xmlns:a16="http://schemas.microsoft.com/office/drawing/2014/main" id="{45C2877C-F816-EAE2-27FB-9D1847924C85}"/>
              </a:ext>
            </a:extLst>
          </p:cNvPr>
          <p:cNvSpPr txBox="1">
            <a:spLocks noChangeArrowheads="1"/>
          </p:cNvSpPr>
          <p:nvPr/>
        </p:nvSpPr>
        <p:spPr bwMode="auto">
          <a:xfrm>
            <a:off x="323850" y="1238250"/>
            <a:ext cx="8351838" cy="954088"/>
          </a:xfrm>
          <a:prstGeom prst="rect">
            <a:avLst/>
          </a:prstGeom>
          <a:noFill/>
          <a:ln>
            <a:noFill/>
          </a:ln>
        </p:spPr>
        <p:txBody>
          <a:bodyPr lIns="92075" tIns="46038" rIns="92075" bIns="46038">
            <a:spAutoFit/>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a:lstStyle>
          <a:p>
            <a:pPr lvl="1">
              <a:defRPr/>
            </a:pPr>
            <a:r>
              <a:rPr lang="en-US" altLang="en-US" sz="2800" kern="0" dirty="0"/>
              <a:t>List all employees who do not have any subordinates. </a:t>
            </a:r>
          </a:p>
        </p:txBody>
      </p:sp>
      <p:sp>
        <p:nvSpPr>
          <p:cNvPr id="3" name="Rectangle 3">
            <a:extLst>
              <a:ext uri="{FF2B5EF4-FFF2-40B4-BE49-F238E27FC236}">
                <a16:creationId xmlns:a16="http://schemas.microsoft.com/office/drawing/2014/main" id="{3C8CDA55-D1AB-C3F9-8942-C9C867E82E0F}"/>
              </a:ext>
            </a:extLst>
          </p:cNvPr>
          <p:cNvSpPr txBox="1">
            <a:spLocks noChangeArrowheads="1"/>
          </p:cNvSpPr>
          <p:nvPr/>
        </p:nvSpPr>
        <p:spPr bwMode="auto">
          <a:xfrm>
            <a:off x="501650" y="4149080"/>
            <a:ext cx="8353425" cy="2419766"/>
          </a:xfrm>
          <a:prstGeom prst="rect">
            <a:avLst/>
          </a:prstGeom>
          <a:noFill/>
          <a:ln>
            <a:noFill/>
          </a:ln>
        </p:spPr>
        <p:txBody>
          <a:bodyPr lIns="92075" tIns="46038" rIns="92075" bIns="46038">
            <a:spAutoFit/>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a:lstStyle>
          <a:p>
            <a:pPr lvl="1">
              <a:defRPr/>
            </a:pPr>
            <a:r>
              <a:rPr lang="en-US" altLang="en-US" sz="2800" kern="0" dirty="0"/>
              <a:t>One of the values returned by the inner query is </a:t>
            </a:r>
            <a:r>
              <a:rPr lang="en-US" altLang="en-US" sz="2800" kern="0" dirty="0">
                <a:solidFill>
                  <a:srgbClr val="FF0000"/>
                </a:solidFill>
              </a:rPr>
              <a:t>NULL</a:t>
            </a:r>
            <a:r>
              <a:rPr lang="en-US" altLang="en-US" sz="2800" kern="0" dirty="0"/>
              <a:t>, and hence now rows are returned. </a:t>
            </a:r>
          </a:p>
          <a:p>
            <a:pPr lvl="1">
              <a:defRPr/>
            </a:pPr>
            <a:r>
              <a:rPr lang="en-US" altLang="en-US" sz="2800" kern="0" dirty="0"/>
              <a:t>The comparison with a </a:t>
            </a:r>
            <a:r>
              <a:rPr lang="en-US" altLang="en-US" sz="2800" kern="0" dirty="0">
                <a:solidFill>
                  <a:srgbClr val="FF0000"/>
                </a:solidFill>
              </a:rPr>
              <a:t>NULL</a:t>
            </a:r>
            <a:r>
              <a:rPr lang="en-US" altLang="en-US" sz="2800" kern="0" dirty="0"/>
              <a:t> results in </a:t>
            </a:r>
            <a:r>
              <a:rPr lang="en-US" altLang="en-US" sz="2800" kern="0" dirty="0">
                <a:solidFill>
                  <a:srgbClr val="FF0000"/>
                </a:solidFill>
              </a:rPr>
              <a:t>NULL.</a:t>
            </a:r>
          </a:p>
          <a:p>
            <a:pPr lvl="1">
              <a:defRPr/>
            </a:pPr>
            <a:r>
              <a:rPr lang="en-US" altLang="en-US" sz="2800" kern="0" dirty="0">
                <a:solidFill>
                  <a:srgbClr val="FF0000"/>
                </a:solidFill>
              </a:rPr>
              <a:t>NOT IN</a:t>
            </a:r>
            <a:r>
              <a:rPr lang="en-US" altLang="en-US" sz="2800" kern="0" dirty="0"/>
              <a:t> operator is equivalent to </a:t>
            </a:r>
            <a:r>
              <a:rPr lang="en-US" altLang="en-US" sz="2800" kern="0" dirty="0">
                <a:solidFill>
                  <a:srgbClr val="FF0000"/>
                </a:solidFill>
              </a:rPr>
              <a:t>&lt;&gt;ALL</a:t>
            </a:r>
            <a:r>
              <a:rPr lang="en-US" altLang="en-US" sz="2800" kern="0" dirty="0"/>
              <a:t>, when the list of values include NULL.</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F95691DC-828A-CA86-1D88-14E96178A21C}"/>
              </a:ext>
            </a:extLst>
          </p:cNvPr>
          <p:cNvSpPr>
            <a:spLocks noChangeArrowheads="1"/>
          </p:cNvSpPr>
          <p:nvPr/>
        </p:nvSpPr>
        <p:spPr bwMode="blackWhite">
          <a:xfrm>
            <a:off x="782638" y="1916113"/>
            <a:ext cx="4868862" cy="12239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1203" name="Rectangle 3">
            <a:extLst>
              <a:ext uri="{FF2B5EF4-FFF2-40B4-BE49-F238E27FC236}">
                <a16:creationId xmlns:a16="http://schemas.microsoft.com/office/drawing/2014/main" id="{33B5760E-68B3-2678-8165-C40E8AA4F0A6}"/>
              </a:ext>
            </a:extLst>
          </p:cNvPr>
          <p:cNvSpPr>
            <a:spLocks noGrp="1" noChangeArrowheads="1"/>
          </p:cNvSpPr>
          <p:nvPr>
            <p:ph type="title"/>
          </p:nvPr>
        </p:nvSpPr>
        <p:spPr>
          <a:xfrm>
            <a:off x="323850" y="661988"/>
            <a:ext cx="4354513" cy="463550"/>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Null Values in a Subquery</a:t>
            </a:r>
          </a:p>
        </p:txBody>
      </p:sp>
      <p:sp>
        <p:nvSpPr>
          <p:cNvPr id="51204" name="Rectangle 4">
            <a:extLst>
              <a:ext uri="{FF2B5EF4-FFF2-40B4-BE49-F238E27FC236}">
                <a16:creationId xmlns:a16="http://schemas.microsoft.com/office/drawing/2014/main" id="{59517428-1B9D-4C3F-3500-7EA0898AA24D}"/>
              </a:ext>
            </a:extLst>
          </p:cNvPr>
          <p:cNvSpPr>
            <a:spLocks noChangeArrowheads="1"/>
          </p:cNvSpPr>
          <p:nvPr/>
        </p:nvSpPr>
        <p:spPr bwMode="auto">
          <a:xfrm>
            <a:off x="812800" y="2781300"/>
            <a:ext cx="3687763" cy="358775"/>
          </a:xfrm>
          <a:prstGeom prst="rect">
            <a:avLst/>
          </a:prstGeom>
          <a:gradFill rotWithShape="0">
            <a:gsLst>
              <a:gs pos="0">
                <a:srgbClr val="FF9966"/>
              </a:gs>
              <a:gs pos="100000">
                <a:srgbClr val="FF996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1205" name="Rectangle 5">
            <a:extLst>
              <a:ext uri="{FF2B5EF4-FFF2-40B4-BE49-F238E27FC236}">
                <a16:creationId xmlns:a16="http://schemas.microsoft.com/office/drawing/2014/main" id="{2F6AABCB-20D0-D41C-4C9F-CEEEF441EECA}"/>
              </a:ext>
            </a:extLst>
          </p:cNvPr>
          <p:cNvSpPr>
            <a:spLocks noChangeArrowheads="1"/>
          </p:cNvSpPr>
          <p:nvPr/>
        </p:nvSpPr>
        <p:spPr bwMode="blackWhite">
          <a:xfrm>
            <a:off x="827088" y="1922463"/>
            <a:ext cx="4968875" cy="121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SELECT	e.ename,e.job FROM emp e</a:t>
            </a:r>
          </a:p>
          <a:p>
            <a:pPr>
              <a:spcBef>
                <a:spcPct val="0"/>
              </a:spcBef>
              <a:buFontTx/>
              <a:buNone/>
            </a:pPr>
            <a:r>
              <a:rPr lang="en-US" altLang="en-US" sz="1800" b="1">
                <a:solidFill>
                  <a:srgbClr val="000000"/>
                </a:solidFill>
                <a:latin typeface="Courier New" panose="02070309020205020404" pitchFamily="49" charset="0"/>
              </a:rPr>
              <a:t>WHERE 	e.empno NOT IN</a:t>
            </a:r>
          </a:p>
          <a:p>
            <a:pPr>
              <a:spcBef>
                <a:spcPct val="0"/>
              </a:spcBef>
              <a:buFontTx/>
              <a:buNone/>
            </a:pPr>
            <a:r>
              <a:rPr lang="en-US" altLang="en-US" sz="1800" b="1">
                <a:solidFill>
                  <a:srgbClr val="000000"/>
                </a:solidFill>
                <a:latin typeface="Courier New" panose="02070309020205020404" pitchFamily="49" charset="0"/>
              </a:rPr>
              <a:t>(SELECT m.mgr FROM emp m</a:t>
            </a:r>
          </a:p>
          <a:p>
            <a:pPr>
              <a:spcBef>
                <a:spcPct val="0"/>
              </a:spcBef>
              <a:buFontTx/>
              <a:buNone/>
            </a:pPr>
            <a:r>
              <a:rPr lang="en-US" altLang="en-US" sz="1800" b="1">
                <a:solidFill>
                  <a:srgbClr val="000000"/>
                </a:solidFill>
                <a:latin typeface="Courier New" panose="02070309020205020404" pitchFamily="49" charset="0"/>
              </a:rPr>
              <a:t>WHERE m.mgr IS NOT NULL);</a:t>
            </a:r>
          </a:p>
        </p:txBody>
      </p:sp>
      <p:sp>
        <p:nvSpPr>
          <p:cNvPr id="2" name="Rectangle 3">
            <a:extLst>
              <a:ext uri="{FF2B5EF4-FFF2-40B4-BE49-F238E27FC236}">
                <a16:creationId xmlns:a16="http://schemas.microsoft.com/office/drawing/2014/main" id="{050C3DD5-A8D2-8383-A432-700CEBC8AB18}"/>
              </a:ext>
            </a:extLst>
          </p:cNvPr>
          <p:cNvSpPr txBox="1">
            <a:spLocks noChangeArrowheads="1"/>
          </p:cNvSpPr>
          <p:nvPr/>
        </p:nvSpPr>
        <p:spPr bwMode="auto">
          <a:xfrm>
            <a:off x="323850" y="1238250"/>
            <a:ext cx="8351838" cy="4771179"/>
          </a:xfrm>
          <a:prstGeom prst="rect">
            <a:avLst/>
          </a:prstGeom>
          <a:noFill/>
          <a:ln>
            <a:noFill/>
          </a:ln>
        </p:spPr>
        <p:txBody>
          <a:bodyPr lIns="92075" tIns="46038" rIns="92075" bIns="46038">
            <a:spAutoFit/>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a:lstStyle>
          <a:p>
            <a:pPr>
              <a:defRPr/>
            </a:pPr>
            <a:r>
              <a:rPr lang="en-US" altLang="en-US" sz="2400" kern="0" dirty="0"/>
              <a:t>List all employees who do not have any subordinates.</a:t>
            </a:r>
          </a:p>
          <a:p>
            <a:pPr lvl="1">
              <a:defRPr/>
            </a:pPr>
            <a:endParaRPr lang="en-US" altLang="en-US" kern="0" dirty="0"/>
          </a:p>
          <a:p>
            <a:pPr lvl="1">
              <a:defRPr/>
            </a:pPr>
            <a:endParaRPr lang="en-US" altLang="en-US" kern="0" dirty="0"/>
          </a:p>
          <a:p>
            <a:pPr lvl="1">
              <a:defRPr/>
            </a:pPr>
            <a:endParaRPr lang="en-US" altLang="en-US" kern="0" dirty="0"/>
          </a:p>
          <a:p>
            <a:pPr lvl="1">
              <a:defRPr/>
            </a:pPr>
            <a:endParaRPr lang="en-US" altLang="en-US" kern="0" dirty="0"/>
          </a:p>
          <a:p>
            <a:pPr lvl="1">
              <a:defRPr/>
            </a:pPr>
            <a:endParaRPr lang="en-US" altLang="en-US" kern="0" dirty="0"/>
          </a:p>
          <a:p>
            <a:pPr lvl="1">
              <a:defRPr/>
            </a:pPr>
            <a:endParaRPr lang="en-US" altLang="en-US" kern="0" dirty="0"/>
          </a:p>
          <a:p>
            <a:pPr lvl="1">
              <a:defRPr/>
            </a:pPr>
            <a:endParaRPr lang="en-US" altLang="en-US" kern="0" dirty="0"/>
          </a:p>
          <a:p>
            <a:pPr>
              <a:defRPr/>
            </a:pPr>
            <a:endParaRPr lang="en-US" altLang="en-US" sz="1800" kern="0" dirty="0"/>
          </a:p>
          <a:p>
            <a:pPr>
              <a:defRPr/>
            </a:pPr>
            <a:r>
              <a:rPr lang="en-US" altLang="en-US" sz="2400" kern="0" dirty="0">
                <a:solidFill>
                  <a:srgbClr val="FF0000"/>
                </a:solidFill>
              </a:rPr>
              <a:t>EXISTS</a:t>
            </a:r>
            <a:r>
              <a:rPr lang="en-US" altLang="en-US" sz="2400" kern="0" dirty="0"/>
              <a:t> operator is often used with a subquery to test for the existence of rows.</a:t>
            </a:r>
            <a:r>
              <a:rPr lang="en-US" altLang="en-US" kern="0" dirty="0"/>
              <a:t> </a:t>
            </a:r>
          </a:p>
        </p:txBody>
      </p:sp>
      <p:graphicFrame>
        <p:nvGraphicFramePr>
          <p:cNvPr id="4" name="Table 3">
            <a:extLst>
              <a:ext uri="{FF2B5EF4-FFF2-40B4-BE49-F238E27FC236}">
                <a16:creationId xmlns:a16="http://schemas.microsoft.com/office/drawing/2014/main" id="{3754C8D3-0A1B-CF90-CC84-BA12420EB09B}"/>
              </a:ext>
            </a:extLst>
          </p:cNvPr>
          <p:cNvGraphicFramePr>
            <a:graphicFrameLocks noGrp="1"/>
          </p:cNvGraphicFramePr>
          <p:nvPr/>
        </p:nvGraphicFramePr>
        <p:xfrm>
          <a:off x="5940425" y="1943100"/>
          <a:ext cx="3095626" cy="2925998"/>
        </p:xfrm>
        <a:graphic>
          <a:graphicData uri="http://schemas.openxmlformats.org/drawingml/2006/table">
            <a:tbl>
              <a:tblPr/>
              <a:tblGrid>
                <a:gridCol w="1547813">
                  <a:extLst>
                    <a:ext uri="{9D8B030D-6E8A-4147-A177-3AD203B41FA5}">
                      <a16:colId xmlns:a16="http://schemas.microsoft.com/office/drawing/2014/main" val="20000"/>
                    </a:ext>
                  </a:extLst>
                </a:gridCol>
                <a:gridCol w="1547813">
                  <a:extLst>
                    <a:ext uri="{9D8B030D-6E8A-4147-A177-3AD203B41FA5}">
                      <a16:colId xmlns:a16="http://schemas.microsoft.com/office/drawing/2014/main" val="20001"/>
                    </a:ext>
                  </a:extLst>
                </a:gridCol>
              </a:tblGrid>
              <a:tr h="365716">
                <a:tc>
                  <a:txBody>
                    <a:bodyPr/>
                    <a:lstStyle/>
                    <a:p>
                      <a:pPr fontAlgn="b"/>
                      <a:r>
                        <a:rPr lang="en-US" sz="1800" b="1" dirty="0">
                          <a:solidFill>
                            <a:srgbClr val="FFFFFF"/>
                          </a:solidFill>
                          <a:effectLst/>
                        </a:rPr>
                        <a:t>ENAME</a:t>
                      </a:r>
                    </a:p>
                  </a:txBody>
                  <a:tcPr marL="68564" marR="68564" marT="45711" marB="4571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JOB</a:t>
                      </a:r>
                    </a:p>
                  </a:txBody>
                  <a:tcPr marL="68564" marR="68564" marT="45711" marB="4571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006">
                <a:tc>
                  <a:txBody>
                    <a:bodyPr/>
                    <a:lstStyle/>
                    <a:p>
                      <a:r>
                        <a:rPr lang="en-US" sz="1800">
                          <a:effectLst/>
                        </a:rPr>
                        <a:t>SMITH</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CLERK</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320006">
                <a:tc>
                  <a:txBody>
                    <a:bodyPr/>
                    <a:lstStyle/>
                    <a:p>
                      <a:r>
                        <a:rPr lang="en-US" sz="1800">
                          <a:effectLst/>
                        </a:rPr>
                        <a:t>ALLEN</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SALESMAN</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320006">
                <a:tc>
                  <a:txBody>
                    <a:bodyPr/>
                    <a:lstStyle/>
                    <a:p>
                      <a:r>
                        <a:rPr lang="en-US" sz="1800">
                          <a:effectLst/>
                        </a:rPr>
                        <a:t>WARD</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SALESMAN</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320006">
                <a:tc>
                  <a:txBody>
                    <a:bodyPr/>
                    <a:lstStyle/>
                    <a:p>
                      <a:r>
                        <a:rPr lang="en-US" sz="1800">
                          <a:effectLst/>
                        </a:rPr>
                        <a:t>MARTIN</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SALESMAN</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320006">
                <a:tc>
                  <a:txBody>
                    <a:bodyPr/>
                    <a:lstStyle/>
                    <a:p>
                      <a:r>
                        <a:rPr lang="en-US" sz="1800">
                          <a:effectLst/>
                        </a:rPr>
                        <a:t>TURNER</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SALESMAN</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320006">
                <a:tc>
                  <a:txBody>
                    <a:bodyPr/>
                    <a:lstStyle/>
                    <a:p>
                      <a:r>
                        <a:rPr lang="en-US" sz="1800">
                          <a:effectLst/>
                        </a:rPr>
                        <a:t>ADAMS</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CLERK</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320006">
                <a:tc>
                  <a:txBody>
                    <a:bodyPr/>
                    <a:lstStyle/>
                    <a:p>
                      <a:r>
                        <a:rPr lang="en-US" sz="1800">
                          <a:effectLst/>
                        </a:rPr>
                        <a:t>JAMES</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CLERK</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r h="320006">
                <a:tc>
                  <a:txBody>
                    <a:bodyPr/>
                    <a:lstStyle/>
                    <a:p>
                      <a:r>
                        <a:rPr lang="en-US" sz="1800">
                          <a:effectLst/>
                        </a:rPr>
                        <a:t>MILLER</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dirty="0">
                          <a:effectLst/>
                        </a:rPr>
                        <a:t>CLERK</a:t>
                      </a:r>
                    </a:p>
                  </a:txBody>
                  <a:tcPr marL="68564" marR="68564" marT="22856" marB="2285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8"/>
                  </a:ext>
                </a:extLst>
              </a:tr>
            </a:tbl>
          </a:graphicData>
        </a:graphic>
      </p:graphicFrame>
      <p:sp>
        <p:nvSpPr>
          <p:cNvPr id="51239" name="Rectangle 2">
            <a:extLst>
              <a:ext uri="{FF2B5EF4-FFF2-40B4-BE49-F238E27FC236}">
                <a16:creationId xmlns:a16="http://schemas.microsoft.com/office/drawing/2014/main" id="{7477DD9E-9EA7-ADB6-904B-FCAA43146206}"/>
              </a:ext>
            </a:extLst>
          </p:cNvPr>
          <p:cNvSpPr>
            <a:spLocks noChangeArrowheads="1"/>
          </p:cNvSpPr>
          <p:nvPr/>
        </p:nvSpPr>
        <p:spPr bwMode="blackWhite">
          <a:xfrm>
            <a:off x="812800" y="3573463"/>
            <a:ext cx="4868863" cy="12239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1240" name="Rectangle 4">
            <a:extLst>
              <a:ext uri="{FF2B5EF4-FFF2-40B4-BE49-F238E27FC236}">
                <a16:creationId xmlns:a16="http://schemas.microsoft.com/office/drawing/2014/main" id="{429FCCB5-4D42-702D-0ABE-E5A6884F092B}"/>
              </a:ext>
            </a:extLst>
          </p:cNvPr>
          <p:cNvSpPr>
            <a:spLocks noChangeArrowheads="1"/>
          </p:cNvSpPr>
          <p:nvPr/>
        </p:nvSpPr>
        <p:spPr bwMode="auto">
          <a:xfrm>
            <a:off x="841375" y="4437063"/>
            <a:ext cx="3687763" cy="360362"/>
          </a:xfrm>
          <a:prstGeom prst="rect">
            <a:avLst/>
          </a:prstGeom>
          <a:gradFill rotWithShape="0">
            <a:gsLst>
              <a:gs pos="0">
                <a:srgbClr val="FF9966"/>
              </a:gs>
              <a:gs pos="100000">
                <a:srgbClr val="FF996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1241" name="Rectangle 5">
            <a:extLst>
              <a:ext uri="{FF2B5EF4-FFF2-40B4-BE49-F238E27FC236}">
                <a16:creationId xmlns:a16="http://schemas.microsoft.com/office/drawing/2014/main" id="{A8366FD7-E8FA-FA87-B0B2-E3AF8EF29982}"/>
              </a:ext>
            </a:extLst>
          </p:cNvPr>
          <p:cNvSpPr>
            <a:spLocks noChangeArrowheads="1"/>
          </p:cNvSpPr>
          <p:nvPr/>
        </p:nvSpPr>
        <p:spPr bwMode="blackWhite">
          <a:xfrm>
            <a:off x="755650" y="3579813"/>
            <a:ext cx="4968875" cy="121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SELECT	e.ename,e.job FROM emp e</a:t>
            </a:r>
          </a:p>
          <a:p>
            <a:pPr>
              <a:spcBef>
                <a:spcPct val="0"/>
              </a:spcBef>
              <a:buFontTx/>
              <a:buNone/>
            </a:pPr>
            <a:r>
              <a:rPr lang="en-US" altLang="en-US" sz="1800" b="1">
                <a:solidFill>
                  <a:srgbClr val="000000"/>
                </a:solidFill>
                <a:latin typeface="Courier New" panose="02070309020205020404" pitchFamily="49" charset="0"/>
              </a:rPr>
              <a:t>WHERE 	</a:t>
            </a:r>
            <a:r>
              <a:rPr lang="en-US" altLang="en-US" sz="1800" b="1">
                <a:solidFill>
                  <a:srgbClr val="FF0000"/>
                </a:solidFill>
                <a:latin typeface="Courier New" panose="02070309020205020404" pitchFamily="49" charset="0"/>
              </a:rPr>
              <a:t>NOT EXISTS</a:t>
            </a:r>
          </a:p>
          <a:p>
            <a:pPr>
              <a:spcBef>
                <a:spcPct val="0"/>
              </a:spcBef>
              <a:buFontTx/>
              <a:buNone/>
            </a:pPr>
            <a:r>
              <a:rPr lang="en-US" altLang="en-US" sz="1800" b="1">
                <a:solidFill>
                  <a:srgbClr val="000000"/>
                </a:solidFill>
                <a:latin typeface="Courier New" panose="02070309020205020404" pitchFamily="49" charset="0"/>
              </a:rPr>
              <a:t>(SELECT empno FROM emp m</a:t>
            </a:r>
          </a:p>
          <a:p>
            <a:pPr>
              <a:spcBef>
                <a:spcPct val="0"/>
              </a:spcBef>
              <a:buFontTx/>
              <a:buNone/>
            </a:pPr>
            <a:r>
              <a:rPr lang="en-US" altLang="en-US" sz="1800" b="1">
                <a:solidFill>
                  <a:srgbClr val="000000"/>
                </a:solidFill>
                <a:latin typeface="Courier New" panose="02070309020205020404" pitchFamily="49" charset="0"/>
              </a:rPr>
              <a:t>WHERE m.mgr = e.empno);</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3A51E908-617A-BE5A-6C0C-26C5939627DE}"/>
              </a:ext>
            </a:extLst>
          </p:cNvPr>
          <p:cNvSpPr>
            <a:spLocks noGrp="1" noChangeArrowheads="1"/>
          </p:cNvSpPr>
          <p:nvPr>
            <p:ph type="title"/>
          </p:nvPr>
        </p:nvSpPr>
        <p:spPr>
          <a:xfrm>
            <a:off x="323850" y="660400"/>
            <a:ext cx="4714875"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Multiple-Column Subqueries</a:t>
            </a:r>
          </a:p>
        </p:txBody>
      </p:sp>
      <p:sp>
        <p:nvSpPr>
          <p:cNvPr id="53251" name="Rectangle 3">
            <a:extLst>
              <a:ext uri="{FF2B5EF4-FFF2-40B4-BE49-F238E27FC236}">
                <a16:creationId xmlns:a16="http://schemas.microsoft.com/office/drawing/2014/main" id="{D1EE7DB0-61C1-C09C-655D-D2D9F6CA2EA0}"/>
              </a:ext>
            </a:extLst>
          </p:cNvPr>
          <p:cNvSpPr>
            <a:spLocks noGrp="1" noChangeArrowheads="1"/>
          </p:cNvSpPr>
          <p:nvPr>
            <p:ph type="body" idx="1"/>
          </p:nvPr>
        </p:nvSpPr>
        <p:spPr>
          <a:xfrm>
            <a:off x="755650" y="1628775"/>
            <a:ext cx="7385050" cy="2625725"/>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r>
              <a:rPr lang="en-US" altLang="en-US"/>
              <a:t>After completing this lesson, you should be able to do the following:</a:t>
            </a:r>
          </a:p>
          <a:p>
            <a:pPr lvl="1"/>
            <a:r>
              <a:rPr lang="en-US" altLang="en-US"/>
              <a:t>Write a multiple-column subquery</a:t>
            </a:r>
          </a:p>
          <a:p>
            <a:pPr lvl="1"/>
            <a:r>
              <a:rPr lang="en-US" altLang="en-US"/>
              <a:t>Describe and explain the behavior of subqueries when null values are retrieved</a:t>
            </a:r>
          </a:p>
          <a:p>
            <a:pPr lvl="1"/>
            <a:r>
              <a:rPr lang="en-US" altLang="en-US"/>
              <a:t>Write a subquery in a FROM clause</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2D51BEF6-0BC6-1461-1D7D-47C5D47D4C9A}"/>
              </a:ext>
            </a:extLst>
          </p:cNvPr>
          <p:cNvSpPr>
            <a:spLocks noChangeArrowheads="1"/>
          </p:cNvSpPr>
          <p:nvPr/>
        </p:nvSpPr>
        <p:spPr bwMode="blackWhite">
          <a:xfrm>
            <a:off x="1417638" y="1403350"/>
            <a:ext cx="5957887" cy="26336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5299" name="Rectangle 3">
            <a:extLst>
              <a:ext uri="{FF2B5EF4-FFF2-40B4-BE49-F238E27FC236}">
                <a16:creationId xmlns:a16="http://schemas.microsoft.com/office/drawing/2014/main" id="{10DB1D2B-880A-564A-3F16-6A0422E13F96}"/>
              </a:ext>
            </a:extLst>
          </p:cNvPr>
          <p:cNvSpPr>
            <a:spLocks noChangeArrowheads="1"/>
          </p:cNvSpPr>
          <p:nvPr/>
        </p:nvSpPr>
        <p:spPr bwMode="auto">
          <a:xfrm>
            <a:off x="3505200" y="2487613"/>
            <a:ext cx="3810000" cy="1531937"/>
          </a:xfrm>
          <a:prstGeom prst="rect">
            <a:avLst/>
          </a:prstGeom>
          <a:gradFill rotWithShape="0">
            <a:gsLst>
              <a:gs pos="0">
                <a:srgbClr val="FF9966"/>
              </a:gs>
              <a:gs pos="100000">
                <a:srgbClr val="FF996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5300" name="Rectangle 4">
            <a:extLst>
              <a:ext uri="{FF2B5EF4-FFF2-40B4-BE49-F238E27FC236}">
                <a16:creationId xmlns:a16="http://schemas.microsoft.com/office/drawing/2014/main" id="{859B616C-CBFF-E4AE-272A-89A6D0CF5009}"/>
              </a:ext>
            </a:extLst>
          </p:cNvPr>
          <p:cNvSpPr>
            <a:spLocks noGrp="1" noChangeArrowheads="1"/>
          </p:cNvSpPr>
          <p:nvPr>
            <p:ph type="title"/>
          </p:nvPr>
        </p:nvSpPr>
        <p:spPr>
          <a:xfrm>
            <a:off x="323850" y="693738"/>
            <a:ext cx="4873625" cy="431800"/>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Multiple-Column Subqueries</a:t>
            </a:r>
          </a:p>
        </p:txBody>
      </p:sp>
      <p:sp>
        <p:nvSpPr>
          <p:cNvPr id="55301" name="Rectangle 5">
            <a:extLst>
              <a:ext uri="{FF2B5EF4-FFF2-40B4-BE49-F238E27FC236}">
                <a16:creationId xmlns:a16="http://schemas.microsoft.com/office/drawing/2014/main" id="{C93C4E5F-F569-E3A6-7920-020C5398F843}"/>
              </a:ext>
            </a:extLst>
          </p:cNvPr>
          <p:cNvSpPr>
            <a:spLocks noChangeArrowheads="1"/>
          </p:cNvSpPr>
          <p:nvPr/>
        </p:nvSpPr>
        <p:spPr bwMode="auto">
          <a:xfrm>
            <a:off x="1541463" y="1409700"/>
            <a:ext cx="1658937"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2200" b="1">
                <a:solidFill>
                  <a:srgbClr val="000000"/>
                </a:solidFill>
              </a:rPr>
              <a:t>Main query</a:t>
            </a:r>
          </a:p>
        </p:txBody>
      </p:sp>
      <p:sp>
        <p:nvSpPr>
          <p:cNvPr id="55302" name="Rectangle 6">
            <a:extLst>
              <a:ext uri="{FF2B5EF4-FFF2-40B4-BE49-F238E27FC236}">
                <a16:creationId xmlns:a16="http://schemas.microsoft.com/office/drawing/2014/main" id="{30C71B2F-64B5-2D98-E551-4D83DFC6AC4E}"/>
              </a:ext>
            </a:extLst>
          </p:cNvPr>
          <p:cNvSpPr>
            <a:spLocks noChangeArrowheads="1"/>
          </p:cNvSpPr>
          <p:nvPr/>
        </p:nvSpPr>
        <p:spPr bwMode="auto">
          <a:xfrm>
            <a:off x="1866900" y="1868488"/>
            <a:ext cx="1682750"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800" b="1">
                <a:solidFill>
                  <a:srgbClr val="000066"/>
                </a:solidFill>
              </a:rPr>
              <a:t>MANAGER 10</a:t>
            </a:r>
          </a:p>
        </p:txBody>
      </p:sp>
      <p:sp>
        <p:nvSpPr>
          <p:cNvPr id="55303" name="Rectangle 7">
            <a:extLst>
              <a:ext uri="{FF2B5EF4-FFF2-40B4-BE49-F238E27FC236}">
                <a16:creationId xmlns:a16="http://schemas.microsoft.com/office/drawing/2014/main" id="{744C60DA-58A8-6676-9B30-4DAB5A4554C9}"/>
              </a:ext>
            </a:extLst>
          </p:cNvPr>
          <p:cNvSpPr>
            <a:spLocks noChangeArrowheads="1"/>
          </p:cNvSpPr>
          <p:nvPr/>
        </p:nvSpPr>
        <p:spPr bwMode="auto">
          <a:xfrm>
            <a:off x="3589338" y="2452688"/>
            <a:ext cx="1355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2000" b="1">
                <a:solidFill>
                  <a:srgbClr val="000000"/>
                </a:solidFill>
              </a:rPr>
              <a:t>Subquery</a:t>
            </a:r>
          </a:p>
        </p:txBody>
      </p:sp>
      <p:sp>
        <p:nvSpPr>
          <p:cNvPr id="55304" name="Rectangle 8">
            <a:extLst>
              <a:ext uri="{FF2B5EF4-FFF2-40B4-BE49-F238E27FC236}">
                <a16:creationId xmlns:a16="http://schemas.microsoft.com/office/drawing/2014/main" id="{F172250F-3E01-7873-B569-0ED6CCFF7F7E}"/>
              </a:ext>
            </a:extLst>
          </p:cNvPr>
          <p:cNvSpPr>
            <a:spLocks noChangeArrowheads="1"/>
          </p:cNvSpPr>
          <p:nvPr/>
        </p:nvSpPr>
        <p:spPr bwMode="auto">
          <a:xfrm>
            <a:off x="3703638" y="2865438"/>
            <a:ext cx="2316162" cy="157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tabLst>
                <a:tab pos="1714500" algn="l"/>
              </a:tabLst>
              <a:defRPr sz="2800">
                <a:solidFill>
                  <a:schemeClr val="tx1"/>
                </a:solidFill>
                <a:latin typeface="Arial" panose="020B0604020202020204" pitchFamily="34" charset="0"/>
              </a:defRPr>
            </a:lvl1pPr>
            <a:lvl2pPr marL="742950" indent="-285750">
              <a:spcBef>
                <a:spcPct val="20000"/>
              </a:spcBef>
              <a:buChar char="–"/>
              <a:tabLst>
                <a:tab pos="1714500" algn="l"/>
              </a:tabLst>
              <a:defRPr sz="2400">
                <a:solidFill>
                  <a:schemeClr val="tx1"/>
                </a:solidFill>
                <a:latin typeface="Arial" panose="020B0604020202020204" pitchFamily="34" charset="0"/>
              </a:defRPr>
            </a:lvl2pPr>
            <a:lvl3pPr marL="1143000" indent="-228600">
              <a:spcBef>
                <a:spcPct val="20000"/>
              </a:spcBef>
              <a:buChar char="•"/>
              <a:tabLst>
                <a:tab pos="1714500" algn="l"/>
              </a:tabLst>
              <a:defRPr sz="2000">
                <a:solidFill>
                  <a:schemeClr val="tx1"/>
                </a:solidFill>
                <a:latin typeface="Arial" panose="020B0604020202020204" pitchFamily="34" charset="0"/>
              </a:defRPr>
            </a:lvl3pPr>
            <a:lvl4pPr marL="1600200" indent="-228600">
              <a:spcBef>
                <a:spcPct val="20000"/>
              </a:spcBef>
              <a:buChar char="–"/>
              <a:tabLst>
                <a:tab pos="1714500" algn="l"/>
              </a:tabLst>
              <a:defRPr sz="2000">
                <a:solidFill>
                  <a:schemeClr val="tx1"/>
                </a:solidFill>
                <a:latin typeface="Arial" panose="020B0604020202020204" pitchFamily="34" charset="0"/>
              </a:defRPr>
            </a:lvl4pPr>
            <a:lvl5pPr marL="2057400" indent="-228600">
              <a:spcBef>
                <a:spcPct val="20000"/>
              </a:spcBef>
              <a:buChar char="»"/>
              <a:tabLst>
                <a:tab pos="17145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7145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7145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7145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714500" algn="l"/>
              </a:tabLst>
              <a:defRPr sz="2000">
                <a:solidFill>
                  <a:schemeClr val="tx1"/>
                </a:solidFill>
                <a:latin typeface="Arial" panose="020B0604020202020204" pitchFamily="34" charset="0"/>
              </a:defRPr>
            </a:lvl9pPr>
          </a:lstStyle>
          <a:p>
            <a:pPr>
              <a:lnSpc>
                <a:spcPct val="120000"/>
              </a:lnSpc>
              <a:spcBef>
                <a:spcPct val="60000"/>
              </a:spcBef>
              <a:buFontTx/>
              <a:buNone/>
            </a:pPr>
            <a:r>
              <a:rPr lang="en-US" altLang="en-US" sz="1800" b="1">
                <a:solidFill>
                  <a:srgbClr val="000066"/>
                </a:solidFill>
              </a:rPr>
              <a:t>SALESMAN 	  30</a:t>
            </a:r>
            <a:br>
              <a:rPr lang="en-US" altLang="en-US" sz="1800" b="1">
                <a:solidFill>
                  <a:srgbClr val="000066"/>
                </a:solidFill>
              </a:rPr>
            </a:br>
            <a:r>
              <a:rPr lang="en-US" altLang="en-US" sz="1800" b="1">
                <a:solidFill>
                  <a:srgbClr val="000066"/>
                </a:solidFill>
              </a:rPr>
              <a:t>MANAGER 	  10</a:t>
            </a:r>
            <a:br>
              <a:rPr lang="en-US" altLang="en-US" sz="1800" b="1">
                <a:solidFill>
                  <a:srgbClr val="000066"/>
                </a:solidFill>
              </a:rPr>
            </a:br>
            <a:r>
              <a:rPr lang="en-US" altLang="en-US" sz="1800" b="1">
                <a:solidFill>
                  <a:srgbClr val="000066"/>
                </a:solidFill>
              </a:rPr>
              <a:t>CLERK        	  20</a:t>
            </a:r>
          </a:p>
          <a:p>
            <a:pPr>
              <a:lnSpc>
                <a:spcPct val="120000"/>
              </a:lnSpc>
              <a:spcBef>
                <a:spcPct val="60000"/>
              </a:spcBef>
              <a:buFontTx/>
              <a:buNone/>
            </a:pPr>
            <a:endParaRPr lang="en-US" altLang="en-US" sz="1800" b="1">
              <a:solidFill>
                <a:srgbClr val="000066"/>
              </a:solidFill>
            </a:endParaRPr>
          </a:p>
        </p:txBody>
      </p:sp>
      <p:grpSp>
        <p:nvGrpSpPr>
          <p:cNvPr id="329737" name="Group 9">
            <a:extLst>
              <a:ext uri="{FF2B5EF4-FFF2-40B4-BE49-F238E27FC236}">
                <a16:creationId xmlns:a16="http://schemas.microsoft.com/office/drawing/2014/main" id="{A2BE0855-457F-EEAD-D6DF-96D2AE8F3B2D}"/>
              </a:ext>
            </a:extLst>
          </p:cNvPr>
          <p:cNvGrpSpPr>
            <a:grpSpLocks/>
          </p:cNvGrpSpPr>
          <p:nvPr/>
        </p:nvGrpSpPr>
        <p:grpSpPr bwMode="auto">
          <a:xfrm>
            <a:off x="4676775" y="1754188"/>
            <a:ext cx="2389188" cy="2209800"/>
            <a:chOff x="2946" y="1105"/>
            <a:chExt cx="1505" cy="1392"/>
          </a:xfrm>
        </p:grpSpPr>
        <p:sp>
          <p:nvSpPr>
            <p:cNvPr id="55313" name="Arc 10">
              <a:extLst>
                <a:ext uri="{FF2B5EF4-FFF2-40B4-BE49-F238E27FC236}">
                  <a16:creationId xmlns:a16="http://schemas.microsoft.com/office/drawing/2014/main" id="{07B486B5-BA99-B3CC-058A-0B8E2BF077E7}"/>
                </a:ext>
              </a:extLst>
            </p:cNvPr>
            <p:cNvSpPr>
              <a:spLocks/>
            </p:cNvSpPr>
            <p:nvPr/>
          </p:nvSpPr>
          <p:spPr bwMode="auto">
            <a:xfrm rot="10800000">
              <a:off x="3494" y="1105"/>
              <a:ext cx="957" cy="1261"/>
            </a:xfrm>
            <a:custGeom>
              <a:avLst/>
              <a:gdLst>
                <a:gd name="T0" fmla="*/ 0 w 23846"/>
                <a:gd name="T1" fmla="*/ 0 h 42202"/>
                <a:gd name="T2" fmla="*/ 0 w 23846"/>
                <a:gd name="T3" fmla="*/ 0 h 42202"/>
                <a:gd name="T4" fmla="*/ 0 w 23846"/>
                <a:gd name="T5" fmla="*/ 0 h 42202"/>
                <a:gd name="T6" fmla="*/ 0 60000 65536"/>
                <a:gd name="T7" fmla="*/ 0 60000 65536"/>
                <a:gd name="T8" fmla="*/ 0 60000 65536"/>
              </a:gdLst>
              <a:ahLst/>
              <a:cxnLst>
                <a:cxn ang="T6">
                  <a:pos x="T0" y="T1"/>
                </a:cxn>
                <a:cxn ang="T7">
                  <a:pos x="T2" y="T3"/>
                </a:cxn>
                <a:cxn ang="T8">
                  <a:pos x="T4" y="T5"/>
                </a:cxn>
              </a:cxnLst>
              <a:rect l="0" t="0" r="r" b="b"/>
              <a:pathLst>
                <a:path w="23846" h="42202" fill="none" extrusionOk="0">
                  <a:moveTo>
                    <a:pt x="23845" y="42084"/>
                  </a:moveTo>
                  <a:cubicBezTo>
                    <a:pt x="23099" y="42162"/>
                    <a:pt x="22350" y="42201"/>
                    <a:pt x="21600" y="42202"/>
                  </a:cubicBezTo>
                  <a:cubicBezTo>
                    <a:pt x="9670" y="42202"/>
                    <a:pt x="0" y="32531"/>
                    <a:pt x="0" y="20602"/>
                  </a:cubicBezTo>
                  <a:cubicBezTo>
                    <a:pt x="-1" y="11172"/>
                    <a:pt x="6116" y="2832"/>
                    <a:pt x="15110" y="-1"/>
                  </a:cubicBezTo>
                </a:path>
                <a:path w="23846" h="42202" stroke="0" extrusionOk="0">
                  <a:moveTo>
                    <a:pt x="23845" y="42084"/>
                  </a:moveTo>
                  <a:cubicBezTo>
                    <a:pt x="23099" y="42162"/>
                    <a:pt x="22350" y="42201"/>
                    <a:pt x="21600" y="42202"/>
                  </a:cubicBezTo>
                  <a:cubicBezTo>
                    <a:pt x="9670" y="42202"/>
                    <a:pt x="0" y="32531"/>
                    <a:pt x="0" y="20602"/>
                  </a:cubicBezTo>
                  <a:cubicBezTo>
                    <a:pt x="-1" y="11172"/>
                    <a:pt x="6116" y="2832"/>
                    <a:pt x="15110" y="-1"/>
                  </a:cubicBezTo>
                  <a:lnTo>
                    <a:pt x="21600" y="20602"/>
                  </a:lnTo>
                  <a:lnTo>
                    <a:pt x="23845" y="42084"/>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55314" name="Arc 11">
              <a:extLst>
                <a:ext uri="{FF2B5EF4-FFF2-40B4-BE49-F238E27FC236}">
                  <a16:creationId xmlns:a16="http://schemas.microsoft.com/office/drawing/2014/main" id="{20B6EA56-4A9F-1751-4703-A86A94EC9379}"/>
                </a:ext>
              </a:extLst>
            </p:cNvPr>
            <p:cNvSpPr>
              <a:spLocks/>
            </p:cNvSpPr>
            <p:nvPr/>
          </p:nvSpPr>
          <p:spPr bwMode="auto">
            <a:xfrm rot="10800000">
              <a:off x="3492" y="1239"/>
              <a:ext cx="755" cy="890"/>
            </a:xfrm>
            <a:custGeom>
              <a:avLst/>
              <a:gdLst>
                <a:gd name="T0" fmla="*/ 0 w 23845"/>
                <a:gd name="T1" fmla="*/ 0 h 41623"/>
                <a:gd name="T2" fmla="*/ 0 w 23845"/>
                <a:gd name="T3" fmla="*/ 0 h 41623"/>
                <a:gd name="T4" fmla="*/ 0 w 23845"/>
                <a:gd name="T5" fmla="*/ 0 h 41623"/>
                <a:gd name="T6" fmla="*/ 0 60000 65536"/>
                <a:gd name="T7" fmla="*/ 0 60000 65536"/>
                <a:gd name="T8" fmla="*/ 0 60000 65536"/>
              </a:gdLst>
              <a:ahLst/>
              <a:cxnLst>
                <a:cxn ang="T6">
                  <a:pos x="T0" y="T1"/>
                </a:cxn>
                <a:cxn ang="T7">
                  <a:pos x="T2" y="T3"/>
                </a:cxn>
                <a:cxn ang="T8">
                  <a:pos x="T4" y="T5"/>
                </a:cxn>
              </a:cxnLst>
              <a:rect l="0" t="0" r="r" b="b"/>
              <a:pathLst>
                <a:path w="23845" h="41623" fill="none" extrusionOk="0">
                  <a:moveTo>
                    <a:pt x="23845" y="41506"/>
                  </a:moveTo>
                  <a:cubicBezTo>
                    <a:pt x="23099" y="41583"/>
                    <a:pt x="22349" y="41622"/>
                    <a:pt x="21600" y="41623"/>
                  </a:cubicBezTo>
                  <a:cubicBezTo>
                    <a:pt x="9670" y="41623"/>
                    <a:pt x="0" y="31952"/>
                    <a:pt x="0" y="20023"/>
                  </a:cubicBezTo>
                  <a:cubicBezTo>
                    <a:pt x="-1" y="11222"/>
                    <a:pt x="5339" y="3301"/>
                    <a:pt x="13498" y="0"/>
                  </a:cubicBezTo>
                </a:path>
                <a:path w="23845" h="41623" stroke="0" extrusionOk="0">
                  <a:moveTo>
                    <a:pt x="23845" y="41506"/>
                  </a:moveTo>
                  <a:cubicBezTo>
                    <a:pt x="23099" y="41583"/>
                    <a:pt x="22349" y="41622"/>
                    <a:pt x="21600" y="41623"/>
                  </a:cubicBezTo>
                  <a:cubicBezTo>
                    <a:pt x="9670" y="41623"/>
                    <a:pt x="0" y="31952"/>
                    <a:pt x="0" y="20023"/>
                  </a:cubicBezTo>
                  <a:cubicBezTo>
                    <a:pt x="-1" y="11222"/>
                    <a:pt x="5339" y="3301"/>
                    <a:pt x="13498" y="0"/>
                  </a:cubicBezTo>
                  <a:lnTo>
                    <a:pt x="21600" y="20023"/>
                  </a:lnTo>
                  <a:lnTo>
                    <a:pt x="23845" y="41506"/>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55315" name="Arc 12">
              <a:extLst>
                <a:ext uri="{FF2B5EF4-FFF2-40B4-BE49-F238E27FC236}">
                  <a16:creationId xmlns:a16="http://schemas.microsoft.com/office/drawing/2014/main" id="{6D4877BF-7DCD-5173-53F1-E091D7EF0EEC}"/>
                </a:ext>
              </a:extLst>
            </p:cNvPr>
            <p:cNvSpPr>
              <a:spLocks/>
            </p:cNvSpPr>
            <p:nvPr/>
          </p:nvSpPr>
          <p:spPr bwMode="auto">
            <a:xfrm rot="10800000">
              <a:off x="3491" y="1394"/>
              <a:ext cx="546" cy="504"/>
            </a:xfrm>
            <a:custGeom>
              <a:avLst/>
              <a:gdLst>
                <a:gd name="T0" fmla="*/ 0 w 23832"/>
                <a:gd name="T1" fmla="*/ 0 h 39607"/>
                <a:gd name="T2" fmla="*/ 0 w 23832"/>
                <a:gd name="T3" fmla="*/ 0 h 39607"/>
                <a:gd name="T4" fmla="*/ 0 w 23832"/>
                <a:gd name="T5" fmla="*/ 0 h 39607"/>
                <a:gd name="T6" fmla="*/ 0 60000 65536"/>
                <a:gd name="T7" fmla="*/ 0 60000 65536"/>
                <a:gd name="T8" fmla="*/ 0 60000 65536"/>
              </a:gdLst>
              <a:ahLst/>
              <a:cxnLst>
                <a:cxn ang="T6">
                  <a:pos x="T0" y="T1"/>
                </a:cxn>
                <a:cxn ang="T7">
                  <a:pos x="T2" y="T3"/>
                </a:cxn>
                <a:cxn ang="T8">
                  <a:pos x="T4" y="T5"/>
                </a:cxn>
              </a:cxnLst>
              <a:rect l="0" t="0" r="r" b="b"/>
              <a:pathLst>
                <a:path w="23832" h="39607" fill="none" extrusionOk="0">
                  <a:moveTo>
                    <a:pt x="23832" y="39491"/>
                  </a:moveTo>
                  <a:cubicBezTo>
                    <a:pt x="23090" y="39568"/>
                    <a:pt x="22345" y="39606"/>
                    <a:pt x="21600" y="39607"/>
                  </a:cubicBezTo>
                  <a:cubicBezTo>
                    <a:pt x="9670" y="39607"/>
                    <a:pt x="0" y="29936"/>
                    <a:pt x="0" y="18007"/>
                  </a:cubicBezTo>
                  <a:cubicBezTo>
                    <a:pt x="-1" y="10762"/>
                    <a:pt x="3631" y="4001"/>
                    <a:pt x="9670" y="0"/>
                  </a:cubicBezTo>
                </a:path>
                <a:path w="23832" h="39607" stroke="0" extrusionOk="0">
                  <a:moveTo>
                    <a:pt x="23832" y="39491"/>
                  </a:moveTo>
                  <a:cubicBezTo>
                    <a:pt x="23090" y="39568"/>
                    <a:pt x="22345" y="39606"/>
                    <a:pt x="21600" y="39607"/>
                  </a:cubicBezTo>
                  <a:cubicBezTo>
                    <a:pt x="9670" y="39607"/>
                    <a:pt x="0" y="29936"/>
                    <a:pt x="0" y="18007"/>
                  </a:cubicBezTo>
                  <a:cubicBezTo>
                    <a:pt x="-1" y="10762"/>
                    <a:pt x="3631" y="4001"/>
                    <a:pt x="9670" y="0"/>
                  </a:cubicBezTo>
                  <a:lnTo>
                    <a:pt x="21600" y="18007"/>
                  </a:lnTo>
                  <a:lnTo>
                    <a:pt x="23832" y="39491"/>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55316" name="Arc 13">
              <a:extLst>
                <a:ext uri="{FF2B5EF4-FFF2-40B4-BE49-F238E27FC236}">
                  <a16:creationId xmlns:a16="http://schemas.microsoft.com/office/drawing/2014/main" id="{286F83B7-943E-E7D7-B177-1AAA38B711AD}"/>
                </a:ext>
              </a:extLst>
            </p:cNvPr>
            <p:cNvSpPr>
              <a:spLocks/>
            </p:cNvSpPr>
            <p:nvPr/>
          </p:nvSpPr>
          <p:spPr bwMode="auto">
            <a:xfrm>
              <a:off x="3164" y="2064"/>
              <a:ext cx="784" cy="193"/>
            </a:xfrm>
            <a:custGeom>
              <a:avLst/>
              <a:gdLst>
                <a:gd name="T0" fmla="*/ 0 w 32830"/>
                <a:gd name="T1" fmla="*/ 0 h 29122"/>
                <a:gd name="T2" fmla="*/ 0 w 32830"/>
                <a:gd name="T3" fmla="*/ 0 h 29122"/>
                <a:gd name="T4" fmla="*/ 0 w 32830"/>
                <a:gd name="T5" fmla="*/ 0 h 29122"/>
                <a:gd name="T6" fmla="*/ 0 60000 65536"/>
                <a:gd name="T7" fmla="*/ 0 60000 65536"/>
                <a:gd name="T8" fmla="*/ 0 60000 65536"/>
              </a:gdLst>
              <a:ahLst/>
              <a:cxnLst>
                <a:cxn ang="T6">
                  <a:pos x="T0" y="T1"/>
                </a:cxn>
                <a:cxn ang="T7">
                  <a:pos x="T2" y="T3"/>
                </a:cxn>
                <a:cxn ang="T8">
                  <a:pos x="T4" y="T5"/>
                </a:cxn>
              </a:cxnLst>
              <a:rect l="0" t="0" r="r" b="b"/>
              <a:pathLst>
                <a:path w="32830" h="29122" fill="none" extrusionOk="0">
                  <a:moveTo>
                    <a:pt x="31477" y="0"/>
                  </a:moveTo>
                  <a:cubicBezTo>
                    <a:pt x="32372" y="2407"/>
                    <a:pt x="32830" y="4954"/>
                    <a:pt x="32830" y="7522"/>
                  </a:cubicBezTo>
                  <a:cubicBezTo>
                    <a:pt x="32830" y="19451"/>
                    <a:pt x="23159" y="29122"/>
                    <a:pt x="11230" y="29122"/>
                  </a:cubicBezTo>
                  <a:cubicBezTo>
                    <a:pt x="7268" y="29122"/>
                    <a:pt x="3383" y="28032"/>
                    <a:pt x="-1" y="25973"/>
                  </a:cubicBezTo>
                </a:path>
                <a:path w="32830" h="29122" stroke="0" extrusionOk="0">
                  <a:moveTo>
                    <a:pt x="31477" y="0"/>
                  </a:moveTo>
                  <a:cubicBezTo>
                    <a:pt x="32372" y="2407"/>
                    <a:pt x="32830" y="4954"/>
                    <a:pt x="32830" y="7522"/>
                  </a:cubicBezTo>
                  <a:cubicBezTo>
                    <a:pt x="32830" y="19451"/>
                    <a:pt x="23159" y="29122"/>
                    <a:pt x="11230" y="29122"/>
                  </a:cubicBezTo>
                  <a:cubicBezTo>
                    <a:pt x="7268" y="29122"/>
                    <a:pt x="3383" y="28032"/>
                    <a:pt x="-1" y="25973"/>
                  </a:cubicBezTo>
                  <a:lnTo>
                    <a:pt x="11230" y="7522"/>
                  </a:lnTo>
                  <a:lnTo>
                    <a:pt x="31477" y="0"/>
                  </a:lnTo>
                  <a:close/>
                </a:path>
              </a:pathLst>
            </a:custGeom>
            <a:noFill/>
            <a:ln w="25400" cap="rnd">
              <a:solidFill>
                <a:srgbClr val="FF5050"/>
              </a:solidFill>
              <a:round/>
              <a:headEnd type="none" w="sm" len="sm"/>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55317" name="Arc 14">
              <a:extLst>
                <a:ext uri="{FF2B5EF4-FFF2-40B4-BE49-F238E27FC236}">
                  <a16:creationId xmlns:a16="http://schemas.microsoft.com/office/drawing/2014/main" id="{B45F39AF-CF77-88FE-EE7C-C046453D65D5}"/>
                </a:ext>
              </a:extLst>
            </p:cNvPr>
            <p:cNvSpPr>
              <a:spLocks/>
            </p:cNvSpPr>
            <p:nvPr/>
          </p:nvSpPr>
          <p:spPr bwMode="auto">
            <a:xfrm>
              <a:off x="2946" y="2304"/>
              <a:ext cx="1002" cy="193"/>
            </a:xfrm>
            <a:custGeom>
              <a:avLst/>
              <a:gdLst>
                <a:gd name="T0" fmla="*/ 0 w 41950"/>
                <a:gd name="T1" fmla="*/ 0 h 29122"/>
                <a:gd name="T2" fmla="*/ 0 w 41950"/>
                <a:gd name="T3" fmla="*/ 0 h 29122"/>
                <a:gd name="T4" fmla="*/ 0 w 41950"/>
                <a:gd name="T5" fmla="*/ 0 h 29122"/>
                <a:gd name="T6" fmla="*/ 0 60000 65536"/>
                <a:gd name="T7" fmla="*/ 0 60000 65536"/>
                <a:gd name="T8" fmla="*/ 0 60000 65536"/>
              </a:gdLst>
              <a:ahLst/>
              <a:cxnLst>
                <a:cxn ang="T6">
                  <a:pos x="T0" y="T1"/>
                </a:cxn>
                <a:cxn ang="T7">
                  <a:pos x="T2" y="T3"/>
                </a:cxn>
                <a:cxn ang="T8">
                  <a:pos x="T4" y="T5"/>
                </a:cxn>
              </a:cxnLst>
              <a:rect l="0" t="0" r="r" b="b"/>
              <a:pathLst>
                <a:path w="41950" h="29122" fill="none" extrusionOk="0">
                  <a:moveTo>
                    <a:pt x="40597" y="0"/>
                  </a:moveTo>
                  <a:cubicBezTo>
                    <a:pt x="41492" y="2407"/>
                    <a:pt x="41950" y="4954"/>
                    <a:pt x="41950" y="7522"/>
                  </a:cubicBezTo>
                  <a:cubicBezTo>
                    <a:pt x="41950" y="19451"/>
                    <a:pt x="32279" y="29122"/>
                    <a:pt x="20350" y="29122"/>
                  </a:cubicBezTo>
                  <a:cubicBezTo>
                    <a:pt x="11212" y="29122"/>
                    <a:pt x="3063" y="23372"/>
                    <a:pt x="0" y="14763"/>
                  </a:cubicBezTo>
                </a:path>
                <a:path w="41950" h="29122" stroke="0" extrusionOk="0">
                  <a:moveTo>
                    <a:pt x="40597" y="0"/>
                  </a:moveTo>
                  <a:cubicBezTo>
                    <a:pt x="41492" y="2407"/>
                    <a:pt x="41950" y="4954"/>
                    <a:pt x="41950" y="7522"/>
                  </a:cubicBezTo>
                  <a:cubicBezTo>
                    <a:pt x="41950" y="19451"/>
                    <a:pt x="32279" y="29122"/>
                    <a:pt x="20350" y="29122"/>
                  </a:cubicBezTo>
                  <a:cubicBezTo>
                    <a:pt x="11212" y="29122"/>
                    <a:pt x="3063" y="23372"/>
                    <a:pt x="0" y="14763"/>
                  </a:cubicBezTo>
                  <a:lnTo>
                    <a:pt x="20350" y="7522"/>
                  </a:lnTo>
                  <a:lnTo>
                    <a:pt x="40597" y="0"/>
                  </a:lnTo>
                  <a:close/>
                </a:path>
              </a:pathLst>
            </a:custGeom>
            <a:noFill/>
            <a:ln w="25400" cap="rnd">
              <a:solidFill>
                <a:srgbClr val="FF5050"/>
              </a:solidFill>
              <a:round/>
              <a:headEnd type="none" w="sm" len="sm"/>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55318" name="Arc 15">
              <a:extLst>
                <a:ext uri="{FF2B5EF4-FFF2-40B4-BE49-F238E27FC236}">
                  <a16:creationId xmlns:a16="http://schemas.microsoft.com/office/drawing/2014/main" id="{184BEF24-C55F-3C04-3B29-0BA54FB1FA85}"/>
                </a:ext>
              </a:extLst>
            </p:cNvPr>
            <p:cNvSpPr>
              <a:spLocks/>
            </p:cNvSpPr>
            <p:nvPr/>
          </p:nvSpPr>
          <p:spPr bwMode="auto">
            <a:xfrm>
              <a:off x="3232" y="1840"/>
              <a:ext cx="717" cy="207"/>
            </a:xfrm>
            <a:custGeom>
              <a:avLst/>
              <a:gdLst>
                <a:gd name="T0" fmla="*/ 0 w 30006"/>
                <a:gd name="T1" fmla="*/ 0 h 31231"/>
                <a:gd name="T2" fmla="*/ 0 w 30006"/>
                <a:gd name="T3" fmla="*/ 0 h 31231"/>
                <a:gd name="T4" fmla="*/ 0 w 30006"/>
                <a:gd name="T5" fmla="*/ 0 h 31231"/>
                <a:gd name="T6" fmla="*/ 0 60000 65536"/>
                <a:gd name="T7" fmla="*/ 0 60000 65536"/>
                <a:gd name="T8" fmla="*/ 0 60000 65536"/>
              </a:gdLst>
              <a:ahLst/>
              <a:cxnLst>
                <a:cxn ang="T6">
                  <a:pos x="T0" y="T1"/>
                </a:cxn>
                <a:cxn ang="T7">
                  <a:pos x="T2" y="T3"/>
                </a:cxn>
                <a:cxn ang="T8">
                  <a:pos x="T4" y="T5"/>
                </a:cxn>
              </a:cxnLst>
              <a:rect l="0" t="0" r="r" b="b"/>
              <a:pathLst>
                <a:path w="30006" h="31231" fill="none" extrusionOk="0">
                  <a:moveTo>
                    <a:pt x="27740" y="-1"/>
                  </a:moveTo>
                  <a:cubicBezTo>
                    <a:pt x="29230" y="2991"/>
                    <a:pt x="30006" y="6288"/>
                    <a:pt x="30006" y="9631"/>
                  </a:cubicBezTo>
                  <a:cubicBezTo>
                    <a:pt x="30006" y="21560"/>
                    <a:pt x="20335" y="31231"/>
                    <a:pt x="8406" y="31231"/>
                  </a:cubicBezTo>
                  <a:cubicBezTo>
                    <a:pt x="5518" y="31231"/>
                    <a:pt x="2659" y="30651"/>
                    <a:pt x="-1" y="29528"/>
                  </a:cubicBezTo>
                </a:path>
                <a:path w="30006" h="31231" stroke="0" extrusionOk="0">
                  <a:moveTo>
                    <a:pt x="27740" y="-1"/>
                  </a:moveTo>
                  <a:cubicBezTo>
                    <a:pt x="29230" y="2991"/>
                    <a:pt x="30006" y="6288"/>
                    <a:pt x="30006" y="9631"/>
                  </a:cubicBezTo>
                  <a:cubicBezTo>
                    <a:pt x="30006" y="21560"/>
                    <a:pt x="20335" y="31231"/>
                    <a:pt x="8406" y="31231"/>
                  </a:cubicBezTo>
                  <a:cubicBezTo>
                    <a:pt x="5518" y="31231"/>
                    <a:pt x="2659" y="30651"/>
                    <a:pt x="-1" y="29528"/>
                  </a:cubicBezTo>
                  <a:lnTo>
                    <a:pt x="8406" y="9631"/>
                  </a:lnTo>
                  <a:lnTo>
                    <a:pt x="27740" y="-1"/>
                  </a:lnTo>
                  <a:close/>
                </a:path>
              </a:pathLst>
            </a:custGeom>
            <a:noFill/>
            <a:ln w="25400" cap="rnd">
              <a:solidFill>
                <a:srgbClr val="FF5050"/>
              </a:solidFill>
              <a:round/>
              <a:headEnd type="none" w="sm" len="sm"/>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grpSp>
      <p:grpSp>
        <p:nvGrpSpPr>
          <p:cNvPr id="329744" name="Group 16">
            <a:extLst>
              <a:ext uri="{FF2B5EF4-FFF2-40B4-BE49-F238E27FC236}">
                <a16:creationId xmlns:a16="http://schemas.microsoft.com/office/drawing/2014/main" id="{872ED9E1-E334-5C90-185D-E05F4898FEF2}"/>
              </a:ext>
            </a:extLst>
          </p:cNvPr>
          <p:cNvGrpSpPr>
            <a:grpSpLocks/>
          </p:cNvGrpSpPr>
          <p:nvPr/>
        </p:nvGrpSpPr>
        <p:grpSpPr bwMode="auto">
          <a:xfrm>
            <a:off x="533400" y="4089400"/>
            <a:ext cx="8151813" cy="2628900"/>
            <a:chOff x="336" y="2576"/>
            <a:chExt cx="5135" cy="1656"/>
          </a:xfrm>
        </p:grpSpPr>
        <p:sp>
          <p:nvSpPr>
            <p:cNvPr id="329745" name="Rectangle 17">
              <a:extLst>
                <a:ext uri="{FF2B5EF4-FFF2-40B4-BE49-F238E27FC236}">
                  <a16:creationId xmlns:a16="http://schemas.microsoft.com/office/drawing/2014/main" id="{3A419CBC-5B91-B7FB-498A-2D9E1AE797B2}"/>
                </a:ext>
              </a:extLst>
            </p:cNvPr>
            <p:cNvSpPr>
              <a:spLocks noChangeArrowheads="1"/>
            </p:cNvSpPr>
            <p:nvPr/>
          </p:nvSpPr>
          <p:spPr bwMode="auto">
            <a:xfrm>
              <a:off x="339" y="2576"/>
              <a:ext cx="1353" cy="518"/>
            </a:xfrm>
            <a:prstGeom prst="rect">
              <a:avLst/>
            </a:prstGeom>
            <a:noFill/>
            <a:ln>
              <a:noFill/>
            </a:ln>
            <a:effectLst/>
          </p:spPr>
          <p:txBody>
            <a:bodyPr lIns="92075" tIns="46038" rIns="92075" bIns="46038">
              <a:spAutoFit/>
            </a:bodyPr>
            <a:lstStyle/>
            <a:p>
              <a:pPr algn="ctr">
                <a:spcBef>
                  <a:spcPct val="30000"/>
                </a:spcBef>
                <a:defRPr/>
              </a:pPr>
              <a:r>
                <a:rPr lang="en-US" b="1">
                  <a:effectLst>
                    <a:outerShdw blurRad="38100" dist="38100" dir="2700000" algn="tl">
                      <a:srgbClr val="FFFFFF"/>
                    </a:outerShdw>
                  </a:effectLst>
                </a:rPr>
                <a:t>Main query</a:t>
              </a:r>
              <a:br>
                <a:rPr lang="en-US" b="1">
                  <a:effectLst>
                    <a:outerShdw blurRad="38100" dist="38100" dir="2700000" algn="tl">
                      <a:srgbClr val="FFFFFF"/>
                    </a:outerShdw>
                  </a:effectLst>
                </a:rPr>
              </a:br>
              <a:r>
                <a:rPr lang="en-US" b="1">
                  <a:effectLst>
                    <a:outerShdw blurRad="38100" dist="38100" dir="2700000" algn="tl">
                      <a:srgbClr val="FFFFFF"/>
                    </a:outerShdw>
                  </a:effectLst>
                </a:rPr>
                <a:t>compares</a:t>
              </a:r>
            </a:p>
          </p:txBody>
        </p:sp>
        <p:sp>
          <p:nvSpPr>
            <p:cNvPr id="329746" name="Rectangle 18">
              <a:extLst>
                <a:ext uri="{FF2B5EF4-FFF2-40B4-BE49-F238E27FC236}">
                  <a16:creationId xmlns:a16="http://schemas.microsoft.com/office/drawing/2014/main" id="{B5ABB46F-22B8-686C-BBA8-E526E31C3903}"/>
                </a:ext>
              </a:extLst>
            </p:cNvPr>
            <p:cNvSpPr>
              <a:spLocks noChangeArrowheads="1"/>
            </p:cNvSpPr>
            <p:nvPr/>
          </p:nvSpPr>
          <p:spPr bwMode="auto">
            <a:xfrm>
              <a:off x="533" y="3310"/>
              <a:ext cx="1060" cy="266"/>
            </a:xfrm>
            <a:prstGeom prst="rect">
              <a:avLst/>
            </a:prstGeom>
            <a:noFill/>
            <a:ln>
              <a:noFill/>
            </a:ln>
            <a:effectLst/>
          </p:spPr>
          <p:txBody>
            <a:bodyPr wrap="none" lIns="92075" tIns="46038" rIns="92075" bIns="46038">
              <a:spAutoFit/>
            </a:bodyPr>
            <a:lstStyle/>
            <a:p>
              <a:pPr algn="ctr">
                <a:lnSpc>
                  <a:spcPct val="120000"/>
                </a:lnSpc>
                <a:spcBef>
                  <a:spcPct val="60000"/>
                </a:spcBef>
                <a:defRPr/>
              </a:pPr>
              <a:r>
                <a:rPr lang="en-US" sz="1800" b="1">
                  <a:solidFill>
                    <a:srgbClr val="FF9933"/>
                  </a:solidFill>
                  <a:effectLst>
                    <a:outerShdw blurRad="38100" dist="38100" dir="2700000" algn="tl">
                      <a:srgbClr val="000000"/>
                    </a:outerShdw>
                  </a:effectLst>
                </a:rPr>
                <a:t>MANAGER 10</a:t>
              </a:r>
            </a:p>
          </p:txBody>
        </p:sp>
        <p:sp>
          <p:nvSpPr>
            <p:cNvPr id="329747" name="Rectangle 19">
              <a:extLst>
                <a:ext uri="{FF2B5EF4-FFF2-40B4-BE49-F238E27FC236}">
                  <a16:creationId xmlns:a16="http://schemas.microsoft.com/office/drawing/2014/main" id="{01DB9957-5438-5132-F7D3-33D97E36CBB0}"/>
                </a:ext>
              </a:extLst>
            </p:cNvPr>
            <p:cNvSpPr>
              <a:spLocks noChangeArrowheads="1"/>
            </p:cNvSpPr>
            <p:nvPr/>
          </p:nvSpPr>
          <p:spPr bwMode="auto">
            <a:xfrm>
              <a:off x="2509" y="2610"/>
              <a:ext cx="2962" cy="518"/>
            </a:xfrm>
            <a:prstGeom prst="rect">
              <a:avLst/>
            </a:prstGeom>
            <a:noFill/>
            <a:ln>
              <a:noFill/>
            </a:ln>
            <a:effectLst/>
          </p:spPr>
          <p:txBody>
            <a:bodyPr wrap="none" lIns="92075" tIns="46038" rIns="92075" bIns="46038">
              <a:spAutoFit/>
            </a:bodyPr>
            <a:lstStyle/>
            <a:p>
              <a:pPr algn="ctr">
                <a:spcBef>
                  <a:spcPct val="60000"/>
                </a:spcBef>
                <a:defRPr/>
              </a:pPr>
              <a:r>
                <a:rPr lang="en-US" b="1" dirty="0">
                  <a:effectLst>
                    <a:outerShdw blurRad="38100" dist="38100" dir="2700000" algn="tl">
                      <a:srgbClr val="FFFFFF"/>
                    </a:outerShdw>
                  </a:effectLst>
                </a:rPr>
                <a:t>Values from a multiple-row and</a:t>
              </a:r>
              <a:br>
                <a:rPr lang="en-US" b="1" dirty="0">
                  <a:effectLst>
                    <a:outerShdw blurRad="38100" dist="38100" dir="2700000" algn="tl">
                      <a:srgbClr val="FFFFFF"/>
                    </a:outerShdw>
                  </a:effectLst>
                </a:rPr>
              </a:br>
              <a:r>
                <a:rPr lang="en-US" b="1" dirty="0">
                  <a:effectLst>
                    <a:outerShdw blurRad="38100" dist="38100" dir="2700000" algn="tl">
                      <a:srgbClr val="FFFFFF"/>
                    </a:outerShdw>
                  </a:effectLst>
                </a:rPr>
                <a:t>multiple-column subquery</a:t>
              </a:r>
            </a:p>
          </p:txBody>
        </p:sp>
        <p:sp>
          <p:nvSpPr>
            <p:cNvPr id="329748" name="Rectangle 20">
              <a:extLst>
                <a:ext uri="{FF2B5EF4-FFF2-40B4-BE49-F238E27FC236}">
                  <a16:creationId xmlns:a16="http://schemas.microsoft.com/office/drawing/2014/main" id="{7FD3474A-B675-8523-2206-F78B8630CD83}"/>
                </a:ext>
              </a:extLst>
            </p:cNvPr>
            <p:cNvSpPr>
              <a:spLocks noChangeArrowheads="1"/>
            </p:cNvSpPr>
            <p:nvPr/>
          </p:nvSpPr>
          <p:spPr bwMode="auto">
            <a:xfrm>
              <a:off x="3542" y="3238"/>
              <a:ext cx="1140" cy="994"/>
            </a:xfrm>
            <a:prstGeom prst="rect">
              <a:avLst/>
            </a:prstGeom>
            <a:noFill/>
            <a:ln>
              <a:noFill/>
            </a:ln>
            <a:effectLst/>
          </p:spPr>
          <p:txBody>
            <a:bodyPr wrap="none" lIns="92075" tIns="46038" rIns="92075" bIns="46038">
              <a:spAutoFit/>
            </a:bodyPr>
            <a:lstStyle/>
            <a:p>
              <a:pPr>
                <a:lnSpc>
                  <a:spcPct val="120000"/>
                </a:lnSpc>
                <a:spcBef>
                  <a:spcPct val="60000"/>
                </a:spcBef>
                <a:tabLst>
                  <a:tab pos="1371600" algn="l"/>
                </a:tabLst>
                <a:defRPr/>
              </a:pPr>
              <a:r>
                <a:rPr lang="en-US" sz="1800" b="1">
                  <a:solidFill>
                    <a:srgbClr val="FF9933"/>
                  </a:solidFill>
                  <a:effectLst>
                    <a:outerShdw blurRad="38100" dist="38100" dir="2700000" algn="tl">
                      <a:srgbClr val="000000"/>
                    </a:outerShdw>
                  </a:effectLst>
                </a:rPr>
                <a:t>SALESMAN 	30</a:t>
              </a:r>
              <a:br>
                <a:rPr lang="en-US" sz="1800" b="1">
                  <a:solidFill>
                    <a:srgbClr val="FF9933"/>
                  </a:solidFill>
                  <a:effectLst>
                    <a:outerShdw blurRad="38100" dist="38100" dir="2700000" algn="tl">
                      <a:srgbClr val="000000"/>
                    </a:outerShdw>
                  </a:effectLst>
                </a:rPr>
              </a:br>
              <a:r>
                <a:rPr lang="en-US" sz="1800" b="1">
                  <a:solidFill>
                    <a:srgbClr val="FF9933"/>
                  </a:solidFill>
                  <a:effectLst>
                    <a:outerShdw blurRad="38100" dist="38100" dir="2700000" algn="tl">
                      <a:srgbClr val="000000"/>
                    </a:outerShdw>
                  </a:effectLst>
                </a:rPr>
                <a:t>MANAGER 	10</a:t>
              </a:r>
              <a:br>
                <a:rPr lang="en-US" sz="1800" b="1">
                  <a:solidFill>
                    <a:srgbClr val="FF9933"/>
                  </a:solidFill>
                  <a:effectLst>
                    <a:outerShdw blurRad="38100" dist="38100" dir="2700000" algn="tl">
                      <a:srgbClr val="000000"/>
                    </a:outerShdw>
                  </a:effectLst>
                </a:rPr>
              </a:br>
              <a:r>
                <a:rPr lang="en-US" sz="1800" b="1">
                  <a:solidFill>
                    <a:srgbClr val="FF9933"/>
                  </a:solidFill>
                  <a:effectLst>
                    <a:outerShdw blurRad="38100" dist="38100" dir="2700000" algn="tl">
                      <a:srgbClr val="000000"/>
                    </a:outerShdw>
                  </a:effectLst>
                </a:rPr>
                <a:t>CLERK        	20</a:t>
              </a:r>
              <a:endParaRPr lang="en-US" sz="1800" b="1">
                <a:solidFill>
                  <a:srgbClr val="FF0033"/>
                </a:solidFill>
                <a:effectLst>
                  <a:outerShdw blurRad="38100" dist="38100" dir="2700000" algn="tl">
                    <a:srgbClr val="000000"/>
                  </a:outerShdw>
                </a:effectLst>
              </a:endParaRPr>
            </a:p>
            <a:p>
              <a:pPr>
                <a:lnSpc>
                  <a:spcPct val="120000"/>
                </a:lnSpc>
                <a:spcBef>
                  <a:spcPct val="60000"/>
                </a:spcBef>
                <a:tabLst>
                  <a:tab pos="1371600" algn="l"/>
                </a:tabLst>
                <a:defRPr/>
              </a:pPr>
              <a:endParaRPr lang="en-US" sz="1800" b="1">
                <a:solidFill>
                  <a:srgbClr val="FF0033"/>
                </a:solidFill>
                <a:effectLst>
                  <a:outerShdw blurRad="38100" dist="38100" dir="2700000" algn="tl">
                    <a:srgbClr val="000000"/>
                  </a:outerShdw>
                </a:effectLst>
              </a:endParaRPr>
            </a:p>
          </p:txBody>
        </p:sp>
        <p:sp>
          <p:nvSpPr>
            <p:cNvPr id="329749" name="Rectangle 21">
              <a:extLst>
                <a:ext uri="{FF2B5EF4-FFF2-40B4-BE49-F238E27FC236}">
                  <a16:creationId xmlns:a16="http://schemas.microsoft.com/office/drawing/2014/main" id="{0424609B-B048-150C-DB1D-CF113B5F29FE}"/>
                </a:ext>
              </a:extLst>
            </p:cNvPr>
            <p:cNvSpPr>
              <a:spLocks noChangeArrowheads="1"/>
            </p:cNvSpPr>
            <p:nvPr/>
          </p:nvSpPr>
          <p:spPr bwMode="auto">
            <a:xfrm>
              <a:off x="1949" y="2696"/>
              <a:ext cx="297" cy="334"/>
            </a:xfrm>
            <a:prstGeom prst="rect">
              <a:avLst/>
            </a:prstGeom>
            <a:noFill/>
            <a:ln>
              <a:noFill/>
            </a:ln>
            <a:effectLst/>
          </p:spPr>
          <p:txBody>
            <a:bodyPr wrap="none" lIns="92075" tIns="46038" rIns="92075" bIns="46038">
              <a:spAutoFit/>
            </a:bodyPr>
            <a:lstStyle/>
            <a:p>
              <a:pPr algn="ctr">
                <a:lnSpc>
                  <a:spcPct val="120000"/>
                </a:lnSpc>
                <a:spcBef>
                  <a:spcPct val="60000"/>
                </a:spcBef>
                <a:defRPr/>
              </a:pPr>
              <a:r>
                <a:rPr lang="en-US" b="1">
                  <a:effectLst>
                    <a:outerShdw blurRad="38100" dist="38100" dir="2700000" algn="tl">
                      <a:srgbClr val="FFFFFF"/>
                    </a:outerShdw>
                  </a:effectLst>
                </a:rPr>
                <a:t>to</a:t>
              </a:r>
            </a:p>
          </p:txBody>
        </p:sp>
        <p:sp>
          <p:nvSpPr>
            <p:cNvPr id="55312" name="Line 22">
              <a:extLst>
                <a:ext uri="{FF2B5EF4-FFF2-40B4-BE49-F238E27FC236}">
                  <a16:creationId xmlns:a16="http://schemas.microsoft.com/office/drawing/2014/main" id="{2C10DEA4-7665-77B7-F6DA-9B0F7A4D2177}"/>
                </a:ext>
              </a:extLst>
            </p:cNvPr>
            <p:cNvSpPr>
              <a:spLocks noChangeShapeType="1"/>
            </p:cNvSpPr>
            <p:nvPr/>
          </p:nvSpPr>
          <p:spPr bwMode="auto">
            <a:xfrm>
              <a:off x="336" y="3204"/>
              <a:ext cx="5100" cy="0"/>
            </a:xfrm>
            <a:prstGeom prst="line">
              <a:avLst/>
            </a:prstGeom>
            <a:noFill/>
            <a:ln w="25400">
              <a:solidFill>
                <a:srgbClr val="DDDDDD"/>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29737"/>
                                        </p:tgtEl>
                                        <p:attrNameLst>
                                          <p:attrName>style.visibility</p:attrName>
                                        </p:attrNameLst>
                                      </p:cBhvr>
                                      <p:to>
                                        <p:strVal val="visible"/>
                                      </p:to>
                                    </p:set>
                                    <p:animEffect transition="in" filter="wipe(left)">
                                      <p:cBhvr>
                                        <p:cTn id="7" dur="500"/>
                                        <p:tgtEl>
                                          <p:spTgt spid="329737"/>
                                        </p:tgtEl>
                                      </p:cBhvr>
                                    </p:animEffect>
                                  </p:childTnLst>
                                </p:cTn>
                              </p:par>
                            </p:childTnLst>
                          </p:cTn>
                        </p:par>
                        <p:par>
                          <p:cTn id="8" fill="hold" nodeType="afterGroup">
                            <p:stCondLst>
                              <p:cond delay="500"/>
                            </p:stCondLst>
                            <p:childTnLst>
                              <p:par>
                                <p:cTn id="9" presetID="2" presetClass="entr" presetSubtype="4" fill="hold" nodeType="afterEffect">
                                  <p:stCondLst>
                                    <p:cond delay="0"/>
                                  </p:stCondLst>
                                  <p:childTnLst>
                                    <p:set>
                                      <p:cBhvr>
                                        <p:cTn id="10" dur="1" fill="hold">
                                          <p:stCondLst>
                                            <p:cond delay="0"/>
                                          </p:stCondLst>
                                        </p:cTn>
                                        <p:tgtEl>
                                          <p:spTgt spid="329744"/>
                                        </p:tgtEl>
                                        <p:attrNameLst>
                                          <p:attrName>style.visibility</p:attrName>
                                        </p:attrNameLst>
                                      </p:cBhvr>
                                      <p:to>
                                        <p:strVal val="visible"/>
                                      </p:to>
                                    </p:set>
                                    <p:anim calcmode="lin" valueType="num">
                                      <p:cBhvr additive="base">
                                        <p:cTn id="11" dur="500" fill="hold"/>
                                        <p:tgtEl>
                                          <p:spTgt spid="329744"/>
                                        </p:tgtEl>
                                        <p:attrNameLst>
                                          <p:attrName>ppt_x</p:attrName>
                                        </p:attrNameLst>
                                      </p:cBhvr>
                                      <p:tavLst>
                                        <p:tav tm="0">
                                          <p:val>
                                            <p:strVal val="#ppt_x"/>
                                          </p:val>
                                        </p:tav>
                                        <p:tav tm="100000">
                                          <p:val>
                                            <p:strVal val="#ppt_x"/>
                                          </p:val>
                                        </p:tav>
                                      </p:tavLst>
                                    </p:anim>
                                    <p:anim calcmode="lin" valueType="num">
                                      <p:cBhvr additive="base">
                                        <p:cTn id="12" dur="500" fill="hold"/>
                                        <p:tgtEl>
                                          <p:spTgt spid="3297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2B44E149-AAC6-B064-33F3-151A6E1E330F}"/>
              </a:ext>
            </a:extLst>
          </p:cNvPr>
          <p:cNvSpPr>
            <a:spLocks noChangeArrowheads="1"/>
          </p:cNvSpPr>
          <p:nvPr/>
        </p:nvSpPr>
        <p:spPr bwMode="blackWhite">
          <a:xfrm>
            <a:off x="933450" y="3665538"/>
            <a:ext cx="7483475" cy="201453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7347" name="Rectangle 3">
            <a:extLst>
              <a:ext uri="{FF2B5EF4-FFF2-40B4-BE49-F238E27FC236}">
                <a16:creationId xmlns:a16="http://schemas.microsoft.com/office/drawing/2014/main" id="{949C7F07-4447-DC8E-6BCC-C3C2F05CD20E}"/>
              </a:ext>
            </a:extLst>
          </p:cNvPr>
          <p:cNvSpPr>
            <a:spLocks noChangeArrowheads="1"/>
          </p:cNvSpPr>
          <p:nvPr/>
        </p:nvSpPr>
        <p:spPr bwMode="auto">
          <a:xfrm>
            <a:off x="4648200" y="4545013"/>
            <a:ext cx="3695700" cy="860425"/>
          </a:xfrm>
          <a:prstGeom prst="rect">
            <a:avLst/>
          </a:prstGeom>
          <a:gradFill rotWithShape="0">
            <a:gsLst>
              <a:gs pos="0">
                <a:srgbClr val="FF9966"/>
              </a:gs>
              <a:gs pos="100000">
                <a:srgbClr val="FF996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7348" name="Rectangle 4">
            <a:extLst>
              <a:ext uri="{FF2B5EF4-FFF2-40B4-BE49-F238E27FC236}">
                <a16:creationId xmlns:a16="http://schemas.microsoft.com/office/drawing/2014/main" id="{371833C1-6226-FBBD-A9B9-A89B5A0A7465}"/>
              </a:ext>
            </a:extLst>
          </p:cNvPr>
          <p:cNvSpPr>
            <a:spLocks noGrp="1" noChangeArrowheads="1"/>
          </p:cNvSpPr>
          <p:nvPr>
            <p:ph type="title"/>
          </p:nvPr>
        </p:nvSpPr>
        <p:spPr>
          <a:xfrm>
            <a:off x="323850" y="671513"/>
            <a:ext cx="5832475" cy="4540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Using Multiple-Column Subqueries</a:t>
            </a:r>
          </a:p>
        </p:txBody>
      </p:sp>
      <p:sp>
        <p:nvSpPr>
          <p:cNvPr id="57349" name="Rectangle 5">
            <a:extLst>
              <a:ext uri="{FF2B5EF4-FFF2-40B4-BE49-F238E27FC236}">
                <a16:creationId xmlns:a16="http://schemas.microsoft.com/office/drawing/2014/main" id="{501D8ED6-3DB1-7DBE-C7F3-0D7BAF69C6C5}"/>
              </a:ext>
            </a:extLst>
          </p:cNvPr>
          <p:cNvSpPr>
            <a:spLocks noGrp="1" noChangeArrowheads="1"/>
          </p:cNvSpPr>
          <p:nvPr>
            <p:ph type="body" idx="1"/>
          </p:nvPr>
        </p:nvSpPr>
        <p:spPr>
          <a:xfrm>
            <a:off x="736600" y="1484313"/>
            <a:ext cx="7816850" cy="1679575"/>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r>
              <a:rPr lang="en-US" altLang="en-US" sz="2600"/>
              <a:t>Display the order number, product number, and quantity of any item in which the product number and quantity match </a:t>
            </a:r>
            <a:r>
              <a:rPr lang="en-US" altLang="en-US" sz="2600">
                <a:solidFill>
                  <a:srgbClr val="FF0033"/>
                </a:solidFill>
              </a:rPr>
              <a:t>both</a:t>
            </a:r>
            <a:r>
              <a:rPr lang="en-US" altLang="en-US" sz="2600"/>
              <a:t> the product number and quantity of an item in order 605.</a:t>
            </a:r>
          </a:p>
        </p:txBody>
      </p:sp>
      <p:sp>
        <p:nvSpPr>
          <p:cNvPr id="57350" name="Rectangle 6">
            <a:extLst>
              <a:ext uri="{FF2B5EF4-FFF2-40B4-BE49-F238E27FC236}">
                <a16:creationId xmlns:a16="http://schemas.microsoft.com/office/drawing/2014/main" id="{3D6DB61D-DB8B-4FD4-C142-DADFB0EA6051}"/>
              </a:ext>
            </a:extLst>
          </p:cNvPr>
          <p:cNvSpPr>
            <a:spLocks noChangeArrowheads="1"/>
          </p:cNvSpPr>
          <p:nvPr/>
        </p:nvSpPr>
        <p:spPr bwMode="blackWhite">
          <a:xfrm>
            <a:off x="901700" y="3652838"/>
            <a:ext cx="7480300" cy="2039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ordid, prodid, qty</a:t>
            </a:r>
          </a:p>
          <a:p>
            <a:pPr>
              <a:spcBef>
                <a:spcPct val="0"/>
              </a:spcBef>
              <a:buFontTx/>
              <a:buNone/>
            </a:pPr>
            <a:r>
              <a:rPr lang="en-US" altLang="en-US" sz="1800" b="1">
                <a:solidFill>
                  <a:srgbClr val="000000"/>
                </a:solidFill>
                <a:latin typeface="Courier New" panose="02070309020205020404" pitchFamily="49" charset="0"/>
              </a:rPr>
              <a:t>  2  FROM	item</a:t>
            </a:r>
          </a:p>
          <a:p>
            <a:pPr>
              <a:spcBef>
                <a:spcPct val="0"/>
              </a:spcBef>
              <a:buFontTx/>
              <a:buNone/>
            </a:pPr>
            <a:r>
              <a:rPr lang="en-US" altLang="en-US" sz="1800" b="1">
                <a:solidFill>
                  <a:srgbClr val="000000"/>
                </a:solidFill>
                <a:latin typeface="Courier New" panose="02070309020205020404" pitchFamily="49" charset="0"/>
              </a:rPr>
              <a:t>  3  WHERE   (prodid, qty) IN</a:t>
            </a:r>
          </a:p>
          <a:p>
            <a:pPr>
              <a:spcBef>
                <a:spcPct val="0"/>
              </a:spcBef>
              <a:buFontTx/>
              <a:buNone/>
            </a:pPr>
            <a:r>
              <a:rPr lang="en-US" altLang="en-US" sz="1800" b="1">
                <a:solidFill>
                  <a:srgbClr val="000000"/>
                </a:solidFill>
                <a:latin typeface="Courier New" panose="02070309020205020404" pitchFamily="49" charset="0"/>
              </a:rPr>
              <a:t>  4 				(SELECT prodid, qty</a:t>
            </a:r>
          </a:p>
          <a:p>
            <a:pPr>
              <a:spcBef>
                <a:spcPct val="0"/>
              </a:spcBef>
              <a:buFontTx/>
              <a:buNone/>
            </a:pPr>
            <a:r>
              <a:rPr lang="en-US" altLang="en-US" sz="1800" b="1">
                <a:solidFill>
                  <a:srgbClr val="000000"/>
                </a:solidFill>
                <a:latin typeface="Courier New" panose="02070309020205020404" pitchFamily="49" charset="0"/>
              </a:rPr>
              <a:t>  5       			 FROM   item</a:t>
            </a:r>
          </a:p>
          <a:p>
            <a:pPr>
              <a:spcBef>
                <a:spcPct val="0"/>
              </a:spcBef>
              <a:buFontTx/>
              <a:buNone/>
            </a:pPr>
            <a:r>
              <a:rPr lang="en-US" altLang="en-US" sz="1800" b="1">
                <a:solidFill>
                  <a:srgbClr val="000000"/>
                </a:solidFill>
                <a:latin typeface="Courier New" panose="02070309020205020404" pitchFamily="49" charset="0"/>
              </a:rPr>
              <a:t>  6       			 WHERE  ordid = 605)</a:t>
            </a:r>
          </a:p>
          <a:p>
            <a:pPr>
              <a:spcBef>
                <a:spcPct val="0"/>
              </a:spcBef>
              <a:buFontTx/>
              <a:buNone/>
            </a:pPr>
            <a:r>
              <a:rPr lang="en-US" altLang="en-US" sz="1800" b="1">
                <a:solidFill>
                  <a:srgbClr val="000000"/>
                </a:solidFill>
                <a:latin typeface="Courier New" panose="02070309020205020404" pitchFamily="49" charset="0"/>
              </a:rPr>
              <a:t>  7  AND		ordid &lt;&gt; 605;</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D1A3AAE8-1932-5EED-7846-66FF4B684AE8}"/>
              </a:ext>
            </a:extLst>
          </p:cNvPr>
          <p:cNvSpPr>
            <a:spLocks noChangeArrowheads="1"/>
          </p:cNvSpPr>
          <p:nvPr/>
        </p:nvSpPr>
        <p:spPr bwMode="auto">
          <a:xfrm>
            <a:off x="4786313" y="1993900"/>
            <a:ext cx="3279775" cy="3136900"/>
          </a:xfrm>
          <a:prstGeom prst="rect">
            <a:avLst/>
          </a:prstGeom>
          <a:solidFill>
            <a:srgbClr val="FFFF99"/>
          </a:solidFill>
          <a:ln w="25400">
            <a:solidFill>
              <a:srgbClr val="000000"/>
            </a:solidFill>
            <a:miter lim="800000"/>
            <a:headEnd/>
            <a:tailEnd/>
          </a:ln>
          <a:effectLst>
            <a:outerShdw dist="71842"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9395" name="Rectangle 3">
            <a:extLst>
              <a:ext uri="{FF2B5EF4-FFF2-40B4-BE49-F238E27FC236}">
                <a16:creationId xmlns:a16="http://schemas.microsoft.com/office/drawing/2014/main" id="{9B2F824D-D6F8-20AC-2949-C72037F9C824}"/>
              </a:ext>
            </a:extLst>
          </p:cNvPr>
          <p:cNvSpPr>
            <a:spLocks noChangeArrowheads="1"/>
          </p:cNvSpPr>
          <p:nvPr/>
        </p:nvSpPr>
        <p:spPr bwMode="auto">
          <a:xfrm>
            <a:off x="1250950" y="1993900"/>
            <a:ext cx="3079750" cy="3136900"/>
          </a:xfrm>
          <a:prstGeom prst="rect">
            <a:avLst/>
          </a:prstGeom>
          <a:solidFill>
            <a:srgbClr val="FFFF99"/>
          </a:solidFill>
          <a:ln w="25400">
            <a:solidFill>
              <a:srgbClr val="000000"/>
            </a:solidFill>
            <a:miter lim="800000"/>
            <a:headEnd/>
            <a:tailEnd/>
          </a:ln>
          <a:effectLst>
            <a:outerShdw dist="71842"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9396" name="Rectangle 4">
            <a:extLst>
              <a:ext uri="{FF2B5EF4-FFF2-40B4-BE49-F238E27FC236}">
                <a16:creationId xmlns:a16="http://schemas.microsoft.com/office/drawing/2014/main" id="{4F1C213E-8532-2E1F-CB33-A8AAF5CE05B9}"/>
              </a:ext>
            </a:extLst>
          </p:cNvPr>
          <p:cNvSpPr>
            <a:spLocks noGrp="1" noChangeArrowheads="1"/>
          </p:cNvSpPr>
          <p:nvPr>
            <p:ph type="title"/>
          </p:nvPr>
        </p:nvSpPr>
        <p:spPr>
          <a:xfrm>
            <a:off x="361950" y="620713"/>
            <a:ext cx="3778250"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Column Comparisons</a:t>
            </a:r>
          </a:p>
        </p:txBody>
      </p:sp>
      <p:sp>
        <p:nvSpPr>
          <p:cNvPr id="59397" name="Rectangle 5">
            <a:extLst>
              <a:ext uri="{FF2B5EF4-FFF2-40B4-BE49-F238E27FC236}">
                <a16:creationId xmlns:a16="http://schemas.microsoft.com/office/drawing/2014/main" id="{B7FF8700-4ED5-3EC5-3DC2-D02320C204F6}"/>
              </a:ext>
            </a:extLst>
          </p:cNvPr>
          <p:cNvSpPr>
            <a:spLocks noChangeArrowheads="1"/>
          </p:cNvSpPr>
          <p:nvPr/>
        </p:nvSpPr>
        <p:spPr bwMode="ltGray">
          <a:xfrm>
            <a:off x="1360488" y="2501900"/>
            <a:ext cx="2871787" cy="2455863"/>
          </a:xfrm>
          <a:prstGeom prst="rect">
            <a:avLst/>
          </a:prstGeom>
          <a:gradFill rotWithShape="0">
            <a:gsLst>
              <a:gs pos="0">
                <a:srgbClr val="5C5CE5"/>
              </a:gs>
              <a:gs pos="50000">
                <a:srgbClr val="6666FF"/>
              </a:gs>
              <a:gs pos="100000">
                <a:srgbClr val="5C5CE5"/>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9398" name="Rectangle 6">
            <a:extLst>
              <a:ext uri="{FF2B5EF4-FFF2-40B4-BE49-F238E27FC236}">
                <a16:creationId xmlns:a16="http://schemas.microsoft.com/office/drawing/2014/main" id="{3D1FAE15-5541-1F7E-222F-8FFB755645AF}"/>
              </a:ext>
            </a:extLst>
          </p:cNvPr>
          <p:cNvSpPr>
            <a:spLocks noChangeArrowheads="1"/>
          </p:cNvSpPr>
          <p:nvPr/>
        </p:nvSpPr>
        <p:spPr bwMode="auto">
          <a:xfrm>
            <a:off x="2178050" y="1992313"/>
            <a:ext cx="1214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2000" b="1">
                <a:solidFill>
                  <a:srgbClr val="000000"/>
                </a:solidFill>
              </a:rPr>
              <a:t>Pairwise</a:t>
            </a:r>
          </a:p>
        </p:txBody>
      </p:sp>
      <p:sp>
        <p:nvSpPr>
          <p:cNvPr id="59399" name="Rectangle 7">
            <a:extLst>
              <a:ext uri="{FF2B5EF4-FFF2-40B4-BE49-F238E27FC236}">
                <a16:creationId xmlns:a16="http://schemas.microsoft.com/office/drawing/2014/main" id="{E6E2DEC1-76B3-1AEF-FC21-747D17A2906C}"/>
              </a:ext>
            </a:extLst>
          </p:cNvPr>
          <p:cNvSpPr>
            <a:spLocks noChangeArrowheads="1"/>
          </p:cNvSpPr>
          <p:nvPr/>
        </p:nvSpPr>
        <p:spPr bwMode="auto">
          <a:xfrm>
            <a:off x="1058863" y="2517775"/>
            <a:ext cx="4178300" cy="240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tabLst>
                <a:tab pos="1139825" algn="r"/>
                <a:tab pos="2857500" algn="r"/>
              </a:tabLst>
              <a:defRPr sz="2800">
                <a:solidFill>
                  <a:schemeClr val="tx1"/>
                </a:solidFill>
                <a:latin typeface="Arial" panose="020B0604020202020204" pitchFamily="34" charset="0"/>
              </a:defRPr>
            </a:lvl1pPr>
            <a:lvl2pPr marL="742950" indent="-285750">
              <a:spcBef>
                <a:spcPct val="20000"/>
              </a:spcBef>
              <a:buChar char="–"/>
              <a:tabLst>
                <a:tab pos="1139825" algn="r"/>
                <a:tab pos="2857500" algn="r"/>
              </a:tabLst>
              <a:defRPr sz="2400">
                <a:solidFill>
                  <a:schemeClr val="tx1"/>
                </a:solidFill>
                <a:latin typeface="Arial" panose="020B0604020202020204" pitchFamily="34" charset="0"/>
              </a:defRPr>
            </a:lvl2pPr>
            <a:lvl3pPr marL="1143000" indent="-228600">
              <a:spcBef>
                <a:spcPct val="20000"/>
              </a:spcBef>
              <a:buChar char="•"/>
              <a:tabLst>
                <a:tab pos="1139825" algn="r"/>
                <a:tab pos="2857500" algn="r"/>
              </a:tabLst>
              <a:defRPr sz="2000">
                <a:solidFill>
                  <a:schemeClr val="tx1"/>
                </a:solidFill>
                <a:latin typeface="Arial" panose="020B0604020202020204" pitchFamily="34" charset="0"/>
              </a:defRPr>
            </a:lvl3pPr>
            <a:lvl4pPr marL="1600200" indent="-228600">
              <a:spcBef>
                <a:spcPct val="20000"/>
              </a:spcBef>
              <a:buChar char="–"/>
              <a:tabLst>
                <a:tab pos="1139825" algn="r"/>
                <a:tab pos="2857500" algn="r"/>
              </a:tabLst>
              <a:defRPr sz="2000">
                <a:solidFill>
                  <a:schemeClr val="tx1"/>
                </a:solidFill>
                <a:latin typeface="Arial" panose="020B0604020202020204" pitchFamily="34" charset="0"/>
              </a:defRPr>
            </a:lvl4pPr>
            <a:lvl5pPr marL="2057400" indent="-228600">
              <a:spcBef>
                <a:spcPct val="20000"/>
              </a:spcBef>
              <a:buChar char="»"/>
              <a:tabLst>
                <a:tab pos="1139825" algn="r"/>
                <a:tab pos="2857500" algn="r"/>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139825" algn="r"/>
                <a:tab pos="2857500" algn="r"/>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139825" algn="r"/>
                <a:tab pos="2857500" algn="r"/>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139825" algn="r"/>
                <a:tab pos="2857500" algn="r"/>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139825" algn="r"/>
                <a:tab pos="2857500" algn="r"/>
              </a:tabLst>
              <a:defRPr sz="2000">
                <a:solidFill>
                  <a:schemeClr val="tx1"/>
                </a:solidFill>
                <a:latin typeface="Arial" panose="020B0604020202020204" pitchFamily="34" charset="0"/>
              </a:defRPr>
            </a:lvl9pPr>
          </a:lstStyle>
          <a:p>
            <a:pPr>
              <a:lnSpc>
                <a:spcPct val="120000"/>
              </a:lnSpc>
              <a:spcBef>
                <a:spcPct val="60000"/>
              </a:spcBef>
              <a:buFontTx/>
              <a:buNone/>
            </a:pPr>
            <a:r>
              <a:rPr lang="en-US" altLang="en-US" sz="1800" b="1">
                <a:solidFill>
                  <a:srgbClr val="000000"/>
                </a:solidFill>
              </a:rPr>
              <a:t>	PRODID	QTY</a:t>
            </a:r>
            <a:br>
              <a:rPr lang="en-US" altLang="en-US" sz="1800" b="1">
                <a:solidFill>
                  <a:srgbClr val="000000"/>
                </a:solidFill>
              </a:rPr>
            </a:br>
            <a:r>
              <a:rPr lang="en-US" altLang="en-US" sz="1800" b="1">
                <a:solidFill>
                  <a:srgbClr val="000000"/>
                </a:solidFill>
              </a:rPr>
              <a:t>	101863	100</a:t>
            </a:r>
            <a:br>
              <a:rPr lang="en-US" altLang="en-US" sz="1800" b="1">
                <a:solidFill>
                  <a:srgbClr val="000000"/>
                </a:solidFill>
              </a:rPr>
            </a:br>
            <a:r>
              <a:rPr lang="en-US" altLang="en-US" sz="1800" b="1">
                <a:solidFill>
                  <a:srgbClr val="000000"/>
                </a:solidFill>
              </a:rPr>
              <a:t>	100861	100</a:t>
            </a:r>
            <a:br>
              <a:rPr lang="en-US" altLang="en-US" sz="1800" b="1">
                <a:solidFill>
                  <a:srgbClr val="000000"/>
                </a:solidFill>
              </a:rPr>
            </a:br>
            <a:r>
              <a:rPr lang="en-US" altLang="en-US" sz="1800" b="1">
                <a:solidFill>
                  <a:srgbClr val="000000"/>
                </a:solidFill>
              </a:rPr>
              <a:t>	102130	10</a:t>
            </a:r>
            <a:br>
              <a:rPr lang="en-US" altLang="en-US" sz="1800" b="1">
                <a:solidFill>
                  <a:srgbClr val="000000"/>
                </a:solidFill>
              </a:rPr>
            </a:br>
            <a:r>
              <a:rPr lang="en-US" altLang="en-US" sz="1800" b="1">
                <a:solidFill>
                  <a:srgbClr val="000000"/>
                </a:solidFill>
              </a:rPr>
              <a:t>	100890	5</a:t>
            </a:r>
            <a:br>
              <a:rPr lang="en-US" altLang="en-US" sz="1800" b="1">
                <a:solidFill>
                  <a:srgbClr val="000000"/>
                </a:solidFill>
              </a:rPr>
            </a:br>
            <a:r>
              <a:rPr lang="en-US" altLang="en-US" sz="1800" b="1">
                <a:solidFill>
                  <a:srgbClr val="000000"/>
                </a:solidFill>
              </a:rPr>
              <a:t>	100870	500</a:t>
            </a:r>
            <a:br>
              <a:rPr lang="en-US" altLang="en-US" sz="1800" b="1">
                <a:solidFill>
                  <a:srgbClr val="000000"/>
                </a:solidFill>
              </a:rPr>
            </a:br>
            <a:r>
              <a:rPr lang="en-US" altLang="en-US" sz="1800" b="1">
                <a:solidFill>
                  <a:srgbClr val="000000"/>
                </a:solidFill>
              </a:rPr>
              <a:t>	101860	50</a:t>
            </a:r>
          </a:p>
        </p:txBody>
      </p:sp>
      <p:sp>
        <p:nvSpPr>
          <p:cNvPr id="59400" name="Line 8">
            <a:extLst>
              <a:ext uri="{FF2B5EF4-FFF2-40B4-BE49-F238E27FC236}">
                <a16:creationId xmlns:a16="http://schemas.microsoft.com/office/drawing/2014/main" id="{FC980CE3-2329-6A19-AFCD-F68F5749FD10}"/>
              </a:ext>
            </a:extLst>
          </p:cNvPr>
          <p:cNvSpPr>
            <a:spLocks noChangeShapeType="1"/>
          </p:cNvSpPr>
          <p:nvPr/>
        </p:nvSpPr>
        <p:spPr bwMode="auto">
          <a:xfrm>
            <a:off x="2476500" y="3390900"/>
            <a:ext cx="981075" cy="0"/>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59401" name="Line 9">
            <a:extLst>
              <a:ext uri="{FF2B5EF4-FFF2-40B4-BE49-F238E27FC236}">
                <a16:creationId xmlns:a16="http://schemas.microsoft.com/office/drawing/2014/main" id="{347831BE-64EC-9405-52DF-7A1C3A0E5BB0}"/>
              </a:ext>
            </a:extLst>
          </p:cNvPr>
          <p:cNvSpPr>
            <a:spLocks noChangeShapeType="1"/>
          </p:cNvSpPr>
          <p:nvPr/>
        </p:nvSpPr>
        <p:spPr bwMode="auto">
          <a:xfrm>
            <a:off x="2476500" y="3722688"/>
            <a:ext cx="981075" cy="0"/>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59402" name="Line 10">
            <a:extLst>
              <a:ext uri="{FF2B5EF4-FFF2-40B4-BE49-F238E27FC236}">
                <a16:creationId xmlns:a16="http://schemas.microsoft.com/office/drawing/2014/main" id="{E2574E13-148B-0BF6-2937-61A2541799F8}"/>
              </a:ext>
            </a:extLst>
          </p:cNvPr>
          <p:cNvSpPr>
            <a:spLocks noChangeShapeType="1"/>
          </p:cNvSpPr>
          <p:nvPr/>
        </p:nvSpPr>
        <p:spPr bwMode="auto">
          <a:xfrm>
            <a:off x="2476500" y="4368800"/>
            <a:ext cx="981075" cy="0"/>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59403" name="Rectangle 11">
            <a:extLst>
              <a:ext uri="{FF2B5EF4-FFF2-40B4-BE49-F238E27FC236}">
                <a16:creationId xmlns:a16="http://schemas.microsoft.com/office/drawing/2014/main" id="{D4304822-3694-BFDB-6F93-61C7F5705C7E}"/>
              </a:ext>
            </a:extLst>
          </p:cNvPr>
          <p:cNvSpPr>
            <a:spLocks noChangeArrowheads="1"/>
          </p:cNvSpPr>
          <p:nvPr/>
        </p:nvSpPr>
        <p:spPr bwMode="ltGray">
          <a:xfrm>
            <a:off x="4910138" y="2501900"/>
            <a:ext cx="3059112" cy="2455863"/>
          </a:xfrm>
          <a:prstGeom prst="rect">
            <a:avLst/>
          </a:prstGeom>
          <a:gradFill rotWithShape="0">
            <a:gsLst>
              <a:gs pos="0">
                <a:srgbClr val="5C5CE5"/>
              </a:gs>
              <a:gs pos="50000">
                <a:srgbClr val="6666FF"/>
              </a:gs>
              <a:gs pos="100000">
                <a:srgbClr val="5C5CE5"/>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59404" name="Rectangle 12">
            <a:extLst>
              <a:ext uri="{FF2B5EF4-FFF2-40B4-BE49-F238E27FC236}">
                <a16:creationId xmlns:a16="http://schemas.microsoft.com/office/drawing/2014/main" id="{A9F54D37-1279-F778-642F-CEC957570576}"/>
              </a:ext>
            </a:extLst>
          </p:cNvPr>
          <p:cNvSpPr>
            <a:spLocks noChangeArrowheads="1"/>
          </p:cNvSpPr>
          <p:nvPr/>
        </p:nvSpPr>
        <p:spPr bwMode="auto">
          <a:xfrm>
            <a:off x="5530850" y="1992313"/>
            <a:ext cx="1693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2000" b="1">
                <a:solidFill>
                  <a:srgbClr val="000000"/>
                </a:solidFill>
              </a:rPr>
              <a:t>Nonpairwise</a:t>
            </a:r>
          </a:p>
        </p:txBody>
      </p:sp>
      <p:sp>
        <p:nvSpPr>
          <p:cNvPr id="59405" name="Rectangle 13">
            <a:extLst>
              <a:ext uri="{FF2B5EF4-FFF2-40B4-BE49-F238E27FC236}">
                <a16:creationId xmlns:a16="http://schemas.microsoft.com/office/drawing/2014/main" id="{FDE5681E-532C-F7B8-3F88-0DF351467128}"/>
              </a:ext>
            </a:extLst>
          </p:cNvPr>
          <p:cNvSpPr>
            <a:spLocks noChangeArrowheads="1"/>
          </p:cNvSpPr>
          <p:nvPr/>
        </p:nvSpPr>
        <p:spPr bwMode="auto">
          <a:xfrm>
            <a:off x="4651375" y="2517775"/>
            <a:ext cx="3786188" cy="240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tabLst>
                <a:tab pos="1139825" algn="r"/>
                <a:tab pos="2857500" algn="r"/>
              </a:tabLst>
              <a:defRPr sz="2800">
                <a:solidFill>
                  <a:schemeClr val="tx1"/>
                </a:solidFill>
                <a:latin typeface="Arial" panose="020B0604020202020204" pitchFamily="34" charset="0"/>
              </a:defRPr>
            </a:lvl1pPr>
            <a:lvl2pPr marL="742950" indent="-285750">
              <a:spcBef>
                <a:spcPct val="20000"/>
              </a:spcBef>
              <a:buChar char="–"/>
              <a:tabLst>
                <a:tab pos="1139825" algn="r"/>
                <a:tab pos="2857500" algn="r"/>
              </a:tabLst>
              <a:defRPr sz="2400">
                <a:solidFill>
                  <a:schemeClr val="tx1"/>
                </a:solidFill>
                <a:latin typeface="Arial" panose="020B0604020202020204" pitchFamily="34" charset="0"/>
              </a:defRPr>
            </a:lvl2pPr>
            <a:lvl3pPr marL="1143000" indent="-228600">
              <a:spcBef>
                <a:spcPct val="20000"/>
              </a:spcBef>
              <a:buChar char="•"/>
              <a:tabLst>
                <a:tab pos="1139825" algn="r"/>
                <a:tab pos="2857500" algn="r"/>
              </a:tabLst>
              <a:defRPr sz="2000">
                <a:solidFill>
                  <a:schemeClr val="tx1"/>
                </a:solidFill>
                <a:latin typeface="Arial" panose="020B0604020202020204" pitchFamily="34" charset="0"/>
              </a:defRPr>
            </a:lvl3pPr>
            <a:lvl4pPr marL="1600200" indent="-228600">
              <a:spcBef>
                <a:spcPct val="20000"/>
              </a:spcBef>
              <a:buChar char="–"/>
              <a:tabLst>
                <a:tab pos="1139825" algn="r"/>
                <a:tab pos="2857500" algn="r"/>
              </a:tabLst>
              <a:defRPr sz="2000">
                <a:solidFill>
                  <a:schemeClr val="tx1"/>
                </a:solidFill>
                <a:latin typeface="Arial" panose="020B0604020202020204" pitchFamily="34" charset="0"/>
              </a:defRPr>
            </a:lvl4pPr>
            <a:lvl5pPr marL="2057400" indent="-228600">
              <a:spcBef>
                <a:spcPct val="20000"/>
              </a:spcBef>
              <a:buChar char="»"/>
              <a:tabLst>
                <a:tab pos="1139825" algn="r"/>
                <a:tab pos="2857500" algn="r"/>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139825" algn="r"/>
                <a:tab pos="2857500" algn="r"/>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139825" algn="r"/>
                <a:tab pos="2857500" algn="r"/>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139825" algn="r"/>
                <a:tab pos="2857500" algn="r"/>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139825" algn="r"/>
                <a:tab pos="2857500" algn="r"/>
              </a:tabLst>
              <a:defRPr sz="2000">
                <a:solidFill>
                  <a:schemeClr val="tx1"/>
                </a:solidFill>
                <a:latin typeface="Arial" panose="020B0604020202020204" pitchFamily="34" charset="0"/>
              </a:defRPr>
            </a:lvl9pPr>
          </a:lstStyle>
          <a:p>
            <a:pPr>
              <a:lnSpc>
                <a:spcPct val="120000"/>
              </a:lnSpc>
              <a:spcBef>
                <a:spcPct val="60000"/>
              </a:spcBef>
              <a:buFontTx/>
              <a:buNone/>
            </a:pPr>
            <a:r>
              <a:rPr lang="en-US" altLang="en-US" sz="1800" b="1">
                <a:solidFill>
                  <a:srgbClr val="000000"/>
                </a:solidFill>
              </a:rPr>
              <a:t>	PRODID	QTY</a:t>
            </a:r>
            <a:br>
              <a:rPr lang="en-US" altLang="en-US" sz="1800" b="1">
                <a:solidFill>
                  <a:srgbClr val="000000"/>
                </a:solidFill>
              </a:rPr>
            </a:br>
            <a:r>
              <a:rPr lang="en-US" altLang="en-US" sz="1800" b="1">
                <a:solidFill>
                  <a:srgbClr val="000000"/>
                </a:solidFill>
              </a:rPr>
              <a:t>	101863	100</a:t>
            </a:r>
            <a:br>
              <a:rPr lang="en-US" altLang="en-US" sz="1800" b="1">
                <a:solidFill>
                  <a:srgbClr val="000000"/>
                </a:solidFill>
              </a:rPr>
            </a:br>
            <a:r>
              <a:rPr lang="en-US" altLang="en-US" sz="1800" b="1">
                <a:solidFill>
                  <a:srgbClr val="000000"/>
                </a:solidFill>
              </a:rPr>
              <a:t>	100861	100</a:t>
            </a:r>
            <a:br>
              <a:rPr lang="en-US" altLang="en-US" sz="1800" b="1">
                <a:solidFill>
                  <a:srgbClr val="000000"/>
                </a:solidFill>
              </a:rPr>
            </a:br>
            <a:r>
              <a:rPr lang="en-US" altLang="en-US" sz="1800" b="1">
                <a:solidFill>
                  <a:srgbClr val="000000"/>
                </a:solidFill>
              </a:rPr>
              <a:t>	102130	10</a:t>
            </a:r>
            <a:br>
              <a:rPr lang="en-US" altLang="en-US" sz="1800" b="1">
                <a:solidFill>
                  <a:srgbClr val="000000"/>
                </a:solidFill>
              </a:rPr>
            </a:br>
            <a:r>
              <a:rPr lang="en-US" altLang="en-US" sz="1800" b="1">
                <a:solidFill>
                  <a:srgbClr val="000000"/>
                </a:solidFill>
              </a:rPr>
              <a:t>	100890	5</a:t>
            </a:r>
            <a:br>
              <a:rPr lang="en-US" altLang="en-US" sz="1800" b="1">
                <a:solidFill>
                  <a:srgbClr val="000000"/>
                </a:solidFill>
              </a:rPr>
            </a:br>
            <a:r>
              <a:rPr lang="en-US" altLang="en-US" sz="1800" b="1">
                <a:solidFill>
                  <a:srgbClr val="000000"/>
                </a:solidFill>
              </a:rPr>
              <a:t>	100870	500</a:t>
            </a:r>
            <a:br>
              <a:rPr lang="en-US" altLang="en-US" sz="1800" b="1">
                <a:solidFill>
                  <a:srgbClr val="000000"/>
                </a:solidFill>
              </a:rPr>
            </a:br>
            <a:r>
              <a:rPr lang="en-US" altLang="en-US" sz="1800" b="1">
                <a:solidFill>
                  <a:srgbClr val="000000"/>
                </a:solidFill>
              </a:rPr>
              <a:t>	101860	50</a:t>
            </a:r>
          </a:p>
        </p:txBody>
      </p:sp>
      <p:sp>
        <p:nvSpPr>
          <p:cNvPr id="59406" name="Line 14">
            <a:extLst>
              <a:ext uri="{FF2B5EF4-FFF2-40B4-BE49-F238E27FC236}">
                <a16:creationId xmlns:a16="http://schemas.microsoft.com/office/drawing/2014/main" id="{92D7E985-3D2A-F326-9E40-001A36A6BCAB}"/>
              </a:ext>
            </a:extLst>
          </p:cNvPr>
          <p:cNvSpPr>
            <a:spLocks noChangeShapeType="1"/>
          </p:cNvSpPr>
          <p:nvPr/>
        </p:nvSpPr>
        <p:spPr bwMode="auto">
          <a:xfrm>
            <a:off x="6092825" y="3402013"/>
            <a:ext cx="981075" cy="0"/>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59407" name="Line 15">
            <a:extLst>
              <a:ext uri="{FF2B5EF4-FFF2-40B4-BE49-F238E27FC236}">
                <a16:creationId xmlns:a16="http://schemas.microsoft.com/office/drawing/2014/main" id="{0F6F3053-D53D-6B21-228B-46CA76595A99}"/>
              </a:ext>
            </a:extLst>
          </p:cNvPr>
          <p:cNvSpPr>
            <a:spLocks noChangeShapeType="1"/>
          </p:cNvSpPr>
          <p:nvPr/>
        </p:nvSpPr>
        <p:spPr bwMode="auto">
          <a:xfrm>
            <a:off x="6070600" y="3009900"/>
            <a:ext cx="1011238" cy="338138"/>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59408" name="Line 16">
            <a:extLst>
              <a:ext uri="{FF2B5EF4-FFF2-40B4-BE49-F238E27FC236}">
                <a16:creationId xmlns:a16="http://schemas.microsoft.com/office/drawing/2014/main" id="{E5E9CDBC-3AFB-6571-F3A1-DD21ECFDC7BB}"/>
              </a:ext>
            </a:extLst>
          </p:cNvPr>
          <p:cNvSpPr>
            <a:spLocks noChangeShapeType="1"/>
          </p:cNvSpPr>
          <p:nvPr/>
        </p:nvSpPr>
        <p:spPr bwMode="auto">
          <a:xfrm flipV="1">
            <a:off x="6099175" y="3386138"/>
            <a:ext cx="1011238" cy="273050"/>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59409" name="Line 17">
            <a:extLst>
              <a:ext uri="{FF2B5EF4-FFF2-40B4-BE49-F238E27FC236}">
                <a16:creationId xmlns:a16="http://schemas.microsoft.com/office/drawing/2014/main" id="{E82E4536-6637-BE08-0E9F-4707131C8BE9}"/>
              </a:ext>
            </a:extLst>
          </p:cNvPr>
          <p:cNvSpPr>
            <a:spLocks noChangeShapeType="1"/>
          </p:cNvSpPr>
          <p:nvPr/>
        </p:nvSpPr>
        <p:spPr bwMode="auto">
          <a:xfrm flipH="1">
            <a:off x="6092825" y="4376738"/>
            <a:ext cx="981075" cy="0"/>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59410" name="Line 18">
            <a:extLst>
              <a:ext uri="{FF2B5EF4-FFF2-40B4-BE49-F238E27FC236}">
                <a16:creationId xmlns:a16="http://schemas.microsoft.com/office/drawing/2014/main" id="{6B32D1BF-A9B1-135F-A13F-910AF50510BB}"/>
              </a:ext>
            </a:extLst>
          </p:cNvPr>
          <p:cNvSpPr>
            <a:spLocks noChangeShapeType="1"/>
          </p:cNvSpPr>
          <p:nvPr/>
        </p:nvSpPr>
        <p:spPr bwMode="auto">
          <a:xfrm flipH="1" flipV="1">
            <a:off x="6084888" y="4087813"/>
            <a:ext cx="985837" cy="219075"/>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59411" name="Line 19">
            <a:extLst>
              <a:ext uri="{FF2B5EF4-FFF2-40B4-BE49-F238E27FC236}">
                <a16:creationId xmlns:a16="http://schemas.microsoft.com/office/drawing/2014/main" id="{D48DA5AA-FDF9-9D8E-1771-2D1BA32D297B}"/>
              </a:ext>
            </a:extLst>
          </p:cNvPr>
          <p:cNvSpPr>
            <a:spLocks noChangeShapeType="1"/>
          </p:cNvSpPr>
          <p:nvPr/>
        </p:nvSpPr>
        <p:spPr bwMode="auto">
          <a:xfrm flipH="1" flipV="1">
            <a:off x="6084888" y="3735388"/>
            <a:ext cx="995362" cy="504825"/>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59412" name="Line 20">
            <a:extLst>
              <a:ext uri="{FF2B5EF4-FFF2-40B4-BE49-F238E27FC236}">
                <a16:creationId xmlns:a16="http://schemas.microsoft.com/office/drawing/2014/main" id="{E35513B8-ADA5-8C0D-9AAA-AE78BA28335D}"/>
              </a:ext>
            </a:extLst>
          </p:cNvPr>
          <p:cNvSpPr>
            <a:spLocks noChangeShapeType="1"/>
          </p:cNvSpPr>
          <p:nvPr/>
        </p:nvSpPr>
        <p:spPr bwMode="auto">
          <a:xfrm>
            <a:off x="1709738" y="2381250"/>
            <a:ext cx="21717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13" name="Line 21">
            <a:extLst>
              <a:ext uri="{FF2B5EF4-FFF2-40B4-BE49-F238E27FC236}">
                <a16:creationId xmlns:a16="http://schemas.microsoft.com/office/drawing/2014/main" id="{1741AA9A-746F-AC22-7D12-20E946EE0100}"/>
              </a:ext>
            </a:extLst>
          </p:cNvPr>
          <p:cNvSpPr>
            <a:spLocks noChangeShapeType="1"/>
          </p:cNvSpPr>
          <p:nvPr/>
        </p:nvSpPr>
        <p:spPr bwMode="auto">
          <a:xfrm>
            <a:off x="5276850" y="2381250"/>
            <a:ext cx="21717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14" name="Line 22">
            <a:extLst>
              <a:ext uri="{FF2B5EF4-FFF2-40B4-BE49-F238E27FC236}">
                <a16:creationId xmlns:a16="http://schemas.microsoft.com/office/drawing/2014/main" id="{5543DF5A-C23B-3B30-3362-4B1327168187}"/>
              </a:ext>
            </a:extLst>
          </p:cNvPr>
          <p:cNvSpPr>
            <a:spLocks noChangeShapeType="1"/>
          </p:cNvSpPr>
          <p:nvPr/>
        </p:nvSpPr>
        <p:spPr bwMode="auto">
          <a:xfrm flipH="1" flipV="1">
            <a:off x="6129338" y="3706813"/>
            <a:ext cx="1038225" cy="11112"/>
          </a:xfrm>
          <a:prstGeom prst="line">
            <a:avLst/>
          </a:prstGeom>
          <a:noFill/>
          <a:ln w="25400">
            <a:solidFill>
              <a:srgbClr val="FF0033"/>
            </a:solidFill>
            <a:round/>
            <a:headEnd type="stealth" w="med" len="lg"/>
            <a:tailEnd type="stealth" w="med" len="lg"/>
          </a:ln>
          <a:effectLst>
            <a:outerShdw dist="17961"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CDA43DDF-1179-D57F-7FFA-FEAF7E09ED3E}"/>
              </a:ext>
            </a:extLst>
          </p:cNvPr>
          <p:cNvSpPr>
            <a:spLocks noChangeArrowheads="1"/>
          </p:cNvSpPr>
          <p:nvPr/>
        </p:nvSpPr>
        <p:spPr bwMode="blackWhite">
          <a:xfrm>
            <a:off x="927100" y="3317875"/>
            <a:ext cx="7489825" cy="27606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1443" name="Rectangle 3">
            <a:extLst>
              <a:ext uri="{FF2B5EF4-FFF2-40B4-BE49-F238E27FC236}">
                <a16:creationId xmlns:a16="http://schemas.microsoft.com/office/drawing/2014/main" id="{04E93024-63A2-C2D0-1799-7D76292ED781}"/>
              </a:ext>
            </a:extLst>
          </p:cNvPr>
          <p:cNvSpPr>
            <a:spLocks noChangeArrowheads="1"/>
          </p:cNvSpPr>
          <p:nvPr/>
        </p:nvSpPr>
        <p:spPr bwMode="auto">
          <a:xfrm>
            <a:off x="4348163" y="4121150"/>
            <a:ext cx="3643312" cy="822325"/>
          </a:xfrm>
          <a:prstGeom prst="rect">
            <a:avLst/>
          </a:prstGeom>
          <a:gradFill rotWithShape="0">
            <a:gsLst>
              <a:gs pos="0">
                <a:srgbClr val="FF9966"/>
              </a:gs>
              <a:gs pos="100000">
                <a:srgbClr val="FF996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1444" name="Rectangle 4">
            <a:extLst>
              <a:ext uri="{FF2B5EF4-FFF2-40B4-BE49-F238E27FC236}">
                <a16:creationId xmlns:a16="http://schemas.microsoft.com/office/drawing/2014/main" id="{D32EEF8A-A764-5536-AFE1-2ECBC871A7E7}"/>
              </a:ext>
            </a:extLst>
          </p:cNvPr>
          <p:cNvSpPr>
            <a:spLocks noChangeArrowheads="1"/>
          </p:cNvSpPr>
          <p:nvPr/>
        </p:nvSpPr>
        <p:spPr bwMode="auto">
          <a:xfrm>
            <a:off x="4357688" y="4987925"/>
            <a:ext cx="3633787" cy="749300"/>
          </a:xfrm>
          <a:prstGeom prst="rect">
            <a:avLst/>
          </a:prstGeom>
          <a:gradFill rotWithShape="0">
            <a:gsLst>
              <a:gs pos="0">
                <a:srgbClr val="FF9966"/>
              </a:gs>
              <a:gs pos="100000">
                <a:srgbClr val="FF996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1445" name="Rectangle 5">
            <a:extLst>
              <a:ext uri="{FF2B5EF4-FFF2-40B4-BE49-F238E27FC236}">
                <a16:creationId xmlns:a16="http://schemas.microsoft.com/office/drawing/2014/main" id="{97AC6F3B-598C-73EB-1BE0-1E42048664BF}"/>
              </a:ext>
            </a:extLst>
          </p:cNvPr>
          <p:cNvSpPr>
            <a:spLocks noGrp="1" noChangeArrowheads="1"/>
          </p:cNvSpPr>
          <p:nvPr>
            <p:ph type="title"/>
          </p:nvPr>
        </p:nvSpPr>
        <p:spPr>
          <a:xfrm>
            <a:off x="323850" y="660400"/>
            <a:ext cx="6010275"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Nonpairwise Comparison Subquery</a:t>
            </a:r>
          </a:p>
        </p:txBody>
      </p:sp>
      <p:sp>
        <p:nvSpPr>
          <p:cNvPr id="61446" name="Rectangle 6">
            <a:extLst>
              <a:ext uri="{FF2B5EF4-FFF2-40B4-BE49-F238E27FC236}">
                <a16:creationId xmlns:a16="http://schemas.microsoft.com/office/drawing/2014/main" id="{92B5DCDF-8188-32B8-D4BC-FD63152A0FF5}"/>
              </a:ext>
            </a:extLst>
          </p:cNvPr>
          <p:cNvSpPr>
            <a:spLocks noChangeArrowheads="1"/>
          </p:cNvSpPr>
          <p:nvPr/>
        </p:nvSpPr>
        <p:spPr bwMode="blackWhite">
          <a:xfrm>
            <a:off x="914400" y="3562350"/>
            <a:ext cx="7677150" cy="278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 pos="1828800" algn="l"/>
                <a:tab pos="4229100" algn="l"/>
                <a:tab pos="5314950" algn="l"/>
              </a:tabLst>
              <a:defRPr sz="2800">
                <a:solidFill>
                  <a:schemeClr val="tx1"/>
                </a:solidFill>
                <a:latin typeface="Arial" panose="020B0604020202020204" pitchFamily="34" charset="0"/>
              </a:defRPr>
            </a:lvl1pPr>
            <a:lvl2pPr marL="742950" indent="-285750">
              <a:spcBef>
                <a:spcPct val="20000"/>
              </a:spcBef>
              <a:buChar char="–"/>
              <a:tabLst>
                <a:tab pos="1200150" algn="l"/>
                <a:tab pos="1828800" algn="l"/>
                <a:tab pos="4229100" algn="l"/>
                <a:tab pos="5314950" algn="l"/>
              </a:tabLst>
              <a:defRPr sz="2400">
                <a:solidFill>
                  <a:schemeClr val="tx1"/>
                </a:solidFill>
                <a:latin typeface="Arial" panose="020B0604020202020204" pitchFamily="34" charset="0"/>
              </a:defRPr>
            </a:lvl2pPr>
            <a:lvl3pPr marL="1143000" indent="-228600">
              <a:spcBef>
                <a:spcPct val="20000"/>
              </a:spcBef>
              <a:buChar char="•"/>
              <a:tabLst>
                <a:tab pos="1200150" algn="l"/>
                <a:tab pos="1828800" algn="l"/>
                <a:tab pos="4229100" algn="l"/>
                <a:tab pos="5314950" algn="l"/>
              </a:tabLst>
              <a:defRPr sz="2000">
                <a:solidFill>
                  <a:schemeClr val="tx1"/>
                </a:solidFill>
                <a:latin typeface="Arial" panose="020B0604020202020204" pitchFamily="34" charset="0"/>
              </a:defRPr>
            </a:lvl3pPr>
            <a:lvl4pPr marL="1600200" indent="-228600">
              <a:spcBef>
                <a:spcPct val="20000"/>
              </a:spcBef>
              <a:buChar char="–"/>
              <a:tabLst>
                <a:tab pos="1200150" algn="l"/>
                <a:tab pos="1828800" algn="l"/>
                <a:tab pos="4229100" algn="l"/>
                <a:tab pos="5314950" algn="l"/>
              </a:tabLst>
              <a:defRPr sz="2000">
                <a:solidFill>
                  <a:schemeClr val="tx1"/>
                </a:solidFill>
                <a:latin typeface="Arial" panose="020B0604020202020204" pitchFamily="34" charset="0"/>
              </a:defRPr>
            </a:lvl4pPr>
            <a:lvl5pPr marL="2057400" indent="-228600">
              <a:spcBef>
                <a:spcPct val="20000"/>
              </a:spcBef>
              <a:buChar char="»"/>
              <a:tabLst>
                <a:tab pos="1200150" algn="l"/>
                <a:tab pos="1828800" algn="l"/>
                <a:tab pos="4229100" algn="l"/>
                <a:tab pos="53149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1828800" algn="l"/>
                <a:tab pos="4229100" algn="l"/>
                <a:tab pos="53149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1828800" algn="l"/>
                <a:tab pos="4229100" algn="l"/>
                <a:tab pos="53149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1828800" algn="l"/>
                <a:tab pos="4229100" algn="l"/>
                <a:tab pos="53149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1828800" algn="l"/>
                <a:tab pos="4229100" algn="l"/>
                <a:tab pos="53149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ordid, prodid, qty</a:t>
            </a:r>
          </a:p>
          <a:p>
            <a:pPr>
              <a:spcBef>
                <a:spcPct val="0"/>
              </a:spcBef>
              <a:buFontTx/>
              <a:buNone/>
            </a:pPr>
            <a:r>
              <a:rPr lang="en-US" altLang="en-US" sz="1800" b="1">
                <a:solidFill>
                  <a:srgbClr val="000000"/>
                </a:solidFill>
                <a:latin typeface="Courier New" panose="02070309020205020404" pitchFamily="49" charset="0"/>
              </a:rPr>
              <a:t>  2  FROM 	item</a:t>
            </a:r>
          </a:p>
          <a:p>
            <a:pPr>
              <a:spcBef>
                <a:spcPct val="0"/>
              </a:spcBef>
              <a:buFontTx/>
              <a:buNone/>
            </a:pPr>
            <a:r>
              <a:rPr lang="en-US" altLang="en-US" sz="1800" b="1">
                <a:solidFill>
                  <a:srgbClr val="000000"/>
                </a:solidFill>
                <a:latin typeface="Courier New" panose="02070309020205020404" pitchFamily="49" charset="0"/>
              </a:rPr>
              <a:t>  3  WHERE 	prodid IN  (SELECT 	prodid</a:t>
            </a:r>
          </a:p>
          <a:p>
            <a:pPr>
              <a:spcBef>
                <a:spcPct val="0"/>
              </a:spcBef>
              <a:buFontTx/>
              <a:buNone/>
            </a:pPr>
            <a:r>
              <a:rPr lang="en-US" altLang="en-US" sz="1800" b="1">
                <a:solidFill>
                  <a:srgbClr val="000000"/>
                </a:solidFill>
                <a:latin typeface="Courier New" panose="02070309020205020404" pitchFamily="49" charset="0"/>
              </a:rPr>
              <a:t>  4                       FROM   	item</a:t>
            </a:r>
          </a:p>
          <a:p>
            <a:pPr>
              <a:spcBef>
                <a:spcPct val="0"/>
              </a:spcBef>
              <a:buFontTx/>
              <a:buNone/>
            </a:pPr>
            <a:r>
              <a:rPr lang="en-US" altLang="en-US" sz="1800" b="1">
                <a:solidFill>
                  <a:srgbClr val="000000"/>
                </a:solidFill>
                <a:latin typeface="Courier New" panose="02070309020205020404" pitchFamily="49" charset="0"/>
              </a:rPr>
              <a:t>  5                       WHERE  	ordid = 605)</a:t>
            </a:r>
          </a:p>
          <a:p>
            <a:pPr>
              <a:spcBef>
                <a:spcPct val="0"/>
              </a:spcBef>
              <a:buFontTx/>
              <a:buNone/>
            </a:pPr>
            <a:r>
              <a:rPr lang="en-US" altLang="en-US" sz="1800" b="1">
                <a:solidFill>
                  <a:srgbClr val="000000"/>
                </a:solidFill>
                <a:latin typeface="Courier New" panose="02070309020205020404" pitchFamily="49" charset="0"/>
              </a:rPr>
              <a:t>  6  AND		qty    IN  (SELECT 	qty</a:t>
            </a:r>
          </a:p>
          <a:p>
            <a:pPr>
              <a:spcBef>
                <a:spcPct val="0"/>
              </a:spcBef>
              <a:buFontTx/>
              <a:buNone/>
            </a:pPr>
            <a:r>
              <a:rPr lang="en-US" altLang="en-US" sz="1800" b="1">
                <a:solidFill>
                  <a:srgbClr val="000000"/>
                </a:solidFill>
                <a:latin typeface="Courier New" panose="02070309020205020404" pitchFamily="49" charset="0"/>
              </a:rPr>
              <a:t>  7         	            FROM   	item</a:t>
            </a:r>
          </a:p>
          <a:p>
            <a:pPr>
              <a:spcBef>
                <a:spcPct val="0"/>
              </a:spcBef>
              <a:buFontTx/>
              <a:buNone/>
            </a:pPr>
            <a:r>
              <a:rPr lang="en-US" altLang="en-US" sz="1800" b="1">
                <a:solidFill>
                  <a:srgbClr val="000000"/>
                </a:solidFill>
                <a:latin typeface="Courier New" panose="02070309020205020404" pitchFamily="49" charset="0"/>
              </a:rPr>
              <a:t>  8                      WHERE  	ordid = 605)</a:t>
            </a:r>
          </a:p>
          <a:p>
            <a:pPr>
              <a:spcBef>
                <a:spcPct val="0"/>
              </a:spcBef>
              <a:buFontTx/>
              <a:buNone/>
            </a:pPr>
            <a:r>
              <a:rPr lang="en-US" altLang="en-US" sz="1800" b="1">
                <a:solidFill>
                  <a:srgbClr val="000000"/>
                </a:solidFill>
                <a:latin typeface="Courier New" panose="02070309020205020404" pitchFamily="49" charset="0"/>
              </a:rPr>
              <a:t>  9  AND		ordid &lt;&gt; 605;</a:t>
            </a:r>
          </a:p>
          <a:p>
            <a:pPr>
              <a:spcBef>
                <a:spcPct val="0"/>
              </a:spcBef>
              <a:buFontTx/>
              <a:buNone/>
            </a:pPr>
            <a:endParaRPr lang="en-US" altLang="en-US" sz="1800" b="1">
              <a:solidFill>
                <a:srgbClr val="000000"/>
              </a:solidFill>
              <a:latin typeface="Courier New" panose="02070309020205020404" pitchFamily="49" charset="0"/>
            </a:endParaRPr>
          </a:p>
        </p:txBody>
      </p:sp>
      <p:sp>
        <p:nvSpPr>
          <p:cNvPr id="61447" name="Rectangle 7">
            <a:extLst>
              <a:ext uri="{FF2B5EF4-FFF2-40B4-BE49-F238E27FC236}">
                <a16:creationId xmlns:a16="http://schemas.microsoft.com/office/drawing/2014/main" id="{EBA3C317-C0D4-4EB4-336B-CD7141B6A8F6}"/>
              </a:ext>
            </a:extLst>
          </p:cNvPr>
          <p:cNvSpPr>
            <a:spLocks noGrp="1" noChangeArrowheads="1"/>
          </p:cNvSpPr>
          <p:nvPr>
            <p:ph type="body" idx="1"/>
          </p:nvPr>
        </p:nvSpPr>
        <p:spPr>
          <a:xfrm>
            <a:off x="560388" y="1412875"/>
            <a:ext cx="8069262" cy="1679575"/>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r>
              <a:rPr lang="en-US" altLang="en-US" sz="2600"/>
              <a:t>Display the order number, product number, and quantity of any item in which the product number and quantity match any product number and any quantity of an item in order 605.</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E408C26C-2112-7567-80C3-87C30E5AE4B6}"/>
              </a:ext>
            </a:extLst>
          </p:cNvPr>
          <p:cNvSpPr>
            <a:spLocks noChangeArrowheads="1"/>
          </p:cNvSpPr>
          <p:nvPr/>
        </p:nvSpPr>
        <p:spPr bwMode="blackWhite">
          <a:xfrm>
            <a:off x="925513" y="1357313"/>
            <a:ext cx="7491412" cy="5095875"/>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3491" name="Rectangle 3">
            <a:extLst>
              <a:ext uri="{FF2B5EF4-FFF2-40B4-BE49-F238E27FC236}">
                <a16:creationId xmlns:a16="http://schemas.microsoft.com/office/drawing/2014/main" id="{3B38FE26-D3BF-22C8-9E24-20262175ABC7}"/>
              </a:ext>
            </a:extLst>
          </p:cNvPr>
          <p:cNvSpPr>
            <a:spLocks noGrp="1" noChangeArrowheads="1"/>
          </p:cNvSpPr>
          <p:nvPr>
            <p:ph type="title"/>
          </p:nvPr>
        </p:nvSpPr>
        <p:spPr>
          <a:xfrm>
            <a:off x="323850" y="614363"/>
            <a:ext cx="4248150" cy="5111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Nonpairwise Subquery</a:t>
            </a:r>
          </a:p>
        </p:txBody>
      </p:sp>
      <p:sp>
        <p:nvSpPr>
          <p:cNvPr id="342020" name="Rectangle 4">
            <a:extLst>
              <a:ext uri="{FF2B5EF4-FFF2-40B4-BE49-F238E27FC236}">
                <a16:creationId xmlns:a16="http://schemas.microsoft.com/office/drawing/2014/main" id="{C9416A77-6790-2A78-0C75-53BAF71E3AE8}"/>
              </a:ext>
            </a:extLst>
          </p:cNvPr>
          <p:cNvSpPr>
            <a:spLocks noChangeArrowheads="1"/>
          </p:cNvSpPr>
          <p:nvPr/>
        </p:nvSpPr>
        <p:spPr bwMode="ltGray">
          <a:xfrm>
            <a:off x="1204913" y="1924050"/>
            <a:ext cx="4457700" cy="590550"/>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42021" name="Rectangle 5">
            <a:extLst>
              <a:ext uri="{FF2B5EF4-FFF2-40B4-BE49-F238E27FC236}">
                <a16:creationId xmlns:a16="http://schemas.microsoft.com/office/drawing/2014/main" id="{312B7ECE-F075-3B0A-DB4C-129F496C8523}"/>
              </a:ext>
            </a:extLst>
          </p:cNvPr>
          <p:cNvSpPr>
            <a:spLocks noChangeArrowheads="1"/>
          </p:cNvSpPr>
          <p:nvPr/>
        </p:nvSpPr>
        <p:spPr bwMode="ltGray">
          <a:xfrm>
            <a:off x="1228725" y="2781300"/>
            <a:ext cx="4457700" cy="1117600"/>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42022" name="Rectangle 6">
            <a:extLst>
              <a:ext uri="{FF2B5EF4-FFF2-40B4-BE49-F238E27FC236}">
                <a16:creationId xmlns:a16="http://schemas.microsoft.com/office/drawing/2014/main" id="{37C18A51-1B69-B2F2-1953-6D29A8874F0B}"/>
              </a:ext>
            </a:extLst>
          </p:cNvPr>
          <p:cNvSpPr>
            <a:spLocks noChangeArrowheads="1"/>
          </p:cNvSpPr>
          <p:nvPr/>
        </p:nvSpPr>
        <p:spPr bwMode="ltGray">
          <a:xfrm>
            <a:off x="1223963" y="4195763"/>
            <a:ext cx="4457700" cy="1355725"/>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3495" name="Rectangle 7">
            <a:extLst>
              <a:ext uri="{FF2B5EF4-FFF2-40B4-BE49-F238E27FC236}">
                <a16:creationId xmlns:a16="http://schemas.microsoft.com/office/drawing/2014/main" id="{979D4EC5-D9AD-DA28-EAA8-BEB29762CE62}"/>
              </a:ext>
            </a:extLst>
          </p:cNvPr>
          <p:cNvSpPr>
            <a:spLocks noChangeArrowheads="1"/>
          </p:cNvSpPr>
          <p:nvPr/>
        </p:nvSpPr>
        <p:spPr bwMode="blackWhite">
          <a:xfrm>
            <a:off x="1046163" y="1281113"/>
            <a:ext cx="7677150" cy="471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    ORDID    PRODID       QTY</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      609    100870         5</a:t>
            </a:r>
          </a:p>
          <a:p>
            <a:pPr>
              <a:spcBef>
                <a:spcPct val="0"/>
              </a:spcBef>
              <a:buFontTx/>
              <a:buNone/>
            </a:pPr>
            <a:r>
              <a:rPr lang="en-US" altLang="en-US" sz="1800" b="1">
                <a:solidFill>
                  <a:srgbClr val="000000"/>
                </a:solidFill>
                <a:latin typeface="Courier New" panose="02070309020205020404" pitchFamily="49" charset="0"/>
              </a:rPr>
              <a:t>      616    100861        10</a:t>
            </a:r>
          </a:p>
          <a:p>
            <a:pPr>
              <a:spcBef>
                <a:spcPct val="0"/>
              </a:spcBef>
              <a:buFontTx/>
              <a:buNone/>
            </a:pPr>
            <a:r>
              <a:rPr lang="en-US" altLang="en-US" sz="1800" b="1">
                <a:solidFill>
                  <a:srgbClr val="000000"/>
                </a:solidFill>
                <a:latin typeface="Courier New" panose="02070309020205020404" pitchFamily="49" charset="0"/>
              </a:rPr>
              <a:t>      616    102130        10</a:t>
            </a:r>
          </a:p>
          <a:p>
            <a:pPr>
              <a:spcBef>
                <a:spcPct val="0"/>
              </a:spcBef>
              <a:buFontTx/>
              <a:buNone/>
            </a:pPr>
            <a:r>
              <a:rPr lang="en-US" altLang="en-US" sz="1800" b="1">
                <a:solidFill>
                  <a:srgbClr val="000000"/>
                </a:solidFill>
                <a:latin typeface="Courier New" panose="02070309020205020404" pitchFamily="49" charset="0"/>
              </a:rPr>
              <a:t>      621    100861        10</a:t>
            </a:r>
          </a:p>
          <a:p>
            <a:pPr>
              <a:spcBef>
                <a:spcPct val="0"/>
              </a:spcBef>
              <a:buFontTx/>
              <a:buNone/>
            </a:pPr>
            <a:r>
              <a:rPr lang="en-US" altLang="en-US" sz="1800" b="1">
                <a:solidFill>
                  <a:srgbClr val="000000"/>
                </a:solidFill>
                <a:latin typeface="Courier New" panose="02070309020205020404" pitchFamily="49" charset="0"/>
              </a:rPr>
              <a:t>      618    100870        10</a:t>
            </a:r>
          </a:p>
          <a:p>
            <a:pPr>
              <a:spcBef>
                <a:spcPct val="0"/>
              </a:spcBef>
              <a:buFontTx/>
              <a:buNone/>
            </a:pPr>
            <a:r>
              <a:rPr lang="en-US" altLang="en-US" sz="1800" b="1">
                <a:solidFill>
                  <a:srgbClr val="000000"/>
                </a:solidFill>
                <a:latin typeface="Courier New" panose="02070309020205020404" pitchFamily="49" charset="0"/>
              </a:rPr>
              <a:t>      618    100861        50</a:t>
            </a:r>
          </a:p>
          <a:p>
            <a:pPr>
              <a:spcBef>
                <a:spcPct val="0"/>
              </a:spcBef>
              <a:buFontTx/>
              <a:buNone/>
            </a:pPr>
            <a:r>
              <a:rPr lang="en-US" altLang="en-US" sz="1800" b="1">
                <a:solidFill>
                  <a:srgbClr val="000000"/>
                </a:solidFill>
                <a:latin typeface="Courier New" panose="02070309020205020404" pitchFamily="49" charset="0"/>
              </a:rPr>
              <a:t>      616    100870        50</a:t>
            </a:r>
          </a:p>
          <a:p>
            <a:pPr>
              <a:spcBef>
                <a:spcPct val="0"/>
              </a:spcBef>
              <a:buFontTx/>
              <a:buNone/>
            </a:pPr>
            <a:r>
              <a:rPr lang="en-US" altLang="en-US" sz="1800" b="1">
                <a:solidFill>
                  <a:srgbClr val="000000"/>
                </a:solidFill>
                <a:latin typeface="Courier New" panose="02070309020205020404" pitchFamily="49" charset="0"/>
              </a:rPr>
              <a:t>      617    100861       100</a:t>
            </a:r>
          </a:p>
          <a:p>
            <a:pPr>
              <a:spcBef>
                <a:spcPct val="0"/>
              </a:spcBef>
              <a:buFontTx/>
              <a:buNone/>
            </a:pPr>
            <a:r>
              <a:rPr lang="en-US" altLang="en-US" sz="1800" b="1">
                <a:solidFill>
                  <a:srgbClr val="000000"/>
                </a:solidFill>
                <a:latin typeface="Courier New" panose="02070309020205020404" pitchFamily="49" charset="0"/>
              </a:rPr>
              <a:t>      619    102130       100</a:t>
            </a:r>
          </a:p>
          <a:p>
            <a:pPr>
              <a:spcBef>
                <a:spcPct val="0"/>
              </a:spcBef>
              <a:buFontTx/>
              <a:buNone/>
            </a:pPr>
            <a:r>
              <a:rPr lang="en-US" altLang="en-US" sz="1800" b="1">
                <a:solidFill>
                  <a:srgbClr val="000000"/>
                </a:solidFill>
                <a:latin typeface="Courier New" panose="02070309020205020404" pitchFamily="49" charset="0"/>
              </a:rPr>
              <a:t>      615    100870       100</a:t>
            </a:r>
          </a:p>
          <a:p>
            <a:pPr>
              <a:spcBef>
                <a:spcPct val="0"/>
              </a:spcBef>
              <a:buFontTx/>
              <a:buNone/>
            </a:pPr>
            <a:r>
              <a:rPr lang="en-US" altLang="en-US" sz="1800" b="1">
                <a:solidFill>
                  <a:srgbClr val="000000"/>
                </a:solidFill>
                <a:latin typeface="Courier New" panose="02070309020205020404" pitchFamily="49" charset="0"/>
              </a:rPr>
              <a:t>      617    101860       100</a:t>
            </a:r>
          </a:p>
          <a:p>
            <a:pPr>
              <a:spcBef>
                <a:spcPct val="0"/>
              </a:spcBef>
              <a:buFontTx/>
              <a:buNone/>
            </a:pPr>
            <a:r>
              <a:rPr lang="en-US" altLang="en-US" sz="1800" b="1">
                <a:solidFill>
                  <a:srgbClr val="000000"/>
                </a:solidFill>
                <a:latin typeface="Courier New" panose="02070309020205020404" pitchFamily="49" charset="0"/>
              </a:rPr>
              <a:t>      621    100870       100</a:t>
            </a:r>
          </a:p>
          <a:p>
            <a:pPr>
              <a:spcBef>
                <a:spcPct val="0"/>
              </a:spcBef>
              <a:buFontTx/>
              <a:buNone/>
            </a:pPr>
            <a:r>
              <a:rPr lang="en-US" altLang="en-US" sz="1800" b="1">
                <a:solidFill>
                  <a:srgbClr val="000000"/>
                </a:solidFill>
                <a:latin typeface="Courier New" panose="02070309020205020404" pitchFamily="49" charset="0"/>
              </a:rPr>
              <a:t>      617    102130       100</a:t>
            </a:r>
          </a:p>
          <a:p>
            <a:pPr>
              <a:spcBef>
                <a:spcPct val="0"/>
              </a:spcBef>
              <a:buFontTx/>
              <a:buNone/>
            </a:pPr>
            <a:r>
              <a:rPr lang="en-US" altLang="en-US" sz="1800" b="1">
                <a:solidFill>
                  <a:srgbClr val="000000"/>
                </a:solidFill>
                <a:latin typeface="Courier New" panose="02070309020205020404" pitchFamily="49" charset="0"/>
              </a:rPr>
              <a:t>      . . . </a:t>
            </a:r>
          </a:p>
          <a:p>
            <a:pPr>
              <a:spcBef>
                <a:spcPct val="0"/>
              </a:spcBef>
              <a:buFontTx/>
              <a:buNone/>
            </a:pPr>
            <a:r>
              <a:rPr lang="en-US" altLang="en-US" sz="1800" b="1">
                <a:solidFill>
                  <a:srgbClr val="000000"/>
                </a:solidFill>
                <a:latin typeface="Courier New" panose="02070309020205020404" pitchFamily="49" charset="0"/>
              </a:rPr>
              <a:t>16 rows selected.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42020"/>
                                        </p:tgtEl>
                                        <p:attrNameLst>
                                          <p:attrName>style.visibility</p:attrName>
                                        </p:attrNameLst>
                                      </p:cBhvr>
                                      <p:to>
                                        <p:strVal val="visible"/>
                                      </p:to>
                                    </p:set>
                                    <p:animEffect transition="in" filter="wipe(up)">
                                      <p:cBhvr>
                                        <p:cTn id="7" dur="500"/>
                                        <p:tgtEl>
                                          <p:spTgt spid="342020"/>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42021"/>
                                        </p:tgtEl>
                                        <p:attrNameLst>
                                          <p:attrName>style.visibility</p:attrName>
                                        </p:attrNameLst>
                                      </p:cBhvr>
                                      <p:to>
                                        <p:strVal val="visible"/>
                                      </p:to>
                                    </p:set>
                                    <p:animEffect transition="in" filter="wipe(up)">
                                      <p:cBhvr>
                                        <p:cTn id="11" dur="500"/>
                                        <p:tgtEl>
                                          <p:spTgt spid="342021"/>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342022"/>
                                        </p:tgtEl>
                                        <p:attrNameLst>
                                          <p:attrName>style.visibility</p:attrName>
                                        </p:attrNameLst>
                                      </p:cBhvr>
                                      <p:to>
                                        <p:strVal val="visible"/>
                                      </p:to>
                                    </p:set>
                                    <p:animEffect transition="in" filter="wipe(up)">
                                      <p:cBhvr>
                                        <p:cTn id="15" dur="500"/>
                                        <p:tgtEl>
                                          <p:spTgt spid="342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20" grpId="0" animBg="1"/>
      <p:bldP spid="342021" grpId="0" animBg="1"/>
      <p:bldP spid="34202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a:extLst>
              <a:ext uri="{FF2B5EF4-FFF2-40B4-BE49-F238E27FC236}">
                <a16:creationId xmlns:a16="http://schemas.microsoft.com/office/drawing/2014/main" id="{E87018A2-BE89-C4DF-B9A6-6092FE906813}"/>
              </a:ext>
            </a:extLst>
          </p:cNvPr>
          <p:cNvSpPr>
            <a:spLocks noGrp="1" noChangeArrowheads="1"/>
          </p:cNvSpPr>
          <p:nvPr>
            <p:ph type="title"/>
          </p:nvPr>
        </p:nvSpPr>
        <p:spPr>
          <a:xfrm>
            <a:off x="433388" y="620713"/>
            <a:ext cx="4498975"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Correlated Subquery</a:t>
            </a:r>
          </a:p>
        </p:txBody>
      </p:sp>
      <p:sp>
        <p:nvSpPr>
          <p:cNvPr id="13317" name="Rectangle 4">
            <a:extLst>
              <a:ext uri="{FF2B5EF4-FFF2-40B4-BE49-F238E27FC236}">
                <a16:creationId xmlns:a16="http://schemas.microsoft.com/office/drawing/2014/main" id="{26B2DF42-B1BE-7B2F-0F40-52E21115856F}"/>
              </a:ext>
            </a:extLst>
          </p:cNvPr>
          <p:cNvSpPr txBox="1">
            <a:spLocks noChangeArrowheads="1"/>
          </p:cNvSpPr>
          <p:nvPr/>
        </p:nvSpPr>
        <p:spPr bwMode="auto">
          <a:xfrm>
            <a:off x="403225" y="1350963"/>
            <a:ext cx="8223250" cy="5115889"/>
          </a:xfrm>
          <a:prstGeom prst="rect">
            <a:avLst/>
          </a:prstGeom>
          <a:noFill/>
          <a:ln>
            <a:noFill/>
          </a:ln>
          <a:effectLst/>
        </p:spPr>
        <p:txBody>
          <a:bodyPr lIns="92075" tIns="46038" rIns="92075" bIns="46038">
            <a:spAutoFit/>
          </a:bodyPr>
          <a:lstStyle>
            <a:lvl1pPr marL="342900" indent="-342900"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spcBef>
                <a:spcPct val="20000"/>
              </a:spcBef>
              <a:buFontTx/>
              <a:buChar char="•"/>
              <a:defRPr/>
            </a:pPr>
            <a:r>
              <a:rPr lang="en-US" dirty="0"/>
              <a:t>A correlated subquery references one or more columns in the outer SQL statement.</a:t>
            </a:r>
          </a:p>
          <a:p>
            <a:pPr algn="just">
              <a:spcBef>
                <a:spcPct val="20000"/>
              </a:spcBef>
              <a:buFontTx/>
              <a:buChar char="•"/>
              <a:defRPr/>
            </a:pPr>
            <a:r>
              <a:rPr lang="en-US" dirty="0"/>
              <a:t>The inner query uses a table alias of outer query.</a:t>
            </a:r>
          </a:p>
          <a:p>
            <a:pPr algn="just">
              <a:spcBef>
                <a:spcPct val="20000"/>
              </a:spcBef>
              <a:buFontTx/>
              <a:buChar char="•"/>
              <a:defRPr/>
            </a:pPr>
            <a:r>
              <a:rPr lang="en-US" dirty="0"/>
              <a:t>Unlike a simple subquery that is executed only once, a correlated subquery is execute for more than once. </a:t>
            </a:r>
          </a:p>
          <a:p>
            <a:pPr algn="just">
              <a:spcBef>
                <a:spcPct val="20000"/>
              </a:spcBef>
              <a:buFontTx/>
              <a:buChar char="•"/>
              <a:defRPr/>
            </a:pPr>
            <a:r>
              <a:rPr lang="en-US" dirty="0"/>
              <a:t>The inner query is evaluated against each row of the outer query. </a:t>
            </a:r>
          </a:p>
          <a:p>
            <a:pPr algn="just">
              <a:spcBef>
                <a:spcPct val="20000"/>
              </a:spcBef>
              <a:buFontTx/>
              <a:buChar char="•"/>
              <a:defRPr/>
            </a:pPr>
            <a:r>
              <a:rPr lang="en-US" dirty="0">
                <a:solidFill>
                  <a:srgbClr val="FF0000"/>
                </a:solidFill>
              </a:rPr>
              <a:t>Top-down or outward-inward parsing</a:t>
            </a:r>
          </a:p>
          <a:p>
            <a:pPr algn="just">
              <a:spcBef>
                <a:spcPct val="20000"/>
              </a:spcBef>
              <a:buFontTx/>
              <a:buChar char="•"/>
              <a:defRPr/>
            </a:pPr>
            <a:r>
              <a:rPr lang="en-US" dirty="0">
                <a:solidFill>
                  <a:schemeClr val="accent6"/>
                </a:solidFill>
              </a:rPr>
              <a:t>SELECT * from DETP WHERE </a:t>
            </a:r>
            <a:r>
              <a:rPr lang="en-US" dirty="0">
                <a:solidFill>
                  <a:srgbClr val="FF0000"/>
                </a:solidFill>
              </a:rPr>
              <a:t>NOT EXISTS</a:t>
            </a:r>
            <a:r>
              <a:rPr lang="en-US" dirty="0">
                <a:solidFill>
                  <a:schemeClr val="accent6"/>
                </a:solidFill>
              </a:rPr>
              <a:t> </a:t>
            </a:r>
          </a:p>
          <a:p>
            <a:pPr marL="0" indent="0" algn="just">
              <a:spcBef>
                <a:spcPct val="20000"/>
              </a:spcBef>
              <a:defRPr/>
            </a:pPr>
            <a:r>
              <a:rPr lang="en-US" dirty="0">
                <a:solidFill>
                  <a:schemeClr val="accent6"/>
                </a:solidFill>
              </a:rPr>
              <a:t>    (SELECT * from EMP  WHERE  </a:t>
            </a:r>
          </a:p>
          <a:p>
            <a:pPr marL="0" indent="0" algn="just">
              <a:spcBef>
                <a:spcPct val="20000"/>
              </a:spcBef>
              <a:defRPr/>
            </a:pPr>
            <a:r>
              <a:rPr lang="en-US" dirty="0">
                <a:solidFill>
                  <a:schemeClr val="accent6"/>
                </a:solidFill>
              </a:rPr>
              <a:t>    </a:t>
            </a:r>
            <a:r>
              <a:rPr lang="en-US" u="sng" dirty="0" err="1">
                <a:solidFill>
                  <a:srgbClr val="FF0000"/>
                </a:solidFill>
              </a:rPr>
              <a:t>emp</a:t>
            </a:r>
            <a:r>
              <a:rPr lang="en-US" dirty="0" err="1">
                <a:solidFill>
                  <a:schemeClr val="accent6"/>
                </a:solidFill>
              </a:rPr>
              <a:t>.deptno</a:t>
            </a:r>
            <a:r>
              <a:rPr lang="en-US" dirty="0">
                <a:solidFill>
                  <a:schemeClr val="accent6"/>
                </a:solidFill>
              </a:rPr>
              <a:t> = </a:t>
            </a:r>
            <a:r>
              <a:rPr lang="en-US" u="sng" dirty="0" err="1">
                <a:solidFill>
                  <a:srgbClr val="FF0000"/>
                </a:solidFill>
              </a:rPr>
              <a:t>dept</a:t>
            </a:r>
            <a:r>
              <a:rPr lang="en-US" dirty="0" err="1">
                <a:solidFill>
                  <a:schemeClr val="accent6"/>
                </a:solidFill>
              </a:rPr>
              <a:t>.deptno</a:t>
            </a:r>
            <a:r>
              <a:rPr lang="en-US" dirty="0">
                <a:solidFill>
                  <a:schemeClr val="accent6"/>
                </a:solidFill>
              </a:rPr>
              <a:t>)</a:t>
            </a:r>
          </a:p>
          <a:p>
            <a:pPr algn="just">
              <a:spcBef>
                <a:spcPct val="20000"/>
              </a:spcBef>
              <a:buFontTx/>
              <a:buChar char="•"/>
              <a:defRPr/>
            </a:pPr>
            <a:endParaRPr lang="en-US" dirty="0"/>
          </a:p>
        </p:txBody>
      </p:sp>
      <p:grpSp>
        <p:nvGrpSpPr>
          <p:cNvPr id="65540" name="Group 1">
            <a:extLst>
              <a:ext uri="{FF2B5EF4-FFF2-40B4-BE49-F238E27FC236}">
                <a16:creationId xmlns:a16="http://schemas.microsoft.com/office/drawing/2014/main" id="{EC082170-7879-8C4C-80CC-912E2CEB5E5B}"/>
              </a:ext>
            </a:extLst>
          </p:cNvPr>
          <p:cNvGrpSpPr>
            <a:grpSpLocks/>
          </p:cNvGrpSpPr>
          <p:nvPr/>
        </p:nvGrpSpPr>
        <p:grpSpPr bwMode="auto">
          <a:xfrm>
            <a:off x="5003800" y="101600"/>
            <a:ext cx="3822700" cy="1038225"/>
            <a:chOff x="1454151" y="1960563"/>
            <a:chExt cx="3822711" cy="1038226"/>
          </a:xfrm>
        </p:grpSpPr>
        <p:sp>
          <p:nvSpPr>
            <p:cNvPr id="65541" name="Rectangle 17">
              <a:extLst>
                <a:ext uri="{FF2B5EF4-FFF2-40B4-BE49-F238E27FC236}">
                  <a16:creationId xmlns:a16="http://schemas.microsoft.com/office/drawing/2014/main" id="{8F3F019A-1F02-0BC7-F13B-4C5C081126CE}"/>
                </a:ext>
              </a:extLst>
            </p:cNvPr>
            <p:cNvSpPr>
              <a:spLocks noChangeArrowheads="1"/>
            </p:cNvSpPr>
            <p:nvPr/>
          </p:nvSpPr>
          <p:spPr bwMode="blackWhite">
            <a:xfrm>
              <a:off x="1477964" y="1962151"/>
              <a:ext cx="1954213" cy="103663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5542" name="Rectangle 18">
              <a:extLst>
                <a:ext uri="{FF2B5EF4-FFF2-40B4-BE49-F238E27FC236}">
                  <a16:creationId xmlns:a16="http://schemas.microsoft.com/office/drawing/2014/main" id="{876B9B15-DF89-439A-9FB5-09176A260B0C}"/>
                </a:ext>
              </a:extLst>
            </p:cNvPr>
            <p:cNvSpPr>
              <a:spLocks noChangeArrowheads="1"/>
            </p:cNvSpPr>
            <p:nvPr/>
          </p:nvSpPr>
          <p:spPr bwMode="auto">
            <a:xfrm>
              <a:off x="1454151" y="1960563"/>
              <a:ext cx="1390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rPr>
                <a:t>Main query</a:t>
              </a:r>
            </a:p>
          </p:txBody>
        </p:sp>
        <p:sp>
          <p:nvSpPr>
            <p:cNvPr id="65543" name="Rectangle 19">
              <a:extLst>
                <a:ext uri="{FF2B5EF4-FFF2-40B4-BE49-F238E27FC236}">
                  <a16:creationId xmlns:a16="http://schemas.microsoft.com/office/drawing/2014/main" id="{170849EB-5C9C-2CA1-EB3D-026229EF482D}"/>
                </a:ext>
              </a:extLst>
            </p:cNvPr>
            <p:cNvSpPr>
              <a:spLocks noChangeArrowheads="1"/>
            </p:cNvSpPr>
            <p:nvPr/>
          </p:nvSpPr>
          <p:spPr bwMode="ltGray">
            <a:xfrm>
              <a:off x="1887539" y="2433638"/>
              <a:ext cx="1535113" cy="550863"/>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5544" name="Rectangle 20">
              <a:extLst>
                <a:ext uri="{FF2B5EF4-FFF2-40B4-BE49-F238E27FC236}">
                  <a16:creationId xmlns:a16="http://schemas.microsoft.com/office/drawing/2014/main" id="{3B8B36CD-9A60-BA2A-9CF1-350E59B11326}"/>
                </a:ext>
              </a:extLst>
            </p:cNvPr>
            <p:cNvSpPr>
              <a:spLocks noChangeArrowheads="1"/>
            </p:cNvSpPr>
            <p:nvPr/>
          </p:nvSpPr>
          <p:spPr bwMode="auto">
            <a:xfrm>
              <a:off x="2035176" y="2543176"/>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rPr>
                <a:t>Subquery</a:t>
              </a:r>
            </a:p>
          </p:txBody>
        </p:sp>
        <p:sp>
          <p:nvSpPr>
            <p:cNvPr id="65545" name="Line 22">
              <a:extLst>
                <a:ext uri="{FF2B5EF4-FFF2-40B4-BE49-F238E27FC236}">
                  <a16:creationId xmlns:a16="http://schemas.microsoft.com/office/drawing/2014/main" id="{31E6B8E9-3473-C89F-720A-71386F802E84}"/>
                </a:ext>
              </a:extLst>
            </p:cNvPr>
            <p:cNvSpPr>
              <a:spLocks noChangeShapeType="1"/>
            </p:cNvSpPr>
            <p:nvPr/>
          </p:nvSpPr>
          <p:spPr bwMode="auto">
            <a:xfrm flipV="1">
              <a:off x="3432176" y="2730500"/>
              <a:ext cx="419100" cy="7938"/>
            </a:xfrm>
            <a:prstGeom prst="line">
              <a:avLst/>
            </a:prstGeom>
            <a:noFill/>
            <a:ln w="50800">
              <a:solidFill>
                <a:srgbClr val="FFCC00"/>
              </a:solidFill>
              <a:round/>
              <a:headEnd type="none" w="sm" len="sm"/>
              <a:tailEnd type="none"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16" name="Rectangle 23">
              <a:extLst>
                <a:ext uri="{FF2B5EF4-FFF2-40B4-BE49-F238E27FC236}">
                  <a16:creationId xmlns:a16="http://schemas.microsoft.com/office/drawing/2014/main" id="{D96C699A-181E-1B2A-F68B-98FBA1C08144}"/>
                </a:ext>
              </a:extLst>
            </p:cNvPr>
            <p:cNvSpPr>
              <a:spLocks noChangeArrowheads="1"/>
            </p:cNvSpPr>
            <p:nvPr/>
          </p:nvSpPr>
          <p:spPr bwMode="auto">
            <a:xfrm>
              <a:off x="3924308" y="2327276"/>
              <a:ext cx="1352554" cy="369887"/>
            </a:xfrm>
            <a:prstGeom prst="rect">
              <a:avLst/>
            </a:prstGeom>
            <a:noFill/>
            <a:ln>
              <a:noFill/>
            </a:ln>
            <a:effectLst/>
          </p:spPr>
          <p:txBody>
            <a:bodyPr wrap="none" lIns="92075" tIns="46038" rIns="92075" bIns="46038">
              <a:spAutoFit/>
            </a:bodyPr>
            <a:lstStyle/>
            <a:p>
              <a:pPr defTabSz="822325">
                <a:spcBef>
                  <a:spcPct val="50000"/>
                </a:spcBef>
                <a:defRPr/>
              </a:pPr>
              <a:r>
                <a:rPr lang="en-US" sz="1800" b="1" dirty="0">
                  <a:effectLst>
                    <a:outerShdw blurRad="38100" dist="38100" dir="2700000" algn="tl">
                      <a:srgbClr val="FFFFFF"/>
                    </a:outerShdw>
                  </a:effectLst>
                </a:rPr>
                <a:t>references</a:t>
              </a:r>
            </a:p>
          </p:txBody>
        </p:sp>
        <p:sp>
          <p:nvSpPr>
            <p:cNvPr id="65547" name="Line 22">
              <a:extLst>
                <a:ext uri="{FF2B5EF4-FFF2-40B4-BE49-F238E27FC236}">
                  <a16:creationId xmlns:a16="http://schemas.microsoft.com/office/drawing/2014/main" id="{D42303CD-46AF-B369-4AFC-794864535B3B}"/>
                </a:ext>
              </a:extLst>
            </p:cNvPr>
            <p:cNvSpPr>
              <a:spLocks noChangeShapeType="1"/>
            </p:cNvSpPr>
            <p:nvPr/>
          </p:nvSpPr>
          <p:spPr bwMode="auto">
            <a:xfrm flipH="1" flipV="1">
              <a:off x="3422650" y="2165347"/>
              <a:ext cx="428625" cy="7939"/>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65548" name="Line 22">
              <a:extLst>
                <a:ext uri="{FF2B5EF4-FFF2-40B4-BE49-F238E27FC236}">
                  <a16:creationId xmlns:a16="http://schemas.microsoft.com/office/drawing/2014/main" id="{283D8D48-D0BF-350B-BAC1-76C131A62D80}"/>
                </a:ext>
              </a:extLst>
            </p:cNvPr>
            <p:cNvSpPr>
              <a:spLocks noChangeShapeType="1"/>
            </p:cNvSpPr>
            <p:nvPr/>
          </p:nvSpPr>
          <p:spPr bwMode="auto">
            <a:xfrm flipV="1">
              <a:off x="3841752" y="2165348"/>
              <a:ext cx="9524" cy="573090"/>
            </a:xfrm>
            <a:prstGeom prst="line">
              <a:avLst/>
            </a:prstGeom>
            <a:noFill/>
            <a:ln w="50800">
              <a:solidFill>
                <a:srgbClr val="FFCC00"/>
              </a:solidFill>
              <a:round/>
              <a:headEnd type="none" w="sm" len="sm"/>
              <a:tailEnd type="none"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a:extLst>
              <a:ext uri="{FF2B5EF4-FFF2-40B4-BE49-F238E27FC236}">
                <a16:creationId xmlns:a16="http://schemas.microsoft.com/office/drawing/2014/main" id="{EFE4AA5D-440A-C890-368A-3EADAEE02018}"/>
              </a:ext>
            </a:extLst>
          </p:cNvPr>
          <p:cNvSpPr>
            <a:spLocks noGrp="1" noChangeArrowheads="1"/>
          </p:cNvSpPr>
          <p:nvPr>
            <p:ph type="title"/>
          </p:nvPr>
        </p:nvSpPr>
        <p:spPr>
          <a:xfrm>
            <a:off x="433388" y="620713"/>
            <a:ext cx="4498975"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Correlated Subquery</a:t>
            </a:r>
          </a:p>
        </p:txBody>
      </p:sp>
      <p:sp>
        <p:nvSpPr>
          <p:cNvPr id="67587" name="Rectangle 4">
            <a:extLst>
              <a:ext uri="{FF2B5EF4-FFF2-40B4-BE49-F238E27FC236}">
                <a16:creationId xmlns:a16="http://schemas.microsoft.com/office/drawing/2014/main" id="{E84C385F-779B-19F0-D72C-E129D9D62CF9}"/>
              </a:ext>
            </a:extLst>
          </p:cNvPr>
          <p:cNvSpPr txBox="1">
            <a:spLocks noChangeArrowheads="1"/>
          </p:cNvSpPr>
          <p:nvPr/>
        </p:nvSpPr>
        <p:spPr bwMode="auto">
          <a:xfrm>
            <a:off x="403225" y="1350963"/>
            <a:ext cx="822325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r>
              <a:rPr lang="en-US" altLang="en-US" sz="2400"/>
              <a:t>Subquery in SELECT clause</a:t>
            </a:r>
          </a:p>
          <a:p>
            <a:pPr algn="just"/>
            <a:endParaRPr lang="en-US" altLang="en-US" sz="2400"/>
          </a:p>
        </p:txBody>
      </p:sp>
      <p:grpSp>
        <p:nvGrpSpPr>
          <p:cNvPr id="67588" name="Group 1">
            <a:extLst>
              <a:ext uri="{FF2B5EF4-FFF2-40B4-BE49-F238E27FC236}">
                <a16:creationId xmlns:a16="http://schemas.microsoft.com/office/drawing/2014/main" id="{F4B0C239-33E9-7EB1-322C-049F95EA3C1B}"/>
              </a:ext>
            </a:extLst>
          </p:cNvPr>
          <p:cNvGrpSpPr>
            <a:grpSpLocks/>
          </p:cNvGrpSpPr>
          <p:nvPr/>
        </p:nvGrpSpPr>
        <p:grpSpPr bwMode="auto">
          <a:xfrm>
            <a:off x="5003800" y="101600"/>
            <a:ext cx="3822700" cy="1038225"/>
            <a:chOff x="1454151" y="1960563"/>
            <a:chExt cx="3822711" cy="1038226"/>
          </a:xfrm>
        </p:grpSpPr>
        <p:sp>
          <p:nvSpPr>
            <p:cNvPr id="67638" name="Rectangle 17">
              <a:extLst>
                <a:ext uri="{FF2B5EF4-FFF2-40B4-BE49-F238E27FC236}">
                  <a16:creationId xmlns:a16="http://schemas.microsoft.com/office/drawing/2014/main" id="{6A54088F-AF5F-119D-6AB8-15E8BDE3BC93}"/>
                </a:ext>
              </a:extLst>
            </p:cNvPr>
            <p:cNvSpPr>
              <a:spLocks noChangeArrowheads="1"/>
            </p:cNvSpPr>
            <p:nvPr/>
          </p:nvSpPr>
          <p:spPr bwMode="blackWhite">
            <a:xfrm>
              <a:off x="1477964" y="1962151"/>
              <a:ext cx="1954213" cy="103663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7639" name="Rectangle 18">
              <a:extLst>
                <a:ext uri="{FF2B5EF4-FFF2-40B4-BE49-F238E27FC236}">
                  <a16:creationId xmlns:a16="http://schemas.microsoft.com/office/drawing/2014/main" id="{3B847ADE-E39B-70E5-C5A2-EB43655AFE36}"/>
                </a:ext>
              </a:extLst>
            </p:cNvPr>
            <p:cNvSpPr>
              <a:spLocks noChangeArrowheads="1"/>
            </p:cNvSpPr>
            <p:nvPr/>
          </p:nvSpPr>
          <p:spPr bwMode="auto">
            <a:xfrm>
              <a:off x="1454151" y="1960563"/>
              <a:ext cx="1390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rPr>
                <a:t>Main query</a:t>
              </a:r>
            </a:p>
          </p:txBody>
        </p:sp>
        <p:sp>
          <p:nvSpPr>
            <p:cNvPr id="67640" name="Rectangle 19">
              <a:extLst>
                <a:ext uri="{FF2B5EF4-FFF2-40B4-BE49-F238E27FC236}">
                  <a16:creationId xmlns:a16="http://schemas.microsoft.com/office/drawing/2014/main" id="{4FEED566-A1B8-B2E3-5F9E-6177C5CE750B}"/>
                </a:ext>
              </a:extLst>
            </p:cNvPr>
            <p:cNvSpPr>
              <a:spLocks noChangeArrowheads="1"/>
            </p:cNvSpPr>
            <p:nvPr/>
          </p:nvSpPr>
          <p:spPr bwMode="ltGray">
            <a:xfrm>
              <a:off x="1887539" y="2433638"/>
              <a:ext cx="1535113" cy="550863"/>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7641" name="Rectangle 20">
              <a:extLst>
                <a:ext uri="{FF2B5EF4-FFF2-40B4-BE49-F238E27FC236}">
                  <a16:creationId xmlns:a16="http://schemas.microsoft.com/office/drawing/2014/main" id="{99089F32-B3E0-4A43-FDAD-DECBD15E32D3}"/>
                </a:ext>
              </a:extLst>
            </p:cNvPr>
            <p:cNvSpPr>
              <a:spLocks noChangeArrowheads="1"/>
            </p:cNvSpPr>
            <p:nvPr/>
          </p:nvSpPr>
          <p:spPr bwMode="auto">
            <a:xfrm>
              <a:off x="2035176" y="2543176"/>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rPr>
                <a:t>Subquery</a:t>
              </a:r>
            </a:p>
          </p:txBody>
        </p:sp>
        <p:sp>
          <p:nvSpPr>
            <p:cNvPr id="67642" name="Line 22">
              <a:extLst>
                <a:ext uri="{FF2B5EF4-FFF2-40B4-BE49-F238E27FC236}">
                  <a16:creationId xmlns:a16="http://schemas.microsoft.com/office/drawing/2014/main" id="{F5BC35BF-67CC-19CC-9AD2-6EA6BACB1E7E}"/>
                </a:ext>
              </a:extLst>
            </p:cNvPr>
            <p:cNvSpPr>
              <a:spLocks noChangeShapeType="1"/>
            </p:cNvSpPr>
            <p:nvPr/>
          </p:nvSpPr>
          <p:spPr bwMode="auto">
            <a:xfrm flipV="1">
              <a:off x="3432176" y="2730500"/>
              <a:ext cx="419100" cy="7938"/>
            </a:xfrm>
            <a:prstGeom prst="line">
              <a:avLst/>
            </a:prstGeom>
            <a:noFill/>
            <a:ln w="50800">
              <a:solidFill>
                <a:srgbClr val="FFCC00"/>
              </a:solidFill>
              <a:round/>
              <a:headEnd type="none" w="sm" len="sm"/>
              <a:tailEnd type="none"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16" name="Rectangle 23">
              <a:extLst>
                <a:ext uri="{FF2B5EF4-FFF2-40B4-BE49-F238E27FC236}">
                  <a16:creationId xmlns:a16="http://schemas.microsoft.com/office/drawing/2014/main" id="{3C87538E-2391-9417-4827-742B68E5659E}"/>
                </a:ext>
              </a:extLst>
            </p:cNvPr>
            <p:cNvSpPr>
              <a:spLocks noChangeArrowheads="1"/>
            </p:cNvSpPr>
            <p:nvPr/>
          </p:nvSpPr>
          <p:spPr bwMode="auto">
            <a:xfrm>
              <a:off x="3924308" y="2327276"/>
              <a:ext cx="1352554" cy="369887"/>
            </a:xfrm>
            <a:prstGeom prst="rect">
              <a:avLst/>
            </a:prstGeom>
            <a:noFill/>
            <a:ln>
              <a:noFill/>
            </a:ln>
            <a:effectLst/>
          </p:spPr>
          <p:txBody>
            <a:bodyPr wrap="none" lIns="92075" tIns="46038" rIns="92075" bIns="46038">
              <a:spAutoFit/>
            </a:bodyPr>
            <a:lstStyle/>
            <a:p>
              <a:pPr defTabSz="822325">
                <a:spcBef>
                  <a:spcPct val="50000"/>
                </a:spcBef>
                <a:defRPr/>
              </a:pPr>
              <a:r>
                <a:rPr lang="en-US" sz="1800" b="1" dirty="0">
                  <a:effectLst>
                    <a:outerShdw blurRad="38100" dist="38100" dir="2700000" algn="tl">
                      <a:srgbClr val="FFFFFF"/>
                    </a:outerShdw>
                  </a:effectLst>
                </a:rPr>
                <a:t>references</a:t>
              </a:r>
            </a:p>
          </p:txBody>
        </p:sp>
        <p:sp>
          <p:nvSpPr>
            <p:cNvPr id="67644" name="Line 22">
              <a:extLst>
                <a:ext uri="{FF2B5EF4-FFF2-40B4-BE49-F238E27FC236}">
                  <a16:creationId xmlns:a16="http://schemas.microsoft.com/office/drawing/2014/main" id="{2F1E02AF-8FE1-8926-FD34-156251E7E6EB}"/>
                </a:ext>
              </a:extLst>
            </p:cNvPr>
            <p:cNvSpPr>
              <a:spLocks noChangeShapeType="1"/>
            </p:cNvSpPr>
            <p:nvPr/>
          </p:nvSpPr>
          <p:spPr bwMode="auto">
            <a:xfrm flipH="1" flipV="1">
              <a:off x="3422650" y="2165347"/>
              <a:ext cx="428625" cy="7939"/>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67645" name="Line 22">
              <a:extLst>
                <a:ext uri="{FF2B5EF4-FFF2-40B4-BE49-F238E27FC236}">
                  <a16:creationId xmlns:a16="http://schemas.microsoft.com/office/drawing/2014/main" id="{ADBB67B1-0300-F5A5-9B99-33BB179E5F03}"/>
                </a:ext>
              </a:extLst>
            </p:cNvPr>
            <p:cNvSpPr>
              <a:spLocks noChangeShapeType="1"/>
            </p:cNvSpPr>
            <p:nvPr/>
          </p:nvSpPr>
          <p:spPr bwMode="auto">
            <a:xfrm flipV="1">
              <a:off x="3841752" y="2165348"/>
              <a:ext cx="9524" cy="573090"/>
            </a:xfrm>
            <a:prstGeom prst="line">
              <a:avLst/>
            </a:prstGeom>
            <a:noFill/>
            <a:ln w="50800">
              <a:solidFill>
                <a:srgbClr val="FFCC00"/>
              </a:solidFill>
              <a:round/>
              <a:headEnd type="none" w="sm" len="sm"/>
              <a:tailEnd type="none"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
        <p:nvSpPr>
          <p:cNvPr id="67589" name="Rectangle 2">
            <a:extLst>
              <a:ext uri="{FF2B5EF4-FFF2-40B4-BE49-F238E27FC236}">
                <a16:creationId xmlns:a16="http://schemas.microsoft.com/office/drawing/2014/main" id="{A9865298-F191-3D2F-8DA8-E303757EE89C}"/>
              </a:ext>
            </a:extLst>
          </p:cNvPr>
          <p:cNvSpPr>
            <a:spLocks noChangeArrowheads="1"/>
          </p:cNvSpPr>
          <p:nvPr/>
        </p:nvSpPr>
        <p:spPr bwMode="blackWhite">
          <a:xfrm>
            <a:off x="588963" y="1973263"/>
            <a:ext cx="7470775" cy="1590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7590" name="Rectangle 10">
            <a:extLst>
              <a:ext uri="{FF2B5EF4-FFF2-40B4-BE49-F238E27FC236}">
                <a16:creationId xmlns:a16="http://schemas.microsoft.com/office/drawing/2014/main" id="{296C3DB3-74AD-AF89-D9A5-5C9C9081F0FB}"/>
              </a:ext>
            </a:extLst>
          </p:cNvPr>
          <p:cNvSpPr>
            <a:spLocks noChangeArrowheads="1"/>
          </p:cNvSpPr>
          <p:nvPr/>
        </p:nvSpPr>
        <p:spPr bwMode="blackWhite">
          <a:xfrm>
            <a:off x="684213" y="1960563"/>
            <a:ext cx="730885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000" b="1" dirty="0">
                <a:solidFill>
                  <a:srgbClr val="000000"/>
                </a:solidFill>
                <a:latin typeface="Courier New" panose="02070309020205020404" pitchFamily="49" charset="0"/>
              </a:rPr>
              <a:t>SELECT </a:t>
            </a:r>
            <a:r>
              <a:rPr lang="en-US" altLang="en-US" sz="2000" b="1" dirty="0" err="1">
                <a:solidFill>
                  <a:srgbClr val="000000"/>
                </a:solidFill>
                <a:latin typeface="Courier New" panose="02070309020205020404" pitchFamily="49" charset="0"/>
              </a:rPr>
              <a:t>ename,job,sal</a:t>
            </a:r>
            <a:r>
              <a:rPr lang="en-US" altLang="en-US" sz="2000" b="1" dirty="0">
                <a:solidFill>
                  <a:srgbClr val="000000"/>
                </a:solidFill>
                <a:latin typeface="Courier New" panose="02070309020205020404" pitchFamily="49" charset="0"/>
              </a:rPr>
              <a:t>,</a:t>
            </a:r>
          </a:p>
          <a:p>
            <a:pPr>
              <a:spcBef>
                <a:spcPct val="0"/>
              </a:spcBef>
              <a:buFontTx/>
              <a:buNone/>
            </a:pPr>
            <a:r>
              <a:rPr lang="en-US" altLang="en-US" sz="2000" b="1" dirty="0">
                <a:solidFill>
                  <a:schemeClr val="accent2"/>
                </a:solidFill>
                <a:latin typeface="Courier New" panose="02070309020205020404" pitchFamily="49" charset="0"/>
              </a:rPr>
              <a:t>(SELECT ROUND(AVG(</a:t>
            </a:r>
            <a:r>
              <a:rPr lang="en-US" altLang="en-US" sz="2000" b="1" dirty="0" err="1">
                <a:solidFill>
                  <a:schemeClr val="accent2"/>
                </a:solidFill>
                <a:latin typeface="Courier New" panose="02070309020205020404" pitchFamily="49" charset="0"/>
              </a:rPr>
              <a:t>sal</a:t>
            </a:r>
            <a:r>
              <a:rPr lang="en-US" altLang="en-US" sz="2000" b="1" dirty="0">
                <a:solidFill>
                  <a:schemeClr val="accent2"/>
                </a:solidFill>
                <a:latin typeface="Courier New" panose="02070309020205020404" pitchFamily="49" charset="0"/>
              </a:rPr>
              <a:t>))from emp e2 </a:t>
            </a:r>
          </a:p>
          <a:p>
            <a:pPr>
              <a:spcBef>
                <a:spcPct val="0"/>
              </a:spcBef>
              <a:buFontTx/>
              <a:buNone/>
            </a:pPr>
            <a:r>
              <a:rPr lang="en-US" altLang="en-US" sz="2000" b="1" dirty="0">
                <a:solidFill>
                  <a:schemeClr val="accent2"/>
                </a:solidFill>
                <a:latin typeface="Courier New" panose="02070309020205020404" pitchFamily="49" charset="0"/>
              </a:rPr>
              <a:t>WHERE e1.job=e2.job)</a:t>
            </a:r>
            <a:r>
              <a:rPr lang="en-US" altLang="en-US" sz="2000" b="1" dirty="0">
                <a:solidFill>
                  <a:srgbClr val="000000"/>
                </a:solidFill>
                <a:latin typeface="Courier New" panose="02070309020205020404" pitchFamily="49" charset="0"/>
              </a:rPr>
              <a:t>"avg-job-</a:t>
            </a:r>
            <a:r>
              <a:rPr lang="en-US" altLang="en-US" sz="2000" b="1" dirty="0" err="1">
                <a:solidFill>
                  <a:srgbClr val="000000"/>
                </a:solidFill>
                <a:latin typeface="Courier New" panose="02070309020205020404" pitchFamily="49" charset="0"/>
              </a:rPr>
              <a:t>sal</a:t>
            </a:r>
            <a:r>
              <a:rPr lang="en-US" altLang="en-US" sz="2000" b="1" dirty="0">
                <a:solidFill>
                  <a:srgbClr val="000000"/>
                </a:solidFill>
                <a:latin typeface="Courier New" panose="02070309020205020404" pitchFamily="49" charset="0"/>
              </a:rPr>
              <a:t>"</a:t>
            </a:r>
          </a:p>
          <a:p>
            <a:pPr>
              <a:spcBef>
                <a:spcPct val="0"/>
              </a:spcBef>
              <a:buFontTx/>
              <a:buNone/>
            </a:pPr>
            <a:r>
              <a:rPr lang="en-US" altLang="en-US" sz="2000" b="1" dirty="0">
                <a:solidFill>
                  <a:srgbClr val="000000"/>
                </a:solidFill>
                <a:latin typeface="Courier New" panose="02070309020205020404" pitchFamily="49" charset="0"/>
              </a:rPr>
              <a:t>FROM emp e1</a:t>
            </a:r>
          </a:p>
        </p:txBody>
      </p:sp>
      <p:graphicFrame>
        <p:nvGraphicFramePr>
          <p:cNvPr id="4" name="Table 3">
            <a:extLst>
              <a:ext uri="{FF2B5EF4-FFF2-40B4-BE49-F238E27FC236}">
                <a16:creationId xmlns:a16="http://schemas.microsoft.com/office/drawing/2014/main" id="{7F282DB5-2A39-B66B-C824-8F75159099D4}"/>
              </a:ext>
            </a:extLst>
          </p:cNvPr>
          <p:cNvGraphicFramePr>
            <a:graphicFrameLocks noGrp="1"/>
          </p:cNvGraphicFramePr>
          <p:nvPr/>
        </p:nvGraphicFramePr>
        <p:xfrm>
          <a:off x="1374775" y="3775075"/>
          <a:ext cx="5927724" cy="2606675"/>
        </p:xfrm>
        <a:graphic>
          <a:graphicData uri="http://schemas.openxmlformats.org/drawingml/2006/table">
            <a:tbl>
              <a:tblPr/>
              <a:tblGrid>
                <a:gridCol w="1481931">
                  <a:extLst>
                    <a:ext uri="{9D8B030D-6E8A-4147-A177-3AD203B41FA5}">
                      <a16:colId xmlns:a16="http://schemas.microsoft.com/office/drawing/2014/main" val="20000"/>
                    </a:ext>
                  </a:extLst>
                </a:gridCol>
                <a:gridCol w="1481931">
                  <a:extLst>
                    <a:ext uri="{9D8B030D-6E8A-4147-A177-3AD203B41FA5}">
                      <a16:colId xmlns:a16="http://schemas.microsoft.com/office/drawing/2014/main" val="20001"/>
                    </a:ext>
                  </a:extLst>
                </a:gridCol>
                <a:gridCol w="1481931">
                  <a:extLst>
                    <a:ext uri="{9D8B030D-6E8A-4147-A177-3AD203B41FA5}">
                      <a16:colId xmlns:a16="http://schemas.microsoft.com/office/drawing/2014/main" val="20002"/>
                    </a:ext>
                  </a:extLst>
                </a:gridCol>
                <a:gridCol w="1481931">
                  <a:extLst>
                    <a:ext uri="{9D8B030D-6E8A-4147-A177-3AD203B41FA5}">
                      <a16:colId xmlns:a16="http://schemas.microsoft.com/office/drawing/2014/main" val="20003"/>
                    </a:ext>
                  </a:extLst>
                </a:gridCol>
              </a:tblGrid>
              <a:tr h="365849">
                <a:tc>
                  <a:txBody>
                    <a:bodyPr/>
                    <a:lstStyle/>
                    <a:p>
                      <a:pPr fontAlgn="b"/>
                      <a:r>
                        <a:rPr lang="en-US" sz="1800" b="1">
                          <a:solidFill>
                            <a:srgbClr val="FFFFFF"/>
                          </a:solidFill>
                          <a:effectLst/>
                        </a:rPr>
                        <a:t>ENAME</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JOB</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SAL</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avg-job-sal</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118">
                <a:tc>
                  <a:txBody>
                    <a:bodyPr/>
                    <a:lstStyle/>
                    <a:p>
                      <a:r>
                        <a:rPr lang="en-US" sz="1800">
                          <a:effectLst/>
                        </a:rPr>
                        <a:t>KING</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PRESIDENT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5000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5000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320118">
                <a:tc>
                  <a:txBody>
                    <a:bodyPr/>
                    <a:lstStyle/>
                    <a:p>
                      <a:r>
                        <a:rPr lang="en-US" sz="1800">
                          <a:effectLst/>
                        </a:rPr>
                        <a:t>BLAKE</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2850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320118">
                <a:tc>
                  <a:txBody>
                    <a:bodyPr/>
                    <a:lstStyle/>
                    <a:p>
                      <a:r>
                        <a:rPr lang="en-US" sz="1800">
                          <a:effectLst/>
                        </a:rPr>
                        <a:t>CLARK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2450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320118">
                <a:tc>
                  <a:txBody>
                    <a:bodyPr/>
                    <a:lstStyle/>
                    <a:p>
                      <a:r>
                        <a:rPr lang="en-US" sz="1800">
                          <a:effectLst/>
                        </a:rPr>
                        <a:t>JONES</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2975</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320118">
                <a:tc>
                  <a:txBody>
                    <a:bodyPr/>
                    <a:lstStyle/>
                    <a:p>
                      <a:r>
                        <a:rPr lang="en-US" sz="1800">
                          <a:effectLst/>
                        </a:rPr>
                        <a:t>SCOTT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ANALYST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320118">
                <a:tc>
                  <a:txBody>
                    <a:bodyPr/>
                    <a:lstStyle/>
                    <a:p>
                      <a:r>
                        <a:rPr lang="en-US" sz="1800">
                          <a:effectLst/>
                        </a:rPr>
                        <a:t>FORD</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ANALYST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320118">
                <a:tc>
                  <a:txBody>
                    <a:bodyPr/>
                    <a:lstStyle/>
                    <a:p>
                      <a:r>
                        <a:rPr lang="en-US" sz="1800">
                          <a:effectLst/>
                        </a:rPr>
                        <a:t>SMITH</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a:effectLst/>
                        </a:rPr>
                        <a:t>CLERK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a:effectLst/>
                        </a:rPr>
                        <a:t>800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dirty="0">
                          <a:effectLst/>
                        </a:rPr>
                        <a:t>1038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bl>
          </a:graphicData>
        </a:graphic>
      </p:graphicFrame>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a:extLst>
              <a:ext uri="{FF2B5EF4-FFF2-40B4-BE49-F238E27FC236}">
                <a16:creationId xmlns:a16="http://schemas.microsoft.com/office/drawing/2014/main" id="{41F8C815-D5D1-3AC9-1CC5-A0BE9DB1AF7D}"/>
              </a:ext>
            </a:extLst>
          </p:cNvPr>
          <p:cNvSpPr>
            <a:spLocks noGrp="1" noChangeArrowheads="1"/>
          </p:cNvSpPr>
          <p:nvPr>
            <p:ph type="title"/>
          </p:nvPr>
        </p:nvSpPr>
        <p:spPr>
          <a:xfrm>
            <a:off x="433388" y="620713"/>
            <a:ext cx="4498975"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Correlated Subquery</a:t>
            </a:r>
          </a:p>
        </p:txBody>
      </p:sp>
      <p:sp>
        <p:nvSpPr>
          <p:cNvPr id="69635" name="Rectangle 4">
            <a:extLst>
              <a:ext uri="{FF2B5EF4-FFF2-40B4-BE49-F238E27FC236}">
                <a16:creationId xmlns:a16="http://schemas.microsoft.com/office/drawing/2014/main" id="{6E0E9742-7FE2-8259-DB1D-123E21C91E6D}"/>
              </a:ext>
            </a:extLst>
          </p:cNvPr>
          <p:cNvSpPr txBox="1">
            <a:spLocks noChangeArrowheads="1"/>
          </p:cNvSpPr>
          <p:nvPr/>
        </p:nvSpPr>
        <p:spPr bwMode="auto">
          <a:xfrm>
            <a:off x="403225" y="1350963"/>
            <a:ext cx="8223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r>
              <a:rPr lang="en-US" altLang="en-US" sz="2400"/>
              <a:t>Subquery in FROM clause </a:t>
            </a:r>
            <a:r>
              <a:rPr lang="en-US" altLang="en-US" sz="2400">
                <a:solidFill>
                  <a:srgbClr val="FF0000"/>
                </a:solidFill>
              </a:rPr>
              <a:t>(inline views)</a:t>
            </a:r>
          </a:p>
        </p:txBody>
      </p:sp>
      <p:grpSp>
        <p:nvGrpSpPr>
          <p:cNvPr id="69636" name="Group 1">
            <a:extLst>
              <a:ext uri="{FF2B5EF4-FFF2-40B4-BE49-F238E27FC236}">
                <a16:creationId xmlns:a16="http://schemas.microsoft.com/office/drawing/2014/main" id="{37A66C7B-59BA-17C2-409F-B3687545D022}"/>
              </a:ext>
            </a:extLst>
          </p:cNvPr>
          <p:cNvGrpSpPr>
            <a:grpSpLocks/>
          </p:cNvGrpSpPr>
          <p:nvPr/>
        </p:nvGrpSpPr>
        <p:grpSpPr bwMode="auto">
          <a:xfrm>
            <a:off x="5003800" y="101600"/>
            <a:ext cx="3822700" cy="1038225"/>
            <a:chOff x="1454151" y="1960563"/>
            <a:chExt cx="3822711" cy="1038226"/>
          </a:xfrm>
        </p:grpSpPr>
        <p:sp>
          <p:nvSpPr>
            <p:cNvPr id="69686" name="Rectangle 17">
              <a:extLst>
                <a:ext uri="{FF2B5EF4-FFF2-40B4-BE49-F238E27FC236}">
                  <a16:creationId xmlns:a16="http://schemas.microsoft.com/office/drawing/2014/main" id="{C486A11A-C28C-9079-893A-2D7DB57615F7}"/>
                </a:ext>
              </a:extLst>
            </p:cNvPr>
            <p:cNvSpPr>
              <a:spLocks noChangeArrowheads="1"/>
            </p:cNvSpPr>
            <p:nvPr/>
          </p:nvSpPr>
          <p:spPr bwMode="blackWhite">
            <a:xfrm>
              <a:off x="1477964" y="1962151"/>
              <a:ext cx="1954213" cy="103663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9687" name="Rectangle 18">
              <a:extLst>
                <a:ext uri="{FF2B5EF4-FFF2-40B4-BE49-F238E27FC236}">
                  <a16:creationId xmlns:a16="http://schemas.microsoft.com/office/drawing/2014/main" id="{EDF448C6-0821-357A-BD22-929AD0E3A1AE}"/>
                </a:ext>
              </a:extLst>
            </p:cNvPr>
            <p:cNvSpPr>
              <a:spLocks noChangeArrowheads="1"/>
            </p:cNvSpPr>
            <p:nvPr/>
          </p:nvSpPr>
          <p:spPr bwMode="auto">
            <a:xfrm>
              <a:off x="1454151" y="1960563"/>
              <a:ext cx="1390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rPr>
                <a:t>Main query</a:t>
              </a:r>
            </a:p>
          </p:txBody>
        </p:sp>
        <p:sp>
          <p:nvSpPr>
            <p:cNvPr id="69688" name="Rectangle 19">
              <a:extLst>
                <a:ext uri="{FF2B5EF4-FFF2-40B4-BE49-F238E27FC236}">
                  <a16:creationId xmlns:a16="http://schemas.microsoft.com/office/drawing/2014/main" id="{0277D2D1-6A75-3AFD-2D4B-8E36A91FDD9C}"/>
                </a:ext>
              </a:extLst>
            </p:cNvPr>
            <p:cNvSpPr>
              <a:spLocks noChangeArrowheads="1"/>
            </p:cNvSpPr>
            <p:nvPr/>
          </p:nvSpPr>
          <p:spPr bwMode="ltGray">
            <a:xfrm>
              <a:off x="1887539" y="2433638"/>
              <a:ext cx="1535113" cy="550863"/>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9689" name="Rectangle 20">
              <a:extLst>
                <a:ext uri="{FF2B5EF4-FFF2-40B4-BE49-F238E27FC236}">
                  <a16:creationId xmlns:a16="http://schemas.microsoft.com/office/drawing/2014/main" id="{EF8C1C43-D878-CB0F-A597-A0FF0EAB18E7}"/>
                </a:ext>
              </a:extLst>
            </p:cNvPr>
            <p:cNvSpPr>
              <a:spLocks noChangeArrowheads="1"/>
            </p:cNvSpPr>
            <p:nvPr/>
          </p:nvSpPr>
          <p:spPr bwMode="auto">
            <a:xfrm>
              <a:off x="2035176" y="2543176"/>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rPr>
                <a:t>Subquery</a:t>
              </a:r>
            </a:p>
          </p:txBody>
        </p:sp>
        <p:sp>
          <p:nvSpPr>
            <p:cNvPr id="69690" name="Line 22">
              <a:extLst>
                <a:ext uri="{FF2B5EF4-FFF2-40B4-BE49-F238E27FC236}">
                  <a16:creationId xmlns:a16="http://schemas.microsoft.com/office/drawing/2014/main" id="{029F4CFB-D562-407F-C5FF-466FCB22C433}"/>
                </a:ext>
              </a:extLst>
            </p:cNvPr>
            <p:cNvSpPr>
              <a:spLocks noChangeShapeType="1"/>
            </p:cNvSpPr>
            <p:nvPr/>
          </p:nvSpPr>
          <p:spPr bwMode="auto">
            <a:xfrm flipV="1">
              <a:off x="3432176" y="2730500"/>
              <a:ext cx="419100" cy="7938"/>
            </a:xfrm>
            <a:prstGeom prst="line">
              <a:avLst/>
            </a:prstGeom>
            <a:noFill/>
            <a:ln w="50800">
              <a:solidFill>
                <a:srgbClr val="FFCC00"/>
              </a:solidFill>
              <a:round/>
              <a:headEnd type="none" w="sm" len="sm"/>
              <a:tailEnd type="none"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16" name="Rectangle 23">
              <a:extLst>
                <a:ext uri="{FF2B5EF4-FFF2-40B4-BE49-F238E27FC236}">
                  <a16:creationId xmlns:a16="http://schemas.microsoft.com/office/drawing/2014/main" id="{B3C16329-AC75-8850-0A46-8B5E3B09B471}"/>
                </a:ext>
              </a:extLst>
            </p:cNvPr>
            <p:cNvSpPr>
              <a:spLocks noChangeArrowheads="1"/>
            </p:cNvSpPr>
            <p:nvPr/>
          </p:nvSpPr>
          <p:spPr bwMode="auto">
            <a:xfrm>
              <a:off x="3924308" y="2327276"/>
              <a:ext cx="1352554" cy="369887"/>
            </a:xfrm>
            <a:prstGeom prst="rect">
              <a:avLst/>
            </a:prstGeom>
            <a:noFill/>
            <a:ln>
              <a:noFill/>
            </a:ln>
            <a:effectLst/>
          </p:spPr>
          <p:txBody>
            <a:bodyPr wrap="none" lIns="92075" tIns="46038" rIns="92075" bIns="46038">
              <a:spAutoFit/>
            </a:bodyPr>
            <a:lstStyle/>
            <a:p>
              <a:pPr defTabSz="822325">
                <a:spcBef>
                  <a:spcPct val="50000"/>
                </a:spcBef>
                <a:defRPr/>
              </a:pPr>
              <a:r>
                <a:rPr lang="en-US" sz="1800" b="1" dirty="0">
                  <a:effectLst>
                    <a:outerShdw blurRad="38100" dist="38100" dir="2700000" algn="tl">
                      <a:srgbClr val="FFFFFF"/>
                    </a:outerShdw>
                  </a:effectLst>
                </a:rPr>
                <a:t>references</a:t>
              </a:r>
            </a:p>
          </p:txBody>
        </p:sp>
        <p:sp>
          <p:nvSpPr>
            <p:cNvPr id="69692" name="Line 22">
              <a:extLst>
                <a:ext uri="{FF2B5EF4-FFF2-40B4-BE49-F238E27FC236}">
                  <a16:creationId xmlns:a16="http://schemas.microsoft.com/office/drawing/2014/main" id="{F1894C5F-E3E3-B38D-3630-D2BF0D921CE6}"/>
                </a:ext>
              </a:extLst>
            </p:cNvPr>
            <p:cNvSpPr>
              <a:spLocks noChangeShapeType="1"/>
            </p:cNvSpPr>
            <p:nvPr/>
          </p:nvSpPr>
          <p:spPr bwMode="auto">
            <a:xfrm flipH="1" flipV="1">
              <a:off x="3422650" y="2165347"/>
              <a:ext cx="428625" cy="7939"/>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69693" name="Line 22">
              <a:extLst>
                <a:ext uri="{FF2B5EF4-FFF2-40B4-BE49-F238E27FC236}">
                  <a16:creationId xmlns:a16="http://schemas.microsoft.com/office/drawing/2014/main" id="{4A50E56E-D845-95CC-ABB8-55ACCCBE3949}"/>
                </a:ext>
              </a:extLst>
            </p:cNvPr>
            <p:cNvSpPr>
              <a:spLocks noChangeShapeType="1"/>
            </p:cNvSpPr>
            <p:nvPr/>
          </p:nvSpPr>
          <p:spPr bwMode="auto">
            <a:xfrm flipV="1">
              <a:off x="3841752" y="2165348"/>
              <a:ext cx="9524" cy="573090"/>
            </a:xfrm>
            <a:prstGeom prst="line">
              <a:avLst/>
            </a:prstGeom>
            <a:noFill/>
            <a:ln w="50800">
              <a:solidFill>
                <a:srgbClr val="FFCC00"/>
              </a:solidFill>
              <a:round/>
              <a:headEnd type="none" w="sm" len="sm"/>
              <a:tailEnd type="none"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
        <p:nvSpPr>
          <p:cNvPr id="69637" name="Rectangle 2">
            <a:extLst>
              <a:ext uri="{FF2B5EF4-FFF2-40B4-BE49-F238E27FC236}">
                <a16:creationId xmlns:a16="http://schemas.microsoft.com/office/drawing/2014/main" id="{EF4E7DFD-F7D4-C865-19CF-E4CE305DE990}"/>
              </a:ext>
            </a:extLst>
          </p:cNvPr>
          <p:cNvSpPr>
            <a:spLocks noChangeArrowheads="1"/>
          </p:cNvSpPr>
          <p:nvPr/>
        </p:nvSpPr>
        <p:spPr bwMode="blackWhite">
          <a:xfrm>
            <a:off x="588963" y="1973263"/>
            <a:ext cx="7470775" cy="1590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9638" name="Rectangle 10">
            <a:extLst>
              <a:ext uri="{FF2B5EF4-FFF2-40B4-BE49-F238E27FC236}">
                <a16:creationId xmlns:a16="http://schemas.microsoft.com/office/drawing/2014/main" id="{E3C9C708-59EF-1CD8-C859-B2B4F068EB5D}"/>
              </a:ext>
            </a:extLst>
          </p:cNvPr>
          <p:cNvSpPr>
            <a:spLocks noChangeArrowheads="1"/>
          </p:cNvSpPr>
          <p:nvPr/>
        </p:nvSpPr>
        <p:spPr bwMode="blackWhite">
          <a:xfrm>
            <a:off x="684213" y="1960563"/>
            <a:ext cx="730885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000" b="1" dirty="0">
                <a:solidFill>
                  <a:srgbClr val="000000"/>
                </a:solidFill>
                <a:latin typeface="Courier New" panose="02070309020205020404" pitchFamily="49" charset="0"/>
              </a:rPr>
              <a:t>SELECT  e1.ename, e1.job, e1.sal, e2.salavg</a:t>
            </a:r>
          </a:p>
          <a:p>
            <a:pPr>
              <a:spcBef>
                <a:spcPct val="0"/>
              </a:spcBef>
              <a:buFontTx/>
              <a:buNone/>
            </a:pPr>
            <a:r>
              <a:rPr lang="en-US" altLang="en-US" sz="2000" b="1" dirty="0">
                <a:solidFill>
                  <a:srgbClr val="000000"/>
                </a:solidFill>
                <a:latin typeface="Courier New" panose="02070309020205020404" pitchFamily="49" charset="0"/>
              </a:rPr>
              <a:t>FROM    emp e1, </a:t>
            </a:r>
          </a:p>
          <a:p>
            <a:pPr>
              <a:spcBef>
                <a:spcPct val="0"/>
              </a:spcBef>
              <a:buFontTx/>
              <a:buNone/>
            </a:pPr>
            <a:r>
              <a:rPr lang="en-US" altLang="en-US" sz="2000" b="1" dirty="0">
                <a:solidFill>
                  <a:srgbClr val="000000"/>
                </a:solidFill>
                <a:latin typeface="Courier New" panose="02070309020205020404" pitchFamily="49" charset="0"/>
              </a:rPr>
              <a:t>(SELECT   job, round(avg(</a:t>
            </a:r>
            <a:r>
              <a:rPr lang="en-US" altLang="en-US" sz="2000" b="1" dirty="0" err="1">
                <a:solidFill>
                  <a:srgbClr val="000000"/>
                </a:solidFill>
                <a:latin typeface="Courier New" panose="02070309020205020404" pitchFamily="49" charset="0"/>
              </a:rPr>
              <a:t>sal</a:t>
            </a: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salavg</a:t>
            </a:r>
            <a:endParaRPr lang="en-US" altLang="en-US" sz="2000" b="1" dirty="0">
              <a:solidFill>
                <a:srgbClr val="000000"/>
              </a:solidFill>
              <a:latin typeface="Courier New" panose="02070309020205020404" pitchFamily="49" charset="0"/>
            </a:endParaRPr>
          </a:p>
          <a:p>
            <a:pPr>
              <a:spcBef>
                <a:spcPct val="0"/>
              </a:spcBef>
              <a:buFontTx/>
              <a:buNone/>
            </a:pPr>
            <a:r>
              <a:rPr lang="en-US" altLang="en-US" sz="2000" b="1" dirty="0">
                <a:solidFill>
                  <a:srgbClr val="000000"/>
                </a:solidFill>
                <a:latin typeface="Courier New" panose="02070309020205020404" pitchFamily="49" charset="0"/>
              </a:rPr>
              <a:t>FROM     emp GROUP BY job) e2</a:t>
            </a:r>
          </a:p>
          <a:p>
            <a:pPr>
              <a:spcBef>
                <a:spcPct val="0"/>
              </a:spcBef>
              <a:buFontTx/>
              <a:buNone/>
            </a:pPr>
            <a:r>
              <a:rPr lang="en-US" altLang="en-US" sz="2000" b="1" dirty="0">
                <a:solidFill>
                  <a:srgbClr val="000000"/>
                </a:solidFill>
                <a:latin typeface="Courier New" panose="02070309020205020404" pitchFamily="49" charset="0"/>
              </a:rPr>
              <a:t>WHERE   e1.job = e2.job</a:t>
            </a:r>
          </a:p>
        </p:txBody>
      </p:sp>
      <p:graphicFrame>
        <p:nvGraphicFramePr>
          <p:cNvPr id="4" name="Table 3">
            <a:extLst>
              <a:ext uri="{FF2B5EF4-FFF2-40B4-BE49-F238E27FC236}">
                <a16:creationId xmlns:a16="http://schemas.microsoft.com/office/drawing/2014/main" id="{9BA78658-61A7-9FD1-1DAC-D690BB40639E}"/>
              </a:ext>
            </a:extLst>
          </p:cNvPr>
          <p:cNvGraphicFramePr>
            <a:graphicFrameLocks noGrp="1"/>
          </p:cNvGraphicFramePr>
          <p:nvPr/>
        </p:nvGraphicFramePr>
        <p:xfrm>
          <a:off x="1374775" y="3775075"/>
          <a:ext cx="5927724" cy="2606675"/>
        </p:xfrm>
        <a:graphic>
          <a:graphicData uri="http://schemas.openxmlformats.org/drawingml/2006/table">
            <a:tbl>
              <a:tblPr/>
              <a:tblGrid>
                <a:gridCol w="1481931">
                  <a:extLst>
                    <a:ext uri="{9D8B030D-6E8A-4147-A177-3AD203B41FA5}">
                      <a16:colId xmlns:a16="http://schemas.microsoft.com/office/drawing/2014/main" val="20000"/>
                    </a:ext>
                  </a:extLst>
                </a:gridCol>
                <a:gridCol w="1481931">
                  <a:extLst>
                    <a:ext uri="{9D8B030D-6E8A-4147-A177-3AD203B41FA5}">
                      <a16:colId xmlns:a16="http://schemas.microsoft.com/office/drawing/2014/main" val="20001"/>
                    </a:ext>
                  </a:extLst>
                </a:gridCol>
                <a:gridCol w="1481931">
                  <a:extLst>
                    <a:ext uri="{9D8B030D-6E8A-4147-A177-3AD203B41FA5}">
                      <a16:colId xmlns:a16="http://schemas.microsoft.com/office/drawing/2014/main" val="20002"/>
                    </a:ext>
                  </a:extLst>
                </a:gridCol>
                <a:gridCol w="1481931">
                  <a:extLst>
                    <a:ext uri="{9D8B030D-6E8A-4147-A177-3AD203B41FA5}">
                      <a16:colId xmlns:a16="http://schemas.microsoft.com/office/drawing/2014/main" val="20003"/>
                    </a:ext>
                  </a:extLst>
                </a:gridCol>
              </a:tblGrid>
              <a:tr h="365849">
                <a:tc>
                  <a:txBody>
                    <a:bodyPr/>
                    <a:lstStyle/>
                    <a:p>
                      <a:pPr fontAlgn="b"/>
                      <a:r>
                        <a:rPr lang="en-US" sz="1800" b="1">
                          <a:solidFill>
                            <a:srgbClr val="FFFFFF"/>
                          </a:solidFill>
                          <a:effectLst/>
                        </a:rPr>
                        <a:t>ENAME</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JOB</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SAL</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avg-job-sal</a:t>
                      </a:r>
                    </a:p>
                  </a:txBody>
                  <a:tcPr marL="68578" marR="68578"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118">
                <a:tc>
                  <a:txBody>
                    <a:bodyPr/>
                    <a:lstStyle/>
                    <a:p>
                      <a:r>
                        <a:rPr lang="en-US" sz="1800">
                          <a:effectLst/>
                        </a:rPr>
                        <a:t>KING</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PRESIDENT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5000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5000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320118">
                <a:tc>
                  <a:txBody>
                    <a:bodyPr/>
                    <a:lstStyle/>
                    <a:p>
                      <a:r>
                        <a:rPr lang="en-US" sz="1800">
                          <a:effectLst/>
                        </a:rPr>
                        <a:t>BLAKE</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2850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320118">
                <a:tc>
                  <a:txBody>
                    <a:bodyPr/>
                    <a:lstStyle/>
                    <a:p>
                      <a:r>
                        <a:rPr lang="en-US" sz="1800">
                          <a:effectLst/>
                        </a:rPr>
                        <a:t>CLARK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2450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320118">
                <a:tc>
                  <a:txBody>
                    <a:bodyPr/>
                    <a:lstStyle/>
                    <a:p>
                      <a:r>
                        <a:rPr lang="en-US" sz="1800">
                          <a:effectLst/>
                        </a:rPr>
                        <a:t>JONES</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MANAGER</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2975</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2758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320118">
                <a:tc>
                  <a:txBody>
                    <a:bodyPr/>
                    <a:lstStyle/>
                    <a:p>
                      <a:r>
                        <a:rPr lang="en-US" sz="1800">
                          <a:effectLst/>
                        </a:rPr>
                        <a:t>SCOTT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ANALYST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320118">
                <a:tc>
                  <a:txBody>
                    <a:bodyPr/>
                    <a:lstStyle/>
                    <a:p>
                      <a:r>
                        <a:rPr lang="en-US" sz="1800">
                          <a:effectLst/>
                        </a:rPr>
                        <a:t>FORD</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ANALYST</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800">
                          <a:effectLst/>
                        </a:rPr>
                        <a:t>3000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320118">
                <a:tc>
                  <a:txBody>
                    <a:bodyPr/>
                    <a:lstStyle/>
                    <a:p>
                      <a:r>
                        <a:rPr lang="en-US" sz="1800">
                          <a:effectLst/>
                        </a:rPr>
                        <a:t>SMITH</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a:effectLst/>
                        </a:rPr>
                        <a:t>CLERK</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a:effectLst/>
                        </a:rPr>
                        <a:t>800</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800" dirty="0">
                          <a:effectLst/>
                        </a:rPr>
                        <a:t>1038</a:t>
                      </a:r>
                    </a:p>
                  </a:txBody>
                  <a:tcPr marL="68578" marR="68578" marT="22866" marB="228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bl>
          </a:graphicData>
        </a:graphic>
      </p:graphicFrame>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CD489DAE-CE32-115E-390E-060529979139}"/>
              </a:ext>
            </a:extLst>
          </p:cNvPr>
          <p:cNvSpPr>
            <a:spLocks noChangeArrowheads="1"/>
          </p:cNvSpPr>
          <p:nvPr/>
        </p:nvSpPr>
        <p:spPr bwMode="blackWhite">
          <a:xfrm>
            <a:off x="935038" y="1689100"/>
            <a:ext cx="7491412" cy="19748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71683" name="Rectangle 3">
            <a:extLst>
              <a:ext uri="{FF2B5EF4-FFF2-40B4-BE49-F238E27FC236}">
                <a16:creationId xmlns:a16="http://schemas.microsoft.com/office/drawing/2014/main" id="{DBA1E2B8-A161-3398-2AF0-CAE6F4CC0186}"/>
              </a:ext>
            </a:extLst>
          </p:cNvPr>
          <p:cNvSpPr>
            <a:spLocks noChangeArrowheads="1"/>
          </p:cNvSpPr>
          <p:nvPr/>
        </p:nvSpPr>
        <p:spPr bwMode="auto">
          <a:xfrm>
            <a:off x="3752850" y="2049463"/>
            <a:ext cx="4591050" cy="884237"/>
          </a:xfrm>
          <a:prstGeom prst="rect">
            <a:avLst/>
          </a:prstGeom>
          <a:gradFill rotWithShape="0">
            <a:gsLst>
              <a:gs pos="0">
                <a:srgbClr val="FF9966"/>
              </a:gs>
              <a:gs pos="100000">
                <a:srgbClr val="FF996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71684" name="Rectangle 4">
            <a:extLst>
              <a:ext uri="{FF2B5EF4-FFF2-40B4-BE49-F238E27FC236}">
                <a16:creationId xmlns:a16="http://schemas.microsoft.com/office/drawing/2014/main" id="{B964E590-548C-BB2C-F4D8-DD8E3F14DBCF}"/>
              </a:ext>
            </a:extLst>
          </p:cNvPr>
          <p:cNvSpPr>
            <a:spLocks noGrp="1" noChangeArrowheads="1"/>
          </p:cNvSpPr>
          <p:nvPr>
            <p:ph type="title"/>
          </p:nvPr>
        </p:nvSpPr>
        <p:spPr>
          <a:xfrm>
            <a:off x="368300" y="188913"/>
            <a:ext cx="3556000" cy="881062"/>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Using a Subquery </a:t>
            </a:r>
            <a:br>
              <a:rPr lang="en-US" altLang="en-US" sz="2800">
                <a:solidFill>
                  <a:srgbClr val="800000"/>
                </a:solidFill>
              </a:rPr>
            </a:br>
            <a:r>
              <a:rPr lang="en-US" altLang="en-US" sz="2800">
                <a:solidFill>
                  <a:srgbClr val="800000"/>
                </a:solidFill>
              </a:rPr>
              <a:t>in the FROM Clause</a:t>
            </a:r>
          </a:p>
        </p:txBody>
      </p:sp>
      <p:sp>
        <p:nvSpPr>
          <p:cNvPr id="71685" name="Rectangle 5">
            <a:extLst>
              <a:ext uri="{FF2B5EF4-FFF2-40B4-BE49-F238E27FC236}">
                <a16:creationId xmlns:a16="http://schemas.microsoft.com/office/drawing/2014/main" id="{43D7C560-5C57-F0DD-70B5-1C42C12BC1D0}"/>
              </a:ext>
            </a:extLst>
          </p:cNvPr>
          <p:cNvSpPr>
            <a:spLocks noChangeArrowheads="1"/>
          </p:cNvSpPr>
          <p:nvPr/>
        </p:nvSpPr>
        <p:spPr bwMode="blackWhite">
          <a:xfrm>
            <a:off x="935038" y="3875088"/>
            <a:ext cx="7491412" cy="2055812"/>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            SAL    DEPTNO     SALAVG</a:t>
            </a:r>
          </a:p>
          <a:p>
            <a:pPr>
              <a:spcBef>
                <a:spcPct val="0"/>
              </a:spcBef>
              <a:buFontTx/>
              <a:buNone/>
            </a:pPr>
            <a:r>
              <a:rPr lang="en-US" altLang="en-US" sz="1800" b="1">
                <a:solidFill>
                  <a:srgbClr val="000000"/>
                </a:solidFill>
                <a:latin typeface="Courier New" panose="02070309020205020404" pitchFamily="49" charset="0"/>
              </a:rPr>
              <a:t>---------- --------- --------- ----------</a:t>
            </a:r>
          </a:p>
          <a:p>
            <a:pPr>
              <a:spcBef>
                <a:spcPct val="0"/>
              </a:spcBef>
              <a:buFontTx/>
              <a:buNone/>
            </a:pPr>
            <a:r>
              <a:rPr lang="en-US" altLang="en-US" sz="1800" b="1">
                <a:solidFill>
                  <a:srgbClr val="000000"/>
                </a:solidFill>
                <a:latin typeface="Courier New" panose="02070309020205020404" pitchFamily="49" charset="0"/>
              </a:rPr>
              <a:t>KING            5000        10  2916.6667</a:t>
            </a:r>
          </a:p>
          <a:p>
            <a:pPr>
              <a:spcBef>
                <a:spcPct val="0"/>
              </a:spcBef>
              <a:buFontTx/>
              <a:buNone/>
            </a:pPr>
            <a:r>
              <a:rPr lang="en-US" altLang="en-US" sz="1800" b="1">
                <a:solidFill>
                  <a:srgbClr val="000000"/>
                </a:solidFill>
                <a:latin typeface="Courier New" panose="02070309020205020404" pitchFamily="49" charset="0"/>
              </a:rPr>
              <a:t>JONES           2975        20       2175</a:t>
            </a:r>
          </a:p>
          <a:p>
            <a:pPr>
              <a:spcBef>
                <a:spcPct val="0"/>
              </a:spcBef>
              <a:buFontTx/>
              <a:buNone/>
            </a:pPr>
            <a:r>
              <a:rPr lang="en-US" altLang="en-US" sz="1800" b="1">
                <a:solidFill>
                  <a:srgbClr val="000000"/>
                </a:solidFill>
                <a:latin typeface="Courier New" panose="02070309020205020404" pitchFamily="49" charset="0"/>
              </a:rPr>
              <a:t>SCOTT           3000        20       2175</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6 rows selected.</a:t>
            </a:r>
          </a:p>
        </p:txBody>
      </p:sp>
      <p:sp>
        <p:nvSpPr>
          <p:cNvPr id="71686" name="Rectangle 6">
            <a:extLst>
              <a:ext uri="{FF2B5EF4-FFF2-40B4-BE49-F238E27FC236}">
                <a16:creationId xmlns:a16="http://schemas.microsoft.com/office/drawing/2014/main" id="{8FE07790-6ECA-1EF4-8285-D062A117D02D}"/>
              </a:ext>
            </a:extLst>
          </p:cNvPr>
          <p:cNvSpPr>
            <a:spLocks noChangeArrowheads="1"/>
          </p:cNvSpPr>
          <p:nvPr/>
        </p:nvSpPr>
        <p:spPr bwMode="blackWhite">
          <a:xfrm>
            <a:off x="922338" y="1851025"/>
            <a:ext cx="7180262" cy="159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a.ename, a.sal, a.deptno, b.salavg</a:t>
            </a:r>
          </a:p>
          <a:p>
            <a:pPr>
              <a:spcBef>
                <a:spcPct val="0"/>
              </a:spcBef>
              <a:buFontTx/>
              <a:buNone/>
            </a:pPr>
            <a:r>
              <a:rPr lang="en-US" altLang="en-US" sz="1800" b="1">
                <a:solidFill>
                  <a:srgbClr val="000000"/>
                </a:solidFill>
                <a:latin typeface="Courier New" panose="02070309020205020404" pitchFamily="49" charset="0"/>
              </a:rPr>
              <a:t>  2  FROM    emp a, (SELECT   deptno, avg(sal) salavg</a:t>
            </a:r>
          </a:p>
          <a:p>
            <a:pPr>
              <a:spcBef>
                <a:spcPct val="0"/>
              </a:spcBef>
              <a:buFontTx/>
              <a:buNone/>
            </a:pPr>
            <a:r>
              <a:rPr lang="en-US" altLang="en-US" sz="1800" b="1">
                <a:solidFill>
                  <a:srgbClr val="000000"/>
                </a:solidFill>
                <a:latin typeface="Courier New" panose="02070309020205020404" pitchFamily="49" charset="0"/>
              </a:rPr>
              <a:t>  3                  FROM     emp</a:t>
            </a:r>
          </a:p>
          <a:p>
            <a:pPr>
              <a:spcBef>
                <a:spcPct val="0"/>
              </a:spcBef>
              <a:buFontTx/>
              <a:buNone/>
            </a:pPr>
            <a:r>
              <a:rPr lang="en-US" altLang="en-US" sz="1800" b="1">
                <a:solidFill>
                  <a:srgbClr val="000000"/>
                </a:solidFill>
                <a:latin typeface="Courier New" panose="02070309020205020404" pitchFamily="49" charset="0"/>
              </a:rPr>
              <a:t>  4                  GROUP BY deptno) b</a:t>
            </a:r>
          </a:p>
          <a:p>
            <a:pPr>
              <a:spcBef>
                <a:spcPct val="0"/>
              </a:spcBef>
              <a:buFontTx/>
              <a:buNone/>
            </a:pPr>
            <a:r>
              <a:rPr lang="en-US" altLang="en-US" sz="1800" b="1">
                <a:solidFill>
                  <a:srgbClr val="000000"/>
                </a:solidFill>
                <a:latin typeface="Courier New" panose="02070309020205020404" pitchFamily="49" charset="0"/>
              </a:rPr>
              <a:t>  5  WHERE   a.deptno = b.deptno</a:t>
            </a:r>
          </a:p>
          <a:p>
            <a:pPr>
              <a:spcBef>
                <a:spcPct val="0"/>
              </a:spcBef>
              <a:buFontTx/>
              <a:buNone/>
            </a:pPr>
            <a:r>
              <a:rPr lang="en-US" altLang="en-US" sz="1800" b="1">
                <a:solidFill>
                  <a:srgbClr val="000000"/>
                </a:solidFill>
                <a:latin typeface="Courier New" panose="02070309020205020404" pitchFamily="49" charset="0"/>
              </a:rPr>
              <a:t>  6  AND     a.sal &gt; b.salavg;</a:t>
            </a: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a:extLst>
              <a:ext uri="{FF2B5EF4-FFF2-40B4-BE49-F238E27FC236}">
                <a16:creationId xmlns:a16="http://schemas.microsoft.com/office/drawing/2014/main" id="{1356CD6A-D629-F3F4-4CCD-852EF402BFC6}"/>
              </a:ext>
            </a:extLst>
          </p:cNvPr>
          <p:cNvSpPr>
            <a:spLocks noGrp="1" noChangeArrowheads="1"/>
          </p:cNvSpPr>
          <p:nvPr>
            <p:ph type="title"/>
          </p:nvPr>
        </p:nvSpPr>
        <p:spPr>
          <a:xfrm>
            <a:off x="323850" y="660400"/>
            <a:ext cx="5578475" cy="53657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a:solidFill>
                  <a:srgbClr val="800000"/>
                </a:solidFill>
              </a:rPr>
              <a:t>Correlated Subquery</a:t>
            </a:r>
          </a:p>
        </p:txBody>
      </p:sp>
      <p:sp>
        <p:nvSpPr>
          <p:cNvPr id="73731" name="Rectangle 4">
            <a:extLst>
              <a:ext uri="{FF2B5EF4-FFF2-40B4-BE49-F238E27FC236}">
                <a16:creationId xmlns:a16="http://schemas.microsoft.com/office/drawing/2014/main" id="{CF522CDD-997B-CEBE-C73F-0639D64D63F4}"/>
              </a:ext>
            </a:extLst>
          </p:cNvPr>
          <p:cNvSpPr>
            <a:spLocks noGrp="1" noChangeArrowheads="1"/>
          </p:cNvSpPr>
          <p:nvPr>
            <p:ph type="body" idx="1"/>
          </p:nvPr>
        </p:nvSpPr>
        <p:spPr>
          <a:xfrm>
            <a:off x="347663" y="1341438"/>
            <a:ext cx="7753350" cy="2074862"/>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spAutoFit/>
          </a:bodyPr>
          <a:lstStyle/>
          <a:p>
            <a:r>
              <a:rPr lang="en-US" altLang="en-US"/>
              <a:t>Finding a department without an employee</a:t>
            </a:r>
          </a:p>
          <a:p>
            <a:endParaRPr lang="en-US" altLang="en-US"/>
          </a:p>
          <a:p>
            <a:endParaRPr lang="en-US" altLang="en-US"/>
          </a:p>
          <a:p>
            <a:r>
              <a:rPr lang="en-US" altLang="en-US"/>
              <a:t>Finding an employee with Nth highest salary</a:t>
            </a:r>
          </a:p>
        </p:txBody>
      </p:sp>
      <p:sp>
        <p:nvSpPr>
          <p:cNvPr id="73732" name="Rectangle 2">
            <a:extLst>
              <a:ext uri="{FF2B5EF4-FFF2-40B4-BE49-F238E27FC236}">
                <a16:creationId xmlns:a16="http://schemas.microsoft.com/office/drawing/2014/main" id="{7EBEC574-932D-CCF8-CC4F-F188EEE54FB5}"/>
              </a:ext>
            </a:extLst>
          </p:cNvPr>
          <p:cNvSpPr>
            <a:spLocks noChangeArrowheads="1"/>
          </p:cNvSpPr>
          <p:nvPr/>
        </p:nvSpPr>
        <p:spPr bwMode="blackWhite">
          <a:xfrm>
            <a:off x="600075" y="1878013"/>
            <a:ext cx="7470775" cy="9032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73733" name="Rectangle 10">
            <a:extLst>
              <a:ext uri="{FF2B5EF4-FFF2-40B4-BE49-F238E27FC236}">
                <a16:creationId xmlns:a16="http://schemas.microsoft.com/office/drawing/2014/main" id="{88814A03-94C8-4D8C-ECDF-5AC6C4942732}"/>
              </a:ext>
            </a:extLst>
          </p:cNvPr>
          <p:cNvSpPr>
            <a:spLocks noChangeArrowheads="1"/>
          </p:cNvSpPr>
          <p:nvPr/>
        </p:nvSpPr>
        <p:spPr bwMode="blackWhite">
          <a:xfrm>
            <a:off x="695325" y="1865313"/>
            <a:ext cx="730885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000" b="1" dirty="0">
                <a:solidFill>
                  <a:srgbClr val="000000"/>
                </a:solidFill>
                <a:latin typeface="Courier New" panose="02070309020205020404" pitchFamily="49" charset="0"/>
              </a:rPr>
              <a:t>SELECT * from dept </a:t>
            </a:r>
          </a:p>
          <a:p>
            <a:pPr>
              <a:spcBef>
                <a:spcPct val="0"/>
              </a:spcBef>
              <a:buFontTx/>
              <a:buNone/>
            </a:pPr>
            <a:r>
              <a:rPr lang="en-US" altLang="en-US" sz="2000" b="1" dirty="0">
                <a:solidFill>
                  <a:srgbClr val="000000"/>
                </a:solidFill>
                <a:latin typeface="Courier New" panose="02070309020205020404" pitchFamily="49" charset="0"/>
              </a:rPr>
              <a:t>WHERE </a:t>
            </a:r>
            <a:r>
              <a:rPr lang="en-US" altLang="en-US" sz="2000" b="1" dirty="0">
                <a:solidFill>
                  <a:srgbClr val="FF0000"/>
                </a:solidFill>
                <a:latin typeface="Courier New" panose="02070309020205020404" pitchFamily="49" charset="0"/>
              </a:rPr>
              <a:t>NOT EXISTS</a:t>
            </a:r>
          </a:p>
          <a:p>
            <a:pPr>
              <a:spcBef>
                <a:spcPct val="0"/>
              </a:spcBef>
              <a:buFontTx/>
              <a:buNone/>
            </a:pPr>
            <a:r>
              <a:rPr lang="en-US" altLang="en-US" sz="2000" b="1" dirty="0">
                <a:solidFill>
                  <a:srgbClr val="000000"/>
                </a:solidFill>
                <a:latin typeface="Courier New" panose="02070309020205020404" pitchFamily="49" charset="0"/>
              </a:rPr>
              <a:t>(SELECT * from emp where </a:t>
            </a:r>
            <a:r>
              <a:rPr lang="en-US" altLang="en-US" sz="2000" b="1" dirty="0" err="1">
                <a:solidFill>
                  <a:srgbClr val="000000"/>
                </a:solidFill>
                <a:latin typeface="Courier New" panose="02070309020205020404" pitchFamily="49" charset="0"/>
              </a:rPr>
              <a:t>emp.deptno</a:t>
            </a:r>
            <a:r>
              <a:rPr lang="en-US" altLang="en-US" sz="2000" b="1" dirty="0">
                <a:solidFill>
                  <a:srgbClr val="000000"/>
                </a:solidFill>
                <a:latin typeface="Courier New" panose="02070309020205020404" pitchFamily="49" charset="0"/>
              </a:rPr>
              <a:t>=</a:t>
            </a:r>
            <a:r>
              <a:rPr lang="en-US" altLang="en-US" sz="2000" b="1" dirty="0" err="1">
                <a:solidFill>
                  <a:srgbClr val="000000"/>
                </a:solidFill>
                <a:latin typeface="Courier New" panose="02070309020205020404" pitchFamily="49" charset="0"/>
              </a:rPr>
              <a:t>dept.deptno</a:t>
            </a:r>
            <a:r>
              <a:rPr lang="en-US" altLang="en-US" sz="2000" b="1" dirty="0">
                <a:solidFill>
                  <a:srgbClr val="000000"/>
                </a:solidFill>
                <a:latin typeface="Courier New" panose="02070309020205020404" pitchFamily="49" charset="0"/>
              </a:rPr>
              <a:t>)</a:t>
            </a:r>
          </a:p>
        </p:txBody>
      </p:sp>
      <p:sp>
        <p:nvSpPr>
          <p:cNvPr id="73734" name="Rectangle 2">
            <a:extLst>
              <a:ext uri="{FF2B5EF4-FFF2-40B4-BE49-F238E27FC236}">
                <a16:creationId xmlns:a16="http://schemas.microsoft.com/office/drawing/2014/main" id="{9D0C30A5-7B4B-9C77-8C85-E321336A86AC}"/>
              </a:ext>
            </a:extLst>
          </p:cNvPr>
          <p:cNvSpPr>
            <a:spLocks noChangeArrowheads="1"/>
          </p:cNvSpPr>
          <p:nvPr/>
        </p:nvSpPr>
        <p:spPr bwMode="blackWhite">
          <a:xfrm>
            <a:off x="573088" y="3470275"/>
            <a:ext cx="7470775" cy="1590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2400" b="1">
              <a:solidFill>
                <a:srgbClr val="000000"/>
              </a:solidFill>
              <a:latin typeface="Courier New" panose="02070309020205020404" pitchFamily="49" charset="0"/>
            </a:endParaRPr>
          </a:p>
          <a:p>
            <a:pPr>
              <a:spcBef>
                <a:spcPct val="0"/>
              </a:spcBef>
              <a:buFontTx/>
              <a:buNone/>
            </a:pPr>
            <a:endParaRPr lang="en-US" altLang="en-US" sz="2400" b="1">
              <a:solidFill>
                <a:srgbClr val="000000"/>
              </a:solidFill>
              <a:latin typeface="Courier New" panose="02070309020205020404" pitchFamily="49" charset="0"/>
            </a:endParaRPr>
          </a:p>
        </p:txBody>
      </p:sp>
      <p:sp>
        <p:nvSpPr>
          <p:cNvPr id="73735" name="Rectangle 10">
            <a:extLst>
              <a:ext uri="{FF2B5EF4-FFF2-40B4-BE49-F238E27FC236}">
                <a16:creationId xmlns:a16="http://schemas.microsoft.com/office/drawing/2014/main" id="{D882B883-E115-25F7-0623-AC8AD1080732}"/>
              </a:ext>
            </a:extLst>
          </p:cNvPr>
          <p:cNvSpPr>
            <a:spLocks noChangeArrowheads="1"/>
          </p:cNvSpPr>
          <p:nvPr/>
        </p:nvSpPr>
        <p:spPr bwMode="blackWhite">
          <a:xfrm>
            <a:off x="668338" y="3457575"/>
            <a:ext cx="730885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000" b="1" dirty="0">
                <a:solidFill>
                  <a:srgbClr val="000000"/>
                </a:solidFill>
                <a:latin typeface="Courier New" panose="02070309020205020404" pitchFamily="49" charset="0"/>
              </a:rPr>
              <a:t>SELECT * FROM Emp Emp1 </a:t>
            </a:r>
          </a:p>
          <a:p>
            <a:pPr>
              <a:spcBef>
                <a:spcPct val="0"/>
              </a:spcBef>
              <a:buFontTx/>
              <a:buNone/>
            </a:pPr>
            <a:r>
              <a:rPr lang="en-US" altLang="en-US" sz="2000" b="1" dirty="0">
                <a:solidFill>
                  <a:srgbClr val="000000"/>
                </a:solidFill>
                <a:latin typeface="Courier New" panose="02070309020205020404" pitchFamily="49" charset="0"/>
              </a:rPr>
              <a:t>WHERE </a:t>
            </a:r>
            <a:r>
              <a:rPr lang="en-US" altLang="en-US" sz="2000" b="1" dirty="0">
                <a:solidFill>
                  <a:srgbClr val="FF0000"/>
                </a:solidFill>
                <a:latin typeface="Courier New" panose="02070309020205020404" pitchFamily="49" charset="0"/>
              </a:rPr>
              <a:t>(N-1)</a:t>
            </a:r>
            <a:r>
              <a:rPr lang="en-US" altLang="en-US" sz="2000" b="1" dirty="0">
                <a:solidFill>
                  <a:srgbClr val="000000"/>
                </a:solidFill>
                <a:latin typeface="Courier New" panose="02070309020205020404" pitchFamily="49" charset="0"/>
              </a:rPr>
              <a:t> = (</a:t>
            </a:r>
          </a:p>
          <a:p>
            <a:pPr>
              <a:spcBef>
                <a:spcPct val="0"/>
              </a:spcBef>
              <a:buFontTx/>
              <a:buNone/>
            </a:pPr>
            <a:r>
              <a:rPr lang="en-US" altLang="en-US" sz="2000" b="1" dirty="0">
                <a:solidFill>
                  <a:srgbClr val="000000"/>
                </a:solidFill>
                <a:latin typeface="Courier New" panose="02070309020205020404" pitchFamily="49" charset="0"/>
              </a:rPr>
              <a:t>SELECT </a:t>
            </a:r>
            <a:r>
              <a:rPr lang="en-US" altLang="en-US" sz="2000" b="1" dirty="0">
                <a:solidFill>
                  <a:srgbClr val="FF0000"/>
                </a:solidFill>
                <a:latin typeface="Courier New" panose="02070309020205020404" pitchFamily="49" charset="0"/>
              </a:rPr>
              <a:t>COUNT(DISTINCT Emp2.Sal)</a:t>
            </a:r>
            <a:r>
              <a:rPr lang="en-US" altLang="en-US" sz="2000" b="1" dirty="0">
                <a:solidFill>
                  <a:srgbClr val="000000"/>
                </a:solidFill>
                <a:latin typeface="Courier New" panose="02070309020205020404" pitchFamily="49" charset="0"/>
              </a:rPr>
              <a:t> </a:t>
            </a:r>
          </a:p>
          <a:p>
            <a:pPr>
              <a:spcBef>
                <a:spcPct val="0"/>
              </a:spcBef>
              <a:buFontTx/>
              <a:buNone/>
            </a:pPr>
            <a:r>
              <a:rPr lang="en-US" altLang="en-US" sz="2000" b="1" dirty="0">
                <a:solidFill>
                  <a:srgbClr val="000000"/>
                </a:solidFill>
                <a:latin typeface="Courier New" panose="02070309020205020404" pitchFamily="49" charset="0"/>
              </a:rPr>
              <a:t>FROM Emp Emp2 </a:t>
            </a:r>
          </a:p>
          <a:p>
            <a:pPr>
              <a:spcBef>
                <a:spcPct val="0"/>
              </a:spcBef>
              <a:buFontTx/>
              <a:buNone/>
            </a:pPr>
            <a:r>
              <a:rPr lang="en-US" altLang="en-US" sz="2000" b="1" dirty="0">
                <a:solidFill>
                  <a:srgbClr val="000000"/>
                </a:solidFill>
                <a:latin typeface="Courier New" panose="02070309020205020404" pitchFamily="49" charset="0"/>
              </a:rPr>
              <a:t>WHERE Emp2.Sal &gt; Emp1.Sal); </a:t>
            </a: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3F131D2E-1643-2B0B-13E6-73A2652C4A13}"/>
              </a:ext>
            </a:extLst>
          </p:cNvPr>
          <p:cNvSpPr>
            <a:spLocks noGrp="1" noChangeArrowheads="1"/>
          </p:cNvSpPr>
          <p:nvPr>
            <p:ph type="title"/>
          </p:nvPr>
        </p:nvSpPr>
        <p:spPr>
          <a:xfrm>
            <a:off x="395288" y="1628775"/>
            <a:ext cx="8277225" cy="1219200"/>
          </a:xfrm>
        </p:spPr>
        <p:txBody>
          <a:bodyPr/>
          <a:lstStyle/>
          <a:p>
            <a:pPr algn="ctr" eaLnBrk="1" hangingPunct="1"/>
            <a:br>
              <a:rPr lang="de-AT" altLang="en-US" sz="3600">
                <a:latin typeface="Georgia" panose="02040502050405020303" pitchFamily="18" charset="0"/>
              </a:rPr>
            </a:br>
            <a:r>
              <a:rPr lang="de-AT" altLang="en-US" sz="3600">
                <a:latin typeface="Georgia" panose="02040502050405020303" pitchFamily="18" charset="0"/>
              </a:rPr>
              <a:t>Thank you for your attention.</a:t>
            </a:r>
          </a:p>
        </p:txBody>
      </p:sp>
      <p:sp>
        <p:nvSpPr>
          <p:cNvPr id="97283" name="Rectangle 8">
            <a:extLst>
              <a:ext uri="{FF2B5EF4-FFF2-40B4-BE49-F238E27FC236}">
                <a16:creationId xmlns:a16="http://schemas.microsoft.com/office/drawing/2014/main" id="{1D2A0AC3-EA23-63ED-82E3-AC533EA2B5C5}"/>
              </a:ext>
            </a:extLst>
          </p:cNvPr>
          <p:cNvSpPr>
            <a:spLocks noChangeArrowheads="1"/>
          </p:cNvSpPr>
          <p:nvPr/>
        </p:nvSpPr>
        <p:spPr bwMode="auto">
          <a:xfrm>
            <a:off x="2362200" y="3962400"/>
            <a:ext cx="4495800" cy="2130425"/>
          </a:xfrm>
          <a:prstGeom prst="rect">
            <a:avLst/>
          </a:prstGeom>
          <a:solidFill>
            <a:srgbClr val="FFFFCC"/>
          </a:solidFill>
          <a:ln w="38100">
            <a:solidFill>
              <a:srgbClr val="8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00"/>
              </a:solidFill>
            </a:endParaRPr>
          </a:p>
        </p:txBody>
      </p:sp>
      <p:sp>
        <p:nvSpPr>
          <p:cNvPr id="97284" name="Rectangle 9">
            <a:extLst>
              <a:ext uri="{FF2B5EF4-FFF2-40B4-BE49-F238E27FC236}">
                <a16:creationId xmlns:a16="http://schemas.microsoft.com/office/drawing/2014/main" id="{102F474F-E7C3-2B43-FC45-D92EEF1DA7C5}"/>
              </a:ext>
            </a:extLst>
          </p:cNvPr>
          <p:cNvSpPr>
            <a:spLocks noChangeArrowheads="1"/>
          </p:cNvSpPr>
          <p:nvPr/>
        </p:nvSpPr>
        <p:spPr bwMode="auto">
          <a:xfrm>
            <a:off x="539750" y="2276475"/>
            <a:ext cx="777240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en-US" altLang="en-US" sz="2400" dirty="0">
              <a:solidFill>
                <a:srgbClr val="000000"/>
              </a:solidFill>
            </a:endParaRPr>
          </a:p>
          <a:p>
            <a:pPr eaLnBrk="1" hangingPunct="1"/>
            <a:endParaRPr lang="en-US" altLang="en-US" sz="2400" dirty="0">
              <a:solidFill>
                <a:srgbClr val="000000"/>
              </a:solidFill>
            </a:endParaRPr>
          </a:p>
          <a:p>
            <a:pPr eaLnBrk="1" hangingPunct="1"/>
            <a:endParaRPr lang="en-US" altLang="en-US" sz="2400" dirty="0">
              <a:solidFill>
                <a:srgbClr val="000000"/>
              </a:solidFill>
            </a:endParaRPr>
          </a:p>
          <a:p>
            <a:pPr eaLnBrk="1" hangingPunct="1"/>
            <a:endParaRPr lang="en-US" altLang="en-US" sz="2400" dirty="0">
              <a:solidFill>
                <a:srgbClr val="000000"/>
              </a:solidFill>
            </a:endParaRPr>
          </a:p>
          <a:p>
            <a:pPr eaLnBrk="1" hangingPunct="1">
              <a:buFontTx/>
              <a:buNone/>
            </a:pPr>
            <a:r>
              <a:rPr lang="de-AT" altLang="en-US" sz="900" b="1" dirty="0">
                <a:solidFill>
                  <a:srgbClr val="000066"/>
                </a:solidFill>
              </a:rPr>
              <a:t>			</a:t>
            </a:r>
            <a:r>
              <a:rPr lang="de-AT" altLang="en-US" sz="2400" b="1" dirty="0">
                <a:solidFill>
                  <a:srgbClr val="3333CC"/>
                </a:solidFill>
                <a:latin typeface="Georgia" panose="02040502050405020303" pitchFamily="18" charset="0"/>
              </a:rPr>
              <a:t>Dr. Asif Sohail</a:t>
            </a:r>
            <a:endParaRPr lang="de-AT" altLang="en-US" sz="1200" b="1" dirty="0">
              <a:solidFill>
                <a:srgbClr val="3333CC"/>
              </a:solidFill>
              <a:latin typeface="Georgia" panose="02040502050405020303" pitchFamily="18" charset="0"/>
            </a:endParaRPr>
          </a:p>
          <a:p>
            <a:pPr eaLnBrk="1" hangingPunct="1">
              <a:buFontTx/>
              <a:buNone/>
            </a:pPr>
            <a:r>
              <a:rPr lang="de-AT" altLang="en-US" sz="1200" b="1" dirty="0">
                <a:solidFill>
                  <a:srgbClr val="0000FF"/>
                </a:solidFill>
                <a:latin typeface="Georgia" panose="02040502050405020303" pitchFamily="18" charset="0"/>
              </a:rPr>
              <a:t>			</a:t>
            </a:r>
          </a:p>
          <a:p>
            <a:pPr eaLnBrk="1" hangingPunct="1">
              <a:buFontTx/>
              <a:buNone/>
            </a:pPr>
            <a:r>
              <a:rPr lang="de-AT" altLang="en-US" sz="1200" b="1" dirty="0">
                <a:solidFill>
                  <a:srgbClr val="0000FF"/>
                </a:solidFill>
                <a:latin typeface="Georgia" panose="02040502050405020303" pitchFamily="18" charset="0"/>
              </a:rPr>
              <a:t>			</a:t>
            </a:r>
            <a:r>
              <a:rPr lang="de-AT" altLang="en-US" sz="1200" b="1" dirty="0">
                <a:solidFill>
                  <a:srgbClr val="800000"/>
                </a:solidFill>
                <a:latin typeface="Georgia" panose="02040502050405020303" pitchFamily="18" charset="0"/>
              </a:rPr>
              <a:t>Assistant Professor</a:t>
            </a:r>
            <a:endParaRPr lang="de-AT" altLang="en-US" sz="1200" dirty="0">
              <a:solidFill>
                <a:srgbClr val="800000"/>
              </a:solidFill>
              <a:latin typeface="Georgia" panose="02040502050405020303" pitchFamily="18" charset="0"/>
            </a:endParaRPr>
          </a:p>
          <a:p>
            <a:pPr eaLnBrk="1" hangingPunct="1">
              <a:buFontTx/>
              <a:buNone/>
            </a:pPr>
            <a:r>
              <a:rPr lang="de-AT" altLang="en-US" sz="1200" b="1" dirty="0">
                <a:solidFill>
                  <a:srgbClr val="0000FF"/>
                </a:solidFill>
                <a:latin typeface="Georgia" panose="02040502050405020303" pitchFamily="18" charset="0"/>
              </a:rPr>
              <a:t>			</a:t>
            </a:r>
            <a:r>
              <a:rPr lang="de-AT" altLang="en-US" sz="1200" dirty="0">
                <a:solidFill>
                  <a:srgbClr val="0000FF"/>
                </a:solidFill>
                <a:latin typeface="Georgia" panose="02040502050405020303" pitchFamily="18" charset="0"/>
              </a:rPr>
              <a:t>Department of Information Technology,</a:t>
            </a:r>
          </a:p>
          <a:p>
            <a:pPr eaLnBrk="1" hangingPunct="1">
              <a:buFontTx/>
              <a:buNone/>
            </a:pPr>
            <a:r>
              <a:rPr lang="de-AT" altLang="en-US" sz="1200" dirty="0">
                <a:solidFill>
                  <a:srgbClr val="0000FF"/>
                </a:solidFill>
                <a:latin typeface="Georgia" panose="02040502050405020303" pitchFamily="18" charset="0"/>
              </a:rPr>
              <a:t>			Faculty of Computing and Information Technology (FCIT)</a:t>
            </a:r>
          </a:p>
          <a:p>
            <a:pPr eaLnBrk="1" hangingPunct="1">
              <a:buFontTx/>
              <a:buNone/>
            </a:pPr>
            <a:r>
              <a:rPr lang="de-AT" altLang="en-US" sz="1200" dirty="0">
                <a:solidFill>
                  <a:srgbClr val="0000FF"/>
                </a:solidFill>
                <a:latin typeface="Georgia" panose="02040502050405020303" pitchFamily="18" charset="0"/>
              </a:rPr>
              <a:t>			University of the Punjab, Lahore, Pakistan</a:t>
            </a:r>
          </a:p>
          <a:p>
            <a:pPr eaLnBrk="1" hangingPunct="1">
              <a:buFontTx/>
              <a:buNone/>
            </a:pPr>
            <a:r>
              <a:rPr lang="de-AT" altLang="en-US" sz="1200" b="1" dirty="0">
                <a:solidFill>
                  <a:srgbClr val="0000FF"/>
                </a:solidFill>
                <a:latin typeface="Georgia" panose="02040502050405020303" pitchFamily="18" charset="0"/>
              </a:rPr>
              <a:t>	</a:t>
            </a:r>
            <a:r>
              <a:rPr lang="de-AT" altLang="en-US" sz="1200" dirty="0">
                <a:solidFill>
                  <a:srgbClr val="0000FF"/>
                </a:solidFill>
                <a:latin typeface="Georgia" panose="02040502050405020303" pitchFamily="18" charset="0"/>
              </a:rPr>
              <a:t>		Tel:                  +92-(0)42-111-923-923    Ext. </a:t>
            </a:r>
            <a:r>
              <a:rPr lang="de-AT" altLang="en-US" sz="1200" dirty="0">
                <a:solidFill>
                  <a:srgbClr val="0000FF"/>
                </a:solidFill>
                <a:latin typeface="Times New Roman" panose="02020603050405020304" pitchFamily="18" charset="0"/>
              </a:rPr>
              <a:t>154</a:t>
            </a:r>
          </a:p>
          <a:p>
            <a:pPr eaLnBrk="1" hangingPunct="1">
              <a:buFontTx/>
              <a:buNone/>
            </a:pPr>
            <a:r>
              <a:rPr lang="de-AT" altLang="en-US" sz="1200" dirty="0">
                <a:solidFill>
                  <a:srgbClr val="0000FF"/>
                </a:solidFill>
                <a:latin typeface="Georgia" panose="02040502050405020303" pitchFamily="18" charset="0"/>
              </a:rPr>
              <a:t>			E-mail:           asif@pucit.edu.pk</a:t>
            </a:r>
          </a:p>
          <a:p>
            <a:pPr eaLnBrk="1" hangingPunct="1"/>
            <a:endParaRPr lang="en-US" altLang="en-US" sz="1200" dirty="0">
              <a:solidFill>
                <a:srgbClr val="0000FF"/>
              </a:solidFill>
              <a:latin typeface="Georgia" panose="02040502050405020303" pitchFamily="18" charset="0"/>
            </a:endParaRPr>
          </a:p>
        </p:txBody>
      </p:sp>
      <p:pic>
        <p:nvPicPr>
          <p:cNvPr id="2" name="Picture 10">
            <a:extLst>
              <a:ext uri="{FF2B5EF4-FFF2-40B4-BE49-F238E27FC236}">
                <a16:creationId xmlns:a16="http://schemas.microsoft.com/office/drawing/2014/main" id="{C2E2F7CA-C894-0B39-5274-12A5FB95B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2">
            <a:extLst>
              <a:ext uri="{FF2B5EF4-FFF2-40B4-BE49-F238E27FC236}">
                <a16:creationId xmlns:a16="http://schemas.microsoft.com/office/drawing/2014/main" id="{28D636A8-6BC8-F0E1-72F9-45439E09D8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8" y="0"/>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Standarddesign">
  <a:themeElements>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rd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61507</TotalTime>
  <Words>6781</Words>
  <Application>Microsoft Office PowerPoint</Application>
  <PresentationFormat>On-screen Show (4:3)</PresentationFormat>
  <Paragraphs>819</Paragraphs>
  <Slides>35</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Courier New</vt:lpstr>
      <vt:lpstr>Georgia</vt:lpstr>
      <vt:lpstr>Times New Roman</vt:lpstr>
      <vt:lpstr>Times</vt:lpstr>
      <vt:lpstr>Standarddesign</vt:lpstr>
      <vt:lpstr> (SQL)  Subqueries</vt:lpstr>
      <vt:lpstr>Objectives</vt:lpstr>
      <vt:lpstr>Using a Subquery  to Solve a Problem</vt:lpstr>
      <vt:lpstr>Subqueries</vt:lpstr>
      <vt:lpstr>Using a Subquery</vt:lpstr>
      <vt:lpstr>Exercise</vt:lpstr>
      <vt:lpstr>Types of Subqueries</vt:lpstr>
      <vt:lpstr>Types of Subqueries</vt:lpstr>
      <vt:lpstr>Guidelines for Using Subqueries</vt:lpstr>
      <vt:lpstr>Single-Row Subqueries</vt:lpstr>
      <vt:lpstr>Executing Single-Row Subqueries</vt:lpstr>
      <vt:lpstr>Using Group Functions  in a Subquery (Scalar Subquery)</vt:lpstr>
      <vt:lpstr>Finding second highest sal</vt:lpstr>
      <vt:lpstr>HAVING Clause with Subqueries</vt:lpstr>
      <vt:lpstr>HAVING Clause with Subqueries</vt:lpstr>
      <vt:lpstr>What Is Wrong  with This Statement?</vt:lpstr>
      <vt:lpstr>Will This Statement Work?</vt:lpstr>
      <vt:lpstr>Multiple-Row Subqueries</vt:lpstr>
      <vt:lpstr>Using IN Operator  in Multiple-Row Subqueries</vt:lpstr>
      <vt:lpstr>Using ANY Operator  in Multiple-Row Subqueries</vt:lpstr>
      <vt:lpstr>Using ALL Operator  in Multiple-Row Subqueries</vt:lpstr>
      <vt:lpstr>Null Values in a Subquery</vt:lpstr>
      <vt:lpstr>Null Values in a Subquery</vt:lpstr>
      <vt:lpstr>Multiple-Column Subqueries</vt:lpstr>
      <vt:lpstr>Multiple-Column Subqueries</vt:lpstr>
      <vt:lpstr>Using Multiple-Column Subqueries</vt:lpstr>
      <vt:lpstr>Column Comparisons</vt:lpstr>
      <vt:lpstr>Nonpairwise Comparison Subquery</vt:lpstr>
      <vt:lpstr>Nonpairwise Subquery</vt:lpstr>
      <vt:lpstr>Correlated Subquery</vt:lpstr>
      <vt:lpstr>Correlated Subquery</vt:lpstr>
      <vt:lpstr>Correlated Subquery</vt:lpstr>
      <vt:lpstr>Using a Subquery  in the FROM Clause</vt:lpstr>
      <vt:lpstr>Correlated Subquery</vt:lpstr>
      <vt:lpstr> Thank you for your attention.</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Asif Sohail</cp:lastModifiedBy>
  <cp:revision>850</cp:revision>
  <dcterms:created xsi:type="dcterms:W3CDTF">2006-05-17T12:38:56Z</dcterms:created>
  <dcterms:modified xsi:type="dcterms:W3CDTF">2024-10-27T12:22:54Z</dcterms:modified>
</cp:coreProperties>
</file>