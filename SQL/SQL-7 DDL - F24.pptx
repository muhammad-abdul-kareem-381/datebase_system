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47"/>
  </p:notesMasterIdLst>
  <p:handoutMasterIdLst>
    <p:handoutMasterId r:id="rId48"/>
  </p:handoutMasterIdLst>
  <p:sldIdLst>
    <p:sldId id="256" r:id="rId2"/>
    <p:sldId id="496" r:id="rId3"/>
    <p:sldId id="497" r:id="rId4"/>
    <p:sldId id="498" r:id="rId5"/>
    <p:sldId id="499" r:id="rId6"/>
    <p:sldId id="500" r:id="rId7"/>
    <p:sldId id="427" r:id="rId8"/>
    <p:sldId id="501" r:id="rId9"/>
    <p:sldId id="506" r:id="rId10"/>
    <p:sldId id="503" r:id="rId11"/>
    <p:sldId id="502" r:id="rId12"/>
    <p:sldId id="507" r:id="rId13"/>
    <p:sldId id="508" r:id="rId14"/>
    <p:sldId id="509" r:id="rId15"/>
    <p:sldId id="510" r:id="rId16"/>
    <p:sldId id="511" r:id="rId17"/>
    <p:sldId id="512" r:id="rId18"/>
    <p:sldId id="513" r:id="rId19"/>
    <p:sldId id="514" r:id="rId20"/>
    <p:sldId id="515" r:id="rId21"/>
    <p:sldId id="516" r:id="rId22"/>
    <p:sldId id="517" r:id="rId23"/>
    <p:sldId id="518" r:id="rId24"/>
    <p:sldId id="519" r:id="rId25"/>
    <p:sldId id="544" r:id="rId26"/>
    <p:sldId id="526" r:id="rId27"/>
    <p:sldId id="527" r:id="rId28"/>
    <p:sldId id="545" r:id="rId29"/>
    <p:sldId id="524" r:id="rId30"/>
    <p:sldId id="525" r:id="rId31"/>
    <p:sldId id="543" r:id="rId32"/>
    <p:sldId id="528" r:id="rId33"/>
    <p:sldId id="529" r:id="rId34"/>
    <p:sldId id="530" r:id="rId35"/>
    <p:sldId id="531" r:id="rId36"/>
    <p:sldId id="546" r:id="rId37"/>
    <p:sldId id="541" r:id="rId38"/>
    <p:sldId id="535" r:id="rId39"/>
    <p:sldId id="547" r:id="rId40"/>
    <p:sldId id="537" r:id="rId41"/>
    <p:sldId id="538" r:id="rId42"/>
    <p:sldId id="539" r:id="rId43"/>
    <p:sldId id="533" r:id="rId44"/>
    <p:sldId id="532" r:id="rId45"/>
    <p:sldId id="548" r:id="rId46"/>
  </p:sldIdLst>
  <p:sldSz cx="9144000" cy="6858000" type="screen4x3"/>
  <p:notesSz cx="6858000" cy="92964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6600"/>
    <a:srgbClr val="FFFF66"/>
    <a:srgbClr val="00FF00"/>
    <a:srgbClr val="FFFFCC"/>
    <a:srgbClr val="99CCFF"/>
    <a:srgbClr val="3399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96" autoAdjust="0"/>
    <p:restoredTop sz="85572" autoAdjust="0"/>
  </p:normalViewPr>
  <p:slideViewPr>
    <p:cSldViewPr>
      <p:cViewPr varScale="1">
        <p:scale>
          <a:sx n="83" d="100"/>
          <a:sy n="83" d="100"/>
        </p:scale>
        <p:origin x="1320"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859263DC-833E-475E-7383-3CD90C010193}"/>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54457972-3BA0-819C-D94B-C1E182CD6F7B}"/>
              </a:ext>
            </a:extLst>
          </p:cNvPr>
          <p:cNvSpPr>
            <a:spLocks noGrp="1" noChangeArrowheads="1"/>
          </p:cNvSpPr>
          <p:nvPr>
            <p:ph type="dt" sz="quarter" idx="1"/>
          </p:nvPr>
        </p:nvSpPr>
        <p:spPr bwMode="auto">
          <a:xfrm>
            <a:off x="3884613" y="0"/>
            <a:ext cx="2973387"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AFC72990-0253-7093-FE1F-395F6445318B}"/>
              </a:ext>
            </a:extLst>
          </p:cNvPr>
          <p:cNvSpPr>
            <a:spLocks noGrp="1" noChangeArrowheads="1"/>
          </p:cNvSpPr>
          <p:nvPr>
            <p:ph type="ftr" sz="quarter" idx="2"/>
          </p:nvPr>
        </p:nvSpPr>
        <p:spPr bwMode="auto">
          <a:xfrm>
            <a:off x="0" y="8831263"/>
            <a:ext cx="2973388"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B267E9BD-69CD-F74C-C7CD-5AAB41D2F3BE}"/>
              </a:ext>
            </a:extLst>
          </p:cNvPr>
          <p:cNvSpPr>
            <a:spLocks noGrp="1" noChangeArrowheads="1"/>
          </p:cNvSpPr>
          <p:nvPr>
            <p:ph type="sldNum" sz="quarter" idx="3"/>
          </p:nvPr>
        </p:nvSpPr>
        <p:spPr bwMode="auto">
          <a:xfrm>
            <a:off x="3884613" y="8831263"/>
            <a:ext cx="2973387"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E982EAC6-F103-4AAC-A018-7B3E009F9304}"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7076A63-6625-0795-A1A0-3CB13B89A17F}"/>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A9499F09-0331-1449-83A7-98050F1F7006}"/>
              </a:ext>
            </a:extLst>
          </p:cNvPr>
          <p:cNvSpPr>
            <a:spLocks noGrp="1" noChangeArrowheads="1"/>
          </p:cNvSpPr>
          <p:nvPr>
            <p:ph type="dt" idx="1"/>
          </p:nvPr>
        </p:nvSpPr>
        <p:spPr bwMode="auto">
          <a:xfrm>
            <a:off x="3883025"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2052" name="Rectangle 4">
            <a:extLst>
              <a:ext uri="{FF2B5EF4-FFF2-40B4-BE49-F238E27FC236}">
                <a16:creationId xmlns:a16="http://schemas.microsoft.com/office/drawing/2014/main" id="{861FCFA2-9CAD-BB4C-A825-2FAD868544DD}"/>
              </a:ext>
            </a:extLst>
          </p:cNvPr>
          <p:cNvSpPr>
            <a:spLocks noGrp="1" noRo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3868C254-B70E-26C3-D53C-85CDA45889F6}"/>
              </a:ext>
            </a:extLst>
          </p:cNvPr>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EAD288B6-6973-E6AA-B10A-77D92C9EEE5F}"/>
              </a:ext>
            </a:extLst>
          </p:cNvPr>
          <p:cNvSpPr>
            <a:spLocks noGrp="1" noChangeArrowheads="1"/>
          </p:cNvSpPr>
          <p:nvPr>
            <p:ph type="ftr" sz="quarter" idx="4"/>
          </p:nvPr>
        </p:nvSpPr>
        <p:spPr bwMode="auto">
          <a:xfrm>
            <a:off x="0"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0F7E423B-BFCE-1440-679C-C7C103F717DE}"/>
              </a:ext>
            </a:extLst>
          </p:cNvPr>
          <p:cNvSpPr>
            <a:spLocks noGrp="1" noChangeArrowheads="1"/>
          </p:cNvSpPr>
          <p:nvPr>
            <p:ph type="sldNum" sz="quarter" idx="5"/>
          </p:nvPr>
        </p:nvSpPr>
        <p:spPr bwMode="auto">
          <a:xfrm>
            <a:off x="3883025"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5A1137D4-AADE-4577-9C46-F5471C8760D9}"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image" Target="../media/image3.wmf"/></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image" Target="../media/image4.wmf"/></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image" Target="../media/image4.wmf"/></Relationships>
</file>

<file path=ppt/notesSlides/_rels/notesSlide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image" Target="../media/image4.wmf"/></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image" Target="../media/image5.wmf"/></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3E3A7AA9-773F-BECF-3A0A-F268E02720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a:spcBef>
                <a:spcPct val="30000"/>
              </a:spcBef>
              <a:defRPr sz="1200">
                <a:solidFill>
                  <a:schemeClr val="tx1"/>
                </a:solidFill>
                <a:latin typeface="Arial" panose="020B0604020202020204" pitchFamily="34" charset="0"/>
              </a:defRPr>
            </a:lvl1pPr>
            <a:lvl2pPr marL="742950" indent="-285750" defTabSz="892175">
              <a:spcBef>
                <a:spcPct val="30000"/>
              </a:spcBef>
              <a:defRPr sz="1200">
                <a:solidFill>
                  <a:schemeClr val="tx1"/>
                </a:solidFill>
                <a:latin typeface="Arial" panose="020B0604020202020204" pitchFamily="34" charset="0"/>
              </a:defRPr>
            </a:lvl2pPr>
            <a:lvl3pPr marL="1143000" indent="-228600" defTabSz="892175">
              <a:spcBef>
                <a:spcPct val="30000"/>
              </a:spcBef>
              <a:defRPr sz="1200">
                <a:solidFill>
                  <a:schemeClr val="tx1"/>
                </a:solidFill>
                <a:latin typeface="Arial" panose="020B0604020202020204" pitchFamily="34" charset="0"/>
              </a:defRPr>
            </a:lvl3pPr>
            <a:lvl4pPr marL="1600200" indent="-228600" defTabSz="892175">
              <a:spcBef>
                <a:spcPct val="30000"/>
              </a:spcBef>
              <a:defRPr sz="1200">
                <a:solidFill>
                  <a:schemeClr val="tx1"/>
                </a:solidFill>
                <a:latin typeface="Arial" panose="020B0604020202020204" pitchFamily="34" charset="0"/>
              </a:defRPr>
            </a:lvl4pPr>
            <a:lvl5pPr marL="2057400" indent="-228600" defTabSz="892175">
              <a:spcBef>
                <a:spcPct val="30000"/>
              </a:spcBef>
              <a:defRPr sz="1200">
                <a:solidFill>
                  <a:schemeClr val="tx1"/>
                </a:solidFill>
                <a:latin typeface="Arial" panose="020B0604020202020204" pitchFamily="34" charset="0"/>
              </a:defRPr>
            </a:lvl5pPr>
            <a:lvl6pPr marL="2514600" indent="-228600" defTabSz="8921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21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21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21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1643FC3-29FE-41AD-B341-1369CE574729}" type="slidenum">
              <a:rPr lang="de-AT" altLang="en-US" smtClean="0"/>
              <a:pPr>
                <a:spcBef>
                  <a:spcPct val="0"/>
                </a:spcBef>
              </a:pPr>
              <a:t>1</a:t>
            </a:fld>
            <a:endParaRPr lang="de-AT" altLang="en-US"/>
          </a:p>
        </p:txBody>
      </p:sp>
      <p:sp>
        <p:nvSpPr>
          <p:cNvPr id="5123" name="Rectangle 2">
            <a:extLst>
              <a:ext uri="{FF2B5EF4-FFF2-40B4-BE49-F238E27FC236}">
                <a16:creationId xmlns:a16="http://schemas.microsoft.com/office/drawing/2014/main" id="{F3E27B52-4BE6-A76E-3009-52140D1AB6BD}"/>
              </a:ext>
            </a:extLst>
          </p:cNvPr>
          <p:cNvSpPr>
            <a:spLocks noGrp="1" noRot="1" noChangeArrowheads="1" noTextEdit="1"/>
          </p:cNvSpPr>
          <p:nvPr>
            <p:ph type="sldImg"/>
          </p:nvPr>
        </p:nvSpPr>
        <p:spPr>
          <a:ln/>
        </p:spPr>
      </p:sp>
      <p:sp>
        <p:nvSpPr>
          <p:cNvPr id="5124" name="Rectangle 3">
            <a:extLst>
              <a:ext uri="{FF2B5EF4-FFF2-40B4-BE49-F238E27FC236}">
                <a16:creationId xmlns:a16="http://schemas.microsoft.com/office/drawing/2014/main" id="{0A45FD6E-9492-2854-68D8-7AA4E98E24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2A410CF-DDF8-9B93-70E5-80C03B537604}"/>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171" name="Rectangle 3">
            <a:extLst>
              <a:ext uri="{FF2B5EF4-FFF2-40B4-BE49-F238E27FC236}">
                <a16:creationId xmlns:a16="http://schemas.microsoft.com/office/drawing/2014/main" id="{9631E66E-9BF5-43BB-0CA5-E088AC5A6603}"/>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172" name="Rectangle 4">
            <a:extLst>
              <a:ext uri="{FF2B5EF4-FFF2-40B4-BE49-F238E27FC236}">
                <a16:creationId xmlns:a16="http://schemas.microsoft.com/office/drawing/2014/main" id="{F2D7352F-2D66-BF3D-199C-ACA5617DAB33}"/>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r>
              <a:rPr lang="en-US" altLang="en-US">
                <a:latin typeface="Arial" panose="020B0604020202020204" pitchFamily="34" charset="0"/>
              </a:rPr>
              <a:t>Lesson Aim</a:t>
            </a:r>
          </a:p>
          <a:p>
            <a:pPr marL="114300" lvl="1" defTabSz="382588"/>
            <a:r>
              <a:rPr lang="en-US" altLang="en-US">
                <a:latin typeface="Arial" panose="020B0604020202020204" pitchFamily="34" charset="0"/>
              </a:rPr>
              <a:t>In this lesson, you will learn about main database objects and their relationships to each other. You will also learn how to create, alter, and drop tables.</a:t>
            </a:r>
          </a:p>
        </p:txBody>
      </p:sp>
      <p:sp>
        <p:nvSpPr>
          <p:cNvPr id="7173" name="Rectangle 5">
            <a:extLst>
              <a:ext uri="{FF2B5EF4-FFF2-40B4-BE49-F238E27FC236}">
                <a16:creationId xmlns:a16="http://schemas.microsoft.com/office/drawing/2014/main" id="{BF2F6663-F3FB-94DD-A04D-65E77167C00B}"/>
              </a:ext>
            </a:extLst>
          </p:cNvPr>
          <p:cNvSpPr>
            <a:spLocks noGrp="1" noRot="1" noChangeArrowheads="1" noTextEdit="1"/>
          </p:cNvSpPr>
          <p:nvPr>
            <p:ph type="sldImg"/>
          </p:nvPr>
        </p:nvSpPr>
        <p:spPr>
          <a:xfrm>
            <a:off x="441325" y="165100"/>
            <a:ext cx="5970588" cy="4478338"/>
          </a:xfrm>
          <a:ln w="12700" cap="flat">
            <a:solidFill>
              <a:schemeClr val="tx1"/>
            </a:solid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80EF2D3C-515E-31E2-3287-D594CCE03718}"/>
              </a:ext>
            </a:extLst>
          </p:cNvPr>
          <p:cNvSpPr>
            <a:spLocks noGrp="1" noChangeArrowheads="1"/>
          </p:cNvSpPr>
          <p:nvPr>
            <p:ph type="body" idx="1"/>
          </p:nvPr>
        </p:nvSpPr>
        <p:spPr>
          <a:xfrm>
            <a:off x="412750" y="4852988"/>
            <a:ext cx="6249988"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r>
              <a:rPr lang="en-US" altLang="en-US">
                <a:latin typeface="Arial" panose="020B0604020202020204" pitchFamily="34" charset="0"/>
              </a:rPr>
              <a:t>Database Objects</a:t>
            </a:r>
          </a:p>
          <a:p>
            <a:pPr marL="114300" lvl="1" defTabSz="382588"/>
            <a:r>
              <a:rPr lang="en-US" altLang="en-US">
                <a:latin typeface="Arial" panose="020B0604020202020204" pitchFamily="34" charset="0"/>
              </a:rPr>
              <a:t>An Oracle database can contain multiple data structures. Each structure should be outlined in the database design so that it can be created during the build stage of database development.</a:t>
            </a:r>
          </a:p>
          <a:p>
            <a:pPr marL="439738" lvl="2" indent="-211138" defTabSz="382588"/>
            <a:r>
              <a:rPr lang="en-US" altLang="en-US">
                <a:latin typeface="Arial" panose="020B0604020202020204" pitchFamily="34" charset="0"/>
              </a:rPr>
              <a:t>Table: Stores data</a:t>
            </a:r>
          </a:p>
          <a:p>
            <a:pPr marL="439738" lvl="2" indent="-211138" defTabSz="382588"/>
            <a:r>
              <a:rPr lang="en-US" altLang="en-US">
                <a:latin typeface="Arial" panose="020B0604020202020204" pitchFamily="34" charset="0"/>
              </a:rPr>
              <a:t>View: Subset of data from one or more tables</a:t>
            </a:r>
          </a:p>
          <a:p>
            <a:pPr marL="439738" lvl="2" indent="-211138" defTabSz="382588"/>
            <a:r>
              <a:rPr lang="en-US" altLang="en-US">
                <a:latin typeface="Arial" panose="020B0604020202020204" pitchFamily="34" charset="0"/>
              </a:rPr>
              <a:t>Sequence: Generates primary key values</a:t>
            </a:r>
          </a:p>
          <a:p>
            <a:pPr marL="439738" lvl="2" indent="-211138" defTabSz="382588"/>
            <a:r>
              <a:rPr lang="en-US" altLang="en-US">
                <a:latin typeface="Arial" panose="020B0604020202020204" pitchFamily="34" charset="0"/>
              </a:rPr>
              <a:t>Index: Improves the performance of some queries</a:t>
            </a:r>
          </a:p>
          <a:p>
            <a:pPr marL="439738" lvl="2" indent="-211138" defTabSz="382588"/>
            <a:r>
              <a:rPr lang="en-US" altLang="en-US">
                <a:latin typeface="Arial" panose="020B0604020202020204" pitchFamily="34" charset="0"/>
              </a:rPr>
              <a:t>Synonym: Gives alternative names to objects</a:t>
            </a:r>
          </a:p>
          <a:p>
            <a:pPr defTabSz="382588"/>
            <a:r>
              <a:rPr lang="en-US" altLang="en-US">
                <a:latin typeface="Arial" panose="020B0604020202020204" pitchFamily="34" charset="0"/>
              </a:rPr>
              <a:t>Oracle8 Table Structures</a:t>
            </a:r>
          </a:p>
          <a:p>
            <a:pPr marL="439738" lvl="2" indent="-211138" defTabSz="382588"/>
            <a:r>
              <a:rPr lang="en-US" altLang="en-US">
                <a:latin typeface="Arial" panose="020B0604020202020204" pitchFamily="34" charset="0"/>
              </a:rPr>
              <a:t>Tables can be created at any time, even while users are using the database.</a:t>
            </a:r>
          </a:p>
          <a:p>
            <a:pPr marL="439738" lvl="2" indent="-211138" defTabSz="382588"/>
            <a:r>
              <a:rPr lang="en-US" altLang="en-US">
                <a:latin typeface="Arial" panose="020B0604020202020204" pitchFamily="34" charset="0"/>
              </a:rPr>
              <a:t>You do not need to specify the size of any table. The size is ultimately defined by the amount of space allocated to the database as a whole. It is important, however, to estimate how much space a table will use over time.</a:t>
            </a:r>
          </a:p>
          <a:p>
            <a:pPr marL="439738" lvl="2" indent="-211138" defTabSz="382588"/>
            <a:r>
              <a:rPr lang="en-US" altLang="en-US">
                <a:latin typeface="Arial" panose="020B0604020202020204" pitchFamily="34" charset="0"/>
              </a:rPr>
              <a:t>Table structure can be modified online.</a:t>
            </a:r>
          </a:p>
          <a:p>
            <a:pPr marL="114300" lvl="1" defTabSz="382588"/>
            <a:r>
              <a:rPr lang="en-US" altLang="en-US" b="1">
                <a:latin typeface="Arial" panose="020B0604020202020204" pitchFamily="34" charset="0"/>
              </a:rPr>
              <a:t>Note: </a:t>
            </a:r>
            <a:r>
              <a:rPr lang="en-US" altLang="en-US">
                <a:latin typeface="Arial" panose="020B0604020202020204" pitchFamily="34" charset="0"/>
              </a:rPr>
              <a:t>More database objects are available but are not covered in this course.</a:t>
            </a:r>
          </a:p>
          <a:p>
            <a:pPr defTabSz="382588"/>
            <a:r>
              <a:rPr lang="en-US" altLang="en-US">
                <a:solidFill>
                  <a:schemeClr val="accent2"/>
                </a:solidFill>
                <a:latin typeface="Arial" panose="020B0604020202020204" pitchFamily="34" charset="0"/>
              </a:rPr>
              <a:t>Class Management Note</a:t>
            </a:r>
          </a:p>
          <a:p>
            <a:pPr marL="114300" lvl="1" defTabSz="382588"/>
            <a:r>
              <a:rPr lang="en-US" altLang="en-US">
                <a:solidFill>
                  <a:schemeClr val="accent2"/>
                </a:solidFill>
                <a:latin typeface="Arial" panose="020B0604020202020204" pitchFamily="34" charset="0"/>
              </a:rPr>
              <a:t>Tables can have up to 1,000 columns and must conform to standard database object-naming conventions. </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Column definitions can be omitted when using the AS subquery clause. Tables are created without data unless a query is specified. Rows are usually added by using INSERT statements.</a:t>
            </a:r>
            <a:r>
              <a:rPr lang="en-US" altLang="en-US">
                <a:latin typeface="Arial" panose="020B0604020202020204" pitchFamily="34" charset="0"/>
              </a:rPr>
              <a:t> </a:t>
            </a:r>
          </a:p>
        </p:txBody>
      </p:sp>
      <p:sp>
        <p:nvSpPr>
          <p:cNvPr id="9219" name="Rectangle 3">
            <a:extLst>
              <a:ext uri="{FF2B5EF4-FFF2-40B4-BE49-F238E27FC236}">
                <a16:creationId xmlns:a16="http://schemas.microsoft.com/office/drawing/2014/main" id="{89BD709F-386D-72BF-12A0-089C7AFBBD98}"/>
              </a:ext>
            </a:extLst>
          </p:cNvPr>
          <p:cNvSpPr>
            <a:spLocks noGrp="1" noRot="1" noChangeArrowheads="1" noTextEdit="1"/>
          </p:cNvSpPr>
          <p:nvPr>
            <p:ph type="sldImg"/>
          </p:nvPr>
        </p:nvSpPr>
        <p:spPr>
          <a:xfrm>
            <a:off x="441325" y="165100"/>
            <a:ext cx="5970588" cy="4478338"/>
          </a:xfrm>
          <a:ln w="12700" cap="flat">
            <a:solidFill>
              <a:schemeClr val="tx1"/>
            </a:solid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853595D7-4294-0A9C-167E-BEB0C77D4ECD}"/>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1267" name="Rectangle 3">
            <a:extLst>
              <a:ext uri="{FF2B5EF4-FFF2-40B4-BE49-F238E27FC236}">
                <a16:creationId xmlns:a16="http://schemas.microsoft.com/office/drawing/2014/main" id="{1EB89BE8-42EA-4EB7-7E2E-60C018F56CFA}"/>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1268" name="Rectangle 4">
            <a:extLst>
              <a:ext uri="{FF2B5EF4-FFF2-40B4-BE49-F238E27FC236}">
                <a16:creationId xmlns:a16="http://schemas.microsoft.com/office/drawing/2014/main" id="{14E9C6EE-9D29-2D60-BDEA-9DE6615329DE}"/>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r>
              <a:rPr lang="en-US" altLang="en-US">
                <a:latin typeface="Arial" panose="020B0604020202020204" pitchFamily="34" charset="0"/>
              </a:rPr>
              <a:t>Naming Rules</a:t>
            </a:r>
          </a:p>
          <a:p>
            <a:pPr marL="114300" lvl="1" defTabSz="382588"/>
            <a:r>
              <a:rPr lang="en-US" altLang="en-US">
                <a:latin typeface="Arial" panose="020B0604020202020204" pitchFamily="34" charset="0"/>
              </a:rPr>
              <a:t>Name database tables and columns according to the standard rules for naming any Oracle database object:</a:t>
            </a:r>
          </a:p>
          <a:p>
            <a:pPr marL="439738" lvl="2" indent="-211138" defTabSz="382588"/>
            <a:r>
              <a:rPr lang="en-US" altLang="en-US">
                <a:latin typeface="Arial" panose="020B0604020202020204" pitchFamily="34" charset="0"/>
              </a:rPr>
              <a:t>Table names and column names must begin with a letter and can be 1–30 characters long.</a:t>
            </a:r>
          </a:p>
          <a:p>
            <a:pPr marL="439738" lvl="2" indent="-211138" defTabSz="382588"/>
            <a:r>
              <a:rPr lang="en-US" altLang="en-US">
                <a:latin typeface="Arial" panose="020B0604020202020204" pitchFamily="34" charset="0"/>
              </a:rPr>
              <a:t>Names must contain only the characters A–Z, a–z, 0–9, _ (underscore), $, and # (legal characters, but their use is discouraged).</a:t>
            </a:r>
          </a:p>
          <a:p>
            <a:pPr marL="439738" lvl="2" indent="-211138" defTabSz="382588"/>
            <a:r>
              <a:rPr lang="en-US" altLang="en-US">
                <a:latin typeface="Arial" panose="020B0604020202020204" pitchFamily="34" charset="0"/>
              </a:rPr>
              <a:t>Names must not duplicate the name of another object owned by the same Oracle Server user.</a:t>
            </a:r>
          </a:p>
          <a:p>
            <a:pPr marL="439738" lvl="2" indent="-211138" defTabSz="382588"/>
            <a:r>
              <a:rPr lang="en-US" altLang="en-US">
                <a:latin typeface="Arial" panose="020B0604020202020204" pitchFamily="34" charset="0"/>
              </a:rPr>
              <a:t>Names must not be an Oracle Server reserved word.</a:t>
            </a:r>
          </a:p>
          <a:p>
            <a:pPr defTabSz="382588"/>
            <a:r>
              <a:rPr lang="en-US" altLang="en-US">
                <a:latin typeface="Arial" panose="020B0604020202020204" pitchFamily="34" charset="0"/>
              </a:rPr>
              <a:t>Naming Guidelines</a:t>
            </a:r>
          </a:p>
          <a:p>
            <a:pPr marL="439738" lvl="2" indent="-211138" defTabSz="382588"/>
            <a:r>
              <a:rPr lang="en-US" altLang="en-US">
                <a:latin typeface="Arial" panose="020B0604020202020204" pitchFamily="34" charset="0"/>
              </a:rPr>
              <a:t>Use descriptive names for tables and other database objects.</a:t>
            </a:r>
          </a:p>
          <a:p>
            <a:pPr marL="439738" lvl="2" indent="-211138" defTabSz="382588"/>
            <a:r>
              <a:rPr lang="en-US" altLang="en-US">
                <a:latin typeface="Arial" panose="020B0604020202020204" pitchFamily="34" charset="0"/>
              </a:rPr>
              <a:t>Name the same entity consistently in different tables. For example, the department number column is called DEPTNO in both the EMP table and the DEPT table.</a:t>
            </a:r>
          </a:p>
          <a:p>
            <a:pPr marL="114300" lvl="1" defTabSz="382588"/>
            <a:r>
              <a:rPr lang="en-US" altLang="en-US" b="1">
                <a:latin typeface="Arial" panose="020B0604020202020204" pitchFamily="34" charset="0"/>
              </a:rPr>
              <a:t>Note:</a:t>
            </a:r>
            <a:r>
              <a:rPr lang="en-US" altLang="en-US">
                <a:latin typeface="Arial" panose="020B0604020202020204" pitchFamily="34" charset="0"/>
              </a:rPr>
              <a:t> Names are case insensitive. For example, EMP is treated as the same name as eMP or eMp.</a:t>
            </a:r>
          </a:p>
          <a:p>
            <a:pPr marL="114300" lvl="1" defTabSz="382588"/>
            <a:r>
              <a:rPr lang="en-US" altLang="en-US">
                <a:latin typeface="Arial" panose="020B0604020202020204" pitchFamily="34" charset="0"/>
              </a:rPr>
              <a:t>For more information, see</a:t>
            </a:r>
            <a:br>
              <a:rPr lang="en-US" altLang="en-US">
                <a:latin typeface="Arial" panose="020B0604020202020204" pitchFamily="34" charset="0"/>
              </a:rPr>
            </a:br>
            <a:r>
              <a:rPr lang="en-US" altLang="en-US" i="1">
                <a:latin typeface="Arial" panose="020B0604020202020204" pitchFamily="34" charset="0"/>
              </a:rPr>
              <a:t>Oracle Server SQL Reference, </a:t>
            </a:r>
            <a:r>
              <a:rPr lang="en-US" altLang="en-US">
                <a:latin typeface="Arial" panose="020B0604020202020204" pitchFamily="34" charset="0"/>
              </a:rPr>
              <a:t>Release 8, “Object Names and Qualifiers.”</a:t>
            </a:r>
          </a:p>
          <a:p>
            <a:pPr defTabSz="382588"/>
            <a:endParaRPr lang="en-US" altLang="en-US" b="1">
              <a:latin typeface="Times New Roman" panose="02020603050405020304" pitchFamily="18" charset="0"/>
            </a:endParaRPr>
          </a:p>
        </p:txBody>
      </p:sp>
      <p:sp>
        <p:nvSpPr>
          <p:cNvPr id="11269" name="Rectangle 5">
            <a:extLst>
              <a:ext uri="{FF2B5EF4-FFF2-40B4-BE49-F238E27FC236}">
                <a16:creationId xmlns:a16="http://schemas.microsoft.com/office/drawing/2014/main" id="{80FAE792-822A-12AD-6EA7-0D6E75318149}"/>
              </a:ext>
            </a:extLst>
          </p:cNvPr>
          <p:cNvSpPr>
            <a:spLocks noGrp="1" noRot="1" noChangeArrowheads="1" noTextEdit="1"/>
          </p:cNvSpPr>
          <p:nvPr>
            <p:ph type="sldImg"/>
          </p:nvPr>
        </p:nvSpPr>
        <p:spPr>
          <a:xfrm>
            <a:off x="441325" y="165100"/>
            <a:ext cx="5970588" cy="4478338"/>
          </a:xfrm>
          <a:ln w="12700" cap="flat">
            <a:solidFill>
              <a:schemeClr val="tx1"/>
            </a:solidFill>
          </a:ln>
        </p:spPr>
      </p:sp>
      <p:grpSp>
        <p:nvGrpSpPr>
          <p:cNvPr id="11270" name="Group 6">
            <a:extLst>
              <a:ext uri="{FF2B5EF4-FFF2-40B4-BE49-F238E27FC236}">
                <a16:creationId xmlns:a16="http://schemas.microsoft.com/office/drawing/2014/main" id="{439FAE68-E32C-8746-A557-D6100FCC1045}"/>
              </a:ext>
            </a:extLst>
          </p:cNvPr>
          <p:cNvGrpSpPr>
            <a:grpSpLocks/>
          </p:cNvGrpSpPr>
          <p:nvPr/>
        </p:nvGrpSpPr>
        <p:grpSpPr bwMode="auto">
          <a:xfrm>
            <a:off x="215900" y="7661275"/>
            <a:ext cx="296863" cy="295275"/>
            <a:chOff x="135" y="4739"/>
            <a:chExt cx="186" cy="182"/>
          </a:xfrm>
        </p:grpSpPr>
        <p:sp>
          <p:nvSpPr>
            <p:cNvPr id="11271" name="Freeform 7">
              <a:extLst>
                <a:ext uri="{FF2B5EF4-FFF2-40B4-BE49-F238E27FC236}">
                  <a16:creationId xmlns:a16="http://schemas.microsoft.com/office/drawing/2014/main" id="{FC514689-61BC-8A57-55B7-38A75C440112}"/>
                </a:ext>
              </a:extLst>
            </p:cNvPr>
            <p:cNvSpPr>
              <a:spLocks/>
            </p:cNvSpPr>
            <p:nvPr/>
          </p:nvSpPr>
          <p:spPr bwMode="auto">
            <a:xfrm>
              <a:off x="135" y="4739"/>
              <a:ext cx="179" cy="177"/>
            </a:xfrm>
            <a:custGeom>
              <a:avLst/>
              <a:gdLst>
                <a:gd name="T0" fmla="*/ 178 w 179"/>
                <a:gd name="T1" fmla="*/ 176 h 177"/>
                <a:gd name="T2" fmla="*/ 178 w 179"/>
                <a:gd name="T3" fmla="*/ 0 h 177"/>
                <a:gd name="T4" fmla="*/ 0 w 179"/>
                <a:gd name="T5" fmla="*/ 0 h 177"/>
                <a:gd name="T6" fmla="*/ 0 w 179"/>
                <a:gd name="T7" fmla="*/ 176 h 177"/>
                <a:gd name="T8" fmla="*/ 178 w 179"/>
                <a:gd name="T9" fmla="*/ 176 h 177"/>
                <a:gd name="T10" fmla="*/ 0 60000 65536"/>
                <a:gd name="T11" fmla="*/ 0 60000 65536"/>
                <a:gd name="T12" fmla="*/ 0 60000 65536"/>
                <a:gd name="T13" fmla="*/ 0 60000 65536"/>
                <a:gd name="T14" fmla="*/ 0 60000 65536"/>
                <a:gd name="T15" fmla="*/ 0 w 179"/>
                <a:gd name="T16" fmla="*/ 0 h 177"/>
                <a:gd name="T17" fmla="*/ 179 w 179"/>
                <a:gd name="T18" fmla="*/ 177 h 177"/>
              </a:gdLst>
              <a:ahLst/>
              <a:cxnLst>
                <a:cxn ang="T10">
                  <a:pos x="T0" y="T1"/>
                </a:cxn>
                <a:cxn ang="T11">
                  <a:pos x="T2" y="T3"/>
                </a:cxn>
                <a:cxn ang="T12">
                  <a:pos x="T4" y="T5"/>
                </a:cxn>
                <a:cxn ang="T13">
                  <a:pos x="T6" y="T7"/>
                </a:cxn>
                <a:cxn ang="T14">
                  <a:pos x="T8" y="T9"/>
                </a:cxn>
              </a:cxnLst>
              <a:rect l="T15" t="T16" r="T17" b="T18"/>
              <a:pathLst>
                <a:path w="179" h="177">
                  <a:moveTo>
                    <a:pt x="178" y="176"/>
                  </a:moveTo>
                  <a:lnTo>
                    <a:pt x="178" y="0"/>
                  </a:lnTo>
                  <a:lnTo>
                    <a:pt x="0" y="0"/>
                  </a:lnTo>
                  <a:lnTo>
                    <a:pt x="0" y="176"/>
                  </a:lnTo>
                  <a:lnTo>
                    <a:pt x="178" y="17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1272" name="Freeform 8">
              <a:extLst>
                <a:ext uri="{FF2B5EF4-FFF2-40B4-BE49-F238E27FC236}">
                  <a16:creationId xmlns:a16="http://schemas.microsoft.com/office/drawing/2014/main" id="{A8D19D28-76DC-1155-4658-90A119E865F9}"/>
                </a:ext>
              </a:extLst>
            </p:cNvPr>
            <p:cNvSpPr>
              <a:spLocks/>
            </p:cNvSpPr>
            <p:nvPr/>
          </p:nvSpPr>
          <p:spPr bwMode="auto">
            <a:xfrm>
              <a:off x="198" y="4804"/>
              <a:ext cx="68" cy="38"/>
            </a:xfrm>
            <a:custGeom>
              <a:avLst/>
              <a:gdLst>
                <a:gd name="T0" fmla="*/ 67 w 68"/>
                <a:gd name="T1" fmla="*/ 7 h 38"/>
                <a:gd name="T2" fmla="*/ 64 w 68"/>
                <a:gd name="T3" fmla="*/ 0 h 38"/>
                <a:gd name="T4" fmla="*/ 0 w 68"/>
                <a:gd name="T5" fmla="*/ 29 h 38"/>
                <a:gd name="T6" fmla="*/ 2 w 68"/>
                <a:gd name="T7" fmla="*/ 37 h 38"/>
                <a:gd name="T8" fmla="*/ 67 w 68"/>
                <a:gd name="T9" fmla="*/ 7 h 38"/>
                <a:gd name="T10" fmla="*/ 0 60000 65536"/>
                <a:gd name="T11" fmla="*/ 0 60000 65536"/>
                <a:gd name="T12" fmla="*/ 0 60000 65536"/>
                <a:gd name="T13" fmla="*/ 0 60000 65536"/>
                <a:gd name="T14" fmla="*/ 0 60000 65536"/>
                <a:gd name="T15" fmla="*/ 0 w 68"/>
                <a:gd name="T16" fmla="*/ 0 h 38"/>
                <a:gd name="T17" fmla="*/ 68 w 68"/>
                <a:gd name="T18" fmla="*/ 38 h 38"/>
              </a:gdLst>
              <a:ahLst/>
              <a:cxnLst>
                <a:cxn ang="T10">
                  <a:pos x="T0" y="T1"/>
                </a:cxn>
                <a:cxn ang="T11">
                  <a:pos x="T2" y="T3"/>
                </a:cxn>
                <a:cxn ang="T12">
                  <a:pos x="T4" y="T5"/>
                </a:cxn>
                <a:cxn ang="T13">
                  <a:pos x="T6" y="T7"/>
                </a:cxn>
                <a:cxn ang="T14">
                  <a:pos x="T8" y="T9"/>
                </a:cxn>
              </a:cxnLst>
              <a:rect l="T15" t="T16" r="T17" b="T18"/>
              <a:pathLst>
                <a:path w="68" h="38">
                  <a:moveTo>
                    <a:pt x="67" y="7"/>
                  </a:moveTo>
                  <a:lnTo>
                    <a:pt x="64" y="0"/>
                  </a:lnTo>
                  <a:lnTo>
                    <a:pt x="0" y="29"/>
                  </a:lnTo>
                  <a:lnTo>
                    <a:pt x="2" y="37"/>
                  </a:lnTo>
                  <a:lnTo>
                    <a:pt x="67"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1273" name="Freeform 9">
              <a:extLst>
                <a:ext uri="{FF2B5EF4-FFF2-40B4-BE49-F238E27FC236}">
                  <a16:creationId xmlns:a16="http://schemas.microsoft.com/office/drawing/2014/main" id="{84D19643-83F3-B651-7216-65E04B76CE8B}"/>
                </a:ext>
              </a:extLst>
            </p:cNvPr>
            <p:cNvSpPr>
              <a:spLocks/>
            </p:cNvSpPr>
            <p:nvPr/>
          </p:nvSpPr>
          <p:spPr bwMode="auto">
            <a:xfrm>
              <a:off x="204" y="4820"/>
              <a:ext cx="70" cy="37"/>
            </a:xfrm>
            <a:custGeom>
              <a:avLst/>
              <a:gdLst>
                <a:gd name="T0" fmla="*/ 69 w 70"/>
                <a:gd name="T1" fmla="*/ 7 h 37"/>
                <a:gd name="T2" fmla="*/ 65 w 70"/>
                <a:gd name="T3" fmla="*/ 0 h 37"/>
                <a:gd name="T4" fmla="*/ 0 w 70"/>
                <a:gd name="T5" fmla="*/ 29 h 37"/>
                <a:gd name="T6" fmla="*/ 3 w 70"/>
                <a:gd name="T7" fmla="*/ 36 h 37"/>
                <a:gd name="T8" fmla="*/ 69 w 70"/>
                <a:gd name="T9" fmla="*/ 7 h 37"/>
                <a:gd name="T10" fmla="*/ 0 60000 65536"/>
                <a:gd name="T11" fmla="*/ 0 60000 65536"/>
                <a:gd name="T12" fmla="*/ 0 60000 65536"/>
                <a:gd name="T13" fmla="*/ 0 60000 65536"/>
                <a:gd name="T14" fmla="*/ 0 60000 65536"/>
                <a:gd name="T15" fmla="*/ 0 w 70"/>
                <a:gd name="T16" fmla="*/ 0 h 37"/>
                <a:gd name="T17" fmla="*/ 70 w 70"/>
                <a:gd name="T18" fmla="*/ 37 h 37"/>
              </a:gdLst>
              <a:ahLst/>
              <a:cxnLst>
                <a:cxn ang="T10">
                  <a:pos x="T0" y="T1"/>
                </a:cxn>
                <a:cxn ang="T11">
                  <a:pos x="T2" y="T3"/>
                </a:cxn>
                <a:cxn ang="T12">
                  <a:pos x="T4" y="T5"/>
                </a:cxn>
                <a:cxn ang="T13">
                  <a:pos x="T6" y="T7"/>
                </a:cxn>
                <a:cxn ang="T14">
                  <a:pos x="T8" y="T9"/>
                </a:cxn>
              </a:cxnLst>
              <a:rect l="T15" t="T16" r="T17" b="T18"/>
              <a:pathLst>
                <a:path w="70" h="37">
                  <a:moveTo>
                    <a:pt x="69" y="7"/>
                  </a:moveTo>
                  <a:lnTo>
                    <a:pt x="65" y="0"/>
                  </a:lnTo>
                  <a:lnTo>
                    <a:pt x="0" y="29"/>
                  </a:lnTo>
                  <a:lnTo>
                    <a:pt x="3" y="36"/>
                  </a:lnTo>
                  <a:lnTo>
                    <a:pt x="69"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1274" name="Freeform 10">
              <a:extLst>
                <a:ext uri="{FF2B5EF4-FFF2-40B4-BE49-F238E27FC236}">
                  <a16:creationId xmlns:a16="http://schemas.microsoft.com/office/drawing/2014/main" id="{30EE9AD7-9987-514D-264A-B83A5E520D99}"/>
                </a:ext>
              </a:extLst>
            </p:cNvPr>
            <p:cNvSpPr>
              <a:spLocks/>
            </p:cNvSpPr>
            <p:nvPr/>
          </p:nvSpPr>
          <p:spPr bwMode="auto">
            <a:xfrm>
              <a:off x="210" y="4836"/>
              <a:ext cx="69" cy="34"/>
            </a:xfrm>
            <a:custGeom>
              <a:avLst/>
              <a:gdLst>
                <a:gd name="T0" fmla="*/ 68 w 69"/>
                <a:gd name="T1" fmla="*/ 6 h 34"/>
                <a:gd name="T2" fmla="*/ 65 w 69"/>
                <a:gd name="T3" fmla="*/ 0 h 34"/>
                <a:gd name="T4" fmla="*/ 0 w 69"/>
                <a:gd name="T5" fmla="*/ 26 h 34"/>
                <a:gd name="T6" fmla="*/ 3 w 69"/>
                <a:gd name="T7" fmla="*/ 33 h 34"/>
                <a:gd name="T8" fmla="*/ 68 w 69"/>
                <a:gd name="T9" fmla="*/ 6 h 34"/>
                <a:gd name="T10" fmla="*/ 0 60000 65536"/>
                <a:gd name="T11" fmla="*/ 0 60000 65536"/>
                <a:gd name="T12" fmla="*/ 0 60000 65536"/>
                <a:gd name="T13" fmla="*/ 0 60000 65536"/>
                <a:gd name="T14" fmla="*/ 0 60000 65536"/>
                <a:gd name="T15" fmla="*/ 0 w 69"/>
                <a:gd name="T16" fmla="*/ 0 h 34"/>
                <a:gd name="T17" fmla="*/ 69 w 69"/>
                <a:gd name="T18" fmla="*/ 34 h 34"/>
              </a:gdLst>
              <a:ahLst/>
              <a:cxnLst>
                <a:cxn ang="T10">
                  <a:pos x="T0" y="T1"/>
                </a:cxn>
                <a:cxn ang="T11">
                  <a:pos x="T2" y="T3"/>
                </a:cxn>
                <a:cxn ang="T12">
                  <a:pos x="T4" y="T5"/>
                </a:cxn>
                <a:cxn ang="T13">
                  <a:pos x="T6" y="T7"/>
                </a:cxn>
                <a:cxn ang="T14">
                  <a:pos x="T8" y="T9"/>
                </a:cxn>
              </a:cxnLst>
              <a:rect l="T15" t="T16" r="T17" b="T18"/>
              <a:pathLst>
                <a:path w="69" h="34">
                  <a:moveTo>
                    <a:pt x="68" y="6"/>
                  </a:moveTo>
                  <a:lnTo>
                    <a:pt x="65" y="0"/>
                  </a:lnTo>
                  <a:lnTo>
                    <a:pt x="0" y="26"/>
                  </a:lnTo>
                  <a:lnTo>
                    <a:pt x="3" y="33"/>
                  </a:lnTo>
                  <a:lnTo>
                    <a:pt x="68"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1275" name="Freeform 11">
              <a:extLst>
                <a:ext uri="{FF2B5EF4-FFF2-40B4-BE49-F238E27FC236}">
                  <a16:creationId xmlns:a16="http://schemas.microsoft.com/office/drawing/2014/main" id="{CBD119CB-4C9E-C4FF-17B6-1A5E9ABD07D8}"/>
                </a:ext>
              </a:extLst>
            </p:cNvPr>
            <p:cNvSpPr>
              <a:spLocks/>
            </p:cNvSpPr>
            <p:nvPr/>
          </p:nvSpPr>
          <p:spPr bwMode="auto">
            <a:xfrm>
              <a:off x="219" y="4853"/>
              <a:ext cx="70" cy="35"/>
            </a:xfrm>
            <a:custGeom>
              <a:avLst/>
              <a:gdLst>
                <a:gd name="T0" fmla="*/ 69 w 70"/>
                <a:gd name="T1" fmla="*/ 6 h 35"/>
                <a:gd name="T2" fmla="*/ 65 w 70"/>
                <a:gd name="T3" fmla="*/ 0 h 35"/>
                <a:gd name="T4" fmla="*/ 0 w 70"/>
                <a:gd name="T5" fmla="*/ 27 h 35"/>
                <a:gd name="T6" fmla="*/ 3 w 70"/>
                <a:gd name="T7" fmla="*/ 34 h 35"/>
                <a:gd name="T8" fmla="*/ 69 w 70"/>
                <a:gd name="T9" fmla="*/ 6 h 35"/>
                <a:gd name="T10" fmla="*/ 0 60000 65536"/>
                <a:gd name="T11" fmla="*/ 0 60000 65536"/>
                <a:gd name="T12" fmla="*/ 0 60000 65536"/>
                <a:gd name="T13" fmla="*/ 0 60000 65536"/>
                <a:gd name="T14" fmla="*/ 0 60000 65536"/>
                <a:gd name="T15" fmla="*/ 0 w 70"/>
                <a:gd name="T16" fmla="*/ 0 h 35"/>
                <a:gd name="T17" fmla="*/ 70 w 70"/>
                <a:gd name="T18" fmla="*/ 35 h 35"/>
              </a:gdLst>
              <a:ahLst/>
              <a:cxnLst>
                <a:cxn ang="T10">
                  <a:pos x="T0" y="T1"/>
                </a:cxn>
                <a:cxn ang="T11">
                  <a:pos x="T2" y="T3"/>
                </a:cxn>
                <a:cxn ang="T12">
                  <a:pos x="T4" y="T5"/>
                </a:cxn>
                <a:cxn ang="T13">
                  <a:pos x="T6" y="T7"/>
                </a:cxn>
                <a:cxn ang="T14">
                  <a:pos x="T8" y="T9"/>
                </a:cxn>
              </a:cxnLst>
              <a:rect l="T15" t="T16" r="T17" b="T18"/>
              <a:pathLst>
                <a:path w="70" h="35">
                  <a:moveTo>
                    <a:pt x="69" y="6"/>
                  </a:moveTo>
                  <a:lnTo>
                    <a:pt x="65" y="0"/>
                  </a:lnTo>
                  <a:lnTo>
                    <a:pt x="0" y="27"/>
                  </a:lnTo>
                  <a:lnTo>
                    <a:pt x="3" y="34"/>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1276" name="Freeform 12">
              <a:extLst>
                <a:ext uri="{FF2B5EF4-FFF2-40B4-BE49-F238E27FC236}">
                  <a16:creationId xmlns:a16="http://schemas.microsoft.com/office/drawing/2014/main" id="{660FCD75-51BB-6B0F-FA2B-C352850545F9}"/>
                </a:ext>
              </a:extLst>
            </p:cNvPr>
            <p:cNvSpPr>
              <a:spLocks/>
            </p:cNvSpPr>
            <p:nvPr/>
          </p:nvSpPr>
          <p:spPr bwMode="auto">
            <a:xfrm>
              <a:off x="227" y="4868"/>
              <a:ext cx="69" cy="39"/>
            </a:xfrm>
            <a:custGeom>
              <a:avLst/>
              <a:gdLst>
                <a:gd name="T0" fmla="*/ 68 w 69"/>
                <a:gd name="T1" fmla="*/ 7 h 39"/>
                <a:gd name="T2" fmla="*/ 65 w 69"/>
                <a:gd name="T3" fmla="*/ 0 h 39"/>
                <a:gd name="T4" fmla="*/ 0 w 69"/>
                <a:gd name="T5" fmla="*/ 30 h 39"/>
                <a:gd name="T6" fmla="*/ 3 w 69"/>
                <a:gd name="T7" fmla="*/ 38 h 39"/>
                <a:gd name="T8" fmla="*/ 68 w 69"/>
                <a:gd name="T9" fmla="*/ 7 h 39"/>
                <a:gd name="T10" fmla="*/ 0 60000 65536"/>
                <a:gd name="T11" fmla="*/ 0 60000 65536"/>
                <a:gd name="T12" fmla="*/ 0 60000 65536"/>
                <a:gd name="T13" fmla="*/ 0 60000 65536"/>
                <a:gd name="T14" fmla="*/ 0 60000 65536"/>
                <a:gd name="T15" fmla="*/ 0 w 69"/>
                <a:gd name="T16" fmla="*/ 0 h 39"/>
                <a:gd name="T17" fmla="*/ 69 w 69"/>
                <a:gd name="T18" fmla="*/ 39 h 39"/>
              </a:gdLst>
              <a:ahLst/>
              <a:cxnLst>
                <a:cxn ang="T10">
                  <a:pos x="T0" y="T1"/>
                </a:cxn>
                <a:cxn ang="T11">
                  <a:pos x="T2" y="T3"/>
                </a:cxn>
                <a:cxn ang="T12">
                  <a:pos x="T4" y="T5"/>
                </a:cxn>
                <a:cxn ang="T13">
                  <a:pos x="T6" y="T7"/>
                </a:cxn>
                <a:cxn ang="T14">
                  <a:pos x="T8" y="T9"/>
                </a:cxn>
              </a:cxnLst>
              <a:rect l="T15" t="T16" r="T17" b="T18"/>
              <a:pathLst>
                <a:path w="69" h="39">
                  <a:moveTo>
                    <a:pt x="68" y="7"/>
                  </a:moveTo>
                  <a:lnTo>
                    <a:pt x="65" y="0"/>
                  </a:lnTo>
                  <a:lnTo>
                    <a:pt x="0" y="30"/>
                  </a:lnTo>
                  <a:lnTo>
                    <a:pt x="3" y="38"/>
                  </a:lnTo>
                  <a:lnTo>
                    <a:pt x="68"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1277" name="Freeform 13">
              <a:extLst>
                <a:ext uri="{FF2B5EF4-FFF2-40B4-BE49-F238E27FC236}">
                  <a16:creationId xmlns:a16="http://schemas.microsoft.com/office/drawing/2014/main" id="{48CA5E2F-7177-BD58-4675-1B51D8EDB48A}"/>
                </a:ext>
              </a:extLst>
            </p:cNvPr>
            <p:cNvSpPr>
              <a:spLocks/>
            </p:cNvSpPr>
            <p:nvPr/>
          </p:nvSpPr>
          <p:spPr bwMode="auto">
            <a:xfrm>
              <a:off x="157" y="4767"/>
              <a:ext cx="120" cy="58"/>
            </a:xfrm>
            <a:custGeom>
              <a:avLst/>
              <a:gdLst>
                <a:gd name="T0" fmla="*/ 119 w 120"/>
                <a:gd name="T1" fmla="*/ 7 h 58"/>
                <a:gd name="T2" fmla="*/ 117 w 120"/>
                <a:gd name="T3" fmla="*/ 0 h 58"/>
                <a:gd name="T4" fmla="*/ 0 w 120"/>
                <a:gd name="T5" fmla="*/ 50 h 58"/>
                <a:gd name="T6" fmla="*/ 2 w 120"/>
                <a:gd name="T7" fmla="*/ 57 h 58"/>
                <a:gd name="T8" fmla="*/ 119 w 120"/>
                <a:gd name="T9" fmla="*/ 7 h 58"/>
                <a:gd name="T10" fmla="*/ 0 60000 65536"/>
                <a:gd name="T11" fmla="*/ 0 60000 65536"/>
                <a:gd name="T12" fmla="*/ 0 60000 65536"/>
                <a:gd name="T13" fmla="*/ 0 60000 65536"/>
                <a:gd name="T14" fmla="*/ 0 60000 65536"/>
                <a:gd name="T15" fmla="*/ 0 w 120"/>
                <a:gd name="T16" fmla="*/ 0 h 58"/>
                <a:gd name="T17" fmla="*/ 120 w 120"/>
                <a:gd name="T18" fmla="*/ 58 h 58"/>
              </a:gdLst>
              <a:ahLst/>
              <a:cxnLst>
                <a:cxn ang="T10">
                  <a:pos x="T0" y="T1"/>
                </a:cxn>
                <a:cxn ang="T11">
                  <a:pos x="T2" y="T3"/>
                </a:cxn>
                <a:cxn ang="T12">
                  <a:pos x="T4" y="T5"/>
                </a:cxn>
                <a:cxn ang="T13">
                  <a:pos x="T6" y="T7"/>
                </a:cxn>
                <a:cxn ang="T14">
                  <a:pos x="T8" y="T9"/>
                </a:cxn>
              </a:cxnLst>
              <a:rect l="T15" t="T16" r="T17" b="T18"/>
              <a:pathLst>
                <a:path w="120" h="58">
                  <a:moveTo>
                    <a:pt x="119" y="7"/>
                  </a:moveTo>
                  <a:lnTo>
                    <a:pt x="117" y="0"/>
                  </a:lnTo>
                  <a:lnTo>
                    <a:pt x="0" y="50"/>
                  </a:lnTo>
                  <a:lnTo>
                    <a:pt x="2" y="57"/>
                  </a:lnTo>
                  <a:lnTo>
                    <a:pt x="119"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1278" name="Freeform 14">
              <a:extLst>
                <a:ext uri="{FF2B5EF4-FFF2-40B4-BE49-F238E27FC236}">
                  <a16:creationId xmlns:a16="http://schemas.microsoft.com/office/drawing/2014/main" id="{885FEE4A-9EAC-61CB-09B4-E299D7628C26}"/>
                </a:ext>
              </a:extLst>
            </p:cNvPr>
            <p:cNvSpPr>
              <a:spLocks/>
            </p:cNvSpPr>
            <p:nvPr/>
          </p:nvSpPr>
          <p:spPr bwMode="auto">
            <a:xfrm>
              <a:off x="139" y="4755"/>
              <a:ext cx="123" cy="59"/>
            </a:xfrm>
            <a:custGeom>
              <a:avLst/>
              <a:gdLst>
                <a:gd name="T0" fmla="*/ 122 w 123"/>
                <a:gd name="T1" fmla="*/ 7 h 59"/>
                <a:gd name="T2" fmla="*/ 119 w 123"/>
                <a:gd name="T3" fmla="*/ 0 h 59"/>
                <a:gd name="T4" fmla="*/ 0 w 123"/>
                <a:gd name="T5" fmla="*/ 51 h 59"/>
                <a:gd name="T6" fmla="*/ 2 w 123"/>
                <a:gd name="T7" fmla="*/ 58 h 59"/>
                <a:gd name="T8" fmla="*/ 122 w 123"/>
                <a:gd name="T9" fmla="*/ 7 h 59"/>
                <a:gd name="T10" fmla="*/ 0 60000 65536"/>
                <a:gd name="T11" fmla="*/ 0 60000 65536"/>
                <a:gd name="T12" fmla="*/ 0 60000 65536"/>
                <a:gd name="T13" fmla="*/ 0 60000 65536"/>
                <a:gd name="T14" fmla="*/ 0 60000 65536"/>
                <a:gd name="T15" fmla="*/ 0 w 123"/>
                <a:gd name="T16" fmla="*/ 0 h 59"/>
                <a:gd name="T17" fmla="*/ 123 w 123"/>
                <a:gd name="T18" fmla="*/ 59 h 59"/>
              </a:gdLst>
              <a:ahLst/>
              <a:cxnLst>
                <a:cxn ang="T10">
                  <a:pos x="T0" y="T1"/>
                </a:cxn>
                <a:cxn ang="T11">
                  <a:pos x="T2" y="T3"/>
                </a:cxn>
                <a:cxn ang="T12">
                  <a:pos x="T4" y="T5"/>
                </a:cxn>
                <a:cxn ang="T13">
                  <a:pos x="T6" y="T7"/>
                </a:cxn>
                <a:cxn ang="T14">
                  <a:pos x="T8" y="T9"/>
                </a:cxn>
              </a:cxnLst>
              <a:rect l="T15" t="T16" r="T17" b="T18"/>
              <a:pathLst>
                <a:path w="123" h="59">
                  <a:moveTo>
                    <a:pt x="122" y="7"/>
                  </a:moveTo>
                  <a:lnTo>
                    <a:pt x="119" y="0"/>
                  </a:lnTo>
                  <a:lnTo>
                    <a:pt x="0" y="51"/>
                  </a:lnTo>
                  <a:lnTo>
                    <a:pt x="2" y="58"/>
                  </a:lnTo>
                  <a:lnTo>
                    <a:pt x="122"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1279" name="Freeform 15">
              <a:extLst>
                <a:ext uri="{FF2B5EF4-FFF2-40B4-BE49-F238E27FC236}">
                  <a16:creationId xmlns:a16="http://schemas.microsoft.com/office/drawing/2014/main" id="{87C9E34E-1D70-5862-2D0D-2C6C85A77773}"/>
                </a:ext>
              </a:extLst>
            </p:cNvPr>
            <p:cNvSpPr>
              <a:spLocks/>
            </p:cNvSpPr>
            <p:nvPr/>
          </p:nvSpPr>
          <p:spPr bwMode="auto">
            <a:xfrm>
              <a:off x="266" y="4769"/>
              <a:ext cx="55" cy="104"/>
            </a:xfrm>
            <a:custGeom>
              <a:avLst/>
              <a:gdLst>
                <a:gd name="T0" fmla="*/ 46 w 55"/>
                <a:gd name="T1" fmla="*/ 103 h 104"/>
                <a:gd name="T2" fmla="*/ 54 w 55"/>
                <a:gd name="T3" fmla="*/ 100 h 104"/>
                <a:gd name="T4" fmla="*/ 7 w 55"/>
                <a:gd name="T5" fmla="*/ 0 h 104"/>
                <a:gd name="T6" fmla="*/ 0 w 55"/>
                <a:gd name="T7" fmla="*/ 2 h 104"/>
                <a:gd name="T8" fmla="*/ 46 w 55"/>
                <a:gd name="T9" fmla="*/ 103 h 104"/>
                <a:gd name="T10" fmla="*/ 0 60000 65536"/>
                <a:gd name="T11" fmla="*/ 0 60000 65536"/>
                <a:gd name="T12" fmla="*/ 0 60000 65536"/>
                <a:gd name="T13" fmla="*/ 0 60000 65536"/>
                <a:gd name="T14" fmla="*/ 0 60000 65536"/>
                <a:gd name="T15" fmla="*/ 0 w 55"/>
                <a:gd name="T16" fmla="*/ 0 h 104"/>
                <a:gd name="T17" fmla="*/ 55 w 55"/>
                <a:gd name="T18" fmla="*/ 104 h 104"/>
              </a:gdLst>
              <a:ahLst/>
              <a:cxnLst>
                <a:cxn ang="T10">
                  <a:pos x="T0" y="T1"/>
                </a:cxn>
                <a:cxn ang="T11">
                  <a:pos x="T2" y="T3"/>
                </a:cxn>
                <a:cxn ang="T12">
                  <a:pos x="T4" y="T5"/>
                </a:cxn>
                <a:cxn ang="T13">
                  <a:pos x="T6" y="T7"/>
                </a:cxn>
                <a:cxn ang="T14">
                  <a:pos x="T8" y="T9"/>
                </a:cxn>
              </a:cxnLst>
              <a:rect l="T15" t="T16" r="T17" b="T18"/>
              <a:pathLst>
                <a:path w="55" h="104">
                  <a:moveTo>
                    <a:pt x="46" y="103"/>
                  </a:moveTo>
                  <a:lnTo>
                    <a:pt x="54" y="100"/>
                  </a:lnTo>
                  <a:lnTo>
                    <a:pt x="7" y="0"/>
                  </a:lnTo>
                  <a:lnTo>
                    <a:pt x="0" y="2"/>
                  </a:lnTo>
                  <a:lnTo>
                    <a:pt x="46" y="103"/>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1280" name="Freeform 16">
              <a:extLst>
                <a:ext uri="{FF2B5EF4-FFF2-40B4-BE49-F238E27FC236}">
                  <a16:creationId xmlns:a16="http://schemas.microsoft.com/office/drawing/2014/main" id="{C738345A-1AA6-7525-23BB-02C9623613D0}"/>
                </a:ext>
              </a:extLst>
            </p:cNvPr>
            <p:cNvSpPr>
              <a:spLocks/>
            </p:cNvSpPr>
            <p:nvPr/>
          </p:nvSpPr>
          <p:spPr bwMode="auto">
            <a:xfrm>
              <a:off x="157" y="4814"/>
              <a:ext cx="51" cy="107"/>
            </a:xfrm>
            <a:custGeom>
              <a:avLst/>
              <a:gdLst>
                <a:gd name="T0" fmla="*/ 43 w 51"/>
                <a:gd name="T1" fmla="*/ 106 h 107"/>
                <a:gd name="T2" fmla="*/ 50 w 51"/>
                <a:gd name="T3" fmla="*/ 102 h 107"/>
                <a:gd name="T4" fmla="*/ 6 w 51"/>
                <a:gd name="T5" fmla="*/ 0 h 107"/>
                <a:gd name="T6" fmla="*/ 0 w 51"/>
                <a:gd name="T7" fmla="*/ 4 h 107"/>
                <a:gd name="T8" fmla="*/ 43 w 51"/>
                <a:gd name="T9" fmla="*/ 106 h 107"/>
                <a:gd name="T10" fmla="*/ 0 60000 65536"/>
                <a:gd name="T11" fmla="*/ 0 60000 65536"/>
                <a:gd name="T12" fmla="*/ 0 60000 65536"/>
                <a:gd name="T13" fmla="*/ 0 60000 65536"/>
                <a:gd name="T14" fmla="*/ 0 60000 65536"/>
                <a:gd name="T15" fmla="*/ 0 w 51"/>
                <a:gd name="T16" fmla="*/ 0 h 107"/>
                <a:gd name="T17" fmla="*/ 51 w 51"/>
                <a:gd name="T18" fmla="*/ 107 h 107"/>
              </a:gdLst>
              <a:ahLst/>
              <a:cxnLst>
                <a:cxn ang="T10">
                  <a:pos x="T0" y="T1"/>
                </a:cxn>
                <a:cxn ang="T11">
                  <a:pos x="T2" y="T3"/>
                </a:cxn>
                <a:cxn ang="T12">
                  <a:pos x="T4" y="T5"/>
                </a:cxn>
                <a:cxn ang="T13">
                  <a:pos x="T6" y="T7"/>
                </a:cxn>
                <a:cxn ang="T14">
                  <a:pos x="T8" y="T9"/>
                </a:cxn>
              </a:cxnLst>
              <a:rect l="T15" t="T16" r="T17" b="T18"/>
              <a:pathLst>
                <a:path w="51" h="107">
                  <a:moveTo>
                    <a:pt x="43" y="106"/>
                  </a:moveTo>
                  <a:lnTo>
                    <a:pt x="50" y="102"/>
                  </a:lnTo>
                  <a:lnTo>
                    <a:pt x="6" y="0"/>
                  </a:lnTo>
                  <a:lnTo>
                    <a:pt x="0" y="4"/>
                  </a:lnTo>
                  <a:lnTo>
                    <a:pt x="43" y="10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1281" name="Freeform 17">
              <a:extLst>
                <a:ext uri="{FF2B5EF4-FFF2-40B4-BE49-F238E27FC236}">
                  <a16:creationId xmlns:a16="http://schemas.microsoft.com/office/drawing/2014/main" id="{09D0350A-3692-DBE4-6358-A7E11B620701}"/>
                </a:ext>
              </a:extLst>
            </p:cNvPr>
            <p:cNvSpPr>
              <a:spLocks/>
            </p:cNvSpPr>
            <p:nvPr/>
          </p:nvSpPr>
          <p:spPr bwMode="auto">
            <a:xfrm>
              <a:off x="135" y="4806"/>
              <a:ext cx="60" cy="115"/>
            </a:xfrm>
            <a:custGeom>
              <a:avLst/>
              <a:gdLst>
                <a:gd name="T0" fmla="*/ 51 w 60"/>
                <a:gd name="T1" fmla="*/ 114 h 115"/>
                <a:gd name="T2" fmla="*/ 59 w 60"/>
                <a:gd name="T3" fmla="*/ 111 h 115"/>
                <a:gd name="T4" fmla="*/ 6 w 60"/>
                <a:gd name="T5" fmla="*/ 0 h 115"/>
                <a:gd name="T6" fmla="*/ 0 w 60"/>
                <a:gd name="T7" fmla="*/ 2 h 115"/>
                <a:gd name="T8" fmla="*/ 51 w 60"/>
                <a:gd name="T9" fmla="*/ 114 h 115"/>
                <a:gd name="T10" fmla="*/ 0 60000 65536"/>
                <a:gd name="T11" fmla="*/ 0 60000 65536"/>
                <a:gd name="T12" fmla="*/ 0 60000 65536"/>
                <a:gd name="T13" fmla="*/ 0 60000 65536"/>
                <a:gd name="T14" fmla="*/ 0 60000 65536"/>
                <a:gd name="T15" fmla="*/ 0 w 60"/>
                <a:gd name="T16" fmla="*/ 0 h 115"/>
                <a:gd name="T17" fmla="*/ 60 w 60"/>
                <a:gd name="T18" fmla="*/ 115 h 115"/>
              </a:gdLst>
              <a:ahLst/>
              <a:cxnLst>
                <a:cxn ang="T10">
                  <a:pos x="T0" y="T1"/>
                </a:cxn>
                <a:cxn ang="T11">
                  <a:pos x="T2" y="T3"/>
                </a:cxn>
                <a:cxn ang="T12">
                  <a:pos x="T4" y="T5"/>
                </a:cxn>
                <a:cxn ang="T13">
                  <a:pos x="T6" y="T7"/>
                </a:cxn>
                <a:cxn ang="T14">
                  <a:pos x="T8" y="T9"/>
                </a:cxn>
              </a:cxnLst>
              <a:rect l="T15" t="T16" r="T17" b="T18"/>
              <a:pathLst>
                <a:path w="60" h="115">
                  <a:moveTo>
                    <a:pt x="51" y="114"/>
                  </a:moveTo>
                  <a:lnTo>
                    <a:pt x="59" y="111"/>
                  </a:lnTo>
                  <a:lnTo>
                    <a:pt x="6" y="0"/>
                  </a:lnTo>
                  <a:lnTo>
                    <a:pt x="0" y="2"/>
                  </a:lnTo>
                  <a:lnTo>
                    <a:pt x="51"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1282" name="Freeform 18">
              <a:extLst>
                <a:ext uri="{FF2B5EF4-FFF2-40B4-BE49-F238E27FC236}">
                  <a16:creationId xmlns:a16="http://schemas.microsoft.com/office/drawing/2014/main" id="{D841B343-86C0-E4A0-18F8-192FDFEE7623}"/>
                </a:ext>
              </a:extLst>
            </p:cNvPr>
            <p:cNvSpPr>
              <a:spLocks/>
            </p:cNvSpPr>
            <p:nvPr/>
          </p:nvSpPr>
          <p:spPr bwMode="auto">
            <a:xfrm>
              <a:off x="138" y="4806"/>
              <a:ext cx="27" cy="18"/>
            </a:xfrm>
            <a:custGeom>
              <a:avLst/>
              <a:gdLst>
                <a:gd name="T0" fmla="*/ 22 w 27"/>
                <a:gd name="T1" fmla="*/ 17 h 18"/>
                <a:gd name="T2" fmla="*/ 26 w 27"/>
                <a:gd name="T3" fmla="*/ 10 h 18"/>
                <a:gd name="T4" fmla="*/ 4 w 27"/>
                <a:gd name="T5" fmla="*/ 0 h 18"/>
                <a:gd name="T6" fmla="*/ 0 w 27"/>
                <a:gd name="T7" fmla="*/ 6 h 18"/>
                <a:gd name="T8" fmla="*/ 22 w 27"/>
                <a:gd name="T9" fmla="*/ 17 h 18"/>
                <a:gd name="T10" fmla="*/ 0 60000 65536"/>
                <a:gd name="T11" fmla="*/ 0 60000 65536"/>
                <a:gd name="T12" fmla="*/ 0 60000 65536"/>
                <a:gd name="T13" fmla="*/ 0 60000 65536"/>
                <a:gd name="T14" fmla="*/ 0 60000 65536"/>
                <a:gd name="T15" fmla="*/ 0 w 27"/>
                <a:gd name="T16" fmla="*/ 0 h 18"/>
                <a:gd name="T17" fmla="*/ 27 w 27"/>
                <a:gd name="T18" fmla="*/ 18 h 18"/>
              </a:gdLst>
              <a:ahLst/>
              <a:cxnLst>
                <a:cxn ang="T10">
                  <a:pos x="T0" y="T1"/>
                </a:cxn>
                <a:cxn ang="T11">
                  <a:pos x="T2" y="T3"/>
                </a:cxn>
                <a:cxn ang="T12">
                  <a:pos x="T4" y="T5"/>
                </a:cxn>
                <a:cxn ang="T13">
                  <a:pos x="T6" y="T7"/>
                </a:cxn>
                <a:cxn ang="T14">
                  <a:pos x="T8" y="T9"/>
                </a:cxn>
              </a:cxnLst>
              <a:rect l="T15" t="T16" r="T17" b="T18"/>
              <a:pathLst>
                <a:path w="27" h="18">
                  <a:moveTo>
                    <a:pt x="22" y="17"/>
                  </a:moveTo>
                  <a:lnTo>
                    <a:pt x="26" y="10"/>
                  </a:lnTo>
                  <a:lnTo>
                    <a:pt x="4" y="0"/>
                  </a:lnTo>
                  <a:lnTo>
                    <a:pt x="0" y="6"/>
                  </a:lnTo>
                  <a:lnTo>
                    <a:pt x="22"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1283" name="Freeform 19">
              <a:extLst>
                <a:ext uri="{FF2B5EF4-FFF2-40B4-BE49-F238E27FC236}">
                  <a16:creationId xmlns:a16="http://schemas.microsoft.com/office/drawing/2014/main" id="{4AB02A32-33E6-6756-4516-E7CA7307ECFA}"/>
                </a:ext>
              </a:extLst>
            </p:cNvPr>
            <p:cNvSpPr>
              <a:spLocks/>
            </p:cNvSpPr>
            <p:nvPr/>
          </p:nvSpPr>
          <p:spPr bwMode="auto">
            <a:xfrm>
              <a:off x="245" y="4762"/>
              <a:ext cx="29" cy="19"/>
            </a:xfrm>
            <a:custGeom>
              <a:avLst/>
              <a:gdLst>
                <a:gd name="T0" fmla="*/ 24 w 29"/>
                <a:gd name="T1" fmla="*/ 18 h 19"/>
                <a:gd name="T2" fmla="*/ 28 w 29"/>
                <a:gd name="T3" fmla="*/ 11 h 19"/>
                <a:gd name="T4" fmla="*/ 4 w 29"/>
                <a:gd name="T5" fmla="*/ 0 h 19"/>
                <a:gd name="T6" fmla="*/ 0 w 29"/>
                <a:gd name="T7" fmla="*/ 6 h 19"/>
                <a:gd name="T8" fmla="*/ 24 w 29"/>
                <a:gd name="T9" fmla="*/ 18 h 19"/>
                <a:gd name="T10" fmla="*/ 0 60000 65536"/>
                <a:gd name="T11" fmla="*/ 0 60000 65536"/>
                <a:gd name="T12" fmla="*/ 0 60000 65536"/>
                <a:gd name="T13" fmla="*/ 0 60000 65536"/>
                <a:gd name="T14" fmla="*/ 0 60000 65536"/>
                <a:gd name="T15" fmla="*/ 0 w 29"/>
                <a:gd name="T16" fmla="*/ 0 h 19"/>
                <a:gd name="T17" fmla="*/ 29 w 29"/>
                <a:gd name="T18" fmla="*/ 19 h 19"/>
              </a:gdLst>
              <a:ahLst/>
              <a:cxnLst>
                <a:cxn ang="T10">
                  <a:pos x="T0" y="T1"/>
                </a:cxn>
                <a:cxn ang="T11">
                  <a:pos x="T2" y="T3"/>
                </a:cxn>
                <a:cxn ang="T12">
                  <a:pos x="T4" y="T5"/>
                </a:cxn>
                <a:cxn ang="T13">
                  <a:pos x="T6" y="T7"/>
                </a:cxn>
                <a:cxn ang="T14">
                  <a:pos x="T8" y="T9"/>
                </a:cxn>
              </a:cxnLst>
              <a:rect l="T15" t="T16" r="T17" b="T18"/>
              <a:pathLst>
                <a:path w="29" h="19">
                  <a:moveTo>
                    <a:pt x="24" y="18"/>
                  </a:moveTo>
                  <a:lnTo>
                    <a:pt x="28" y="11"/>
                  </a:lnTo>
                  <a:lnTo>
                    <a:pt x="4" y="0"/>
                  </a:lnTo>
                  <a:lnTo>
                    <a:pt x="0" y="6"/>
                  </a:lnTo>
                  <a:lnTo>
                    <a:pt x="24"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24590857-2DD6-179A-5AE1-A4117CE0FD64}"/>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The CREATE TABLE Statement</a:t>
            </a:r>
          </a:p>
          <a:p>
            <a:pPr lvl="1"/>
            <a:r>
              <a:rPr lang="en-US" altLang="en-US">
                <a:latin typeface="Arial" panose="020B0604020202020204" pitchFamily="34" charset="0"/>
              </a:rPr>
              <a:t>Create tables to store data by executing the SQL CREATE TABLE statement. This statement is one of the </a:t>
            </a:r>
            <a:r>
              <a:rPr lang="en-US" altLang="en-US">
                <a:solidFill>
                  <a:srgbClr val="FC0128"/>
                </a:solidFill>
                <a:latin typeface="Arial" panose="020B0604020202020204" pitchFamily="34" charset="0"/>
              </a:rPr>
              <a:t>data definition language </a:t>
            </a:r>
            <a:r>
              <a:rPr lang="en-US" altLang="en-US">
                <a:latin typeface="Arial" panose="020B0604020202020204" pitchFamily="34" charset="0"/>
              </a:rPr>
              <a:t>(</a:t>
            </a:r>
            <a:r>
              <a:rPr lang="en-US" altLang="en-US">
                <a:solidFill>
                  <a:srgbClr val="FC0128"/>
                </a:solidFill>
                <a:latin typeface="Arial" panose="020B0604020202020204" pitchFamily="34" charset="0"/>
              </a:rPr>
              <a:t>DDL)</a:t>
            </a:r>
            <a:r>
              <a:rPr lang="en-US" altLang="en-US">
                <a:latin typeface="Arial" panose="020B0604020202020204" pitchFamily="34" charset="0"/>
              </a:rPr>
              <a:t> statements, which are covered in subsequent lessons. DDL statements are a subset of SQL statements used to create, modify, or remove Oracle8 database structures. These statements have an immediate effect on the database, and they also record information in the data dictionary. </a:t>
            </a:r>
          </a:p>
          <a:p>
            <a:pPr lvl="1"/>
            <a:r>
              <a:rPr lang="en-US" altLang="en-US">
                <a:latin typeface="Arial" panose="020B0604020202020204" pitchFamily="34" charset="0"/>
              </a:rPr>
              <a:t>To create a table, a user must have the </a:t>
            </a:r>
            <a:r>
              <a:rPr lang="en-US" altLang="en-US">
                <a:solidFill>
                  <a:srgbClr val="FC0128"/>
                </a:solidFill>
                <a:latin typeface="Arial" panose="020B0604020202020204" pitchFamily="34" charset="0"/>
              </a:rPr>
              <a:t>CREATE TABLE </a:t>
            </a:r>
            <a:r>
              <a:rPr lang="en-US" altLang="en-US">
                <a:latin typeface="Arial" panose="020B0604020202020204" pitchFamily="34" charset="0"/>
              </a:rPr>
              <a:t>privilege and a storage area in which to create objects. The database administrator uses data control language (DCL) statements, which are covered in a later lesson, to grant privileges to users.</a:t>
            </a:r>
          </a:p>
          <a:p>
            <a:pPr lvl="1"/>
            <a:r>
              <a:rPr lang="en-US" altLang="en-US">
                <a:latin typeface="Arial" panose="020B0604020202020204" pitchFamily="34" charset="0"/>
              </a:rPr>
              <a:t>In the syntax:</a:t>
            </a:r>
          </a:p>
          <a:p>
            <a:pPr lvl="1"/>
            <a:r>
              <a:rPr lang="en-US" altLang="en-US">
                <a:latin typeface="Arial" panose="020B0604020202020204" pitchFamily="34" charset="0"/>
              </a:rPr>
              <a:t>	</a:t>
            </a:r>
            <a:r>
              <a:rPr lang="en-US" altLang="en-US" i="1">
                <a:latin typeface="Arial" panose="020B0604020202020204" pitchFamily="34" charset="0"/>
              </a:rPr>
              <a:t>schema</a:t>
            </a:r>
            <a:r>
              <a:rPr lang="en-US" altLang="en-US">
                <a:latin typeface="Arial" panose="020B0604020202020204" pitchFamily="34" charset="0"/>
              </a:rPr>
              <a:t>		is the same as the owner’s name</a:t>
            </a:r>
          </a:p>
          <a:p>
            <a:pPr lvl="1"/>
            <a:r>
              <a:rPr lang="en-US" altLang="en-US" i="1">
                <a:latin typeface="Arial" panose="020B0604020202020204" pitchFamily="34" charset="0"/>
              </a:rPr>
              <a:t>	table</a:t>
            </a:r>
            <a:r>
              <a:rPr lang="en-US" altLang="en-US">
                <a:latin typeface="Arial" panose="020B0604020202020204" pitchFamily="34" charset="0"/>
              </a:rPr>
              <a:t>			is the name of the table</a:t>
            </a:r>
          </a:p>
          <a:p>
            <a:pPr lvl="1"/>
            <a:r>
              <a:rPr lang="en-US" altLang="en-US">
                <a:latin typeface="Arial" panose="020B0604020202020204" pitchFamily="34" charset="0"/>
              </a:rPr>
              <a:t>	DEFAULT </a:t>
            </a:r>
            <a:r>
              <a:rPr lang="en-US" altLang="en-US" i="1">
                <a:latin typeface="Arial" panose="020B0604020202020204" pitchFamily="34" charset="0"/>
              </a:rPr>
              <a:t>expr	</a:t>
            </a:r>
            <a:r>
              <a:rPr lang="en-US" altLang="en-US">
                <a:latin typeface="Arial" panose="020B0604020202020204" pitchFamily="34" charset="0"/>
              </a:rPr>
              <a:t>specifies a default value if a value is omitted in the INSERT statement</a:t>
            </a:r>
          </a:p>
          <a:p>
            <a:pPr lvl="1"/>
            <a:r>
              <a:rPr lang="en-US" altLang="en-US" i="1">
                <a:latin typeface="Arial" panose="020B0604020202020204" pitchFamily="34" charset="0"/>
              </a:rPr>
              <a:t>	column</a:t>
            </a:r>
            <a:r>
              <a:rPr lang="en-US" altLang="en-US">
                <a:latin typeface="Arial" panose="020B0604020202020204" pitchFamily="34" charset="0"/>
              </a:rPr>
              <a:t>		is the name of the column</a:t>
            </a:r>
          </a:p>
          <a:p>
            <a:pPr lvl="1"/>
            <a:r>
              <a:rPr lang="en-US" altLang="en-US">
                <a:latin typeface="Arial" panose="020B0604020202020204" pitchFamily="34" charset="0"/>
              </a:rPr>
              <a:t>	</a:t>
            </a:r>
            <a:r>
              <a:rPr lang="en-US" altLang="en-US" i="1">
                <a:latin typeface="Arial" panose="020B0604020202020204" pitchFamily="34" charset="0"/>
              </a:rPr>
              <a:t>datatype</a:t>
            </a:r>
            <a:r>
              <a:rPr lang="en-US" altLang="en-US">
                <a:latin typeface="Arial" panose="020B0604020202020204" pitchFamily="34" charset="0"/>
              </a:rPr>
              <a:t>		is the column’s datatype and length</a:t>
            </a:r>
          </a:p>
          <a:p>
            <a:pPr lvl="1"/>
            <a:r>
              <a:rPr lang="en-US" altLang="en-US">
                <a:latin typeface="Arial" panose="020B0604020202020204" pitchFamily="34" charset="0"/>
              </a:rPr>
              <a:t>For more information, see</a:t>
            </a:r>
            <a:br>
              <a:rPr lang="en-US" altLang="en-US">
                <a:latin typeface="Arial" panose="020B0604020202020204" pitchFamily="34" charset="0"/>
              </a:rPr>
            </a:br>
            <a:r>
              <a:rPr lang="en-US" altLang="en-US" i="1">
                <a:latin typeface="Arial" panose="020B0604020202020204" pitchFamily="34" charset="0"/>
              </a:rPr>
              <a:t>Oracle Server SQL Reference, </a:t>
            </a:r>
            <a:r>
              <a:rPr lang="en-US" altLang="en-US">
                <a:latin typeface="Arial" panose="020B0604020202020204" pitchFamily="34" charset="0"/>
              </a:rPr>
              <a:t>Release 8, “CREATE TABLE.”</a:t>
            </a: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sp>
        <p:nvSpPr>
          <p:cNvPr id="13315" name="Rectangle 3">
            <a:extLst>
              <a:ext uri="{FF2B5EF4-FFF2-40B4-BE49-F238E27FC236}">
                <a16:creationId xmlns:a16="http://schemas.microsoft.com/office/drawing/2014/main" id="{BC4343C4-67D1-64C1-20DF-8E5E7DE8B3E2}"/>
              </a:ext>
            </a:extLst>
          </p:cNvPr>
          <p:cNvSpPr>
            <a:spLocks noGrp="1" noRot="1" noChangeArrowheads="1" noTextEdit="1"/>
          </p:cNvSpPr>
          <p:nvPr>
            <p:ph type="sldImg"/>
          </p:nvPr>
        </p:nvSpPr>
        <p:spPr>
          <a:xfrm>
            <a:off x="439738" y="163513"/>
            <a:ext cx="5973762" cy="4479925"/>
          </a:xfrm>
          <a:ln w="12700" cap="flat">
            <a:solidFill>
              <a:schemeClr val="tx1"/>
            </a:solidFill>
          </a:ln>
        </p:spPr>
      </p:sp>
      <p:grpSp>
        <p:nvGrpSpPr>
          <p:cNvPr id="13316" name="Group 4">
            <a:extLst>
              <a:ext uri="{FF2B5EF4-FFF2-40B4-BE49-F238E27FC236}">
                <a16:creationId xmlns:a16="http://schemas.microsoft.com/office/drawing/2014/main" id="{69401E02-9D6D-D2C1-BBC3-0A9F4CB6EACC}"/>
              </a:ext>
            </a:extLst>
          </p:cNvPr>
          <p:cNvGrpSpPr>
            <a:grpSpLocks/>
          </p:cNvGrpSpPr>
          <p:nvPr/>
        </p:nvGrpSpPr>
        <p:grpSpPr bwMode="auto">
          <a:xfrm>
            <a:off x="228600" y="7954963"/>
            <a:ext cx="295275" cy="296862"/>
            <a:chOff x="143" y="4920"/>
            <a:chExt cx="185" cy="184"/>
          </a:xfrm>
        </p:grpSpPr>
        <p:sp>
          <p:nvSpPr>
            <p:cNvPr id="13317" name="Freeform 5">
              <a:extLst>
                <a:ext uri="{FF2B5EF4-FFF2-40B4-BE49-F238E27FC236}">
                  <a16:creationId xmlns:a16="http://schemas.microsoft.com/office/drawing/2014/main" id="{C7B147A7-C8A9-76EB-8A30-883AF7DF4366}"/>
                </a:ext>
              </a:extLst>
            </p:cNvPr>
            <p:cNvSpPr>
              <a:spLocks/>
            </p:cNvSpPr>
            <p:nvPr/>
          </p:nvSpPr>
          <p:spPr bwMode="auto">
            <a:xfrm>
              <a:off x="143" y="4920"/>
              <a:ext cx="177" cy="178"/>
            </a:xfrm>
            <a:custGeom>
              <a:avLst/>
              <a:gdLst>
                <a:gd name="T0" fmla="*/ 176 w 177"/>
                <a:gd name="T1" fmla="*/ 177 h 178"/>
                <a:gd name="T2" fmla="*/ 176 w 177"/>
                <a:gd name="T3" fmla="*/ 0 h 178"/>
                <a:gd name="T4" fmla="*/ 0 w 177"/>
                <a:gd name="T5" fmla="*/ 0 h 178"/>
                <a:gd name="T6" fmla="*/ 0 w 177"/>
                <a:gd name="T7" fmla="*/ 177 h 178"/>
                <a:gd name="T8" fmla="*/ 176 w 177"/>
                <a:gd name="T9" fmla="*/ 177 h 178"/>
                <a:gd name="T10" fmla="*/ 0 60000 65536"/>
                <a:gd name="T11" fmla="*/ 0 60000 65536"/>
                <a:gd name="T12" fmla="*/ 0 60000 65536"/>
                <a:gd name="T13" fmla="*/ 0 60000 65536"/>
                <a:gd name="T14" fmla="*/ 0 60000 65536"/>
                <a:gd name="T15" fmla="*/ 0 w 177"/>
                <a:gd name="T16" fmla="*/ 0 h 178"/>
                <a:gd name="T17" fmla="*/ 177 w 177"/>
                <a:gd name="T18" fmla="*/ 178 h 178"/>
              </a:gdLst>
              <a:ahLst/>
              <a:cxnLst>
                <a:cxn ang="T10">
                  <a:pos x="T0" y="T1"/>
                </a:cxn>
                <a:cxn ang="T11">
                  <a:pos x="T2" y="T3"/>
                </a:cxn>
                <a:cxn ang="T12">
                  <a:pos x="T4" y="T5"/>
                </a:cxn>
                <a:cxn ang="T13">
                  <a:pos x="T6" y="T7"/>
                </a:cxn>
                <a:cxn ang="T14">
                  <a:pos x="T8" y="T9"/>
                </a:cxn>
              </a:cxnLst>
              <a:rect l="T15" t="T16" r="T17" b="T18"/>
              <a:pathLst>
                <a:path w="177" h="178">
                  <a:moveTo>
                    <a:pt x="176" y="177"/>
                  </a:moveTo>
                  <a:lnTo>
                    <a:pt x="176" y="0"/>
                  </a:lnTo>
                  <a:lnTo>
                    <a:pt x="0" y="0"/>
                  </a:lnTo>
                  <a:lnTo>
                    <a:pt x="0" y="177"/>
                  </a:lnTo>
                  <a:lnTo>
                    <a:pt x="176" y="177"/>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3318" name="Freeform 6">
              <a:extLst>
                <a:ext uri="{FF2B5EF4-FFF2-40B4-BE49-F238E27FC236}">
                  <a16:creationId xmlns:a16="http://schemas.microsoft.com/office/drawing/2014/main" id="{73C267FA-E1DE-5313-C290-1C9D1A71DE49}"/>
                </a:ext>
              </a:extLst>
            </p:cNvPr>
            <p:cNvSpPr>
              <a:spLocks/>
            </p:cNvSpPr>
            <p:nvPr/>
          </p:nvSpPr>
          <p:spPr bwMode="auto">
            <a:xfrm>
              <a:off x="204" y="4986"/>
              <a:ext cx="70" cy="37"/>
            </a:xfrm>
            <a:custGeom>
              <a:avLst/>
              <a:gdLst>
                <a:gd name="T0" fmla="*/ 69 w 70"/>
                <a:gd name="T1" fmla="*/ 7 h 37"/>
                <a:gd name="T2" fmla="*/ 65 w 70"/>
                <a:gd name="T3" fmla="*/ 0 h 37"/>
                <a:gd name="T4" fmla="*/ 0 w 70"/>
                <a:gd name="T5" fmla="*/ 29 h 37"/>
                <a:gd name="T6" fmla="*/ 3 w 70"/>
                <a:gd name="T7" fmla="*/ 36 h 37"/>
                <a:gd name="T8" fmla="*/ 69 w 70"/>
                <a:gd name="T9" fmla="*/ 7 h 37"/>
                <a:gd name="T10" fmla="*/ 0 60000 65536"/>
                <a:gd name="T11" fmla="*/ 0 60000 65536"/>
                <a:gd name="T12" fmla="*/ 0 60000 65536"/>
                <a:gd name="T13" fmla="*/ 0 60000 65536"/>
                <a:gd name="T14" fmla="*/ 0 60000 65536"/>
                <a:gd name="T15" fmla="*/ 0 w 70"/>
                <a:gd name="T16" fmla="*/ 0 h 37"/>
                <a:gd name="T17" fmla="*/ 70 w 70"/>
                <a:gd name="T18" fmla="*/ 37 h 37"/>
              </a:gdLst>
              <a:ahLst/>
              <a:cxnLst>
                <a:cxn ang="T10">
                  <a:pos x="T0" y="T1"/>
                </a:cxn>
                <a:cxn ang="T11">
                  <a:pos x="T2" y="T3"/>
                </a:cxn>
                <a:cxn ang="T12">
                  <a:pos x="T4" y="T5"/>
                </a:cxn>
                <a:cxn ang="T13">
                  <a:pos x="T6" y="T7"/>
                </a:cxn>
                <a:cxn ang="T14">
                  <a:pos x="T8" y="T9"/>
                </a:cxn>
              </a:cxnLst>
              <a:rect l="T15" t="T16" r="T17" b="T18"/>
              <a:pathLst>
                <a:path w="70" h="37">
                  <a:moveTo>
                    <a:pt x="69" y="7"/>
                  </a:moveTo>
                  <a:lnTo>
                    <a:pt x="65" y="0"/>
                  </a:lnTo>
                  <a:lnTo>
                    <a:pt x="0" y="29"/>
                  </a:lnTo>
                  <a:lnTo>
                    <a:pt x="3" y="36"/>
                  </a:lnTo>
                  <a:lnTo>
                    <a:pt x="69"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3319" name="Freeform 7">
              <a:extLst>
                <a:ext uri="{FF2B5EF4-FFF2-40B4-BE49-F238E27FC236}">
                  <a16:creationId xmlns:a16="http://schemas.microsoft.com/office/drawing/2014/main" id="{6AFFD7D3-6446-B56B-3937-CC9EA7FFBDAE}"/>
                </a:ext>
              </a:extLst>
            </p:cNvPr>
            <p:cNvSpPr>
              <a:spLocks/>
            </p:cNvSpPr>
            <p:nvPr/>
          </p:nvSpPr>
          <p:spPr bwMode="auto">
            <a:xfrm>
              <a:off x="212" y="5003"/>
              <a:ext cx="69" cy="37"/>
            </a:xfrm>
            <a:custGeom>
              <a:avLst/>
              <a:gdLst>
                <a:gd name="T0" fmla="*/ 68 w 69"/>
                <a:gd name="T1" fmla="*/ 7 h 37"/>
                <a:gd name="T2" fmla="*/ 65 w 69"/>
                <a:gd name="T3" fmla="*/ 0 h 37"/>
                <a:gd name="T4" fmla="*/ 0 w 69"/>
                <a:gd name="T5" fmla="*/ 29 h 37"/>
                <a:gd name="T6" fmla="*/ 3 w 69"/>
                <a:gd name="T7" fmla="*/ 36 h 37"/>
                <a:gd name="T8" fmla="*/ 68 w 69"/>
                <a:gd name="T9" fmla="*/ 7 h 37"/>
                <a:gd name="T10" fmla="*/ 0 60000 65536"/>
                <a:gd name="T11" fmla="*/ 0 60000 65536"/>
                <a:gd name="T12" fmla="*/ 0 60000 65536"/>
                <a:gd name="T13" fmla="*/ 0 60000 65536"/>
                <a:gd name="T14" fmla="*/ 0 60000 65536"/>
                <a:gd name="T15" fmla="*/ 0 w 69"/>
                <a:gd name="T16" fmla="*/ 0 h 37"/>
                <a:gd name="T17" fmla="*/ 69 w 69"/>
                <a:gd name="T18" fmla="*/ 37 h 37"/>
              </a:gdLst>
              <a:ahLst/>
              <a:cxnLst>
                <a:cxn ang="T10">
                  <a:pos x="T0" y="T1"/>
                </a:cxn>
                <a:cxn ang="T11">
                  <a:pos x="T2" y="T3"/>
                </a:cxn>
                <a:cxn ang="T12">
                  <a:pos x="T4" y="T5"/>
                </a:cxn>
                <a:cxn ang="T13">
                  <a:pos x="T6" y="T7"/>
                </a:cxn>
                <a:cxn ang="T14">
                  <a:pos x="T8" y="T9"/>
                </a:cxn>
              </a:cxnLst>
              <a:rect l="T15" t="T16" r="T17" b="T18"/>
              <a:pathLst>
                <a:path w="69" h="37">
                  <a:moveTo>
                    <a:pt x="68" y="7"/>
                  </a:moveTo>
                  <a:lnTo>
                    <a:pt x="65" y="0"/>
                  </a:lnTo>
                  <a:lnTo>
                    <a:pt x="0" y="29"/>
                  </a:lnTo>
                  <a:lnTo>
                    <a:pt x="3" y="36"/>
                  </a:lnTo>
                  <a:lnTo>
                    <a:pt x="68"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3320" name="Freeform 8">
              <a:extLst>
                <a:ext uri="{FF2B5EF4-FFF2-40B4-BE49-F238E27FC236}">
                  <a16:creationId xmlns:a16="http://schemas.microsoft.com/office/drawing/2014/main" id="{5C95EE86-491C-12CC-A0C8-5576560AC602}"/>
                </a:ext>
              </a:extLst>
            </p:cNvPr>
            <p:cNvSpPr>
              <a:spLocks/>
            </p:cNvSpPr>
            <p:nvPr/>
          </p:nvSpPr>
          <p:spPr bwMode="auto">
            <a:xfrm>
              <a:off x="219" y="5018"/>
              <a:ext cx="68" cy="35"/>
            </a:xfrm>
            <a:custGeom>
              <a:avLst/>
              <a:gdLst>
                <a:gd name="T0" fmla="*/ 67 w 68"/>
                <a:gd name="T1" fmla="*/ 6 h 35"/>
                <a:gd name="T2" fmla="*/ 64 w 68"/>
                <a:gd name="T3" fmla="*/ 0 h 35"/>
                <a:gd name="T4" fmla="*/ 0 w 68"/>
                <a:gd name="T5" fmla="*/ 27 h 35"/>
                <a:gd name="T6" fmla="*/ 2 w 68"/>
                <a:gd name="T7" fmla="*/ 34 h 35"/>
                <a:gd name="T8" fmla="*/ 67 w 68"/>
                <a:gd name="T9" fmla="*/ 6 h 35"/>
                <a:gd name="T10" fmla="*/ 0 60000 65536"/>
                <a:gd name="T11" fmla="*/ 0 60000 65536"/>
                <a:gd name="T12" fmla="*/ 0 60000 65536"/>
                <a:gd name="T13" fmla="*/ 0 60000 65536"/>
                <a:gd name="T14" fmla="*/ 0 60000 65536"/>
                <a:gd name="T15" fmla="*/ 0 w 68"/>
                <a:gd name="T16" fmla="*/ 0 h 35"/>
                <a:gd name="T17" fmla="*/ 68 w 68"/>
                <a:gd name="T18" fmla="*/ 35 h 35"/>
              </a:gdLst>
              <a:ahLst/>
              <a:cxnLst>
                <a:cxn ang="T10">
                  <a:pos x="T0" y="T1"/>
                </a:cxn>
                <a:cxn ang="T11">
                  <a:pos x="T2" y="T3"/>
                </a:cxn>
                <a:cxn ang="T12">
                  <a:pos x="T4" y="T5"/>
                </a:cxn>
                <a:cxn ang="T13">
                  <a:pos x="T6" y="T7"/>
                </a:cxn>
                <a:cxn ang="T14">
                  <a:pos x="T8" y="T9"/>
                </a:cxn>
              </a:cxnLst>
              <a:rect l="T15" t="T16" r="T17" b="T18"/>
              <a:pathLst>
                <a:path w="68" h="35">
                  <a:moveTo>
                    <a:pt x="67" y="6"/>
                  </a:moveTo>
                  <a:lnTo>
                    <a:pt x="64" y="0"/>
                  </a:lnTo>
                  <a:lnTo>
                    <a:pt x="0" y="27"/>
                  </a:lnTo>
                  <a:lnTo>
                    <a:pt x="2" y="34"/>
                  </a:lnTo>
                  <a:lnTo>
                    <a:pt x="67"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3321" name="Freeform 9">
              <a:extLst>
                <a:ext uri="{FF2B5EF4-FFF2-40B4-BE49-F238E27FC236}">
                  <a16:creationId xmlns:a16="http://schemas.microsoft.com/office/drawing/2014/main" id="{10D1C3B0-255C-BDA7-DA4E-6DD3E2C24DAF}"/>
                </a:ext>
              </a:extLst>
            </p:cNvPr>
            <p:cNvSpPr>
              <a:spLocks/>
            </p:cNvSpPr>
            <p:nvPr/>
          </p:nvSpPr>
          <p:spPr bwMode="auto">
            <a:xfrm>
              <a:off x="227" y="5036"/>
              <a:ext cx="70" cy="34"/>
            </a:xfrm>
            <a:custGeom>
              <a:avLst/>
              <a:gdLst>
                <a:gd name="T0" fmla="*/ 69 w 70"/>
                <a:gd name="T1" fmla="*/ 6 h 34"/>
                <a:gd name="T2" fmla="*/ 65 w 70"/>
                <a:gd name="T3" fmla="*/ 0 h 34"/>
                <a:gd name="T4" fmla="*/ 0 w 70"/>
                <a:gd name="T5" fmla="*/ 26 h 34"/>
                <a:gd name="T6" fmla="*/ 3 w 70"/>
                <a:gd name="T7" fmla="*/ 33 h 34"/>
                <a:gd name="T8" fmla="*/ 69 w 70"/>
                <a:gd name="T9" fmla="*/ 6 h 34"/>
                <a:gd name="T10" fmla="*/ 0 60000 65536"/>
                <a:gd name="T11" fmla="*/ 0 60000 65536"/>
                <a:gd name="T12" fmla="*/ 0 60000 65536"/>
                <a:gd name="T13" fmla="*/ 0 60000 65536"/>
                <a:gd name="T14" fmla="*/ 0 60000 65536"/>
                <a:gd name="T15" fmla="*/ 0 w 70"/>
                <a:gd name="T16" fmla="*/ 0 h 34"/>
                <a:gd name="T17" fmla="*/ 70 w 70"/>
                <a:gd name="T18" fmla="*/ 34 h 34"/>
              </a:gdLst>
              <a:ahLst/>
              <a:cxnLst>
                <a:cxn ang="T10">
                  <a:pos x="T0" y="T1"/>
                </a:cxn>
                <a:cxn ang="T11">
                  <a:pos x="T2" y="T3"/>
                </a:cxn>
                <a:cxn ang="T12">
                  <a:pos x="T4" y="T5"/>
                </a:cxn>
                <a:cxn ang="T13">
                  <a:pos x="T6" y="T7"/>
                </a:cxn>
                <a:cxn ang="T14">
                  <a:pos x="T8" y="T9"/>
                </a:cxn>
              </a:cxnLst>
              <a:rect l="T15" t="T16" r="T17" b="T18"/>
              <a:pathLst>
                <a:path w="70" h="34">
                  <a:moveTo>
                    <a:pt x="69" y="6"/>
                  </a:moveTo>
                  <a:lnTo>
                    <a:pt x="65" y="0"/>
                  </a:lnTo>
                  <a:lnTo>
                    <a:pt x="0" y="26"/>
                  </a:lnTo>
                  <a:lnTo>
                    <a:pt x="3" y="33"/>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3322" name="Freeform 10">
              <a:extLst>
                <a:ext uri="{FF2B5EF4-FFF2-40B4-BE49-F238E27FC236}">
                  <a16:creationId xmlns:a16="http://schemas.microsoft.com/office/drawing/2014/main" id="{6FBCFD23-718F-B53C-E42D-E7B5DAD7C34B}"/>
                </a:ext>
              </a:extLst>
            </p:cNvPr>
            <p:cNvSpPr>
              <a:spLocks/>
            </p:cNvSpPr>
            <p:nvPr/>
          </p:nvSpPr>
          <p:spPr bwMode="auto">
            <a:xfrm>
              <a:off x="235" y="5050"/>
              <a:ext cx="69" cy="38"/>
            </a:xfrm>
            <a:custGeom>
              <a:avLst/>
              <a:gdLst>
                <a:gd name="T0" fmla="*/ 68 w 69"/>
                <a:gd name="T1" fmla="*/ 7 h 38"/>
                <a:gd name="T2" fmla="*/ 65 w 69"/>
                <a:gd name="T3" fmla="*/ 0 h 38"/>
                <a:gd name="T4" fmla="*/ 0 w 69"/>
                <a:gd name="T5" fmla="*/ 29 h 38"/>
                <a:gd name="T6" fmla="*/ 3 w 69"/>
                <a:gd name="T7" fmla="*/ 37 h 38"/>
                <a:gd name="T8" fmla="*/ 68 w 69"/>
                <a:gd name="T9" fmla="*/ 7 h 38"/>
                <a:gd name="T10" fmla="*/ 0 60000 65536"/>
                <a:gd name="T11" fmla="*/ 0 60000 65536"/>
                <a:gd name="T12" fmla="*/ 0 60000 65536"/>
                <a:gd name="T13" fmla="*/ 0 60000 65536"/>
                <a:gd name="T14" fmla="*/ 0 60000 65536"/>
                <a:gd name="T15" fmla="*/ 0 w 69"/>
                <a:gd name="T16" fmla="*/ 0 h 38"/>
                <a:gd name="T17" fmla="*/ 69 w 69"/>
                <a:gd name="T18" fmla="*/ 38 h 38"/>
              </a:gdLst>
              <a:ahLst/>
              <a:cxnLst>
                <a:cxn ang="T10">
                  <a:pos x="T0" y="T1"/>
                </a:cxn>
                <a:cxn ang="T11">
                  <a:pos x="T2" y="T3"/>
                </a:cxn>
                <a:cxn ang="T12">
                  <a:pos x="T4" y="T5"/>
                </a:cxn>
                <a:cxn ang="T13">
                  <a:pos x="T6" y="T7"/>
                </a:cxn>
                <a:cxn ang="T14">
                  <a:pos x="T8" y="T9"/>
                </a:cxn>
              </a:cxnLst>
              <a:rect l="T15" t="T16" r="T17" b="T18"/>
              <a:pathLst>
                <a:path w="69" h="38">
                  <a:moveTo>
                    <a:pt x="68" y="7"/>
                  </a:moveTo>
                  <a:lnTo>
                    <a:pt x="65" y="0"/>
                  </a:lnTo>
                  <a:lnTo>
                    <a:pt x="0" y="29"/>
                  </a:lnTo>
                  <a:lnTo>
                    <a:pt x="3" y="37"/>
                  </a:lnTo>
                  <a:lnTo>
                    <a:pt x="68"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3323" name="Freeform 11">
              <a:extLst>
                <a:ext uri="{FF2B5EF4-FFF2-40B4-BE49-F238E27FC236}">
                  <a16:creationId xmlns:a16="http://schemas.microsoft.com/office/drawing/2014/main" id="{5D3F152A-C371-B0FF-827E-89095A1DA1D3}"/>
                </a:ext>
              </a:extLst>
            </p:cNvPr>
            <p:cNvSpPr>
              <a:spLocks/>
            </p:cNvSpPr>
            <p:nvPr/>
          </p:nvSpPr>
          <p:spPr bwMode="auto">
            <a:xfrm>
              <a:off x="163" y="4949"/>
              <a:ext cx="122" cy="58"/>
            </a:xfrm>
            <a:custGeom>
              <a:avLst/>
              <a:gdLst>
                <a:gd name="T0" fmla="*/ 121 w 122"/>
                <a:gd name="T1" fmla="*/ 7 h 58"/>
                <a:gd name="T2" fmla="*/ 119 w 122"/>
                <a:gd name="T3" fmla="*/ 0 h 58"/>
                <a:gd name="T4" fmla="*/ 0 w 122"/>
                <a:gd name="T5" fmla="*/ 50 h 58"/>
                <a:gd name="T6" fmla="*/ 2 w 122"/>
                <a:gd name="T7" fmla="*/ 57 h 58"/>
                <a:gd name="T8" fmla="*/ 121 w 122"/>
                <a:gd name="T9" fmla="*/ 7 h 58"/>
                <a:gd name="T10" fmla="*/ 0 60000 65536"/>
                <a:gd name="T11" fmla="*/ 0 60000 65536"/>
                <a:gd name="T12" fmla="*/ 0 60000 65536"/>
                <a:gd name="T13" fmla="*/ 0 60000 65536"/>
                <a:gd name="T14" fmla="*/ 0 60000 65536"/>
                <a:gd name="T15" fmla="*/ 0 w 122"/>
                <a:gd name="T16" fmla="*/ 0 h 58"/>
                <a:gd name="T17" fmla="*/ 122 w 122"/>
                <a:gd name="T18" fmla="*/ 58 h 58"/>
              </a:gdLst>
              <a:ahLst/>
              <a:cxnLst>
                <a:cxn ang="T10">
                  <a:pos x="T0" y="T1"/>
                </a:cxn>
                <a:cxn ang="T11">
                  <a:pos x="T2" y="T3"/>
                </a:cxn>
                <a:cxn ang="T12">
                  <a:pos x="T4" y="T5"/>
                </a:cxn>
                <a:cxn ang="T13">
                  <a:pos x="T6" y="T7"/>
                </a:cxn>
                <a:cxn ang="T14">
                  <a:pos x="T8" y="T9"/>
                </a:cxn>
              </a:cxnLst>
              <a:rect l="T15" t="T16" r="T17" b="T18"/>
              <a:pathLst>
                <a:path w="122" h="58">
                  <a:moveTo>
                    <a:pt x="121" y="7"/>
                  </a:moveTo>
                  <a:lnTo>
                    <a:pt x="119" y="0"/>
                  </a:lnTo>
                  <a:lnTo>
                    <a:pt x="0" y="50"/>
                  </a:lnTo>
                  <a:lnTo>
                    <a:pt x="2" y="57"/>
                  </a:lnTo>
                  <a:lnTo>
                    <a:pt x="121"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3324" name="Freeform 12">
              <a:extLst>
                <a:ext uri="{FF2B5EF4-FFF2-40B4-BE49-F238E27FC236}">
                  <a16:creationId xmlns:a16="http://schemas.microsoft.com/office/drawing/2014/main" id="{49F52AB8-786C-62A6-BA2D-8417FF1F354E}"/>
                </a:ext>
              </a:extLst>
            </p:cNvPr>
            <p:cNvSpPr>
              <a:spLocks/>
            </p:cNvSpPr>
            <p:nvPr/>
          </p:nvSpPr>
          <p:spPr bwMode="auto">
            <a:xfrm>
              <a:off x="147" y="4938"/>
              <a:ext cx="123" cy="58"/>
            </a:xfrm>
            <a:custGeom>
              <a:avLst/>
              <a:gdLst>
                <a:gd name="T0" fmla="*/ 122 w 123"/>
                <a:gd name="T1" fmla="*/ 6 h 58"/>
                <a:gd name="T2" fmla="*/ 119 w 123"/>
                <a:gd name="T3" fmla="*/ 0 h 58"/>
                <a:gd name="T4" fmla="*/ 0 w 123"/>
                <a:gd name="T5" fmla="*/ 50 h 58"/>
                <a:gd name="T6" fmla="*/ 2 w 123"/>
                <a:gd name="T7" fmla="*/ 57 h 58"/>
                <a:gd name="T8" fmla="*/ 122 w 123"/>
                <a:gd name="T9" fmla="*/ 6 h 58"/>
                <a:gd name="T10" fmla="*/ 0 60000 65536"/>
                <a:gd name="T11" fmla="*/ 0 60000 65536"/>
                <a:gd name="T12" fmla="*/ 0 60000 65536"/>
                <a:gd name="T13" fmla="*/ 0 60000 65536"/>
                <a:gd name="T14" fmla="*/ 0 60000 65536"/>
                <a:gd name="T15" fmla="*/ 0 w 123"/>
                <a:gd name="T16" fmla="*/ 0 h 58"/>
                <a:gd name="T17" fmla="*/ 123 w 123"/>
                <a:gd name="T18" fmla="*/ 58 h 58"/>
              </a:gdLst>
              <a:ahLst/>
              <a:cxnLst>
                <a:cxn ang="T10">
                  <a:pos x="T0" y="T1"/>
                </a:cxn>
                <a:cxn ang="T11">
                  <a:pos x="T2" y="T3"/>
                </a:cxn>
                <a:cxn ang="T12">
                  <a:pos x="T4" y="T5"/>
                </a:cxn>
                <a:cxn ang="T13">
                  <a:pos x="T6" y="T7"/>
                </a:cxn>
                <a:cxn ang="T14">
                  <a:pos x="T8" y="T9"/>
                </a:cxn>
              </a:cxnLst>
              <a:rect l="T15" t="T16" r="T17" b="T18"/>
              <a:pathLst>
                <a:path w="123" h="58">
                  <a:moveTo>
                    <a:pt x="122" y="6"/>
                  </a:moveTo>
                  <a:lnTo>
                    <a:pt x="119" y="0"/>
                  </a:lnTo>
                  <a:lnTo>
                    <a:pt x="0" y="50"/>
                  </a:lnTo>
                  <a:lnTo>
                    <a:pt x="2" y="57"/>
                  </a:lnTo>
                  <a:lnTo>
                    <a:pt x="122"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3325" name="Freeform 13">
              <a:extLst>
                <a:ext uri="{FF2B5EF4-FFF2-40B4-BE49-F238E27FC236}">
                  <a16:creationId xmlns:a16="http://schemas.microsoft.com/office/drawing/2014/main" id="{E81B27A8-E9E3-AC02-C6BE-44E56CBF28BC}"/>
                </a:ext>
              </a:extLst>
            </p:cNvPr>
            <p:cNvSpPr>
              <a:spLocks/>
            </p:cNvSpPr>
            <p:nvPr/>
          </p:nvSpPr>
          <p:spPr bwMode="auto">
            <a:xfrm>
              <a:off x="274" y="4951"/>
              <a:ext cx="54" cy="104"/>
            </a:xfrm>
            <a:custGeom>
              <a:avLst/>
              <a:gdLst>
                <a:gd name="T0" fmla="*/ 46 w 54"/>
                <a:gd name="T1" fmla="*/ 103 h 104"/>
                <a:gd name="T2" fmla="*/ 53 w 54"/>
                <a:gd name="T3" fmla="*/ 100 h 104"/>
                <a:gd name="T4" fmla="*/ 7 w 54"/>
                <a:gd name="T5" fmla="*/ 0 h 104"/>
                <a:gd name="T6" fmla="*/ 0 w 54"/>
                <a:gd name="T7" fmla="*/ 2 h 104"/>
                <a:gd name="T8" fmla="*/ 46 w 54"/>
                <a:gd name="T9" fmla="*/ 103 h 104"/>
                <a:gd name="T10" fmla="*/ 0 60000 65536"/>
                <a:gd name="T11" fmla="*/ 0 60000 65536"/>
                <a:gd name="T12" fmla="*/ 0 60000 65536"/>
                <a:gd name="T13" fmla="*/ 0 60000 65536"/>
                <a:gd name="T14" fmla="*/ 0 60000 65536"/>
                <a:gd name="T15" fmla="*/ 0 w 54"/>
                <a:gd name="T16" fmla="*/ 0 h 104"/>
                <a:gd name="T17" fmla="*/ 54 w 54"/>
                <a:gd name="T18" fmla="*/ 104 h 104"/>
              </a:gdLst>
              <a:ahLst/>
              <a:cxnLst>
                <a:cxn ang="T10">
                  <a:pos x="T0" y="T1"/>
                </a:cxn>
                <a:cxn ang="T11">
                  <a:pos x="T2" y="T3"/>
                </a:cxn>
                <a:cxn ang="T12">
                  <a:pos x="T4" y="T5"/>
                </a:cxn>
                <a:cxn ang="T13">
                  <a:pos x="T6" y="T7"/>
                </a:cxn>
                <a:cxn ang="T14">
                  <a:pos x="T8" y="T9"/>
                </a:cxn>
              </a:cxnLst>
              <a:rect l="T15" t="T16" r="T17" b="T18"/>
              <a:pathLst>
                <a:path w="54" h="104">
                  <a:moveTo>
                    <a:pt x="46" y="103"/>
                  </a:moveTo>
                  <a:lnTo>
                    <a:pt x="53" y="100"/>
                  </a:lnTo>
                  <a:lnTo>
                    <a:pt x="7" y="0"/>
                  </a:lnTo>
                  <a:lnTo>
                    <a:pt x="0" y="2"/>
                  </a:lnTo>
                  <a:lnTo>
                    <a:pt x="46" y="103"/>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3326" name="Freeform 14">
              <a:extLst>
                <a:ext uri="{FF2B5EF4-FFF2-40B4-BE49-F238E27FC236}">
                  <a16:creationId xmlns:a16="http://schemas.microsoft.com/office/drawing/2014/main" id="{012E4184-4E49-7C69-6F36-8925E045FF99}"/>
                </a:ext>
              </a:extLst>
            </p:cNvPr>
            <p:cNvSpPr>
              <a:spLocks/>
            </p:cNvSpPr>
            <p:nvPr/>
          </p:nvSpPr>
          <p:spPr bwMode="auto">
            <a:xfrm>
              <a:off x="163" y="4997"/>
              <a:ext cx="54" cy="107"/>
            </a:xfrm>
            <a:custGeom>
              <a:avLst/>
              <a:gdLst>
                <a:gd name="T0" fmla="*/ 46 w 54"/>
                <a:gd name="T1" fmla="*/ 106 h 107"/>
                <a:gd name="T2" fmla="*/ 53 w 54"/>
                <a:gd name="T3" fmla="*/ 102 h 107"/>
                <a:gd name="T4" fmla="*/ 7 w 54"/>
                <a:gd name="T5" fmla="*/ 0 h 107"/>
                <a:gd name="T6" fmla="*/ 0 w 54"/>
                <a:gd name="T7" fmla="*/ 4 h 107"/>
                <a:gd name="T8" fmla="*/ 46 w 54"/>
                <a:gd name="T9" fmla="*/ 106 h 107"/>
                <a:gd name="T10" fmla="*/ 0 60000 65536"/>
                <a:gd name="T11" fmla="*/ 0 60000 65536"/>
                <a:gd name="T12" fmla="*/ 0 60000 65536"/>
                <a:gd name="T13" fmla="*/ 0 60000 65536"/>
                <a:gd name="T14" fmla="*/ 0 60000 65536"/>
                <a:gd name="T15" fmla="*/ 0 w 54"/>
                <a:gd name="T16" fmla="*/ 0 h 107"/>
                <a:gd name="T17" fmla="*/ 54 w 54"/>
                <a:gd name="T18" fmla="*/ 107 h 107"/>
              </a:gdLst>
              <a:ahLst/>
              <a:cxnLst>
                <a:cxn ang="T10">
                  <a:pos x="T0" y="T1"/>
                </a:cxn>
                <a:cxn ang="T11">
                  <a:pos x="T2" y="T3"/>
                </a:cxn>
                <a:cxn ang="T12">
                  <a:pos x="T4" y="T5"/>
                </a:cxn>
                <a:cxn ang="T13">
                  <a:pos x="T6" y="T7"/>
                </a:cxn>
                <a:cxn ang="T14">
                  <a:pos x="T8" y="T9"/>
                </a:cxn>
              </a:cxnLst>
              <a:rect l="T15" t="T16" r="T17" b="T18"/>
              <a:pathLst>
                <a:path w="54" h="107">
                  <a:moveTo>
                    <a:pt x="46" y="106"/>
                  </a:moveTo>
                  <a:lnTo>
                    <a:pt x="53" y="102"/>
                  </a:lnTo>
                  <a:lnTo>
                    <a:pt x="7" y="0"/>
                  </a:lnTo>
                  <a:lnTo>
                    <a:pt x="0" y="4"/>
                  </a:lnTo>
                  <a:lnTo>
                    <a:pt x="46" y="10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3327" name="Freeform 15">
              <a:extLst>
                <a:ext uri="{FF2B5EF4-FFF2-40B4-BE49-F238E27FC236}">
                  <a16:creationId xmlns:a16="http://schemas.microsoft.com/office/drawing/2014/main" id="{35EA65C6-5050-3A76-CB1E-2BA8BF8B1233}"/>
                </a:ext>
              </a:extLst>
            </p:cNvPr>
            <p:cNvSpPr>
              <a:spLocks/>
            </p:cNvSpPr>
            <p:nvPr/>
          </p:nvSpPr>
          <p:spPr bwMode="auto">
            <a:xfrm>
              <a:off x="143" y="4988"/>
              <a:ext cx="59" cy="116"/>
            </a:xfrm>
            <a:custGeom>
              <a:avLst/>
              <a:gdLst>
                <a:gd name="T0" fmla="*/ 51 w 59"/>
                <a:gd name="T1" fmla="*/ 115 h 116"/>
                <a:gd name="T2" fmla="*/ 58 w 59"/>
                <a:gd name="T3" fmla="*/ 112 h 116"/>
                <a:gd name="T4" fmla="*/ 6 w 59"/>
                <a:gd name="T5" fmla="*/ 0 h 116"/>
                <a:gd name="T6" fmla="*/ 0 w 59"/>
                <a:gd name="T7" fmla="*/ 2 h 116"/>
                <a:gd name="T8" fmla="*/ 51 w 59"/>
                <a:gd name="T9" fmla="*/ 115 h 116"/>
                <a:gd name="T10" fmla="*/ 0 60000 65536"/>
                <a:gd name="T11" fmla="*/ 0 60000 65536"/>
                <a:gd name="T12" fmla="*/ 0 60000 65536"/>
                <a:gd name="T13" fmla="*/ 0 60000 65536"/>
                <a:gd name="T14" fmla="*/ 0 60000 65536"/>
                <a:gd name="T15" fmla="*/ 0 w 59"/>
                <a:gd name="T16" fmla="*/ 0 h 116"/>
                <a:gd name="T17" fmla="*/ 59 w 59"/>
                <a:gd name="T18" fmla="*/ 116 h 116"/>
              </a:gdLst>
              <a:ahLst/>
              <a:cxnLst>
                <a:cxn ang="T10">
                  <a:pos x="T0" y="T1"/>
                </a:cxn>
                <a:cxn ang="T11">
                  <a:pos x="T2" y="T3"/>
                </a:cxn>
                <a:cxn ang="T12">
                  <a:pos x="T4" y="T5"/>
                </a:cxn>
                <a:cxn ang="T13">
                  <a:pos x="T6" y="T7"/>
                </a:cxn>
                <a:cxn ang="T14">
                  <a:pos x="T8" y="T9"/>
                </a:cxn>
              </a:cxnLst>
              <a:rect l="T15" t="T16" r="T17" b="T18"/>
              <a:pathLst>
                <a:path w="59" h="116">
                  <a:moveTo>
                    <a:pt x="51" y="115"/>
                  </a:moveTo>
                  <a:lnTo>
                    <a:pt x="58" y="112"/>
                  </a:lnTo>
                  <a:lnTo>
                    <a:pt x="6" y="0"/>
                  </a:lnTo>
                  <a:lnTo>
                    <a:pt x="0" y="2"/>
                  </a:lnTo>
                  <a:lnTo>
                    <a:pt x="51" y="115"/>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3328" name="Freeform 16">
              <a:extLst>
                <a:ext uri="{FF2B5EF4-FFF2-40B4-BE49-F238E27FC236}">
                  <a16:creationId xmlns:a16="http://schemas.microsoft.com/office/drawing/2014/main" id="{96D28B0E-B4E4-C65B-84BD-D119FE687B51}"/>
                </a:ext>
              </a:extLst>
            </p:cNvPr>
            <p:cNvSpPr>
              <a:spLocks/>
            </p:cNvSpPr>
            <p:nvPr/>
          </p:nvSpPr>
          <p:spPr bwMode="auto">
            <a:xfrm>
              <a:off x="146" y="4988"/>
              <a:ext cx="28" cy="18"/>
            </a:xfrm>
            <a:custGeom>
              <a:avLst/>
              <a:gdLst>
                <a:gd name="T0" fmla="*/ 23 w 28"/>
                <a:gd name="T1" fmla="*/ 17 h 18"/>
                <a:gd name="T2" fmla="*/ 27 w 28"/>
                <a:gd name="T3" fmla="*/ 10 h 18"/>
                <a:gd name="T4" fmla="*/ 4 w 28"/>
                <a:gd name="T5" fmla="*/ 0 h 18"/>
                <a:gd name="T6" fmla="*/ 0 w 28"/>
                <a:gd name="T7" fmla="*/ 6 h 18"/>
                <a:gd name="T8" fmla="*/ 23 w 28"/>
                <a:gd name="T9" fmla="*/ 17 h 18"/>
                <a:gd name="T10" fmla="*/ 0 60000 65536"/>
                <a:gd name="T11" fmla="*/ 0 60000 65536"/>
                <a:gd name="T12" fmla="*/ 0 60000 65536"/>
                <a:gd name="T13" fmla="*/ 0 60000 65536"/>
                <a:gd name="T14" fmla="*/ 0 60000 65536"/>
                <a:gd name="T15" fmla="*/ 0 w 28"/>
                <a:gd name="T16" fmla="*/ 0 h 18"/>
                <a:gd name="T17" fmla="*/ 28 w 28"/>
                <a:gd name="T18" fmla="*/ 18 h 18"/>
              </a:gdLst>
              <a:ahLst/>
              <a:cxnLst>
                <a:cxn ang="T10">
                  <a:pos x="T0" y="T1"/>
                </a:cxn>
                <a:cxn ang="T11">
                  <a:pos x="T2" y="T3"/>
                </a:cxn>
                <a:cxn ang="T12">
                  <a:pos x="T4" y="T5"/>
                </a:cxn>
                <a:cxn ang="T13">
                  <a:pos x="T6" y="T7"/>
                </a:cxn>
                <a:cxn ang="T14">
                  <a:pos x="T8" y="T9"/>
                </a:cxn>
              </a:cxnLst>
              <a:rect l="T15" t="T16" r="T17" b="T18"/>
              <a:pathLst>
                <a:path w="28" h="18">
                  <a:moveTo>
                    <a:pt x="23" y="17"/>
                  </a:moveTo>
                  <a:lnTo>
                    <a:pt x="27" y="10"/>
                  </a:lnTo>
                  <a:lnTo>
                    <a:pt x="4" y="0"/>
                  </a:lnTo>
                  <a:lnTo>
                    <a:pt x="0" y="6"/>
                  </a:lnTo>
                  <a:lnTo>
                    <a:pt x="2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3329" name="Freeform 17">
              <a:extLst>
                <a:ext uri="{FF2B5EF4-FFF2-40B4-BE49-F238E27FC236}">
                  <a16:creationId xmlns:a16="http://schemas.microsoft.com/office/drawing/2014/main" id="{C5497345-7B59-75BF-0AC8-0D4A0A908CE2}"/>
                </a:ext>
              </a:extLst>
            </p:cNvPr>
            <p:cNvSpPr>
              <a:spLocks/>
            </p:cNvSpPr>
            <p:nvPr/>
          </p:nvSpPr>
          <p:spPr bwMode="auto">
            <a:xfrm>
              <a:off x="253" y="4945"/>
              <a:ext cx="28" cy="17"/>
            </a:xfrm>
            <a:custGeom>
              <a:avLst/>
              <a:gdLst>
                <a:gd name="T0" fmla="*/ 23 w 28"/>
                <a:gd name="T1" fmla="*/ 16 h 17"/>
                <a:gd name="T2" fmla="*/ 27 w 28"/>
                <a:gd name="T3" fmla="*/ 9 h 17"/>
                <a:gd name="T4" fmla="*/ 4 w 28"/>
                <a:gd name="T5" fmla="*/ 0 h 17"/>
                <a:gd name="T6" fmla="*/ 0 w 28"/>
                <a:gd name="T7" fmla="*/ 5 h 17"/>
                <a:gd name="T8" fmla="*/ 23 w 28"/>
                <a:gd name="T9" fmla="*/ 16 h 17"/>
                <a:gd name="T10" fmla="*/ 0 60000 65536"/>
                <a:gd name="T11" fmla="*/ 0 60000 65536"/>
                <a:gd name="T12" fmla="*/ 0 60000 65536"/>
                <a:gd name="T13" fmla="*/ 0 60000 65536"/>
                <a:gd name="T14" fmla="*/ 0 60000 65536"/>
                <a:gd name="T15" fmla="*/ 0 w 28"/>
                <a:gd name="T16" fmla="*/ 0 h 17"/>
                <a:gd name="T17" fmla="*/ 28 w 28"/>
                <a:gd name="T18" fmla="*/ 17 h 17"/>
              </a:gdLst>
              <a:ahLst/>
              <a:cxnLst>
                <a:cxn ang="T10">
                  <a:pos x="T0" y="T1"/>
                </a:cxn>
                <a:cxn ang="T11">
                  <a:pos x="T2" y="T3"/>
                </a:cxn>
                <a:cxn ang="T12">
                  <a:pos x="T4" y="T5"/>
                </a:cxn>
                <a:cxn ang="T13">
                  <a:pos x="T6" y="T7"/>
                </a:cxn>
                <a:cxn ang="T14">
                  <a:pos x="T8" y="T9"/>
                </a:cxn>
              </a:cxnLst>
              <a:rect l="T15" t="T16" r="T17" b="T18"/>
              <a:pathLst>
                <a:path w="28" h="17">
                  <a:moveTo>
                    <a:pt x="23" y="16"/>
                  </a:moveTo>
                  <a:lnTo>
                    <a:pt x="27" y="9"/>
                  </a:lnTo>
                  <a:lnTo>
                    <a:pt x="4" y="0"/>
                  </a:lnTo>
                  <a:lnTo>
                    <a:pt x="0" y="5"/>
                  </a:lnTo>
                  <a:lnTo>
                    <a:pt x="23"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56EA078B-164C-5B09-BA4C-50EE0FFB501B}"/>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15363" name="Rectangle 3">
            <a:extLst>
              <a:ext uri="{FF2B5EF4-FFF2-40B4-BE49-F238E27FC236}">
                <a16:creationId xmlns:a16="http://schemas.microsoft.com/office/drawing/2014/main" id="{C58E978E-29A1-26BD-4075-00A9C9E77D67}"/>
              </a:ext>
            </a:extLst>
          </p:cNvPr>
          <p:cNvSpPr>
            <a:spLocks noGrp="1" noChangeArrowheads="1"/>
          </p:cNvSpPr>
          <p:nvPr>
            <p:ph type="body" idx="1"/>
          </p:nvPr>
        </p:nvSpPr>
        <p:spPr>
          <a:xfrm>
            <a:off x="412750" y="47640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r>
              <a:rPr lang="en-US" altLang="en-US">
                <a:latin typeface="Arial" panose="020B0604020202020204" pitchFamily="34" charset="0"/>
              </a:rPr>
              <a:t>Datatypes</a:t>
            </a: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Times" panose="02020603050405020304" pitchFamily="18" charset="0"/>
            </a:endParaRPr>
          </a:p>
          <a:p>
            <a:pPr defTabSz="382588"/>
            <a:endParaRPr lang="en-US" altLang="en-US" b="1">
              <a:latin typeface="Times" panose="02020603050405020304" pitchFamily="18" charset="0"/>
            </a:endParaRPr>
          </a:p>
        </p:txBody>
      </p:sp>
      <p:graphicFrame>
        <p:nvGraphicFramePr>
          <p:cNvPr id="15364" name="Object 4">
            <a:extLst>
              <a:ext uri="{FF2B5EF4-FFF2-40B4-BE49-F238E27FC236}">
                <a16:creationId xmlns:a16="http://schemas.microsoft.com/office/drawing/2014/main" id="{299D5534-231F-3BF9-BB30-AAB6BD439790}"/>
              </a:ext>
            </a:extLst>
          </p:cNvPr>
          <p:cNvGraphicFramePr>
            <a:graphicFrameLocks/>
          </p:cNvGraphicFramePr>
          <p:nvPr/>
        </p:nvGraphicFramePr>
        <p:xfrm>
          <a:off x="593725" y="5008563"/>
          <a:ext cx="5889625" cy="3730625"/>
        </p:xfrm>
        <a:graphic>
          <a:graphicData uri="http://schemas.openxmlformats.org/presentationml/2006/ole">
            <mc:AlternateContent xmlns:mc="http://schemas.openxmlformats.org/markup-compatibility/2006">
              <mc:Choice xmlns:v="urn:schemas-microsoft-com:vml" Requires="v">
                <p:oleObj name="Document" r:id="rId3" imgW="5854700" imgH="3662363" progId="Word.Document.6">
                  <p:embed/>
                </p:oleObj>
              </mc:Choice>
              <mc:Fallback>
                <p:oleObj name="Document" r:id="rId3" imgW="5854700" imgH="3662363" progId="Word.Document.6">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725" y="5008563"/>
                        <a:ext cx="5889625" cy="373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E8C2732-240F-0EF2-C632-F0DCC626C37E}"/>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r>
              <a:rPr lang="en-US" altLang="en-US">
                <a:latin typeface="Arial" panose="020B0604020202020204" pitchFamily="34" charset="0"/>
              </a:rPr>
              <a:t>Character Manipulation Functions</a:t>
            </a:r>
          </a:p>
          <a:p>
            <a:pPr marL="114300" lvl="1" defTabSz="382588"/>
            <a:r>
              <a:rPr lang="en-US" altLang="en-US">
                <a:latin typeface="Arial" panose="020B0604020202020204" pitchFamily="34" charset="0"/>
              </a:rPr>
              <a:t>CONCAT, SUBSTR, LENGTH, INSTR, and LPAD are the five character manipulation functions covered in this lesson.</a:t>
            </a:r>
          </a:p>
          <a:p>
            <a:pPr marL="439738" lvl="2" indent="-211138" defTabSz="382588"/>
            <a:r>
              <a:rPr lang="en-US" altLang="en-US">
                <a:solidFill>
                  <a:srgbClr val="FC0128"/>
                </a:solidFill>
                <a:latin typeface="Arial" panose="020B0604020202020204" pitchFamily="34" charset="0"/>
              </a:rPr>
              <a:t>CONCAT</a:t>
            </a:r>
            <a:r>
              <a:rPr lang="en-US" altLang="en-US">
                <a:solidFill>
                  <a:srgbClr val="FC0128"/>
                </a:solidFill>
                <a:latin typeface="Symbol" panose="05050102010706020507" pitchFamily="18" charset="2"/>
              </a:rPr>
              <a:t>:</a:t>
            </a:r>
            <a:r>
              <a:rPr lang="en-US" altLang="en-US">
                <a:latin typeface="Symbol" panose="05050102010706020507" pitchFamily="18" charset="2"/>
              </a:rPr>
              <a:t> </a:t>
            </a:r>
            <a:r>
              <a:rPr lang="en-US" altLang="en-US">
                <a:latin typeface="Arial" panose="020B0604020202020204" pitchFamily="34" charset="0"/>
              </a:rPr>
              <a:t>Joins values together (You are limited to using two parameters with CONCAT.)</a:t>
            </a:r>
          </a:p>
          <a:p>
            <a:pPr marL="439738" lvl="2" indent="-211138" defTabSz="382588"/>
            <a:r>
              <a:rPr lang="en-US" altLang="en-US">
                <a:solidFill>
                  <a:srgbClr val="FC0128"/>
                </a:solidFill>
                <a:latin typeface="Arial" panose="020B0604020202020204" pitchFamily="34" charset="0"/>
              </a:rPr>
              <a:t>SUBSTR</a:t>
            </a:r>
            <a:r>
              <a:rPr lang="en-US" altLang="en-US">
                <a:solidFill>
                  <a:srgbClr val="FC0128"/>
                </a:solidFill>
                <a:latin typeface="Symbol" panose="05050102010706020507" pitchFamily="18" charset="2"/>
              </a:rPr>
              <a:t>:</a:t>
            </a:r>
            <a:r>
              <a:rPr lang="en-US" altLang="en-US">
                <a:latin typeface="Symbol" panose="05050102010706020507" pitchFamily="18" charset="2"/>
              </a:rPr>
              <a:t> </a:t>
            </a:r>
            <a:r>
              <a:rPr lang="en-US" altLang="en-US">
                <a:latin typeface="Arial" panose="020B0604020202020204" pitchFamily="34" charset="0"/>
              </a:rPr>
              <a:t>Extracts a string of determined length</a:t>
            </a:r>
          </a:p>
          <a:p>
            <a:pPr marL="439738" lvl="2" indent="-211138" defTabSz="382588"/>
            <a:r>
              <a:rPr lang="en-US" altLang="en-US">
                <a:solidFill>
                  <a:srgbClr val="FC0128"/>
                </a:solidFill>
                <a:latin typeface="Arial" panose="020B0604020202020204" pitchFamily="34" charset="0"/>
              </a:rPr>
              <a:t>LENGTH</a:t>
            </a:r>
            <a:r>
              <a:rPr lang="en-US" altLang="en-US">
                <a:solidFill>
                  <a:srgbClr val="FC0128"/>
                </a:solidFill>
                <a:latin typeface="Symbol" panose="05050102010706020507" pitchFamily="18" charset="2"/>
              </a:rPr>
              <a:t>:</a:t>
            </a:r>
            <a:r>
              <a:rPr lang="en-US" altLang="en-US">
                <a:latin typeface="Symbol" panose="05050102010706020507" pitchFamily="18" charset="2"/>
              </a:rPr>
              <a:t> </a:t>
            </a:r>
            <a:r>
              <a:rPr lang="en-US" altLang="en-US">
                <a:latin typeface="Arial" panose="020B0604020202020204" pitchFamily="34" charset="0"/>
              </a:rPr>
              <a:t>Shows the length of a string as a numeric value</a:t>
            </a:r>
          </a:p>
          <a:p>
            <a:pPr marL="439738" lvl="2" indent="-211138" defTabSz="382588"/>
            <a:r>
              <a:rPr lang="en-US" altLang="en-US">
                <a:solidFill>
                  <a:srgbClr val="FC0128"/>
                </a:solidFill>
                <a:latin typeface="Arial" panose="020B0604020202020204" pitchFamily="34" charset="0"/>
              </a:rPr>
              <a:t>INSTR</a:t>
            </a:r>
            <a:r>
              <a:rPr lang="en-US" altLang="en-US">
                <a:solidFill>
                  <a:srgbClr val="FC0128"/>
                </a:solidFill>
                <a:latin typeface="Symbol" panose="05050102010706020507" pitchFamily="18" charset="2"/>
              </a:rPr>
              <a:t>:</a:t>
            </a:r>
            <a:r>
              <a:rPr lang="en-US" altLang="en-US">
                <a:latin typeface="Symbol" panose="05050102010706020507" pitchFamily="18" charset="2"/>
              </a:rPr>
              <a:t> </a:t>
            </a:r>
            <a:r>
              <a:rPr lang="en-US" altLang="en-US">
                <a:latin typeface="Arial" panose="020B0604020202020204" pitchFamily="34" charset="0"/>
              </a:rPr>
              <a:t>Finds numeric position of a named character</a:t>
            </a:r>
          </a:p>
          <a:p>
            <a:pPr marL="439738" lvl="2" indent="-211138" defTabSz="382588"/>
            <a:r>
              <a:rPr lang="en-US" altLang="en-US">
                <a:solidFill>
                  <a:srgbClr val="FC0128"/>
                </a:solidFill>
                <a:latin typeface="Arial" panose="020B0604020202020204" pitchFamily="34" charset="0"/>
              </a:rPr>
              <a:t>LPAD</a:t>
            </a:r>
            <a:r>
              <a:rPr lang="en-US" altLang="en-US">
                <a:solidFill>
                  <a:srgbClr val="FC0128"/>
                </a:solidFill>
                <a:latin typeface="Symbol" panose="05050102010706020507" pitchFamily="18" charset="2"/>
              </a:rPr>
              <a:t>:</a:t>
            </a:r>
            <a:r>
              <a:rPr lang="en-US" altLang="en-US">
                <a:latin typeface="Symbol" panose="05050102010706020507" pitchFamily="18" charset="2"/>
              </a:rPr>
              <a:t> </a:t>
            </a:r>
            <a:r>
              <a:rPr lang="en-US" altLang="en-US">
                <a:latin typeface="Arial" panose="020B0604020202020204" pitchFamily="34" charset="0"/>
              </a:rPr>
              <a:t>Pads the character value right-justified</a:t>
            </a:r>
          </a:p>
          <a:p>
            <a:pPr marL="114300" lvl="1" defTabSz="382588"/>
            <a:r>
              <a:rPr lang="en-US" altLang="en-US" b="1">
                <a:latin typeface="Arial" panose="020B0604020202020204" pitchFamily="34" charset="0"/>
              </a:rPr>
              <a:t>Note:</a:t>
            </a:r>
            <a:r>
              <a:rPr lang="en-US" altLang="en-US">
                <a:latin typeface="Arial" panose="020B0604020202020204" pitchFamily="34" charset="0"/>
              </a:rPr>
              <a:t> </a:t>
            </a:r>
            <a:r>
              <a:rPr lang="en-US" altLang="en-US">
                <a:solidFill>
                  <a:srgbClr val="FC0128"/>
                </a:solidFill>
                <a:latin typeface="Arial" panose="020B0604020202020204" pitchFamily="34" charset="0"/>
              </a:rPr>
              <a:t>RPAD </a:t>
            </a:r>
            <a:r>
              <a:rPr lang="en-US" altLang="en-US">
                <a:latin typeface="Arial" panose="020B0604020202020204" pitchFamily="34" charset="0"/>
              </a:rPr>
              <a:t>character manipulation function pads the character value left-justified</a:t>
            </a: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defTabSz="382588"/>
            <a:r>
              <a:rPr lang="en-US" altLang="en-US">
                <a:solidFill>
                  <a:schemeClr val="accent2"/>
                </a:solidFill>
                <a:latin typeface="Arial" panose="020B0604020202020204" pitchFamily="34" charset="0"/>
              </a:rPr>
              <a:t>Class Management Note</a:t>
            </a:r>
          </a:p>
          <a:p>
            <a:pPr marL="114300" lvl="1" defTabSz="382588"/>
            <a:r>
              <a:rPr lang="en-US" altLang="en-US">
                <a:solidFill>
                  <a:schemeClr val="accent2"/>
                </a:solidFill>
                <a:latin typeface="Arial" panose="020B0604020202020204" pitchFamily="34" charset="0"/>
              </a:rPr>
              <a:t>Be sure to point out RPAD to the students, as this function will needed in a practice exercise.</a:t>
            </a:r>
          </a:p>
          <a:p>
            <a:pPr marL="114300" lvl="1" defTabSz="382588"/>
            <a:r>
              <a:rPr lang="en-US" altLang="en-US">
                <a:solidFill>
                  <a:schemeClr val="accent2"/>
                </a:solidFill>
                <a:latin typeface="Arial" panose="020B0604020202020204" pitchFamily="34" charset="0"/>
              </a:rPr>
              <a:t>Also, LTRIM and RTRIM are replaced by one function, TRIM, in Oracle8i.</a:t>
            </a:r>
          </a:p>
        </p:txBody>
      </p:sp>
      <p:sp>
        <p:nvSpPr>
          <p:cNvPr id="21507" name="Rectangle 3">
            <a:extLst>
              <a:ext uri="{FF2B5EF4-FFF2-40B4-BE49-F238E27FC236}">
                <a16:creationId xmlns:a16="http://schemas.microsoft.com/office/drawing/2014/main" id="{9DDEDB46-A849-6BE1-9FFB-6355E1FEBD27}"/>
              </a:ext>
            </a:extLst>
          </p:cNvPr>
          <p:cNvSpPr>
            <a:spLocks noGrp="1" noRot="1" noChangeArrowheads="1" noTextEdit="1"/>
          </p:cNvSpPr>
          <p:nvPr>
            <p:ph type="sldImg"/>
          </p:nvPr>
        </p:nvSpPr>
        <p:spPr>
          <a:xfrm>
            <a:off x="441325" y="165100"/>
            <a:ext cx="5970588" cy="4478338"/>
          </a:xfrm>
          <a:ln w="12700" cap="flat">
            <a:solidFill>
              <a:schemeClr val="tx1"/>
            </a:solid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1BEE2FDE-3457-E426-E4AD-A93E35482A94}"/>
              </a:ext>
            </a:extLst>
          </p:cNvPr>
          <p:cNvSpPr>
            <a:spLocks noGrp="1" noRot="1" noChangeArrowheads="1" noTextEdit="1"/>
          </p:cNvSpPr>
          <p:nvPr>
            <p:ph type="sldImg"/>
          </p:nvPr>
        </p:nvSpPr>
        <p:spPr>
          <a:xfrm>
            <a:off x="439738" y="163513"/>
            <a:ext cx="5973762" cy="4479925"/>
          </a:xfrm>
          <a:ln w="12700" cap="flat">
            <a:solidFill>
              <a:schemeClr val="tx1"/>
            </a:solidFill>
          </a:ln>
        </p:spPr>
      </p:sp>
      <p:sp>
        <p:nvSpPr>
          <p:cNvPr id="17411" name="Rectangle 3">
            <a:extLst>
              <a:ext uri="{FF2B5EF4-FFF2-40B4-BE49-F238E27FC236}">
                <a16:creationId xmlns:a16="http://schemas.microsoft.com/office/drawing/2014/main" id="{37C097C1-3CB3-9D59-9B4C-5237A71A1152}"/>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Creating Tables</a:t>
            </a:r>
          </a:p>
          <a:p>
            <a:pPr lvl="1"/>
            <a:r>
              <a:rPr lang="en-US" altLang="en-US">
                <a:latin typeface="Arial" panose="020B0604020202020204" pitchFamily="34" charset="0"/>
              </a:rPr>
              <a:t>The example on the slide creates the DEPT table, with three columns—namely, DEPTNO, DNAME, and LOC. It further confirms the creation of the table by issuing the DESCRIBE command. </a:t>
            </a:r>
          </a:p>
          <a:p>
            <a:pPr lvl="1"/>
            <a:r>
              <a:rPr lang="en-US" altLang="en-US">
                <a:latin typeface="Arial" panose="020B0604020202020204" pitchFamily="34" charset="0"/>
              </a:rPr>
              <a:t>Since creating a table is a DDL statement, an automatic commit takes place when this statement is executed.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CC2E7D85-F7BC-E61A-62E5-CE4CDE7AEA81}"/>
              </a:ext>
            </a:extLst>
          </p:cNvPr>
          <p:cNvSpPr>
            <a:spLocks noGrp="1" noRot="1" noChangeArrowheads="1" noTextEdit="1"/>
          </p:cNvSpPr>
          <p:nvPr>
            <p:ph type="sldImg"/>
          </p:nvPr>
        </p:nvSpPr>
        <p:spPr>
          <a:xfrm>
            <a:off x="439738" y="163513"/>
            <a:ext cx="5973762" cy="4479925"/>
          </a:xfrm>
          <a:ln w="12700" cap="flat">
            <a:solidFill>
              <a:schemeClr val="tx1"/>
            </a:solidFill>
          </a:ln>
        </p:spPr>
      </p:sp>
      <p:sp>
        <p:nvSpPr>
          <p:cNvPr id="19459" name="Rectangle 3">
            <a:extLst>
              <a:ext uri="{FF2B5EF4-FFF2-40B4-BE49-F238E27FC236}">
                <a16:creationId xmlns:a16="http://schemas.microsoft.com/office/drawing/2014/main" id="{6DFC87E5-8F9E-9FBF-D094-5777684D1C01}"/>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Tables in the Oracle Database</a:t>
            </a:r>
          </a:p>
          <a:p>
            <a:pPr lvl="1"/>
            <a:r>
              <a:rPr lang="en-US" altLang="en-US">
                <a:latin typeface="Arial" panose="020B0604020202020204" pitchFamily="34" charset="0"/>
              </a:rPr>
              <a:t>User tables are tables created by the user, such as EMP, that contain user information. There is another collection of tables and views in the Oracle database known as the </a:t>
            </a:r>
            <a:r>
              <a:rPr lang="en-US" altLang="en-US" i="1">
                <a:latin typeface="Arial" panose="020B0604020202020204" pitchFamily="34" charset="0"/>
              </a:rPr>
              <a:t>data dictionary</a:t>
            </a:r>
            <a:r>
              <a:rPr lang="en-US" altLang="en-US">
                <a:latin typeface="Arial" panose="020B0604020202020204" pitchFamily="34" charset="0"/>
              </a:rPr>
              <a:t>. This collection is created and maintained by the Oracle Server and contains information about the database.</a:t>
            </a:r>
          </a:p>
          <a:p>
            <a:pPr lvl="1"/>
            <a:r>
              <a:rPr lang="en-US" altLang="en-US">
                <a:latin typeface="Arial" panose="020B0604020202020204" pitchFamily="34" charset="0"/>
              </a:rPr>
              <a:t>All </a:t>
            </a:r>
            <a:r>
              <a:rPr lang="en-US" altLang="en-US">
                <a:solidFill>
                  <a:srgbClr val="FC0128"/>
                </a:solidFill>
                <a:latin typeface="Arial" panose="020B0604020202020204" pitchFamily="34" charset="0"/>
              </a:rPr>
              <a:t>data dictionary </a:t>
            </a:r>
            <a:r>
              <a:rPr lang="en-US" altLang="en-US">
                <a:latin typeface="Arial" panose="020B0604020202020204" pitchFamily="34" charset="0"/>
              </a:rPr>
              <a:t>tables are owned by the SYS user. The base tables are rarely accessed directly because the information in them is not easy to understand. Therefore, users typically access data dictionary views because the information is presented in a format that is easier to understand. Information stored in the data dictionary include names of the Oracle Server users, privileges granted to users, database object names, table constraints, and auditing information.</a:t>
            </a:r>
          </a:p>
          <a:p>
            <a:pPr lvl="1"/>
            <a:r>
              <a:rPr lang="en-US" altLang="en-US">
                <a:latin typeface="Arial" panose="020B0604020202020204" pitchFamily="34" charset="0"/>
              </a:rPr>
              <a:t>There are four categories of data dictionary views; each category has a distinct prefix which reflects their intended use.</a:t>
            </a: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graphicFrame>
        <p:nvGraphicFramePr>
          <p:cNvPr id="19460" name="Object 4">
            <a:extLst>
              <a:ext uri="{FF2B5EF4-FFF2-40B4-BE49-F238E27FC236}">
                <a16:creationId xmlns:a16="http://schemas.microsoft.com/office/drawing/2014/main" id="{B551F1EA-2284-53BB-602D-42C6D9DF3EE8}"/>
              </a:ext>
            </a:extLst>
          </p:cNvPr>
          <p:cNvGraphicFramePr>
            <a:graphicFrameLocks/>
          </p:cNvGraphicFramePr>
          <p:nvPr/>
        </p:nvGraphicFramePr>
        <p:xfrm>
          <a:off x="612775" y="7123113"/>
          <a:ext cx="5865813" cy="1852612"/>
        </p:xfrm>
        <a:graphic>
          <a:graphicData uri="http://schemas.openxmlformats.org/presentationml/2006/ole">
            <mc:AlternateContent xmlns:mc="http://schemas.openxmlformats.org/markup-compatibility/2006">
              <mc:Choice xmlns:v="urn:schemas-microsoft-com:vml" Requires="v">
                <p:oleObj name="Document" r:id="rId3" imgW="5830824" imgH="1819656" progId="Word.Document.6">
                  <p:embed/>
                </p:oleObj>
              </mc:Choice>
              <mc:Fallback>
                <p:oleObj name="Document" r:id="rId3" imgW="5830824" imgH="1819656" progId="Word.Document.6">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775" y="7123113"/>
                        <a:ext cx="5865813" cy="185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82A49BBC-C0FB-C871-B809-E34F4F130E5B}"/>
              </a:ext>
            </a:extLst>
          </p:cNvPr>
          <p:cNvSpPr>
            <a:spLocks noGrp="1" noRot="1" noChangeArrowheads="1" noTextEdit="1"/>
          </p:cNvSpPr>
          <p:nvPr>
            <p:ph type="sldImg"/>
          </p:nvPr>
        </p:nvSpPr>
        <p:spPr>
          <a:xfrm>
            <a:off x="439738" y="163513"/>
            <a:ext cx="5973762" cy="4479925"/>
          </a:xfrm>
          <a:ln w="12700" cap="flat">
            <a:solidFill>
              <a:schemeClr val="tx1"/>
            </a:solidFill>
          </a:ln>
        </p:spPr>
      </p:sp>
      <p:sp>
        <p:nvSpPr>
          <p:cNvPr id="21507" name="Rectangle 3">
            <a:extLst>
              <a:ext uri="{FF2B5EF4-FFF2-40B4-BE49-F238E27FC236}">
                <a16:creationId xmlns:a16="http://schemas.microsoft.com/office/drawing/2014/main" id="{B0A65F3B-2DCA-3AD4-DD9D-D70215CF39A4}"/>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tabLst>
                <a:tab pos="446088" algn="l"/>
                <a:tab pos="1177925" algn="l"/>
              </a:tabLst>
            </a:pPr>
            <a:r>
              <a:rPr lang="en-US" altLang="en-US">
                <a:latin typeface="Arial" panose="020B0604020202020204" pitchFamily="34" charset="0"/>
              </a:rPr>
              <a:t>Querying the Data Dictionary</a:t>
            </a:r>
          </a:p>
          <a:p>
            <a:pPr marL="114300" lvl="1" defTabSz="382588">
              <a:tabLst>
                <a:tab pos="446088" algn="l"/>
                <a:tab pos="1177925" algn="l"/>
              </a:tabLst>
            </a:pPr>
            <a:r>
              <a:rPr lang="en-US" altLang="en-US">
                <a:latin typeface="Arial" panose="020B0604020202020204" pitchFamily="34" charset="0"/>
              </a:rPr>
              <a:t>You can query the data dictionary tables to view various database objects owned by you. The data dictionary tables frequently used are these:</a:t>
            </a:r>
          </a:p>
          <a:p>
            <a:pPr marL="439738" lvl="2" indent="-211138" defTabSz="382588">
              <a:tabLst>
                <a:tab pos="446088" algn="l"/>
                <a:tab pos="1177925" algn="l"/>
              </a:tabLst>
            </a:pPr>
            <a:r>
              <a:rPr lang="en-US" altLang="en-US">
                <a:latin typeface="Arial" panose="020B0604020202020204" pitchFamily="34" charset="0"/>
              </a:rPr>
              <a:t>USER_TABLES</a:t>
            </a:r>
          </a:p>
          <a:p>
            <a:pPr marL="439738" lvl="2" indent="-211138" defTabSz="382588">
              <a:tabLst>
                <a:tab pos="446088" algn="l"/>
                <a:tab pos="1177925" algn="l"/>
              </a:tabLst>
            </a:pPr>
            <a:r>
              <a:rPr lang="en-US" altLang="en-US">
                <a:latin typeface="Arial" panose="020B0604020202020204" pitchFamily="34" charset="0"/>
              </a:rPr>
              <a:t>USER_OBJECTS</a:t>
            </a:r>
          </a:p>
          <a:p>
            <a:pPr marL="439738" lvl="2" indent="-211138" defTabSz="382588">
              <a:tabLst>
                <a:tab pos="446088" algn="l"/>
                <a:tab pos="1177925" algn="l"/>
              </a:tabLst>
            </a:pPr>
            <a:r>
              <a:rPr lang="en-US" altLang="en-US">
                <a:latin typeface="Arial" panose="020B0604020202020204" pitchFamily="34" charset="0"/>
              </a:rPr>
              <a:t>USER_CATALOG</a:t>
            </a:r>
          </a:p>
          <a:p>
            <a:pPr marL="114300" lvl="1" defTabSz="382588">
              <a:tabLst>
                <a:tab pos="446088" algn="l"/>
                <a:tab pos="1177925" algn="l"/>
              </a:tabLst>
            </a:pPr>
            <a:r>
              <a:rPr lang="en-US" altLang="en-US" b="1">
                <a:latin typeface="Arial" panose="020B0604020202020204" pitchFamily="34" charset="0"/>
              </a:rPr>
              <a:t>Note:</a:t>
            </a:r>
            <a:r>
              <a:rPr lang="en-US" altLang="en-US">
                <a:latin typeface="Arial" panose="020B0604020202020204" pitchFamily="34" charset="0"/>
              </a:rPr>
              <a:t> USER_CATALOG has a synonym called CAT. You can use this synonym instead of USER_CATALOG in SQL statements.</a:t>
            </a:r>
          </a:p>
          <a:p>
            <a:pPr marL="439738" lvl="2" indent="-211138" defTabSz="382588">
              <a:spcBef>
                <a:spcPct val="65000"/>
              </a:spcBef>
              <a:tabLst>
                <a:tab pos="446088" algn="l"/>
                <a:tab pos="1177925" algn="l"/>
              </a:tabLst>
            </a:pPr>
            <a:r>
              <a:rPr lang="en-US" altLang="en-US" b="1">
                <a:latin typeface="Courier New" panose="02070309020205020404" pitchFamily="49" charset="0"/>
              </a:rPr>
              <a:t>SQL&gt; SELECT	*</a:t>
            </a:r>
          </a:p>
          <a:p>
            <a:pPr defTabSz="382588">
              <a:tabLst>
                <a:tab pos="446088" algn="l"/>
                <a:tab pos="1177925" algn="l"/>
              </a:tabLst>
            </a:pPr>
            <a:r>
              <a:rPr lang="en-US" altLang="en-US">
                <a:latin typeface="Courier New" panose="02070309020205020404" pitchFamily="49" charset="0"/>
              </a:rPr>
              <a:t>     2  FROM  	CAT;</a:t>
            </a:r>
          </a:p>
          <a:p>
            <a:pPr defTabSz="382588">
              <a:tabLst>
                <a:tab pos="446088" algn="l"/>
                <a:tab pos="1177925" algn="l"/>
              </a:tabLst>
            </a:pPr>
            <a:endParaRPr lang="en-US" altLang="en-US">
              <a:latin typeface="Arial" panose="020B0604020202020204" pitchFamily="34" charset="0"/>
            </a:endParaRPr>
          </a:p>
          <a:p>
            <a:pPr defTabSz="382588">
              <a:tabLst>
                <a:tab pos="446088" algn="l"/>
                <a:tab pos="1177925" algn="l"/>
              </a:tabLst>
            </a:pPr>
            <a:endParaRPr lang="en-US" altLang="en-US">
              <a:latin typeface="Arial" panose="020B0604020202020204" pitchFamily="34" charset="0"/>
            </a:endParaRPr>
          </a:p>
          <a:p>
            <a:pPr defTabSz="382588">
              <a:tabLst>
                <a:tab pos="446088" algn="l"/>
                <a:tab pos="1177925" algn="l"/>
              </a:tabLst>
            </a:pPr>
            <a:endParaRPr lang="en-US" altLang="en-US">
              <a:latin typeface="Arial" panose="020B0604020202020204" pitchFamily="34" charset="0"/>
            </a:endParaRPr>
          </a:p>
          <a:p>
            <a:pPr defTabSz="382588">
              <a:tabLst>
                <a:tab pos="446088" algn="l"/>
                <a:tab pos="1177925" algn="l"/>
              </a:tabLst>
            </a:pPr>
            <a:endParaRPr lang="en-US" altLang="en-US">
              <a:latin typeface="Arial" panose="020B0604020202020204" pitchFamily="34" charset="0"/>
            </a:endParaRPr>
          </a:p>
          <a:p>
            <a:pPr defTabSz="382588">
              <a:tabLst>
                <a:tab pos="446088" algn="l"/>
                <a:tab pos="1177925" algn="l"/>
              </a:tabLst>
            </a:pPr>
            <a:r>
              <a:rPr lang="en-US" altLang="en-US">
                <a:solidFill>
                  <a:schemeClr val="accent2"/>
                </a:solidFill>
                <a:latin typeface="Arial" panose="020B0604020202020204" pitchFamily="34" charset="0"/>
              </a:rPr>
              <a:t>Class Management Note (For slide 10-11)</a:t>
            </a:r>
          </a:p>
          <a:p>
            <a:pPr marL="114300" lvl="1" defTabSz="382588">
              <a:tabLst>
                <a:tab pos="446088" algn="l"/>
                <a:tab pos="1177925" algn="l"/>
              </a:tabLst>
            </a:pPr>
            <a:r>
              <a:rPr lang="en-US" altLang="en-US">
                <a:solidFill>
                  <a:schemeClr val="accent2"/>
                </a:solidFill>
                <a:latin typeface="Arial" panose="020B0604020202020204" pitchFamily="34" charset="0"/>
              </a:rPr>
              <a:t>Oracle8 introduces large object (LOB) datatypes that can store large and unstructured data such as text, image, video, and spatial data, up to 4 gigabytes in size.</a:t>
            </a:r>
          </a:p>
        </p:txBody>
      </p:sp>
      <p:sp>
        <p:nvSpPr>
          <p:cNvPr id="21508" name="Rectangle 4">
            <a:extLst>
              <a:ext uri="{FF2B5EF4-FFF2-40B4-BE49-F238E27FC236}">
                <a16:creationId xmlns:a16="http://schemas.microsoft.com/office/drawing/2014/main" id="{1F9679EF-C70B-9D19-C0CF-B04D23ED700E}"/>
              </a:ext>
            </a:extLst>
          </p:cNvPr>
          <p:cNvSpPr>
            <a:spLocks noChangeArrowheads="1"/>
          </p:cNvSpPr>
          <p:nvPr/>
        </p:nvSpPr>
        <p:spPr bwMode="auto">
          <a:xfrm>
            <a:off x="623888" y="6592888"/>
            <a:ext cx="5510212" cy="4841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ACB1408-519B-F9FC-91E5-90F5F8E19523}"/>
              </a:ext>
            </a:extLst>
          </p:cNvPr>
          <p:cNvSpPr>
            <a:spLocks noGrp="1" noRot="1" noChangeArrowheads="1" noTextEdit="1"/>
          </p:cNvSpPr>
          <p:nvPr>
            <p:ph type="sldImg"/>
          </p:nvPr>
        </p:nvSpPr>
        <p:spPr>
          <a:xfrm>
            <a:off x="439738" y="163513"/>
            <a:ext cx="5973762" cy="4479925"/>
          </a:xfrm>
          <a:ln w="12700" cap="flat">
            <a:solidFill>
              <a:schemeClr val="tx1"/>
            </a:solidFill>
          </a:ln>
        </p:spPr>
      </p:sp>
      <p:sp>
        <p:nvSpPr>
          <p:cNvPr id="23555" name="Rectangle 3">
            <a:extLst>
              <a:ext uri="{FF2B5EF4-FFF2-40B4-BE49-F238E27FC236}">
                <a16:creationId xmlns:a16="http://schemas.microsoft.com/office/drawing/2014/main" id="{3B71B2CA-BE9C-E1BA-049F-451CCBEC9EDB}"/>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Tables in the Oracle Database</a:t>
            </a:r>
          </a:p>
          <a:p>
            <a:pPr lvl="1"/>
            <a:r>
              <a:rPr lang="en-US" altLang="en-US">
                <a:latin typeface="Arial" panose="020B0604020202020204" pitchFamily="34" charset="0"/>
              </a:rPr>
              <a:t>User tables are tables created by the user, such as EMP, that contain user information. There is another collection of tables and views in the Oracle database known as the </a:t>
            </a:r>
            <a:r>
              <a:rPr lang="en-US" altLang="en-US" i="1">
                <a:latin typeface="Arial" panose="020B0604020202020204" pitchFamily="34" charset="0"/>
              </a:rPr>
              <a:t>data dictionary</a:t>
            </a:r>
            <a:r>
              <a:rPr lang="en-US" altLang="en-US">
                <a:latin typeface="Arial" panose="020B0604020202020204" pitchFamily="34" charset="0"/>
              </a:rPr>
              <a:t>. This collection is created and maintained by the Oracle Server and contains information about the database.</a:t>
            </a:r>
          </a:p>
          <a:p>
            <a:pPr lvl="1"/>
            <a:r>
              <a:rPr lang="en-US" altLang="en-US">
                <a:latin typeface="Arial" panose="020B0604020202020204" pitchFamily="34" charset="0"/>
              </a:rPr>
              <a:t>All </a:t>
            </a:r>
            <a:r>
              <a:rPr lang="en-US" altLang="en-US">
                <a:solidFill>
                  <a:srgbClr val="FC0128"/>
                </a:solidFill>
                <a:latin typeface="Arial" panose="020B0604020202020204" pitchFamily="34" charset="0"/>
              </a:rPr>
              <a:t>data dictionary </a:t>
            </a:r>
            <a:r>
              <a:rPr lang="en-US" altLang="en-US">
                <a:latin typeface="Arial" panose="020B0604020202020204" pitchFamily="34" charset="0"/>
              </a:rPr>
              <a:t>tables are owned by the SYS user. The base tables are rarely accessed directly because the information in them is not easy to understand. Therefore, users typically access data dictionary views because the information is presented in a format that is easier to understand. Information stored in the data dictionary include names of the Oracle Server users, privileges granted to users, database object names, table constraints, and auditing information.</a:t>
            </a:r>
          </a:p>
          <a:p>
            <a:pPr lvl="1"/>
            <a:r>
              <a:rPr lang="en-US" altLang="en-US">
                <a:latin typeface="Arial" panose="020B0604020202020204" pitchFamily="34" charset="0"/>
              </a:rPr>
              <a:t>There are four categories of data dictionary views; each category has a distinct prefix which reflects their intended use.</a:t>
            </a: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graphicFrame>
        <p:nvGraphicFramePr>
          <p:cNvPr id="23556" name="Object 4">
            <a:extLst>
              <a:ext uri="{FF2B5EF4-FFF2-40B4-BE49-F238E27FC236}">
                <a16:creationId xmlns:a16="http://schemas.microsoft.com/office/drawing/2014/main" id="{20F56407-5F31-5231-9F77-448B691EFC6C}"/>
              </a:ext>
            </a:extLst>
          </p:cNvPr>
          <p:cNvGraphicFramePr>
            <a:graphicFrameLocks/>
          </p:cNvGraphicFramePr>
          <p:nvPr/>
        </p:nvGraphicFramePr>
        <p:xfrm>
          <a:off x="612775" y="7123113"/>
          <a:ext cx="5865813" cy="1852612"/>
        </p:xfrm>
        <a:graphic>
          <a:graphicData uri="http://schemas.openxmlformats.org/presentationml/2006/ole">
            <mc:AlternateContent xmlns:mc="http://schemas.openxmlformats.org/markup-compatibility/2006">
              <mc:Choice xmlns:v="urn:schemas-microsoft-com:vml" Requires="v">
                <p:oleObj name="Document" r:id="rId3" imgW="5830824" imgH="1819656" progId="Word.Document.6">
                  <p:embed/>
                </p:oleObj>
              </mc:Choice>
              <mc:Fallback>
                <p:oleObj name="Document" r:id="rId3" imgW="5830824" imgH="1819656" progId="Word.Document.6">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775" y="7123113"/>
                        <a:ext cx="5865813" cy="185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D67CD57-3344-D836-C0DC-2948898D9B4B}"/>
              </a:ext>
            </a:extLst>
          </p:cNvPr>
          <p:cNvSpPr>
            <a:spLocks noGrp="1" noRot="1" noChangeArrowheads="1" noTextEdit="1"/>
          </p:cNvSpPr>
          <p:nvPr>
            <p:ph type="sldImg"/>
          </p:nvPr>
        </p:nvSpPr>
        <p:spPr>
          <a:xfrm>
            <a:off x="439738" y="163513"/>
            <a:ext cx="5973762" cy="4479925"/>
          </a:xfrm>
          <a:ln w="12700" cap="flat">
            <a:solidFill>
              <a:schemeClr val="tx1"/>
            </a:solidFill>
          </a:ln>
        </p:spPr>
      </p:sp>
      <p:sp>
        <p:nvSpPr>
          <p:cNvPr id="25603" name="Rectangle 3">
            <a:extLst>
              <a:ext uri="{FF2B5EF4-FFF2-40B4-BE49-F238E27FC236}">
                <a16:creationId xmlns:a16="http://schemas.microsoft.com/office/drawing/2014/main" id="{D61A1062-F8F1-F2B9-BB11-FB61D5830D0F}"/>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Tables in the Oracle Database</a:t>
            </a:r>
          </a:p>
          <a:p>
            <a:pPr lvl="1"/>
            <a:r>
              <a:rPr lang="en-US" altLang="en-US">
                <a:latin typeface="Arial" panose="020B0604020202020204" pitchFamily="34" charset="0"/>
              </a:rPr>
              <a:t>User tables are tables created by the user, such as EMP, that contain user information. There is another collection of tables and views in the Oracle database known as the </a:t>
            </a:r>
            <a:r>
              <a:rPr lang="en-US" altLang="en-US" i="1">
                <a:latin typeface="Arial" panose="020B0604020202020204" pitchFamily="34" charset="0"/>
              </a:rPr>
              <a:t>data dictionary</a:t>
            </a:r>
            <a:r>
              <a:rPr lang="en-US" altLang="en-US">
                <a:latin typeface="Arial" panose="020B0604020202020204" pitchFamily="34" charset="0"/>
              </a:rPr>
              <a:t>. This collection is created and maintained by the Oracle Server and contains information about the database.</a:t>
            </a:r>
          </a:p>
          <a:p>
            <a:pPr lvl="1"/>
            <a:r>
              <a:rPr lang="en-US" altLang="en-US">
                <a:latin typeface="Arial" panose="020B0604020202020204" pitchFamily="34" charset="0"/>
              </a:rPr>
              <a:t>All </a:t>
            </a:r>
            <a:r>
              <a:rPr lang="en-US" altLang="en-US">
                <a:solidFill>
                  <a:srgbClr val="FC0128"/>
                </a:solidFill>
                <a:latin typeface="Arial" panose="020B0604020202020204" pitchFamily="34" charset="0"/>
              </a:rPr>
              <a:t>data dictionary </a:t>
            </a:r>
            <a:r>
              <a:rPr lang="en-US" altLang="en-US">
                <a:latin typeface="Arial" panose="020B0604020202020204" pitchFamily="34" charset="0"/>
              </a:rPr>
              <a:t>tables are owned by the SYS user. The base tables are rarely accessed directly because the information in them is not easy to understand. Therefore, users typically access data dictionary views because the information is presented in a format that is easier to understand. Information stored in the data dictionary include names of the Oracle Server users, privileges granted to users, database object names, table constraints, and auditing information.</a:t>
            </a:r>
          </a:p>
          <a:p>
            <a:pPr lvl="1"/>
            <a:r>
              <a:rPr lang="en-US" altLang="en-US">
                <a:latin typeface="Arial" panose="020B0604020202020204" pitchFamily="34" charset="0"/>
              </a:rPr>
              <a:t>There are four categories of data dictionary views; each category has a distinct prefix which reflects their intended use.</a:t>
            </a: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graphicFrame>
        <p:nvGraphicFramePr>
          <p:cNvPr id="25604" name="Object 4">
            <a:extLst>
              <a:ext uri="{FF2B5EF4-FFF2-40B4-BE49-F238E27FC236}">
                <a16:creationId xmlns:a16="http://schemas.microsoft.com/office/drawing/2014/main" id="{EB32DDAA-C1BC-AAF4-28A4-498E325FABEB}"/>
              </a:ext>
            </a:extLst>
          </p:cNvPr>
          <p:cNvGraphicFramePr>
            <a:graphicFrameLocks/>
          </p:cNvGraphicFramePr>
          <p:nvPr/>
        </p:nvGraphicFramePr>
        <p:xfrm>
          <a:off x="612775" y="7123113"/>
          <a:ext cx="5865813" cy="1852612"/>
        </p:xfrm>
        <a:graphic>
          <a:graphicData uri="http://schemas.openxmlformats.org/presentationml/2006/ole">
            <mc:AlternateContent xmlns:mc="http://schemas.openxmlformats.org/markup-compatibility/2006">
              <mc:Choice xmlns:v="urn:schemas-microsoft-com:vml" Requires="v">
                <p:oleObj name="Document" r:id="rId3" imgW="5830824" imgH="1819656" progId="Word.Document.6">
                  <p:embed/>
                </p:oleObj>
              </mc:Choice>
              <mc:Fallback>
                <p:oleObj name="Document" r:id="rId3" imgW="5830824" imgH="1819656" progId="Word.Document.6">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775" y="7123113"/>
                        <a:ext cx="5865813" cy="185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D81F9A08-8105-9178-430C-B61A6954A699}"/>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27651" name="Rectangle 3">
            <a:extLst>
              <a:ext uri="{FF2B5EF4-FFF2-40B4-BE49-F238E27FC236}">
                <a16:creationId xmlns:a16="http://schemas.microsoft.com/office/drawing/2014/main" id="{D746CBF9-D4DE-4924-20B8-E4983B8E4155}"/>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Defining Constraints</a:t>
            </a:r>
          </a:p>
          <a:p>
            <a:pPr lvl="1"/>
            <a:r>
              <a:rPr lang="en-US" altLang="en-US">
                <a:latin typeface="Arial" panose="020B0604020202020204" pitchFamily="34" charset="0"/>
              </a:rPr>
              <a:t>The slide gives the syntax for defining constraints while creating a table.</a:t>
            </a:r>
          </a:p>
          <a:p>
            <a:pPr lvl="1"/>
            <a:r>
              <a:rPr lang="en-US" altLang="en-US">
                <a:latin typeface="Arial" panose="020B0604020202020204" pitchFamily="34" charset="0"/>
              </a:rPr>
              <a:t>In the syntax:</a:t>
            </a:r>
          </a:p>
          <a:p>
            <a:pPr lvl="1"/>
            <a:r>
              <a:rPr lang="en-US" altLang="en-US" i="1">
                <a:latin typeface="Arial" panose="020B0604020202020204" pitchFamily="34" charset="0"/>
              </a:rPr>
              <a:t>	schema</a:t>
            </a:r>
            <a:r>
              <a:rPr lang="en-US" altLang="en-US">
                <a:latin typeface="Arial" panose="020B0604020202020204" pitchFamily="34" charset="0"/>
              </a:rPr>
              <a:t>		is the same as the owner’s name</a:t>
            </a:r>
          </a:p>
          <a:p>
            <a:pPr lvl="1"/>
            <a:r>
              <a:rPr lang="en-US" altLang="en-US" i="1">
                <a:latin typeface="Arial" panose="020B0604020202020204" pitchFamily="34" charset="0"/>
              </a:rPr>
              <a:t>	table</a:t>
            </a:r>
            <a:r>
              <a:rPr lang="en-US" altLang="en-US">
                <a:latin typeface="Arial" panose="020B0604020202020204" pitchFamily="34" charset="0"/>
              </a:rPr>
              <a:t>			is the name of the table</a:t>
            </a:r>
          </a:p>
          <a:p>
            <a:pPr lvl="1"/>
            <a:r>
              <a:rPr lang="en-US" altLang="en-US">
                <a:latin typeface="Arial" panose="020B0604020202020204" pitchFamily="34" charset="0"/>
              </a:rPr>
              <a:t>	DEFAULT </a:t>
            </a:r>
            <a:r>
              <a:rPr lang="en-US" altLang="en-US" i="1">
                <a:latin typeface="Arial" panose="020B0604020202020204" pitchFamily="34" charset="0"/>
              </a:rPr>
              <a:t>expr	</a:t>
            </a:r>
            <a:r>
              <a:rPr lang="en-US" altLang="en-US">
                <a:latin typeface="Arial" panose="020B0604020202020204" pitchFamily="34" charset="0"/>
              </a:rPr>
              <a:t>specifies a default value if a value is omitted in the INSERT statement</a:t>
            </a:r>
          </a:p>
          <a:p>
            <a:pPr lvl="1"/>
            <a:r>
              <a:rPr lang="en-US" altLang="en-US" i="1">
                <a:latin typeface="Arial" panose="020B0604020202020204" pitchFamily="34" charset="0"/>
              </a:rPr>
              <a:t>	column</a:t>
            </a:r>
            <a:r>
              <a:rPr lang="en-US" altLang="en-US">
                <a:latin typeface="Arial" panose="020B0604020202020204" pitchFamily="34" charset="0"/>
              </a:rPr>
              <a:t>		is the name of the column</a:t>
            </a:r>
          </a:p>
          <a:p>
            <a:pPr lvl="1"/>
            <a:r>
              <a:rPr lang="en-US" altLang="en-US">
                <a:latin typeface="Arial" panose="020B0604020202020204" pitchFamily="34" charset="0"/>
              </a:rPr>
              <a:t>	</a:t>
            </a:r>
            <a:r>
              <a:rPr lang="en-US" altLang="en-US" i="1">
                <a:latin typeface="Arial" panose="020B0604020202020204" pitchFamily="34" charset="0"/>
              </a:rPr>
              <a:t>datatype</a:t>
            </a:r>
            <a:r>
              <a:rPr lang="en-US" altLang="en-US">
                <a:latin typeface="Arial" panose="020B0604020202020204" pitchFamily="34" charset="0"/>
              </a:rPr>
              <a:t>		is the column’s datatype and length</a:t>
            </a:r>
          </a:p>
          <a:p>
            <a:pPr lvl="1"/>
            <a:r>
              <a:rPr lang="en-US" altLang="en-US">
                <a:latin typeface="Arial" panose="020B0604020202020204" pitchFamily="34" charset="0"/>
              </a:rPr>
              <a:t>	</a:t>
            </a:r>
            <a:r>
              <a:rPr lang="en-US" altLang="en-US" i="1">
                <a:latin typeface="Arial" panose="020B0604020202020204" pitchFamily="34" charset="0"/>
              </a:rPr>
              <a:t>column_constraint</a:t>
            </a:r>
            <a:r>
              <a:rPr lang="en-US" altLang="en-US">
                <a:latin typeface="Arial" panose="020B0604020202020204" pitchFamily="34" charset="0"/>
              </a:rPr>
              <a:t>	is an integrity constraint as part of the column definition</a:t>
            </a:r>
          </a:p>
          <a:p>
            <a:pPr lvl="1"/>
            <a:r>
              <a:rPr lang="en-US" altLang="en-US" i="1">
                <a:latin typeface="Arial" panose="020B0604020202020204" pitchFamily="34" charset="0"/>
              </a:rPr>
              <a:t>	table_constraint</a:t>
            </a:r>
            <a:r>
              <a:rPr lang="en-US" altLang="en-US">
                <a:latin typeface="Arial" panose="020B0604020202020204" pitchFamily="34" charset="0"/>
              </a:rPr>
              <a:t>	is an integrity constraint as part of the table definition</a:t>
            </a:r>
          </a:p>
          <a:p>
            <a:pPr lvl="1"/>
            <a:r>
              <a:rPr lang="en-US" altLang="en-US">
                <a:latin typeface="Arial" panose="020B0604020202020204" pitchFamily="34" charset="0"/>
              </a:rPr>
              <a:t>For more information, see</a:t>
            </a:r>
            <a:br>
              <a:rPr lang="en-US" altLang="en-US">
                <a:latin typeface="Arial" panose="020B0604020202020204" pitchFamily="34" charset="0"/>
              </a:rPr>
            </a:br>
            <a:r>
              <a:rPr lang="en-US" altLang="en-US" i="1">
                <a:latin typeface="Arial" panose="020B0604020202020204" pitchFamily="34" charset="0"/>
              </a:rPr>
              <a:t>Oracle Server SQL Reference, </a:t>
            </a:r>
            <a:r>
              <a:rPr lang="en-US" altLang="en-US">
                <a:latin typeface="Arial" panose="020B0604020202020204" pitchFamily="34" charset="0"/>
              </a:rPr>
              <a:t>Release 8, “CREATE TABLE.”</a:t>
            </a:r>
          </a:p>
          <a:p>
            <a:endParaRPr lang="en-US" altLang="en-US" b="1">
              <a:latin typeface="Times New Roman" panose="02020603050405020304" pitchFamily="18" charset="0"/>
            </a:endParaRPr>
          </a:p>
        </p:txBody>
      </p:sp>
      <p:grpSp>
        <p:nvGrpSpPr>
          <p:cNvPr id="27652" name="Group 4">
            <a:extLst>
              <a:ext uri="{FF2B5EF4-FFF2-40B4-BE49-F238E27FC236}">
                <a16:creationId xmlns:a16="http://schemas.microsoft.com/office/drawing/2014/main" id="{917459A4-0090-0846-FE29-0B55A84A3948}"/>
              </a:ext>
            </a:extLst>
          </p:cNvPr>
          <p:cNvGrpSpPr>
            <a:grpSpLocks/>
          </p:cNvGrpSpPr>
          <p:nvPr/>
        </p:nvGrpSpPr>
        <p:grpSpPr bwMode="auto">
          <a:xfrm>
            <a:off x="228600" y="7151688"/>
            <a:ext cx="296863" cy="295275"/>
            <a:chOff x="143" y="4423"/>
            <a:chExt cx="186" cy="183"/>
          </a:xfrm>
        </p:grpSpPr>
        <p:sp>
          <p:nvSpPr>
            <p:cNvPr id="27653" name="Freeform 5">
              <a:extLst>
                <a:ext uri="{FF2B5EF4-FFF2-40B4-BE49-F238E27FC236}">
                  <a16:creationId xmlns:a16="http://schemas.microsoft.com/office/drawing/2014/main" id="{85300BC0-40C2-9B9C-BD50-4F11CC6175DC}"/>
                </a:ext>
              </a:extLst>
            </p:cNvPr>
            <p:cNvSpPr>
              <a:spLocks/>
            </p:cNvSpPr>
            <p:nvPr/>
          </p:nvSpPr>
          <p:spPr bwMode="auto">
            <a:xfrm>
              <a:off x="143" y="4423"/>
              <a:ext cx="177" cy="176"/>
            </a:xfrm>
            <a:custGeom>
              <a:avLst/>
              <a:gdLst>
                <a:gd name="T0" fmla="*/ 176 w 177"/>
                <a:gd name="T1" fmla="*/ 175 h 176"/>
                <a:gd name="T2" fmla="*/ 176 w 177"/>
                <a:gd name="T3" fmla="*/ 0 h 176"/>
                <a:gd name="T4" fmla="*/ 0 w 177"/>
                <a:gd name="T5" fmla="*/ 0 h 176"/>
                <a:gd name="T6" fmla="*/ 0 w 177"/>
                <a:gd name="T7" fmla="*/ 175 h 176"/>
                <a:gd name="T8" fmla="*/ 176 w 177"/>
                <a:gd name="T9" fmla="*/ 175 h 176"/>
                <a:gd name="T10" fmla="*/ 0 60000 65536"/>
                <a:gd name="T11" fmla="*/ 0 60000 65536"/>
                <a:gd name="T12" fmla="*/ 0 60000 65536"/>
                <a:gd name="T13" fmla="*/ 0 60000 65536"/>
                <a:gd name="T14" fmla="*/ 0 60000 65536"/>
                <a:gd name="T15" fmla="*/ 0 w 177"/>
                <a:gd name="T16" fmla="*/ 0 h 176"/>
                <a:gd name="T17" fmla="*/ 177 w 177"/>
                <a:gd name="T18" fmla="*/ 176 h 176"/>
              </a:gdLst>
              <a:ahLst/>
              <a:cxnLst>
                <a:cxn ang="T10">
                  <a:pos x="T0" y="T1"/>
                </a:cxn>
                <a:cxn ang="T11">
                  <a:pos x="T2" y="T3"/>
                </a:cxn>
                <a:cxn ang="T12">
                  <a:pos x="T4" y="T5"/>
                </a:cxn>
                <a:cxn ang="T13">
                  <a:pos x="T6" y="T7"/>
                </a:cxn>
                <a:cxn ang="T14">
                  <a:pos x="T8" y="T9"/>
                </a:cxn>
              </a:cxnLst>
              <a:rect l="T15" t="T16" r="T17" b="T18"/>
              <a:pathLst>
                <a:path w="177" h="176">
                  <a:moveTo>
                    <a:pt x="176" y="175"/>
                  </a:moveTo>
                  <a:lnTo>
                    <a:pt x="176" y="0"/>
                  </a:lnTo>
                  <a:lnTo>
                    <a:pt x="0" y="0"/>
                  </a:lnTo>
                  <a:lnTo>
                    <a:pt x="0" y="175"/>
                  </a:lnTo>
                  <a:lnTo>
                    <a:pt x="176" y="17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4" name="Freeform 6">
              <a:extLst>
                <a:ext uri="{FF2B5EF4-FFF2-40B4-BE49-F238E27FC236}">
                  <a16:creationId xmlns:a16="http://schemas.microsoft.com/office/drawing/2014/main" id="{5BA0214F-748D-3DE4-8A7E-1F8B2C3BE378}"/>
                </a:ext>
              </a:extLst>
            </p:cNvPr>
            <p:cNvSpPr>
              <a:spLocks/>
            </p:cNvSpPr>
            <p:nvPr/>
          </p:nvSpPr>
          <p:spPr bwMode="auto">
            <a:xfrm>
              <a:off x="204" y="4489"/>
              <a:ext cx="70" cy="36"/>
            </a:xfrm>
            <a:custGeom>
              <a:avLst/>
              <a:gdLst>
                <a:gd name="T0" fmla="*/ 69 w 70"/>
                <a:gd name="T1" fmla="*/ 6 h 36"/>
                <a:gd name="T2" fmla="*/ 65 w 70"/>
                <a:gd name="T3" fmla="*/ 0 h 36"/>
                <a:gd name="T4" fmla="*/ 0 w 70"/>
                <a:gd name="T5" fmla="*/ 28 h 36"/>
                <a:gd name="T6" fmla="*/ 3 w 70"/>
                <a:gd name="T7" fmla="*/ 35 h 36"/>
                <a:gd name="T8" fmla="*/ 69 w 70"/>
                <a:gd name="T9" fmla="*/ 6 h 36"/>
                <a:gd name="T10" fmla="*/ 0 60000 65536"/>
                <a:gd name="T11" fmla="*/ 0 60000 65536"/>
                <a:gd name="T12" fmla="*/ 0 60000 65536"/>
                <a:gd name="T13" fmla="*/ 0 60000 65536"/>
                <a:gd name="T14" fmla="*/ 0 60000 65536"/>
                <a:gd name="T15" fmla="*/ 0 w 70"/>
                <a:gd name="T16" fmla="*/ 0 h 36"/>
                <a:gd name="T17" fmla="*/ 70 w 70"/>
                <a:gd name="T18" fmla="*/ 36 h 36"/>
              </a:gdLst>
              <a:ahLst/>
              <a:cxnLst>
                <a:cxn ang="T10">
                  <a:pos x="T0" y="T1"/>
                </a:cxn>
                <a:cxn ang="T11">
                  <a:pos x="T2" y="T3"/>
                </a:cxn>
                <a:cxn ang="T12">
                  <a:pos x="T4" y="T5"/>
                </a:cxn>
                <a:cxn ang="T13">
                  <a:pos x="T6" y="T7"/>
                </a:cxn>
                <a:cxn ang="T14">
                  <a:pos x="T8" y="T9"/>
                </a:cxn>
              </a:cxnLst>
              <a:rect l="T15" t="T16" r="T17" b="T18"/>
              <a:pathLst>
                <a:path w="70" h="36">
                  <a:moveTo>
                    <a:pt x="69" y="6"/>
                  </a:moveTo>
                  <a:lnTo>
                    <a:pt x="65" y="0"/>
                  </a:lnTo>
                  <a:lnTo>
                    <a:pt x="0" y="28"/>
                  </a:lnTo>
                  <a:lnTo>
                    <a:pt x="3" y="35"/>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5" name="Freeform 7">
              <a:extLst>
                <a:ext uri="{FF2B5EF4-FFF2-40B4-BE49-F238E27FC236}">
                  <a16:creationId xmlns:a16="http://schemas.microsoft.com/office/drawing/2014/main" id="{4DCBF459-4453-5D20-FECF-D6545D9D0BAD}"/>
                </a:ext>
              </a:extLst>
            </p:cNvPr>
            <p:cNvSpPr>
              <a:spLocks/>
            </p:cNvSpPr>
            <p:nvPr/>
          </p:nvSpPr>
          <p:spPr bwMode="auto">
            <a:xfrm>
              <a:off x="213" y="4505"/>
              <a:ext cx="68" cy="36"/>
            </a:xfrm>
            <a:custGeom>
              <a:avLst/>
              <a:gdLst>
                <a:gd name="T0" fmla="*/ 67 w 68"/>
                <a:gd name="T1" fmla="*/ 6 h 36"/>
                <a:gd name="T2" fmla="*/ 64 w 68"/>
                <a:gd name="T3" fmla="*/ 0 h 36"/>
                <a:gd name="T4" fmla="*/ 0 w 68"/>
                <a:gd name="T5" fmla="*/ 28 h 36"/>
                <a:gd name="T6" fmla="*/ 2 w 68"/>
                <a:gd name="T7" fmla="*/ 35 h 36"/>
                <a:gd name="T8" fmla="*/ 67 w 68"/>
                <a:gd name="T9" fmla="*/ 6 h 36"/>
                <a:gd name="T10" fmla="*/ 0 60000 65536"/>
                <a:gd name="T11" fmla="*/ 0 60000 65536"/>
                <a:gd name="T12" fmla="*/ 0 60000 65536"/>
                <a:gd name="T13" fmla="*/ 0 60000 65536"/>
                <a:gd name="T14" fmla="*/ 0 60000 65536"/>
                <a:gd name="T15" fmla="*/ 0 w 68"/>
                <a:gd name="T16" fmla="*/ 0 h 36"/>
                <a:gd name="T17" fmla="*/ 68 w 68"/>
                <a:gd name="T18" fmla="*/ 36 h 36"/>
              </a:gdLst>
              <a:ahLst/>
              <a:cxnLst>
                <a:cxn ang="T10">
                  <a:pos x="T0" y="T1"/>
                </a:cxn>
                <a:cxn ang="T11">
                  <a:pos x="T2" y="T3"/>
                </a:cxn>
                <a:cxn ang="T12">
                  <a:pos x="T4" y="T5"/>
                </a:cxn>
                <a:cxn ang="T13">
                  <a:pos x="T6" y="T7"/>
                </a:cxn>
                <a:cxn ang="T14">
                  <a:pos x="T8" y="T9"/>
                </a:cxn>
              </a:cxnLst>
              <a:rect l="T15" t="T16" r="T17" b="T18"/>
              <a:pathLst>
                <a:path w="68" h="36">
                  <a:moveTo>
                    <a:pt x="67" y="6"/>
                  </a:moveTo>
                  <a:lnTo>
                    <a:pt x="64" y="0"/>
                  </a:lnTo>
                  <a:lnTo>
                    <a:pt x="0" y="28"/>
                  </a:lnTo>
                  <a:lnTo>
                    <a:pt x="2" y="35"/>
                  </a:lnTo>
                  <a:lnTo>
                    <a:pt x="67"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6" name="Freeform 8">
              <a:extLst>
                <a:ext uri="{FF2B5EF4-FFF2-40B4-BE49-F238E27FC236}">
                  <a16:creationId xmlns:a16="http://schemas.microsoft.com/office/drawing/2014/main" id="{FDC7FC60-A6D3-3A3A-72F2-C048ABEAEEC5}"/>
                </a:ext>
              </a:extLst>
            </p:cNvPr>
            <p:cNvSpPr>
              <a:spLocks/>
            </p:cNvSpPr>
            <p:nvPr/>
          </p:nvSpPr>
          <p:spPr bwMode="auto">
            <a:xfrm>
              <a:off x="219" y="4521"/>
              <a:ext cx="68" cy="35"/>
            </a:xfrm>
            <a:custGeom>
              <a:avLst/>
              <a:gdLst>
                <a:gd name="T0" fmla="*/ 67 w 68"/>
                <a:gd name="T1" fmla="*/ 6 h 35"/>
                <a:gd name="T2" fmla="*/ 64 w 68"/>
                <a:gd name="T3" fmla="*/ 0 h 35"/>
                <a:gd name="T4" fmla="*/ 0 w 68"/>
                <a:gd name="T5" fmla="*/ 27 h 35"/>
                <a:gd name="T6" fmla="*/ 2 w 68"/>
                <a:gd name="T7" fmla="*/ 34 h 35"/>
                <a:gd name="T8" fmla="*/ 67 w 68"/>
                <a:gd name="T9" fmla="*/ 6 h 35"/>
                <a:gd name="T10" fmla="*/ 0 60000 65536"/>
                <a:gd name="T11" fmla="*/ 0 60000 65536"/>
                <a:gd name="T12" fmla="*/ 0 60000 65536"/>
                <a:gd name="T13" fmla="*/ 0 60000 65536"/>
                <a:gd name="T14" fmla="*/ 0 60000 65536"/>
                <a:gd name="T15" fmla="*/ 0 w 68"/>
                <a:gd name="T16" fmla="*/ 0 h 35"/>
                <a:gd name="T17" fmla="*/ 68 w 68"/>
                <a:gd name="T18" fmla="*/ 35 h 35"/>
              </a:gdLst>
              <a:ahLst/>
              <a:cxnLst>
                <a:cxn ang="T10">
                  <a:pos x="T0" y="T1"/>
                </a:cxn>
                <a:cxn ang="T11">
                  <a:pos x="T2" y="T3"/>
                </a:cxn>
                <a:cxn ang="T12">
                  <a:pos x="T4" y="T5"/>
                </a:cxn>
                <a:cxn ang="T13">
                  <a:pos x="T6" y="T7"/>
                </a:cxn>
                <a:cxn ang="T14">
                  <a:pos x="T8" y="T9"/>
                </a:cxn>
              </a:cxnLst>
              <a:rect l="T15" t="T16" r="T17" b="T18"/>
              <a:pathLst>
                <a:path w="68" h="35">
                  <a:moveTo>
                    <a:pt x="67" y="6"/>
                  </a:moveTo>
                  <a:lnTo>
                    <a:pt x="64" y="0"/>
                  </a:lnTo>
                  <a:lnTo>
                    <a:pt x="0" y="27"/>
                  </a:lnTo>
                  <a:lnTo>
                    <a:pt x="2" y="34"/>
                  </a:lnTo>
                  <a:lnTo>
                    <a:pt x="67"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7" name="Freeform 9">
              <a:extLst>
                <a:ext uri="{FF2B5EF4-FFF2-40B4-BE49-F238E27FC236}">
                  <a16:creationId xmlns:a16="http://schemas.microsoft.com/office/drawing/2014/main" id="{63EA384F-12B3-A6AF-1ECE-C3C8482C0D6B}"/>
                </a:ext>
              </a:extLst>
            </p:cNvPr>
            <p:cNvSpPr>
              <a:spLocks/>
            </p:cNvSpPr>
            <p:nvPr/>
          </p:nvSpPr>
          <p:spPr bwMode="auto">
            <a:xfrm>
              <a:off x="227" y="4537"/>
              <a:ext cx="70" cy="36"/>
            </a:xfrm>
            <a:custGeom>
              <a:avLst/>
              <a:gdLst>
                <a:gd name="T0" fmla="*/ 69 w 70"/>
                <a:gd name="T1" fmla="*/ 6 h 36"/>
                <a:gd name="T2" fmla="*/ 65 w 70"/>
                <a:gd name="T3" fmla="*/ 0 h 36"/>
                <a:gd name="T4" fmla="*/ 0 w 70"/>
                <a:gd name="T5" fmla="*/ 28 h 36"/>
                <a:gd name="T6" fmla="*/ 3 w 70"/>
                <a:gd name="T7" fmla="*/ 35 h 36"/>
                <a:gd name="T8" fmla="*/ 69 w 70"/>
                <a:gd name="T9" fmla="*/ 6 h 36"/>
                <a:gd name="T10" fmla="*/ 0 60000 65536"/>
                <a:gd name="T11" fmla="*/ 0 60000 65536"/>
                <a:gd name="T12" fmla="*/ 0 60000 65536"/>
                <a:gd name="T13" fmla="*/ 0 60000 65536"/>
                <a:gd name="T14" fmla="*/ 0 60000 65536"/>
                <a:gd name="T15" fmla="*/ 0 w 70"/>
                <a:gd name="T16" fmla="*/ 0 h 36"/>
                <a:gd name="T17" fmla="*/ 70 w 70"/>
                <a:gd name="T18" fmla="*/ 36 h 36"/>
              </a:gdLst>
              <a:ahLst/>
              <a:cxnLst>
                <a:cxn ang="T10">
                  <a:pos x="T0" y="T1"/>
                </a:cxn>
                <a:cxn ang="T11">
                  <a:pos x="T2" y="T3"/>
                </a:cxn>
                <a:cxn ang="T12">
                  <a:pos x="T4" y="T5"/>
                </a:cxn>
                <a:cxn ang="T13">
                  <a:pos x="T6" y="T7"/>
                </a:cxn>
                <a:cxn ang="T14">
                  <a:pos x="T8" y="T9"/>
                </a:cxn>
              </a:cxnLst>
              <a:rect l="T15" t="T16" r="T17" b="T18"/>
              <a:pathLst>
                <a:path w="70" h="36">
                  <a:moveTo>
                    <a:pt x="69" y="6"/>
                  </a:moveTo>
                  <a:lnTo>
                    <a:pt x="65" y="0"/>
                  </a:lnTo>
                  <a:lnTo>
                    <a:pt x="0" y="28"/>
                  </a:lnTo>
                  <a:lnTo>
                    <a:pt x="3" y="35"/>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8" name="Freeform 10">
              <a:extLst>
                <a:ext uri="{FF2B5EF4-FFF2-40B4-BE49-F238E27FC236}">
                  <a16:creationId xmlns:a16="http://schemas.microsoft.com/office/drawing/2014/main" id="{8EE5274E-80FC-2E41-B8C0-5E3C5D27B93C}"/>
                </a:ext>
              </a:extLst>
            </p:cNvPr>
            <p:cNvSpPr>
              <a:spLocks/>
            </p:cNvSpPr>
            <p:nvPr/>
          </p:nvSpPr>
          <p:spPr bwMode="auto">
            <a:xfrm>
              <a:off x="235" y="4553"/>
              <a:ext cx="69" cy="37"/>
            </a:xfrm>
            <a:custGeom>
              <a:avLst/>
              <a:gdLst>
                <a:gd name="T0" fmla="*/ 68 w 69"/>
                <a:gd name="T1" fmla="*/ 7 h 37"/>
                <a:gd name="T2" fmla="*/ 65 w 69"/>
                <a:gd name="T3" fmla="*/ 0 h 37"/>
                <a:gd name="T4" fmla="*/ 0 w 69"/>
                <a:gd name="T5" fmla="*/ 29 h 37"/>
                <a:gd name="T6" fmla="*/ 3 w 69"/>
                <a:gd name="T7" fmla="*/ 36 h 37"/>
                <a:gd name="T8" fmla="*/ 68 w 69"/>
                <a:gd name="T9" fmla="*/ 7 h 37"/>
                <a:gd name="T10" fmla="*/ 0 60000 65536"/>
                <a:gd name="T11" fmla="*/ 0 60000 65536"/>
                <a:gd name="T12" fmla="*/ 0 60000 65536"/>
                <a:gd name="T13" fmla="*/ 0 60000 65536"/>
                <a:gd name="T14" fmla="*/ 0 60000 65536"/>
                <a:gd name="T15" fmla="*/ 0 w 69"/>
                <a:gd name="T16" fmla="*/ 0 h 37"/>
                <a:gd name="T17" fmla="*/ 69 w 69"/>
                <a:gd name="T18" fmla="*/ 37 h 37"/>
              </a:gdLst>
              <a:ahLst/>
              <a:cxnLst>
                <a:cxn ang="T10">
                  <a:pos x="T0" y="T1"/>
                </a:cxn>
                <a:cxn ang="T11">
                  <a:pos x="T2" y="T3"/>
                </a:cxn>
                <a:cxn ang="T12">
                  <a:pos x="T4" y="T5"/>
                </a:cxn>
                <a:cxn ang="T13">
                  <a:pos x="T6" y="T7"/>
                </a:cxn>
                <a:cxn ang="T14">
                  <a:pos x="T8" y="T9"/>
                </a:cxn>
              </a:cxnLst>
              <a:rect l="T15" t="T16" r="T17" b="T18"/>
              <a:pathLst>
                <a:path w="69" h="37">
                  <a:moveTo>
                    <a:pt x="68" y="7"/>
                  </a:moveTo>
                  <a:lnTo>
                    <a:pt x="65" y="0"/>
                  </a:lnTo>
                  <a:lnTo>
                    <a:pt x="0" y="29"/>
                  </a:lnTo>
                  <a:lnTo>
                    <a:pt x="3" y="36"/>
                  </a:lnTo>
                  <a:lnTo>
                    <a:pt x="68"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9" name="Freeform 11">
              <a:extLst>
                <a:ext uri="{FF2B5EF4-FFF2-40B4-BE49-F238E27FC236}">
                  <a16:creationId xmlns:a16="http://schemas.microsoft.com/office/drawing/2014/main" id="{B80F40EC-804B-FB6B-3C52-EF728C9376C8}"/>
                </a:ext>
              </a:extLst>
            </p:cNvPr>
            <p:cNvSpPr>
              <a:spLocks/>
            </p:cNvSpPr>
            <p:nvPr/>
          </p:nvSpPr>
          <p:spPr bwMode="auto">
            <a:xfrm>
              <a:off x="164" y="4452"/>
              <a:ext cx="121" cy="58"/>
            </a:xfrm>
            <a:custGeom>
              <a:avLst/>
              <a:gdLst>
                <a:gd name="T0" fmla="*/ 120 w 121"/>
                <a:gd name="T1" fmla="*/ 7 h 58"/>
                <a:gd name="T2" fmla="*/ 118 w 121"/>
                <a:gd name="T3" fmla="*/ 0 h 58"/>
                <a:gd name="T4" fmla="*/ 0 w 121"/>
                <a:gd name="T5" fmla="*/ 50 h 58"/>
                <a:gd name="T6" fmla="*/ 2 w 121"/>
                <a:gd name="T7" fmla="*/ 57 h 58"/>
                <a:gd name="T8" fmla="*/ 120 w 121"/>
                <a:gd name="T9" fmla="*/ 7 h 58"/>
                <a:gd name="T10" fmla="*/ 0 60000 65536"/>
                <a:gd name="T11" fmla="*/ 0 60000 65536"/>
                <a:gd name="T12" fmla="*/ 0 60000 65536"/>
                <a:gd name="T13" fmla="*/ 0 60000 65536"/>
                <a:gd name="T14" fmla="*/ 0 60000 65536"/>
                <a:gd name="T15" fmla="*/ 0 w 121"/>
                <a:gd name="T16" fmla="*/ 0 h 58"/>
                <a:gd name="T17" fmla="*/ 121 w 121"/>
                <a:gd name="T18" fmla="*/ 58 h 58"/>
              </a:gdLst>
              <a:ahLst/>
              <a:cxnLst>
                <a:cxn ang="T10">
                  <a:pos x="T0" y="T1"/>
                </a:cxn>
                <a:cxn ang="T11">
                  <a:pos x="T2" y="T3"/>
                </a:cxn>
                <a:cxn ang="T12">
                  <a:pos x="T4" y="T5"/>
                </a:cxn>
                <a:cxn ang="T13">
                  <a:pos x="T6" y="T7"/>
                </a:cxn>
                <a:cxn ang="T14">
                  <a:pos x="T8" y="T9"/>
                </a:cxn>
              </a:cxnLst>
              <a:rect l="T15" t="T16" r="T17" b="T18"/>
              <a:pathLst>
                <a:path w="121" h="58">
                  <a:moveTo>
                    <a:pt x="120" y="7"/>
                  </a:moveTo>
                  <a:lnTo>
                    <a:pt x="118" y="0"/>
                  </a:lnTo>
                  <a:lnTo>
                    <a:pt x="0" y="50"/>
                  </a:lnTo>
                  <a:lnTo>
                    <a:pt x="2" y="57"/>
                  </a:lnTo>
                  <a:lnTo>
                    <a:pt x="120"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0" name="Freeform 12">
              <a:extLst>
                <a:ext uri="{FF2B5EF4-FFF2-40B4-BE49-F238E27FC236}">
                  <a16:creationId xmlns:a16="http://schemas.microsoft.com/office/drawing/2014/main" id="{D906FAD6-7056-6709-9097-671A07E280DC}"/>
                </a:ext>
              </a:extLst>
            </p:cNvPr>
            <p:cNvSpPr>
              <a:spLocks/>
            </p:cNvSpPr>
            <p:nvPr/>
          </p:nvSpPr>
          <p:spPr bwMode="auto">
            <a:xfrm>
              <a:off x="147" y="4440"/>
              <a:ext cx="123" cy="59"/>
            </a:xfrm>
            <a:custGeom>
              <a:avLst/>
              <a:gdLst>
                <a:gd name="T0" fmla="*/ 122 w 123"/>
                <a:gd name="T1" fmla="*/ 7 h 59"/>
                <a:gd name="T2" fmla="*/ 119 w 123"/>
                <a:gd name="T3" fmla="*/ 0 h 59"/>
                <a:gd name="T4" fmla="*/ 0 w 123"/>
                <a:gd name="T5" fmla="*/ 51 h 59"/>
                <a:gd name="T6" fmla="*/ 2 w 123"/>
                <a:gd name="T7" fmla="*/ 58 h 59"/>
                <a:gd name="T8" fmla="*/ 122 w 123"/>
                <a:gd name="T9" fmla="*/ 7 h 59"/>
                <a:gd name="T10" fmla="*/ 0 60000 65536"/>
                <a:gd name="T11" fmla="*/ 0 60000 65536"/>
                <a:gd name="T12" fmla="*/ 0 60000 65536"/>
                <a:gd name="T13" fmla="*/ 0 60000 65536"/>
                <a:gd name="T14" fmla="*/ 0 60000 65536"/>
                <a:gd name="T15" fmla="*/ 0 w 123"/>
                <a:gd name="T16" fmla="*/ 0 h 59"/>
                <a:gd name="T17" fmla="*/ 123 w 123"/>
                <a:gd name="T18" fmla="*/ 59 h 59"/>
              </a:gdLst>
              <a:ahLst/>
              <a:cxnLst>
                <a:cxn ang="T10">
                  <a:pos x="T0" y="T1"/>
                </a:cxn>
                <a:cxn ang="T11">
                  <a:pos x="T2" y="T3"/>
                </a:cxn>
                <a:cxn ang="T12">
                  <a:pos x="T4" y="T5"/>
                </a:cxn>
                <a:cxn ang="T13">
                  <a:pos x="T6" y="T7"/>
                </a:cxn>
                <a:cxn ang="T14">
                  <a:pos x="T8" y="T9"/>
                </a:cxn>
              </a:cxnLst>
              <a:rect l="T15" t="T16" r="T17" b="T18"/>
              <a:pathLst>
                <a:path w="123" h="59">
                  <a:moveTo>
                    <a:pt x="122" y="7"/>
                  </a:moveTo>
                  <a:lnTo>
                    <a:pt x="119" y="0"/>
                  </a:lnTo>
                  <a:lnTo>
                    <a:pt x="0" y="51"/>
                  </a:lnTo>
                  <a:lnTo>
                    <a:pt x="2" y="58"/>
                  </a:lnTo>
                  <a:lnTo>
                    <a:pt x="122"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1" name="Freeform 13">
              <a:extLst>
                <a:ext uri="{FF2B5EF4-FFF2-40B4-BE49-F238E27FC236}">
                  <a16:creationId xmlns:a16="http://schemas.microsoft.com/office/drawing/2014/main" id="{5929BC0A-B5FB-F50B-07EB-D919B554FB53}"/>
                </a:ext>
              </a:extLst>
            </p:cNvPr>
            <p:cNvSpPr>
              <a:spLocks/>
            </p:cNvSpPr>
            <p:nvPr/>
          </p:nvSpPr>
          <p:spPr bwMode="auto">
            <a:xfrm>
              <a:off x="274" y="4454"/>
              <a:ext cx="55" cy="104"/>
            </a:xfrm>
            <a:custGeom>
              <a:avLst/>
              <a:gdLst>
                <a:gd name="T0" fmla="*/ 46 w 55"/>
                <a:gd name="T1" fmla="*/ 103 h 104"/>
                <a:gd name="T2" fmla="*/ 54 w 55"/>
                <a:gd name="T3" fmla="*/ 100 h 104"/>
                <a:gd name="T4" fmla="*/ 7 w 55"/>
                <a:gd name="T5" fmla="*/ 0 h 104"/>
                <a:gd name="T6" fmla="*/ 0 w 55"/>
                <a:gd name="T7" fmla="*/ 2 h 104"/>
                <a:gd name="T8" fmla="*/ 46 w 55"/>
                <a:gd name="T9" fmla="*/ 103 h 104"/>
                <a:gd name="T10" fmla="*/ 0 60000 65536"/>
                <a:gd name="T11" fmla="*/ 0 60000 65536"/>
                <a:gd name="T12" fmla="*/ 0 60000 65536"/>
                <a:gd name="T13" fmla="*/ 0 60000 65536"/>
                <a:gd name="T14" fmla="*/ 0 60000 65536"/>
                <a:gd name="T15" fmla="*/ 0 w 55"/>
                <a:gd name="T16" fmla="*/ 0 h 104"/>
                <a:gd name="T17" fmla="*/ 55 w 55"/>
                <a:gd name="T18" fmla="*/ 104 h 104"/>
              </a:gdLst>
              <a:ahLst/>
              <a:cxnLst>
                <a:cxn ang="T10">
                  <a:pos x="T0" y="T1"/>
                </a:cxn>
                <a:cxn ang="T11">
                  <a:pos x="T2" y="T3"/>
                </a:cxn>
                <a:cxn ang="T12">
                  <a:pos x="T4" y="T5"/>
                </a:cxn>
                <a:cxn ang="T13">
                  <a:pos x="T6" y="T7"/>
                </a:cxn>
                <a:cxn ang="T14">
                  <a:pos x="T8" y="T9"/>
                </a:cxn>
              </a:cxnLst>
              <a:rect l="T15" t="T16" r="T17" b="T18"/>
              <a:pathLst>
                <a:path w="55" h="104">
                  <a:moveTo>
                    <a:pt x="46" y="103"/>
                  </a:moveTo>
                  <a:lnTo>
                    <a:pt x="54" y="100"/>
                  </a:lnTo>
                  <a:lnTo>
                    <a:pt x="7" y="0"/>
                  </a:lnTo>
                  <a:lnTo>
                    <a:pt x="0" y="2"/>
                  </a:lnTo>
                  <a:lnTo>
                    <a:pt x="46" y="103"/>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2" name="Freeform 14">
              <a:extLst>
                <a:ext uri="{FF2B5EF4-FFF2-40B4-BE49-F238E27FC236}">
                  <a16:creationId xmlns:a16="http://schemas.microsoft.com/office/drawing/2014/main" id="{86E88647-64C7-0802-21F1-507E9811BA6F}"/>
                </a:ext>
              </a:extLst>
            </p:cNvPr>
            <p:cNvSpPr>
              <a:spLocks/>
            </p:cNvSpPr>
            <p:nvPr/>
          </p:nvSpPr>
          <p:spPr bwMode="auto">
            <a:xfrm>
              <a:off x="164" y="4499"/>
              <a:ext cx="53" cy="107"/>
            </a:xfrm>
            <a:custGeom>
              <a:avLst/>
              <a:gdLst>
                <a:gd name="T0" fmla="*/ 45 w 53"/>
                <a:gd name="T1" fmla="*/ 106 h 107"/>
                <a:gd name="T2" fmla="*/ 52 w 53"/>
                <a:gd name="T3" fmla="*/ 102 h 107"/>
                <a:gd name="T4" fmla="*/ 6 w 53"/>
                <a:gd name="T5" fmla="*/ 0 h 107"/>
                <a:gd name="T6" fmla="*/ 0 w 53"/>
                <a:gd name="T7" fmla="*/ 4 h 107"/>
                <a:gd name="T8" fmla="*/ 45 w 53"/>
                <a:gd name="T9" fmla="*/ 106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45" y="106"/>
                  </a:moveTo>
                  <a:lnTo>
                    <a:pt x="52" y="102"/>
                  </a:lnTo>
                  <a:lnTo>
                    <a:pt x="6" y="0"/>
                  </a:lnTo>
                  <a:lnTo>
                    <a:pt x="0" y="4"/>
                  </a:lnTo>
                  <a:lnTo>
                    <a:pt x="45" y="10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3" name="Freeform 15">
              <a:extLst>
                <a:ext uri="{FF2B5EF4-FFF2-40B4-BE49-F238E27FC236}">
                  <a16:creationId xmlns:a16="http://schemas.microsoft.com/office/drawing/2014/main" id="{E617E762-994E-D26D-2D27-C4B6A4ACA059}"/>
                </a:ext>
              </a:extLst>
            </p:cNvPr>
            <p:cNvSpPr>
              <a:spLocks/>
            </p:cNvSpPr>
            <p:nvPr/>
          </p:nvSpPr>
          <p:spPr bwMode="auto">
            <a:xfrm>
              <a:off x="143" y="4491"/>
              <a:ext cx="58" cy="115"/>
            </a:xfrm>
            <a:custGeom>
              <a:avLst/>
              <a:gdLst>
                <a:gd name="T0" fmla="*/ 50 w 58"/>
                <a:gd name="T1" fmla="*/ 114 h 115"/>
                <a:gd name="T2" fmla="*/ 57 w 58"/>
                <a:gd name="T3" fmla="*/ 111 h 115"/>
                <a:gd name="T4" fmla="*/ 5 w 58"/>
                <a:gd name="T5" fmla="*/ 0 h 115"/>
                <a:gd name="T6" fmla="*/ 0 w 58"/>
                <a:gd name="T7" fmla="*/ 2 h 115"/>
                <a:gd name="T8" fmla="*/ 50 w 58"/>
                <a:gd name="T9" fmla="*/ 114 h 115"/>
                <a:gd name="T10" fmla="*/ 0 60000 65536"/>
                <a:gd name="T11" fmla="*/ 0 60000 65536"/>
                <a:gd name="T12" fmla="*/ 0 60000 65536"/>
                <a:gd name="T13" fmla="*/ 0 60000 65536"/>
                <a:gd name="T14" fmla="*/ 0 60000 65536"/>
                <a:gd name="T15" fmla="*/ 0 w 58"/>
                <a:gd name="T16" fmla="*/ 0 h 115"/>
                <a:gd name="T17" fmla="*/ 58 w 58"/>
                <a:gd name="T18" fmla="*/ 115 h 115"/>
              </a:gdLst>
              <a:ahLst/>
              <a:cxnLst>
                <a:cxn ang="T10">
                  <a:pos x="T0" y="T1"/>
                </a:cxn>
                <a:cxn ang="T11">
                  <a:pos x="T2" y="T3"/>
                </a:cxn>
                <a:cxn ang="T12">
                  <a:pos x="T4" y="T5"/>
                </a:cxn>
                <a:cxn ang="T13">
                  <a:pos x="T6" y="T7"/>
                </a:cxn>
                <a:cxn ang="T14">
                  <a:pos x="T8" y="T9"/>
                </a:cxn>
              </a:cxnLst>
              <a:rect l="T15" t="T16" r="T17" b="T18"/>
              <a:pathLst>
                <a:path w="58" h="115">
                  <a:moveTo>
                    <a:pt x="50" y="114"/>
                  </a:moveTo>
                  <a:lnTo>
                    <a:pt x="57" y="111"/>
                  </a:lnTo>
                  <a:lnTo>
                    <a:pt x="5" y="0"/>
                  </a:lnTo>
                  <a:lnTo>
                    <a:pt x="0" y="2"/>
                  </a:lnTo>
                  <a:lnTo>
                    <a:pt x="50"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4" name="Freeform 16">
              <a:extLst>
                <a:ext uri="{FF2B5EF4-FFF2-40B4-BE49-F238E27FC236}">
                  <a16:creationId xmlns:a16="http://schemas.microsoft.com/office/drawing/2014/main" id="{9520ADD3-5C69-41EA-8965-42BBC7967154}"/>
                </a:ext>
              </a:extLst>
            </p:cNvPr>
            <p:cNvSpPr>
              <a:spLocks/>
            </p:cNvSpPr>
            <p:nvPr/>
          </p:nvSpPr>
          <p:spPr bwMode="auto">
            <a:xfrm>
              <a:off x="146" y="4491"/>
              <a:ext cx="28" cy="18"/>
            </a:xfrm>
            <a:custGeom>
              <a:avLst/>
              <a:gdLst>
                <a:gd name="T0" fmla="*/ 23 w 28"/>
                <a:gd name="T1" fmla="*/ 17 h 18"/>
                <a:gd name="T2" fmla="*/ 27 w 28"/>
                <a:gd name="T3" fmla="*/ 10 h 18"/>
                <a:gd name="T4" fmla="*/ 4 w 28"/>
                <a:gd name="T5" fmla="*/ 0 h 18"/>
                <a:gd name="T6" fmla="*/ 0 w 28"/>
                <a:gd name="T7" fmla="*/ 6 h 18"/>
                <a:gd name="T8" fmla="*/ 23 w 28"/>
                <a:gd name="T9" fmla="*/ 17 h 18"/>
                <a:gd name="T10" fmla="*/ 0 60000 65536"/>
                <a:gd name="T11" fmla="*/ 0 60000 65536"/>
                <a:gd name="T12" fmla="*/ 0 60000 65536"/>
                <a:gd name="T13" fmla="*/ 0 60000 65536"/>
                <a:gd name="T14" fmla="*/ 0 60000 65536"/>
                <a:gd name="T15" fmla="*/ 0 w 28"/>
                <a:gd name="T16" fmla="*/ 0 h 18"/>
                <a:gd name="T17" fmla="*/ 28 w 28"/>
                <a:gd name="T18" fmla="*/ 18 h 18"/>
              </a:gdLst>
              <a:ahLst/>
              <a:cxnLst>
                <a:cxn ang="T10">
                  <a:pos x="T0" y="T1"/>
                </a:cxn>
                <a:cxn ang="T11">
                  <a:pos x="T2" y="T3"/>
                </a:cxn>
                <a:cxn ang="T12">
                  <a:pos x="T4" y="T5"/>
                </a:cxn>
                <a:cxn ang="T13">
                  <a:pos x="T6" y="T7"/>
                </a:cxn>
                <a:cxn ang="T14">
                  <a:pos x="T8" y="T9"/>
                </a:cxn>
              </a:cxnLst>
              <a:rect l="T15" t="T16" r="T17" b="T18"/>
              <a:pathLst>
                <a:path w="28" h="18">
                  <a:moveTo>
                    <a:pt x="23" y="17"/>
                  </a:moveTo>
                  <a:lnTo>
                    <a:pt x="27" y="10"/>
                  </a:lnTo>
                  <a:lnTo>
                    <a:pt x="4" y="0"/>
                  </a:lnTo>
                  <a:lnTo>
                    <a:pt x="0" y="6"/>
                  </a:lnTo>
                  <a:lnTo>
                    <a:pt x="2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5" name="Freeform 17">
              <a:extLst>
                <a:ext uri="{FF2B5EF4-FFF2-40B4-BE49-F238E27FC236}">
                  <a16:creationId xmlns:a16="http://schemas.microsoft.com/office/drawing/2014/main" id="{534A3048-DA09-C69C-962F-C60F3293CA5F}"/>
                </a:ext>
              </a:extLst>
            </p:cNvPr>
            <p:cNvSpPr>
              <a:spLocks/>
            </p:cNvSpPr>
            <p:nvPr/>
          </p:nvSpPr>
          <p:spPr bwMode="auto">
            <a:xfrm>
              <a:off x="253" y="4447"/>
              <a:ext cx="28" cy="17"/>
            </a:xfrm>
            <a:custGeom>
              <a:avLst/>
              <a:gdLst>
                <a:gd name="T0" fmla="*/ 23 w 28"/>
                <a:gd name="T1" fmla="*/ 16 h 17"/>
                <a:gd name="T2" fmla="*/ 27 w 28"/>
                <a:gd name="T3" fmla="*/ 9 h 17"/>
                <a:gd name="T4" fmla="*/ 4 w 28"/>
                <a:gd name="T5" fmla="*/ 0 h 17"/>
                <a:gd name="T6" fmla="*/ 0 w 28"/>
                <a:gd name="T7" fmla="*/ 5 h 17"/>
                <a:gd name="T8" fmla="*/ 23 w 28"/>
                <a:gd name="T9" fmla="*/ 16 h 17"/>
                <a:gd name="T10" fmla="*/ 0 60000 65536"/>
                <a:gd name="T11" fmla="*/ 0 60000 65536"/>
                <a:gd name="T12" fmla="*/ 0 60000 65536"/>
                <a:gd name="T13" fmla="*/ 0 60000 65536"/>
                <a:gd name="T14" fmla="*/ 0 60000 65536"/>
                <a:gd name="T15" fmla="*/ 0 w 28"/>
                <a:gd name="T16" fmla="*/ 0 h 17"/>
                <a:gd name="T17" fmla="*/ 28 w 28"/>
                <a:gd name="T18" fmla="*/ 17 h 17"/>
              </a:gdLst>
              <a:ahLst/>
              <a:cxnLst>
                <a:cxn ang="T10">
                  <a:pos x="T0" y="T1"/>
                </a:cxn>
                <a:cxn ang="T11">
                  <a:pos x="T2" y="T3"/>
                </a:cxn>
                <a:cxn ang="T12">
                  <a:pos x="T4" y="T5"/>
                </a:cxn>
                <a:cxn ang="T13">
                  <a:pos x="T6" y="T7"/>
                </a:cxn>
                <a:cxn ang="T14">
                  <a:pos x="T8" y="T9"/>
                </a:cxn>
              </a:cxnLst>
              <a:rect l="T15" t="T16" r="T17" b="T18"/>
              <a:pathLst>
                <a:path w="28" h="17">
                  <a:moveTo>
                    <a:pt x="23" y="16"/>
                  </a:moveTo>
                  <a:lnTo>
                    <a:pt x="27" y="9"/>
                  </a:lnTo>
                  <a:lnTo>
                    <a:pt x="4" y="0"/>
                  </a:lnTo>
                  <a:lnTo>
                    <a:pt x="0" y="5"/>
                  </a:lnTo>
                  <a:lnTo>
                    <a:pt x="23"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B7707F9A-9624-4230-8AD1-0544B47997B7}"/>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Defining Constraints (continued)</a:t>
            </a:r>
          </a:p>
          <a:p>
            <a:pPr marL="114300" lvl="1" defTabSz="401638"/>
            <a:r>
              <a:rPr lang="en-US" altLang="en-US">
                <a:latin typeface="Arial" panose="020B0604020202020204" pitchFamily="34" charset="0"/>
              </a:rPr>
              <a:t>Constraints are usually created at the same time as the table. Constraints can be added to a table after its creation and also temporarily disabled. </a:t>
            </a:r>
          </a:p>
          <a:p>
            <a:pPr marL="114300" lvl="1" defTabSz="401638"/>
            <a:r>
              <a:rPr lang="en-US" altLang="en-US">
                <a:latin typeface="Arial" panose="020B0604020202020204" pitchFamily="34" charset="0"/>
              </a:rPr>
              <a:t>Constraints can be defined at one of two levels.</a:t>
            </a: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r>
              <a:rPr lang="en-US" altLang="en-US">
                <a:latin typeface="Arial" panose="020B0604020202020204" pitchFamily="34" charset="0"/>
              </a:rPr>
              <a:t>In the syntax: </a:t>
            </a:r>
          </a:p>
          <a:p>
            <a:pPr marL="114300" lvl="1" defTabSz="401638"/>
            <a:r>
              <a:rPr lang="en-US" altLang="en-US">
                <a:latin typeface="Arial" panose="020B0604020202020204" pitchFamily="34" charset="0"/>
              </a:rPr>
              <a:t>	</a:t>
            </a:r>
            <a:r>
              <a:rPr lang="en-US" altLang="en-US" i="1">
                <a:latin typeface="Arial" panose="020B0604020202020204" pitchFamily="34" charset="0"/>
              </a:rPr>
              <a:t>constraint_name</a:t>
            </a:r>
            <a:r>
              <a:rPr lang="en-US" altLang="en-US">
                <a:latin typeface="Arial" panose="020B0604020202020204" pitchFamily="34" charset="0"/>
              </a:rPr>
              <a:t>		is the name of the constraint</a:t>
            </a:r>
          </a:p>
          <a:p>
            <a:pPr marL="114300" lvl="1" defTabSz="401638"/>
            <a:r>
              <a:rPr lang="en-US" altLang="en-US">
                <a:latin typeface="Arial" panose="020B0604020202020204" pitchFamily="34" charset="0"/>
              </a:rPr>
              <a:t>	</a:t>
            </a:r>
            <a:r>
              <a:rPr lang="en-US" altLang="en-US" i="1">
                <a:latin typeface="Arial" panose="020B0604020202020204" pitchFamily="34" charset="0"/>
              </a:rPr>
              <a:t>constraint_type</a:t>
            </a:r>
            <a:r>
              <a:rPr lang="en-US" altLang="en-US">
                <a:latin typeface="Arial" panose="020B0604020202020204" pitchFamily="34" charset="0"/>
              </a:rPr>
              <a:t>		is the type of the constraint</a:t>
            </a:r>
          </a:p>
          <a:p>
            <a:pPr defTabSz="401638"/>
            <a:endParaRPr lang="en-US" altLang="en-US">
              <a:solidFill>
                <a:schemeClr val="accent2"/>
              </a:solidFill>
              <a:latin typeface="Times New Roman" panose="02020603050405020304" pitchFamily="18" charset="0"/>
            </a:endParaRPr>
          </a:p>
          <a:p>
            <a:pPr defTabSz="401638"/>
            <a:endParaRPr lang="en-US" altLang="en-US">
              <a:solidFill>
                <a:schemeClr val="accent2"/>
              </a:solidFill>
              <a:latin typeface="Times New Roman" panose="02020603050405020304" pitchFamily="18" charset="0"/>
            </a:endParaRPr>
          </a:p>
          <a:p>
            <a:pPr defTabSz="401638"/>
            <a:endParaRPr lang="en-US" altLang="en-US">
              <a:solidFill>
                <a:schemeClr val="accent2"/>
              </a:solidFill>
              <a:latin typeface="Arial" panose="020B0604020202020204" pitchFamily="34" charset="0"/>
            </a:endParaRPr>
          </a:p>
          <a:p>
            <a:pPr defTabSz="401638"/>
            <a:r>
              <a:rPr lang="en-US" altLang="en-US">
                <a:solidFill>
                  <a:schemeClr val="accent2"/>
                </a:solidFill>
                <a:latin typeface="Arial" panose="020B0604020202020204" pitchFamily="34" charset="0"/>
              </a:rPr>
              <a:t>Class Management Note</a:t>
            </a:r>
            <a:endParaRPr lang="en-US" altLang="en-US">
              <a:solidFill>
                <a:schemeClr val="accent2"/>
              </a:solidFill>
              <a:latin typeface="Times New Roman" panose="02020603050405020304" pitchFamily="18" charset="0"/>
            </a:endParaRPr>
          </a:p>
          <a:p>
            <a:pPr marL="114300" lvl="1" defTabSz="401638"/>
            <a:r>
              <a:rPr lang="en-US" altLang="en-US">
                <a:solidFill>
                  <a:schemeClr val="accent2"/>
                </a:solidFill>
                <a:latin typeface="Arial" panose="020B0604020202020204" pitchFamily="34" charset="0"/>
              </a:rPr>
              <a:t>Explain that the column level and the table level refer to location in the syntax.</a:t>
            </a:r>
          </a:p>
        </p:txBody>
      </p:sp>
      <p:sp>
        <p:nvSpPr>
          <p:cNvPr id="29699" name="Rectangle 3">
            <a:extLst>
              <a:ext uri="{FF2B5EF4-FFF2-40B4-BE49-F238E27FC236}">
                <a16:creationId xmlns:a16="http://schemas.microsoft.com/office/drawing/2014/main" id="{458DDD0D-38FE-6CEC-6E3C-0D096B160520}"/>
              </a:ext>
            </a:extLst>
          </p:cNvPr>
          <p:cNvSpPr>
            <a:spLocks noGrp="1" noRot="1" noChangeArrowheads="1" noTextEdit="1"/>
          </p:cNvSpPr>
          <p:nvPr>
            <p:ph type="sldImg"/>
          </p:nvPr>
        </p:nvSpPr>
        <p:spPr>
          <a:xfrm>
            <a:off x="438150" y="160338"/>
            <a:ext cx="5976938" cy="4483100"/>
          </a:xfrm>
          <a:ln w="12700" cap="flat">
            <a:solidFill>
              <a:schemeClr val="tx1"/>
            </a:solidFill>
          </a:ln>
        </p:spPr>
      </p:sp>
      <p:graphicFrame>
        <p:nvGraphicFramePr>
          <p:cNvPr id="29700" name="Object 4">
            <a:extLst>
              <a:ext uri="{FF2B5EF4-FFF2-40B4-BE49-F238E27FC236}">
                <a16:creationId xmlns:a16="http://schemas.microsoft.com/office/drawing/2014/main" id="{E5D1B7DD-96B8-D98A-D1C1-4F3184AA1CD7}"/>
              </a:ext>
            </a:extLst>
          </p:cNvPr>
          <p:cNvGraphicFramePr>
            <a:graphicFrameLocks/>
          </p:cNvGraphicFramePr>
          <p:nvPr/>
        </p:nvGraphicFramePr>
        <p:xfrm>
          <a:off x="617538" y="5708650"/>
          <a:ext cx="6170612" cy="1681163"/>
        </p:xfrm>
        <a:graphic>
          <a:graphicData uri="http://schemas.openxmlformats.org/presentationml/2006/ole">
            <mc:AlternateContent xmlns:mc="http://schemas.openxmlformats.org/markup-compatibility/2006">
              <mc:Choice xmlns:v="urn:schemas-microsoft-com:vml" Requires="v">
                <p:oleObj name="Document" r:id="rId3" imgW="6135624" imgH="1648968" progId="Word.Document.6">
                  <p:embed/>
                </p:oleObj>
              </mc:Choice>
              <mc:Fallback>
                <p:oleObj name="Document" r:id="rId3" imgW="6135624" imgH="1648968" progId="Word.Document.6">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538" y="5708650"/>
                        <a:ext cx="6170612" cy="168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195AF593-AA5B-AFCA-03C9-169A1D58DA4A}"/>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The NOT NULL Constraint</a:t>
            </a:r>
          </a:p>
          <a:p>
            <a:pPr marL="114300" lvl="1" defTabSz="401638"/>
            <a:r>
              <a:rPr lang="en-US" altLang="en-US">
                <a:latin typeface="Arial" panose="020B0604020202020204" pitchFamily="34" charset="0"/>
              </a:rPr>
              <a:t>The </a:t>
            </a:r>
            <a:r>
              <a:rPr lang="en-US" altLang="en-US">
                <a:solidFill>
                  <a:srgbClr val="FC0128"/>
                </a:solidFill>
                <a:latin typeface="Arial" panose="020B0604020202020204" pitchFamily="34" charset="0"/>
              </a:rPr>
              <a:t>NOT NULL constraint </a:t>
            </a:r>
            <a:r>
              <a:rPr lang="en-US" altLang="en-US">
                <a:latin typeface="Arial" panose="020B0604020202020204" pitchFamily="34" charset="0"/>
              </a:rPr>
              <a:t>ensures that null values are not allowed in the column. Columns without the NOT NULL constraint can contain null values by default. </a:t>
            </a:r>
          </a:p>
        </p:txBody>
      </p:sp>
      <p:sp>
        <p:nvSpPr>
          <p:cNvPr id="31747" name="Rectangle 3">
            <a:extLst>
              <a:ext uri="{FF2B5EF4-FFF2-40B4-BE49-F238E27FC236}">
                <a16:creationId xmlns:a16="http://schemas.microsoft.com/office/drawing/2014/main" id="{9938B81C-73B9-B806-5285-8AC3D15E3472}"/>
              </a:ext>
            </a:extLst>
          </p:cNvPr>
          <p:cNvSpPr>
            <a:spLocks noGrp="1" noRot="1" noChangeArrowheads="1" noTextEdit="1"/>
          </p:cNvSpPr>
          <p:nvPr>
            <p:ph type="sldImg"/>
          </p:nvPr>
        </p:nvSpPr>
        <p:spPr>
          <a:xfrm>
            <a:off x="438150" y="160338"/>
            <a:ext cx="5976938" cy="4483100"/>
          </a:xfrm>
          <a:ln w="12700" cap="flat">
            <a:solidFill>
              <a:schemeClr val="tx1"/>
            </a:solid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3E10D7D-C4E7-C615-B6A2-93D5669D7900}"/>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The NOT NULL Constraint (continued)</a:t>
            </a:r>
          </a:p>
          <a:p>
            <a:pPr marL="114300" lvl="1" defTabSz="401638"/>
            <a:r>
              <a:rPr lang="en-US" altLang="en-US">
                <a:latin typeface="Arial" panose="020B0604020202020204" pitchFamily="34" charset="0"/>
              </a:rPr>
              <a:t>The NOT NULL constraint can be specified only at the column level, not at the table level.</a:t>
            </a:r>
          </a:p>
          <a:p>
            <a:pPr marL="114300" lvl="1" defTabSz="401638"/>
            <a:r>
              <a:rPr lang="en-US" altLang="en-US">
                <a:latin typeface="Arial" panose="020B0604020202020204" pitchFamily="34" charset="0"/>
              </a:rPr>
              <a:t>The slide example applies the NOT NULL constraint to the ENAME and DEPTNO columns of the EMP table. Because these constraints are unnamed, the Oracle Server will create names for them.</a:t>
            </a:r>
          </a:p>
          <a:p>
            <a:pPr marL="114300" lvl="1" defTabSz="401638"/>
            <a:r>
              <a:rPr lang="en-US" altLang="en-US">
                <a:latin typeface="Arial" panose="020B0604020202020204" pitchFamily="34" charset="0"/>
              </a:rPr>
              <a:t>You can specify the name of the constraint while specifying the constraint. </a:t>
            </a: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endParaRPr lang="en-US" altLang="en-US">
              <a:latin typeface="Arial" panose="020B0604020202020204" pitchFamily="34" charset="0"/>
            </a:endParaRPr>
          </a:p>
          <a:p>
            <a:pPr marL="114300" lvl="1" defTabSz="401638">
              <a:spcBef>
                <a:spcPct val="65000"/>
              </a:spcBef>
            </a:pPr>
            <a:r>
              <a:rPr lang="en-US" altLang="en-US" b="1">
                <a:latin typeface="Arial" panose="020B0604020202020204" pitchFamily="34" charset="0"/>
              </a:rPr>
              <a:t>Note:</a:t>
            </a:r>
            <a:r>
              <a:rPr lang="en-US" altLang="en-US">
                <a:latin typeface="Arial" panose="020B0604020202020204" pitchFamily="34" charset="0"/>
              </a:rPr>
              <a:t> All the constraint examples described in this lesson may not be present in the sample tables provided with the course. If desired, these constraints can be added to the tables.</a:t>
            </a:r>
          </a:p>
        </p:txBody>
      </p:sp>
      <p:sp>
        <p:nvSpPr>
          <p:cNvPr id="33795" name="Rectangle 3">
            <a:extLst>
              <a:ext uri="{FF2B5EF4-FFF2-40B4-BE49-F238E27FC236}">
                <a16:creationId xmlns:a16="http://schemas.microsoft.com/office/drawing/2014/main" id="{FEAE757E-055A-EBA6-0C3C-49446CEFB4C0}"/>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33796" name="Rectangle 4">
            <a:extLst>
              <a:ext uri="{FF2B5EF4-FFF2-40B4-BE49-F238E27FC236}">
                <a16:creationId xmlns:a16="http://schemas.microsoft.com/office/drawing/2014/main" id="{3411B8A0-C56E-B032-F108-2EF24AEB3C2D}"/>
              </a:ext>
            </a:extLst>
          </p:cNvPr>
          <p:cNvSpPr>
            <a:spLocks noChangeArrowheads="1"/>
          </p:cNvSpPr>
          <p:nvPr/>
        </p:nvSpPr>
        <p:spPr bwMode="auto">
          <a:xfrm>
            <a:off x="606425" y="5951538"/>
            <a:ext cx="5470525" cy="65563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33797" name="Rectangle 5">
            <a:extLst>
              <a:ext uri="{FF2B5EF4-FFF2-40B4-BE49-F238E27FC236}">
                <a16:creationId xmlns:a16="http://schemas.microsoft.com/office/drawing/2014/main" id="{89494D6B-F367-3437-7AF1-87625958BD78}"/>
              </a:ext>
            </a:extLst>
          </p:cNvPr>
          <p:cNvSpPr>
            <a:spLocks noChangeArrowheads="1"/>
          </p:cNvSpPr>
          <p:nvPr/>
        </p:nvSpPr>
        <p:spPr bwMode="auto">
          <a:xfrm>
            <a:off x="596900" y="5991225"/>
            <a:ext cx="38766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664" tIns="45028" rIns="91664" bIns="45028">
            <a:spAutoFit/>
          </a:bodyPr>
          <a:lstStyle>
            <a:lvl1pPr defTabSz="881063">
              <a:spcBef>
                <a:spcPct val="30000"/>
              </a:spcBef>
              <a:defRPr sz="1200">
                <a:solidFill>
                  <a:schemeClr val="tx1"/>
                </a:solidFill>
                <a:latin typeface="Arial" panose="020B0604020202020204" pitchFamily="34" charset="0"/>
              </a:defRPr>
            </a:lvl1pPr>
            <a:lvl2pPr marL="742950" indent="-285750" defTabSz="881063">
              <a:spcBef>
                <a:spcPct val="30000"/>
              </a:spcBef>
              <a:defRPr sz="1200">
                <a:solidFill>
                  <a:schemeClr val="tx1"/>
                </a:solidFill>
                <a:latin typeface="Arial" panose="020B0604020202020204" pitchFamily="34" charset="0"/>
              </a:defRPr>
            </a:lvl2pPr>
            <a:lvl3pPr marL="1143000" indent="-228600" defTabSz="881063">
              <a:spcBef>
                <a:spcPct val="30000"/>
              </a:spcBef>
              <a:defRPr sz="1200">
                <a:solidFill>
                  <a:schemeClr val="tx1"/>
                </a:solidFill>
                <a:latin typeface="Arial" panose="020B0604020202020204" pitchFamily="34" charset="0"/>
              </a:defRPr>
            </a:lvl3pPr>
            <a:lvl4pPr marL="1600200" indent="-228600" defTabSz="881063">
              <a:spcBef>
                <a:spcPct val="30000"/>
              </a:spcBef>
              <a:defRPr sz="1200">
                <a:solidFill>
                  <a:schemeClr val="tx1"/>
                </a:solidFill>
                <a:latin typeface="Arial" panose="020B0604020202020204" pitchFamily="34" charset="0"/>
              </a:defRPr>
            </a:lvl4pPr>
            <a:lvl5pPr marL="2057400" indent="-228600" defTabSz="881063">
              <a:spcBef>
                <a:spcPct val="30000"/>
              </a:spcBef>
              <a:defRPr sz="1200">
                <a:solidFill>
                  <a:schemeClr val="tx1"/>
                </a:solidFill>
                <a:latin typeface="Arial" panose="020B0604020202020204" pitchFamily="34" charset="0"/>
              </a:defRPr>
            </a:lvl5pPr>
            <a:lvl6pPr marL="2514600" indent="-228600" defTabSz="8810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810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810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810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b="1">
                <a:solidFill>
                  <a:srgbClr val="000000"/>
                </a:solidFill>
                <a:latin typeface="Courier New" panose="02070309020205020404" pitchFamily="49" charset="0"/>
              </a:rPr>
              <a:t> ... deptno NUMBER(7,2) </a:t>
            </a:r>
          </a:p>
          <a:p>
            <a:pPr>
              <a:spcBef>
                <a:spcPct val="0"/>
              </a:spcBef>
            </a:pPr>
            <a:r>
              <a:rPr lang="en-US" altLang="en-US" sz="1100" b="1">
                <a:solidFill>
                  <a:srgbClr val="000000"/>
                </a:solidFill>
                <a:latin typeface="Courier New" panose="02070309020205020404" pitchFamily="49" charset="0"/>
              </a:rPr>
              <a:t>      CONSTRAINT emp_deptno_nn NOT NULL...</a:t>
            </a:r>
            <a:r>
              <a:rPr lang="en-US" altLang="en-US" sz="2000" b="1">
                <a:solidFill>
                  <a:schemeClr val="bg2"/>
                </a:solidFill>
                <a:latin typeface="Courier New" panose="02070309020205020404" pitchFamily="49" charset="0"/>
              </a:rPr>
              <a:t>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16F29EE8-2760-1C96-6C61-E4DEA71029DB}"/>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35843" name="Rectangle 3">
            <a:extLst>
              <a:ext uri="{FF2B5EF4-FFF2-40B4-BE49-F238E27FC236}">
                <a16:creationId xmlns:a16="http://schemas.microsoft.com/office/drawing/2014/main" id="{C24CB421-A1B8-ADE2-AFBE-D89E505D2A5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The UNIQUE Key Constraint</a:t>
            </a:r>
          </a:p>
          <a:p>
            <a:pPr lvl="1"/>
            <a:r>
              <a:rPr lang="en-US" altLang="en-US">
                <a:latin typeface="Arial" panose="020B0604020202020204" pitchFamily="34" charset="0"/>
              </a:rPr>
              <a:t>A UNIQUE key integrity constraint requires that every value in a column or set of columns (key) be unique—that is, no two rows of a table have duplicate values in a specified column or set of columns. The column (or set of columns) included in the definition of the </a:t>
            </a:r>
            <a:r>
              <a:rPr lang="en-US" altLang="en-US">
                <a:solidFill>
                  <a:srgbClr val="FC0128"/>
                </a:solidFill>
                <a:latin typeface="Arial" panose="020B0604020202020204" pitchFamily="34" charset="0"/>
              </a:rPr>
              <a:t>UNIQUE key constraint </a:t>
            </a:r>
            <a:r>
              <a:rPr lang="en-US" altLang="en-US">
                <a:latin typeface="Arial" panose="020B0604020202020204" pitchFamily="34" charset="0"/>
              </a:rPr>
              <a:t>is called the </a:t>
            </a:r>
            <a:r>
              <a:rPr lang="en-US" altLang="en-US" i="1">
                <a:latin typeface="Arial" panose="020B0604020202020204" pitchFamily="34" charset="0"/>
              </a:rPr>
              <a:t>unique key</a:t>
            </a:r>
            <a:r>
              <a:rPr lang="en-US" altLang="en-US">
                <a:latin typeface="Arial" panose="020B0604020202020204" pitchFamily="34" charset="0"/>
              </a:rPr>
              <a:t>. If the UNIQUE key comprises more than one column, that group of columns is said to be a </a:t>
            </a:r>
            <a:r>
              <a:rPr lang="en-US" altLang="en-US" i="1">
                <a:latin typeface="Arial" panose="020B0604020202020204" pitchFamily="34" charset="0"/>
              </a:rPr>
              <a:t>composite unique key</a:t>
            </a:r>
            <a:r>
              <a:rPr lang="en-US" altLang="en-US">
                <a:latin typeface="Arial" panose="020B0604020202020204" pitchFamily="34" charset="0"/>
              </a:rPr>
              <a:t>. </a:t>
            </a:r>
          </a:p>
          <a:p>
            <a:pPr lvl="1"/>
            <a:r>
              <a:rPr lang="en-US" altLang="en-US">
                <a:latin typeface="Arial" panose="020B0604020202020204" pitchFamily="34" charset="0"/>
              </a:rPr>
              <a:t>UNIQUE key constraints allow the input of nulls unless you also define NOT NULL constraints for the same columns. In fact, any number of rows can include nulls for columns without NOT NULL constraints because nulls are not considered equal to anything. A null in a column (or in all columns of a composite UNIQUE key) always satisfies a UNIQUE key constraint. </a:t>
            </a:r>
          </a:p>
          <a:p>
            <a:pPr lvl="1"/>
            <a:r>
              <a:rPr lang="en-US" altLang="en-US" b="1">
                <a:latin typeface="Arial" panose="020B0604020202020204" pitchFamily="34" charset="0"/>
              </a:rPr>
              <a:t>Note:</a:t>
            </a:r>
            <a:r>
              <a:rPr lang="en-US" altLang="en-US">
                <a:latin typeface="Arial" panose="020B0604020202020204" pitchFamily="34" charset="0"/>
              </a:rPr>
              <a:t> Because of the search mechanism for UNIQUE constraints on more than one column, you cannot have identical values in the non-null columns of a partially null composite UNIQUE key constraint.</a:t>
            </a:r>
          </a:p>
          <a:p>
            <a:endParaRPr lang="en-US" altLang="en-US">
              <a:solidFill>
                <a:schemeClr val="accent2"/>
              </a:solidFill>
              <a:latin typeface="Arial" panose="020B0604020202020204" pitchFamily="34" charset="0"/>
            </a:endParaRPr>
          </a:p>
          <a:p>
            <a:endParaRPr lang="en-US" altLang="en-US">
              <a:solidFill>
                <a:schemeClr val="accent2"/>
              </a:solidFill>
              <a:latin typeface="Arial" panose="020B0604020202020204" pitchFamily="34" charset="0"/>
            </a:endParaRPr>
          </a:p>
          <a:p>
            <a:endParaRPr lang="en-US" altLang="en-US">
              <a:solidFill>
                <a:schemeClr val="accent2"/>
              </a:solidFill>
              <a:latin typeface="Arial" panose="020B0604020202020204" pitchFamily="34"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Explain to students that since SALES department already exists, the first entry is not allowed. In the second entry, the department name is null; this entry is allowed.</a:t>
            </a:r>
          </a:p>
          <a:p>
            <a:endParaRPr lang="en-US" altLang="en-US" b="1">
              <a:solidFill>
                <a:schemeClr val="accent2"/>
              </a:solidFill>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18D3213D-5FDC-3065-E8EC-DC6F80273C60}"/>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37891" name="Rectangle 3">
            <a:extLst>
              <a:ext uri="{FF2B5EF4-FFF2-40B4-BE49-F238E27FC236}">
                <a16:creationId xmlns:a16="http://schemas.microsoft.com/office/drawing/2014/main" id="{86ECA559-7D1F-6EE6-68F8-778420652298}"/>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The UNIQUE Key Constraint (continued)</a:t>
            </a:r>
          </a:p>
          <a:p>
            <a:pPr lvl="1"/>
            <a:r>
              <a:rPr lang="en-US" altLang="en-US">
                <a:latin typeface="Arial" panose="020B0604020202020204" pitchFamily="34" charset="0"/>
              </a:rPr>
              <a:t>UNIQUE key constraints can be defined at the column or table level. A composite unique key is created by using the table level definition.</a:t>
            </a:r>
          </a:p>
          <a:p>
            <a:pPr lvl="1"/>
            <a:r>
              <a:rPr lang="en-US" altLang="en-US">
                <a:latin typeface="Arial" panose="020B0604020202020204" pitchFamily="34" charset="0"/>
              </a:rPr>
              <a:t>The example on the slide applies UNIQUE key constraint to the DNAME column of the DEPT table. The name of the constraint is DEPT_DNAME_UK.</a:t>
            </a:r>
          </a:p>
          <a:p>
            <a:pPr lvl="1"/>
            <a:r>
              <a:rPr lang="en-US" altLang="en-US" b="1">
                <a:latin typeface="Arial" panose="020B0604020202020204" pitchFamily="34" charset="0"/>
              </a:rPr>
              <a:t>Note: </a:t>
            </a:r>
            <a:r>
              <a:rPr lang="en-US" altLang="en-US">
                <a:latin typeface="Arial" panose="020B0604020202020204" pitchFamily="34" charset="0"/>
              </a:rPr>
              <a:t>The Oracle Server enforces the UNIQUE key constraint by implicitly creating a unique index on the unique key.</a:t>
            </a:r>
          </a:p>
          <a:p>
            <a:pPr lvl="1"/>
            <a:endParaRPr lang="en-US" altLang="en-US">
              <a:latin typeface="Arial" panose="020B0604020202020204" pitchFamily="34" charset="0"/>
            </a:endParaRP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16D4908F-50B8-D81E-53F1-4006D1DE3AC9}"/>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39939" name="Rectangle 3">
            <a:extLst>
              <a:ext uri="{FF2B5EF4-FFF2-40B4-BE49-F238E27FC236}">
                <a16:creationId xmlns:a16="http://schemas.microsoft.com/office/drawing/2014/main" id="{B4601BE1-1BC6-870F-1B72-1D952D97CCD3}"/>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The PRIMARY KEY Constraint</a:t>
            </a:r>
          </a:p>
          <a:p>
            <a:pPr lvl="1"/>
            <a:r>
              <a:rPr lang="en-US" altLang="en-US">
                <a:latin typeface="Arial" panose="020B0604020202020204" pitchFamily="34" charset="0"/>
              </a:rPr>
              <a:t>A PRIMARY KEY constraint creates a primary key for the table. Only one primary key can be created for a each table. The </a:t>
            </a:r>
            <a:r>
              <a:rPr lang="en-US" altLang="en-US">
                <a:solidFill>
                  <a:srgbClr val="FC0128"/>
                </a:solidFill>
                <a:latin typeface="Arial" panose="020B0604020202020204" pitchFamily="34" charset="0"/>
              </a:rPr>
              <a:t>PRIMARY KEY </a:t>
            </a:r>
            <a:r>
              <a:rPr lang="en-US" altLang="en-US">
                <a:latin typeface="Arial" panose="020B0604020202020204" pitchFamily="34" charset="0"/>
              </a:rPr>
              <a:t>constraint is a column or set of columns that uniquely identifies each row in a table. This constraint enforces uniqueness of the column or column combination and ensures that no column that is part of the primary key can contain a null value.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BFC74CC5-BECA-6672-A965-6A69B2D360A9}"/>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41987" name="Rectangle 3">
            <a:extLst>
              <a:ext uri="{FF2B5EF4-FFF2-40B4-BE49-F238E27FC236}">
                <a16:creationId xmlns:a16="http://schemas.microsoft.com/office/drawing/2014/main" id="{4F6CF2B3-CCCC-F58A-0E49-F83CDE76C641}"/>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The PRIMARY KEY Constraint (continued)</a:t>
            </a:r>
          </a:p>
          <a:p>
            <a:pPr lvl="1"/>
            <a:r>
              <a:rPr lang="en-US" altLang="en-US">
                <a:latin typeface="Arial" panose="020B0604020202020204" pitchFamily="34" charset="0"/>
              </a:rPr>
              <a:t>PRIMARY KEY constraints can be defined at the column level or table level. A composite PRIMARY KEY is created by using the table level definition.</a:t>
            </a:r>
          </a:p>
          <a:p>
            <a:pPr lvl="1"/>
            <a:r>
              <a:rPr lang="en-US" altLang="en-US">
                <a:latin typeface="Arial" panose="020B0604020202020204" pitchFamily="34" charset="0"/>
              </a:rPr>
              <a:t>The example on the slide defines a PRIMARY KEY constraint on the DEPTNO column of the DEPT table. The name of the constraint is DEPT_DEPTNO_PK.</a:t>
            </a:r>
          </a:p>
          <a:p>
            <a:pPr lvl="1"/>
            <a:r>
              <a:rPr lang="en-US" altLang="en-US" b="1">
                <a:latin typeface="Arial" panose="020B0604020202020204" pitchFamily="34" charset="0"/>
              </a:rPr>
              <a:t>Note:</a:t>
            </a:r>
            <a:r>
              <a:rPr lang="en-US" altLang="en-US">
                <a:latin typeface="Arial" panose="020B0604020202020204" pitchFamily="34" charset="0"/>
              </a:rPr>
              <a:t> A UNIQUE index is automatically created for a PRIMARY KEY column.</a:t>
            </a: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ADE2C6F9-D6AF-9D47-AF50-86E27FFBB568}"/>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44035" name="Rectangle 3">
            <a:extLst>
              <a:ext uri="{FF2B5EF4-FFF2-40B4-BE49-F238E27FC236}">
                <a16:creationId xmlns:a16="http://schemas.microsoft.com/office/drawing/2014/main" id="{5F4FFD8F-B4D8-4EAE-3A6F-5CFE4A976817}"/>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The FOREIGN KEY Constraint</a:t>
            </a:r>
          </a:p>
          <a:p>
            <a:pPr lvl="1"/>
            <a:r>
              <a:rPr lang="en-US" altLang="en-US">
                <a:latin typeface="Arial" panose="020B0604020202020204" pitchFamily="34" charset="0"/>
              </a:rPr>
              <a:t>The </a:t>
            </a:r>
            <a:r>
              <a:rPr lang="en-US" altLang="en-US">
                <a:solidFill>
                  <a:srgbClr val="FC0128"/>
                </a:solidFill>
                <a:latin typeface="Arial" panose="020B0604020202020204" pitchFamily="34" charset="0"/>
              </a:rPr>
              <a:t>FOREIGN KEY,</a:t>
            </a:r>
            <a:r>
              <a:rPr lang="en-US" altLang="en-US">
                <a:latin typeface="Arial" panose="020B0604020202020204" pitchFamily="34" charset="0"/>
              </a:rPr>
              <a:t> or </a:t>
            </a:r>
            <a:r>
              <a:rPr lang="en-US" altLang="en-US">
                <a:solidFill>
                  <a:srgbClr val="FC0128"/>
                </a:solidFill>
                <a:latin typeface="Arial" panose="020B0604020202020204" pitchFamily="34" charset="0"/>
              </a:rPr>
              <a:t>referential integrity</a:t>
            </a:r>
            <a:r>
              <a:rPr lang="en-US" altLang="en-US">
                <a:latin typeface="Arial" panose="020B0604020202020204" pitchFamily="34" charset="0"/>
              </a:rPr>
              <a:t> constraint, designates a column or combination of columns as a foreign key and establishes a relationship between a primary key or a unique key in the same table or a different table. In the example on the slide, DEPTNO has been defined as the foreign key in the EMP table (dependent or child table); it references the DEPTNO column of the DEPT table (referenced or parent table).</a:t>
            </a:r>
          </a:p>
          <a:p>
            <a:pPr lvl="1"/>
            <a:r>
              <a:rPr lang="en-US" altLang="en-US">
                <a:latin typeface="Arial" panose="020B0604020202020204" pitchFamily="34" charset="0"/>
              </a:rPr>
              <a:t>A foreign key value must match an existing value in the parent table or be NULL.</a:t>
            </a:r>
          </a:p>
          <a:p>
            <a:pPr lvl="1"/>
            <a:r>
              <a:rPr lang="en-US" altLang="en-US">
                <a:latin typeface="Arial" panose="020B0604020202020204" pitchFamily="34" charset="0"/>
              </a:rPr>
              <a:t>Foreign keys are based on data values and are purely logical, not physical, pointers.</a:t>
            </a:r>
          </a:p>
          <a:p>
            <a:pPr lvl="1"/>
            <a:endParaRPr lang="en-US" altLang="en-US">
              <a:latin typeface="Arial" panose="020B0604020202020204" pitchFamily="34" charset="0"/>
            </a:endParaRP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grpSp>
        <p:nvGrpSpPr>
          <p:cNvPr id="44036" name="Group 4">
            <a:extLst>
              <a:ext uri="{FF2B5EF4-FFF2-40B4-BE49-F238E27FC236}">
                <a16:creationId xmlns:a16="http://schemas.microsoft.com/office/drawing/2014/main" id="{711EAD5A-8095-B117-D492-74C436F82E2A}"/>
              </a:ext>
            </a:extLst>
          </p:cNvPr>
          <p:cNvGrpSpPr>
            <a:grpSpLocks/>
          </p:cNvGrpSpPr>
          <p:nvPr/>
        </p:nvGrpSpPr>
        <p:grpSpPr bwMode="auto">
          <a:xfrm>
            <a:off x="215900" y="6259513"/>
            <a:ext cx="287338" cy="311150"/>
            <a:chOff x="135" y="3872"/>
            <a:chExt cx="180" cy="192"/>
          </a:xfrm>
        </p:grpSpPr>
        <p:sp>
          <p:nvSpPr>
            <p:cNvPr id="44037" name="Freeform 5">
              <a:extLst>
                <a:ext uri="{FF2B5EF4-FFF2-40B4-BE49-F238E27FC236}">
                  <a16:creationId xmlns:a16="http://schemas.microsoft.com/office/drawing/2014/main" id="{21A514D6-7469-A2F6-109D-660BEB428566}"/>
                </a:ext>
              </a:extLst>
            </p:cNvPr>
            <p:cNvSpPr>
              <a:spLocks/>
            </p:cNvSpPr>
            <p:nvPr/>
          </p:nvSpPr>
          <p:spPr bwMode="auto">
            <a:xfrm>
              <a:off x="135" y="3872"/>
              <a:ext cx="180" cy="184"/>
            </a:xfrm>
            <a:custGeom>
              <a:avLst/>
              <a:gdLst>
                <a:gd name="T0" fmla="*/ 179 w 180"/>
                <a:gd name="T1" fmla="*/ 183 h 184"/>
                <a:gd name="T2" fmla="*/ 179 w 180"/>
                <a:gd name="T3" fmla="*/ 0 h 184"/>
                <a:gd name="T4" fmla="*/ 0 w 180"/>
                <a:gd name="T5" fmla="*/ 0 h 184"/>
                <a:gd name="T6" fmla="*/ 0 w 180"/>
                <a:gd name="T7" fmla="*/ 183 h 184"/>
                <a:gd name="T8" fmla="*/ 179 w 180"/>
                <a:gd name="T9" fmla="*/ 183 h 184"/>
                <a:gd name="T10" fmla="*/ 0 60000 65536"/>
                <a:gd name="T11" fmla="*/ 0 60000 65536"/>
                <a:gd name="T12" fmla="*/ 0 60000 65536"/>
                <a:gd name="T13" fmla="*/ 0 60000 65536"/>
                <a:gd name="T14" fmla="*/ 0 60000 65536"/>
                <a:gd name="T15" fmla="*/ 0 w 180"/>
                <a:gd name="T16" fmla="*/ 0 h 184"/>
                <a:gd name="T17" fmla="*/ 180 w 180"/>
                <a:gd name="T18" fmla="*/ 184 h 184"/>
              </a:gdLst>
              <a:ahLst/>
              <a:cxnLst>
                <a:cxn ang="T10">
                  <a:pos x="T0" y="T1"/>
                </a:cxn>
                <a:cxn ang="T11">
                  <a:pos x="T2" y="T3"/>
                </a:cxn>
                <a:cxn ang="T12">
                  <a:pos x="T4" y="T5"/>
                </a:cxn>
                <a:cxn ang="T13">
                  <a:pos x="T6" y="T7"/>
                </a:cxn>
                <a:cxn ang="T14">
                  <a:pos x="T8" y="T9"/>
                </a:cxn>
              </a:cxnLst>
              <a:rect l="T15" t="T16" r="T17" b="T18"/>
              <a:pathLst>
                <a:path w="180" h="184">
                  <a:moveTo>
                    <a:pt x="179" y="183"/>
                  </a:moveTo>
                  <a:lnTo>
                    <a:pt x="179" y="0"/>
                  </a:lnTo>
                  <a:lnTo>
                    <a:pt x="0" y="0"/>
                  </a:lnTo>
                  <a:lnTo>
                    <a:pt x="0" y="183"/>
                  </a:lnTo>
                  <a:lnTo>
                    <a:pt x="179" y="183"/>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38" name="Freeform 6">
              <a:extLst>
                <a:ext uri="{FF2B5EF4-FFF2-40B4-BE49-F238E27FC236}">
                  <a16:creationId xmlns:a16="http://schemas.microsoft.com/office/drawing/2014/main" id="{EC90EC82-B6E8-EF17-CC70-37C904E24F99}"/>
                </a:ext>
              </a:extLst>
            </p:cNvPr>
            <p:cNvSpPr>
              <a:spLocks/>
            </p:cNvSpPr>
            <p:nvPr/>
          </p:nvSpPr>
          <p:spPr bwMode="auto">
            <a:xfrm>
              <a:off x="216" y="4046"/>
              <a:ext cx="26" cy="18"/>
            </a:xfrm>
            <a:custGeom>
              <a:avLst/>
              <a:gdLst>
                <a:gd name="T0" fmla="*/ 25 w 26"/>
                <a:gd name="T1" fmla="*/ 17 h 18"/>
                <a:gd name="T2" fmla="*/ 25 w 26"/>
                <a:gd name="T3" fmla="*/ 0 h 18"/>
                <a:gd name="T4" fmla="*/ 0 w 26"/>
                <a:gd name="T5" fmla="*/ 0 h 18"/>
                <a:gd name="T6" fmla="*/ 0 w 26"/>
                <a:gd name="T7" fmla="*/ 17 h 18"/>
                <a:gd name="T8" fmla="*/ 25 w 26"/>
                <a:gd name="T9" fmla="*/ 17 h 18"/>
                <a:gd name="T10" fmla="*/ 0 60000 65536"/>
                <a:gd name="T11" fmla="*/ 0 60000 65536"/>
                <a:gd name="T12" fmla="*/ 0 60000 65536"/>
                <a:gd name="T13" fmla="*/ 0 60000 65536"/>
                <a:gd name="T14" fmla="*/ 0 60000 65536"/>
                <a:gd name="T15" fmla="*/ 0 w 26"/>
                <a:gd name="T16" fmla="*/ 0 h 18"/>
                <a:gd name="T17" fmla="*/ 26 w 26"/>
                <a:gd name="T18" fmla="*/ 18 h 18"/>
              </a:gdLst>
              <a:ahLst/>
              <a:cxnLst>
                <a:cxn ang="T10">
                  <a:pos x="T0" y="T1"/>
                </a:cxn>
                <a:cxn ang="T11">
                  <a:pos x="T2" y="T3"/>
                </a:cxn>
                <a:cxn ang="T12">
                  <a:pos x="T4" y="T5"/>
                </a:cxn>
                <a:cxn ang="T13">
                  <a:pos x="T6" y="T7"/>
                </a:cxn>
                <a:cxn ang="T14">
                  <a:pos x="T8" y="T9"/>
                </a:cxn>
              </a:cxnLst>
              <a:rect l="T15" t="T16" r="T17" b="T18"/>
              <a:pathLst>
                <a:path w="26" h="18">
                  <a:moveTo>
                    <a:pt x="25" y="17"/>
                  </a:moveTo>
                  <a:lnTo>
                    <a:pt x="25" y="0"/>
                  </a:lnTo>
                  <a:lnTo>
                    <a:pt x="0" y="0"/>
                  </a:lnTo>
                  <a:lnTo>
                    <a:pt x="0" y="17"/>
                  </a:lnTo>
                  <a:lnTo>
                    <a:pt x="25"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39" name="Freeform 7">
              <a:extLst>
                <a:ext uri="{FF2B5EF4-FFF2-40B4-BE49-F238E27FC236}">
                  <a16:creationId xmlns:a16="http://schemas.microsoft.com/office/drawing/2014/main" id="{3CDA2EDB-A457-39AE-CD54-29B632CF7D19}"/>
                </a:ext>
              </a:extLst>
            </p:cNvPr>
            <p:cNvSpPr>
              <a:spLocks/>
            </p:cNvSpPr>
            <p:nvPr/>
          </p:nvSpPr>
          <p:spPr bwMode="auto">
            <a:xfrm>
              <a:off x="157" y="3925"/>
              <a:ext cx="33" cy="20"/>
            </a:xfrm>
            <a:custGeom>
              <a:avLst/>
              <a:gdLst>
                <a:gd name="T0" fmla="*/ 0 w 33"/>
                <a:gd name="T1" fmla="*/ 0 h 20"/>
                <a:gd name="T2" fmla="*/ 26 w 33"/>
                <a:gd name="T3" fmla="*/ 19 h 20"/>
                <a:gd name="T4" fmla="*/ 32 w 33"/>
                <a:gd name="T5" fmla="*/ 8 h 20"/>
                <a:gd name="T6" fmla="*/ 0 w 33"/>
                <a:gd name="T7" fmla="*/ 0 h 20"/>
                <a:gd name="T8" fmla="*/ 0 60000 65536"/>
                <a:gd name="T9" fmla="*/ 0 60000 65536"/>
                <a:gd name="T10" fmla="*/ 0 60000 65536"/>
                <a:gd name="T11" fmla="*/ 0 60000 65536"/>
                <a:gd name="T12" fmla="*/ 0 w 33"/>
                <a:gd name="T13" fmla="*/ 0 h 20"/>
                <a:gd name="T14" fmla="*/ 33 w 33"/>
                <a:gd name="T15" fmla="*/ 20 h 20"/>
              </a:gdLst>
              <a:ahLst/>
              <a:cxnLst>
                <a:cxn ang="T8">
                  <a:pos x="T0" y="T1"/>
                </a:cxn>
                <a:cxn ang="T9">
                  <a:pos x="T2" y="T3"/>
                </a:cxn>
                <a:cxn ang="T10">
                  <a:pos x="T4" y="T5"/>
                </a:cxn>
                <a:cxn ang="T11">
                  <a:pos x="T6" y="T7"/>
                </a:cxn>
              </a:cxnLst>
              <a:rect l="T12" t="T13" r="T14" b="T15"/>
              <a:pathLst>
                <a:path w="33" h="20">
                  <a:moveTo>
                    <a:pt x="0" y="0"/>
                  </a:moveTo>
                  <a:lnTo>
                    <a:pt x="26" y="19"/>
                  </a:lnTo>
                  <a:lnTo>
                    <a:pt x="32" y="8"/>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0" name="Freeform 8">
              <a:extLst>
                <a:ext uri="{FF2B5EF4-FFF2-40B4-BE49-F238E27FC236}">
                  <a16:creationId xmlns:a16="http://schemas.microsoft.com/office/drawing/2014/main" id="{ADCBE9EB-45C4-4586-4906-1257206A0F82}"/>
                </a:ext>
              </a:extLst>
            </p:cNvPr>
            <p:cNvSpPr>
              <a:spLocks/>
            </p:cNvSpPr>
            <p:nvPr/>
          </p:nvSpPr>
          <p:spPr bwMode="auto">
            <a:xfrm>
              <a:off x="268" y="3925"/>
              <a:ext cx="34" cy="20"/>
            </a:xfrm>
            <a:custGeom>
              <a:avLst/>
              <a:gdLst>
                <a:gd name="T0" fmla="*/ 33 w 34"/>
                <a:gd name="T1" fmla="*/ 0 h 20"/>
                <a:gd name="T2" fmla="*/ 6 w 34"/>
                <a:gd name="T3" fmla="*/ 19 h 20"/>
                <a:gd name="T4" fmla="*/ 0 w 34"/>
                <a:gd name="T5" fmla="*/ 9 h 20"/>
                <a:gd name="T6" fmla="*/ 33 w 34"/>
                <a:gd name="T7" fmla="*/ 0 h 20"/>
                <a:gd name="T8" fmla="*/ 0 60000 65536"/>
                <a:gd name="T9" fmla="*/ 0 60000 65536"/>
                <a:gd name="T10" fmla="*/ 0 60000 65536"/>
                <a:gd name="T11" fmla="*/ 0 60000 65536"/>
                <a:gd name="T12" fmla="*/ 0 w 34"/>
                <a:gd name="T13" fmla="*/ 0 h 20"/>
                <a:gd name="T14" fmla="*/ 34 w 34"/>
                <a:gd name="T15" fmla="*/ 20 h 20"/>
              </a:gdLst>
              <a:ahLst/>
              <a:cxnLst>
                <a:cxn ang="T8">
                  <a:pos x="T0" y="T1"/>
                </a:cxn>
                <a:cxn ang="T9">
                  <a:pos x="T2" y="T3"/>
                </a:cxn>
                <a:cxn ang="T10">
                  <a:pos x="T4" y="T5"/>
                </a:cxn>
                <a:cxn ang="T11">
                  <a:pos x="T6" y="T7"/>
                </a:cxn>
              </a:cxnLst>
              <a:rect l="T12" t="T13" r="T14" b="T15"/>
              <a:pathLst>
                <a:path w="34" h="20">
                  <a:moveTo>
                    <a:pt x="33" y="0"/>
                  </a:moveTo>
                  <a:lnTo>
                    <a:pt x="6" y="19"/>
                  </a:lnTo>
                  <a:lnTo>
                    <a:pt x="0" y="9"/>
                  </a:lnTo>
                  <a:lnTo>
                    <a:pt x="33"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1" name="Freeform 9">
              <a:extLst>
                <a:ext uri="{FF2B5EF4-FFF2-40B4-BE49-F238E27FC236}">
                  <a16:creationId xmlns:a16="http://schemas.microsoft.com/office/drawing/2014/main" id="{37762A16-7FF9-CAB3-0BC3-B139F18CEE74}"/>
                </a:ext>
              </a:extLst>
            </p:cNvPr>
            <p:cNvSpPr>
              <a:spLocks/>
            </p:cNvSpPr>
            <p:nvPr/>
          </p:nvSpPr>
          <p:spPr bwMode="auto">
            <a:xfrm>
              <a:off x="155" y="3964"/>
              <a:ext cx="33" cy="18"/>
            </a:xfrm>
            <a:custGeom>
              <a:avLst/>
              <a:gdLst>
                <a:gd name="T0" fmla="*/ 0 w 33"/>
                <a:gd name="T1" fmla="*/ 17 h 18"/>
                <a:gd name="T2" fmla="*/ 32 w 33"/>
                <a:gd name="T3" fmla="*/ 13 h 18"/>
                <a:gd name="T4" fmla="*/ 30 w 33"/>
                <a:gd name="T5" fmla="*/ 0 h 18"/>
                <a:gd name="T6" fmla="*/ 0 w 33"/>
                <a:gd name="T7" fmla="*/ 17 h 18"/>
                <a:gd name="T8" fmla="*/ 0 60000 65536"/>
                <a:gd name="T9" fmla="*/ 0 60000 65536"/>
                <a:gd name="T10" fmla="*/ 0 60000 65536"/>
                <a:gd name="T11" fmla="*/ 0 60000 65536"/>
                <a:gd name="T12" fmla="*/ 0 w 33"/>
                <a:gd name="T13" fmla="*/ 0 h 18"/>
                <a:gd name="T14" fmla="*/ 33 w 33"/>
                <a:gd name="T15" fmla="*/ 18 h 18"/>
              </a:gdLst>
              <a:ahLst/>
              <a:cxnLst>
                <a:cxn ang="T8">
                  <a:pos x="T0" y="T1"/>
                </a:cxn>
                <a:cxn ang="T9">
                  <a:pos x="T2" y="T3"/>
                </a:cxn>
                <a:cxn ang="T10">
                  <a:pos x="T4" y="T5"/>
                </a:cxn>
                <a:cxn ang="T11">
                  <a:pos x="T6" y="T7"/>
                </a:cxn>
              </a:cxnLst>
              <a:rect l="T12" t="T13" r="T14" b="T15"/>
              <a:pathLst>
                <a:path w="33" h="18">
                  <a:moveTo>
                    <a:pt x="0" y="17"/>
                  </a:moveTo>
                  <a:lnTo>
                    <a:pt x="32" y="13"/>
                  </a:lnTo>
                  <a:lnTo>
                    <a:pt x="30" y="0"/>
                  </a:lnTo>
                  <a:lnTo>
                    <a:pt x="0"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2" name="Freeform 10">
              <a:extLst>
                <a:ext uri="{FF2B5EF4-FFF2-40B4-BE49-F238E27FC236}">
                  <a16:creationId xmlns:a16="http://schemas.microsoft.com/office/drawing/2014/main" id="{60C954D7-DBAF-AA60-518E-569BA6E25058}"/>
                </a:ext>
              </a:extLst>
            </p:cNvPr>
            <p:cNvSpPr>
              <a:spLocks/>
            </p:cNvSpPr>
            <p:nvPr/>
          </p:nvSpPr>
          <p:spPr bwMode="auto">
            <a:xfrm>
              <a:off x="271" y="3965"/>
              <a:ext cx="34" cy="18"/>
            </a:xfrm>
            <a:custGeom>
              <a:avLst/>
              <a:gdLst>
                <a:gd name="T0" fmla="*/ 33 w 34"/>
                <a:gd name="T1" fmla="*/ 17 h 18"/>
                <a:gd name="T2" fmla="*/ 0 w 34"/>
                <a:gd name="T3" fmla="*/ 14 h 18"/>
                <a:gd name="T4" fmla="*/ 2 w 34"/>
                <a:gd name="T5" fmla="*/ 0 h 18"/>
                <a:gd name="T6" fmla="*/ 33 w 34"/>
                <a:gd name="T7" fmla="*/ 17 h 18"/>
                <a:gd name="T8" fmla="*/ 0 60000 65536"/>
                <a:gd name="T9" fmla="*/ 0 60000 65536"/>
                <a:gd name="T10" fmla="*/ 0 60000 65536"/>
                <a:gd name="T11" fmla="*/ 0 60000 65536"/>
                <a:gd name="T12" fmla="*/ 0 w 34"/>
                <a:gd name="T13" fmla="*/ 0 h 18"/>
                <a:gd name="T14" fmla="*/ 34 w 34"/>
                <a:gd name="T15" fmla="*/ 18 h 18"/>
              </a:gdLst>
              <a:ahLst/>
              <a:cxnLst>
                <a:cxn ang="T8">
                  <a:pos x="T0" y="T1"/>
                </a:cxn>
                <a:cxn ang="T9">
                  <a:pos x="T2" y="T3"/>
                </a:cxn>
                <a:cxn ang="T10">
                  <a:pos x="T4" y="T5"/>
                </a:cxn>
                <a:cxn ang="T11">
                  <a:pos x="T6" y="T7"/>
                </a:cxn>
              </a:cxnLst>
              <a:rect l="T12" t="T13" r="T14" b="T15"/>
              <a:pathLst>
                <a:path w="34" h="18">
                  <a:moveTo>
                    <a:pt x="33" y="17"/>
                  </a:moveTo>
                  <a:lnTo>
                    <a:pt x="0" y="14"/>
                  </a:lnTo>
                  <a:lnTo>
                    <a:pt x="2" y="0"/>
                  </a:lnTo>
                  <a:lnTo>
                    <a:pt x="3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3" name="Freeform 11">
              <a:extLst>
                <a:ext uri="{FF2B5EF4-FFF2-40B4-BE49-F238E27FC236}">
                  <a16:creationId xmlns:a16="http://schemas.microsoft.com/office/drawing/2014/main" id="{DF20DD8A-E732-29DE-6294-E9C5B6626F43}"/>
                </a:ext>
              </a:extLst>
            </p:cNvPr>
            <p:cNvSpPr>
              <a:spLocks/>
            </p:cNvSpPr>
            <p:nvPr/>
          </p:nvSpPr>
          <p:spPr bwMode="auto">
            <a:xfrm>
              <a:off x="180" y="3887"/>
              <a:ext cx="26" cy="30"/>
            </a:xfrm>
            <a:custGeom>
              <a:avLst/>
              <a:gdLst>
                <a:gd name="T0" fmla="*/ 0 w 26"/>
                <a:gd name="T1" fmla="*/ 0 h 30"/>
                <a:gd name="T2" fmla="*/ 15 w 26"/>
                <a:gd name="T3" fmla="*/ 29 h 30"/>
                <a:gd name="T4" fmla="*/ 25 w 26"/>
                <a:gd name="T5" fmla="*/ 22 h 30"/>
                <a:gd name="T6" fmla="*/ 0 w 26"/>
                <a:gd name="T7" fmla="*/ 0 h 30"/>
                <a:gd name="T8" fmla="*/ 0 60000 65536"/>
                <a:gd name="T9" fmla="*/ 0 60000 65536"/>
                <a:gd name="T10" fmla="*/ 0 60000 65536"/>
                <a:gd name="T11" fmla="*/ 0 60000 65536"/>
                <a:gd name="T12" fmla="*/ 0 w 26"/>
                <a:gd name="T13" fmla="*/ 0 h 30"/>
                <a:gd name="T14" fmla="*/ 26 w 26"/>
                <a:gd name="T15" fmla="*/ 30 h 30"/>
              </a:gdLst>
              <a:ahLst/>
              <a:cxnLst>
                <a:cxn ang="T8">
                  <a:pos x="T0" y="T1"/>
                </a:cxn>
                <a:cxn ang="T9">
                  <a:pos x="T2" y="T3"/>
                </a:cxn>
                <a:cxn ang="T10">
                  <a:pos x="T4" y="T5"/>
                </a:cxn>
                <a:cxn ang="T11">
                  <a:pos x="T6" y="T7"/>
                </a:cxn>
              </a:cxnLst>
              <a:rect l="T12" t="T13" r="T14" b="T15"/>
              <a:pathLst>
                <a:path w="26" h="30">
                  <a:moveTo>
                    <a:pt x="0" y="0"/>
                  </a:moveTo>
                  <a:lnTo>
                    <a:pt x="15" y="29"/>
                  </a:lnTo>
                  <a:lnTo>
                    <a:pt x="25" y="22"/>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4" name="Freeform 12">
              <a:extLst>
                <a:ext uri="{FF2B5EF4-FFF2-40B4-BE49-F238E27FC236}">
                  <a16:creationId xmlns:a16="http://schemas.microsoft.com/office/drawing/2014/main" id="{BF31070E-77B1-EC17-6CDC-032000327CE4}"/>
                </a:ext>
              </a:extLst>
            </p:cNvPr>
            <p:cNvSpPr>
              <a:spLocks/>
            </p:cNvSpPr>
            <p:nvPr/>
          </p:nvSpPr>
          <p:spPr bwMode="auto">
            <a:xfrm>
              <a:off x="245" y="3889"/>
              <a:ext cx="29" cy="32"/>
            </a:xfrm>
            <a:custGeom>
              <a:avLst/>
              <a:gdLst>
                <a:gd name="T0" fmla="*/ 28 w 29"/>
                <a:gd name="T1" fmla="*/ 0 h 32"/>
                <a:gd name="T2" fmla="*/ 11 w 29"/>
                <a:gd name="T3" fmla="*/ 31 h 32"/>
                <a:gd name="T4" fmla="*/ 0 w 29"/>
                <a:gd name="T5" fmla="*/ 23 h 32"/>
                <a:gd name="T6" fmla="*/ 28 w 29"/>
                <a:gd name="T7" fmla="*/ 0 h 32"/>
                <a:gd name="T8" fmla="*/ 0 60000 65536"/>
                <a:gd name="T9" fmla="*/ 0 60000 65536"/>
                <a:gd name="T10" fmla="*/ 0 60000 65536"/>
                <a:gd name="T11" fmla="*/ 0 60000 65536"/>
                <a:gd name="T12" fmla="*/ 0 w 29"/>
                <a:gd name="T13" fmla="*/ 0 h 32"/>
                <a:gd name="T14" fmla="*/ 29 w 29"/>
                <a:gd name="T15" fmla="*/ 32 h 32"/>
              </a:gdLst>
              <a:ahLst/>
              <a:cxnLst>
                <a:cxn ang="T8">
                  <a:pos x="T0" y="T1"/>
                </a:cxn>
                <a:cxn ang="T9">
                  <a:pos x="T2" y="T3"/>
                </a:cxn>
                <a:cxn ang="T10">
                  <a:pos x="T4" y="T5"/>
                </a:cxn>
                <a:cxn ang="T11">
                  <a:pos x="T6" y="T7"/>
                </a:cxn>
              </a:cxnLst>
              <a:rect l="T12" t="T13" r="T14" b="T15"/>
              <a:pathLst>
                <a:path w="29" h="32">
                  <a:moveTo>
                    <a:pt x="28" y="0"/>
                  </a:moveTo>
                  <a:lnTo>
                    <a:pt x="11" y="31"/>
                  </a:lnTo>
                  <a:lnTo>
                    <a:pt x="0" y="23"/>
                  </a:lnTo>
                  <a:lnTo>
                    <a:pt x="28"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5" name="Freeform 13">
              <a:extLst>
                <a:ext uri="{FF2B5EF4-FFF2-40B4-BE49-F238E27FC236}">
                  <a16:creationId xmlns:a16="http://schemas.microsoft.com/office/drawing/2014/main" id="{0DBD1DD0-5E68-7B82-247E-3C016FDF4EA9}"/>
                </a:ext>
              </a:extLst>
            </p:cNvPr>
            <p:cNvSpPr>
              <a:spLocks/>
            </p:cNvSpPr>
            <p:nvPr/>
          </p:nvSpPr>
          <p:spPr bwMode="auto">
            <a:xfrm>
              <a:off x="220" y="3878"/>
              <a:ext cx="17" cy="31"/>
            </a:xfrm>
            <a:custGeom>
              <a:avLst/>
              <a:gdLst>
                <a:gd name="T0" fmla="*/ 7 w 17"/>
                <a:gd name="T1" fmla="*/ 0 h 31"/>
                <a:gd name="T2" fmla="*/ 0 w 17"/>
                <a:gd name="T3" fmla="*/ 30 h 31"/>
                <a:gd name="T4" fmla="*/ 16 w 17"/>
                <a:gd name="T5" fmla="*/ 29 h 31"/>
                <a:gd name="T6" fmla="*/ 7 w 17"/>
                <a:gd name="T7" fmla="*/ 0 h 31"/>
                <a:gd name="T8" fmla="*/ 0 60000 65536"/>
                <a:gd name="T9" fmla="*/ 0 60000 65536"/>
                <a:gd name="T10" fmla="*/ 0 60000 65536"/>
                <a:gd name="T11" fmla="*/ 0 60000 65536"/>
                <a:gd name="T12" fmla="*/ 0 w 17"/>
                <a:gd name="T13" fmla="*/ 0 h 31"/>
                <a:gd name="T14" fmla="*/ 17 w 17"/>
                <a:gd name="T15" fmla="*/ 31 h 31"/>
              </a:gdLst>
              <a:ahLst/>
              <a:cxnLst>
                <a:cxn ang="T8">
                  <a:pos x="T0" y="T1"/>
                </a:cxn>
                <a:cxn ang="T9">
                  <a:pos x="T2" y="T3"/>
                </a:cxn>
                <a:cxn ang="T10">
                  <a:pos x="T4" y="T5"/>
                </a:cxn>
                <a:cxn ang="T11">
                  <a:pos x="T6" y="T7"/>
                </a:cxn>
              </a:cxnLst>
              <a:rect l="T12" t="T13" r="T14" b="T15"/>
              <a:pathLst>
                <a:path w="17" h="31">
                  <a:moveTo>
                    <a:pt x="7" y="0"/>
                  </a:moveTo>
                  <a:lnTo>
                    <a:pt x="0" y="30"/>
                  </a:lnTo>
                  <a:lnTo>
                    <a:pt x="16" y="29"/>
                  </a:lnTo>
                  <a:lnTo>
                    <a:pt x="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6" name="Freeform 14">
              <a:extLst>
                <a:ext uri="{FF2B5EF4-FFF2-40B4-BE49-F238E27FC236}">
                  <a16:creationId xmlns:a16="http://schemas.microsoft.com/office/drawing/2014/main" id="{ABADDB13-FF4F-C895-54CD-D25D52B250F9}"/>
                </a:ext>
              </a:extLst>
            </p:cNvPr>
            <p:cNvSpPr>
              <a:spLocks/>
            </p:cNvSpPr>
            <p:nvPr/>
          </p:nvSpPr>
          <p:spPr bwMode="auto">
            <a:xfrm>
              <a:off x="195" y="3924"/>
              <a:ext cx="67" cy="116"/>
            </a:xfrm>
            <a:custGeom>
              <a:avLst/>
              <a:gdLst>
                <a:gd name="T0" fmla="*/ 21 w 67"/>
                <a:gd name="T1" fmla="*/ 115 h 116"/>
                <a:gd name="T2" fmla="*/ 22 w 67"/>
                <a:gd name="T3" fmla="*/ 94 h 116"/>
                <a:gd name="T4" fmla="*/ 20 w 67"/>
                <a:gd name="T5" fmla="*/ 91 h 116"/>
                <a:gd name="T6" fmla="*/ 14 w 67"/>
                <a:gd name="T7" fmla="*/ 83 h 116"/>
                <a:gd name="T8" fmla="*/ 8 w 67"/>
                <a:gd name="T9" fmla="*/ 72 h 116"/>
                <a:gd name="T10" fmla="*/ 3 w 67"/>
                <a:gd name="T11" fmla="*/ 58 h 116"/>
                <a:gd name="T12" fmla="*/ 0 w 67"/>
                <a:gd name="T13" fmla="*/ 42 h 116"/>
                <a:gd name="T14" fmla="*/ 0 w 67"/>
                <a:gd name="T15" fmla="*/ 27 h 116"/>
                <a:gd name="T16" fmla="*/ 7 w 67"/>
                <a:gd name="T17" fmla="*/ 12 h 116"/>
                <a:gd name="T18" fmla="*/ 22 w 67"/>
                <a:gd name="T19" fmla="*/ 0 h 116"/>
                <a:gd name="T20" fmla="*/ 42 w 67"/>
                <a:gd name="T21" fmla="*/ 0 h 116"/>
                <a:gd name="T22" fmla="*/ 45 w 67"/>
                <a:gd name="T23" fmla="*/ 1 h 116"/>
                <a:gd name="T24" fmla="*/ 50 w 67"/>
                <a:gd name="T25" fmla="*/ 5 h 116"/>
                <a:gd name="T26" fmla="*/ 56 w 67"/>
                <a:gd name="T27" fmla="*/ 11 h 116"/>
                <a:gd name="T28" fmla="*/ 62 w 67"/>
                <a:gd name="T29" fmla="*/ 20 h 116"/>
                <a:gd name="T30" fmla="*/ 66 w 67"/>
                <a:gd name="T31" fmla="*/ 32 h 116"/>
                <a:gd name="T32" fmla="*/ 65 w 67"/>
                <a:gd name="T33" fmla="*/ 48 h 116"/>
                <a:gd name="T34" fmla="*/ 58 w 67"/>
                <a:gd name="T35" fmla="*/ 68 h 116"/>
                <a:gd name="T36" fmla="*/ 42 w 67"/>
                <a:gd name="T37" fmla="*/ 91 h 116"/>
                <a:gd name="T38" fmla="*/ 42 w 67"/>
                <a:gd name="T39" fmla="*/ 115 h 116"/>
                <a:gd name="T40" fmla="*/ 21 w 67"/>
                <a:gd name="T41" fmla="*/ 115 h 1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116"/>
                <a:gd name="T65" fmla="*/ 67 w 67"/>
                <a:gd name="T66" fmla="*/ 116 h 1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116">
                  <a:moveTo>
                    <a:pt x="21" y="115"/>
                  </a:moveTo>
                  <a:lnTo>
                    <a:pt x="22" y="94"/>
                  </a:lnTo>
                  <a:lnTo>
                    <a:pt x="20" y="91"/>
                  </a:lnTo>
                  <a:lnTo>
                    <a:pt x="14" y="83"/>
                  </a:lnTo>
                  <a:lnTo>
                    <a:pt x="8" y="72"/>
                  </a:lnTo>
                  <a:lnTo>
                    <a:pt x="3" y="58"/>
                  </a:lnTo>
                  <a:lnTo>
                    <a:pt x="0" y="42"/>
                  </a:lnTo>
                  <a:lnTo>
                    <a:pt x="0" y="27"/>
                  </a:lnTo>
                  <a:lnTo>
                    <a:pt x="7" y="12"/>
                  </a:lnTo>
                  <a:lnTo>
                    <a:pt x="22" y="0"/>
                  </a:lnTo>
                  <a:lnTo>
                    <a:pt x="42" y="0"/>
                  </a:lnTo>
                  <a:lnTo>
                    <a:pt x="45" y="1"/>
                  </a:lnTo>
                  <a:lnTo>
                    <a:pt x="50" y="5"/>
                  </a:lnTo>
                  <a:lnTo>
                    <a:pt x="56" y="11"/>
                  </a:lnTo>
                  <a:lnTo>
                    <a:pt x="62" y="20"/>
                  </a:lnTo>
                  <a:lnTo>
                    <a:pt x="66" y="32"/>
                  </a:lnTo>
                  <a:lnTo>
                    <a:pt x="65" y="48"/>
                  </a:lnTo>
                  <a:lnTo>
                    <a:pt x="58" y="68"/>
                  </a:lnTo>
                  <a:lnTo>
                    <a:pt x="42" y="91"/>
                  </a:lnTo>
                  <a:lnTo>
                    <a:pt x="42" y="115"/>
                  </a:lnTo>
                  <a:lnTo>
                    <a:pt x="21" y="115"/>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4047" name="Freeform 15">
              <a:extLst>
                <a:ext uri="{FF2B5EF4-FFF2-40B4-BE49-F238E27FC236}">
                  <a16:creationId xmlns:a16="http://schemas.microsoft.com/office/drawing/2014/main" id="{ACAB1B11-92DB-91F0-DF30-607233CFCB0B}"/>
                </a:ext>
              </a:extLst>
            </p:cNvPr>
            <p:cNvSpPr>
              <a:spLocks/>
            </p:cNvSpPr>
            <p:nvPr/>
          </p:nvSpPr>
          <p:spPr bwMode="auto">
            <a:xfrm>
              <a:off x="222" y="3945"/>
              <a:ext cx="17" cy="88"/>
            </a:xfrm>
            <a:custGeom>
              <a:avLst/>
              <a:gdLst>
                <a:gd name="T0" fmla="*/ 4 w 17"/>
                <a:gd name="T1" fmla="*/ 0 h 88"/>
                <a:gd name="T2" fmla="*/ 6 w 17"/>
                <a:gd name="T3" fmla="*/ 6 h 88"/>
                <a:gd name="T4" fmla="*/ 2 w 17"/>
                <a:gd name="T5" fmla="*/ 7 h 88"/>
                <a:gd name="T6" fmla="*/ 2 w 17"/>
                <a:gd name="T7" fmla="*/ 78 h 88"/>
                <a:gd name="T8" fmla="*/ 0 w 17"/>
                <a:gd name="T9" fmla="*/ 79 h 88"/>
                <a:gd name="T10" fmla="*/ 0 w 17"/>
                <a:gd name="T11" fmla="*/ 87 h 88"/>
                <a:gd name="T12" fmla="*/ 2 w 17"/>
                <a:gd name="T13" fmla="*/ 87 h 88"/>
                <a:gd name="T14" fmla="*/ 4 w 17"/>
                <a:gd name="T15" fmla="*/ 87 h 88"/>
                <a:gd name="T16" fmla="*/ 6 w 17"/>
                <a:gd name="T17" fmla="*/ 87 h 88"/>
                <a:gd name="T18" fmla="*/ 9 w 17"/>
                <a:gd name="T19" fmla="*/ 85 h 88"/>
                <a:gd name="T20" fmla="*/ 13 w 17"/>
                <a:gd name="T21" fmla="*/ 85 h 88"/>
                <a:gd name="T22" fmla="*/ 16 w 17"/>
                <a:gd name="T23" fmla="*/ 84 h 88"/>
                <a:gd name="T24" fmla="*/ 16 w 17"/>
                <a:gd name="T25" fmla="*/ 82 h 88"/>
                <a:gd name="T26" fmla="*/ 16 w 17"/>
                <a:gd name="T27" fmla="*/ 79 h 88"/>
                <a:gd name="T28" fmla="*/ 16 w 17"/>
                <a:gd name="T29" fmla="*/ 48 h 88"/>
                <a:gd name="T30" fmla="*/ 13 w 17"/>
                <a:gd name="T31" fmla="*/ 47 h 88"/>
                <a:gd name="T32" fmla="*/ 13 w 17"/>
                <a:gd name="T33" fmla="*/ 39 h 88"/>
                <a:gd name="T34" fmla="*/ 13 w 17"/>
                <a:gd name="T35" fmla="*/ 5 h 88"/>
                <a:gd name="T36" fmla="*/ 4 w 17"/>
                <a:gd name="T37" fmla="*/ 0 h 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88"/>
                <a:gd name="T59" fmla="*/ 17 w 17"/>
                <a:gd name="T60" fmla="*/ 88 h 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88">
                  <a:moveTo>
                    <a:pt x="4" y="0"/>
                  </a:moveTo>
                  <a:lnTo>
                    <a:pt x="6" y="6"/>
                  </a:lnTo>
                  <a:lnTo>
                    <a:pt x="2" y="7"/>
                  </a:lnTo>
                  <a:lnTo>
                    <a:pt x="2" y="78"/>
                  </a:lnTo>
                  <a:lnTo>
                    <a:pt x="0" y="79"/>
                  </a:lnTo>
                  <a:lnTo>
                    <a:pt x="0" y="87"/>
                  </a:lnTo>
                  <a:lnTo>
                    <a:pt x="2" y="87"/>
                  </a:lnTo>
                  <a:lnTo>
                    <a:pt x="4" y="87"/>
                  </a:lnTo>
                  <a:lnTo>
                    <a:pt x="6" y="87"/>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35642CBD-EC43-4E03-D718-FC1BDE7F4685}"/>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46083" name="Rectangle 3">
            <a:extLst>
              <a:ext uri="{FF2B5EF4-FFF2-40B4-BE49-F238E27FC236}">
                <a16:creationId xmlns:a16="http://schemas.microsoft.com/office/drawing/2014/main" id="{DEBD6F87-07CB-0011-1B44-427389DCB3AE}"/>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The FOREIGN KEY Constraint (continued)</a:t>
            </a:r>
          </a:p>
          <a:p>
            <a:pPr lvl="1"/>
            <a:r>
              <a:rPr lang="en-US" altLang="en-US">
                <a:latin typeface="Arial" panose="020B0604020202020204" pitchFamily="34" charset="0"/>
              </a:rPr>
              <a:t>FOREIGN KEY constraints can be defined at the column or table constraint level. A composite foreign key must be created by using the table-level definition.</a:t>
            </a:r>
          </a:p>
          <a:p>
            <a:pPr lvl="1"/>
            <a:r>
              <a:rPr lang="en-US" altLang="en-US">
                <a:latin typeface="Arial" panose="020B0604020202020204" pitchFamily="34" charset="0"/>
              </a:rPr>
              <a:t>The example on the slide defines a FOREIGN KEY constraint on the DEPTNO column of the EMP table, using table level syntax. The name of the constraint is EMP_DEPTNO_FK.</a:t>
            </a: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EA0094C8-9163-8040-64F7-0A5777CAFE39}"/>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The FOREIGN KEY Constraint (continued)</a:t>
            </a:r>
          </a:p>
          <a:p>
            <a:pPr marL="114300" lvl="1" defTabSz="401638"/>
            <a:r>
              <a:rPr lang="en-US" altLang="en-US">
                <a:latin typeface="Arial" panose="020B0604020202020204" pitchFamily="34" charset="0"/>
              </a:rPr>
              <a:t>The foreign key is defined in the child table, and the table containing the referenced column is the parent table. The foreign key is defined using a combination of the following keywords: </a:t>
            </a:r>
          </a:p>
          <a:p>
            <a:pPr marL="450850" lvl="2" indent="-217488" defTabSz="401638"/>
            <a:r>
              <a:rPr lang="en-US" altLang="en-US">
                <a:latin typeface="Arial" panose="020B0604020202020204" pitchFamily="34" charset="0"/>
              </a:rPr>
              <a:t>FOREIGN KEY is used to define the column in the child table at the table constraint level.</a:t>
            </a:r>
          </a:p>
          <a:p>
            <a:pPr marL="450850" lvl="2" indent="-217488" defTabSz="401638"/>
            <a:r>
              <a:rPr lang="en-US" altLang="en-US">
                <a:solidFill>
                  <a:srgbClr val="FC0128"/>
                </a:solidFill>
                <a:latin typeface="Arial" panose="020B0604020202020204" pitchFamily="34" charset="0"/>
              </a:rPr>
              <a:t>REFERENCES </a:t>
            </a:r>
            <a:r>
              <a:rPr lang="en-US" altLang="en-US">
                <a:latin typeface="Arial" panose="020B0604020202020204" pitchFamily="34" charset="0"/>
              </a:rPr>
              <a:t>identifies the table and column in the parent table.</a:t>
            </a:r>
          </a:p>
          <a:p>
            <a:pPr marL="450850" lvl="2" indent="-217488" defTabSz="401638"/>
            <a:r>
              <a:rPr lang="en-US" altLang="en-US">
                <a:solidFill>
                  <a:srgbClr val="FC0128"/>
                </a:solidFill>
                <a:latin typeface="Arial" panose="020B0604020202020204" pitchFamily="34" charset="0"/>
              </a:rPr>
              <a:t>ON DELETE CASCADE </a:t>
            </a:r>
            <a:r>
              <a:rPr lang="en-US" altLang="en-US">
                <a:latin typeface="Arial" panose="020B0604020202020204" pitchFamily="34" charset="0"/>
              </a:rPr>
              <a:t>indicates that when the row in the parent table is deleted, the dependent rows in the child table will also be deleted.</a:t>
            </a:r>
          </a:p>
          <a:p>
            <a:pPr marL="114300" lvl="1" defTabSz="401638"/>
            <a:r>
              <a:rPr lang="en-US" altLang="en-US">
                <a:latin typeface="Arial" panose="020B0604020202020204" pitchFamily="34" charset="0"/>
              </a:rPr>
              <a:t>Without the ON DELETE CASCADE option, the row in the parent table cannot be deleted if it is referenced in the child table.</a:t>
            </a:r>
          </a:p>
          <a:p>
            <a:pPr defTabSz="401638"/>
            <a:endParaRPr lang="en-US" altLang="en-US" b="1">
              <a:latin typeface="Times New Roman" panose="02020603050405020304" pitchFamily="18" charset="0"/>
            </a:endParaRPr>
          </a:p>
        </p:txBody>
      </p:sp>
      <p:sp>
        <p:nvSpPr>
          <p:cNvPr id="48131" name="Rectangle 3">
            <a:extLst>
              <a:ext uri="{FF2B5EF4-FFF2-40B4-BE49-F238E27FC236}">
                <a16:creationId xmlns:a16="http://schemas.microsoft.com/office/drawing/2014/main" id="{A1DE2A75-EA93-0A16-91C2-CEB514FD4278}"/>
              </a:ext>
            </a:extLst>
          </p:cNvPr>
          <p:cNvSpPr>
            <a:spLocks noGrp="1" noRot="1" noChangeArrowheads="1" noTextEdit="1"/>
          </p:cNvSpPr>
          <p:nvPr>
            <p:ph type="sldImg"/>
          </p:nvPr>
        </p:nvSpPr>
        <p:spPr>
          <a:xfrm>
            <a:off x="438150" y="160338"/>
            <a:ext cx="5976938" cy="4483100"/>
          </a:xfrm>
          <a:ln w="12700" cap="flat">
            <a:solidFill>
              <a:schemeClr val="tx1"/>
            </a:solid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C2858E0D-9DEA-C11B-B8CB-C5548DE71431}"/>
              </a:ext>
            </a:extLst>
          </p:cNvPr>
          <p:cNvSpPr>
            <a:spLocks noChangeArrowheads="1"/>
          </p:cNvSpPr>
          <p:nvPr/>
        </p:nvSpPr>
        <p:spPr bwMode="auto">
          <a:xfrm>
            <a:off x="3883025" y="0"/>
            <a:ext cx="29765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0179" name="Rectangle 3">
            <a:extLst>
              <a:ext uri="{FF2B5EF4-FFF2-40B4-BE49-F238E27FC236}">
                <a16:creationId xmlns:a16="http://schemas.microsoft.com/office/drawing/2014/main" id="{4DC6F352-CFB1-8AED-270C-4DE4AC39FA39}"/>
              </a:ext>
            </a:extLst>
          </p:cNvPr>
          <p:cNvSpPr>
            <a:spLocks noChangeArrowheads="1"/>
          </p:cNvSpPr>
          <p:nvPr/>
        </p:nvSpPr>
        <p:spPr bwMode="auto">
          <a:xfrm>
            <a:off x="-3175" y="0"/>
            <a:ext cx="29733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0180" name="Rectangle 4">
            <a:extLst>
              <a:ext uri="{FF2B5EF4-FFF2-40B4-BE49-F238E27FC236}">
                <a16:creationId xmlns:a16="http://schemas.microsoft.com/office/drawing/2014/main" id="{529144C6-8217-B84F-5109-6D2537CF391C}"/>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The CHECK Constraint</a:t>
            </a:r>
          </a:p>
          <a:p>
            <a:pPr marL="114300" lvl="1" defTabSz="401638"/>
            <a:r>
              <a:rPr lang="en-US" altLang="en-US">
                <a:latin typeface="Arial" panose="020B0604020202020204" pitchFamily="34" charset="0"/>
              </a:rPr>
              <a:t>The </a:t>
            </a:r>
            <a:r>
              <a:rPr lang="en-US" altLang="en-US">
                <a:solidFill>
                  <a:srgbClr val="FC0128"/>
                </a:solidFill>
                <a:latin typeface="Arial" panose="020B0604020202020204" pitchFamily="34" charset="0"/>
              </a:rPr>
              <a:t>CHECK constraint </a:t>
            </a:r>
            <a:r>
              <a:rPr lang="en-US" altLang="en-US">
                <a:latin typeface="Arial" panose="020B0604020202020204" pitchFamily="34" charset="0"/>
              </a:rPr>
              <a:t>defines a condition that each row must satisfy. The condition can use the same constructs as query conditions, with the following exceptions:</a:t>
            </a:r>
          </a:p>
          <a:p>
            <a:pPr marL="450850" lvl="2" indent="-217488" defTabSz="401638"/>
            <a:r>
              <a:rPr lang="en-US" altLang="en-US">
                <a:latin typeface="Arial" panose="020B0604020202020204" pitchFamily="34" charset="0"/>
              </a:rPr>
              <a:t>References to the CURRVAL, NEXTVAL, LEVEL, and ROWNUM pseudocolumns</a:t>
            </a:r>
          </a:p>
          <a:p>
            <a:pPr marL="450850" lvl="2" indent="-217488" defTabSz="401638"/>
            <a:r>
              <a:rPr lang="en-US" altLang="en-US">
                <a:latin typeface="Arial" panose="020B0604020202020204" pitchFamily="34" charset="0"/>
              </a:rPr>
              <a:t>Calls to SYSDATE, UID, USER, and USERENV functions</a:t>
            </a:r>
          </a:p>
          <a:p>
            <a:pPr marL="450850" lvl="2" indent="-217488" defTabSz="401638"/>
            <a:r>
              <a:rPr lang="en-US" altLang="en-US">
                <a:latin typeface="Arial" panose="020B0604020202020204" pitchFamily="34" charset="0"/>
              </a:rPr>
              <a:t>Queries that refer to other values in other rows</a:t>
            </a:r>
          </a:p>
          <a:p>
            <a:pPr marL="114300" lvl="1" defTabSz="401638"/>
            <a:r>
              <a:rPr lang="en-US" altLang="en-US">
                <a:latin typeface="Arial" panose="020B0604020202020204" pitchFamily="34" charset="0"/>
              </a:rPr>
              <a:t>A single column can have multiple CHECK constraints that reference the column in its definition. There is no limit to the number of CHECK constraints that you can define on a column.</a:t>
            </a:r>
          </a:p>
          <a:p>
            <a:pPr marL="114300" lvl="1" defTabSz="401638"/>
            <a:r>
              <a:rPr lang="en-US" altLang="en-US">
                <a:latin typeface="Arial" panose="020B0604020202020204" pitchFamily="34" charset="0"/>
              </a:rPr>
              <a:t>CHECK constraints can be defined at the column level or table level. </a:t>
            </a:r>
          </a:p>
          <a:p>
            <a:pPr defTabSz="401638"/>
            <a:endParaRPr lang="en-US" altLang="en-US">
              <a:solidFill>
                <a:schemeClr val="accent2"/>
              </a:solidFill>
              <a:latin typeface="Arial" panose="020B0604020202020204" pitchFamily="34" charset="0"/>
            </a:endParaRPr>
          </a:p>
          <a:p>
            <a:pPr defTabSz="401638"/>
            <a:endParaRPr lang="en-US" altLang="en-US">
              <a:solidFill>
                <a:schemeClr val="accent2"/>
              </a:solidFill>
              <a:latin typeface="Arial" panose="020B0604020202020204" pitchFamily="34" charset="0"/>
            </a:endParaRPr>
          </a:p>
          <a:p>
            <a:pPr defTabSz="401638"/>
            <a:r>
              <a:rPr lang="en-US" altLang="en-US">
                <a:solidFill>
                  <a:schemeClr val="accent2"/>
                </a:solidFill>
                <a:latin typeface="Arial" panose="020B0604020202020204" pitchFamily="34" charset="0"/>
              </a:rPr>
              <a:t>Class Management Note</a:t>
            </a:r>
          </a:p>
          <a:p>
            <a:pPr marL="114300" lvl="1" defTabSz="401638"/>
            <a:r>
              <a:rPr lang="en-US" altLang="en-US">
                <a:solidFill>
                  <a:schemeClr val="accent2"/>
                </a:solidFill>
                <a:latin typeface="Arial" panose="020B0604020202020204" pitchFamily="34" charset="0"/>
              </a:rPr>
              <a:t>You can defer checking constraints for validity until the end of the transaction. </a:t>
            </a:r>
          </a:p>
          <a:p>
            <a:pPr marL="450850" lvl="2" indent="-217488" defTabSz="401638"/>
            <a:r>
              <a:rPr lang="en-US" altLang="en-US">
                <a:solidFill>
                  <a:schemeClr val="accent2"/>
                </a:solidFill>
                <a:latin typeface="Arial" panose="020B0604020202020204" pitchFamily="34" charset="0"/>
              </a:rPr>
              <a:t>A constraint is </a:t>
            </a:r>
            <a:r>
              <a:rPr lang="en-US" altLang="en-US" i="1">
                <a:solidFill>
                  <a:schemeClr val="accent2"/>
                </a:solidFill>
                <a:latin typeface="Arial" panose="020B0604020202020204" pitchFamily="34" charset="0"/>
              </a:rPr>
              <a:t>deferred</a:t>
            </a:r>
            <a:r>
              <a:rPr lang="en-US" altLang="en-US">
                <a:solidFill>
                  <a:schemeClr val="accent2"/>
                </a:solidFill>
                <a:latin typeface="Arial" panose="020B0604020202020204" pitchFamily="34" charset="0"/>
              </a:rPr>
              <a:t> if the system checks that it is satisfied only on commit. If a deferred constraint is violated, then commit causes the transaction to roll back.</a:t>
            </a:r>
          </a:p>
          <a:p>
            <a:pPr marL="450850" lvl="2" indent="-217488" defTabSz="401638"/>
            <a:r>
              <a:rPr lang="en-US" altLang="en-US">
                <a:solidFill>
                  <a:schemeClr val="accent2"/>
                </a:solidFill>
                <a:latin typeface="Arial" panose="020B0604020202020204" pitchFamily="34" charset="0"/>
              </a:rPr>
              <a:t>A constraint is </a:t>
            </a:r>
            <a:r>
              <a:rPr lang="en-US" altLang="en-US" i="1">
                <a:solidFill>
                  <a:schemeClr val="accent2"/>
                </a:solidFill>
                <a:latin typeface="Arial" panose="020B0604020202020204" pitchFamily="34" charset="0"/>
              </a:rPr>
              <a:t>immediate </a:t>
            </a:r>
            <a:r>
              <a:rPr lang="en-US" altLang="en-US">
                <a:solidFill>
                  <a:schemeClr val="accent2"/>
                </a:solidFill>
                <a:latin typeface="Arial" panose="020B0604020202020204" pitchFamily="34" charset="0"/>
              </a:rPr>
              <a:t>if it is checked at the end of each statement. If it is violated, the statement is rolled back immediately. </a:t>
            </a:r>
          </a:p>
          <a:p>
            <a:pPr defTabSz="401638"/>
            <a:endParaRPr lang="en-US" altLang="en-US" b="1">
              <a:solidFill>
                <a:schemeClr val="accent2"/>
              </a:solidFill>
              <a:latin typeface="Times New Roman" panose="02020603050405020304" pitchFamily="18" charset="0"/>
            </a:endParaRPr>
          </a:p>
        </p:txBody>
      </p:sp>
      <p:sp>
        <p:nvSpPr>
          <p:cNvPr id="50181" name="Rectangle 5">
            <a:extLst>
              <a:ext uri="{FF2B5EF4-FFF2-40B4-BE49-F238E27FC236}">
                <a16:creationId xmlns:a16="http://schemas.microsoft.com/office/drawing/2014/main" id="{1B6DD32C-C0B9-26C1-7593-A44B9F77859D}"/>
              </a:ext>
            </a:extLst>
          </p:cNvPr>
          <p:cNvSpPr>
            <a:spLocks noGrp="1" noRot="1" noChangeArrowheads="1" noTextEdit="1"/>
          </p:cNvSpPr>
          <p:nvPr>
            <p:ph type="sldImg"/>
          </p:nvPr>
        </p:nvSpPr>
        <p:spPr>
          <a:xfrm>
            <a:off x="438150" y="160338"/>
            <a:ext cx="5976938" cy="4483100"/>
          </a:xfrm>
          <a:ln w="12700" cap="flat">
            <a:solidFill>
              <a:schemeClr val="tx1"/>
            </a:solid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EAEB1492-3013-8FBF-796B-4975ED76BA49}"/>
              </a:ext>
            </a:extLst>
          </p:cNvPr>
          <p:cNvSpPr>
            <a:spLocks noGrp="1" noRot="1" noChangeArrowheads="1" noTextEdit="1"/>
          </p:cNvSpPr>
          <p:nvPr>
            <p:ph type="sldImg"/>
          </p:nvPr>
        </p:nvSpPr>
        <p:spPr>
          <a:xfrm>
            <a:off x="439738" y="163513"/>
            <a:ext cx="5973762" cy="4479925"/>
          </a:xfrm>
          <a:ln w="12700" cap="flat">
            <a:solidFill>
              <a:schemeClr val="tx1"/>
            </a:solidFill>
          </a:ln>
        </p:spPr>
      </p:sp>
      <p:sp>
        <p:nvSpPr>
          <p:cNvPr id="52227" name="Rectangle 3">
            <a:extLst>
              <a:ext uri="{FF2B5EF4-FFF2-40B4-BE49-F238E27FC236}">
                <a16:creationId xmlns:a16="http://schemas.microsoft.com/office/drawing/2014/main" id="{226CFC28-A8B6-A5AA-10FA-D389970065BE}"/>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Creating Tables</a:t>
            </a:r>
          </a:p>
          <a:p>
            <a:pPr lvl="1"/>
            <a:r>
              <a:rPr lang="en-US" altLang="en-US">
                <a:latin typeface="Arial" panose="020B0604020202020204" pitchFamily="34" charset="0"/>
              </a:rPr>
              <a:t>The example on the slide creates the DEPT table, with three columns—namely, DEPTNO, DNAME, and LOC. It further confirms the creation of the table by issuing the DESCRIBE command. </a:t>
            </a:r>
          </a:p>
          <a:p>
            <a:pPr lvl="1"/>
            <a:r>
              <a:rPr lang="en-US" altLang="en-US">
                <a:latin typeface="Arial" panose="020B0604020202020204" pitchFamily="34" charset="0"/>
              </a:rPr>
              <a:t>Since creating a table is a DDL statement, an automatic commit takes place when this statement is executed.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A0D3C8CD-1AAA-2A56-38AB-A7B4FA40EA24}"/>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Viewing Constraints</a:t>
            </a:r>
          </a:p>
          <a:p>
            <a:pPr marL="114300" lvl="1" defTabSz="401638"/>
            <a:r>
              <a:rPr lang="en-US" altLang="en-US">
                <a:latin typeface="Arial" panose="020B0604020202020204" pitchFamily="34" charset="0"/>
              </a:rPr>
              <a:t>After creating a table, you can confirm its existence by issuing a DESCRIBE command. The only constraint that you can verify is the NOT NULL constraint. To view all constraints on your table, query the USER_CONSTRAINTS table. </a:t>
            </a:r>
          </a:p>
          <a:p>
            <a:pPr marL="114300" lvl="1" defTabSz="401638"/>
            <a:r>
              <a:rPr lang="en-US" altLang="en-US">
                <a:latin typeface="Arial" panose="020B0604020202020204" pitchFamily="34" charset="0"/>
              </a:rPr>
              <a:t>The example on the slide displays all the constraints on the EMP table.</a:t>
            </a:r>
          </a:p>
          <a:p>
            <a:pPr marL="114300" lvl="1" defTabSz="401638"/>
            <a:r>
              <a:rPr lang="en-US" altLang="en-US" b="1">
                <a:latin typeface="Arial" panose="020B0604020202020204" pitchFamily="34" charset="0"/>
              </a:rPr>
              <a:t>Note:</a:t>
            </a:r>
            <a:r>
              <a:rPr lang="en-US" altLang="en-US">
                <a:latin typeface="Arial" panose="020B0604020202020204" pitchFamily="34" charset="0"/>
              </a:rPr>
              <a:t> Constraints that are not named by the table owner receive the system-assigned constraint name. In constraint type, C stands for CHECK, P for PRIMARY KEY, R for referential integrity, and U for UNIQUE key. Notice that the NOT NULL constraint is really a CHECK constraint.</a:t>
            </a:r>
          </a:p>
          <a:p>
            <a:pPr defTabSz="401638"/>
            <a:endParaRPr lang="en-US" altLang="en-US">
              <a:latin typeface="Arial" panose="020B0604020202020204" pitchFamily="34" charset="0"/>
            </a:endParaRPr>
          </a:p>
          <a:p>
            <a:pPr defTabSz="401638"/>
            <a:endParaRPr lang="en-US" altLang="en-US">
              <a:latin typeface="Arial" panose="020B0604020202020204" pitchFamily="34" charset="0"/>
            </a:endParaRPr>
          </a:p>
          <a:p>
            <a:pPr defTabSz="401638"/>
            <a:endParaRPr lang="en-US" altLang="en-US">
              <a:latin typeface="Arial" panose="020B0604020202020204" pitchFamily="34" charset="0"/>
            </a:endParaRPr>
          </a:p>
          <a:p>
            <a:pPr defTabSz="401638"/>
            <a:endParaRPr lang="en-US" altLang="en-US">
              <a:latin typeface="Arial" panose="020B0604020202020204" pitchFamily="34" charset="0"/>
            </a:endParaRPr>
          </a:p>
        </p:txBody>
      </p:sp>
      <p:sp>
        <p:nvSpPr>
          <p:cNvPr id="54275" name="Rectangle 3">
            <a:extLst>
              <a:ext uri="{FF2B5EF4-FFF2-40B4-BE49-F238E27FC236}">
                <a16:creationId xmlns:a16="http://schemas.microsoft.com/office/drawing/2014/main" id="{7B3BB2AE-2789-E0FB-5A98-93CB5DF59254}"/>
              </a:ext>
            </a:extLst>
          </p:cNvPr>
          <p:cNvSpPr>
            <a:spLocks noGrp="1" noRot="1" noChangeArrowheads="1" noTextEdit="1"/>
          </p:cNvSpPr>
          <p:nvPr>
            <p:ph type="sldImg"/>
          </p:nvPr>
        </p:nvSpPr>
        <p:spPr>
          <a:xfrm>
            <a:off x="438150" y="160338"/>
            <a:ext cx="5976938" cy="4483100"/>
          </a:xfrm>
          <a:ln w="12700" cap="flat">
            <a:solidFill>
              <a:schemeClr val="tx1"/>
            </a:solid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4986ED3-F13B-3ABF-D50B-16EFDC386E5B}"/>
              </a:ext>
            </a:extLst>
          </p:cNvPr>
          <p:cNvSpPr>
            <a:spLocks noChangeArrowheads="1"/>
          </p:cNvSpPr>
          <p:nvPr/>
        </p:nvSpPr>
        <p:spPr bwMode="auto">
          <a:xfrm>
            <a:off x="3883025" y="0"/>
            <a:ext cx="29765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6323" name="Rectangle 3">
            <a:extLst>
              <a:ext uri="{FF2B5EF4-FFF2-40B4-BE49-F238E27FC236}">
                <a16:creationId xmlns:a16="http://schemas.microsoft.com/office/drawing/2014/main" id="{AE8F0BD5-0493-9AA0-C280-796125E2DD28}"/>
              </a:ext>
            </a:extLst>
          </p:cNvPr>
          <p:cNvSpPr>
            <a:spLocks noChangeArrowheads="1"/>
          </p:cNvSpPr>
          <p:nvPr/>
        </p:nvSpPr>
        <p:spPr bwMode="auto">
          <a:xfrm>
            <a:off x="-3175" y="0"/>
            <a:ext cx="29733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6324" name="Rectangle 4">
            <a:extLst>
              <a:ext uri="{FF2B5EF4-FFF2-40B4-BE49-F238E27FC236}">
                <a16:creationId xmlns:a16="http://schemas.microsoft.com/office/drawing/2014/main" id="{F94748FB-B1FB-8EB4-6857-E159D94ED93E}"/>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Viewing Constraints (continued)</a:t>
            </a:r>
          </a:p>
          <a:p>
            <a:pPr marL="114300" lvl="1" defTabSz="401638"/>
            <a:r>
              <a:rPr lang="en-US" altLang="en-US">
                <a:latin typeface="Arial" panose="020B0604020202020204" pitchFamily="34" charset="0"/>
              </a:rPr>
              <a:t>You can view the names of the columns involved in constraints by querying the </a:t>
            </a:r>
            <a:r>
              <a:rPr lang="en-US" altLang="en-US">
                <a:solidFill>
                  <a:srgbClr val="FC0128"/>
                </a:solidFill>
                <a:latin typeface="Arial" panose="020B0604020202020204" pitchFamily="34" charset="0"/>
              </a:rPr>
              <a:t>USER_CONS_COLUMNS </a:t>
            </a:r>
            <a:r>
              <a:rPr lang="en-US" altLang="en-US">
                <a:latin typeface="Arial" panose="020B0604020202020204" pitchFamily="34" charset="0"/>
              </a:rPr>
              <a:t>data dictionary view. This view is especially useful for constraints that use the system-assigned name. </a:t>
            </a:r>
          </a:p>
        </p:txBody>
      </p:sp>
      <p:sp>
        <p:nvSpPr>
          <p:cNvPr id="56325" name="Rectangle 5">
            <a:extLst>
              <a:ext uri="{FF2B5EF4-FFF2-40B4-BE49-F238E27FC236}">
                <a16:creationId xmlns:a16="http://schemas.microsoft.com/office/drawing/2014/main" id="{140FB6B6-23C4-024E-6367-6EE5BAE2D134}"/>
              </a:ext>
            </a:extLst>
          </p:cNvPr>
          <p:cNvSpPr>
            <a:spLocks noGrp="1" noRot="1" noChangeArrowheads="1" noTextEdit="1"/>
          </p:cNvSpPr>
          <p:nvPr>
            <p:ph type="sldImg"/>
          </p:nvPr>
        </p:nvSpPr>
        <p:spPr>
          <a:xfrm>
            <a:off x="438150" y="160338"/>
            <a:ext cx="5976938" cy="4483100"/>
          </a:xfrm>
          <a:ln w="12700" cap="flat">
            <a:solidFill>
              <a:schemeClr val="tx1"/>
            </a:solid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7AF15092-F5BB-0E89-3F1A-5E30CD0B132D}"/>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58371" name="Rectangle 3">
            <a:extLst>
              <a:ext uri="{FF2B5EF4-FFF2-40B4-BE49-F238E27FC236}">
                <a16:creationId xmlns:a16="http://schemas.microsoft.com/office/drawing/2014/main" id="{7EB15F80-4E5D-BB9A-B3A0-0CCD9E49559A}"/>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Defining Constraints</a:t>
            </a:r>
          </a:p>
          <a:p>
            <a:pPr lvl="1"/>
            <a:r>
              <a:rPr lang="en-US" altLang="en-US">
                <a:latin typeface="Arial" panose="020B0604020202020204" pitchFamily="34" charset="0"/>
              </a:rPr>
              <a:t>The slide gives the syntax for defining constraints while creating a table.</a:t>
            </a:r>
          </a:p>
          <a:p>
            <a:pPr lvl="1"/>
            <a:r>
              <a:rPr lang="en-US" altLang="en-US">
                <a:latin typeface="Arial" panose="020B0604020202020204" pitchFamily="34" charset="0"/>
              </a:rPr>
              <a:t>In the syntax:</a:t>
            </a:r>
          </a:p>
          <a:p>
            <a:pPr lvl="1"/>
            <a:r>
              <a:rPr lang="en-US" altLang="en-US" i="1">
                <a:latin typeface="Arial" panose="020B0604020202020204" pitchFamily="34" charset="0"/>
              </a:rPr>
              <a:t>	schema</a:t>
            </a:r>
            <a:r>
              <a:rPr lang="en-US" altLang="en-US">
                <a:latin typeface="Arial" panose="020B0604020202020204" pitchFamily="34" charset="0"/>
              </a:rPr>
              <a:t>		is the same as the owner’s name</a:t>
            </a:r>
          </a:p>
          <a:p>
            <a:pPr lvl="1"/>
            <a:r>
              <a:rPr lang="en-US" altLang="en-US" i="1">
                <a:latin typeface="Arial" panose="020B0604020202020204" pitchFamily="34" charset="0"/>
              </a:rPr>
              <a:t>	table</a:t>
            </a:r>
            <a:r>
              <a:rPr lang="en-US" altLang="en-US">
                <a:latin typeface="Arial" panose="020B0604020202020204" pitchFamily="34" charset="0"/>
              </a:rPr>
              <a:t>			is the name of the table</a:t>
            </a:r>
          </a:p>
          <a:p>
            <a:pPr lvl="1"/>
            <a:r>
              <a:rPr lang="en-US" altLang="en-US">
                <a:latin typeface="Arial" panose="020B0604020202020204" pitchFamily="34" charset="0"/>
              </a:rPr>
              <a:t>	DEFAULT </a:t>
            </a:r>
            <a:r>
              <a:rPr lang="en-US" altLang="en-US" i="1">
                <a:latin typeface="Arial" panose="020B0604020202020204" pitchFamily="34" charset="0"/>
              </a:rPr>
              <a:t>expr	</a:t>
            </a:r>
            <a:r>
              <a:rPr lang="en-US" altLang="en-US">
                <a:latin typeface="Arial" panose="020B0604020202020204" pitchFamily="34" charset="0"/>
              </a:rPr>
              <a:t>specifies a default value if a value is omitted in the INSERT statement</a:t>
            </a:r>
          </a:p>
          <a:p>
            <a:pPr lvl="1"/>
            <a:r>
              <a:rPr lang="en-US" altLang="en-US" i="1">
                <a:latin typeface="Arial" panose="020B0604020202020204" pitchFamily="34" charset="0"/>
              </a:rPr>
              <a:t>	column</a:t>
            </a:r>
            <a:r>
              <a:rPr lang="en-US" altLang="en-US">
                <a:latin typeface="Arial" panose="020B0604020202020204" pitchFamily="34" charset="0"/>
              </a:rPr>
              <a:t>		is the name of the column</a:t>
            </a:r>
          </a:p>
          <a:p>
            <a:pPr lvl="1"/>
            <a:r>
              <a:rPr lang="en-US" altLang="en-US">
                <a:latin typeface="Arial" panose="020B0604020202020204" pitchFamily="34" charset="0"/>
              </a:rPr>
              <a:t>	</a:t>
            </a:r>
            <a:r>
              <a:rPr lang="en-US" altLang="en-US" i="1">
                <a:latin typeface="Arial" panose="020B0604020202020204" pitchFamily="34" charset="0"/>
              </a:rPr>
              <a:t>datatype</a:t>
            </a:r>
            <a:r>
              <a:rPr lang="en-US" altLang="en-US">
                <a:latin typeface="Arial" panose="020B0604020202020204" pitchFamily="34" charset="0"/>
              </a:rPr>
              <a:t>		is the column’s datatype and length</a:t>
            </a:r>
          </a:p>
          <a:p>
            <a:pPr lvl="1"/>
            <a:r>
              <a:rPr lang="en-US" altLang="en-US">
                <a:latin typeface="Arial" panose="020B0604020202020204" pitchFamily="34" charset="0"/>
              </a:rPr>
              <a:t>	</a:t>
            </a:r>
            <a:r>
              <a:rPr lang="en-US" altLang="en-US" i="1">
                <a:latin typeface="Arial" panose="020B0604020202020204" pitchFamily="34" charset="0"/>
              </a:rPr>
              <a:t>column_constraint</a:t>
            </a:r>
            <a:r>
              <a:rPr lang="en-US" altLang="en-US">
                <a:latin typeface="Arial" panose="020B0604020202020204" pitchFamily="34" charset="0"/>
              </a:rPr>
              <a:t>	is an integrity constraint as part of the column definition</a:t>
            </a:r>
          </a:p>
          <a:p>
            <a:pPr lvl="1"/>
            <a:r>
              <a:rPr lang="en-US" altLang="en-US" i="1">
                <a:latin typeface="Arial" panose="020B0604020202020204" pitchFamily="34" charset="0"/>
              </a:rPr>
              <a:t>	table_constraint</a:t>
            </a:r>
            <a:r>
              <a:rPr lang="en-US" altLang="en-US">
                <a:latin typeface="Arial" panose="020B0604020202020204" pitchFamily="34" charset="0"/>
              </a:rPr>
              <a:t>	is an integrity constraint as part of the table definition</a:t>
            </a:r>
          </a:p>
          <a:p>
            <a:pPr lvl="1"/>
            <a:r>
              <a:rPr lang="en-US" altLang="en-US">
                <a:latin typeface="Arial" panose="020B0604020202020204" pitchFamily="34" charset="0"/>
              </a:rPr>
              <a:t>For more information, see</a:t>
            </a:r>
            <a:br>
              <a:rPr lang="en-US" altLang="en-US">
                <a:latin typeface="Arial" panose="020B0604020202020204" pitchFamily="34" charset="0"/>
              </a:rPr>
            </a:br>
            <a:r>
              <a:rPr lang="en-US" altLang="en-US" i="1">
                <a:latin typeface="Arial" panose="020B0604020202020204" pitchFamily="34" charset="0"/>
              </a:rPr>
              <a:t>Oracle Server SQL Reference, </a:t>
            </a:r>
            <a:r>
              <a:rPr lang="en-US" altLang="en-US">
                <a:latin typeface="Arial" panose="020B0604020202020204" pitchFamily="34" charset="0"/>
              </a:rPr>
              <a:t>Release 8, “CREATE TABLE.”</a:t>
            </a:r>
          </a:p>
          <a:p>
            <a:endParaRPr lang="en-US" altLang="en-US" b="1">
              <a:latin typeface="Times New Roman" panose="02020603050405020304" pitchFamily="18" charset="0"/>
            </a:endParaRPr>
          </a:p>
        </p:txBody>
      </p:sp>
      <p:grpSp>
        <p:nvGrpSpPr>
          <p:cNvPr id="58372" name="Group 4">
            <a:extLst>
              <a:ext uri="{FF2B5EF4-FFF2-40B4-BE49-F238E27FC236}">
                <a16:creationId xmlns:a16="http://schemas.microsoft.com/office/drawing/2014/main" id="{28E66616-0EAF-19D9-82CB-09B0687CCB21}"/>
              </a:ext>
            </a:extLst>
          </p:cNvPr>
          <p:cNvGrpSpPr>
            <a:grpSpLocks/>
          </p:cNvGrpSpPr>
          <p:nvPr/>
        </p:nvGrpSpPr>
        <p:grpSpPr bwMode="auto">
          <a:xfrm>
            <a:off x="228600" y="7151688"/>
            <a:ext cx="296863" cy="295275"/>
            <a:chOff x="143" y="4423"/>
            <a:chExt cx="186" cy="183"/>
          </a:xfrm>
        </p:grpSpPr>
        <p:sp>
          <p:nvSpPr>
            <p:cNvPr id="58373" name="Freeform 5">
              <a:extLst>
                <a:ext uri="{FF2B5EF4-FFF2-40B4-BE49-F238E27FC236}">
                  <a16:creationId xmlns:a16="http://schemas.microsoft.com/office/drawing/2014/main" id="{58A09682-2F4B-023B-7F3F-53AD2204205F}"/>
                </a:ext>
              </a:extLst>
            </p:cNvPr>
            <p:cNvSpPr>
              <a:spLocks/>
            </p:cNvSpPr>
            <p:nvPr/>
          </p:nvSpPr>
          <p:spPr bwMode="auto">
            <a:xfrm>
              <a:off x="143" y="4423"/>
              <a:ext cx="177" cy="176"/>
            </a:xfrm>
            <a:custGeom>
              <a:avLst/>
              <a:gdLst>
                <a:gd name="T0" fmla="*/ 176 w 177"/>
                <a:gd name="T1" fmla="*/ 175 h 176"/>
                <a:gd name="T2" fmla="*/ 176 w 177"/>
                <a:gd name="T3" fmla="*/ 0 h 176"/>
                <a:gd name="T4" fmla="*/ 0 w 177"/>
                <a:gd name="T5" fmla="*/ 0 h 176"/>
                <a:gd name="T6" fmla="*/ 0 w 177"/>
                <a:gd name="T7" fmla="*/ 175 h 176"/>
                <a:gd name="T8" fmla="*/ 176 w 177"/>
                <a:gd name="T9" fmla="*/ 175 h 176"/>
                <a:gd name="T10" fmla="*/ 0 60000 65536"/>
                <a:gd name="T11" fmla="*/ 0 60000 65536"/>
                <a:gd name="T12" fmla="*/ 0 60000 65536"/>
                <a:gd name="T13" fmla="*/ 0 60000 65536"/>
                <a:gd name="T14" fmla="*/ 0 60000 65536"/>
                <a:gd name="T15" fmla="*/ 0 w 177"/>
                <a:gd name="T16" fmla="*/ 0 h 176"/>
                <a:gd name="T17" fmla="*/ 177 w 177"/>
                <a:gd name="T18" fmla="*/ 176 h 176"/>
              </a:gdLst>
              <a:ahLst/>
              <a:cxnLst>
                <a:cxn ang="T10">
                  <a:pos x="T0" y="T1"/>
                </a:cxn>
                <a:cxn ang="T11">
                  <a:pos x="T2" y="T3"/>
                </a:cxn>
                <a:cxn ang="T12">
                  <a:pos x="T4" y="T5"/>
                </a:cxn>
                <a:cxn ang="T13">
                  <a:pos x="T6" y="T7"/>
                </a:cxn>
                <a:cxn ang="T14">
                  <a:pos x="T8" y="T9"/>
                </a:cxn>
              </a:cxnLst>
              <a:rect l="T15" t="T16" r="T17" b="T18"/>
              <a:pathLst>
                <a:path w="177" h="176">
                  <a:moveTo>
                    <a:pt x="176" y="175"/>
                  </a:moveTo>
                  <a:lnTo>
                    <a:pt x="176" y="0"/>
                  </a:lnTo>
                  <a:lnTo>
                    <a:pt x="0" y="0"/>
                  </a:lnTo>
                  <a:lnTo>
                    <a:pt x="0" y="175"/>
                  </a:lnTo>
                  <a:lnTo>
                    <a:pt x="176" y="17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74" name="Freeform 6">
              <a:extLst>
                <a:ext uri="{FF2B5EF4-FFF2-40B4-BE49-F238E27FC236}">
                  <a16:creationId xmlns:a16="http://schemas.microsoft.com/office/drawing/2014/main" id="{A7731926-2606-6263-068C-94D6F25C5405}"/>
                </a:ext>
              </a:extLst>
            </p:cNvPr>
            <p:cNvSpPr>
              <a:spLocks/>
            </p:cNvSpPr>
            <p:nvPr/>
          </p:nvSpPr>
          <p:spPr bwMode="auto">
            <a:xfrm>
              <a:off x="204" y="4489"/>
              <a:ext cx="70" cy="36"/>
            </a:xfrm>
            <a:custGeom>
              <a:avLst/>
              <a:gdLst>
                <a:gd name="T0" fmla="*/ 69 w 70"/>
                <a:gd name="T1" fmla="*/ 6 h 36"/>
                <a:gd name="T2" fmla="*/ 65 w 70"/>
                <a:gd name="T3" fmla="*/ 0 h 36"/>
                <a:gd name="T4" fmla="*/ 0 w 70"/>
                <a:gd name="T5" fmla="*/ 28 h 36"/>
                <a:gd name="T6" fmla="*/ 3 w 70"/>
                <a:gd name="T7" fmla="*/ 35 h 36"/>
                <a:gd name="T8" fmla="*/ 69 w 70"/>
                <a:gd name="T9" fmla="*/ 6 h 36"/>
                <a:gd name="T10" fmla="*/ 0 60000 65536"/>
                <a:gd name="T11" fmla="*/ 0 60000 65536"/>
                <a:gd name="T12" fmla="*/ 0 60000 65536"/>
                <a:gd name="T13" fmla="*/ 0 60000 65536"/>
                <a:gd name="T14" fmla="*/ 0 60000 65536"/>
                <a:gd name="T15" fmla="*/ 0 w 70"/>
                <a:gd name="T16" fmla="*/ 0 h 36"/>
                <a:gd name="T17" fmla="*/ 70 w 70"/>
                <a:gd name="T18" fmla="*/ 36 h 36"/>
              </a:gdLst>
              <a:ahLst/>
              <a:cxnLst>
                <a:cxn ang="T10">
                  <a:pos x="T0" y="T1"/>
                </a:cxn>
                <a:cxn ang="T11">
                  <a:pos x="T2" y="T3"/>
                </a:cxn>
                <a:cxn ang="T12">
                  <a:pos x="T4" y="T5"/>
                </a:cxn>
                <a:cxn ang="T13">
                  <a:pos x="T6" y="T7"/>
                </a:cxn>
                <a:cxn ang="T14">
                  <a:pos x="T8" y="T9"/>
                </a:cxn>
              </a:cxnLst>
              <a:rect l="T15" t="T16" r="T17" b="T18"/>
              <a:pathLst>
                <a:path w="70" h="36">
                  <a:moveTo>
                    <a:pt x="69" y="6"/>
                  </a:moveTo>
                  <a:lnTo>
                    <a:pt x="65" y="0"/>
                  </a:lnTo>
                  <a:lnTo>
                    <a:pt x="0" y="28"/>
                  </a:lnTo>
                  <a:lnTo>
                    <a:pt x="3" y="35"/>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75" name="Freeform 7">
              <a:extLst>
                <a:ext uri="{FF2B5EF4-FFF2-40B4-BE49-F238E27FC236}">
                  <a16:creationId xmlns:a16="http://schemas.microsoft.com/office/drawing/2014/main" id="{F6FE2D8F-D85C-11FE-ADE1-A8A35BA4B768}"/>
                </a:ext>
              </a:extLst>
            </p:cNvPr>
            <p:cNvSpPr>
              <a:spLocks/>
            </p:cNvSpPr>
            <p:nvPr/>
          </p:nvSpPr>
          <p:spPr bwMode="auto">
            <a:xfrm>
              <a:off x="213" y="4505"/>
              <a:ext cx="68" cy="36"/>
            </a:xfrm>
            <a:custGeom>
              <a:avLst/>
              <a:gdLst>
                <a:gd name="T0" fmla="*/ 67 w 68"/>
                <a:gd name="T1" fmla="*/ 6 h 36"/>
                <a:gd name="T2" fmla="*/ 64 w 68"/>
                <a:gd name="T3" fmla="*/ 0 h 36"/>
                <a:gd name="T4" fmla="*/ 0 w 68"/>
                <a:gd name="T5" fmla="*/ 28 h 36"/>
                <a:gd name="T6" fmla="*/ 2 w 68"/>
                <a:gd name="T7" fmla="*/ 35 h 36"/>
                <a:gd name="T8" fmla="*/ 67 w 68"/>
                <a:gd name="T9" fmla="*/ 6 h 36"/>
                <a:gd name="T10" fmla="*/ 0 60000 65536"/>
                <a:gd name="T11" fmla="*/ 0 60000 65536"/>
                <a:gd name="T12" fmla="*/ 0 60000 65536"/>
                <a:gd name="T13" fmla="*/ 0 60000 65536"/>
                <a:gd name="T14" fmla="*/ 0 60000 65536"/>
                <a:gd name="T15" fmla="*/ 0 w 68"/>
                <a:gd name="T16" fmla="*/ 0 h 36"/>
                <a:gd name="T17" fmla="*/ 68 w 68"/>
                <a:gd name="T18" fmla="*/ 36 h 36"/>
              </a:gdLst>
              <a:ahLst/>
              <a:cxnLst>
                <a:cxn ang="T10">
                  <a:pos x="T0" y="T1"/>
                </a:cxn>
                <a:cxn ang="T11">
                  <a:pos x="T2" y="T3"/>
                </a:cxn>
                <a:cxn ang="T12">
                  <a:pos x="T4" y="T5"/>
                </a:cxn>
                <a:cxn ang="T13">
                  <a:pos x="T6" y="T7"/>
                </a:cxn>
                <a:cxn ang="T14">
                  <a:pos x="T8" y="T9"/>
                </a:cxn>
              </a:cxnLst>
              <a:rect l="T15" t="T16" r="T17" b="T18"/>
              <a:pathLst>
                <a:path w="68" h="36">
                  <a:moveTo>
                    <a:pt x="67" y="6"/>
                  </a:moveTo>
                  <a:lnTo>
                    <a:pt x="64" y="0"/>
                  </a:lnTo>
                  <a:lnTo>
                    <a:pt x="0" y="28"/>
                  </a:lnTo>
                  <a:lnTo>
                    <a:pt x="2" y="35"/>
                  </a:lnTo>
                  <a:lnTo>
                    <a:pt x="67"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76" name="Freeform 8">
              <a:extLst>
                <a:ext uri="{FF2B5EF4-FFF2-40B4-BE49-F238E27FC236}">
                  <a16:creationId xmlns:a16="http://schemas.microsoft.com/office/drawing/2014/main" id="{00DC0426-3471-F3F3-BB35-FC4A56B6BD09}"/>
                </a:ext>
              </a:extLst>
            </p:cNvPr>
            <p:cNvSpPr>
              <a:spLocks/>
            </p:cNvSpPr>
            <p:nvPr/>
          </p:nvSpPr>
          <p:spPr bwMode="auto">
            <a:xfrm>
              <a:off x="219" y="4521"/>
              <a:ext cx="68" cy="35"/>
            </a:xfrm>
            <a:custGeom>
              <a:avLst/>
              <a:gdLst>
                <a:gd name="T0" fmla="*/ 67 w 68"/>
                <a:gd name="T1" fmla="*/ 6 h 35"/>
                <a:gd name="T2" fmla="*/ 64 w 68"/>
                <a:gd name="T3" fmla="*/ 0 h 35"/>
                <a:gd name="T4" fmla="*/ 0 w 68"/>
                <a:gd name="T5" fmla="*/ 27 h 35"/>
                <a:gd name="T6" fmla="*/ 2 w 68"/>
                <a:gd name="T7" fmla="*/ 34 h 35"/>
                <a:gd name="T8" fmla="*/ 67 w 68"/>
                <a:gd name="T9" fmla="*/ 6 h 35"/>
                <a:gd name="T10" fmla="*/ 0 60000 65536"/>
                <a:gd name="T11" fmla="*/ 0 60000 65536"/>
                <a:gd name="T12" fmla="*/ 0 60000 65536"/>
                <a:gd name="T13" fmla="*/ 0 60000 65536"/>
                <a:gd name="T14" fmla="*/ 0 60000 65536"/>
                <a:gd name="T15" fmla="*/ 0 w 68"/>
                <a:gd name="T16" fmla="*/ 0 h 35"/>
                <a:gd name="T17" fmla="*/ 68 w 68"/>
                <a:gd name="T18" fmla="*/ 35 h 35"/>
              </a:gdLst>
              <a:ahLst/>
              <a:cxnLst>
                <a:cxn ang="T10">
                  <a:pos x="T0" y="T1"/>
                </a:cxn>
                <a:cxn ang="T11">
                  <a:pos x="T2" y="T3"/>
                </a:cxn>
                <a:cxn ang="T12">
                  <a:pos x="T4" y="T5"/>
                </a:cxn>
                <a:cxn ang="T13">
                  <a:pos x="T6" y="T7"/>
                </a:cxn>
                <a:cxn ang="T14">
                  <a:pos x="T8" y="T9"/>
                </a:cxn>
              </a:cxnLst>
              <a:rect l="T15" t="T16" r="T17" b="T18"/>
              <a:pathLst>
                <a:path w="68" h="35">
                  <a:moveTo>
                    <a:pt x="67" y="6"/>
                  </a:moveTo>
                  <a:lnTo>
                    <a:pt x="64" y="0"/>
                  </a:lnTo>
                  <a:lnTo>
                    <a:pt x="0" y="27"/>
                  </a:lnTo>
                  <a:lnTo>
                    <a:pt x="2" y="34"/>
                  </a:lnTo>
                  <a:lnTo>
                    <a:pt x="67"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77" name="Freeform 9">
              <a:extLst>
                <a:ext uri="{FF2B5EF4-FFF2-40B4-BE49-F238E27FC236}">
                  <a16:creationId xmlns:a16="http://schemas.microsoft.com/office/drawing/2014/main" id="{DA3AF411-97EF-0560-782B-CBAF7BF3C60B}"/>
                </a:ext>
              </a:extLst>
            </p:cNvPr>
            <p:cNvSpPr>
              <a:spLocks/>
            </p:cNvSpPr>
            <p:nvPr/>
          </p:nvSpPr>
          <p:spPr bwMode="auto">
            <a:xfrm>
              <a:off x="227" y="4537"/>
              <a:ext cx="70" cy="36"/>
            </a:xfrm>
            <a:custGeom>
              <a:avLst/>
              <a:gdLst>
                <a:gd name="T0" fmla="*/ 69 w 70"/>
                <a:gd name="T1" fmla="*/ 6 h 36"/>
                <a:gd name="T2" fmla="*/ 65 w 70"/>
                <a:gd name="T3" fmla="*/ 0 h 36"/>
                <a:gd name="T4" fmla="*/ 0 w 70"/>
                <a:gd name="T5" fmla="*/ 28 h 36"/>
                <a:gd name="T6" fmla="*/ 3 w 70"/>
                <a:gd name="T7" fmla="*/ 35 h 36"/>
                <a:gd name="T8" fmla="*/ 69 w 70"/>
                <a:gd name="T9" fmla="*/ 6 h 36"/>
                <a:gd name="T10" fmla="*/ 0 60000 65536"/>
                <a:gd name="T11" fmla="*/ 0 60000 65536"/>
                <a:gd name="T12" fmla="*/ 0 60000 65536"/>
                <a:gd name="T13" fmla="*/ 0 60000 65536"/>
                <a:gd name="T14" fmla="*/ 0 60000 65536"/>
                <a:gd name="T15" fmla="*/ 0 w 70"/>
                <a:gd name="T16" fmla="*/ 0 h 36"/>
                <a:gd name="T17" fmla="*/ 70 w 70"/>
                <a:gd name="T18" fmla="*/ 36 h 36"/>
              </a:gdLst>
              <a:ahLst/>
              <a:cxnLst>
                <a:cxn ang="T10">
                  <a:pos x="T0" y="T1"/>
                </a:cxn>
                <a:cxn ang="T11">
                  <a:pos x="T2" y="T3"/>
                </a:cxn>
                <a:cxn ang="T12">
                  <a:pos x="T4" y="T5"/>
                </a:cxn>
                <a:cxn ang="T13">
                  <a:pos x="T6" y="T7"/>
                </a:cxn>
                <a:cxn ang="T14">
                  <a:pos x="T8" y="T9"/>
                </a:cxn>
              </a:cxnLst>
              <a:rect l="T15" t="T16" r="T17" b="T18"/>
              <a:pathLst>
                <a:path w="70" h="36">
                  <a:moveTo>
                    <a:pt x="69" y="6"/>
                  </a:moveTo>
                  <a:lnTo>
                    <a:pt x="65" y="0"/>
                  </a:lnTo>
                  <a:lnTo>
                    <a:pt x="0" y="28"/>
                  </a:lnTo>
                  <a:lnTo>
                    <a:pt x="3" y="35"/>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78" name="Freeform 10">
              <a:extLst>
                <a:ext uri="{FF2B5EF4-FFF2-40B4-BE49-F238E27FC236}">
                  <a16:creationId xmlns:a16="http://schemas.microsoft.com/office/drawing/2014/main" id="{66410F09-F00B-340D-DBDF-13F7AEC6DEF3}"/>
                </a:ext>
              </a:extLst>
            </p:cNvPr>
            <p:cNvSpPr>
              <a:spLocks/>
            </p:cNvSpPr>
            <p:nvPr/>
          </p:nvSpPr>
          <p:spPr bwMode="auto">
            <a:xfrm>
              <a:off x="235" y="4553"/>
              <a:ext cx="69" cy="37"/>
            </a:xfrm>
            <a:custGeom>
              <a:avLst/>
              <a:gdLst>
                <a:gd name="T0" fmla="*/ 68 w 69"/>
                <a:gd name="T1" fmla="*/ 7 h 37"/>
                <a:gd name="T2" fmla="*/ 65 w 69"/>
                <a:gd name="T3" fmla="*/ 0 h 37"/>
                <a:gd name="T4" fmla="*/ 0 w 69"/>
                <a:gd name="T5" fmla="*/ 29 h 37"/>
                <a:gd name="T6" fmla="*/ 3 w 69"/>
                <a:gd name="T7" fmla="*/ 36 h 37"/>
                <a:gd name="T8" fmla="*/ 68 w 69"/>
                <a:gd name="T9" fmla="*/ 7 h 37"/>
                <a:gd name="T10" fmla="*/ 0 60000 65536"/>
                <a:gd name="T11" fmla="*/ 0 60000 65536"/>
                <a:gd name="T12" fmla="*/ 0 60000 65536"/>
                <a:gd name="T13" fmla="*/ 0 60000 65536"/>
                <a:gd name="T14" fmla="*/ 0 60000 65536"/>
                <a:gd name="T15" fmla="*/ 0 w 69"/>
                <a:gd name="T16" fmla="*/ 0 h 37"/>
                <a:gd name="T17" fmla="*/ 69 w 69"/>
                <a:gd name="T18" fmla="*/ 37 h 37"/>
              </a:gdLst>
              <a:ahLst/>
              <a:cxnLst>
                <a:cxn ang="T10">
                  <a:pos x="T0" y="T1"/>
                </a:cxn>
                <a:cxn ang="T11">
                  <a:pos x="T2" y="T3"/>
                </a:cxn>
                <a:cxn ang="T12">
                  <a:pos x="T4" y="T5"/>
                </a:cxn>
                <a:cxn ang="T13">
                  <a:pos x="T6" y="T7"/>
                </a:cxn>
                <a:cxn ang="T14">
                  <a:pos x="T8" y="T9"/>
                </a:cxn>
              </a:cxnLst>
              <a:rect l="T15" t="T16" r="T17" b="T18"/>
              <a:pathLst>
                <a:path w="69" h="37">
                  <a:moveTo>
                    <a:pt x="68" y="7"/>
                  </a:moveTo>
                  <a:lnTo>
                    <a:pt x="65" y="0"/>
                  </a:lnTo>
                  <a:lnTo>
                    <a:pt x="0" y="29"/>
                  </a:lnTo>
                  <a:lnTo>
                    <a:pt x="3" y="36"/>
                  </a:lnTo>
                  <a:lnTo>
                    <a:pt x="68"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79" name="Freeform 11">
              <a:extLst>
                <a:ext uri="{FF2B5EF4-FFF2-40B4-BE49-F238E27FC236}">
                  <a16:creationId xmlns:a16="http://schemas.microsoft.com/office/drawing/2014/main" id="{070563A9-88F6-0A2E-485C-5CB9CF65E2FC}"/>
                </a:ext>
              </a:extLst>
            </p:cNvPr>
            <p:cNvSpPr>
              <a:spLocks/>
            </p:cNvSpPr>
            <p:nvPr/>
          </p:nvSpPr>
          <p:spPr bwMode="auto">
            <a:xfrm>
              <a:off x="164" y="4452"/>
              <a:ext cx="121" cy="58"/>
            </a:xfrm>
            <a:custGeom>
              <a:avLst/>
              <a:gdLst>
                <a:gd name="T0" fmla="*/ 120 w 121"/>
                <a:gd name="T1" fmla="*/ 7 h 58"/>
                <a:gd name="T2" fmla="*/ 118 w 121"/>
                <a:gd name="T3" fmla="*/ 0 h 58"/>
                <a:gd name="T4" fmla="*/ 0 w 121"/>
                <a:gd name="T5" fmla="*/ 50 h 58"/>
                <a:gd name="T6" fmla="*/ 2 w 121"/>
                <a:gd name="T7" fmla="*/ 57 h 58"/>
                <a:gd name="T8" fmla="*/ 120 w 121"/>
                <a:gd name="T9" fmla="*/ 7 h 58"/>
                <a:gd name="T10" fmla="*/ 0 60000 65536"/>
                <a:gd name="T11" fmla="*/ 0 60000 65536"/>
                <a:gd name="T12" fmla="*/ 0 60000 65536"/>
                <a:gd name="T13" fmla="*/ 0 60000 65536"/>
                <a:gd name="T14" fmla="*/ 0 60000 65536"/>
                <a:gd name="T15" fmla="*/ 0 w 121"/>
                <a:gd name="T16" fmla="*/ 0 h 58"/>
                <a:gd name="T17" fmla="*/ 121 w 121"/>
                <a:gd name="T18" fmla="*/ 58 h 58"/>
              </a:gdLst>
              <a:ahLst/>
              <a:cxnLst>
                <a:cxn ang="T10">
                  <a:pos x="T0" y="T1"/>
                </a:cxn>
                <a:cxn ang="T11">
                  <a:pos x="T2" y="T3"/>
                </a:cxn>
                <a:cxn ang="T12">
                  <a:pos x="T4" y="T5"/>
                </a:cxn>
                <a:cxn ang="T13">
                  <a:pos x="T6" y="T7"/>
                </a:cxn>
                <a:cxn ang="T14">
                  <a:pos x="T8" y="T9"/>
                </a:cxn>
              </a:cxnLst>
              <a:rect l="T15" t="T16" r="T17" b="T18"/>
              <a:pathLst>
                <a:path w="121" h="58">
                  <a:moveTo>
                    <a:pt x="120" y="7"/>
                  </a:moveTo>
                  <a:lnTo>
                    <a:pt x="118" y="0"/>
                  </a:lnTo>
                  <a:lnTo>
                    <a:pt x="0" y="50"/>
                  </a:lnTo>
                  <a:lnTo>
                    <a:pt x="2" y="57"/>
                  </a:lnTo>
                  <a:lnTo>
                    <a:pt x="120"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80" name="Freeform 12">
              <a:extLst>
                <a:ext uri="{FF2B5EF4-FFF2-40B4-BE49-F238E27FC236}">
                  <a16:creationId xmlns:a16="http://schemas.microsoft.com/office/drawing/2014/main" id="{B092A031-0A64-C896-F50C-8AB5185940B8}"/>
                </a:ext>
              </a:extLst>
            </p:cNvPr>
            <p:cNvSpPr>
              <a:spLocks/>
            </p:cNvSpPr>
            <p:nvPr/>
          </p:nvSpPr>
          <p:spPr bwMode="auto">
            <a:xfrm>
              <a:off x="147" y="4440"/>
              <a:ext cx="123" cy="59"/>
            </a:xfrm>
            <a:custGeom>
              <a:avLst/>
              <a:gdLst>
                <a:gd name="T0" fmla="*/ 122 w 123"/>
                <a:gd name="T1" fmla="*/ 7 h 59"/>
                <a:gd name="T2" fmla="*/ 119 w 123"/>
                <a:gd name="T3" fmla="*/ 0 h 59"/>
                <a:gd name="T4" fmla="*/ 0 w 123"/>
                <a:gd name="T5" fmla="*/ 51 h 59"/>
                <a:gd name="T6" fmla="*/ 2 w 123"/>
                <a:gd name="T7" fmla="*/ 58 h 59"/>
                <a:gd name="T8" fmla="*/ 122 w 123"/>
                <a:gd name="T9" fmla="*/ 7 h 59"/>
                <a:gd name="T10" fmla="*/ 0 60000 65536"/>
                <a:gd name="T11" fmla="*/ 0 60000 65536"/>
                <a:gd name="T12" fmla="*/ 0 60000 65536"/>
                <a:gd name="T13" fmla="*/ 0 60000 65536"/>
                <a:gd name="T14" fmla="*/ 0 60000 65536"/>
                <a:gd name="T15" fmla="*/ 0 w 123"/>
                <a:gd name="T16" fmla="*/ 0 h 59"/>
                <a:gd name="T17" fmla="*/ 123 w 123"/>
                <a:gd name="T18" fmla="*/ 59 h 59"/>
              </a:gdLst>
              <a:ahLst/>
              <a:cxnLst>
                <a:cxn ang="T10">
                  <a:pos x="T0" y="T1"/>
                </a:cxn>
                <a:cxn ang="T11">
                  <a:pos x="T2" y="T3"/>
                </a:cxn>
                <a:cxn ang="T12">
                  <a:pos x="T4" y="T5"/>
                </a:cxn>
                <a:cxn ang="T13">
                  <a:pos x="T6" y="T7"/>
                </a:cxn>
                <a:cxn ang="T14">
                  <a:pos x="T8" y="T9"/>
                </a:cxn>
              </a:cxnLst>
              <a:rect l="T15" t="T16" r="T17" b="T18"/>
              <a:pathLst>
                <a:path w="123" h="59">
                  <a:moveTo>
                    <a:pt x="122" y="7"/>
                  </a:moveTo>
                  <a:lnTo>
                    <a:pt x="119" y="0"/>
                  </a:lnTo>
                  <a:lnTo>
                    <a:pt x="0" y="51"/>
                  </a:lnTo>
                  <a:lnTo>
                    <a:pt x="2" y="58"/>
                  </a:lnTo>
                  <a:lnTo>
                    <a:pt x="122"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81" name="Freeform 13">
              <a:extLst>
                <a:ext uri="{FF2B5EF4-FFF2-40B4-BE49-F238E27FC236}">
                  <a16:creationId xmlns:a16="http://schemas.microsoft.com/office/drawing/2014/main" id="{489BEAE6-C693-12AD-31A0-5ED7F2862BCE}"/>
                </a:ext>
              </a:extLst>
            </p:cNvPr>
            <p:cNvSpPr>
              <a:spLocks/>
            </p:cNvSpPr>
            <p:nvPr/>
          </p:nvSpPr>
          <p:spPr bwMode="auto">
            <a:xfrm>
              <a:off x="274" y="4454"/>
              <a:ext cx="55" cy="104"/>
            </a:xfrm>
            <a:custGeom>
              <a:avLst/>
              <a:gdLst>
                <a:gd name="T0" fmla="*/ 46 w 55"/>
                <a:gd name="T1" fmla="*/ 103 h 104"/>
                <a:gd name="T2" fmla="*/ 54 w 55"/>
                <a:gd name="T3" fmla="*/ 100 h 104"/>
                <a:gd name="T4" fmla="*/ 7 w 55"/>
                <a:gd name="T5" fmla="*/ 0 h 104"/>
                <a:gd name="T6" fmla="*/ 0 w 55"/>
                <a:gd name="T7" fmla="*/ 2 h 104"/>
                <a:gd name="T8" fmla="*/ 46 w 55"/>
                <a:gd name="T9" fmla="*/ 103 h 104"/>
                <a:gd name="T10" fmla="*/ 0 60000 65536"/>
                <a:gd name="T11" fmla="*/ 0 60000 65536"/>
                <a:gd name="T12" fmla="*/ 0 60000 65536"/>
                <a:gd name="T13" fmla="*/ 0 60000 65536"/>
                <a:gd name="T14" fmla="*/ 0 60000 65536"/>
                <a:gd name="T15" fmla="*/ 0 w 55"/>
                <a:gd name="T16" fmla="*/ 0 h 104"/>
                <a:gd name="T17" fmla="*/ 55 w 55"/>
                <a:gd name="T18" fmla="*/ 104 h 104"/>
              </a:gdLst>
              <a:ahLst/>
              <a:cxnLst>
                <a:cxn ang="T10">
                  <a:pos x="T0" y="T1"/>
                </a:cxn>
                <a:cxn ang="T11">
                  <a:pos x="T2" y="T3"/>
                </a:cxn>
                <a:cxn ang="T12">
                  <a:pos x="T4" y="T5"/>
                </a:cxn>
                <a:cxn ang="T13">
                  <a:pos x="T6" y="T7"/>
                </a:cxn>
                <a:cxn ang="T14">
                  <a:pos x="T8" y="T9"/>
                </a:cxn>
              </a:cxnLst>
              <a:rect l="T15" t="T16" r="T17" b="T18"/>
              <a:pathLst>
                <a:path w="55" h="104">
                  <a:moveTo>
                    <a:pt x="46" y="103"/>
                  </a:moveTo>
                  <a:lnTo>
                    <a:pt x="54" y="100"/>
                  </a:lnTo>
                  <a:lnTo>
                    <a:pt x="7" y="0"/>
                  </a:lnTo>
                  <a:lnTo>
                    <a:pt x="0" y="2"/>
                  </a:lnTo>
                  <a:lnTo>
                    <a:pt x="46" y="103"/>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82" name="Freeform 14">
              <a:extLst>
                <a:ext uri="{FF2B5EF4-FFF2-40B4-BE49-F238E27FC236}">
                  <a16:creationId xmlns:a16="http://schemas.microsoft.com/office/drawing/2014/main" id="{061F4DFA-5E14-8D93-C17B-DE944F9235E6}"/>
                </a:ext>
              </a:extLst>
            </p:cNvPr>
            <p:cNvSpPr>
              <a:spLocks/>
            </p:cNvSpPr>
            <p:nvPr/>
          </p:nvSpPr>
          <p:spPr bwMode="auto">
            <a:xfrm>
              <a:off x="164" y="4499"/>
              <a:ext cx="53" cy="107"/>
            </a:xfrm>
            <a:custGeom>
              <a:avLst/>
              <a:gdLst>
                <a:gd name="T0" fmla="*/ 45 w 53"/>
                <a:gd name="T1" fmla="*/ 106 h 107"/>
                <a:gd name="T2" fmla="*/ 52 w 53"/>
                <a:gd name="T3" fmla="*/ 102 h 107"/>
                <a:gd name="T4" fmla="*/ 6 w 53"/>
                <a:gd name="T5" fmla="*/ 0 h 107"/>
                <a:gd name="T6" fmla="*/ 0 w 53"/>
                <a:gd name="T7" fmla="*/ 4 h 107"/>
                <a:gd name="T8" fmla="*/ 45 w 53"/>
                <a:gd name="T9" fmla="*/ 106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45" y="106"/>
                  </a:moveTo>
                  <a:lnTo>
                    <a:pt x="52" y="102"/>
                  </a:lnTo>
                  <a:lnTo>
                    <a:pt x="6" y="0"/>
                  </a:lnTo>
                  <a:lnTo>
                    <a:pt x="0" y="4"/>
                  </a:lnTo>
                  <a:lnTo>
                    <a:pt x="45" y="10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83" name="Freeform 15">
              <a:extLst>
                <a:ext uri="{FF2B5EF4-FFF2-40B4-BE49-F238E27FC236}">
                  <a16:creationId xmlns:a16="http://schemas.microsoft.com/office/drawing/2014/main" id="{CA428EBE-57D4-44F2-A90B-4E2AF799DB5D}"/>
                </a:ext>
              </a:extLst>
            </p:cNvPr>
            <p:cNvSpPr>
              <a:spLocks/>
            </p:cNvSpPr>
            <p:nvPr/>
          </p:nvSpPr>
          <p:spPr bwMode="auto">
            <a:xfrm>
              <a:off x="143" y="4491"/>
              <a:ext cx="58" cy="115"/>
            </a:xfrm>
            <a:custGeom>
              <a:avLst/>
              <a:gdLst>
                <a:gd name="T0" fmla="*/ 50 w 58"/>
                <a:gd name="T1" fmla="*/ 114 h 115"/>
                <a:gd name="T2" fmla="*/ 57 w 58"/>
                <a:gd name="T3" fmla="*/ 111 h 115"/>
                <a:gd name="T4" fmla="*/ 5 w 58"/>
                <a:gd name="T5" fmla="*/ 0 h 115"/>
                <a:gd name="T6" fmla="*/ 0 w 58"/>
                <a:gd name="T7" fmla="*/ 2 h 115"/>
                <a:gd name="T8" fmla="*/ 50 w 58"/>
                <a:gd name="T9" fmla="*/ 114 h 115"/>
                <a:gd name="T10" fmla="*/ 0 60000 65536"/>
                <a:gd name="T11" fmla="*/ 0 60000 65536"/>
                <a:gd name="T12" fmla="*/ 0 60000 65536"/>
                <a:gd name="T13" fmla="*/ 0 60000 65536"/>
                <a:gd name="T14" fmla="*/ 0 60000 65536"/>
                <a:gd name="T15" fmla="*/ 0 w 58"/>
                <a:gd name="T16" fmla="*/ 0 h 115"/>
                <a:gd name="T17" fmla="*/ 58 w 58"/>
                <a:gd name="T18" fmla="*/ 115 h 115"/>
              </a:gdLst>
              <a:ahLst/>
              <a:cxnLst>
                <a:cxn ang="T10">
                  <a:pos x="T0" y="T1"/>
                </a:cxn>
                <a:cxn ang="T11">
                  <a:pos x="T2" y="T3"/>
                </a:cxn>
                <a:cxn ang="T12">
                  <a:pos x="T4" y="T5"/>
                </a:cxn>
                <a:cxn ang="T13">
                  <a:pos x="T6" y="T7"/>
                </a:cxn>
                <a:cxn ang="T14">
                  <a:pos x="T8" y="T9"/>
                </a:cxn>
              </a:cxnLst>
              <a:rect l="T15" t="T16" r="T17" b="T18"/>
              <a:pathLst>
                <a:path w="58" h="115">
                  <a:moveTo>
                    <a:pt x="50" y="114"/>
                  </a:moveTo>
                  <a:lnTo>
                    <a:pt x="57" y="111"/>
                  </a:lnTo>
                  <a:lnTo>
                    <a:pt x="5" y="0"/>
                  </a:lnTo>
                  <a:lnTo>
                    <a:pt x="0" y="2"/>
                  </a:lnTo>
                  <a:lnTo>
                    <a:pt x="50"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84" name="Freeform 16">
              <a:extLst>
                <a:ext uri="{FF2B5EF4-FFF2-40B4-BE49-F238E27FC236}">
                  <a16:creationId xmlns:a16="http://schemas.microsoft.com/office/drawing/2014/main" id="{9EF40E95-FC1B-28A9-5E26-0C64D1F7E854}"/>
                </a:ext>
              </a:extLst>
            </p:cNvPr>
            <p:cNvSpPr>
              <a:spLocks/>
            </p:cNvSpPr>
            <p:nvPr/>
          </p:nvSpPr>
          <p:spPr bwMode="auto">
            <a:xfrm>
              <a:off x="146" y="4491"/>
              <a:ext cx="28" cy="18"/>
            </a:xfrm>
            <a:custGeom>
              <a:avLst/>
              <a:gdLst>
                <a:gd name="T0" fmla="*/ 23 w 28"/>
                <a:gd name="T1" fmla="*/ 17 h 18"/>
                <a:gd name="T2" fmla="*/ 27 w 28"/>
                <a:gd name="T3" fmla="*/ 10 h 18"/>
                <a:gd name="T4" fmla="*/ 4 w 28"/>
                <a:gd name="T5" fmla="*/ 0 h 18"/>
                <a:gd name="T6" fmla="*/ 0 w 28"/>
                <a:gd name="T7" fmla="*/ 6 h 18"/>
                <a:gd name="T8" fmla="*/ 23 w 28"/>
                <a:gd name="T9" fmla="*/ 17 h 18"/>
                <a:gd name="T10" fmla="*/ 0 60000 65536"/>
                <a:gd name="T11" fmla="*/ 0 60000 65536"/>
                <a:gd name="T12" fmla="*/ 0 60000 65536"/>
                <a:gd name="T13" fmla="*/ 0 60000 65536"/>
                <a:gd name="T14" fmla="*/ 0 60000 65536"/>
                <a:gd name="T15" fmla="*/ 0 w 28"/>
                <a:gd name="T16" fmla="*/ 0 h 18"/>
                <a:gd name="T17" fmla="*/ 28 w 28"/>
                <a:gd name="T18" fmla="*/ 18 h 18"/>
              </a:gdLst>
              <a:ahLst/>
              <a:cxnLst>
                <a:cxn ang="T10">
                  <a:pos x="T0" y="T1"/>
                </a:cxn>
                <a:cxn ang="T11">
                  <a:pos x="T2" y="T3"/>
                </a:cxn>
                <a:cxn ang="T12">
                  <a:pos x="T4" y="T5"/>
                </a:cxn>
                <a:cxn ang="T13">
                  <a:pos x="T6" y="T7"/>
                </a:cxn>
                <a:cxn ang="T14">
                  <a:pos x="T8" y="T9"/>
                </a:cxn>
              </a:cxnLst>
              <a:rect l="T15" t="T16" r="T17" b="T18"/>
              <a:pathLst>
                <a:path w="28" h="18">
                  <a:moveTo>
                    <a:pt x="23" y="17"/>
                  </a:moveTo>
                  <a:lnTo>
                    <a:pt x="27" y="10"/>
                  </a:lnTo>
                  <a:lnTo>
                    <a:pt x="4" y="0"/>
                  </a:lnTo>
                  <a:lnTo>
                    <a:pt x="0" y="6"/>
                  </a:lnTo>
                  <a:lnTo>
                    <a:pt x="2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8385" name="Freeform 17">
              <a:extLst>
                <a:ext uri="{FF2B5EF4-FFF2-40B4-BE49-F238E27FC236}">
                  <a16:creationId xmlns:a16="http://schemas.microsoft.com/office/drawing/2014/main" id="{9BC8926E-4437-EFF7-0633-A7B397549991}"/>
                </a:ext>
              </a:extLst>
            </p:cNvPr>
            <p:cNvSpPr>
              <a:spLocks/>
            </p:cNvSpPr>
            <p:nvPr/>
          </p:nvSpPr>
          <p:spPr bwMode="auto">
            <a:xfrm>
              <a:off x="253" y="4447"/>
              <a:ext cx="28" cy="17"/>
            </a:xfrm>
            <a:custGeom>
              <a:avLst/>
              <a:gdLst>
                <a:gd name="T0" fmla="*/ 23 w 28"/>
                <a:gd name="T1" fmla="*/ 16 h 17"/>
                <a:gd name="T2" fmla="*/ 27 w 28"/>
                <a:gd name="T3" fmla="*/ 9 h 17"/>
                <a:gd name="T4" fmla="*/ 4 w 28"/>
                <a:gd name="T5" fmla="*/ 0 h 17"/>
                <a:gd name="T6" fmla="*/ 0 w 28"/>
                <a:gd name="T7" fmla="*/ 5 h 17"/>
                <a:gd name="T8" fmla="*/ 23 w 28"/>
                <a:gd name="T9" fmla="*/ 16 h 17"/>
                <a:gd name="T10" fmla="*/ 0 60000 65536"/>
                <a:gd name="T11" fmla="*/ 0 60000 65536"/>
                <a:gd name="T12" fmla="*/ 0 60000 65536"/>
                <a:gd name="T13" fmla="*/ 0 60000 65536"/>
                <a:gd name="T14" fmla="*/ 0 60000 65536"/>
                <a:gd name="T15" fmla="*/ 0 w 28"/>
                <a:gd name="T16" fmla="*/ 0 h 17"/>
                <a:gd name="T17" fmla="*/ 28 w 28"/>
                <a:gd name="T18" fmla="*/ 17 h 17"/>
              </a:gdLst>
              <a:ahLst/>
              <a:cxnLst>
                <a:cxn ang="T10">
                  <a:pos x="T0" y="T1"/>
                </a:cxn>
                <a:cxn ang="T11">
                  <a:pos x="T2" y="T3"/>
                </a:cxn>
                <a:cxn ang="T12">
                  <a:pos x="T4" y="T5"/>
                </a:cxn>
                <a:cxn ang="T13">
                  <a:pos x="T6" y="T7"/>
                </a:cxn>
                <a:cxn ang="T14">
                  <a:pos x="T8" y="T9"/>
                </a:cxn>
              </a:cxnLst>
              <a:rect l="T15" t="T16" r="T17" b="T18"/>
              <a:pathLst>
                <a:path w="28" h="17">
                  <a:moveTo>
                    <a:pt x="23" y="16"/>
                  </a:moveTo>
                  <a:lnTo>
                    <a:pt x="27" y="9"/>
                  </a:lnTo>
                  <a:lnTo>
                    <a:pt x="4" y="0"/>
                  </a:lnTo>
                  <a:lnTo>
                    <a:pt x="0" y="5"/>
                  </a:lnTo>
                  <a:lnTo>
                    <a:pt x="23"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41FC91DC-740A-3C63-1487-FAA1076DFAE7}"/>
              </a:ext>
            </a:extLst>
          </p:cNvPr>
          <p:cNvSpPr>
            <a:spLocks noGrp="1" noRot="1" noChangeArrowheads="1" noTextEdit="1"/>
          </p:cNvSpPr>
          <p:nvPr>
            <p:ph type="sldImg"/>
          </p:nvPr>
        </p:nvSpPr>
        <p:spPr>
          <a:xfrm>
            <a:off x="439738" y="163513"/>
            <a:ext cx="5973762" cy="4479925"/>
          </a:xfrm>
          <a:ln w="12700" cap="flat">
            <a:solidFill>
              <a:schemeClr val="tx1"/>
            </a:solidFill>
          </a:ln>
        </p:spPr>
      </p:sp>
      <p:sp>
        <p:nvSpPr>
          <p:cNvPr id="60419" name="Rectangle 3">
            <a:extLst>
              <a:ext uri="{FF2B5EF4-FFF2-40B4-BE49-F238E27FC236}">
                <a16:creationId xmlns:a16="http://schemas.microsoft.com/office/drawing/2014/main" id="{0A67AF63-F3F2-AEDB-2C2D-60473E8DB392}"/>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Creating a Table from Rows in Another Table</a:t>
            </a:r>
          </a:p>
          <a:p>
            <a:pPr lvl="1"/>
            <a:r>
              <a:rPr lang="en-US" altLang="en-US">
                <a:latin typeface="Arial" panose="020B0604020202020204" pitchFamily="34" charset="0"/>
              </a:rPr>
              <a:t>A second method to create a table is to apply the AS </a:t>
            </a:r>
            <a:r>
              <a:rPr lang="en-US" altLang="en-US" i="1">
                <a:latin typeface="Arial" panose="020B0604020202020204" pitchFamily="34" charset="0"/>
              </a:rPr>
              <a:t>subquery</a:t>
            </a:r>
            <a:r>
              <a:rPr lang="en-US" altLang="en-US">
                <a:latin typeface="Arial" panose="020B0604020202020204" pitchFamily="34" charset="0"/>
              </a:rPr>
              <a:t> clause to both create the table and insert rows returned from the subquery.</a:t>
            </a:r>
          </a:p>
          <a:p>
            <a:pPr lvl="1"/>
            <a:r>
              <a:rPr lang="en-US" altLang="en-US">
                <a:latin typeface="Arial" panose="020B0604020202020204" pitchFamily="34" charset="0"/>
              </a:rPr>
              <a:t>In the syntax:</a:t>
            </a:r>
          </a:p>
          <a:p>
            <a:pPr lvl="1"/>
            <a:r>
              <a:rPr lang="en-US" altLang="en-US" i="1">
                <a:latin typeface="Arial" panose="020B0604020202020204" pitchFamily="34" charset="0"/>
              </a:rPr>
              <a:t>	table</a:t>
            </a:r>
            <a:r>
              <a:rPr lang="en-US" altLang="en-US">
                <a:latin typeface="Arial" panose="020B0604020202020204" pitchFamily="34" charset="0"/>
              </a:rPr>
              <a:t>			is the name of the table.</a:t>
            </a:r>
          </a:p>
          <a:p>
            <a:pPr lvl="1"/>
            <a:r>
              <a:rPr lang="en-US" altLang="en-US">
                <a:latin typeface="Arial" panose="020B0604020202020204" pitchFamily="34" charset="0"/>
              </a:rPr>
              <a:t>	</a:t>
            </a:r>
            <a:r>
              <a:rPr lang="en-US" altLang="en-US" i="1">
                <a:latin typeface="Arial" panose="020B0604020202020204" pitchFamily="34" charset="0"/>
              </a:rPr>
              <a:t>column</a:t>
            </a:r>
            <a:r>
              <a:rPr lang="en-US" altLang="en-US">
                <a:latin typeface="Arial" panose="020B0604020202020204" pitchFamily="34" charset="0"/>
              </a:rPr>
              <a:t>		is the name of the column, default value, and integrity constraint.</a:t>
            </a:r>
          </a:p>
          <a:p>
            <a:pPr lvl="1"/>
            <a:r>
              <a:rPr lang="en-US" altLang="en-US" i="1">
                <a:latin typeface="Arial" panose="020B0604020202020204" pitchFamily="34" charset="0"/>
              </a:rPr>
              <a:t>	subquery</a:t>
            </a:r>
            <a:r>
              <a:rPr lang="en-US" altLang="en-US">
                <a:latin typeface="Arial" panose="020B0604020202020204" pitchFamily="34" charset="0"/>
              </a:rPr>
              <a:t>		is the SELECT statement that defines the set of rows to be inserted into the 				new table.</a:t>
            </a:r>
          </a:p>
          <a:p>
            <a:r>
              <a:rPr lang="en-US" altLang="en-US">
                <a:latin typeface="Arial" panose="020B0604020202020204" pitchFamily="34" charset="0"/>
              </a:rPr>
              <a:t>Guidelines</a:t>
            </a:r>
          </a:p>
          <a:p>
            <a:pPr lvl="2"/>
            <a:r>
              <a:rPr lang="en-US" altLang="en-US">
                <a:latin typeface="Arial" panose="020B0604020202020204" pitchFamily="34" charset="0"/>
              </a:rPr>
              <a:t>The table will be created with the specified column names, and the rows retrieved by the SELECT statement will be inserted into the table.</a:t>
            </a:r>
          </a:p>
          <a:p>
            <a:pPr lvl="2"/>
            <a:r>
              <a:rPr lang="en-US" altLang="en-US">
                <a:latin typeface="Arial" panose="020B0604020202020204" pitchFamily="34" charset="0"/>
              </a:rPr>
              <a:t>The column definition can contain only the column name and default value.</a:t>
            </a:r>
          </a:p>
          <a:p>
            <a:pPr lvl="2"/>
            <a:r>
              <a:rPr lang="en-US" altLang="en-US">
                <a:latin typeface="Arial" panose="020B0604020202020204" pitchFamily="34" charset="0"/>
              </a:rPr>
              <a:t>If column specifications are given, the number of columns must equal the number of columns in the subquery SELECT list.</a:t>
            </a:r>
          </a:p>
          <a:p>
            <a:pPr lvl="2"/>
            <a:r>
              <a:rPr lang="en-US" altLang="en-US">
                <a:latin typeface="Arial" panose="020B0604020202020204" pitchFamily="34" charset="0"/>
              </a:rPr>
              <a:t>If no column specifications are given, the column names of the table are the same as the column names in the subquery.</a:t>
            </a: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E07D9216-88D1-34E2-3559-2D4A98210A9F}"/>
              </a:ext>
            </a:extLst>
          </p:cNvPr>
          <p:cNvSpPr>
            <a:spLocks noGrp="1" noRot="1" noChangeArrowheads="1" noTextEdit="1"/>
          </p:cNvSpPr>
          <p:nvPr>
            <p:ph type="sldImg"/>
          </p:nvPr>
        </p:nvSpPr>
        <p:spPr>
          <a:xfrm>
            <a:off x="439738" y="163513"/>
            <a:ext cx="5973762" cy="4479925"/>
          </a:xfrm>
          <a:ln w="12700" cap="flat">
            <a:solidFill>
              <a:schemeClr val="tx1"/>
            </a:solidFill>
          </a:ln>
        </p:spPr>
      </p:sp>
      <p:sp>
        <p:nvSpPr>
          <p:cNvPr id="62467" name="Rectangle 3">
            <a:extLst>
              <a:ext uri="{FF2B5EF4-FFF2-40B4-BE49-F238E27FC236}">
                <a16:creationId xmlns:a16="http://schemas.microsoft.com/office/drawing/2014/main" id="{2282741D-B152-081A-A3A8-4FD3A26B5D2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Creating a Table from Rows in Another Table (continued)</a:t>
            </a:r>
          </a:p>
          <a:p>
            <a:pPr lvl="1"/>
            <a:r>
              <a:rPr lang="en-US" altLang="en-US">
                <a:latin typeface="Arial" panose="020B0604020202020204" pitchFamily="34" charset="0"/>
              </a:rPr>
              <a:t>The slide example creates a table, DEPT30, that contains details of all the employees working in department 30. Notice that the data for the DEPT30 table is coming from the EMP table.</a:t>
            </a:r>
          </a:p>
          <a:p>
            <a:pPr lvl="1"/>
            <a:r>
              <a:rPr lang="en-US" altLang="en-US">
                <a:latin typeface="Arial" panose="020B0604020202020204" pitchFamily="34" charset="0"/>
              </a:rPr>
              <a:t>You can verify the existence of a database table and check column definitions by using the SQL*Plus DESCRIBE command.</a:t>
            </a:r>
          </a:p>
          <a:p>
            <a:pPr lvl="1"/>
            <a:r>
              <a:rPr lang="en-US" altLang="en-US">
                <a:latin typeface="Arial" panose="020B0604020202020204" pitchFamily="34" charset="0"/>
              </a:rPr>
              <a:t>Give a column alias when selecting an expression.</a:t>
            </a:r>
          </a:p>
        </p:txBody>
      </p:sp>
      <p:grpSp>
        <p:nvGrpSpPr>
          <p:cNvPr id="62468" name="Group 4">
            <a:extLst>
              <a:ext uri="{FF2B5EF4-FFF2-40B4-BE49-F238E27FC236}">
                <a16:creationId xmlns:a16="http://schemas.microsoft.com/office/drawing/2014/main" id="{2C211163-C82E-FBF2-0E55-7FAA8BC47E3B}"/>
              </a:ext>
            </a:extLst>
          </p:cNvPr>
          <p:cNvGrpSpPr>
            <a:grpSpLocks/>
          </p:cNvGrpSpPr>
          <p:nvPr/>
        </p:nvGrpSpPr>
        <p:grpSpPr bwMode="auto">
          <a:xfrm>
            <a:off x="179388" y="5916613"/>
            <a:ext cx="284162" cy="300037"/>
            <a:chOff x="112" y="3660"/>
            <a:chExt cx="178" cy="185"/>
          </a:xfrm>
        </p:grpSpPr>
        <p:sp>
          <p:nvSpPr>
            <p:cNvPr id="62469" name="Freeform 5">
              <a:extLst>
                <a:ext uri="{FF2B5EF4-FFF2-40B4-BE49-F238E27FC236}">
                  <a16:creationId xmlns:a16="http://schemas.microsoft.com/office/drawing/2014/main" id="{370BC3A3-7E19-A727-C048-9E7C5398DADE}"/>
                </a:ext>
              </a:extLst>
            </p:cNvPr>
            <p:cNvSpPr>
              <a:spLocks/>
            </p:cNvSpPr>
            <p:nvPr/>
          </p:nvSpPr>
          <p:spPr bwMode="auto">
            <a:xfrm>
              <a:off x="112" y="3660"/>
              <a:ext cx="178" cy="185"/>
            </a:xfrm>
            <a:custGeom>
              <a:avLst/>
              <a:gdLst>
                <a:gd name="T0" fmla="*/ 177 w 178"/>
                <a:gd name="T1" fmla="*/ 184 h 185"/>
                <a:gd name="T2" fmla="*/ 177 w 178"/>
                <a:gd name="T3" fmla="*/ 0 h 185"/>
                <a:gd name="T4" fmla="*/ 0 w 178"/>
                <a:gd name="T5" fmla="*/ 0 h 185"/>
                <a:gd name="T6" fmla="*/ 0 w 178"/>
                <a:gd name="T7" fmla="*/ 184 h 185"/>
                <a:gd name="T8" fmla="*/ 177 w 178"/>
                <a:gd name="T9" fmla="*/ 184 h 185"/>
                <a:gd name="T10" fmla="*/ 0 60000 65536"/>
                <a:gd name="T11" fmla="*/ 0 60000 65536"/>
                <a:gd name="T12" fmla="*/ 0 60000 65536"/>
                <a:gd name="T13" fmla="*/ 0 60000 65536"/>
                <a:gd name="T14" fmla="*/ 0 60000 65536"/>
                <a:gd name="T15" fmla="*/ 0 w 178"/>
                <a:gd name="T16" fmla="*/ 0 h 185"/>
                <a:gd name="T17" fmla="*/ 178 w 178"/>
                <a:gd name="T18" fmla="*/ 185 h 185"/>
              </a:gdLst>
              <a:ahLst/>
              <a:cxnLst>
                <a:cxn ang="T10">
                  <a:pos x="T0" y="T1"/>
                </a:cxn>
                <a:cxn ang="T11">
                  <a:pos x="T2" y="T3"/>
                </a:cxn>
                <a:cxn ang="T12">
                  <a:pos x="T4" y="T5"/>
                </a:cxn>
                <a:cxn ang="T13">
                  <a:pos x="T6" y="T7"/>
                </a:cxn>
                <a:cxn ang="T14">
                  <a:pos x="T8" y="T9"/>
                </a:cxn>
              </a:cxnLst>
              <a:rect l="T15" t="T16" r="T17" b="T18"/>
              <a:pathLst>
                <a:path w="178" h="185">
                  <a:moveTo>
                    <a:pt x="177" y="184"/>
                  </a:moveTo>
                  <a:lnTo>
                    <a:pt x="177" y="0"/>
                  </a:lnTo>
                  <a:lnTo>
                    <a:pt x="0" y="0"/>
                  </a:lnTo>
                  <a:lnTo>
                    <a:pt x="0" y="184"/>
                  </a:lnTo>
                  <a:lnTo>
                    <a:pt x="177" y="184"/>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62470" name="Freeform 6">
              <a:extLst>
                <a:ext uri="{FF2B5EF4-FFF2-40B4-BE49-F238E27FC236}">
                  <a16:creationId xmlns:a16="http://schemas.microsoft.com/office/drawing/2014/main" id="{CF8D58CF-294C-977F-E945-9771B05BC10D}"/>
                </a:ext>
              </a:extLst>
            </p:cNvPr>
            <p:cNvSpPr>
              <a:spLocks/>
            </p:cNvSpPr>
            <p:nvPr/>
          </p:nvSpPr>
          <p:spPr bwMode="auto">
            <a:xfrm>
              <a:off x="122" y="3668"/>
              <a:ext cx="162" cy="164"/>
            </a:xfrm>
            <a:custGeom>
              <a:avLst/>
              <a:gdLst>
                <a:gd name="T0" fmla="*/ 82 w 162"/>
                <a:gd name="T1" fmla="*/ 0 h 164"/>
                <a:gd name="T2" fmla="*/ 0 w 162"/>
                <a:gd name="T3" fmla="*/ 163 h 164"/>
                <a:gd name="T4" fmla="*/ 161 w 162"/>
                <a:gd name="T5" fmla="*/ 163 h 164"/>
                <a:gd name="T6" fmla="*/ 82 w 162"/>
                <a:gd name="T7" fmla="*/ 0 h 164"/>
                <a:gd name="T8" fmla="*/ 0 60000 65536"/>
                <a:gd name="T9" fmla="*/ 0 60000 65536"/>
                <a:gd name="T10" fmla="*/ 0 60000 65536"/>
                <a:gd name="T11" fmla="*/ 0 60000 65536"/>
                <a:gd name="T12" fmla="*/ 0 w 162"/>
                <a:gd name="T13" fmla="*/ 0 h 164"/>
                <a:gd name="T14" fmla="*/ 162 w 162"/>
                <a:gd name="T15" fmla="*/ 164 h 164"/>
              </a:gdLst>
              <a:ahLst/>
              <a:cxnLst>
                <a:cxn ang="T8">
                  <a:pos x="T0" y="T1"/>
                </a:cxn>
                <a:cxn ang="T9">
                  <a:pos x="T2" y="T3"/>
                </a:cxn>
                <a:cxn ang="T10">
                  <a:pos x="T4" y="T5"/>
                </a:cxn>
                <a:cxn ang="T11">
                  <a:pos x="T6" y="T7"/>
                </a:cxn>
              </a:cxnLst>
              <a:rect l="T12" t="T13" r="T14" b="T15"/>
              <a:pathLst>
                <a:path w="162" h="164">
                  <a:moveTo>
                    <a:pt x="82" y="0"/>
                  </a:moveTo>
                  <a:lnTo>
                    <a:pt x="0" y="163"/>
                  </a:lnTo>
                  <a:lnTo>
                    <a:pt x="161" y="163"/>
                  </a:lnTo>
                  <a:lnTo>
                    <a:pt x="82"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62471" name="Freeform 7">
              <a:extLst>
                <a:ext uri="{FF2B5EF4-FFF2-40B4-BE49-F238E27FC236}">
                  <a16:creationId xmlns:a16="http://schemas.microsoft.com/office/drawing/2014/main" id="{C988559B-5424-0A99-F065-5E4370949812}"/>
                </a:ext>
              </a:extLst>
            </p:cNvPr>
            <p:cNvSpPr>
              <a:spLocks/>
            </p:cNvSpPr>
            <p:nvPr/>
          </p:nvSpPr>
          <p:spPr bwMode="auto">
            <a:xfrm>
              <a:off x="140" y="3686"/>
              <a:ext cx="133" cy="134"/>
            </a:xfrm>
            <a:custGeom>
              <a:avLst/>
              <a:gdLst>
                <a:gd name="T0" fmla="*/ 65 w 133"/>
                <a:gd name="T1" fmla="*/ 0 h 134"/>
                <a:gd name="T2" fmla="*/ 0 w 133"/>
                <a:gd name="T3" fmla="*/ 133 h 134"/>
                <a:gd name="T4" fmla="*/ 132 w 133"/>
                <a:gd name="T5" fmla="*/ 133 h 134"/>
                <a:gd name="T6" fmla="*/ 65 w 133"/>
                <a:gd name="T7" fmla="*/ 0 h 134"/>
                <a:gd name="T8" fmla="*/ 0 60000 65536"/>
                <a:gd name="T9" fmla="*/ 0 60000 65536"/>
                <a:gd name="T10" fmla="*/ 0 60000 65536"/>
                <a:gd name="T11" fmla="*/ 0 60000 65536"/>
                <a:gd name="T12" fmla="*/ 0 w 133"/>
                <a:gd name="T13" fmla="*/ 0 h 134"/>
                <a:gd name="T14" fmla="*/ 133 w 133"/>
                <a:gd name="T15" fmla="*/ 134 h 134"/>
              </a:gdLst>
              <a:ahLst/>
              <a:cxnLst>
                <a:cxn ang="T8">
                  <a:pos x="T0" y="T1"/>
                </a:cxn>
                <a:cxn ang="T9">
                  <a:pos x="T2" y="T3"/>
                </a:cxn>
                <a:cxn ang="T10">
                  <a:pos x="T4" y="T5"/>
                </a:cxn>
                <a:cxn ang="T11">
                  <a:pos x="T6" y="T7"/>
                </a:cxn>
              </a:cxnLst>
              <a:rect l="T12" t="T13" r="T14" b="T15"/>
              <a:pathLst>
                <a:path w="133" h="134">
                  <a:moveTo>
                    <a:pt x="65" y="0"/>
                  </a:moveTo>
                  <a:lnTo>
                    <a:pt x="0" y="133"/>
                  </a:lnTo>
                  <a:lnTo>
                    <a:pt x="132" y="133"/>
                  </a:lnTo>
                  <a:lnTo>
                    <a:pt x="65"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62472" name="Freeform 8">
              <a:extLst>
                <a:ext uri="{FF2B5EF4-FFF2-40B4-BE49-F238E27FC236}">
                  <a16:creationId xmlns:a16="http://schemas.microsoft.com/office/drawing/2014/main" id="{DC80098C-F832-75E4-DDAC-7E9BF4A1B540}"/>
                </a:ext>
              </a:extLst>
            </p:cNvPr>
            <p:cNvSpPr>
              <a:spLocks/>
            </p:cNvSpPr>
            <p:nvPr/>
          </p:nvSpPr>
          <p:spPr bwMode="auto">
            <a:xfrm>
              <a:off x="197" y="3796"/>
              <a:ext cx="17" cy="20"/>
            </a:xfrm>
            <a:custGeom>
              <a:avLst/>
              <a:gdLst>
                <a:gd name="T0" fmla="*/ 8 w 17"/>
                <a:gd name="T1" fmla="*/ 19 h 20"/>
                <a:gd name="T2" fmla="*/ 8 w 17"/>
                <a:gd name="T3" fmla="*/ 17 h 20"/>
                <a:gd name="T4" fmla="*/ 10 w 17"/>
                <a:gd name="T5" fmla="*/ 17 h 20"/>
                <a:gd name="T6" fmla="*/ 12 w 17"/>
                <a:gd name="T7" fmla="*/ 16 h 20"/>
                <a:gd name="T8" fmla="*/ 13 w 17"/>
                <a:gd name="T9" fmla="*/ 15 h 20"/>
                <a:gd name="T10" fmla="*/ 14 w 17"/>
                <a:gd name="T11" fmla="*/ 14 h 20"/>
                <a:gd name="T12" fmla="*/ 15 w 17"/>
                <a:gd name="T13" fmla="*/ 12 h 20"/>
                <a:gd name="T14" fmla="*/ 15 w 17"/>
                <a:gd name="T15" fmla="*/ 11 h 20"/>
                <a:gd name="T16" fmla="*/ 16 w 17"/>
                <a:gd name="T17" fmla="*/ 8 h 20"/>
                <a:gd name="T18" fmla="*/ 15 w 17"/>
                <a:gd name="T19" fmla="*/ 6 h 20"/>
                <a:gd name="T20" fmla="*/ 15 w 17"/>
                <a:gd name="T21" fmla="*/ 5 h 20"/>
                <a:gd name="T22" fmla="*/ 14 w 17"/>
                <a:gd name="T23" fmla="*/ 3 h 20"/>
                <a:gd name="T24" fmla="*/ 13 w 17"/>
                <a:gd name="T25" fmla="*/ 2 h 20"/>
                <a:gd name="T26" fmla="*/ 12 w 17"/>
                <a:gd name="T27" fmla="*/ 1 h 20"/>
                <a:gd name="T28" fmla="*/ 10 w 17"/>
                <a:gd name="T29" fmla="*/ 0 h 20"/>
                <a:gd name="T30" fmla="*/ 8 w 17"/>
                <a:gd name="T31" fmla="*/ 0 h 20"/>
                <a:gd name="T32" fmla="*/ 8 w 17"/>
                <a:gd name="T33" fmla="*/ 0 h 20"/>
                <a:gd name="T34" fmla="*/ 6 w 17"/>
                <a:gd name="T35" fmla="*/ 0 h 20"/>
                <a:gd name="T36" fmla="*/ 4 w 17"/>
                <a:gd name="T37" fmla="*/ 0 h 20"/>
                <a:gd name="T38" fmla="*/ 3 w 17"/>
                <a:gd name="T39" fmla="*/ 1 h 20"/>
                <a:gd name="T40" fmla="*/ 1 w 17"/>
                <a:gd name="T41" fmla="*/ 2 h 20"/>
                <a:gd name="T42" fmla="*/ 0 w 17"/>
                <a:gd name="T43" fmla="*/ 3 h 20"/>
                <a:gd name="T44" fmla="*/ 0 w 17"/>
                <a:gd name="T45" fmla="*/ 5 h 20"/>
                <a:gd name="T46" fmla="*/ 0 w 17"/>
                <a:gd name="T47" fmla="*/ 6 h 20"/>
                <a:gd name="T48" fmla="*/ 0 w 17"/>
                <a:gd name="T49" fmla="*/ 8 h 20"/>
                <a:gd name="T50" fmla="*/ 0 w 17"/>
                <a:gd name="T51" fmla="*/ 11 h 20"/>
                <a:gd name="T52" fmla="*/ 0 w 17"/>
                <a:gd name="T53" fmla="*/ 12 h 20"/>
                <a:gd name="T54" fmla="*/ 0 w 17"/>
                <a:gd name="T55" fmla="*/ 14 h 20"/>
                <a:gd name="T56" fmla="*/ 1 w 17"/>
                <a:gd name="T57" fmla="*/ 15 h 20"/>
                <a:gd name="T58" fmla="*/ 3 w 17"/>
                <a:gd name="T59" fmla="*/ 16 h 20"/>
                <a:gd name="T60" fmla="*/ 4 w 17"/>
                <a:gd name="T61" fmla="*/ 17 h 20"/>
                <a:gd name="T62" fmla="*/ 6 w 17"/>
                <a:gd name="T63" fmla="*/ 17 h 20"/>
                <a:gd name="T64" fmla="*/ 8 w 17"/>
                <a:gd name="T65" fmla="*/ 19 h 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
                <a:gd name="T100" fmla="*/ 0 h 20"/>
                <a:gd name="T101" fmla="*/ 17 w 17"/>
                <a:gd name="T102" fmla="*/ 20 h 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 h="20">
                  <a:moveTo>
                    <a:pt x="8" y="19"/>
                  </a:moveTo>
                  <a:lnTo>
                    <a:pt x="8" y="17"/>
                  </a:lnTo>
                  <a:lnTo>
                    <a:pt x="10" y="17"/>
                  </a:lnTo>
                  <a:lnTo>
                    <a:pt x="12" y="16"/>
                  </a:lnTo>
                  <a:lnTo>
                    <a:pt x="13" y="15"/>
                  </a:lnTo>
                  <a:lnTo>
                    <a:pt x="14" y="14"/>
                  </a:lnTo>
                  <a:lnTo>
                    <a:pt x="15" y="12"/>
                  </a:lnTo>
                  <a:lnTo>
                    <a:pt x="15" y="11"/>
                  </a:lnTo>
                  <a:lnTo>
                    <a:pt x="16" y="8"/>
                  </a:lnTo>
                  <a:lnTo>
                    <a:pt x="15" y="6"/>
                  </a:lnTo>
                  <a:lnTo>
                    <a:pt x="15" y="5"/>
                  </a:lnTo>
                  <a:lnTo>
                    <a:pt x="14" y="3"/>
                  </a:lnTo>
                  <a:lnTo>
                    <a:pt x="13" y="2"/>
                  </a:lnTo>
                  <a:lnTo>
                    <a:pt x="12" y="1"/>
                  </a:lnTo>
                  <a:lnTo>
                    <a:pt x="10" y="0"/>
                  </a:lnTo>
                  <a:lnTo>
                    <a:pt x="8" y="0"/>
                  </a:lnTo>
                  <a:lnTo>
                    <a:pt x="6" y="0"/>
                  </a:lnTo>
                  <a:lnTo>
                    <a:pt x="4" y="0"/>
                  </a:lnTo>
                  <a:lnTo>
                    <a:pt x="3" y="1"/>
                  </a:lnTo>
                  <a:lnTo>
                    <a:pt x="1" y="2"/>
                  </a:lnTo>
                  <a:lnTo>
                    <a:pt x="0" y="3"/>
                  </a:lnTo>
                  <a:lnTo>
                    <a:pt x="0" y="5"/>
                  </a:lnTo>
                  <a:lnTo>
                    <a:pt x="0" y="6"/>
                  </a:lnTo>
                  <a:lnTo>
                    <a:pt x="0" y="8"/>
                  </a:lnTo>
                  <a:lnTo>
                    <a:pt x="0" y="11"/>
                  </a:lnTo>
                  <a:lnTo>
                    <a:pt x="0" y="12"/>
                  </a:lnTo>
                  <a:lnTo>
                    <a:pt x="0" y="14"/>
                  </a:lnTo>
                  <a:lnTo>
                    <a:pt x="1" y="15"/>
                  </a:lnTo>
                  <a:lnTo>
                    <a:pt x="3" y="16"/>
                  </a:lnTo>
                  <a:lnTo>
                    <a:pt x="4" y="17"/>
                  </a:lnTo>
                  <a:lnTo>
                    <a:pt x="6" y="17"/>
                  </a:lnTo>
                  <a:lnTo>
                    <a:pt x="8" y="19"/>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62473" name="Freeform 9">
              <a:extLst>
                <a:ext uri="{FF2B5EF4-FFF2-40B4-BE49-F238E27FC236}">
                  <a16:creationId xmlns:a16="http://schemas.microsoft.com/office/drawing/2014/main" id="{46E1AAF8-8E13-8C0D-849B-F31BF58ED0CA}"/>
                </a:ext>
              </a:extLst>
            </p:cNvPr>
            <p:cNvSpPr>
              <a:spLocks/>
            </p:cNvSpPr>
            <p:nvPr/>
          </p:nvSpPr>
          <p:spPr bwMode="auto">
            <a:xfrm>
              <a:off x="197" y="3715"/>
              <a:ext cx="17" cy="80"/>
            </a:xfrm>
            <a:custGeom>
              <a:avLst/>
              <a:gdLst>
                <a:gd name="T0" fmla="*/ 8 w 17"/>
                <a:gd name="T1" fmla="*/ 0 h 80"/>
                <a:gd name="T2" fmla="*/ 9 w 17"/>
                <a:gd name="T3" fmla="*/ 0 h 80"/>
                <a:gd name="T4" fmla="*/ 11 w 17"/>
                <a:gd name="T5" fmla="*/ 0 h 80"/>
                <a:gd name="T6" fmla="*/ 13 w 17"/>
                <a:gd name="T7" fmla="*/ 2 h 80"/>
                <a:gd name="T8" fmla="*/ 15 w 17"/>
                <a:gd name="T9" fmla="*/ 7 h 80"/>
                <a:gd name="T10" fmla="*/ 16 w 17"/>
                <a:gd name="T11" fmla="*/ 15 h 80"/>
                <a:gd name="T12" fmla="*/ 16 w 17"/>
                <a:gd name="T13" fmla="*/ 29 h 80"/>
                <a:gd name="T14" fmla="*/ 13 w 17"/>
                <a:gd name="T15" fmla="*/ 50 h 80"/>
                <a:gd name="T16" fmla="*/ 8 w 17"/>
                <a:gd name="T17" fmla="*/ 79 h 80"/>
                <a:gd name="T18" fmla="*/ 4 w 17"/>
                <a:gd name="T19" fmla="*/ 63 h 80"/>
                <a:gd name="T20" fmla="*/ 1 w 17"/>
                <a:gd name="T21" fmla="*/ 48 h 80"/>
                <a:gd name="T22" fmla="*/ 0 w 17"/>
                <a:gd name="T23" fmla="*/ 34 h 80"/>
                <a:gd name="T24" fmla="*/ 0 w 17"/>
                <a:gd name="T25" fmla="*/ 22 h 80"/>
                <a:gd name="T26" fmla="*/ 0 w 17"/>
                <a:gd name="T27" fmla="*/ 11 h 80"/>
                <a:gd name="T28" fmla="*/ 3 w 17"/>
                <a:gd name="T29" fmla="*/ 4 h 80"/>
                <a:gd name="T30" fmla="*/ 6 w 17"/>
                <a:gd name="T31" fmla="*/ 0 h 80"/>
                <a:gd name="T32" fmla="*/ 8 w 17"/>
                <a:gd name="T33" fmla="*/ 0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80"/>
                <a:gd name="T53" fmla="*/ 17 w 17"/>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80">
                  <a:moveTo>
                    <a:pt x="8" y="0"/>
                  </a:moveTo>
                  <a:lnTo>
                    <a:pt x="9" y="0"/>
                  </a:lnTo>
                  <a:lnTo>
                    <a:pt x="11" y="0"/>
                  </a:lnTo>
                  <a:lnTo>
                    <a:pt x="13" y="2"/>
                  </a:lnTo>
                  <a:lnTo>
                    <a:pt x="15" y="7"/>
                  </a:lnTo>
                  <a:lnTo>
                    <a:pt x="16" y="15"/>
                  </a:lnTo>
                  <a:lnTo>
                    <a:pt x="16" y="29"/>
                  </a:lnTo>
                  <a:lnTo>
                    <a:pt x="13" y="50"/>
                  </a:lnTo>
                  <a:lnTo>
                    <a:pt x="8" y="79"/>
                  </a:lnTo>
                  <a:lnTo>
                    <a:pt x="4" y="63"/>
                  </a:lnTo>
                  <a:lnTo>
                    <a:pt x="1" y="48"/>
                  </a:lnTo>
                  <a:lnTo>
                    <a:pt x="0" y="34"/>
                  </a:lnTo>
                  <a:lnTo>
                    <a:pt x="0" y="22"/>
                  </a:lnTo>
                  <a:lnTo>
                    <a:pt x="0" y="11"/>
                  </a:lnTo>
                  <a:lnTo>
                    <a:pt x="3" y="4"/>
                  </a:lnTo>
                  <a:lnTo>
                    <a:pt x="6" y="0"/>
                  </a:lnTo>
                  <a:lnTo>
                    <a:pt x="8"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58AE9D5-14DD-EC3D-E014-C7B43ED6F579}"/>
              </a:ext>
            </a:extLst>
          </p:cNvPr>
          <p:cNvSpPr>
            <a:spLocks noGrp="1" noRot="1" noChangeArrowheads="1" noTextEdit="1"/>
          </p:cNvSpPr>
          <p:nvPr>
            <p:ph type="sldImg"/>
          </p:nvPr>
        </p:nvSpPr>
        <p:spPr>
          <a:xfrm>
            <a:off x="439738" y="163513"/>
            <a:ext cx="5973762" cy="4479925"/>
          </a:xfrm>
          <a:ln w="12700" cap="flat">
            <a:solidFill>
              <a:schemeClr val="tx1"/>
            </a:solidFill>
          </a:ln>
        </p:spPr>
      </p:sp>
      <p:sp>
        <p:nvSpPr>
          <p:cNvPr id="64515" name="Rectangle 3">
            <a:extLst>
              <a:ext uri="{FF2B5EF4-FFF2-40B4-BE49-F238E27FC236}">
                <a16:creationId xmlns:a16="http://schemas.microsoft.com/office/drawing/2014/main" id="{7672529F-0CA2-EEC3-7C2B-B8B876F644D3}"/>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Creating a Table from Rows in Another Table</a:t>
            </a:r>
          </a:p>
          <a:p>
            <a:pPr lvl="1"/>
            <a:r>
              <a:rPr lang="en-US" altLang="en-US">
                <a:latin typeface="Arial" panose="020B0604020202020204" pitchFamily="34" charset="0"/>
              </a:rPr>
              <a:t>A second method to create a table is to apply the AS </a:t>
            </a:r>
            <a:r>
              <a:rPr lang="en-US" altLang="en-US" i="1">
                <a:latin typeface="Arial" panose="020B0604020202020204" pitchFamily="34" charset="0"/>
              </a:rPr>
              <a:t>subquery</a:t>
            </a:r>
            <a:r>
              <a:rPr lang="en-US" altLang="en-US">
                <a:latin typeface="Arial" panose="020B0604020202020204" pitchFamily="34" charset="0"/>
              </a:rPr>
              <a:t> clause to both create the table and insert rows returned from the subquery.</a:t>
            </a:r>
          </a:p>
          <a:p>
            <a:pPr lvl="1"/>
            <a:r>
              <a:rPr lang="en-US" altLang="en-US">
                <a:latin typeface="Arial" panose="020B0604020202020204" pitchFamily="34" charset="0"/>
              </a:rPr>
              <a:t>In the syntax:</a:t>
            </a:r>
          </a:p>
          <a:p>
            <a:pPr lvl="1"/>
            <a:r>
              <a:rPr lang="en-US" altLang="en-US" i="1">
                <a:latin typeface="Arial" panose="020B0604020202020204" pitchFamily="34" charset="0"/>
              </a:rPr>
              <a:t>	table</a:t>
            </a:r>
            <a:r>
              <a:rPr lang="en-US" altLang="en-US">
                <a:latin typeface="Arial" panose="020B0604020202020204" pitchFamily="34" charset="0"/>
              </a:rPr>
              <a:t>			is the name of the table.</a:t>
            </a:r>
          </a:p>
          <a:p>
            <a:pPr lvl="1"/>
            <a:r>
              <a:rPr lang="en-US" altLang="en-US">
                <a:latin typeface="Arial" panose="020B0604020202020204" pitchFamily="34" charset="0"/>
              </a:rPr>
              <a:t>	</a:t>
            </a:r>
            <a:r>
              <a:rPr lang="en-US" altLang="en-US" i="1">
                <a:latin typeface="Arial" panose="020B0604020202020204" pitchFamily="34" charset="0"/>
              </a:rPr>
              <a:t>column</a:t>
            </a:r>
            <a:r>
              <a:rPr lang="en-US" altLang="en-US">
                <a:latin typeface="Arial" panose="020B0604020202020204" pitchFamily="34" charset="0"/>
              </a:rPr>
              <a:t>		is the name of the column, default value, and integrity constraint.</a:t>
            </a:r>
          </a:p>
          <a:p>
            <a:pPr lvl="1"/>
            <a:r>
              <a:rPr lang="en-US" altLang="en-US" i="1">
                <a:latin typeface="Arial" panose="020B0604020202020204" pitchFamily="34" charset="0"/>
              </a:rPr>
              <a:t>	subquery</a:t>
            </a:r>
            <a:r>
              <a:rPr lang="en-US" altLang="en-US">
                <a:latin typeface="Arial" panose="020B0604020202020204" pitchFamily="34" charset="0"/>
              </a:rPr>
              <a:t>		is the SELECT statement that defines the set of rows to be inserted into the 				new table.</a:t>
            </a:r>
          </a:p>
          <a:p>
            <a:r>
              <a:rPr lang="en-US" altLang="en-US">
                <a:latin typeface="Arial" panose="020B0604020202020204" pitchFamily="34" charset="0"/>
              </a:rPr>
              <a:t>Guidelines</a:t>
            </a:r>
          </a:p>
          <a:p>
            <a:pPr lvl="2"/>
            <a:r>
              <a:rPr lang="en-US" altLang="en-US">
                <a:latin typeface="Arial" panose="020B0604020202020204" pitchFamily="34" charset="0"/>
              </a:rPr>
              <a:t>The table will be created with the specified column names, and the rows retrieved by the SELECT statement will be inserted into the table.</a:t>
            </a:r>
          </a:p>
          <a:p>
            <a:pPr lvl="2"/>
            <a:r>
              <a:rPr lang="en-US" altLang="en-US">
                <a:latin typeface="Arial" panose="020B0604020202020204" pitchFamily="34" charset="0"/>
              </a:rPr>
              <a:t>The column definition can contain only the column name and default value.</a:t>
            </a:r>
          </a:p>
          <a:p>
            <a:pPr lvl="2"/>
            <a:r>
              <a:rPr lang="en-US" altLang="en-US">
                <a:latin typeface="Arial" panose="020B0604020202020204" pitchFamily="34" charset="0"/>
              </a:rPr>
              <a:t>If column specifications are given, the number of columns must equal the number of columns in the subquery SELECT list.</a:t>
            </a:r>
          </a:p>
          <a:p>
            <a:pPr lvl="2"/>
            <a:r>
              <a:rPr lang="en-US" altLang="en-US">
                <a:latin typeface="Arial" panose="020B0604020202020204" pitchFamily="34" charset="0"/>
              </a:rPr>
              <a:t>If no column specifications are given, the column names of the table are the same as the column names in the subquery.</a:t>
            </a: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BD22604E-2449-1135-E4A7-B080B3886F86}"/>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66563" name="Rectangle 3">
            <a:extLst>
              <a:ext uri="{FF2B5EF4-FFF2-40B4-BE49-F238E27FC236}">
                <a16:creationId xmlns:a16="http://schemas.microsoft.com/office/drawing/2014/main" id="{AD2AF9F9-BC6F-1CF8-B514-BE659B8F16F7}"/>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66564" name="Rectangle 4">
            <a:extLst>
              <a:ext uri="{FF2B5EF4-FFF2-40B4-BE49-F238E27FC236}">
                <a16:creationId xmlns:a16="http://schemas.microsoft.com/office/drawing/2014/main" id="{EAD7AA36-D1DC-D707-5E0F-9A6E67535DE2}"/>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ALTER TABLE Statement</a:t>
            </a:r>
          </a:p>
          <a:p>
            <a:pPr lvl="1"/>
            <a:r>
              <a:rPr lang="en-US" altLang="en-US">
                <a:latin typeface="Arial" panose="020B0604020202020204" pitchFamily="34" charset="0"/>
              </a:rPr>
              <a:t>After you create your tables, you may need to change the table structures because you omitted a column or your column definition needs to be changed. You can do this by using the ALTER TABLE statement. </a:t>
            </a:r>
          </a:p>
          <a:p>
            <a:pPr lvl="1"/>
            <a:r>
              <a:rPr lang="en-US" altLang="en-US">
                <a:latin typeface="Arial" panose="020B0604020202020204" pitchFamily="34" charset="0"/>
              </a:rPr>
              <a:t>You can add columns to a table by using the </a:t>
            </a:r>
            <a:r>
              <a:rPr lang="en-US" altLang="en-US">
                <a:solidFill>
                  <a:srgbClr val="FC0128"/>
                </a:solidFill>
                <a:latin typeface="Arial" panose="020B0604020202020204" pitchFamily="34" charset="0"/>
              </a:rPr>
              <a:t>ALTER TABLE </a:t>
            </a:r>
            <a:r>
              <a:rPr lang="en-US" altLang="en-US">
                <a:latin typeface="Arial" panose="020B0604020202020204" pitchFamily="34" charset="0"/>
              </a:rPr>
              <a:t>statement with the ADD clause.</a:t>
            </a:r>
          </a:p>
          <a:p>
            <a:pPr lvl="1"/>
            <a:r>
              <a:rPr lang="en-US" altLang="en-US">
                <a:latin typeface="Arial" panose="020B0604020202020204" pitchFamily="34" charset="0"/>
              </a:rPr>
              <a:t>In the syntax:</a:t>
            </a:r>
          </a:p>
          <a:p>
            <a:pPr lvl="1"/>
            <a:r>
              <a:rPr lang="en-US" altLang="en-US">
                <a:latin typeface="Arial" panose="020B0604020202020204" pitchFamily="34" charset="0"/>
              </a:rPr>
              <a:t>	</a:t>
            </a:r>
            <a:r>
              <a:rPr lang="en-US" altLang="en-US" i="1">
                <a:latin typeface="Arial" panose="020B0604020202020204" pitchFamily="34" charset="0"/>
              </a:rPr>
              <a:t>table</a:t>
            </a:r>
            <a:r>
              <a:rPr lang="en-US" altLang="en-US">
                <a:latin typeface="Arial" panose="020B0604020202020204" pitchFamily="34" charset="0"/>
              </a:rPr>
              <a:t>			is the name of the table</a:t>
            </a:r>
          </a:p>
          <a:p>
            <a:pPr lvl="1"/>
            <a:r>
              <a:rPr lang="en-US" altLang="en-US">
                <a:latin typeface="Arial" panose="020B0604020202020204" pitchFamily="34" charset="0"/>
              </a:rPr>
              <a:t>	</a:t>
            </a:r>
            <a:r>
              <a:rPr lang="en-US" altLang="en-US" i="1">
                <a:latin typeface="Arial" panose="020B0604020202020204" pitchFamily="34" charset="0"/>
              </a:rPr>
              <a:t>column</a:t>
            </a:r>
            <a:r>
              <a:rPr lang="en-US" altLang="en-US">
                <a:latin typeface="Arial" panose="020B0604020202020204" pitchFamily="34" charset="0"/>
              </a:rPr>
              <a:t>		is the name of the new column</a:t>
            </a:r>
          </a:p>
          <a:p>
            <a:pPr lvl="1"/>
            <a:r>
              <a:rPr lang="en-US" altLang="en-US">
                <a:latin typeface="Arial" panose="020B0604020202020204" pitchFamily="34" charset="0"/>
              </a:rPr>
              <a:t>	</a:t>
            </a:r>
            <a:r>
              <a:rPr lang="en-US" altLang="en-US" i="1">
                <a:latin typeface="Arial" panose="020B0604020202020204" pitchFamily="34" charset="0"/>
              </a:rPr>
              <a:t>datatype</a:t>
            </a:r>
            <a:r>
              <a:rPr lang="en-US" altLang="en-US">
                <a:latin typeface="Arial" panose="020B0604020202020204" pitchFamily="34" charset="0"/>
              </a:rPr>
              <a:t>		is the datatype and length of the new column</a:t>
            </a:r>
          </a:p>
          <a:p>
            <a:pPr lvl="1"/>
            <a:r>
              <a:rPr lang="en-US" altLang="en-US">
                <a:latin typeface="Arial" panose="020B0604020202020204" pitchFamily="34" charset="0"/>
              </a:rPr>
              <a:t>	DEFAULT </a:t>
            </a:r>
            <a:r>
              <a:rPr lang="en-US" altLang="en-US" i="1">
                <a:latin typeface="Arial" panose="020B0604020202020204" pitchFamily="34" charset="0"/>
              </a:rPr>
              <a:t>expr	</a:t>
            </a:r>
            <a:r>
              <a:rPr lang="en-US" altLang="en-US">
                <a:latin typeface="Arial" panose="020B0604020202020204" pitchFamily="34" charset="0"/>
              </a:rPr>
              <a:t>specifies the default value for a new column</a:t>
            </a:r>
          </a:p>
          <a:p>
            <a:pPr lvl="1"/>
            <a:r>
              <a:rPr lang="en-US" altLang="en-US">
                <a:latin typeface="Arial" panose="020B0604020202020204" pitchFamily="34" charset="0"/>
              </a:rPr>
              <a:t>You can modify existing columns in a table by using the ALTER TABLE statement with the MODIFY clause.</a:t>
            </a:r>
          </a:p>
          <a:p>
            <a:pPr lvl="1"/>
            <a:r>
              <a:rPr lang="en-US" altLang="en-US" b="1">
                <a:latin typeface="Arial" panose="020B0604020202020204" pitchFamily="34" charset="0"/>
              </a:rPr>
              <a:t>Note:</a:t>
            </a:r>
            <a:r>
              <a:rPr lang="en-US" altLang="en-US">
                <a:latin typeface="Arial" panose="020B0604020202020204" pitchFamily="34" charset="0"/>
              </a:rPr>
              <a:t> The slide gives the abridged syntax for ALTER TABLE. More about ALTER TABLE is covered in a subsequent lesson.</a:t>
            </a:r>
          </a:p>
        </p:txBody>
      </p:sp>
      <p:sp>
        <p:nvSpPr>
          <p:cNvPr id="66565" name="Rectangle 5">
            <a:extLst>
              <a:ext uri="{FF2B5EF4-FFF2-40B4-BE49-F238E27FC236}">
                <a16:creationId xmlns:a16="http://schemas.microsoft.com/office/drawing/2014/main" id="{646D834C-2FF9-24C5-9938-510855EC313F}"/>
              </a:ext>
            </a:extLst>
          </p:cNvPr>
          <p:cNvSpPr>
            <a:spLocks noGrp="1" noRot="1" noChangeArrowheads="1" noTextEdit="1"/>
          </p:cNvSpPr>
          <p:nvPr>
            <p:ph type="sldImg"/>
          </p:nvPr>
        </p:nvSpPr>
        <p:spPr>
          <a:xfrm>
            <a:off x="439738" y="163513"/>
            <a:ext cx="5973762" cy="4479925"/>
          </a:xfrm>
          <a:ln w="12700" cap="flat">
            <a:solidFill>
              <a:schemeClr val="tx1"/>
            </a:solid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F9EF042-2DF8-6B04-82EA-EA52DD957F6F}"/>
              </a:ext>
            </a:extLst>
          </p:cNvPr>
          <p:cNvSpPr>
            <a:spLocks noGrp="1" noRot="1" noChangeArrowheads="1" noTextEdit="1"/>
          </p:cNvSpPr>
          <p:nvPr>
            <p:ph type="sldImg"/>
          </p:nvPr>
        </p:nvSpPr>
        <p:spPr>
          <a:xfrm>
            <a:off x="439738" y="163513"/>
            <a:ext cx="5973762" cy="4479925"/>
          </a:xfrm>
          <a:ln w="12700" cap="flat">
            <a:solidFill>
              <a:schemeClr val="tx1"/>
            </a:solidFill>
          </a:ln>
        </p:spPr>
      </p:sp>
      <p:sp>
        <p:nvSpPr>
          <p:cNvPr id="68611" name="Rectangle 3">
            <a:extLst>
              <a:ext uri="{FF2B5EF4-FFF2-40B4-BE49-F238E27FC236}">
                <a16:creationId xmlns:a16="http://schemas.microsoft.com/office/drawing/2014/main" id="{C81739C1-78C3-538C-4371-6D68FE0F2F0A}"/>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Adding a Column</a:t>
            </a:r>
          </a:p>
          <a:p>
            <a:pPr lvl="1"/>
            <a:r>
              <a:rPr lang="en-US" altLang="en-US">
                <a:latin typeface="Arial" panose="020B0604020202020204" pitchFamily="34" charset="0"/>
              </a:rPr>
              <a:t>The graphic adds the JOB column to DEPT30 table. Notice that the new column becomes the last column in the table.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FA2B69D-3534-58E6-CD6A-076BBA8AC19E}"/>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Guidelines for Adding a Column</a:t>
            </a:r>
          </a:p>
          <a:p>
            <a:pPr lvl="2"/>
            <a:r>
              <a:rPr lang="en-US" altLang="en-US">
                <a:latin typeface="Arial" panose="020B0604020202020204" pitchFamily="34" charset="0"/>
              </a:rPr>
              <a:t>You can add or modify columns, but you cannot drop them from a table.</a:t>
            </a:r>
          </a:p>
          <a:p>
            <a:pPr lvl="2"/>
            <a:r>
              <a:rPr lang="en-US" altLang="en-US">
                <a:latin typeface="Arial" panose="020B0604020202020204" pitchFamily="34" charset="0"/>
              </a:rPr>
              <a:t>You cannot specify where the column is to appear. The new column becomes the last column.</a:t>
            </a:r>
          </a:p>
          <a:p>
            <a:pPr lvl="1"/>
            <a:r>
              <a:rPr lang="en-US" altLang="en-US">
                <a:latin typeface="Arial" panose="020B0604020202020204" pitchFamily="34" charset="0"/>
              </a:rPr>
              <a:t>The example on the slide adds a column named JOB to the DEPT30 table. The JOB column becomes the last column in the table. </a:t>
            </a:r>
            <a:endParaRPr lang="en-US" altLang="en-US" b="1">
              <a:latin typeface="Arial" panose="020B0604020202020204" pitchFamily="34" charset="0"/>
            </a:endParaRPr>
          </a:p>
          <a:p>
            <a:pPr lvl="1"/>
            <a:r>
              <a:rPr lang="en-US" altLang="en-US" b="1">
                <a:latin typeface="Arial" panose="020B0604020202020204" pitchFamily="34" charset="0"/>
              </a:rPr>
              <a:t>Note:</a:t>
            </a:r>
            <a:r>
              <a:rPr lang="en-US" altLang="en-US">
                <a:latin typeface="Arial" panose="020B0604020202020204" pitchFamily="34" charset="0"/>
              </a:rPr>
              <a:t> </a:t>
            </a:r>
            <a:r>
              <a:rPr lang="en-US" altLang="en-US">
                <a:latin typeface="Times" panose="02020603050405020304" pitchFamily="18" charset="0"/>
              </a:rPr>
              <a:t>If a table already contains rows when a column is added, then the new column is initially null for all the rows.</a:t>
            </a:r>
          </a:p>
          <a:p>
            <a:pPr lvl="1"/>
            <a:endParaRPr lang="en-US" altLang="en-US">
              <a:latin typeface="Times" panose="02020603050405020304" pitchFamily="18" charset="0"/>
            </a:endParaRPr>
          </a:p>
          <a:p>
            <a:pPr lvl="1"/>
            <a:endParaRPr lang="en-US" altLang="en-US">
              <a:latin typeface="Times" panose="02020603050405020304" pitchFamily="18" charset="0"/>
            </a:endParaRPr>
          </a:p>
          <a:p>
            <a:pPr lvl="1"/>
            <a:endParaRPr lang="en-US" altLang="en-US">
              <a:latin typeface="Times" panose="02020603050405020304" pitchFamily="18" charset="0"/>
            </a:endParaRPr>
          </a:p>
          <a:p>
            <a:pPr lvl="1"/>
            <a:endParaRPr lang="en-US" altLang="en-US">
              <a:latin typeface="Times" panose="02020603050405020304" pitchFamily="18" charset="0"/>
            </a:endParaRPr>
          </a:p>
          <a:p>
            <a:pPr lvl="1"/>
            <a:endParaRPr lang="en-US" altLang="en-US">
              <a:latin typeface="Times" panose="02020603050405020304" pitchFamily="18" charset="0"/>
            </a:endParaRPr>
          </a:p>
          <a:p>
            <a:pPr lvl="1"/>
            <a:endParaRPr lang="en-US" altLang="en-US">
              <a:latin typeface="Times" panose="02020603050405020304" pitchFamily="18" charset="0"/>
            </a:endParaRPr>
          </a:p>
          <a:p>
            <a:pPr lvl="1"/>
            <a:endParaRPr lang="en-US" altLang="en-US">
              <a:latin typeface="Times" panose="02020603050405020304" pitchFamily="18"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Oracle8i provides new options for the ALTER TABLE command, including the ability to drop a column from a table.</a:t>
            </a:r>
          </a:p>
        </p:txBody>
      </p:sp>
      <p:sp>
        <p:nvSpPr>
          <p:cNvPr id="70659" name="Rectangle 3">
            <a:extLst>
              <a:ext uri="{FF2B5EF4-FFF2-40B4-BE49-F238E27FC236}">
                <a16:creationId xmlns:a16="http://schemas.microsoft.com/office/drawing/2014/main" id="{4FCA27BC-EEEE-1879-EE9E-C434F2D73879}"/>
              </a:ext>
            </a:extLst>
          </p:cNvPr>
          <p:cNvSpPr>
            <a:spLocks noGrp="1" noRot="1" noChangeArrowheads="1" noTextEdit="1"/>
          </p:cNvSpPr>
          <p:nvPr>
            <p:ph type="sldImg"/>
          </p:nvPr>
        </p:nvSpPr>
        <p:spPr>
          <a:xfrm>
            <a:off x="439738" y="163513"/>
            <a:ext cx="5973762" cy="4479925"/>
          </a:xfrm>
          <a:ln w="12700" cap="flat">
            <a:solidFill>
              <a:schemeClr val="tx1"/>
            </a:solidFill>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B203D367-A37B-E103-B73F-4DE2B5694BC4}"/>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2707" name="Rectangle 3">
            <a:extLst>
              <a:ext uri="{FF2B5EF4-FFF2-40B4-BE49-F238E27FC236}">
                <a16:creationId xmlns:a16="http://schemas.microsoft.com/office/drawing/2014/main" id="{A6AE9760-4F83-F638-23A4-C29B28854FD8}"/>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2708" name="Rectangle 4">
            <a:extLst>
              <a:ext uri="{FF2B5EF4-FFF2-40B4-BE49-F238E27FC236}">
                <a16:creationId xmlns:a16="http://schemas.microsoft.com/office/drawing/2014/main" id="{C86B402A-A6CA-16C6-F70C-A6EEB5F248C0}"/>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Modifying a Column</a:t>
            </a:r>
          </a:p>
          <a:p>
            <a:pPr lvl="1"/>
            <a:r>
              <a:rPr lang="en-US" altLang="en-US">
                <a:latin typeface="Arial" panose="020B0604020202020204" pitchFamily="34" charset="0"/>
              </a:rPr>
              <a:t>You can modify a column definition by using the ALTER TABLE statement with the </a:t>
            </a:r>
            <a:r>
              <a:rPr lang="en-US" altLang="en-US">
                <a:solidFill>
                  <a:srgbClr val="FC0128"/>
                </a:solidFill>
                <a:latin typeface="Arial" panose="020B0604020202020204" pitchFamily="34" charset="0"/>
              </a:rPr>
              <a:t>MODIFY </a:t>
            </a:r>
            <a:r>
              <a:rPr lang="en-US" altLang="en-US">
                <a:latin typeface="Arial" panose="020B0604020202020204" pitchFamily="34" charset="0"/>
              </a:rPr>
              <a:t>clause. Column modification can include changes to a column’s datatype, size, and default value.</a:t>
            </a:r>
          </a:p>
          <a:p>
            <a:r>
              <a:rPr lang="en-US" altLang="en-US">
                <a:latin typeface="Arial" panose="020B0604020202020204" pitchFamily="34" charset="0"/>
              </a:rPr>
              <a:t>Guidelines</a:t>
            </a:r>
          </a:p>
          <a:p>
            <a:pPr lvl="2"/>
            <a:r>
              <a:rPr lang="en-US" altLang="en-US">
                <a:latin typeface="Arial" panose="020B0604020202020204" pitchFamily="34" charset="0"/>
              </a:rPr>
              <a:t>Increase the width or precision of a numeric column.</a:t>
            </a:r>
          </a:p>
          <a:p>
            <a:pPr lvl="2"/>
            <a:r>
              <a:rPr lang="en-US" altLang="en-US">
                <a:latin typeface="Arial" panose="020B0604020202020204" pitchFamily="34" charset="0"/>
              </a:rPr>
              <a:t>Decrease the width of a column if the column contains only null values or if the table has no rows.</a:t>
            </a:r>
          </a:p>
          <a:p>
            <a:pPr lvl="2"/>
            <a:r>
              <a:rPr lang="en-US" altLang="en-US">
                <a:latin typeface="Arial" panose="020B0604020202020204" pitchFamily="34" charset="0"/>
              </a:rPr>
              <a:t>Change the datatype if the column contains null values.</a:t>
            </a:r>
          </a:p>
          <a:p>
            <a:pPr lvl="2"/>
            <a:r>
              <a:rPr lang="en-US" altLang="en-US">
                <a:latin typeface="Arial" panose="020B0604020202020204" pitchFamily="34" charset="0"/>
              </a:rPr>
              <a:t>Convert a CHAR column to the VARCHAR2 datatype or convert a VARCHAR2 column to the CHAR datatype if the column contains null values or if you do not change the size.</a:t>
            </a:r>
          </a:p>
          <a:p>
            <a:pPr lvl="2"/>
            <a:r>
              <a:rPr lang="en-US" altLang="en-US">
                <a:latin typeface="Arial" panose="020B0604020202020204" pitchFamily="34" charset="0"/>
              </a:rPr>
              <a:t>A change to the default value of a column affects only subsequent insertions to the table.</a:t>
            </a:r>
          </a:p>
          <a:p>
            <a:pPr lvl="1"/>
            <a:endParaRPr lang="en-US" altLang="en-US">
              <a:latin typeface="Arial" panose="020B0604020202020204" pitchFamily="34" charset="0"/>
            </a:endParaRPr>
          </a:p>
          <a:p>
            <a:pPr lvl="1"/>
            <a:r>
              <a:rPr lang="en-US" altLang="en-US">
                <a:latin typeface="Arial" panose="020B0604020202020204" pitchFamily="34" charset="0"/>
              </a:rPr>
              <a:t> </a:t>
            </a:r>
          </a:p>
          <a:p>
            <a:endParaRPr lang="en-US" altLang="en-US" b="1">
              <a:latin typeface="Times New Roman" panose="02020603050405020304" pitchFamily="18" charset="0"/>
            </a:endParaRPr>
          </a:p>
        </p:txBody>
      </p:sp>
      <p:sp>
        <p:nvSpPr>
          <p:cNvPr id="72709" name="Rectangle 5">
            <a:extLst>
              <a:ext uri="{FF2B5EF4-FFF2-40B4-BE49-F238E27FC236}">
                <a16:creationId xmlns:a16="http://schemas.microsoft.com/office/drawing/2014/main" id="{E74584FB-E2B7-A2B2-CF55-9B17D6868F0C}"/>
              </a:ext>
            </a:extLst>
          </p:cNvPr>
          <p:cNvSpPr>
            <a:spLocks noGrp="1" noRot="1" noChangeArrowheads="1" noTextEdit="1"/>
          </p:cNvSpPr>
          <p:nvPr>
            <p:ph type="sldImg"/>
          </p:nvPr>
        </p:nvSpPr>
        <p:spPr>
          <a:xfrm>
            <a:off x="439738" y="163513"/>
            <a:ext cx="5973762" cy="4479925"/>
          </a:xfrm>
          <a:ln w="12700" cap="flat">
            <a:solidFill>
              <a:schemeClr val="tx1"/>
            </a:solidFill>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4E707492-C812-862D-391D-8AA6E8B0C22C}"/>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4755" name="Rectangle 3">
            <a:extLst>
              <a:ext uri="{FF2B5EF4-FFF2-40B4-BE49-F238E27FC236}">
                <a16:creationId xmlns:a16="http://schemas.microsoft.com/office/drawing/2014/main" id="{4892A757-A415-29B9-8560-7BC47488B828}"/>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4756" name="Rectangle 4">
            <a:extLst>
              <a:ext uri="{FF2B5EF4-FFF2-40B4-BE49-F238E27FC236}">
                <a16:creationId xmlns:a16="http://schemas.microsoft.com/office/drawing/2014/main" id="{FCCA3BF9-6EFC-2065-1069-08CFA9634267}"/>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Modifying a Column</a:t>
            </a:r>
          </a:p>
          <a:p>
            <a:pPr lvl="1"/>
            <a:r>
              <a:rPr lang="en-US" altLang="en-US">
                <a:latin typeface="Arial" panose="020B0604020202020204" pitchFamily="34" charset="0"/>
              </a:rPr>
              <a:t>You can modify a column definition by using the ALTER TABLE statement with the </a:t>
            </a:r>
            <a:r>
              <a:rPr lang="en-US" altLang="en-US">
                <a:solidFill>
                  <a:srgbClr val="FC0128"/>
                </a:solidFill>
                <a:latin typeface="Arial" panose="020B0604020202020204" pitchFamily="34" charset="0"/>
              </a:rPr>
              <a:t>MODIFY </a:t>
            </a:r>
            <a:r>
              <a:rPr lang="en-US" altLang="en-US">
                <a:latin typeface="Arial" panose="020B0604020202020204" pitchFamily="34" charset="0"/>
              </a:rPr>
              <a:t>clause. Column modification can include changes to a column’s datatype, size, and default value.</a:t>
            </a:r>
          </a:p>
          <a:p>
            <a:r>
              <a:rPr lang="en-US" altLang="en-US">
                <a:latin typeface="Arial" panose="020B0604020202020204" pitchFamily="34" charset="0"/>
              </a:rPr>
              <a:t>Guidelines</a:t>
            </a:r>
          </a:p>
          <a:p>
            <a:pPr lvl="2"/>
            <a:r>
              <a:rPr lang="en-US" altLang="en-US">
                <a:latin typeface="Arial" panose="020B0604020202020204" pitchFamily="34" charset="0"/>
              </a:rPr>
              <a:t>Increase the width or precision of a numeric column.</a:t>
            </a:r>
          </a:p>
          <a:p>
            <a:pPr lvl="2"/>
            <a:r>
              <a:rPr lang="en-US" altLang="en-US">
                <a:latin typeface="Arial" panose="020B0604020202020204" pitchFamily="34" charset="0"/>
              </a:rPr>
              <a:t>Decrease the width of a column if the column contains only null values or if the table has no rows.</a:t>
            </a:r>
          </a:p>
          <a:p>
            <a:pPr lvl="2"/>
            <a:r>
              <a:rPr lang="en-US" altLang="en-US">
                <a:latin typeface="Arial" panose="020B0604020202020204" pitchFamily="34" charset="0"/>
              </a:rPr>
              <a:t>Change the datatype if the column contains null values.</a:t>
            </a:r>
          </a:p>
          <a:p>
            <a:pPr lvl="2"/>
            <a:r>
              <a:rPr lang="en-US" altLang="en-US">
                <a:latin typeface="Arial" panose="020B0604020202020204" pitchFamily="34" charset="0"/>
              </a:rPr>
              <a:t>Convert a CHAR column to the VARCHAR2 datatype or convert a VARCHAR2 column to the CHAR datatype if the column contains null values or if you do not change the size.</a:t>
            </a:r>
          </a:p>
          <a:p>
            <a:pPr lvl="2"/>
            <a:r>
              <a:rPr lang="en-US" altLang="en-US">
                <a:latin typeface="Arial" panose="020B0604020202020204" pitchFamily="34" charset="0"/>
              </a:rPr>
              <a:t>A change to the default value of a column affects only subsequent insertions to the table.</a:t>
            </a:r>
          </a:p>
          <a:p>
            <a:pPr lvl="1"/>
            <a:endParaRPr lang="en-US" altLang="en-US">
              <a:latin typeface="Arial" panose="020B0604020202020204" pitchFamily="34" charset="0"/>
            </a:endParaRPr>
          </a:p>
          <a:p>
            <a:pPr lvl="1"/>
            <a:r>
              <a:rPr lang="en-US" altLang="en-US">
                <a:latin typeface="Arial" panose="020B0604020202020204" pitchFamily="34" charset="0"/>
              </a:rPr>
              <a:t> </a:t>
            </a:r>
          </a:p>
          <a:p>
            <a:endParaRPr lang="en-US" altLang="en-US" b="1">
              <a:latin typeface="Times New Roman" panose="02020603050405020304" pitchFamily="18" charset="0"/>
            </a:endParaRPr>
          </a:p>
        </p:txBody>
      </p:sp>
      <p:sp>
        <p:nvSpPr>
          <p:cNvPr id="74757" name="Rectangle 5">
            <a:extLst>
              <a:ext uri="{FF2B5EF4-FFF2-40B4-BE49-F238E27FC236}">
                <a16:creationId xmlns:a16="http://schemas.microsoft.com/office/drawing/2014/main" id="{2D0639DF-DCA6-B8A2-D7EC-68385D21C15A}"/>
              </a:ext>
            </a:extLst>
          </p:cNvPr>
          <p:cNvSpPr>
            <a:spLocks noGrp="1" noRot="1" noChangeArrowheads="1" noTextEdit="1"/>
          </p:cNvSpPr>
          <p:nvPr>
            <p:ph type="sldImg"/>
          </p:nvPr>
        </p:nvSpPr>
        <p:spPr>
          <a:xfrm>
            <a:off x="439738" y="163513"/>
            <a:ext cx="5973762" cy="4479925"/>
          </a:xfrm>
          <a:ln w="12700" cap="flat">
            <a:solidFill>
              <a:schemeClr val="tx1"/>
            </a:solid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FC5AFF73-0D45-3576-77D3-405F7294C727}"/>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6803" name="Rectangle 3">
            <a:extLst>
              <a:ext uri="{FF2B5EF4-FFF2-40B4-BE49-F238E27FC236}">
                <a16:creationId xmlns:a16="http://schemas.microsoft.com/office/drawing/2014/main" id="{0D8EFA22-D657-155D-2746-CF59023739CB}"/>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6804" name="Rectangle 4">
            <a:extLst>
              <a:ext uri="{FF2B5EF4-FFF2-40B4-BE49-F238E27FC236}">
                <a16:creationId xmlns:a16="http://schemas.microsoft.com/office/drawing/2014/main" id="{419639CB-F0FE-532C-DCB7-0C030CFF3C2A}"/>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Modifying a Column</a:t>
            </a:r>
          </a:p>
          <a:p>
            <a:pPr lvl="1"/>
            <a:r>
              <a:rPr lang="en-US" altLang="en-US">
                <a:latin typeface="Arial" panose="020B0604020202020204" pitchFamily="34" charset="0"/>
              </a:rPr>
              <a:t>You can modify a column definition by using the ALTER TABLE statement with the </a:t>
            </a:r>
            <a:r>
              <a:rPr lang="en-US" altLang="en-US">
                <a:solidFill>
                  <a:srgbClr val="FC0128"/>
                </a:solidFill>
                <a:latin typeface="Arial" panose="020B0604020202020204" pitchFamily="34" charset="0"/>
              </a:rPr>
              <a:t>MODIFY </a:t>
            </a:r>
            <a:r>
              <a:rPr lang="en-US" altLang="en-US">
                <a:latin typeface="Arial" panose="020B0604020202020204" pitchFamily="34" charset="0"/>
              </a:rPr>
              <a:t>clause. Column modification can include changes to a column’s datatype, size, and default value.</a:t>
            </a:r>
          </a:p>
          <a:p>
            <a:r>
              <a:rPr lang="en-US" altLang="en-US">
                <a:latin typeface="Arial" panose="020B0604020202020204" pitchFamily="34" charset="0"/>
              </a:rPr>
              <a:t>Guidelines</a:t>
            </a:r>
          </a:p>
          <a:p>
            <a:pPr lvl="2"/>
            <a:r>
              <a:rPr lang="en-US" altLang="en-US">
                <a:latin typeface="Arial" panose="020B0604020202020204" pitchFamily="34" charset="0"/>
              </a:rPr>
              <a:t>Increase the width or precision of a numeric column.</a:t>
            </a:r>
          </a:p>
          <a:p>
            <a:pPr lvl="2"/>
            <a:r>
              <a:rPr lang="en-US" altLang="en-US">
                <a:latin typeface="Arial" panose="020B0604020202020204" pitchFamily="34" charset="0"/>
              </a:rPr>
              <a:t>Decrease the width of a column if the column contains only null values or if the table has no rows.</a:t>
            </a:r>
          </a:p>
          <a:p>
            <a:pPr lvl="2"/>
            <a:r>
              <a:rPr lang="en-US" altLang="en-US">
                <a:latin typeface="Arial" panose="020B0604020202020204" pitchFamily="34" charset="0"/>
              </a:rPr>
              <a:t>Change the datatype if the column contains null values.</a:t>
            </a:r>
          </a:p>
          <a:p>
            <a:pPr lvl="2"/>
            <a:r>
              <a:rPr lang="en-US" altLang="en-US">
                <a:latin typeface="Arial" panose="020B0604020202020204" pitchFamily="34" charset="0"/>
              </a:rPr>
              <a:t>Convert a CHAR column to the VARCHAR2 datatype or convert a VARCHAR2 column to the CHAR datatype if the column contains null values or if you do not change the size.</a:t>
            </a:r>
          </a:p>
          <a:p>
            <a:pPr lvl="2"/>
            <a:r>
              <a:rPr lang="en-US" altLang="en-US">
                <a:latin typeface="Arial" panose="020B0604020202020204" pitchFamily="34" charset="0"/>
              </a:rPr>
              <a:t>A change to the default value of a column affects only subsequent insertions to the table.</a:t>
            </a:r>
          </a:p>
          <a:p>
            <a:pPr lvl="1"/>
            <a:endParaRPr lang="en-US" altLang="en-US">
              <a:latin typeface="Arial" panose="020B0604020202020204" pitchFamily="34" charset="0"/>
            </a:endParaRPr>
          </a:p>
          <a:p>
            <a:pPr lvl="1"/>
            <a:r>
              <a:rPr lang="en-US" altLang="en-US">
                <a:latin typeface="Arial" panose="020B0604020202020204" pitchFamily="34" charset="0"/>
              </a:rPr>
              <a:t> </a:t>
            </a:r>
          </a:p>
          <a:p>
            <a:endParaRPr lang="en-US" altLang="en-US" b="1">
              <a:latin typeface="Times New Roman" panose="02020603050405020304" pitchFamily="18" charset="0"/>
            </a:endParaRPr>
          </a:p>
        </p:txBody>
      </p:sp>
      <p:sp>
        <p:nvSpPr>
          <p:cNvPr id="76805" name="Rectangle 5">
            <a:extLst>
              <a:ext uri="{FF2B5EF4-FFF2-40B4-BE49-F238E27FC236}">
                <a16:creationId xmlns:a16="http://schemas.microsoft.com/office/drawing/2014/main" id="{D459F6D3-4903-B587-0A2B-6EE2DC314774}"/>
              </a:ext>
            </a:extLst>
          </p:cNvPr>
          <p:cNvSpPr>
            <a:spLocks noGrp="1" noRot="1" noChangeArrowheads="1" noTextEdit="1"/>
          </p:cNvSpPr>
          <p:nvPr>
            <p:ph type="sldImg"/>
          </p:nvPr>
        </p:nvSpPr>
        <p:spPr>
          <a:xfrm>
            <a:off x="439738" y="163513"/>
            <a:ext cx="5973762" cy="4479925"/>
          </a:xfrm>
          <a:ln w="12700" cap="flat">
            <a:solidFill>
              <a:schemeClr val="tx1"/>
            </a:solidFill>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22FBCDFB-C4E0-9354-69B5-FAA7D57DCE63}"/>
              </a:ext>
            </a:extLst>
          </p:cNvPr>
          <p:cNvSpPr>
            <a:spLocks noChangeArrowheads="1"/>
          </p:cNvSpPr>
          <p:nvPr/>
        </p:nvSpPr>
        <p:spPr bwMode="auto">
          <a:xfrm>
            <a:off x="3883025" y="0"/>
            <a:ext cx="29765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8851" name="Rectangle 3">
            <a:extLst>
              <a:ext uri="{FF2B5EF4-FFF2-40B4-BE49-F238E27FC236}">
                <a16:creationId xmlns:a16="http://schemas.microsoft.com/office/drawing/2014/main" id="{74F580CE-8F71-6EF6-B2E8-F3676AE60D24}"/>
              </a:ext>
            </a:extLst>
          </p:cNvPr>
          <p:cNvSpPr>
            <a:spLocks noChangeArrowheads="1"/>
          </p:cNvSpPr>
          <p:nvPr/>
        </p:nvSpPr>
        <p:spPr bwMode="auto">
          <a:xfrm>
            <a:off x="-3175" y="0"/>
            <a:ext cx="29733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8852" name="Rectangle 4">
            <a:extLst>
              <a:ext uri="{FF2B5EF4-FFF2-40B4-BE49-F238E27FC236}">
                <a16:creationId xmlns:a16="http://schemas.microsoft.com/office/drawing/2014/main" id="{88C2FA9F-F53C-1ACF-59F1-88B90C62F495}"/>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Adding a Constraint</a:t>
            </a:r>
          </a:p>
          <a:p>
            <a:pPr marL="114300" lvl="1" defTabSz="401638"/>
            <a:r>
              <a:rPr lang="en-US" altLang="en-US">
                <a:latin typeface="Arial" panose="020B0604020202020204" pitchFamily="34" charset="0"/>
              </a:rPr>
              <a:t>You can add a constraint for existing tables by using the ALTER TABLE statement with the </a:t>
            </a:r>
            <a:r>
              <a:rPr lang="en-US" altLang="en-US">
                <a:solidFill>
                  <a:srgbClr val="FC0128"/>
                </a:solidFill>
                <a:latin typeface="Arial" panose="020B0604020202020204" pitchFamily="34" charset="0"/>
              </a:rPr>
              <a:t>ADD  clause.</a:t>
            </a:r>
          </a:p>
          <a:p>
            <a:pPr marL="114300" lvl="1" defTabSz="401638"/>
            <a:r>
              <a:rPr lang="en-US" altLang="en-US">
                <a:latin typeface="Arial" panose="020B0604020202020204" pitchFamily="34" charset="0"/>
              </a:rPr>
              <a:t>In the syntax:</a:t>
            </a:r>
          </a:p>
          <a:p>
            <a:pPr marL="114300" lvl="1" defTabSz="401638"/>
            <a:r>
              <a:rPr lang="en-US" altLang="en-US" i="1">
                <a:latin typeface="Arial" panose="020B0604020202020204" pitchFamily="34" charset="0"/>
              </a:rPr>
              <a:t>	table</a:t>
            </a:r>
            <a:r>
              <a:rPr lang="en-US" altLang="en-US">
                <a:latin typeface="Arial" panose="020B0604020202020204" pitchFamily="34" charset="0"/>
              </a:rPr>
              <a:t>			is the name of the table</a:t>
            </a:r>
          </a:p>
          <a:p>
            <a:pPr marL="114300" lvl="1" defTabSz="401638"/>
            <a:r>
              <a:rPr lang="en-US" altLang="en-US" i="1">
                <a:latin typeface="Arial" panose="020B0604020202020204" pitchFamily="34" charset="0"/>
              </a:rPr>
              <a:t>	constraint</a:t>
            </a:r>
            <a:r>
              <a:rPr lang="en-US" altLang="en-US">
                <a:latin typeface="Arial" panose="020B0604020202020204" pitchFamily="34" charset="0"/>
              </a:rPr>
              <a:t>		is the name of the constraint</a:t>
            </a:r>
          </a:p>
          <a:p>
            <a:pPr marL="114300" lvl="1" defTabSz="401638"/>
            <a:r>
              <a:rPr lang="en-US" altLang="en-US">
                <a:latin typeface="Arial" panose="020B0604020202020204" pitchFamily="34" charset="0"/>
              </a:rPr>
              <a:t>	</a:t>
            </a:r>
            <a:r>
              <a:rPr lang="en-US" altLang="en-US" i="1">
                <a:latin typeface="Arial" panose="020B0604020202020204" pitchFamily="34" charset="0"/>
              </a:rPr>
              <a:t>type</a:t>
            </a:r>
            <a:r>
              <a:rPr lang="en-US" altLang="en-US">
                <a:latin typeface="Arial" panose="020B0604020202020204" pitchFamily="34" charset="0"/>
              </a:rPr>
              <a:t>			is the constraint type</a:t>
            </a:r>
          </a:p>
          <a:p>
            <a:pPr marL="114300" lvl="1" defTabSz="401638"/>
            <a:r>
              <a:rPr lang="en-US" altLang="en-US">
                <a:latin typeface="Arial" panose="020B0604020202020204" pitchFamily="34" charset="0"/>
              </a:rPr>
              <a:t>	</a:t>
            </a:r>
            <a:r>
              <a:rPr lang="en-US" altLang="en-US" i="1">
                <a:latin typeface="Arial" panose="020B0604020202020204" pitchFamily="34" charset="0"/>
              </a:rPr>
              <a:t>column		</a:t>
            </a:r>
            <a:r>
              <a:rPr lang="en-US" altLang="en-US">
                <a:latin typeface="Arial" panose="020B0604020202020204" pitchFamily="34" charset="0"/>
              </a:rPr>
              <a:t>is the name of the column affected by the constraint</a:t>
            </a:r>
          </a:p>
          <a:p>
            <a:pPr marL="114300" lvl="1" defTabSz="401638"/>
            <a:r>
              <a:rPr lang="en-US" altLang="en-US">
                <a:latin typeface="Arial" panose="020B0604020202020204" pitchFamily="34" charset="0"/>
              </a:rPr>
              <a:t>The constraint name syntax is optional, although recommended. If you do not name your constraints, the system will generate constraint names.</a:t>
            </a:r>
          </a:p>
          <a:p>
            <a:pPr marL="114300" lvl="1" defTabSz="401638"/>
            <a:r>
              <a:rPr lang="en-US" altLang="en-US">
                <a:latin typeface="Arial" panose="020B0604020202020204" pitchFamily="34" charset="0"/>
              </a:rPr>
              <a:t>Guidelines:</a:t>
            </a:r>
          </a:p>
          <a:p>
            <a:pPr marL="450850" lvl="2" indent="-217488" defTabSz="401638"/>
            <a:r>
              <a:rPr lang="en-US" altLang="en-US">
                <a:latin typeface="Arial" panose="020B0604020202020204" pitchFamily="34" charset="0"/>
              </a:rPr>
              <a:t>You can add, drop, enable, or disable a constraint, but you cannot modify its structure.</a:t>
            </a:r>
          </a:p>
          <a:p>
            <a:pPr marL="450850" lvl="2" indent="-217488" defTabSz="401638"/>
            <a:r>
              <a:rPr lang="en-US" altLang="en-US">
                <a:latin typeface="Arial" panose="020B0604020202020204" pitchFamily="34" charset="0"/>
              </a:rPr>
              <a:t>You can add a NOT NULL constraint to an existing column by using the MODIFY clause of the ALTER TABLE statement.</a:t>
            </a:r>
          </a:p>
          <a:p>
            <a:pPr marL="114300" lvl="1" defTabSz="401638"/>
            <a:r>
              <a:rPr lang="en-US" altLang="en-US" b="1">
                <a:latin typeface="Times" panose="02020603050405020304" pitchFamily="18" charset="0"/>
              </a:rPr>
              <a:t>Note:</a:t>
            </a:r>
            <a:r>
              <a:rPr lang="en-US" altLang="en-US">
                <a:latin typeface="Times" panose="02020603050405020304" pitchFamily="18" charset="0"/>
              </a:rPr>
              <a:t> You can define a NOT NULL column only if the table contains no rows, because data cannot be specified for existing rows at the same time that the column is added.</a:t>
            </a:r>
          </a:p>
        </p:txBody>
      </p:sp>
      <p:sp>
        <p:nvSpPr>
          <p:cNvPr id="78853" name="Rectangle 5">
            <a:extLst>
              <a:ext uri="{FF2B5EF4-FFF2-40B4-BE49-F238E27FC236}">
                <a16:creationId xmlns:a16="http://schemas.microsoft.com/office/drawing/2014/main" id="{6393A50E-EF27-2C7C-CE9A-214890B8C75D}"/>
              </a:ext>
            </a:extLst>
          </p:cNvPr>
          <p:cNvSpPr>
            <a:spLocks noGrp="1" noRot="1" noChangeArrowheads="1" noTextEdit="1"/>
          </p:cNvSpPr>
          <p:nvPr>
            <p:ph type="sldImg"/>
          </p:nvPr>
        </p:nvSpPr>
        <p:spPr>
          <a:xfrm>
            <a:off x="438150" y="160338"/>
            <a:ext cx="5976938" cy="4483100"/>
          </a:xfrm>
          <a:ln w="12700" cap="flat">
            <a:solidFill>
              <a:schemeClr val="tx1"/>
            </a:solidFill>
          </a:ln>
        </p:spPr>
      </p:sp>
      <p:grpSp>
        <p:nvGrpSpPr>
          <p:cNvPr id="78854" name="Group 6">
            <a:extLst>
              <a:ext uri="{FF2B5EF4-FFF2-40B4-BE49-F238E27FC236}">
                <a16:creationId xmlns:a16="http://schemas.microsoft.com/office/drawing/2014/main" id="{249000CD-17C0-A51C-F6F7-A72921051726}"/>
              </a:ext>
            </a:extLst>
          </p:cNvPr>
          <p:cNvGrpSpPr>
            <a:grpSpLocks/>
          </p:cNvGrpSpPr>
          <p:nvPr/>
        </p:nvGrpSpPr>
        <p:grpSpPr bwMode="auto">
          <a:xfrm>
            <a:off x="190500" y="6659563"/>
            <a:ext cx="287338" cy="309562"/>
            <a:chOff x="119" y="4119"/>
            <a:chExt cx="180" cy="192"/>
          </a:xfrm>
        </p:grpSpPr>
        <p:sp>
          <p:nvSpPr>
            <p:cNvPr id="78855" name="Freeform 7">
              <a:extLst>
                <a:ext uri="{FF2B5EF4-FFF2-40B4-BE49-F238E27FC236}">
                  <a16:creationId xmlns:a16="http://schemas.microsoft.com/office/drawing/2014/main" id="{4B0C65B9-9424-313A-496A-35CCF05BE56D}"/>
                </a:ext>
              </a:extLst>
            </p:cNvPr>
            <p:cNvSpPr>
              <a:spLocks/>
            </p:cNvSpPr>
            <p:nvPr/>
          </p:nvSpPr>
          <p:spPr bwMode="auto">
            <a:xfrm>
              <a:off x="119" y="4119"/>
              <a:ext cx="180" cy="184"/>
            </a:xfrm>
            <a:custGeom>
              <a:avLst/>
              <a:gdLst>
                <a:gd name="T0" fmla="*/ 179 w 180"/>
                <a:gd name="T1" fmla="*/ 183 h 184"/>
                <a:gd name="T2" fmla="*/ 179 w 180"/>
                <a:gd name="T3" fmla="*/ 0 h 184"/>
                <a:gd name="T4" fmla="*/ 0 w 180"/>
                <a:gd name="T5" fmla="*/ 0 h 184"/>
                <a:gd name="T6" fmla="*/ 0 w 180"/>
                <a:gd name="T7" fmla="*/ 183 h 184"/>
                <a:gd name="T8" fmla="*/ 179 w 180"/>
                <a:gd name="T9" fmla="*/ 183 h 184"/>
                <a:gd name="T10" fmla="*/ 0 60000 65536"/>
                <a:gd name="T11" fmla="*/ 0 60000 65536"/>
                <a:gd name="T12" fmla="*/ 0 60000 65536"/>
                <a:gd name="T13" fmla="*/ 0 60000 65536"/>
                <a:gd name="T14" fmla="*/ 0 60000 65536"/>
                <a:gd name="T15" fmla="*/ 0 w 180"/>
                <a:gd name="T16" fmla="*/ 0 h 184"/>
                <a:gd name="T17" fmla="*/ 180 w 180"/>
                <a:gd name="T18" fmla="*/ 184 h 184"/>
              </a:gdLst>
              <a:ahLst/>
              <a:cxnLst>
                <a:cxn ang="T10">
                  <a:pos x="T0" y="T1"/>
                </a:cxn>
                <a:cxn ang="T11">
                  <a:pos x="T2" y="T3"/>
                </a:cxn>
                <a:cxn ang="T12">
                  <a:pos x="T4" y="T5"/>
                </a:cxn>
                <a:cxn ang="T13">
                  <a:pos x="T6" y="T7"/>
                </a:cxn>
                <a:cxn ang="T14">
                  <a:pos x="T8" y="T9"/>
                </a:cxn>
              </a:cxnLst>
              <a:rect l="T15" t="T16" r="T17" b="T18"/>
              <a:pathLst>
                <a:path w="180" h="184">
                  <a:moveTo>
                    <a:pt x="179" y="183"/>
                  </a:moveTo>
                  <a:lnTo>
                    <a:pt x="179" y="0"/>
                  </a:lnTo>
                  <a:lnTo>
                    <a:pt x="0" y="0"/>
                  </a:lnTo>
                  <a:lnTo>
                    <a:pt x="0" y="183"/>
                  </a:lnTo>
                  <a:lnTo>
                    <a:pt x="179" y="183"/>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56" name="Freeform 8">
              <a:extLst>
                <a:ext uri="{FF2B5EF4-FFF2-40B4-BE49-F238E27FC236}">
                  <a16:creationId xmlns:a16="http://schemas.microsoft.com/office/drawing/2014/main" id="{637096B3-C7AE-1395-4D87-6E4DDC5C43BD}"/>
                </a:ext>
              </a:extLst>
            </p:cNvPr>
            <p:cNvSpPr>
              <a:spLocks/>
            </p:cNvSpPr>
            <p:nvPr/>
          </p:nvSpPr>
          <p:spPr bwMode="auto">
            <a:xfrm>
              <a:off x="200" y="4293"/>
              <a:ext cx="27" cy="18"/>
            </a:xfrm>
            <a:custGeom>
              <a:avLst/>
              <a:gdLst>
                <a:gd name="T0" fmla="*/ 26 w 27"/>
                <a:gd name="T1" fmla="*/ 17 h 18"/>
                <a:gd name="T2" fmla="*/ 26 w 27"/>
                <a:gd name="T3" fmla="*/ 0 h 18"/>
                <a:gd name="T4" fmla="*/ 0 w 27"/>
                <a:gd name="T5" fmla="*/ 0 h 18"/>
                <a:gd name="T6" fmla="*/ 0 w 27"/>
                <a:gd name="T7" fmla="*/ 17 h 18"/>
                <a:gd name="T8" fmla="*/ 26 w 27"/>
                <a:gd name="T9" fmla="*/ 17 h 18"/>
                <a:gd name="T10" fmla="*/ 0 60000 65536"/>
                <a:gd name="T11" fmla="*/ 0 60000 65536"/>
                <a:gd name="T12" fmla="*/ 0 60000 65536"/>
                <a:gd name="T13" fmla="*/ 0 60000 65536"/>
                <a:gd name="T14" fmla="*/ 0 60000 65536"/>
                <a:gd name="T15" fmla="*/ 0 w 27"/>
                <a:gd name="T16" fmla="*/ 0 h 18"/>
                <a:gd name="T17" fmla="*/ 27 w 27"/>
                <a:gd name="T18" fmla="*/ 18 h 18"/>
              </a:gdLst>
              <a:ahLst/>
              <a:cxnLst>
                <a:cxn ang="T10">
                  <a:pos x="T0" y="T1"/>
                </a:cxn>
                <a:cxn ang="T11">
                  <a:pos x="T2" y="T3"/>
                </a:cxn>
                <a:cxn ang="T12">
                  <a:pos x="T4" y="T5"/>
                </a:cxn>
                <a:cxn ang="T13">
                  <a:pos x="T6" y="T7"/>
                </a:cxn>
                <a:cxn ang="T14">
                  <a:pos x="T8" y="T9"/>
                </a:cxn>
              </a:cxnLst>
              <a:rect l="T15" t="T16" r="T17" b="T18"/>
              <a:pathLst>
                <a:path w="27" h="18">
                  <a:moveTo>
                    <a:pt x="26" y="17"/>
                  </a:moveTo>
                  <a:lnTo>
                    <a:pt x="26" y="0"/>
                  </a:lnTo>
                  <a:lnTo>
                    <a:pt x="0" y="0"/>
                  </a:lnTo>
                  <a:lnTo>
                    <a:pt x="0" y="17"/>
                  </a:lnTo>
                  <a:lnTo>
                    <a:pt x="26"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57" name="Freeform 9">
              <a:extLst>
                <a:ext uri="{FF2B5EF4-FFF2-40B4-BE49-F238E27FC236}">
                  <a16:creationId xmlns:a16="http://schemas.microsoft.com/office/drawing/2014/main" id="{2B749B2F-800C-AEA6-8C4C-371E69521223}"/>
                </a:ext>
              </a:extLst>
            </p:cNvPr>
            <p:cNvSpPr>
              <a:spLocks/>
            </p:cNvSpPr>
            <p:nvPr/>
          </p:nvSpPr>
          <p:spPr bwMode="auto">
            <a:xfrm>
              <a:off x="142" y="4172"/>
              <a:ext cx="32" cy="20"/>
            </a:xfrm>
            <a:custGeom>
              <a:avLst/>
              <a:gdLst>
                <a:gd name="T0" fmla="*/ 0 w 32"/>
                <a:gd name="T1" fmla="*/ 0 h 20"/>
                <a:gd name="T2" fmla="*/ 25 w 32"/>
                <a:gd name="T3" fmla="*/ 19 h 20"/>
                <a:gd name="T4" fmla="*/ 31 w 32"/>
                <a:gd name="T5" fmla="*/ 8 h 20"/>
                <a:gd name="T6" fmla="*/ 0 w 32"/>
                <a:gd name="T7" fmla="*/ 0 h 20"/>
                <a:gd name="T8" fmla="*/ 0 60000 65536"/>
                <a:gd name="T9" fmla="*/ 0 60000 65536"/>
                <a:gd name="T10" fmla="*/ 0 60000 65536"/>
                <a:gd name="T11" fmla="*/ 0 60000 65536"/>
                <a:gd name="T12" fmla="*/ 0 w 32"/>
                <a:gd name="T13" fmla="*/ 0 h 20"/>
                <a:gd name="T14" fmla="*/ 32 w 32"/>
                <a:gd name="T15" fmla="*/ 20 h 20"/>
              </a:gdLst>
              <a:ahLst/>
              <a:cxnLst>
                <a:cxn ang="T8">
                  <a:pos x="T0" y="T1"/>
                </a:cxn>
                <a:cxn ang="T9">
                  <a:pos x="T2" y="T3"/>
                </a:cxn>
                <a:cxn ang="T10">
                  <a:pos x="T4" y="T5"/>
                </a:cxn>
                <a:cxn ang="T11">
                  <a:pos x="T6" y="T7"/>
                </a:cxn>
              </a:cxnLst>
              <a:rect l="T12" t="T13" r="T14" b="T15"/>
              <a:pathLst>
                <a:path w="32" h="20">
                  <a:moveTo>
                    <a:pt x="0" y="0"/>
                  </a:moveTo>
                  <a:lnTo>
                    <a:pt x="25" y="19"/>
                  </a:lnTo>
                  <a:lnTo>
                    <a:pt x="31" y="8"/>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58" name="Freeform 10">
              <a:extLst>
                <a:ext uri="{FF2B5EF4-FFF2-40B4-BE49-F238E27FC236}">
                  <a16:creationId xmlns:a16="http://schemas.microsoft.com/office/drawing/2014/main" id="{BBE7FD35-6F60-CFE5-8B4A-4FF2B0EA0D03}"/>
                </a:ext>
              </a:extLst>
            </p:cNvPr>
            <p:cNvSpPr>
              <a:spLocks/>
            </p:cNvSpPr>
            <p:nvPr/>
          </p:nvSpPr>
          <p:spPr bwMode="auto">
            <a:xfrm>
              <a:off x="252" y="4172"/>
              <a:ext cx="34" cy="20"/>
            </a:xfrm>
            <a:custGeom>
              <a:avLst/>
              <a:gdLst>
                <a:gd name="T0" fmla="*/ 33 w 34"/>
                <a:gd name="T1" fmla="*/ 0 h 20"/>
                <a:gd name="T2" fmla="*/ 6 w 34"/>
                <a:gd name="T3" fmla="*/ 19 h 20"/>
                <a:gd name="T4" fmla="*/ 0 w 34"/>
                <a:gd name="T5" fmla="*/ 9 h 20"/>
                <a:gd name="T6" fmla="*/ 33 w 34"/>
                <a:gd name="T7" fmla="*/ 0 h 20"/>
                <a:gd name="T8" fmla="*/ 0 60000 65536"/>
                <a:gd name="T9" fmla="*/ 0 60000 65536"/>
                <a:gd name="T10" fmla="*/ 0 60000 65536"/>
                <a:gd name="T11" fmla="*/ 0 60000 65536"/>
                <a:gd name="T12" fmla="*/ 0 w 34"/>
                <a:gd name="T13" fmla="*/ 0 h 20"/>
                <a:gd name="T14" fmla="*/ 34 w 34"/>
                <a:gd name="T15" fmla="*/ 20 h 20"/>
              </a:gdLst>
              <a:ahLst/>
              <a:cxnLst>
                <a:cxn ang="T8">
                  <a:pos x="T0" y="T1"/>
                </a:cxn>
                <a:cxn ang="T9">
                  <a:pos x="T2" y="T3"/>
                </a:cxn>
                <a:cxn ang="T10">
                  <a:pos x="T4" y="T5"/>
                </a:cxn>
                <a:cxn ang="T11">
                  <a:pos x="T6" y="T7"/>
                </a:cxn>
              </a:cxnLst>
              <a:rect l="T12" t="T13" r="T14" b="T15"/>
              <a:pathLst>
                <a:path w="34" h="20">
                  <a:moveTo>
                    <a:pt x="33" y="0"/>
                  </a:moveTo>
                  <a:lnTo>
                    <a:pt x="6" y="19"/>
                  </a:lnTo>
                  <a:lnTo>
                    <a:pt x="0" y="9"/>
                  </a:lnTo>
                  <a:lnTo>
                    <a:pt x="33"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59" name="Freeform 11">
              <a:extLst>
                <a:ext uri="{FF2B5EF4-FFF2-40B4-BE49-F238E27FC236}">
                  <a16:creationId xmlns:a16="http://schemas.microsoft.com/office/drawing/2014/main" id="{DF1AE8B4-52DE-93D7-3AAA-982A16794C61}"/>
                </a:ext>
              </a:extLst>
            </p:cNvPr>
            <p:cNvSpPr>
              <a:spLocks/>
            </p:cNvSpPr>
            <p:nvPr/>
          </p:nvSpPr>
          <p:spPr bwMode="auto">
            <a:xfrm>
              <a:off x="139" y="4211"/>
              <a:ext cx="33" cy="18"/>
            </a:xfrm>
            <a:custGeom>
              <a:avLst/>
              <a:gdLst>
                <a:gd name="T0" fmla="*/ 0 w 33"/>
                <a:gd name="T1" fmla="*/ 17 h 18"/>
                <a:gd name="T2" fmla="*/ 32 w 33"/>
                <a:gd name="T3" fmla="*/ 13 h 18"/>
                <a:gd name="T4" fmla="*/ 30 w 33"/>
                <a:gd name="T5" fmla="*/ 0 h 18"/>
                <a:gd name="T6" fmla="*/ 0 w 33"/>
                <a:gd name="T7" fmla="*/ 17 h 18"/>
                <a:gd name="T8" fmla="*/ 0 60000 65536"/>
                <a:gd name="T9" fmla="*/ 0 60000 65536"/>
                <a:gd name="T10" fmla="*/ 0 60000 65536"/>
                <a:gd name="T11" fmla="*/ 0 60000 65536"/>
                <a:gd name="T12" fmla="*/ 0 w 33"/>
                <a:gd name="T13" fmla="*/ 0 h 18"/>
                <a:gd name="T14" fmla="*/ 33 w 33"/>
                <a:gd name="T15" fmla="*/ 18 h 18"/>
              </a:gdLst>
              <a:ahLst/>
              <a:cxnLst>
                <a:cxn ang="T8">
                  <a:pos x="T0" y="T1"/>
                </a:cxn>
                <a:cxn ang="T9">
                  <a:pos x="T2" y="T3"/>
                </a:cxn>
                <a:cxn ang="T10">
                  <a:pos x="T4" y="T5"/>
                </a:cxn>
                <a:cxn ang="T11">
                  <a:pos x="T6" y="T7"/>
                </a:cxn>
              </a:cxnLst>
              <a:rect l="T12" t="T13" r="T14" b="T15"/>
              <a:pathLst>
                <a:path w="33" h="18">
                  <a:moveTo>
                    <a:pt x="0" y="17"/>
                  </a:moveTo>
                  <a:lnTo>
                    <a:pt x="32" y="13"/>
                  </a:lnTo>
                  <a:lnTo>
                    <a:pt x="30" y="0"/>
                  </a:lnTo>
                  <a:lnTo>
                    <a:pt x="0"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60" name="Freeform 12">
              <a:extLst>
                <a:ext uri="{FF2B5EF4-FFF2-40B4-BE49-F238E27FC236}">
                  <a16:creationId xmlns:a16="http://schemas.microsoft.com/office/drawing/2014/main" id="{32594331-0F7C-EB2F-7DC8-9BBE4A33E455}"/>
                </a:ext>
              </a:extLst>
            </p:cNvPr>
            <p:cNvSpPr>
              <a:spLocks/>
            </p:cNvSpPr>
            <p:nvPr/>
          </p:nvSpPr>
          <p:spPr bwMode="auto">
            <a:xfrm>
              <a:off x="255" y="4212"/>
              <a:ext cx="34" cy="18"/>
            </a:xfrm>
            <a:custGeom>
              <a:avLst/>
              <a:gdLst>
                <a:gd name="T0" fmla="*/ 33 w 34"/>
                <a:gd name="T1" fmla="*/ 17 h 18"/>
                <a:gd name="T2" fmla="*/ 0 w 34"/>
                <a:gd name="T3" fmla="*/ 14 h 18"/>
                <a:gd name="T4" fmla="*/ 2 w 34"/>
                <a:gd name="T5" fmla="*/ 0 h 18"/>
                <a:gd name="T6" fmla="*/ 33 w 34"/>
                <a:gd name="T7" fmla="*/ 17 h 18"/>
                <a:gd name="T8" fmla="*/ 0 60000 65536"/>
                <a:gd name="T9" fmla="*/ 0 60000 65536"/>
                <a:gd name="T10" fmla="*/ 0 60000 65536"/>
                <a:gd name="T11" fmla="*/ 0 60000 65536"/>
                <a:gd name="T12" fmla="*/ 0 w 34"/>
                <a:gd name="T13" fmla="*/ 0 h 18"/>
                <a:gd name="T14" fmla="*/ 34 w 34"/>
                <a:gd name="T15" fmla="*/ 18 h 18"/>
              </a:gdLst>
              <a:ahLst/>
              <a:cxnLst>
                <a:cxn ang="T8">
                  <a:pos x="T0" y="T1"/>
                </a:cxn>
                <a:cxn ang="T9">
                  <a:pos x="T2" y="T3"/>
                </a:cxn>
                <a:cxn ang="T10">
                  <a:pos x="T4" y="T5"/>
                </a:cxn>
                <a:cxn ang="T11">
                  <a:pos x="T6" y="T7"/>
                </a:cxn>
              </a:cxnLst>
              <a:rect l="T12" t="T13" r="T14" b="T15"/>
              <a:pathLst>
                <a:path w="34" h="18">
                  <a:moveTo>
                    <a:pt x="33" y="17"/>
                  </a:moveTo>
                  <a:lnTo>
                    <a:pt x="0" y="14"/>
                  </a:lnTo>
                  <a:lnTo>
                    <a:pt x="2" y="0"/>
                  </a:lnTo>
                  <a:lnTo>
                    <a:pt x="3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61" name="Freeform 13">
              <a:extLst>
                <a:ext uri="{FF2B5EF4-FFF2-40B4-BE49-F238E27FC236}">
                  <a16:creationId xmlns:a16="http://schemas.microsoft.com/office/drawing/2014/main" id="{BC137A3A-AC3B-3E8B-8307-AD4016B0F2C3}"/>
                </a:ext>
              </a:extLst>
            </p:cNvPr>
            <p:cNvSpPr>
              <a:spLocks/>
            </p:cNvSpPr>
            <p:nvPr/>
          </p:nvSpPr>
          <p:spPr bwMode="auto">
            <a:xfrm>
              <a:off x="164" y="4134"/>
              <a:ext cx="27" cy="30"/>
            </a:xfrm>
            <a:custGeom>
              <a:avLst/>
              <a:gdLst>
                <a:gd name="T0" fmla="*/ 0 w 27"/>
                <a:gd name="T1" fmla="*/ 0 h 30"/>
                <a:gd name="T2" fmla="*/ 15 w 27"/>
                <a:gd name="T3" fmla="*/ 29 h 30"/>
                <a:gd name="T4" fmla="*/ 26 w 27"/>
                <a:gd name="T5" fmla="*/ 22 h 30"/>
                <a:gd name="T6" fmla="*/ 0 w 27"/>
                <a:gd name="T7" fmla="*/ 0 h 30"/>
                <a:gd name="T8" fmla="*/ 0 60000 65536"/>
                <a:gd name="T9" fmla="*/ 0 60000 65536"/>
                <a:gd name="T10" fmla="*/ 0 60000 65536"/>
                <a:gd name="T11" fmla="*/ 0 60000 65536"/>
                <a:gd name="T12" fmla="*/ 0 w 27"/>
                <a:gd name="T13" fmla="*/ 0 h 30"/>
                <a:gd name="T14" fmla="*/ 27 w 27"/>
                <a:gd name="T15" fmla="*/ 30 h 30"/>
              </a:gdLst>
              <a:ahLst/>
              <a:cxnLst>
                <a:cxn ang="T8">
                  <a:pos x="T0" y="T1"/>
                </a:cxn>
                <a:cxn ang="T9">
                  <a:pos x="T2" y="T3"/>
                </a:cxn>
                <a:cxn ang="T10">
                  <a:pos x="T4" y="T5"/>
                </a:cxn>
                <a:cxn ang="T11">
                  <a:pos x="T6" y="T7"/>
                </a:cxn>
              </a:cxnLst>
              <a:rect l="T12" t="T13" r="T14" b="T15"/>
              <a:pathLst>
                <a:path w="27" h="30">
                  <a:moveTo>
                    <a:pt x="0" y="0"/>
                  </a:moveTo>
                  <a:lnTo>
                    <a:pt x="15" y="29"/>
                  </a:lnTo>
                  <a:lnTo>
                    <a:pt x="26" y="22"/>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62" name="Freeform 14">
              <a:extLst>
                <a:ext uri="{FF2B5EF4-FFF2-40B4-BE49-F238E27FC236}">
                  <a16:creationId xmlns:a16="http://schemas.microsoft.com/office/drawing/2014/main" id="{F9BE0486-BE02-B338-4733-5BB544CCF4D5}"/>
                </a:ext>
              </a:extLst>
            </p:cNvPr>
            <p:cNvSpPr>
              <a:spLocks/>
            </p:cNvSpPr>
            <p:nvPr/>
          </p:nvSpPr>
          <p:spPr bwMode="auto">
            <a:xfrm>
              <a:off x="230" y="4136"/>
              <a:ext cx="28" cy="31"/>
            </a:xfrm>
            <a:custGeom>
              <a:avLst/>
              <a:gdLst>
                <a:gd name="T0" fmla="*/ 27 w 28"/>
                <a:gd name="T1" fmla="*/ 0 h 31"/>
                <a:gd name="T2" fmla="*/ 11 w 28"/>
                <a:gd name="T3" fmla="*/ 30 h 31"/>
                <a:gd name="T4" fmla="*/ 0 w 28"/>
                <a:gd name="T5" fmla="*/ 22 h 31"/>
                <a:gd name="T6" fmla="*/ 27 w 28"/>
                <a:gd name="T7" fmla="*/ 0 h 31"/>
                <a:gd name="T8" fmla="*/ 0 60000 65536"/>
                <a:gd name="T9" fmla="*/ 0 60000 65536"/>
                <a:gd name="T10" fmla="*/ 0 60000 65536"/>
                <a:gd name="T11" fmla="*/ 0 60000 65536"/>
                <a:gd name="T12" fmla="*/ 0 w 28"/>
                <a:gd name="T13" fmla="*/ 0 h 31"/>
                <a:gd name="T14" fmla="*/ 28 w 28"/>
                <a:gd name="T15" fmla="*/ 31 h 31"/>
              </a:gdLst>
              <a:ahLst/>
              <a:cxnLst>
                <a:cxn ang="T8">
                  <a:pos x="T0" y="T1"/>
                </a:cxn>
                <a:cxn ang="T9">
                  <a:pos x="T2" y="T3"/>
                </a:cxn>
                <a:cxn ang="T10">
                  <a:pos x="T4" y="T5"/>
                </a:cxn>
                <a:cxn ang="T11">
                  <a:pos x="T6" y="T7"/>
                </a:cxn>
              </a:cxnLst>
              <a:rect l="T12" t="T13" r="T14" b="T15"/>
              <a:pathLst>
                <a:path w="28" h="31">
                  <a:moveTo>
                    <a:pt x="27" y="0"/>
                  </a:moveTo>
                  <a:lnTo>
                    <a:pt x="11" y="30"/>
                  </a:lnTo>
                  <a:lnTo>
                    <a:pt x="0" y="22"/>
                  </a:lnTo>
                  <a:lnTo>
                    <a:pt x="2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63" name="Freeform 15">
              <a:extLst>
                <a:ext uri="{FF2B5EF4-FFF2-40B4-BE49-F238E27FC236}">
                  <a16:creationId xmlns:a16="http://schemas.microsoft.com/office/drawing/2014/main" id="{1622C8C1-F4AC-A495-2B07-FEFA7375FEB5}"/>
                </a:ext>
              </a:extLst>
            </p:cNvPr>
            <p:cNvSpPr>
              <a:spLocks/>
            </p:cNvSpPr>
            <p:nvPr/>
          </p:nvSpPr>
          <p:spPr bwMode="auto">
            <a:xfrm>
              <a:off x="204" y="4125"/>
              <a:ext cx="18" cy="31"/>
            </a:xfrm>
            <a:custGeom>
              <a:avLst/>
              <a:gdLst>
                <a:gd name="T0" fmla="*/ 7 w 18"/>
                <a:gd name="T1" fmla="*/ 0 h 31"/>
                <a:gd name="T2" fmla="*/ 0 w 18"/>
                <a:gd name="T3" fmla="*/ 30 h 31"/>
                <a:gd name="T4" fmla="*/ 17 w 18"/>
                <a:gd name="T5" fmla="*/ 29 h 31"/>
                <a:gd name="T6" fmla="*/ 7 w 18"/>
                <a:gd name="T7" fmla="*/ 0 h 31"/>
                <a:gd name="T8" fmla="*/ 0 60000 65536"/>
                <a:gd name="T9" fmla="*/ 0 60000 65536"/>
                <a:gd name="T10" fmla="*/ 0 60000 65536"/>
                <a:gd name="T11" fmla="*/ 0 60000 65536"/>
                <a:gd name="T12" fmla="*/ 0 w 18"/>
                <a:gd name="T13" fmla="*/ 0 h 31"/>
                <a:gd name="T14" fmla="*/ 18 w 18"/>
                <a:gd name="T15" fmla="*/ 31 h 31"/>
              </a:gdLst>
              <a:ahLst/>
              <a:cxnLst>
                <a:cxn ang="T8">
                  <a:pos x="T0" y="T1"/>
                </a:cxn>
                <a:cxn ang="T9">
                  <a:pos x="T2" y="T3"/>
                </a:cxn>
                <a:cxn ang="T10">
                  <a:pos x="T4" y="T5"/>
                </a:cxn>
                <a:cxn ang="T11">
                  <a:pos x="T6" y="T7"/>
                </a:cxn>
              </a:cxnLst>
              <a:rect l="T12" t="T13" r="T14" b="T15"/>
              <a:pathLst>
                <a:path w="18" h="31">
                  <a:moveTo>
                    <a:pt x="7" y="0"/>
                  </a:moveTo>
                  <a:lnTo>
                    <a:pt x="0" y="30"/>
                  </a:lnTo>
                  <a:lnTo>
                    <a:pt x="17" y="29"/>
                  </a:lnTo>
                  <a:lnTo>
                    <a:pt x="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64" name="Freeform 16">
              <a:extLst>
                <a:ext uri="{FF2B5EF4-FFF2-40B4-BE49-F238E27FC236}">
                  <a16:creationId xmlns:a16="http://schemas.microsoft.com/office/drawing/2014/main" id="{C5728DB6-5A6B-852D-609C-61F90FF42338}"/>
                </a:ext>
              </a:extLst>
            </p:cNvPr>
            <p:cNvSpPr>
              <a:spLocks/>
            </p:cNvSpPr>
            <p:nvPr/>
          </p:nvSpPr>
          <p:spPr bwMode="auto">
            <a:xfrm>
              <a:off x="179" y="4171"/>
              <a:ext cx="67" cy="115"/>
            </a:xfrm>
            <a:custGeom>
              <a:avLst/>
              <a:gdLst>
                <a:gd name="T0" fmla="*/ 21 w 67"/>
                <a:gd name="T1" fmla="*/ 114 h 115"/>
                <a:gd name="T2" fmla="*/ 22 w 67"/>
                <a:gd name="T3" fmla="*/ 94 h 115"/>
                <a:gd name="T4" fmla="*/ 20 w 67"/>
                <a:gd name="T5" fmla="*/ 91 h 115"/>
                <a:gd name="T6" fmla="*/ 14 w 67"/>
                <a:gd name="T7" fmla="*/ 83 h 115"/>
                <a:gd name="T8" fmla="*/ 8 w 67"/>
                <a:gd name="T9" fmla="*/ 72 h 115"/>
                <a:gd name="T10" fmla="*/ 3 w 67"/>
                <a:gd name="T11" fmla="*/ 58 h 115"/>
                <a:gd name="T12" fmla="*/ 0 w 67"/>
                <a:gd name="T13" fmla="*/ 42 h 115"/>
                <a:gd name="T14" fmla="*/ 0 w 67"/>
                <a:gd name="T15" fmla="*/ 27 h 115"/>
                <a:gd name="T16" fmla="*/ 7 w 67"/>
                <a:gd name="T17" fmla="*/ 12 h 115"/>
                <a:gd name="T18" fmla="*/ 22 w 67"/>
                <a:gd name="T19" fmla="*/ 0 h 115"/>
                <a:gd name="T20" fmla="*/ 42 w 67"/>
                <a:gd name="T21" fmla="*/ 0 h 115"/>
                <a:gd name="T22" fmla="*/ 45 w 67"/>
                <a:gd name="T23" fmla="*/ 1 h 115"/>
                <a:gd name="T24" fmla="*/ 50 w 67"/>
                <a:gd name="T25" fmla="*/ 5 h 115"/>
                <a:gd name="T26" fmla="*/ 56 w 67"/>
                <a:gd name="T27" fmla="*/ 11 h 115"/>
                <a:gd name="T28" fmla="*/ 62 w 67"/>
                <a:gd name="T29" fmla="*/ 20 h 115"/>
                <a:gd name="T30" fmla="*/ 66 w 67"/>
                <a:gd name="T31" fmla="*/ 32 h 115"/>
                <a:gd name="T32" fmla="*/ 65 w 67"/>
                <a:gd name="T33" fmla="*/ 48 h 115"/>
                <a:gd name="T34" fmla="*/ 58 w 67"/>
                <a:gd name="T35" fmla="*/ 68 h 115"/>
                <a:gd name="T36" fmla="*/ 42 w 67"/>
                <a:gd name="T37" fmla="*/ 91 h 115"/>
                <a:gd name="T38" fmla="*/ 42 w 67"/>
                <a:gd name="T39" fmla="*/ 114 h 115"/>
                <a:gd name="T40" fmla="*/ 21 w 67"/>
                <a:gd name="T41" fmla="*/ 114 h 1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115"/>
                <a:gd name="T65" fmla="*/ 67 w 67"/>
                <a:gd name="T66" fmla="*/ 115 h 1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115">
                  <a:moveTo>
                    <a:pt x="21" y="114"/>
                  </a:moveTo>
                  <a:lnTo>
                    <a:pt x="22" y="94"/>
                  </a:lnTo>
                  <a:lnTo>
                    <a:pt x="20" y="91"/>
                  </a:lnTo>
                  <a:lnTo>
                    <a:pt x="14" y="83"/>
                  </a:lnTo>
                  <a:lnTo>
                    <a:pt x="8" y="72"/>
                  </a:lnTo>
                  <a:lnTo>
                    <a:pt x="3" y="58"/>
                  </a:lnTo>
                  <a:lnTo>
                    <a:pt x="0" y="42"/>
                  </a:lnTo>
                  <a:lnTo>
                    <a:pt x="0" y="27"/>
                  </a:lnTo>
                  <a:lnTo>
                    <a:pt x="7" y="12"/>
                  </a:lnTo>
                  <a:lnTo>
                    <a:pt x="22" y="0"/>
                  </a:lnTo>
                  <a:lnTo>
                    <a:pt x="42" y="0"/>
                  </a:lnTo>
                  <a:lnTo>
                    <a:pt x="45" y="1"/>
                  </a:lnTo>
                  <a:lnTo>
                    <a:pt x="50" y="5"/>
                  </a:lnTo>
                  <a:lnTo>
                    <a:pt x="56" y="11"/>
                  </a:lnTo>
                  <a:lnTo>
                    <a:pt x="62" y="20"/>
                  </a:lnTo>
                  <a:lnTo>
                    <a:pt x="66" y="32"/>
                  </a:lnTo>
                  <a:lnTo>
                    <a:pt x="65" y="48"/>
                  </a:lnTo>
                  <a:lnTo>
                    <a:pt x="58" y="68"/>
                  </a:lnTo>
                  <a:lnTo>
                    <a:pt x="42" y="91"/>
                  </a:lnTo>
                  <a:lnTo>
                    <a:pt x="42" y="114"/>
                  </a:lnTo>
                  <a:lnTo>
                    <a:pt x="21"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78865" name="Freeform 17">
              <a:extLst>
                <a:ext uri="{FF2B5EF4-FFF2-40B4-BE49-F238E27FC236}">
                  <a16:creationId xmlns:a16="http://schemas.microsoft.com/office/drawing/2014/main" id="{E95BE184-1DFF-AA3B-2B29-13F04D158FA6}"/>
                </a:ext>
              </a:extLst>
            </p:cNvPr>
            <p:cNvSpPr>
              <a:spLocks/>
            </p:cNvSpPr>
            <p:nvPr/>
          </p:nvSpPr>
          <p:spPr bwMode="auto">
            <a:xfrm>
              <a:off x="206" y="4192"/>
              <a:ext cx="17" cy="88"/>
            </a:xfrm>
            <a:custGeom>
              <a:avLst/>
              <a:gdLst>
                <a:gd name="T0" fmla="*/ 4 w 17"/>
                <a:gd name="T1" fmla="*/ 0 h 88"/>
                <a:gd name="T2" fmla="*/ 6 w 17"/>
                <a:gd name="T3" fmla="*/ 6 h 88"/>
                <a:gd name="T4" fmla="*/ 2 w 17"/>
                <a:gd name="T5" fmla="*/ 7 h 88"/>
                <a:gd name="T6" fmla="*/ 2 w 17"/>
                <a:gd name="T7" fmla="*/ 78 h 88"/>
                <a:gd name="T8" fmla="*/ 0 w 17"/>
                <a:gd name="T9" fmla="*/ 79 h 88"/>
                <a:gd name="T10" fmla="*/ 0 w 17"/>
                <a:gd name="T11" fmla="*/ 87 h 88"/>
                <a:gd name="T12" fmla="*/ 2 w 17"/>
                <a:gd name="T13" fmla="*/ 87 h 88"/>
                <a:gd name="T14" fmla="*/ 4 w 17"/>
                <a:gd name="T15" fmla="*/ 87 h 88"/>
                <a:gd name="T16" fmla="*/ 6 w 17"/>
                <a:gd name="T17" fmla="*/ 87 h 88"/>
                <a:gd name="T18" fmla="*/ 9 w 17"/>
                <a:gd name="T19" fmla="*/ 85 h 88"/>
                <a:gd name="T20" fmla="*/ 13 w 17"/>
                <a:gd name="T21" fmla="*/ 85 h 88"/>
                <a:gd name="T22" fmla="*/ 16 w 17"/>
                <a:gd name="T23" fmla="*/ 84 h 88"/>
                <a:gd name="T24" fmla="*/ 16 w 17"/>
                <a:gd name="T25" fmla="*/ 82 h 88"/>
                <a:gd name="T26" fmla="*/ 16 w 17"/>
                <a:gd name="T27" fmla="*/ 79 h 88"/>
                <a:gd name="T28" fmla="*/ 16 w 17"/>
                <a:gd name="T29" fmla="*/ 48 h 88"/>
                <a:gd name="T30" fmla="*/ 13 w 17"/>
                <a:gd name="T31" fmla="*/ 47 h 88"/>
                <a:gd name="T32" fmla="*/ 13 w 17"/>
                <a:gd name="T33" fmla="*/ 39 h 88"/>
                <a:gd name="T34" fmla="*/ 13 w 17"/>
                <a:gd name="T35" fmla="*/ 5 h 88"/>
                <a:gd name="T36" fmla="*/ 4 w 17"/>
                <a:gd name="T37" fmla="*/ 0 h 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88"/>
                <a:gd name="T59" fmla="*/ 17 w 17"/>
                <a:gd name="T60" fmla="*/ 88 h 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88">
                  <a:moveTo>
                    <a:pt x="4" y="0"/>
                  </a:moveTo>
                  <a:lnTo>
                    <a:pt x="6" y="6"/>
                  </a:lnTo>
                  <a:lnTo>
                    <a:pt x="2" y="7"/>
                  </a:lnTo>
                  <a:lnTo>
                    <a:pt x="2" y="78"/>
                  </a:lnTo>
                  <a:lnTo>
                    <a:pt x="0" y="79"/>
                  </a:lnTo>
                  <a:lnTo>
                    <a:pt x="0" y="87"/>
                  </a:lnTo>
                  <a:lnTo>
                    <a:pt x="2" y="87"/>
                  </a:lnTo>
                  <a:lnTo>
                    <a:pt x="4" y="87"/>
                  </a:lnTo>
                  <a:lnTo>
                    <a:pt x="6" y="87"/>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736F9AE-2226-1C4D-DDD2-CAE29176A582}"/>
              </a:ext>
            </a:extLst>
          </p:cNvPr>
          <p:cNvSpPr>
            <a:spLocks noChangeArrowheads="1"/>
          </p:cNvSpPr>
          <p:nvPr/>
        </p:nvSpPr>
        <p:spPr bwMode="auto">
          <a:xfrm>
            <a:off x="3883025" y="0"/>
            <a:ext cx="29765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80899" name="Rectangle 3">
            <a:extLst>
              <a:ext uri="{FF2B5EF4-FFF2-40B4-BE49-F238E27FC236}">
                <a16:creationId xmlns:a16="http://schemas.microsoft.com/office/drawing/2014/main" id="{BE1E6919-595E-A5ED-2AF4-02AB02C5427C}"/>
              </a:ext>
            </a:extLst>
          </p:cNvPr>
          <p:cNvSpPr>
            <a:spLocks noChangeArrowheads="1"/>
          </p:cNvSpPr>
          <p:nvPr/>
        </p:nvSpPr>
        <p:spPr bwMode="auto">
          <a:xfrm>
            <a:off x="-3175" y="0"/>
            <a:ext cx="29733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80900" name="Rectangle 4">
            <a:extLst>
              <a:ext uri="{FF2B5EF4-FFF2-40B4-BE49-F238E27FC236}">
                <a16:creationId xmlns:a16="http://schemas.microsoft.com/office/drawing/2014/main" id="{B8AE1999-EEE5-FC57-9A00-088ED0DBBC24}"/>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Adding a Constraint</a:t>
            </a:r>
          </a:p>
          <a:p>
            <a:pPr marL="114300" lvl="1" defTabSz="401638"/>
            <a:r>
              <a:rPr lang="en-US" altLang="en-US">
                <a:latin typeface="Arial" panose="020B0604020202020204" pitchFamily="34" charset="0"/>
              </a:rPr>
              <a:t>You can add a constraint for existing tables by using the ALTER TABLE statement with the </a:t>
            </a:r>
            <a:r>
              <a:rPr lang="en-US" altLang="en-US">
                <a:solidFill>
                  <a:srgbClr val="FC0128"/>
                </a:solidFill>
                <a:latin typeface="Arial" panose="020B0604020202020204" pitchFamily="34" charset="0"/>
              </a:rPr>
              <a:t>ADD  clause.</a:t>
            </a:r>
          </a:p>
          <a:p>
            <a:pPr marL="114300" lvl="1" defTabSz="401638"/>
            <a:r>
              <a:rPr lang="en-US" altLang="en-US">
                <a:latin typeface="Arial" panose="020B0604020202020204" pitchFamily="34" charset="0"/>
              </a:rPr>
              <a:t>In the syntax:</a:t>
            </a:r>
          </a:p>
          <a:p>
            <a:pPr marL="114300" lvl="1" defTabSz="401638"/>
            <a:r>
              <a:rPr lang="en-US" altLang="en-US" i="1">
                <a:latin typeface="Arial" panose="020B0604020202020204" pitchFamily="34" charset="0"/>
              </a:rPr>
              <a:t>	table</a:t>
            </a:r>
            <a:r>
              <a:rPr lang="en-US" altLang="en-US">
                <a:latin typeface="Arial" panose="020B0604020202020204" pitchFamily="34" charset="0"/>
              </a:rPr>
              <a:t>			is the name of the table</a:t>
            </a:r>
          </a:p>
          <a:p>
            <a:pPr marL="114300" lvl="1" defTabSz="401638"/>
            <a:r>
              <a:rPr lang="en-US" altLang="en-US" i="1">
                <a:latin typeface="Arial" panose="020B0604020202020204" pitchFamily="34" charset="0"/>
              </a:rPr>
              <a:t>	constraint</a:t>
            </a:r>
            <a:r>
              <a:rPr lang="en-US" altLang="en-US">
                <a:latin typeface="Arial" panose="020B0604020202020204" pitchFamily="34" charset="0"/>
              </a:rPr>
              <a:t>		is the name of the constraint</a:t>
            </a:r>
          </a:p>
          <a:p>
            <a:pPr marL="114300" lvl="1" defTabSz="401638"/>
            <a:r>
              <a:rPr lang="en-US" altLang="en-US">
                <a:latin typeface="Arial" panose="020B0604020202020204" pitchFamily="34" charset="0"/>
              </a:rPr>
              <a:t>	</a:t>
            </a:r>
            <a:r>
              <a:rPr lang="en-US" altLang="en-US" i="1">
                <a:latin typeface="Arial" panose="020B0604020202020204" pitchFamily="34" charset="0"/>
              </a:rPr>
              <a:t>type</a:t>
            </a:r>
            <a:r>
              <a:rPr lang="en-US" altLang="en-US">
                <a:latin typeface="Arial" panose="020B0604020202020204" pitchFamily="34" charset="0"/>
              </a:rPr>
              <a:t>			is the constraint type</a:t>
            </a:r>
          </a:p>
          <a:p>
            <a:pPr marL="114300" lvl="1" defTabSz="401638"/>
            <a:r>
              <a:rPr lang="en-US" altLang="en-US">
                <a:latin typeface="Arial" panose="020B0604020202020204" pitchFamily="34" charset="0"/>
              </a:rPr>
              <a:t>	</a:t>
            </a:r>
            <a:r>
              <a:rPr lang="en-US" altLang="en-US" i="1">
                <a:latin typeface="Arial" panose="020B0604020202020204" pitchFamily="34" charset="0"/>
              </a:rPr>
              <a:t>column		</a:t>
            </a:r>
            <a:r>
              <a:rPr lang="en-US" altLang="en-US">
                <a:latin typeface="Arial" panose="020B0604020202020204" pitchFamily="34" charset="0"/>
              </a:rPr>
              <a:t>is the name of the column affected by the constraint</a:t>
            </a:r>
          </a:p>
          <a:p>
            <a:pPr marL="114300" lvl="1" defTabSz="401638"/>
            <a:r>
              <a:rPr lang="en-US" altLang="en-US">
                <a:latin typeface="Arial" panose="020B0604020202020204" pitchFamily="34" charset="0"/>
              </a:rPr>
              <a:t>The constraint name syntax is optional, although recommended. If you do not name your constraints, the system will generate constraint names.</a:t>
            </a:r>
          </a:p>
          <a:p>
            <a:pPr marL="114300" lvl="1" defTabSz="401638"/>
            <a:r>
              <a:rPr lang="en-US" altLang="en-US">
                <a:latin typeface="Arial" panose="020B0604020202020204" pitchFamily="34" charset="0"/>
              </a:rPr>
              <a:t>Guidelines:</a:t>
            </a:r>
          </a:p>
          <a:p>
            <a:pPr marL="450850" lvl="2" indent="-217488" defTabSz="401638"/>
            <a:r>
              <a:rPr lang="en-US" altLang="en-US">
                <a:latin typeface="Arial" panose="020B0604020202020204" pitchFamily="34" charset="0"/>
              </a:rPr>
              <a:t>You can add, drop, enable, or disable a constraint, but you cannot modify its structure.</a:t>
            </a:r>
          </a:p>
          <a:p>
            <a:pPr marL="450850" lvl="2" indent="-217488" defTabSz="401638"/>
            <a:r>
              <a:rPr lang="en-US" altLang="en-US">
                <a:latin typeface="Arial" panose="020B0604020202020204" pitchFamily="34" charset="0"/>
              </a:rPr>
              <a:t>You can add a NOT NULL constraint to an existing column by using the MODIFY clause of the ALTER TABLE statement.</a:t>
            </a:r>
          </a:p>
          <a:p>
            <a:pPr marL="114300" lvl="1" defTabSz="401638"/>
            <a:r>
              <a:rPr lang="en-US" altLang="en-US" b="1">
                <a:latin typeface="Times" panose="02020603050405020304" pitchFamily="18" charset="0"/>
              </a:rPr>
              <a:t>Note:</a:t>
            </a:r>
            <a:r>
              <a:rPr lang="en-US" altLang="en-US">
                <a:latin typeface="Times" panose="02020603050405020304" pitchFamily="18" charset="0"/>
              </a:rPr>
              <a:t> You can define a NOT NULL column only if the table contains no rows, because data cannot be specified for existing rows at the same time that the column is added.</a:t>
            </a:r>
          </a:p>
        </p:txBody>
      </p:sp>
      <p:sp>
        <p:nvSpPr>
          <p:cNvPr id="80901" name="Rectangle 5">
            <a:extLst>
              <a:ext uri="{FF2B5EF4-FFF2-40B4-BE49-F238E27FC236}">
                <a16:creationId xmlns:a16="http://schemas.microsoft.com/office/drawing/2014/main" id="{436D4BBF-0921-8F9F-15ED-635BEDABE77C}"/>
              </a:ext>
            </a:extLst>
          </p:cNvPr>
          <p:cNvSpPr>
            <a:spLocks noGrp="1" noRot="1" noChangeArrowheads="1" noTextEdit="1"/>
          </p:cNvSpPr>
          <p:nvPr>
            <p:ph type="sldImg"/>
          </p:nvPr>
        </p:nvSpPr>
        <p:spPr>
          <a:xfrm>
            <a:off x="438150" y="160338"/>
            <a:ext cx="5976938" cy="4483100"/>
          </a:xfrm>
          <a:ln w="12700" cap="flat">
            <a:solidFill>
              <a:schemeClr val="tx1"/>
            </a:solidFill>
          </a:ln>
        </p:spPr>
      </p:sp>
      <p:grpSp>
        <p:nvGrpSpPr>
          <p:cNvPr id="80902" name="Group 6">
            <a:extLst>
              <a:ext uri="{FF2B5EF4-FFF2-40B4-BE49-F238E27FC236}">
                <a16:creationId xmlns:a16="http://schemas.microsoft.com/office/drawing/2014/main" id="{F042DF6A-63D6-252E-5CA9-6D617F171839}"/>
              </a:ext>
            </a:extLst>
          </p:cNvPr>
          <p:cNvGrpSpPr>
            <a:grpSpLocks/>
          </p:cNvGrpSpPr>
          <p:nvPr/>
        </p:nvGrpSpPr>
        <p:grpSpPr bwMode="auto">
          <a:xfrm>
            <a:off x="190500" y="6659563"/>
            <a:ext cx="287338" cy="309562"/>
            <a:chOff x="119" y="4119"/>
            <a:chExt cx="180" cy="192"/>
          </a:xfrm>
        </p:grpSpPr>
        <p:sp>
          <p:nvSpPr>
            <p:cNvPr id="80903" name="Freeform 7">
              <a:extLst>
                <a:ext uri="{FF2B5EF4-FFF2-40B4-BE49-F238E27FC236}">
                  <a16:creationId xmlns:a16="http://schemas.microsoft.com/office/drawing/2014/main" id="{570A3331-1254-B36F-A594-094A5DAE00B8}"/>
                </a:ext>
              </a:extLst>
            </p:cNvPr>
            <p:cNvSpPr>
              <a:spLocks/>
            </p:cNvSpPr>
            <p:nvPr/>
          </p:nvSpPr>
          <p:spPr bwMode="auto">
            <a:xfrm>
              <a:off x="119" y="4119"/>
              <a:ext cx="180" cy="184"/>
            </a:xfrm>
            <a:custGeom>
              <a:avLst/>
              <a:gdLst>
                <a:gd name="T0" fmla="*/ 179 w 180"/>
                <a:gd name="T1" fmla="*/ 183 h 184"/>
                <a:gd name="T2" fmla="*/ 179 w 180"/>
                <a:gd name="T3" fmla="*/ 0 h 184"/>
                <a:gd name="T4" fmla="*/ 0 w 180"/>
                <a:gd name="T5" fmla="*/ 0 h 184"/>
                <a:gd name="T6" fmla="*/ 0 w 180"/>
                <a:gd name="T7" fmla="*/ 183 h 184"/>
                <a:gd name="T8" fmla="*/ 179 w 180"/>
                <a:gd name="T9" fmla="*/ 183 h 184"/>
                <a:gd name="T10" fmla="*/ 0 60000 65536"/>
                <a:gd name="T11" fmla="*/ 0 60000 65536"/>
                <a:gd name="T12" fmla="*/ 0 60000 65536"/>
                <a:gd name="T13" fmla="*/ 0 60000 65536"/>
                <a:gd name="T14" fmla="*/ 0 60000 65536"/>
                <a:gd name="T15" fmla="*/ 0 w 180"/>
                <a:gd name="T16" fmla="*/ 0 h 184"/>
                <a:gd name="T17" fmla="*/ 180 w 180"/>
                <a:gd name="T18" fmla="*/ 184 h 184"/>
              </a:gdLst>
              <a:ahLst/>
              <a:cxnLst>
                <a:cxn ang="T10">
                  <a:pos x="T0" y="T1"/>
                </a:cxn>
                <a:cxn ang="T11">
                  <a:pos x="T2" y="T3"/>
                </a:cxn>
                <a:cxn ang="T12">
                  <a:pos x="T4" y="T5"/>
                </a:cxn>
                <a:cxn ang="T13">
                  <a:pos x="T6" y="T7"/>
                </a:cxn>
                <a:cxn ang="T14">
                  <a:pos x="T8" y="T9"/>
                </a:cxn>
              </a:cxnLst>
              <a:rect l="T15" t="T16" r="T17" b="T18"/>
              <a:pathLst>
                <a:path w="180" h="184">
                  <a:moveTo>
                    <a:pt x="179" y="183"/>
                  </a:moveTo>
                  <a:lnTo>
                    <a:pt x="179" y="0"/>
                  </a:lnTo>
                  <a:lnTo>
                    <a:pt x="0" y="0"/>
                  </a:lnTo>
                  <a:lnTo>
                    <a:pt x="0" y="183"/>
                  </a:lnTo>
                  <a:lnTo>
                    <a:pt x="179" y="183"/>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04" name="Freeform 8">
              <a:extLst>
                <a:ext uri="{FF2B5EF4-FFF2-40B4-BE49-F238E27FC236}">
                  <a16:creationId xmlns:a16="http://schemas.microsoft.com/office/drawing/2014/main" id="{3C55A930-EE5D-070A-2567-8F3DD6DF1A25}"/>
                </a:ext>
              </a:extLst>
            </p:cNvPr>
            <p:cNvSpPr>
              <a:spLocks/>
            </p:cNvSpPr>
            <p:nvPr/>
          </p:nvSpPr>
          <p:spPr bwMode="auto">
            <a:xfrm>
              <a:off x="200" y="4293"/>
              <a:ext cx="27" cy="18"/>
            </a:xfrm>
            <a:custGeom>
              <a:avLst/>
              <a:gdLst>
                <a:gd name="T0" fmla="*/ 26 w 27"/>
                <a:gd name="T1" fmla="*/ 17 h 18"/>
                <a:gd name="T2" fmla="*/ 26 w 27"/>
                <a:gd name="T3" fmla="*/ 0 h 18"/>
                <a:gd name="T4" fmla="*/ 0 w 27"/>
                <a:gd name="T5" fmla="*/ 0 h 18"/>
                <a:gd name="T6" fmla="*/ 0 w 27"/>
                <a:gd name="T7" fmla="*/ 17 h 18"/>
                <a:gd name="T8" fmla="*/ 26 w 27"/>
                <a:gd name="T9" fmla="*/ 17 h 18"/>
                <a:gd name="T10" fmla="*/ 0 60000 65536"/>
                <a:gd name="T11" fmla="*/ 0 60000 65536"/>
                <a:gd name="T12" fmla="*/ 0 60000 65536"/>
                <a:gd name="T13" fmla="*/ 0 60000 65536"/>
                <a:gd name="T14" fmla="*/ 0 60000 65536"/>
                <a:gd name="T15" fmla="*/ 0 w 27"/>
                <a:gd name="T16" fmla="*/ 0 h 18"/>
                <a:gd name="T17" fmla="*/ 27 w 27"/>
                <a:gd name="T18" fmla="*/ 18 h 18"/>
              </a:gdLst>
              <a:ahLst/>
              <a:cxnLst>
                <a:cxn ang="T10">
                  <a:pos x="T0" y="T1"/>
                </a:cxn>
                <a:cxn ang="T11">
                  <a:pos x="T2" y="T3"/>
                </a:cxn>
                <a:cxn ang="T12">
                  <a:pos x="T4" y="T5"/>
                </a:cxn>
                <a:cxn ang="T13">
                  <a:pos x="T6" y="T7"/>
                </a:cxn>
                <a:cxn ang="T14">
                  <a:pos x="T8" y="T9"/>
                </a:cxn>
              </a:cxnLst>
              <a:rect l="T15" t="T16" r="T17" b="T18"/>
              <a:pathLst>
                <a:path w="27" h="18">
                  <a:moveTo>
                    <a:pt x="26" y="17"/>
                  </a:moveTo>
                  <a:lnTo>
                    <a:pt x="26" y="0"/>
                  </a:lnTo>
                  <a:lnTo>
                    <a:pt x="0" y="0"/>
                  </a:lnTo>
                  <a:lnTo>
                    <a:pt x="0" y="17"/>
                  </a:lnTo>
                  <a:lnTo>
                    <a:pt x="26"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05" name="Freeform 9">
              <a:extLst>
                <a:ext uri="{FF2B5EF4-FFF2-40B4-BE49-F238E27FC236}">
                  <a16:creationId xmlns:a16="http://schemas.microsoft.com/office/drawing/2014/main" id="{5CE8B4F8-A694-6BD9-F970-1172174C3C8B}"/>
                </a:ext>
              </a:extLst>
            </p:cNvPr>
            <p:cNvSpPr>
              <a:spLocks/>
            </p:cNvSpPr>
            <p:nvPr/>
          </p:nvSpPr>
          <p:spPr bwMode="auto">
            <a:xfrm>
              <a:off x="142" y="4172"/>
              <a:ext cx="32" cy="20"/>
            </a:xfrm>
            <a:custGeom>
              <a:avLst/>
              <a:gdLst>
                <a:gd name="T0" fmla="*/ 0 w 32"/>
                <a:gd name="T1" fmla="*/ 0 h 20"/>
                <a:gd name="T2" fmla="*/ 25 w 32"/>
                <a:gd name="T3" fmla="*/ 19 h 20"/>
                <a:gd name="T4" fmla="*/ 31 w 32"/>
                <a:gd name="T5" fmla="*/ 8 h 20"/>
                <a:gd name="T6" fmla="*/ 0 w 32"/>
                <a:gd name="T7" fmla="*/ 0 h 20"/>
                <a:gd name="T8" fmla="*/ 0 60000 65536"/>
                <a:gd name="T9" fmla="*/ 0 60000 65536"/>
                <a:gd name="T10" fmla="*/ 0 60000 65536"/>
                <a:gd name="T11" fmla="*/ 0 60000 65536"/>
                <a:gd name="T12" fmla="*/ 0 w 32"/>
                <a:gd name="T13" fmla="*/ 0 h 20"/>
                <a:gd name="T14" fmla="*/ 32 w 32"/>
                <a:gd name="T15" fmla="*/ 20 h 20"/>
              </a:gdLst>
              <a:ahLst/>
              <a:cxnLst>
                <a:cxn ang="T8">
                  <a:pos x="T0" y="T1"/>
                </a:cxn>
                <a:cxn ang="T9">
                  <a:pos x="T2" y="T3"/>
                </a:cxn>
                <a:cxn ang="T10">
                  <a:pos x="T4" y="T5"/>
                </a:cxn>
                <a:cxn ang="T11">
                  <a:pos x="T6" y="T7"/>
                </a:cxn>
              </a:cxnLst>
              <a:rect l="T12" t="T13" r="T14" b="T15"/>
              <a:pathLst>
                <a:path w="32" h="20">
                  <a:moveTo>
                    <a:pt x="0" y="0"/>
                  </a:moveTo>
                  <a:lnTo>
                    <a:pt x="25" y="19"/>
                  </a:lnTo>
                  <a:lnTo>
                    <a:pt x="31" y="8"/>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06" name="Freeform 10">
              <a:extLst>
                <a:ext uri="{FF2B5EF4-FFF2-40B4-BE49-F238E27FC236}">
                  <a16:creationId xmlns:a16="http://schemas.microsoft.com/office/drawing/2014/main" id="{ECC25F4C-C6E9-39F6-BDF5-5FFFE209E5D4}"/>
                </a:ext>
              </a:extLst>
            </p:cNvPr>
            <p:cNvSpPr>
              <a:spLocks/>
            </p:cNvSpPr>
            <p:nvPr/>
          </p:nvSpPr>
          <p:spPr bwMode="auto">
            <a:xfrm>
              <a:off x="252" y="4172"/>
              <a:ext cx="34" cy="20"/>
            </a:xfrm>
            <a:custGeom>
              <a:avLst/>
              <a:gdLst>
                <a:gd name="T0" fmla="*/ 33 w 34"/>
                <a:gd name="T1" fmla="*/ 0 h 20"/>
                <a:gd name="T2" fmla="*/ 6 w 34"/>
                <a:gd name="T3" fmla="*/ 19 h 20"/>
                <a:gd name="T4" fmla="*/ 0 w 34"/>
                <a:gd name="T5" fmla="*/ 9 h 20"/>
                <a:gd name="T6" fmla="*/ 33 w 34"/>
                <a:gd name="T7" fmla="*/ 0 h 20"/>
                <a:gd name="T8" fmla="*/ 0 60000 65536"/>
                <a:gd name="T9" fmla="*/ 0 60000 65536"/>
                <a:gd name="T10" fmla="*/ 0 60000 65536"/>
                <a:gd name="T11" fmla="*/ 0 60000 65536"/>
                <a:gd name="T12" fmla="*/ 0 w 34"/>
                <a:gd name="T13" fmla="*/ 0 h 20"/>
                <a:gd name="T14" fmla="*/ 34 w 34"/>
                <a:gd name="T15" fmla="*/ 20 h 20"/>
              </a:gdLst>
              <a:ahLst/>
              <a:cxnLst>
                <a:cxn ang="T8">
                  <a:pos x="T0" y="T1"/>
                </a:cxn>
                <a:cxn ang="T9">
                  <a:pos x="T2" y="T3"/>
                </a:cxn>
                <a:cxn ang="T10">
                  <a:pos x="T4" y="T5"/>
                </a:cxn>
                <a:cxn ang="T11">
                  <a:pos x="T6" y="T7"/>
                </a:cxn>
              </a:cxnLst>
              <a:rect l="T12" t="T13" r="T14" b="T15"/>
              <a:pathLst>
                <a:path w="34" h="20">
                  <a:moveTo>
                    <a:pt x="33" y="0"/>
                  </a:moveTo>
                  <a:lnTo>
                    <a:pt x="6" y="19"/>
                  </a:lnTo>
                  <a:lnTo>
                    <a:pt x="0" y="9"/>
                  </a:lnTo>
                  <a:lnTo>
                    <a:pt x="33"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07" name="Freeform 11">
              <a:extLst>
                <a:ext uri="{FF2B5EF4-FFF2-40B4-BE49-F238E27FC236}">
                  <a16:creationId xmlns:a16="http://schemas.microsoft.com/office/drawing/2014/main" id="{5D2C6839-C0BC-949D-62A9-4613C5053B6E}"/>
                </a:ext>
              </a:extLst>
            </p:cNvPr>
            <p:cNvSpPr>
              <a:spLocks/>
            </p:cNvSpPr>
            <p:nvPr/>
          </p:nvSpPr>
          <p:spPr bwMode="auto">
            <a:xfrm>
              <a:off x="139" y="4211"/>
              <a:ext cx="33" cy="18"/>
            </a:xfrm>
            <a:custGeom>
              <a:avLst/>
              <a:gdLst>
                <a:gd name="T0" fmla="*/ 0 w 33"/>
                <a:gd name="T1" fmla="*/ 17 h 18"/>
                <a:gd name="T2" fmla="*/ 32 w 33"/>
                <a:gd name="T3" fmla="*/ 13 h 18"/>
                <a:gd name="T4" fmla="*/ 30 w 33"/>
                <a:gd name="T5" fmla="*/ 0 h 18"/>
                <a:gd name="T6" fmla="*/ 0 w 33"/>
                <a:gd name="T7" fmla="*/ 17 h 18"/>
                <a:gd name="T8" fmla="*/ 0 60000 65536"/>
                <a:gd name="T9" fmla="*/ 0 60000 65536"/>
                <a:gd name="T10" fmla="*/ 0 60000 65536"/>
                <a:gd name="T11" fmla="*/ 0 60000 65536"/>
                <a:gd name="T12" fmla="*/ 0 w 33"/>
                <a:gd name="T13" fmla="*/ 0 h 18"/>
                <a:gd name="T14" fmla="*/ 33 w 33"/>
                <a:gd name="T15" fmla="*/ 18 h 18"/>
              </a:gdLst>
              <a:ahLst/>
              <a:cxnLst>
                <a:cxn ang="T8">
                  <a:pos x="T0" y="T1"/>
                </a:cxn>
                <a:cxn ang="T9">
                  <a:pos x="T2" y="T3"/>
                </a:cxn>
                <a:cxn ang="T10">
                  <a:pos x="T4" y="T5"/>
                </a:cxn>
                <a:cxn ang="T11">
                  <a:pos x="T6" y="T7"/>
                </a:cxn>
              </a:cxnLst>
              <a:rect l="T12" t="T13" r="T14" b="T15"/>
              <a:pathLst>
                <a:path w="33" h="18">
                  <a:moveTo>
                    <a:pt x="0" y="17"/>
                  </a:moveTo>
                  <a:lnTo>
                    <a:pt x="32" y="13"/>
                  </a:lnTo>
                  <a:lnTo>
                    <a:pt x="30" y="0"/>
                  </a:lnTo>
                  <a:lnTo>
                    <a:pt x="0"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08" name="Freeform 12">
              <a:extLst>
                <a:ext uri="{FF2B5EF4-FFF2-40B4-BE49-F238E27FC236}">
                  <a16:creationId xmlns:a16="http://schemas.microsoft.com/office/drawing/2014/main" id="{1A03DE89-FE8E-A071-96A3-E8871703C1F6}"/>
                </a:ext>
              </a:extLst>
            </p:cNvPr>
            <p:cNvSpPr>
              <a:spLocks/>
            </p:cNvSpPr>
            <p:nvPr/>
          </p:nvSpPr>
          <p:spPr bwMode="auto">
            <a:xfrm>
              <a:off x="255" y="4212"/>
              <a:ext cx="34" cy="18"/>
            </a:xfrm>
            <a:custGeom>
              <a:avLst/>
              <a:gdLst>
                <a:gd name="T0" fmla="*/ 33 w 34"/>
                <a:gd name="T1" fmla="*/ 17 h 18"/>
                <a:gd name="T2" fmla="*/ 0 w 34"/>
                <a:gd name="T3" fmla="*/ 14 h 18"/>
                <a:gd name="T4" fmla="*/ 2 w 34"/>
                <a:gd name="T5" fmla="*/ 0 h 18"/>
                <a:gd name="T6" fmla="*/ 33 w 34"/>
                <a:gd name="T7" fmla="*/ 17 h 18"/>
                <a:gd name="T8" fmla="*/ 0 60000 65536"/>
                <a:gd name="T9" fmla="*/ 0 60000 65536"/>
                <a:gd name="T10" fmla="*/ 0 60000 65536"/>
                <a:gd name="T11" fmla="*/ 0 60000 65536"/>
                <a:gd name="T12" fmla="*/ 0 w 34"/>
                <a:gd name="T13" fmla="*/ 0 h 18"/>
                <a:gd name="T14" fmla="*/ 34 w 34"/>
                <a:gd name="T15" fmla="*/ 18 h 18"/>
              </a:gdLst>
              <a:ahLst/>
              <a:cxnLst>
                <a:cxn ang="T8">
                  <a:pos x="T0" y="T1"/>
                </a:cxn>
                <a:cxn ang="T9">
                  <a:pos x="T2" y="T3"/>
                </a:cxn>
                <a:cxn ang="T10">
                  <a:pos x="T4" y="T5"/>
                </a:cxn>
                <a:cxn ang="T11">
                  <a:pos x="T6" y="T7"/>
                </a:cxn>
              </a:cxnLst>
              <a:rect l="T12" t="T13" r="T14" b="T15"/>
              <a:pathLst>
                <a:path w="34" h="18">
                  <a:moveTo>
                    <a:pt x="33" y="17"/>
                  </a:moveTo>
                  <a:lnTo>
                    <a:pt x="0" y="14"/>
                  </a:lnTo>
                  <a:lnTo>
                    <a:pt x="2" y="0"/>
                  </a:lnTo>
                  <a:lnTo>
                    <a:pt x="3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09" name="Freeform 13">
              <a:extLst>
                <a:ext uri="{FF2B5EF4-FFF2-40B4-BE49-F238E27FC236}">
                  <a16:creationId xmlns:a16="http://schemas.microsoft.com/office/drawing/2014/main" id="{DA9B7437-31FF-E34D-005F-71CA4DFE4DB2}"/>
                </a:ext>
              </a:extLst>
            </p:cNvPr>
            <p:cNvSpPr>
              <a:spLocks/>
            </p:cNvSpPr>
            <p:nvPr/>
          </p:nvSpPr>
          <p:spPr bwMode="auto">
            <a:xfrm>
              <a:off x="164" y="4134"/>
              <a:ext cx="27" cy="30"/>
            </a:xfrm>
            <a:custGeom>
              <a:avLst/>
              <a:gdLst>
                <a:gd name="T0" fmla="*/ 0 w 27"/>
                <a:gd name="T1" fmla="*/ 0 h 30"/>
                <a:gd name="T2" fmla="*/ 15 w 27"/>
                <a:gd name="T3" fmla="*/ 29 h 30"/>
                <a:gd name="T4" fmla="*/ 26 w 27"/>
                <a:gd name="T5" fmla="*/ 22 h 30"/>
                <a:gd name="T6" fmla="*/ 0 w 27"/>
                <a:gd name="T7" fmla="*/ 0 h 30"/>
                <a:gd name="T8" fmla="*/ 0 60000 65536"/>
                <a:gd name="T9" fmla="*/ 0 60000 65536"/>
                <a:gd name="T10" fmla="*/ 0 60000 65536"/>
                <a:gd name="T11" fmla="*/ 0 60000 65536"/>
                <a:gd name="T12" fmla="*/ 0 w 27"/>
                <a:gd name="T13" fmla="*/ 0 h 30"/>
                <a:gd name="T14" fmla="*/ 27 w 27"/>
                <a:gd name="T15" fmla="*/ 30 h 30"/>
              </a:gdLst>
              <a:ahLst/>
              <a:cxnLst>
                <a:cxn ang="T8">
                  <a:pos x="T0" y="T1"/>
                </a:cxn>
                <a:cxn ang="T9">
                  <a:pos x="T2" y="T3"/>
                </a:cxn>
                <a:cxn ang="T10">
                  <a:pos x="T4" y="T5"/>
                </a:cxn>
                <a:cxn ang="T11">
                  <a:pos x="T6" y="T7"/>
                </a:cxn>
              </a:cxnLst>
              <a:rect l="T12" t="T13" r="T14" b="T15"/>
              <a:pathLst>
                <a:path w="27" h="30">
                  <a:moveTo>
                    <a:pt x="0" y="0"/>
                  </a:moveTo>
                  <a:lnTo>
                    <a:pt x="15" y="29"/>
                  </a:lnTo>
                  <a:lnTo>
                    <a:pt x="26" y="22"/>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10" name="Freeform 14">
              <a:extLst>
                <a:ext uri="{FF2B5EF4-FFF2-40B4-BE49-F238E27FC236}">
                  <a16:creationId xmlns:a16="http://schemas.microsoft.com/office/drawing/2014/main" id="{DDEAD3E3-5369-C7EB-E5C3-8F09F7ADDDCF}"/>
                </a:ext>
              </a:extLst>
            </p:cNvPr>
            <p:cNvSpPr>
              <a:spLocks/>
            </p:cNvSpPr>
            <p:nvPr/>
          </p:nvSpPr>
          <p:spPr bwMode="auto">
            <a:xfrm>
              <a:off x="230" y="4136"/>
              <a:ext cx="28" cy="31"/>
            </a:xfrm>
            <a:custGeom>
              <a:avLst/>
              <a:gdLst>
                <a:gd name="T0" fmla="*/ 27 w 28"/>
                <a:gd name="T1" fmla="*/ 0 h 31"/>
                <a:gd name="T2" fmla="*/ 11 w 28"/>
                <a:gd name="T3" fmla="*/ 30 h 31"/>
                <a:gd name="T4" fmla="*/ 0 w 28"/>
                <a:gd name="T5" fmla="*/ 22 h 31"/>
                <a:gd name="T6" fmla="*/ 27 w 28"/>
                <a:gd name="T7" fmla="*/ 0 h 31"/>
                <a:gd name="T8" fmla="*/ 0 60000 65536"/>
                <a:gd name="T9" fmla="*/ 0 60000 65536"/>
                <a:gd name="T10" fmla="*/ 0 60000 65536"/>
                <a:gd name="T11" fmla="*/ 0 60000 65536"/>
                <a:gd name="T12" fmla="*/ 0 w 28"/>
                <a:gd name="T13" fmla="*/ 0 h 31"/>
                <a:gd name="T14" fmla="*/ 28 w 28"/>
                <a:gd name="T15" fmla="*/ 31 h 31"/>
              </a:gdLst>
              <a:ahLst/>
              <a:cxnLst>
                <a:cxn ang="T8">
                  <a:pos x="T0" y="T1"/>
                </a:cxn>
                <a:cxn ang="T9">
                  <a:pos x="T2" y="T3"/>
                </a:cxn>
                <a:cxn ang="T10">
                  <a:pos x="T4" y="T5"/>
                </a:cxn>
                <a:cxn ang="T11">
                  <a:pos x="T6" y="T7"/>
                </a:cxn>
              </a:cxnLst>
              <a:rect l="T12" t="T13" r="T14" b="T15"/>
              <a:pathLst>
                <a:path w="28" h="31">
                  <a:moveTo>
                    <a:pt x="27" y="0"/>
                  </a:moveTo>
                  <a:lnTo>
                    <a:pt x="11" y="30"/>
                  </a:lnTo>
                  <a:lnTo>
                    <a:pt x="0" y="22"/>
                  </a:lnTo>
                  <a:lnTo>
                    <a:pt x="2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11" name="Freeform 15">
              <a:extLst>
                <a:ext uri="{FF2B5EF4-FFF2-40B4-BE49-F238E27FC236}">
                  <a16:creationId xmlns:a16="http://schemas.microsoft.com/office/drawing/2014/main" id="{9667C960-18B0-2851-F885-8B2783C133E4}"/>
                </a:ext>
              </a:extLst>
            </p:cNvPr>
            <p:cNvSpPr>
              <a:spLocks/>
            </p:cNvSpPr>
            <p:nvPr/>
          </p:nvSpPr>
          <p:spPr bwMode="auto">
            <a:xfrm>
              <a:off x="204" y="4125"/>
              <a:ext cx="18" cy="31"/>
            </a:xfrm>
            <a:custGeom>
              <a:avLst/>
              <a:gdLst>
                <a:gd name="T0" fmla="*/ 7 w 18"/>
                <a:gd name="T1" fmla="*/ 0 h 31"/>
                <a:gd name="T2" fmla="*/ 0 w 18"/>
                <a:gd name="T3" fmla="*/ 30 h 31"/>
                <a:gd name="T4" fmla="*/ 17 w 18"/>
                <a:gd name="T5" fmla="*/ 29 h 31"/>
                <a:gd name="T6" fmla="*/ 7 w 18"/>
                <a:gd name="T7" fmla="*/ 0 h 31"/>
                <a:gd name="T8" fmla="*/ 0 60000 65536"/>
                <a:gd name="T9" fmla="*/ 0 60000 65536"/>
                <a:gd name="T10" fmla="*/ 0 60000 65536"/>
                <a:gd name="T11" fmla="*/ 0 60000 65536"/>
                <a:gd name="T12" fmla="*/ 0 w 18"/>
                <a:gd name="T13" fmla="*/ 0 h 31"/>
                <a:gd name="T14" fmla="*/ 18 w 18"/>
                <a:gd name="T15" fmla="*/ 31 h 31"/>
              </a:gdLst>
              <a:ahLst/>
              <a:cxnLst>
                <a:cxn ang="T8">
                  <a:pos x="T0" y="T1"/>
                </a:cxn>
                <a:cxn ang="T9">
                  <a:pos x="T2" y="T3"/>
                </a:cxn>
                <a:cxn ang="T10">
                  <a:pos x="T4" y="T5"/>
                </a:cxn>
                <a:cxn ang="T11">
                  <a:pos x="T6" y="T7"/>
                </a:cxn>
              </a:cxnLst>
              <a:rect l="T12" t="T13" r="T14" b="T15"/>
              <a:pathLst>
                <a:path w="18" h="31">
                  <a:moveTo>
                    <a:pt x="7" y="0"/>
                  </a:moveTo>
                  <a:lnTo>
                    <a:pt x="0" y="30"/>
                  </a:lnTo>
                  <a:lnTo>
                    <a:pt x="17" y="29"/>
                  </a:lnTo>
                  <a:lnTo>
                    <a:pt x="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12" name="Freeform 16">
              <a:extLst>
                <a:ext uri="{FF2B5EF4-FFF2-40B4-BE49-F238E27FC236}">
                  <a16:creationId xmlns:a16="http://schemas.microsoft.com/office/drawing/2014/main" id="{3CB766B4-B9E0-82A5-9396-303EED69B10B}"/>
                </a:ext>
              </a:extLst>
            </p:cNvPr>
            <p:cNvSpPr>
              <a:spLocks/>
            </p:cNvSpPr>
            <p:nvPr/>
          </p:nvSpPr>
          <p:spPr bwMode="auto">
            <a:xfrm>
              <a:off x="179" y="4171"/>
              <a:ext cx="67" cy="115"/>
            </a:xfrm>
            <a:custGeom>
              <a:avLst/>
              <a:gdLst>
                <a:gd name="T0" fmla="*/ 21 w 67"/>
                <a:gd name="T1" fmla="*/ 114 h 115"/>
                <a:gd name="T2" fmla="*/ 22 w 67"/>
                <a:gd name="T3" fmla="*/ 94 h 115"/>
                <a:gd name="T4" fmla="*/ 20 w 67"/>
                <a:gd name="T5" fmla="*/ 91 h 115"/>
                <a:gd name="T6" fmla="*/ 14 w 67"/>
                <a:gd name="T7" fmla="*/ 83 h 115"/>
                <a:gd name="T8" fmla="*/ 8 w 67"/>
                <a:gd name="T9" fmla="*/ 72 h 115"/>
                <a:gd name="T10" fmla="*/ 3 w 67"/>
                <a:gd name="T11" fmla="*/ 58 h 115"/>
                <a:gd name="T12" fmla="*/ 0 w 67"/>
                <a:gd name="T13" fmla="*/ 42 h 115"/>
                <a:gd name="T14" fmla="*/ 0 w 67"/>
                <a:gd name="T15" fmla="*/ 27 h 115"/>
                <a:gd name="T16" fmla="*/ 7 w 67"/>
                <a:gd name="T17" fmla="*/ 12 h 115"/>
                <a:gd name="T18" fmla="*/ 22 w 67"/>
                <a:gd name="T19" fmla="*/ 0 h 115"/>
                <a:gd name="T20" fmla="*/ 42 w 67"/>
                <a:gd name="T21" fmla="*/ 0 h 115"/>
                <a:gd name="T22" fmla="*/ 45 w 67"/>
                <a:gd name="T23" fmla="*/ 1 h 115"/>
                <a:gd name="T24" fmla="*/ 50 w 67"/>
                <a:gd name="T25" fmla="*/ 5 h 115"/>
                <a:gd name="T26" fmla="*/ 56 w 67"/>
                <a:gd name="T27" fmla="*/ 11 h 115"/>
                <a:gd name="T28" fmla="*/ 62 w 67"/>
                <a:gd name="T29" fmla="*/ 20 h 115"/>
                <a:gd name="T30" fmla="*/ 66 w 67"/>
                <a:gd name="T31" fmla="*/ 32 h 115"/>
                <a:gd name="T32" fmla="*/ 65 w 67"/>
                <a:gd name="T33" fmla="*/ 48 h 115"/>
                <a:gd name="T34" fmla="*/ 58 w 67"/>
                <a:gd name="T35" fmla="*/ 68 h 115"/>
                <a:gd name="T36" fmla="*/ 42 w 67"/>
                <a:gd name="T37" fmla="*/ 91 h 115"/>
                <a:gd name="T38" fmla="*/ 42 w 67"/>
                <a:gd name="T39" fmla="*/ 114 h 115"/>
                <a:gd name="T40" fmla="*/ 21 w 67"/>
                <a:gd name="T41" fmla="*/ 114 h 1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115"/>
                <a:gd name="T65" fmla="*/ 67 w 67"/>
                <a:gd name="T66" fmla="*/ 115 h 1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115">
                  <a:moveTo>
                    <a:pt x="21" y="114"/>
                  </a:moveTo>
                  <a:lnTo>
                    <a:pt x="22" y="94"/>
                  </a:lnTo>
                  <a:lnTo>
                    <a:pt x="20" y="91"/>
                  </a:lnTo>
                  <a:lnTo>
                    <a:pt x="14" y="83"/>
                  </a:lnTo>
                  <a:lnTo>
                    <a:pt x="8" y="72"/>
                  </a:lnTo>
                  <a:lnTo>
                    <a:pt x="3" y="58"/>
                  </a:lnTo>
                  <a:lnTo>
                    <a:pt x="0" y="42"/>
                  </a:lnTo>
                  <a:lnTo>
                    <a:pt x="0" y="27"/>
                  </a:lnTo>
                  <a:lnTo>
                    <a:pt x="7" y="12"/>
                  </a:lnTo>
                  <a:lnTo>
                    <a:pt x="22" y="0"/>
                  </a:lnTo>
                  <a:lnTo>
                    <a:pt x="42" y="0"/>
                  </a:lnTo>
                  <a:lnTo>
                    <a:pt x="45" y="1"/>
                  </a:lnTo>
                  <a:lnTo>
                    <a:pt x="50" y="5"/>
                  </a:lnTo>
                  <a:lnTo>
                    <a:pt x="56" y="11"/>
                  </a:lnTo>
                  <a:lnTo>
                    <a:pt x="62" y="20"/>
                  </a:lnTo>
                  <a:lnTo>
                    <a:pt x="66" y="32"/>
                  </a:lnTo>
                  <a:lnTo>
                    <a:pt x="65" y="48"/>
                  </a:lnTo>
                  <a:lnTo>
                    <a:pt x="58" y="68"/>
                  </a:lnTo>
                  <a:lnTo>
                    <a:pt x="42" y="91"/>
                  </a:lnTo>
                  <a:lnTo>
                    <a:pt x="42" y="114"/>
                  </a:lnTo>
                  <a:lnTo>
                    <a:pt x="21"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0913" name="Freeform 17">
              <a:extLst>
                <a:ext uri="{FF2B5EF4-FFF2-40B4-BE49-F238E27FC236}">
                  <a16:creationId xmlns:a16="http://schemas.microsoft.com/office/drawing/2014/main" id="{D6D9B714-FC40-8ACC-829E-9F5B721ABCBD}"/>
                </a:ext>
              </a:extLst>
            </p:cNvPr>
            <p:cNvSpPr>
              <a:spLocks/>
            </p:cNvSpPr>
            <p:nvPr/>
          </p:nvSpPr>
          <p:spPr bwMode="auto">
            <a:xfrm>
              <a:off x="206" y="4192"/>
              <a:ext cx="17" cy="88"/>
            </a:xfrm>
            <a:custGeom>
              <a:avLst/>
              <a:gdLst>
                <a:gd name="T0" fmla="*/ 4 w 17"/>
                <a:gd name="T1" fmla="*/ 0 h 88"/>
                <a:gd name="T2" fmla="*/ 6 w 17"/>
                <a:gd name="T3" fmla="*/ 6 h 88"/>
                <a:gd name="T4" fmla="*/ 2 w 17"/>
                <a:gd name="T5" fmla="*/ 7 h 88"/>
                <a:gd name="T6" fmla="*/ 2 w 17"/>
                <a:gd name="T7" fmla="*/ 78 h 88"/>
                <a:gd name="T8" fmla="*/ 0 w 17"/>
                <a:gd name="T9" fmla="*/ 79 h 88"/>
                <a:gd name="T10" fmla="*/ 0 w 17"/>
                <a:gd name="T11" fmla="*/ 87 h 88"/>
                <a:gd name="T12" fmla="*/ 2 w 17"/>
                <a:gd name="T13" fmla="*/ 87 h 88"/>
                <a:gd name="T14" fmla="*/ 4 w 17"/>
                <a:gd name="T15" fmla="*/ 87 h 88"/>
                <a:gd name="T16" fmla="*/ 6 w 17"/>
                <a:gd name="T17" fmla="*/ 87 h 88"/>
                <a:gd name="T18" fmla="*/ 9 w 17"/>
                <a:gd name="T19" fmla="*/ 85 h 88"/>
                <a:gd name="T20" fmla="*/ 13 w 17"/>
                <a:gd name="T21" fmla="*/ 85 h 88"/>
                <a:gd name="T22" fmla="*/ 16 w 17"/>
                <a:gd name="T23" fmla="*/ 84 h 88"/>
                <a:gd name="T24" fmla="*/ 16 w 17"/>
                <a:gd name="T25" fmla="*/ 82 h 88"/>
                <a:gd name="T26" fmla="*/ 16 w 17"/>
                <a:gd name="T27" fmla="*/ 79 h 88"/>
                <a:gd name="T28" fmla="*/ 16 w 17"/>
                <a:gd name="T29" fmla="*/ 48 h 88"/>
                <a:gd name="T30" fmla="*/ 13 w 17"/>
                <a:gd name="T31" fmla="*/ 47 h 88"/>
                <a:gd name="T32" fmla="*/ 13 w 17"/>
                <a:gd name="T33" fmla="*/ 39 h 88"/>
                <a:gd name="T34" fmla="*/ 13 w 17"/>
                <a:gd name="T35" fmla="*/ 5 h 88"/>
                <a:gd name="T36" fmla="*/ 4 w 17"/>
                <a:gd name="T37" fmla="*/ 0 h 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88"/>
                <a:gd name="T59" fmla="*/ 17 w 17"/>
                <a:gd name="T60" fmla="*/ 88 h 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88">
                  <a:moveTo>
                    <a:pt x="4" y="0"/>
                  </a:moveTo>
                  <a:lnTo>
                    <a:pt x="6" y="6"/>
                  </a:lnTo>
                  <a:lnTo>
                    <a:pt x="2" y="7"/>
                  </a:lnTo>
                  <a:lnTo>
                    <a:pt x="2" y="78"/>
                  </a:lnTo>
                  <a:lnTo>
                    <a:pt x="0" y="79"/>
                  </a:lnTo>
                  <a:lnTo>
                    <a:pt x="0" y="87"/>
                  </a:lnTo>
                  <a:lnTo>
                    <a:pt x="2" y="87"/>
                  </a:lnTo>
                  <a:lnTo>
                    <a:pt x="4" y="87"/>
                  </a:lnTo>
                  <a:lnTo>
                    <a:pt x="6" y="87"/>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2D1A383A-CF46-84F5-34DA-FFB65CC527DB}"/>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Dropping a Constraint</a:t>
            </a:r>
          </a:p>
          <a:p>
            <a:pPr marL="114300" lvl="1" defTabSz="401638"/>
            <a:r>
              <a:rPr lang="en-US" altLang="en-US">
                <a:latin typeface="Arial" panose="020B0604020202020204" pitchFamily="34" charset="0"/>
              </a:rPr>
              <a:t>To drop a constraint, you can identify the constraint name from the USER_CONSTRAINTS and USER_CONS_COLUMNS data dictionary views. Then use the ALTER TABLE statement with the </a:t>
            </a:r>
            <a:r>
              <a:rPr lang="en-US" altLang="en-US">
                <a:solidFill>
                  <a:srgbClr val="FC0128"/>
                </a:solidFill>
                <a:latin typeface="Arial" panose="020B0604020202020204" pitchFamily="34" charset="0"/>
              </a:rPr>
              <a:t>DROP clause.</a:t>
            </a:r>
            <a:r>
              <a:rPr lang="en-US" altLang="en-US">
                <a:latin typeface="Arial" panose="020B0604020202020204" pitchFamily="34" charset="0"/>
              </a:rPr>
              <a:t> The CASCADE option of the DROP clause causes any dependent constraints also to be dropped.</a:t>
            </a:r>
          </a:p>
          <a:p>
            <a:pPr marL="114300" lvl="1" defTabSz="401638"/>
            <a:r>
              <a:rPr lang="en-US" altLang="en-US" b="1">
                <a:latin typeface="Arial" panose="020B0604020202020204" pitchFamily="34" charset="0"/>
              </a:rPr>
              <a:t>Syntax</a:t>
            </a:r>
            <a:endParaRPr lang="en-US" altLang="en-US">
              <a:latin typeface="Arial" panose="020B0604020202020204" pitchFamily="34" charset="0"/>
            </a:endParaRPr>
          </a:p>
          <a:p>
            <a:pPr marL="114300" lvl="1" defTabSz="401638">
              <a:spcBef>
                <a:spcPct val="65000"/>
              </a:spcBef>
            </a:pPr>
            <a:r>
              <a:rPr lang="en-US" altLang="en-US">
                <a:latin typeface="Arial" panose="020B0604020202020204" pitchFamily="34" charset="0"/>
              </a:rPr>
              <a:t>  </a:t>
            </a:r>
            <a:r>
              <a:rPr lang="en-US" altLang="en-US">
                <a:latin typeface="Courier New" panose="02070309020205020404" pitchFamily="49" charset="0"/>
              </a:rPr>
              <a:t>ALTER TABLE	</a:t>
            </a:r>
            <a:r>
              <a:rPr lang="en-US" altLang="en-US" i="1">
                <a:latin typeface="Courier New" panose="02070309020205020404" pitchFamily="49" charset="0"/>
              </a:rPr>
              <a:t>table</a:t>
            </a:r>
            <a:endParaRPr lang="en-US" altLang="en-US">
              <a:latin typeface="Courier New" panose="02070309020205020404" pitchFamily="49" charset="0"/>
            </a:endParaRPr>
          </a:p>
          <a:p>
            <a:pPr marL="114300" lvl="1" defTabSz="401638">
              <a:spcBef>
                <a:spcPct val="0"/>
              </a:spcBef>
            </a:pPr>
            <a:r>
              <a:rPr lang="en-US" altLang="en-US">
                <a:latin typeface="Courier New" panose="02070309020205020404" pitchFamily="49" charset="0"/>
              </a:rPr>
              <a:t> DROP  PRIMARY KEY | UNIQUE (</a:t>
            </a:r>
            <a:r>
              <a:rPr lang="en-US" altLang="en-US" i="1">
                <a:latin typeface="Courier New" panose="02070309020205020404" pitchFamily="49" charset="0"/>
              </a:rPr>
              <a:t>column</a:t>
            </a:r>
            <a:r>
              <a:rPr lang="en-US" altLang="en-US">
                <a:latin typeface="Courier New" panose="02070309020205020404" pitchFamily="49" charset="0"/>
              </a:rPr>
              <a:t>) |</a:t>
            </a:r>
          </a:p>
          <a:p>
            <a:pPr marL="114300" lvl="1" defTabSz="401638">
              <a:spcBef>
                <a:spcPct val="0"/>
              </a:spcBef>
            </a:pPr>
            <a:r>
              <a:rPr lang="en-US" altLang="en-US">
                <a:latin typeface="Courier New" panose="02070309020205020404" pitchFamily="49" charset="0"/>
              </a:rPr>
              <a:t>       CONSTRAINT   </a:t>
            </a:r>
            <a:r>
              <a:rPr lang="en-US" altLang="en-US" i="1">
                <a:latin typeface="Courier New" panose="02070309020205020404" pitchFamily="49" charset="0"/>
              </a:rPr>
              <a:t>constraint</a:t>
            </a:r>
            <a:r>
              <a:rPr lang="en-US" altLang="en-US">
                <a:latin typeface="Courier New" panose="02070309020205020404" pitchFamily="49" charset="0"/>
              </a:rPr>
              <a:t>  [CASCADE];</a:t>
            </a:r>
            <a:endParaRPr lang="en-US" altLang="en-US">
              <a:latin typeface="Arial" panose="020B0604020202020204" pitchFamily="34" charset="0"/>
            </a:endParaRPr>
          </a:p>
          <a:p>
            <a:pPr marL="114300" lvl="1" defTabSz="401638"/>
            <a:endParaRPr lang="en-US" altLang="en-US" sz="400">
              <a:latin typeface="Arial" panose="020B0604020202020204" pitchFamily="34" charset="0"/>
            </a:endParaRPr>
          </a:p>
          <a:p>
            <a:pPr marL="114300" lvl="1" defTabSz="401638"/>
            <a:r>
              <a:rPr lang="en-US" altLang="en-US" b="1">
                <a:latin typeface="Arial" panose="020B0604020202020204" pitchFamily="34" charset="0"/>
              </a:rPr>
              <a:t>where:</a:t>
            </a:r>
            <a:r>
              <a:rPr lang="en-US" altLang="en-US">
                <a:latin typeface="Arial" panose="020B0604020202020204" pitchFamily="34" charset="0"/>
              </a:rPr>
              <a:t>	</a:t>
            </a:r>
            <a:r>
              <a:rPr lang="en-US" altLang="en-US" i="1">
                <a:latin typeface="Arial" panose="020B0604020202020204" pitchFamily="34" charset="0"/>
              </a:rPr>
              <a:t>table</a:t>
            </a:r>
            <a:r>
              <a:rPr lang="en-US" altLang="en-US">
                <a:latin typeface="Arial" panose="020B0604020202020204" pitchFamily="34" charset="0"/>
              </a:rPr>
              <a:t>			is the name of the table</a:t>
            </a:r>
          </a:p>
          <a:p>
            <a:pPr marL="114300" lvl="1" defTabSz="401638"/>
            <a:r>
              <a:rPr lang="en-US" altLang="en-US">
                <a:latin typeface="Arial" panose="020B0604020202020204" pitchFamily="34" charset="0"/>
              </a:rPr>
              <a:t>		</a:t>
            </a:r>
            <a:r>
              <a:rPr lang="en-US" altLang="en-US" i="1">
                <a:latin typeface="Arial" panose="020B0604020202020204" pitchFamily="34" charset="0"/>
              </a:rPr>
              <a:t>column		</a:t>
            </a:r>
            <a:r>
              <a:rPr lang="en-US" altLang="en-US">
                <a:latin typeface="Arial" panose="020B0604020202020204" pitchFamily="34" charset="0"/>
              </a:rPr>
              <a:t>is the name of the column affected by the constraint</a:t>
            </a:r>
          </a:p>
          <a:p>
            <a:pPr marL="114300" lvl="1" defTabSz="401638"/>
            <a:r>
              <a:rPr lang="en-US" altLang="en-US" i="1">
                <a:latin typeface="Arial" panose="020B0604020202020204" pitchFamily="34" charset="0"/>
              </a:rPr>
              <a:t>		constraint</a:t>
            </a:r>
            <a:r>
              <a:rPr lang="en-US" altLang="en-US">
                <a:latin typeface="Arial" panose="020B0604020202020204" pitchFamily="34" charset="0"/>
              </a:rPr>
              <a:t>		is the name of the constraint</a:t>
            </a:r>
          </a:p>
          <a:p>
            <a:pPr marL="114300" lvl="1" defTabSz="401638"/>
            <a:r>
              <a:rPr lang="en-US" altLang="en-US">
                <a:latin typeface="Arial" panose="020B0604020202020204" pitchFamily="34" charset="0"/>
              </a:rPr>
              <a:t>When you drop an integrity constraint, that constraint is no longer enforced by the Oracle Server and is no longer available in the data dictionary.</a:t>
            </a:r>
          </a:p>
          <a:p>
            <a:pPr marL="114300" lvl="1" defTabSz="401638"/>
            <a:endParaRPr lang="en-US" altLang="en-US">
              <a:latin typeface="Times" panose="02020603050405020304" pitchFamily="18" charset="0"/>
            </a:endParaRPr>
          </a:p>
          <a:p>
            <a:pPr defTabSz="401638"/>
            <a:endParaRPr lang="en-US" altLang="en-US" b="1">
              <a:latin typeface="Times" panose="02020603050405020304" pitchFamily="18" charset="0"/>
            </a:endParaRPr>
          </a:p>
        </p:txBody>
      </p:sp>
      <p:sp>
        <p:nvSpPr>
          <p:cNvPr id="82947" name="Rectangle 3">
            <a:extLst>
              <a:ext uri="{FF2B5EF4-FFF2-40B4-BE49-F238E27FC236}">
                <a16:creationId xmlns:a16="http://schemas.microsoft.com/office/drawing/2014/main" id="{60901D0B-D381-02FA-F719-FBDE67133736}"/>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82948" name="Rectangle 4">
            <a:extLst>
              <a:ext uri="{FF2B5EF4-FFF2-40B4-BE49-F238E27FC236}">
                <a16:creationId xmlns:a16="http://schemas.microsoft.com/office/drawing/2014/main" id="{47224873-50DF-505D-855D-E82A33D1FA6E}"/>
              </a:ext>
            </a:extLst>
          </p:cNvPr>
          <p:cNvSpPr>
            <a:spLocks noChangeArrowheads="1"/>
          </p:cNvSpPr>
          <p:nvPr/>
        </p:nvSpPr>
        <p:spPr bwMode="auto">
          <a:xfrm>
            <a:off x="609600" y="6072188"/>
            <a:ext cx="5492750" cy="6000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grpSp>
        <p:nvGrpSpPr>
          <p:cNvPr id="82949" name="Group 5">
            <a:extLst>
              <a:ext uri="{FF2B5EF4-FFF2-40B4-BE49-F238E27FC236}">
                <a16:creationId xmlns:a16="http://schemas.microsoft.com/office/drawing/2014/main" id="{8F86850A-4D5C-4934-EA85-FCA0F5DBB1A1}"/>
              </a:ext>
            </a:extLst>
          </p:cNvPr>
          <p:cNvGrpSpPr>
            <a:grpSpLocks/>
          </p:cNvGrpSpPr>
          <p:nvPr/>
        </p:nvGrpSpPr>
        <p:grpSpPr bwMode="auto">
          <a:xfrm>
            <a:off x="228600" y="7483475"/>
            <a:ext cx="285750" cy="309563"/>
            <a:chOff x="143" y="4629"/>
            <a:chExt cx="179" cy="191"/>
          </a:xfrm>
        </p:grpSpPr>
        <p:sp>
          <p:nvSpPr>
            <p:cNvPr id="82950" name="Freeform 6">
              <a:extLst>
                <a:ext uri="{FF2B5EF4-FFF2-40B4-BE49-F238E27FC236}">
                  <a16:creationId xmlns:a16="http://schemas.microsoft.com/office/drawing/2014/main" id="{10AB00A7-7FE6-CFE4-39EC-E728B5390F24}"/>
                </a:ext>
              </a:extLst>
            </p:cNvPr>
            <p:cNvSpPr>
              <a:spLocks/>
            </p:cNvSpPr>
            <p:nvPr/>
          </p:nvSpPr>
          <p:spPr bwMode="auto">
            <a:xfrm>
              <a:off x="143" y="4629"/>
              <a:ext cx="179" cy="183"/>
            </a:xfrm>
            <a:custGeom>
              <a:avLst/>
              <a:gdLst>
                <a:gd name="T0" fmla="*/ 178 w 179"/>
                <a:gd name="T1" fmla="*/ 182 h 183"/>
                <a:gd name="T2" fmla="*/ 178 w 179"/>
                <a:gd name="T3" fmla="*/ 0 h 183"/>
                <a:gd name="T4" fmla="*/ 0 w 179"/>
                <a:gd name="T5" fmla="*/ 0 h 183"/>
                <a:gd name="T6" fmla="*/ 0 w 179"/>
                <a:gd name="T7" fmla="*/ 182 h 183"/>
                <a:gd name="T8" fmla="*/ 178 w 179"/>
                <a:gd name="T9" fmla="*/ 182 h 183"/>
                <a:gd name="T10" fmla="*/ 0 60000 65536"/>
                <a:gd name="T11" fmla="*/ 0 60000 65536"/>
                <a:gd name="T12" fmla="*/ 0 60000 65536"/>
                <a:gd name="T13" fmla="*/ 0 60000 65536"/>
                <a:gd name="T14" fmla="*/ 0 60000 65536"/>
                <a:gd name="T15" fmla="*/ 0 w 179"/>
                <a:gd name="T16" fmla="*/ 0 h 183"/>
                <a:gd name="T17" fmla="*/ 179 w 179"/>
                <a:gd name="T18" fmla="*/ 183 h 183"/>
              </a:gdLst>
              <a:ahLst/>
              <a:cxnLst>
                <a:cxn ang="T10">
                  <a:pos x="T0" y="T1"/>
                </a:cxn>
                <a:cxn ang="T11">
                  <a:pos x="T2" y="T3"/>
                </a:cxn>
                <a:cxn ang="T12">
                  <a:pos x="T4" y="T5"/>
                </a:cxn>
                <a:cxn ang="T13">
                  <a:pos x="T6" y="T7"/>
                </a:cxn>
                <a:cxn ang="T14">
                  <a:pos x="T8" y="T9"/>
                </a:cxn>
              </a:cxnLst>
              <a:rect l="T15" t="T16" r="T17" b="T18"/>
              <a:pathLst>
                <a:path w="179" h="183">
                  <a:moveTo>
                    <a:pt x="178" y="182"/>
                  </a:moveTo>
                  <a:lnTo>
                    <a:pt x="178" y="0"/>
                  </a:lnTo>
                  <a:lnTo>
                    <a:pt x="0" y="0"/>
                  </a:lnTo>
                  <a:lnTo>
                    <a:pt x="0" y="182"/>
                  </a:lnTo>
                  <a:lnTo>
                    <a:pt x="178" y="18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51" name="Freeform 7">
              <a:extLst>
                <a:ext uri="{FF2B5EF4-FFF2-40B4-BE49-F238E27FC236}">
                  <a16:creationId xmlns:a16="http://schemas.microsoft.com/office/drawing/2014/main" id="{B76E7511-AB5D-5145-5D03-58634BA107DB}"/>
                </a:ext>
              </a:extLst>
            </p:cNvPr>
            <p:cNvSpPr>
              <a:spLocks/>
            </p:cNvSpPr>
            <p:nvPr/>
          </p:nvSpPr>
          <p:spPr bwMode="auto">
            <a:xfrm>
              <a:off x="224" y="4803"/>
              <a:ext cx="26" cy="17"/>
            </a:xfrm>
            <a:custGeom>
              <a:avLst/>
              <a:gdLst>
                <a:gd name="T0" fmla="*/ 25 w 26"/>
                <a:gd name="T1" fmla="*/ 16 h 17"/>
                <a:gd name="T2" fmla="*/ 25 w 26"/>
                <a:gd name="T3" fmla="*/ 0 h 17"/>
                <a:gd name="T4" fmla="*/ 0 w 26"/>
                <a:gd name="T5" fmla="*/ 0 h 17"/>
                <a:gd name="T6" fmla="*/ 0 w 26"/>
                <a:gd name="T7" fmla="*/ 16 h 17"/>
                <a:gd name="T8" fmla="*/ 25 w 26"/>
                <a:gd name="T9" fmla="*/ 16 h 17"/>
                <a:gd name="T10" fmla="*/ 0 60000 65536"/>
                <a:gd name="T11" fmla="*/ 0 60000 65536"/>
                <a:gd name="T12" fmla="*/ 0 60000 65536"/>
                <a:gd name="T13" fmla="*/ 0 60000 65536"/>
                <a:gd name="T14" fmla="*/ 0 60000 65536"/>
                <a:gd name="T15" fmla="*/ 0 w 26"/>
                <a:gd name="T16" fmla="*/ 0 h 17"/>
                <a:gd name="T17" fmla="*/ 26 w 26"/>
                <a:gd name="T18" fmla="*/ 17 h 17"/>
              </a:gdLst>
              <a:ahLst/>
              <a:cxnLst>
                <a:cxn ang="T10">
                  <a:pos x="T0" y="T1"/>
                </a:cxn>
                <a:cxn ang="T11">
                  <a:pos x="T2" y="T3"/>
                </a:cxn>
                <a:cxn ang="T12">
                  <a:pos x="T4" y="T5"/>
                </a:cxn>
                <a:cxn ang="T13">
                  <a:pos x="T6" y="T7"/>
                </a:cxn>
                <a:cxn ang="T14">
                  <a:pos x="T8" y="T9"/>
                </a:cxn>
              </a:cxnLst>
              <a:rect l="T15" t="T16" r="T17" b="T18"/>
              <a:pathLst>
                <a:path w="26" h="17">
                  <a:moveTo>
                    <a:pt x="25" y="16"/>
                  </a:moveTo>
                  <a:lnTo>
                    <a:pt x="25" y="0"/>
                  </a:lnTo>
                  <a:lnTo>
                    <a:pt x="0" y="0"/>
                  </a:lnTo>
                  <a:lnTo>
                    <a:pt x="0" y="16"/>
                  </a:lnTo>
                  <a:lnTo>
                    <a:pt x="25"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52" name="Freeform 8">
              <a:extLst>
                <a:ext uri="{FF2B5EF4-FFF2-40B4-BE49-F238E27FC236}">
                  <a16:creationId xmlns:a16="http://schemas.microsoft.com/office/drawing/2014/main" id="{1D51D507-33E6-2A53-965F-00E7F74C707A}"/>
                </a:ext>
              </a:extLst>
            </p:cNvPr>
            <p:cNvSpPr>
              <a:spLocks/>
            </p:cNvSpPr>
            <p:nvPr/>
          </p:nvSpPr>
          <p:spPr bwMode="auto">
            <a:xfrm>
              <a:off x="165" y="4682"/>
              <a:ext cx="33" cy="19"/>
            </a:xfrm>
            <a:custGeom>
              <a:avLst/>
              <a:gdLst>
                <a:gd name="T0" fmla="*/ 0 w 33"/>
                <a:gd name="T1" fmla="*/ 0 h 19"/>
                <a:gd name="T2" fmla="*/ 26 w 33"/>
                <a:gd name="T3" fmla="*/ 18 h 19"/>
                <a:gd name="T4" fmla="*/ 32 w 33"/>
                <a:gd name="T5" fmla="*/ 8 h 19"/>
                <a:gd name="T6" fmla="*/ 0 w 33"/>
                <a:gd name="T7" fmla="*/ 0 h 19"/>
                <a:gd name="T8" fmla="*/ 0 60000 65536"/>
                <a:gd name="T9" fmla="*/ 0 60000 65536"/>
                <a:gd name="T10" fmla="*/ 0 60000 65536"/>
                <a:gd name="T11" fmla="*/ 0 60000 65536"/>
                <a:gd name="T12" fmla="*/ 0 w 33"/>
                <a:gd name="T13" fmla="*/ 0 h 19"/>
                <a:gd name="T14" fmla="*/ 33 w 33"/>
                <a:gd name="T15" fmla="*/ 19 h 19"/>
              </a:gdLst>
              <a:ahLst/>
              <a:cxnLst>
                <a:cxn ang="T8">
                  <a:pos x="T0" y="T1"/>
                </a:cxn>
                <a:cxn ang="T9">
                  <a:pos x="T2" y="T3"/>
                </a:cxn>
                <a:cxn ang="T10">
                  <a:pos x="T4" y="T5"/>
                </a:cxn>
                <a:cxn ang="T11">
                  <a:pos x="T6" y="T7"/>
                </a:cxn>
              </a:cxnLst>
              <a:rect l="T12" t="T13" r="T14" b="T15"/>
              <a:pathLst>
                <a:path w="33" h="19">
                  <a:moveTo>
                    <a:pt x="0" y="0"/>
                  </a:moveTo>
                  <a:lnTo>
                    <a:pt x="26" y="18"/>
                  </a:lnTo>
                  <a:lnTo>
                    <a:pt x="32" y="8"/>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53" name="Freeform 9">
              <a:extLst>
                <a:ext uri="{FF2B5EF4-FFF2-40B4-BE49-F238E27FC236}">
                  <a16:creationId xmlns:a16="http://schemas.microsoft.com/office/drawing/2014/main" id="{01B9CF95-6011-A839-0873-CD83567AD8CD}"/>
                </a:ext>
              </a:extLst>
            </p:cNvPr>
            <p:cNvSpPr>
              <a:spLocks/>
            </p:cNvSpPr>
            <p:nvPr/>
          </p:nvSpPr>
          <p:spPr bwMode="auto">
            <a:xfrm>
              <a:off x="275" y="4682"/>
              <a:ext cx="35" cy="19"/>
            </a:xfrm>
            <a:custGeom>
              <a:avLst/>
              <a:gdLst>
                <a:gd name="T0" fmla="*/ 34 w 35"/>
                <a:gd name="T1" fmla="*/ 0 h 19"/>
                <a:gd name="T2" fmla="*/ 6 w 35"/>
                <a:gd name="T3" fmla="*/ 18 h 19"/>
                <a:gd name="T4" fmla="*/ 0 w 35"/>
                <a:gd name="T5" fmla="*/ 8 h 19"/>
                <a:gd name="T6" fmla="*/ 34 w 35"/>
                <a:gd name="T7" fmla="*/ 0 h 19"/>
                <a:gd name="T8" fmla="*/ 0 60000 65536"/>
                <a:gd name="T9" fmla="*/ 0 60000 65536"/>
                <a:gd name="T10" fmla="*/ 0 60000 65536"/>
                <a:gd name="T11" fmla="*/ 0 60000 65536"/>
                <a:gd name="T12" fmla="*/ 0 w 35"/>
                <a:gd name="T13" fmla="*/ 0 h 19"/>
                <a:gd name="T14" fmla="*/ 35 w 35"/>
                <a:gd name="T15" fmla="*/ 19 h 19"/>
              </a:gdLst>
              <a:ahLst/>
              <a:cxnLst>
                <a:cxn ang="T8">
                  <a:pos x="T0" y="T1"/>
                </a:cxn>
                <a:cxn ang="T9">
                  <a:pos x="T2" y="T3"/>
                </a:cxn>
                <a:cxn ang="T10">
                  <a:pos x="T4" y="T5"/>
                </a:cxn>
                <a:cxn ang="T11">
                  <a:pos x="T6" y="T7"/>
                </a:cxn>
              </a:cxnLst>
              <a:rect l="T12" t="T13" r="T14" b="T15"/>
              <a:pathLst>
                <a:path w="35" h="19">
                  <a:moveTo>
                    <a:pt x="34" y="0"/>
                  </a:moveTo>
                  <a:lnTo>
                    <a:pt x="6" y="18"/>
                  </a:lnTo>
                  <a:lnTo>
                    <a:pt x="0" y="8"/>
                  </a:lnTo>
                  <a:lnTo>
                    <a:pt x="34"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54" name="Freeform 10">
              <a:extLst>
                <a:ext uri="{FF2B5EF4-FFF2-40B4-BE49-F238E27FC236}">
                  <a16:creationId xmlns:a16="http://schemas.microsoft.com/office/drawing/2014/main" id="{76F17E77-D403-FDDC-E965-1C6D5728D807}"/>
                </a:ext>
              </a:extLst>
            </p:cNvPr>
            <p:cNvSpPr>
              <a:spLocks/>
            </p:cNvSpPr>
            <p:nvPr/>
          </p:nvSpPr>
          <p:spPr bwMode="auto">
            <a:xfrm>
              <a:off x="162" y="4720"/>
              <a:ext cx="34" cy="19"/>
            </a:xfrm>
            <a:custGeom>
              <a:avLst/>
              <a:gdLst>
                <a:gd name="T0" fmla="*/ 0 w 34"/>
                <a:gd name="T1" fmla="*/ 18 h 19"/>
                <a:gd name="T2" fmla="*/ 33 w 34"/>
                <a:gd name="T3" fmla="*/ 14 h 19"/>
                <a:gd name="T4" fmla="*/ 31 w 34"/>
                <a:gd name="T5" fmla="*/ 0 h 19"/>
                <a:gd name="T6" fmla="*/ 0 w 34"/>
                <a:gd name="T7" fmla="*/ 18 h 19"/>
                <a:gd name="T8" fmla="*/ 0 60000 65536"/>
                <a:gd name="T9" fmla="*/ 0 60000 65536"/>
                <a:gd name="T10" fmla="*/ 0 60000 65536"/>
                <a:gd name="T11" fmla="*/ 0 60000 65536"/>
                <a:gd name="T12" fmla="*/ 0 w 34"/>
                <a:gd name="T13" fmla="*/ 0 h 19"/>
                <a:gd name="T14" fmla="*/ 34 w 34"/>
                <a:gd name="T15" fmla="*/ 19 h 19"/>
              </a:gdLst>
              <a:ahLst/>
              <a:cxnLst>
                <a:cxn ang="T8">
                  <a:pos x="T0" y="T1"/>
                </a:cxn>
                <a:cxn ang="T9">
                  <a:pos x="T2" y="T3"/>
                </a:cxn>
                <a:cxn ang="T10">
                  <a:pos x="T4" y="T5"/>
                </a:cxn>
                <a:cxn ang="T11">
                  <a:pos x="T6" y="T7"/>
                </a:cxn>
              </a:cxnLst>
              <a:rect l="T12" t="T13" r="T14" b="T15"/>
              <a:pathLst>
                <a:path w="34" h="19">
                  <a:moveTo>
                    <a:pt x="0" y="18"/>
                  </a:moveTo>
                  <a:lnTo>
                    <a:pt x="33" y="14"/>
                  </a:lnTo>
                  <a:lnTo>
                    <a:pt x="31" y="0"/>
                  </a:lnTo>
                  <a:lnTo>
                    <a:pt x="0"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55" name="Freeform 11">
              <a:extLst>
                <a:ext uri="{FF2B5EF4-FFF2-40B4-BE49-F238E27FC236}">
                  <a16:creationId xmlns:a16="http://schemas.microsoft.com/office/drawing/2014/main" id="{46B41756-A17D-44D0-D0C8-BD15DEF7F634}"/>
                </a:ext>
              </a:extLst>
            </p:cNvPr>
            <p:cNvSpPr>
              <a:spLocks/>
            </p:cNvSpPr>
            <p:nvPr/>
          </p:nvSpPr>
          <p:spPr bwMode="auto">
            <a:xfrm>
              <a:off x="278" y="4721"/>
              <a:ext cx="35" cy="19"/>
            </a:xfrm>
            <a:custGeom>
              <a:avLst/>
              <a:gdLst>
                <a:gd name="T0" fmla="*/ 34 w 35"/>
                <a:gd name="T1" fmla="*/ 18 h 19"/>
                <a:gd name="T2" fmla="*/ 0 w 35"/>
                <a:gd name="T3" fmla="*/ 15 h 19"/>
                <a:gd name="T4" fmla="*/ 2 w 35"/>
                <a:gd name="T5" fmla="*/ 0 h 19"/>
                <a:gd name="T6" fmla="*/ 34 w 35"/>
                <a:gd name="T7" fmla="*/ 18 h 19"/>
                <a:gd name="T8" fmla="*/ 0 60000 65536"/>
                <a:gd name="T9" fmla="*/ 0 60000 65536"/>
                <a:gd name="T10" fmla="*/ 0 60000 65536"/>
                <a:gd name="T11" fmla="*/ 0 60000 65536"/>
                <a:gd name="T12" fmla="*/ 0 w 35"/>
                <a:gd name="T13" fmla="*/ 0 h 19"/>
                <a:gd name="T14" fmla="*/ 35 w 35"/>
                <a:gd name="T15" fmla="*/ 19 h 19"/>
              </a:gdLst>
              <a:ahLst/>
              <a:cxnLst>
                <a:cxn ang="T8">
                  <a:pos x="T0" y="T1"/>
                </a:cxn>
                <a:cxn ang="T9">
                  <a:pos x="T2" y="T3"/>
                </a:cxn>
                <a:cxn ang="T10">
                  <a:pos x="T4" y="T5"/>
                </a:cxn>
                <a:cxn ang="T11">
                  <a:pos x="T6" y="T7"/>
                </a:cxn>
              </a:cxnLst>
              <a:rect l="T12" t="T13" r="T14" b="T15"/>
              <a:pathLst>
                <a:path w="35" h="19">
                  <a:moveTo>
                    <a:pt x="34" y="18"/>
                  </a:moveTo>
                  <a:lnTo>
                    <a:pt x="0" y="15"/>
                  </a:lnTo>
                  <a:lnTo>
                    <a:pt x="2" y="0"/>
                  </a:lnTo>
                  <a:lnTo>
                    <a:pt x="34"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56" name="Freeform 12">
              <a:extLst>
                <a:ext uri="{FF2B5EF4-FFF2-40B4-BE49-F238E27FC236}">
                  <a16:creationId xmlns:a16="http://schemas.microsoft.com/office/drawing/2014/main" id="{C04B51E6-938B-090E-5A86-852A4998E95C}"/>
                </a:ext>
              </a:extLst>
            </p:cNvPr>
            <p:cNvSpPr>
              <a:spLocks/>
            </p:cNvSpPr>
            <p:nvPr/>
          </p:nvSpPr>
          <p:spPr bwMode="auto">
            <a:xfrm>
              <a:off x="188" y="4643"/>
              <a:ext cx="26" cy="30"/>
            </a:xfrm>
            <a:custGeom>
              <a:avLst/>
              <a:gdLst>
                <a:gd name="T0" fmla="*/ 0 w 26"/>
                <a:gd name="T1" fmla="*/ 0 h 30"/>
                <a:gd name="T2" fmla="*/ 15 w 26"/>
                <a:gd name="T3" fmla="*/ 29 h 30"/>
                <a:gd name="T4" fmla="*/ 25 w 26"/>
                <a:gd name="T5" fmla="*/ 22 h 30"/>
                <a:gd name="T6" fmla="*/ 0 w 26"/>
                <a:gd name="T7" fmla="*/ 0 h 30"/>
                <a:gd name="T8" fmla="*/ 0 60000 65536"/>
                <a:gd name="T9" fmla="*/ 0 60000 65536"/>
                <a:gd name="T10" fmla="*/ 0 60000 65536"/>
                <a:gd name="T11" fmla="*/ 0 60000 65536"/>
                <a:gd name="T12" fmla="*/ 0 w 26"/>
                <a:gd name="T13" fmla="*/ 0 h 30"/>
                <a:gd name="T14" fmla="*/ 26 w 26"/>
                <a:gd name="T15" fmla="*/ 30 h 30"/>
              </a:gdLst>
              <a:ahLst/>
              <a:cxnLst>
                <a:cxn ang="T8">
                  <a:pos x="T0" y="T1"/>
                </a:cxn>
                <a:cxn ang="T9">
                  <a:pos x="T2" y="T3"/>
                </a:cxn>
                <a:cxn ang="T10">
                  <a:pos x="T4" y="T5"/>
                </a:cxn>
                <a:cxn ang="T11">
                  <a:pos x="T6" y="T7"/>
                </a:cxn>
              </a:cxnLst>
              <a:rect l="T12" t="T13" r="T14" b="T15"/>
              <a:pathLst>
                <a:path w="26" h="30">
                  <a:moveTo>
                    <a:pt x="0" y="0"/>
                  </a:moveTo>
                  <a:lnTo>
                    <a:pt x="15" y="29"/>
                  </a:lnTo>
                  <a:lnTo>
                    <a:pt x="25" y="22"/>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57" name="Freeform 13">
              <a:extLst>
                <a:ext uri="{FF2B5EF4-FFF2-40B4-BE49-F238E27FC236}">
                  <a16:creationId xmlns:a16="http://schemas.microsoft.com/office/drawing/2014/main" id="{51B4455A-B108-DA86-8993-6969F1D274E5}"/>
                </a:ext>
              </a:extLst>
            </p:cNvPr>
            <p:cNvSpPr>
              <a:spLocks/>
            </p:cNvSpPr>
            <p:nvPr/>
          </p:nvSpPr>
          <p:spPr bwMode="auto">
            <a:xfrm>
              <a:off x="253" y="4645"/>
              <a:ext cx="28" cy="32"/>
            </a:xfrm>
            <a:custGeom>
              <a:avLst/>
              <a:gdLst>
                <a:gd name="T0" fmla="*/ 27 w 28"/>
                <a:gd name="T1" fmla="*/ 0 h 32"/>
                <a:gd name="T2" fmla="*/ 11 w 28"/>
                <a:gd name="T3" fmla="*/ 31 h 32"/>
                <a:gd name="T4" fmla="*/ 0 w 28"/>
                <a:gd name="T5" fmla="*/ 23 h 32"/>
                <a:gd name="T6" fmla="*/ 27 w 28"/>
                <a:gd name="T7" fmla="*/ 0 h 32"/>
                <a:gd name="T8" fmla="*/ 0 60000 65536"/>
                <a:gd name="T9" fmla="*/ 0 60000 65536"/>
                <a:gd name="T10" fmla="*/ 0 60000 65536"/>
                <a:gd name="T11" fmla="*/ 0 60000 65536"/>
                <a:gd name="T12" fmla="*/ 0 w 28"/>
                <a:gd name="T13" fmla="*/ 0 h 32"/>
                <a:gd name="T14" fmla="*/ 28 w 28"/>
                <a:gd name="T15" fmla="*/ 32 h 32"/>
              </a:gdLst>
              <a:ahLst/>
              <a:cxnLst>
                <a:cxn ang="T8">
                  <a:pos x="T0" y="T1"/>
                </a:cxn>
                <a:cxn ang="T9">
                  <a:pos x="T2" y="T3"/>
                </a:cxn>
                <a:cxn ang="T10">
                  <a:pos x="T4" y="T5"/>
                </a:cxn>
                <a:cxn ang="T11">
                  <a:pos x="T6" y="T7"/>
                </a:cxn>
              </a:cxnLst>
              <a:rect l="T12" t="T13" r="T14" b="T15"/>
              <a:pathLst>
                <a:path w="28" h="32">
                  <a:moveTo>
                    <a:pt x="27" y="0"/>
                  </a:moveTo>
                  <a:lnTo>
                    <a:pt x="11" y="31"/>
                  </a:lnTo>
                  <a:lnTo>
                    <a:pt x="0" y="23"/>
                  </a:lnTo>
                  <a:lnTo>
                    <a:pt x="2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58" name="Freeform 14">
              <a:extLst>
                <a:ext uri="{FF2B5EF4-FFF2-40B4-BE49-F238E27FC236}">
                  <a16:creationId xmlns:a16="http://schemas.microsoft.com/office/drawing/2014/main" id="{B8C3CDD5-43AA-8970-DADC-A243C0EE13D0}"/>
                </a:ext>
              </a:extLst>
            </p:cNvPr>
            <p:cNvSpPr>
              <a:spLocks/>
            </p:cNvSpPr>
            <p:nvPr/>
          </p:nvSpPr>
          <p:spPr bwMode="auto">
            <a:xfrm>
              <a:off x="228" y="4634"/>
              <a:ext cx="17" cy="31"/>
            </a:xfrm>
            <a:custGeom>
              <a:avLst/>
              <a:gdLst>
                <a:gd name="T0" fmla="*/ 7 w 17"/>
                <a:gd name="T1" fmla="*/ 0 h 31"/>
                <a:gd name="T2" fmla="*/ 0 w 17"/>
                <a:gd name="T3" fmla="*/ 30 h 31"/>
                <a:gd name="T4" fmla="*/ 16 w 17"/>
                <a:gd name="T5" fmla="*/ 29 h 31"/>
                <a:gd name="T6" fmla="*/ 7 w 17"/>
                <a:gd name="T7" fmla="*/ 0 h 31"/>
                <a:gd name="T8" fmla="*/ 0 60000 65536"/>
                <a:gd name="T9" fmla="*/ 0 60000 65536"/>
                <a:gd name="T10" fmla="*/ 0 60000 65536"/>
                <a:gd name="T11" fmla="*/ 0 60000 65536"/>
                <a:gd name="T12" fmla="*/ 0 w 17"/>
                <a:gd name="T13" fmla="*/ 0 h 31"/>
                <a:gd name="T14" fmla="*/ 17 w 17"/>
                <a:gd name="T15" fmla="*/ 31 h 31"/>
              </a:gdLst>
              <a:ahLst/>
              <a:cxnLst>
                <a:cxn ang="T8">
                  <a:pos x="T0" y="T1"/>
                </a:cxn>
                <a:cxn ang="T9">
                  <a:pos x="T2" y="T3"/>
                </a:cxn>
                <a:cxn ang="T10">
                  <a:pos x="T4" y="T5"/>
                </a:cxn>
                <a:cxn ang="T11">
                  <a:pos x="T6" y="T7"/>
                </a:cxn>
              </a:cxnLst>
              <a:rect l="T12" t="T13" r="T14" b="T15"/>
              <a:pathLst>
                <a:path w="17" h="31">
                  <a:moveTo>
                    <a:pt x="7" y="0"/>
                  </a:moveTo>
                  <a:lnTo>
                    <a:pt x="0" y="30"/>
                  </a:lnTo>
                  <a:lnTo>
                    <a:pt x="16" y="29"/>
                  </a:lnTo>
                  <a:lnTo>
                    <a:pt x="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59" name="Freeform 15">
              <a:extLst>
                <a:ext uri="{FF2B5EF4-FFF2-40B4-BE49-F238E27FC236}">
                  <a16:creationId xmlns:a16="http://schemas.microsoft.com/office/drawing/2014/main" id="{F9220417-8345-D1B4-7490-18F463AE6791}"/>
                </a:ext>
              </a:extLst>
            </p:cNvPr>
            <p:cNvSpPr>
              <a:spLocks/>
            </p:cNvSpPr>
            <p:nvPr/>
          </p:nvSpPr>
          <p:spPr bwMode="auto">
            <a:xfrm>
              <a:off x="202" y="4681"/>
              <a:ext cx="68" cy="115"/>
            </a:xfrm>
            <a:custGeom>
              <a:avLst/>
              <a:gdLst>
                <a:gd name="T0" fmla="*/ 22 w 68"/>
                <a:gd name="T1" fmla="*/ 114 h 115"/>
                <a:gd name="T2" fmla="*/ 23 w 68"/>
                <a:gd name="T3" fmla="*/ 94 h 115"/>
                <a:gd name="T4" fmla="*/ 21 w 68"/>
                <a:gd name="T5" fmla="*/ 91 h 115"/>
                <a:gd name="T6" fmla="*/ 15 w 68"/>
                <a:gd name="T7" fmla="*/ 83 h 115"/>
                <a:gd name="T8" fmla="*/ 9 w 68"/>
                <a:gd name="T9" fmla="*/ 72 h 115"/>
                <a:gd name="T10" fmla="*/ 4 w 68"/>
                <a:gd name="T11" fmla="*/ 58 h 115"/>
                <a:gd name="T12" fmla="*/ 0 w 68"/>
                <a:gd name="T13" fmla="*/ 42 h 115"/>
                <a:gd name="T14" fmla="*/ 1 w 68"/>
                <a:gd name="T15" fmla="*/ 27 h 115"/>
                <a:gd name="T16" fmla="*/ 8 w 68"/>
                <a:gd name="T17" fmla="*/ 12 h 115"/>
                <a:gd name="T18" fmla="*/ 23 w 68"/>
                <a:gd name="T19" fmla="*/ 0 h 115"/>
                <a:gd name="T20" fmla="*/ 43 w 68"/>
                <a:gd name="T21" fmla="*/ 0 h 115"/>
                <a:gd name="T22" fmla="*/ 46 w 68"/>
                <a:gd name="T23" fmla="*/ 1 h 115"/>
                <a:gd name="T24" fmla="*/ 51 w 68"/>
                <a:gd name="T25" fmla="*/ 5 h 115"/>
                <a:gd name="T26" fmla="*/ 57 w 68"/>
                <a:gd name="T27" fmla="*/ 11 h 115"/>
                <a:gd name="T28" fmla="*/ 63 w 68"/>
                <a:gd name="T29" fmla="*/ 20 h 115"/>
                <a:gd name="T30" fmla="*/ 67 w 68"/>
                <a:gd name="T31" fmla="*/ 32 h 115"/>
                <a:gd name="T32" fmla="*/ 66 w 68"/>
                <a:gd name="T33" fmla="*/ 48 h 115"/>
                <a:gd name="T34" fmla="*/ 59 w 68"/>
                <a:gd name="T35" fmla="*/ 68 h 115"/>
                <a:gd name="T36" fmla="*/ 43 w 68"/>
                <a:gd name="T37" fmla="*/ 91 h 115"/>
                <a:gd name="T38" fmla="*/ 43 w 68"/>
                <a:gd name="T39" fmla="*/ 114 h 115"/>
                <a:gd name="T40" fmla="*/ 22 w 68"/>
                <a:gd name="T41" fmla="*/ 114 h 1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8"/>
                <a:gd name="T64" fmla="*/ 0 h 115"/>
                <a:gd name="T65" fmla="*/ 68 w 68"/>
                <a:gd name="T66" fmla="*/ 115 h 1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8" h="115">
                  <a:moveTo>
                    <a:pt x="22" y="114"/>
                  </a:moveTo>
                  <a:lnTo>
                    <a:pt x="23" y="94"/>
                  </a:lnTo>
                  <a:lnTo>
                    <a:pt x="21" y="91"/>
                  </a:lnTo>
                  <a:lnTo>
                    <a:pt x="15" y="83"/>
                  </a:lnTo>
                  <a:lnTo>
                    <a:pt x="9" y="72"/>
                  </a:lnTo>
                  <a:lnTo>
                    <a:pt x="4" y="58"/>
                  </a:lnTo>
                  <a:lnTo>
                    <a:pt x="0" y="42"/>
                  </a:lnTo>
                  <a:lnTo>
                    <a:pt x="1" y="27"/>
                  </a:lnTo>
                  <a:lnTo>
                    <a:pt x="8" y="12"/>
                  </a:lnTo>
                  <a:lnTo>
                    <a:pt x="23" y="0"/>
                  </a:lnTo>
                  <a:lnTo>
                    <a:pt x="43" y="0"/>
                  </a:lnTo>
                  <a:lnTo>
                    <a:pt x="46" y="1"/>
                  </a:lnTo>
                  <a:lnTo>
                    <a:pt x="51" y="5"/>
                  </a:lnTo>
                  <a:lnTo>
                    <a:pt x="57" y="11"/>
                  </a:lnTo>
                  <a:lnTo>
                    <a:pt x="63" y="20"/>
                  </a:lnTo>
                  <a:lnTo>
                    <a:pt x="67" y="32"/>
                  </a:lnTo>
                  <a:lnTo>
                    <a:pt x="66" y="48"/>
                  </a:lnTo>
                  <a:lnTo>
                    <a:pt x="59" y="68"/>
                  </a:lnTo>
                  <a:lnTo>
                    <a:pt x="43" y="91"/>
                  </a:lnTo>
                  <a:lnTo>
                    <a:pt x="43" y="114"/>
                  </a:lnTo>
                  <a:lnTo>
                    <a:pt x="22"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2960" name="Freeform 16">
              <a:extLst>
                <a:ext uri="{FF2B5EF4-FFF2-40B4-BE49-F238E27FC236}">
                  <a16:creationId xmlns:a16="http://schemas.microsoft.com/office/drawing/2014/main" id="{856B9E27-4CA1-6668-7277-8BE89F0DF8B7}"/>
                </a:ext>
              </a:extLst>
            </p:cNvPr>
            <p:cNvSpPr>
              <a:spLocks/>
            </p:cNvSpPr>
            <p:nvPr/>
          </p:nvSpPr>
          <p:spPr bwMode="auto">
            <a:xfrm>
              <a:off x="230" y="4701"/>
              <a:ext cx="17" cy="88"/>
            </a:xfrm>
            <a:custGeom>
              <a:avLst/>
              <a:gdLst>
                <a:gd name="T0" fmla="*/ 4 w 17"/>
                <a:gd name="T1" fmla="*/ 0 h 88"/>
                <a:gd name="T2" fmla="*/ 6 w 17"/>
                <a:gd name="T3" fmla="*/ 6 h 88"/>
                <a:gd name="T4" fmla="*/ 2 w 17"/>
                <a:gd name="T5" fmla="*/ 7 h 88"/>
                <a:gd name="T6" fmla="*/ 2 w 17"/>
                <a:gd name="T7" fmla="*/ 78 h 88"/>
                <a:gd name="T8" fmla="*/ 0 w 17"/>
                <a:gd name="T9" fmla="*/ 79 h 88"/>
                <a:gd name="T10" fmla="*/ 0 w 17"/>
                <a:gd name="T11" fmla="*/ 87 h 88"/>
                <a:gd name="T12" fmla="*/ 2 w 17"/>
                <a:gd name="T13" fmla="*/ 87 h 88"/>
                <a:gd name="T14" fmla="*/ 4 w 17"/>
                <a:gd name="T15" fmla="*/ 87 h 88"/>
                <a:gd name="T16" fmla="*/ 6 w 17"/>
                <a:gd name="T17" fmla="*/ 87 h 88"/>
                <a:gd name="T18" fmla="*/ 9 w 17"/>
                <a:gd name="T19" fmla="*/ 85 h 88"/>
                <a:gd name="T20" fmla="*/ 13 w 17"/>
                <a:gd name="T21" fmla="*/ 85 h 88"/>
                <a:gd name="T22" fmla="*/ 16 w 17"/>
                <a:gd name="T23" fmla="*/ 84 h 88"/>
                <a:gd name="T24" fmla="*/ 16 w 17"/>
                <a:gd name="T25" fmla="*/ 82 h 88"/>
                <a:gd name="T26" fmla="*/ 16 w 17"/>
                <a:gd name="T27" fmla="*/ 79 h 88"/>
                <a:gd name="T28" fmla="*/ 16 w 17"/>
                <a:gd name="T29" fmla="*/ 48 h 88"/>
                <a:gd name="T30" fmla="*/ 13 w 17"/>
                <a:gd name="T31" fmla="*/ 47 h 88"/>
                <a:gd name="T32" fmla="*/ 13 w 17"/>
                <a:gd name="T33" fmla="*/ 39 h 88"/>
                <a:gd name="T34" fmla="*/ 13 w 17"/>
                <a:gd name="T35" fmla="*/ 5 h 88"/>
                <a:gd name="T36" fmla="*/ 4 w 17"/>
                <a:gd name="T37" fmla="*/ 0 h 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88"/>
                <a:gd name="T59" fmla="*/ 17 w 17"/>
                <a:gd name="T60" fmla="*/ 88 h 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88">
                  <a:moveTo>
                    <a:pt x="4" y="0"/>
                  </a:moveTo>
                  <a:lnTo>
                    <a:pt x="6" y="6"/>
                  </a:lnTo>
                  <a:lnTo>
                    <a:pt x="2" y="7"/>
                  </a:lnTo>
                  <a:lnTo>
                    <a:pt x="2" y="78"/>
                  </a:lnTo>
                  <a:lnTo>
                    <a:pt x="0" y="79"/>
                  </a:lnTo>
                  <a:lnTo>
                    <a:pt x="0" y="87"/>
                  </a:lnTo>
                  <a:lnTo>
                    <a:pt x="2" y="87"/>
                  </a:lnTo>
                  <a:lnTo>
                    <a:pt x="4" y="87"/>
                  </a:lnTo>
                  <a:lnTo>
                    <a:pt x="6" y="87"/>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28E1C9FB-4BEA-02AF-F8E9-C2343D0E27C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Disabling a Constraint</a:t>
            </a:r>
          </a:p>
          <a:p>
            <a:pPr marL="114300" lvl="1" defTabSz="401638"/>
            <a:r>
              <a:rPr lang="en-US" altLang="en-US">
                <a:latin typeface="Arial" panose="020B0604020202020204" pitchFamily="34" charset="0"/>
              </a:rPr>
              <a:t>You can disable a constraint without dropping it or recreating it by using the ALTER TABLE statement with the </a:t>
            </a:r>
            <a:r>
              <a:rPr lang="en-US" altLang="en-US">
                <a:solidFill>
                  <a:srgbClr val="FC0128"/>
                </a:solidFill>
                <a:latin typeface="Arial" panose="020B0604020202020204" pitchFamily="34" charset="0"/>
              </a:rPr>
              <a:t>DISABLE clause.</a:t>
            </a:r>
            <a:endParaRPr lang="en-US" altLang="en-US">
              <a:latin typeface="Arial" panose="020B0604020202020204" pitchFamily="34" charset="0"/>
            </a:endParaRPr>
          </a:p>
          <a:p>
            <a:pPr marL="114300" lvl="1" defTabSz="401638"/>
            <a:r>
              <a:rPr lang="en-US" altLang="en-US" b="1">
                <a:latin typeface="Arial" panose="020B0604020202020204" pitchFamily="34" charset="0"/>
              </a:rPr>
              <a:t>Syntax</a:t>
            </a:r>
            <a:endParaRPr lang="en-US" altLang="en-US">
              <a:latin typeface="Arial" panose="020B0604020202020204" pitchFamily="34" charset="0"/>
            </a:endParaRPr>
          </a:p>
          <a:p>
            <a:pPr defTabSz="401638">
              <a:spcBef>
                <a:spcPct val="65000"/>
              </a:spcBef>
            </a:pPr>
            <a:r>
              <a:rPr lang="en-US" altLang="en-US">
                <a:latin typeface="Arial" panose="020B0604020202020204" pitchFamily="34" charset="0"/>
              </a:rPr>
              <a:t>      </a:t>
            </a:r>
            <a:r>
              <a:rPr lang="en-US" altLang="en-US" b="1">
                <a:latin typeface="Courier New" panose="02070309020205020404" pitchFamily="49" charset="0"/>
              </a:rPr>
              <a:t>ALTER TABLE   </a:t>
            </a:r>
            <a:r>
              <a:rPr lang="en-US" altLang="en-US" b="1" i="1">
                <a:latin typeface="Courier New" panose="02070309020205020404" pitchFamily="49" charset="0"/>
              </a:rPr>
              <a:t>table</a:t>
            </a:r>
            <a:endParaRPr lang="en-US" altLang="en-US">
              <a:latin typeface="Arial" panose="020B0604020202020204" pitchFamily="34" charset="0"/>
            </a:endParaRPr>
          </a:p>
          <a:p>
            <a:pPr defTabSz="401638">
              <a:spcBef>
                <a:spcPct val="0"/>
              </a:spcBef>
            </a:pPr>
            <a:r>
              <a:rPr lang="en-US" altLang="en-US" b="1">
                <a:latin typeface="Courier New" panose="02070309020205020404" pitchFamily="49" charset="0"/>
              </a:rPr>
              <a:t>   DISABLE  CONSTRAINT </a:t>
            </a:r>
            <a:r>
              <a:rPr lang="en-US" altLang="en-US" b="1" i="1">
                <a:latin typeface="Courier New" panose="02070309020205020404" pitchFamily="49" charset="0"/>
              </a:rPr>
              <a:t>constraint</a:t>
            </a:r>
            <a:r>
              <a:rPr lang="en-US" altLang="en-US" b="1">
                <a:latin typeface="Courier New" panose="02070309020205020404" pitchFamily="49" charset="0"/>
              </a:rPr>
              <a:t> [CASCADE];</a:t>
            </a:r>
          </a:p>
          <a:p>
            <a:pPr marL="114300" lvl="1" defTabSz="401638"/>
            <a:endParaRPr lang="en-US" altLang="en-US" sz="400" b="1">
              <a:latin typeface="Arial" panose="020B0604020202020204" pitchFamily="34" charset="0"/>
            </a:endParaRPr>
          </a:p>
          <a:p>
            <a:pPr marL="114300" lvl="1" defTabSz="401638"/>
            <a:r>
              <a:rPr lang="en-US" altLang="en-US" b="1">
                <a:latin typeface="Arial" panose="020B0604020202020204" pitchFamily="34" charset="0"/>
              </a:rPr>
              <a:t>where:</a:t>
            </a:r>
            <a:r>
              <a:rPr lang="en-US" altLang="en-US">
                <a:latin typeface="Arial" panose="020B0604020202020204" pitchFamily="34" charset="0"/>
              </a:rPr>
              <a:t>	</a:t>
            </a:r>
            <a:r>
              <a:rPr lang="en-US" altLang="en-US" i="1">
                <a:latin typeface="Arial" panose="020B0604020202020204" pitchFamily="34" charset="0"/>
              </a:rPr>
              <a:t>table</a:t>
            </a:r>
            <a:r>
              <a:rPr lang="en-US" altLang="en-US">
                <a:latin typeface="Arial" panose="020B0604020202020204" pitchFamily="34" charset="0"/>
              </a:rPr>
              <a:t>			is the name of the table</a:t>
            </a:r>
          </a:p>
          <a:p>
            <a:pPr marL="114300" lvl="1" defTabSz="401638"/>
            <a:r>
              <a:rPr lang="en-US" altLang="en-US">
                <a:latin typeface="Arial" panose="020B0604020202020204" pitchFamily="34" charset="0"/>
              </a:rPr>
              <a:t>		</a:t>
            </a:r>
            <a:r>
              <a:rPr lang="en-US" altLang="en-US" i="1">
                <a:latin typeface="Arial" panose="020B0604020202020204" pitchFamily="34" charset="0"/>
              </a:rPr>
              <a:t>constraint</a:t>
            </a:r>
            <a:r>
              <a:rPr lang="en-US" altLang="en-US">
                <a:latin typeface="Arial" panose="020B0604020202020204" pitchFamily="34" charset="0"/>
              </a:rPr>
              <a:t>		is the name of the constraint</a:t>
            </a:r>
          </a:p>
          <a:p>
            <a:pPr defTabSz="401638"/>
            <a:r>
              <a:rPr lang="en-US" altLang="en-US">
                <a:latin typeface="Arial" panose="020B0604020202020204" pitchFamily="34" charset="0"/>
              </a:rPr>
              <a:t>Guidelines</a:t>
            </a:r>
          </a:p>
          <a:p>
            <a:pPr marL="450850" lvl="2" indent="-217488" defTabSz="401638"/>
            <a:r>
              <a:rPr lang="en-US" altLang="en-US">
                <a:latin typeface="Arial" panose="020B0604020202020204" pitchFamily="34" charset="0"/>
              </a:rPr>
              <a:t>You can use the DISABLE clause in both the CREATE TABLE statement and the ALTER TABLE statement.</a:t>
            </a:r>
          </a:p>
          <a:p>
            <a:pPr marL="450850" lvl="2" indent="-217488" defTabSz="401638"/>
            <a:r>
              <a:rPr lang="en-US" altLang="en-US">
                <a:latin typeface="Arial" panose="020B0604020202020204" pitchFamily="34" charset="0"/>
              </a:rPr>
              <a:t>The CASCADE clause disables dependent integrity constraints.</a:t>
            </a:r>
          </a:p>
          <a:p>
            <a:pPr defTabSz="401638"/>
            <a:r>
              <a:rPr lang="en-US" altLang="en-US">
                <a:solidFill>
                  <a:schemeClr val="accent2"/>
                </a:solidFill>
                <a:latin typeface="Arial" panose="020B0604020202020204" pitchFamily="34" charset="0"/>
              </a:rPr>
              <a:t>Class Management Note</a:t>
            </a:r>
          </a:p>
          <a:p>
            <a:pPr marL="114300" lvl="1" defTabSz="401638"/>
            <a:r>
              <a:rPr lang="en-US" altLang="en-US">
                <a:solidFill>
                  <a:schemeClr val="accent2"/>
                </a:solidFill>
                <a:latin typeface="Arial" panose="020B0604020202020204" pitchFamily="34" charset="0"/>
              </a:rPr>
              <a:t>The DISABLE option in the definition of an integrity constraint means that the Oracle Server does not enforce the constraint and simply documents it. Enable the constraint by using the ENABLE clause.</a:t>
            </a:r>
          </a:p>
          <a:p>
            <a:pPr marL="114300" lvl="1" defTabSz="401638"/>
            <a:r>
              <a:rPr lang="en-US" altLang="en-US">
                <a:solidFill>
                  <a:schemeClr val="accent2"/>
                </a:solidFill>
                <a:latin typeface="Arial" panose="020B0604020202020204" pitchFamily="34" charset="0"/>
              </a:rPr>
              <a:t>Oracle8i provides new options for the ENABLE and DISABLE clauses: VALIDATE and NONVALIDATE.</a:t>
            </a:r>
          </a:p>
        </p:txBody>
      </p:sp>
      <p:sp>
        <p:nvSpPr>
          <p:cNvPr id="84995" name="Rectangle 3">
            <a:extLst>
              <a:ext uri="{FF2B5EF4-FFF2-40B4-BE49-F238E27FC236}">
                <a16:creationId xmlns:a16="http://schemas.microsoft.com/office/drawing/2014/main" id="{6FE3BCE7-55F5-74DD-C62F-4591ED5A8B51}"/>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84996" name="Rectangle 4">
            <a:extLst>
              <a:ext uri="{FF2B5EF4-FFF2-40B4-BE49-F238E27FC236}">
                <a16:creationId xmlns:a16="http://schemas.microsoft.com/office/drawing/2014/main" id="{5BD35846-9D45-A2A0-9E74-59BDE23E0250}"/>
              </a:ext>
            </a:extLst>
          </p:cNvPr>
          <p:cNvSpPr>
            <a:spLocks noChangeArrowheads="1"/>
          </p:cNvSpPr>
          <p:nvPr/>
        </p:nvSpPr>
        <p:spPr bwMode="auto">
          <a:xfrm>
            <a:off x="609600" y="5738813"/>
            <a:ext cx="5492750" cy="4714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DF1C7AF6-5203-EC8B-6741-EA76763117FE}"/>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Enabling a Constraint</a:t>
            </a:r>
          </a:p>
          <a:p>
            <a:pPr marL="114300" lvl="1" defTabSz="401638"/>
            <a:r>
              <a:rPr lang="en-US" altLang="en-US">
                <a:latin typeface="Arial" panose="020B0604020202020204" pitchFamily="34" charset="0"/>
              </a:rPr>
              <a:t>You can enable a constraint without dropping it or re-creating it by using the ALTER TABLE statement with the </a:t>
            </a:r>
            <a:r>
              <a:rPr lang="en-US" altLang="en-US">
                <a:solidFill>
                  <a:srgbClr val="FC0128"/>
                </a:solidFill>
                <a:latin typeface="Arial" panose="020B0604020202020204" pitchFamily="34" charset="0"/>
              </a:rPr>
              <a:t>ENABLE clause.</a:t>
            </a:r>
            <a:endParaRPr lang="en-US" altLang="en-US">
              <a:latin typeface="Arial" panose="020B0604020202020204" pitchFamily="34" charset="0"/>
            </a:endParaRPr>
          </a:p>
          <a:p>
            <a:pPr marL="114300" lvl="1" defTabSz="401638"/>
            <a:r>
              <a:rPr lang="en-US" altLang="en-US" b="1">
                <a:latin typeface="Arial" panose="020B0604020202020204" pitchFamily="34" charset="0"/>
              </a:rPr>
              <a:t>Syntax</a:t>
            </a:r>
            <a:endParaRPr lang="en-US" altLang="en-US">
              <a:latin typeface="Arial" panose="020B0604020202020204" pitchFamily="34" charset="0"/>
            </a:endParaRPr>
          </a:p>
          <a:p>
            <a:pPr defTabSz="401638">
              <a:spcBef>
                <a:spcPct val="65000"/>
              </a:spcBef>
            </a:pPr>
            <a:r>
              <a:rPr lang="en-US" altLang="en-US">
                <a:latin typeface="Arial" panose="020B0604020202020204" pitchFamily="34" charset="0"/>
              </a:rPr>
              <a:t>      </a:t>
            </a:r>
            <a:r>
              <a:rPr lang="en-US" altLang="en-US" b="1">
                <a:latin typeface="Courier New" panose="02070309020205020404" pitchFamily="49" charset="0"/>
              </a:rPr>
              <a:t>ALTER TABLE   </a:t>
            </a:r>
            <a:r>
              <a:rPr lang="en-US" altLang="en-US" b="1" i="1">
                <a:latin typeface="Courier New" panose="02070309020205020404" pitchFamily="49" charset="0"/>
              </a:rPr>
              <a:t>table</a:t>
            </a:r>
            <a:endParaRPr lang="en-US" altLang="en-US">
              <a:latin typeface="Courier New" panose="02070309020205020404" pitchFamily="49" charset="0"/>
            </a:endParaRPr>
          </a:p>
          <a:p>
            <a:pPr defTabSz="401638">
              <a:spcBef>
                <a:spcPct val="0"/>
              </a:spcBef>
            </a:pPr>
            <a:r>
              <a:rPr lang="en-US" altLang="en-US" b="1">
                <a:latin typeface="Courier New" panose="02070309020205020404" pitchFamily="49" charset="0"/>
              </a:rPr>
              <a:t>   ENABLE  CONSTRAINT </a:t>
            </a:r>
            <a:r>
              <a:rPr lang="en-US" altLang="en-US" b="1" i="1">
                <a:latin typeface="Courier New" panose="02070309020205020404" pitchFamily="49" charset="0"/>
              </a:rPr>
              <a:t>constraint</a:t>
            </a:r>
            <a:r>
              <a:rPr lang="en-US" altLang="en-US" b="1">
                <a:latin typeface="Courier New" panose="02070309020205020404" pitchFamily="49" charset="0"/>
              </a:rPr>
              <a:t>;</a:t>
            </a:r>
          </a:p>
          <a:p>
            <a:pPr marL="114300" lvl="1" defTabSz="401638"/>
            <a:endParaRPr lang="en-US" altLang="en-US" sz="400" b="1">
              <a:latin typeface="Arial" panose="020B0604020202020204" pitchFamily="34" charset="0"/>
            </a:endParaRPr>
          </a:p>
          <a:p>
            <a:pPr marL="114300" lvl="1" defTabSz="401638"/>
            <a:r>
              <a:rPr lang="en-US" altLang="en-US" b="1">
                <a:latin typeface="Arial" panose="020B0604020202020204" pitchFamily="34" charset="0"/>
              </a:rPr>
              <a:t>where:</a:t>
            </a:r>
            <a:r>
              <a:rPr lang="en-US" altLang="en-US">
                <a:latin typeface="Arial" panose="020B0604020202020204" pitchFamily="34" charset="0"/>
              </a:rPr>
              <a:t>	</a:t>
            </a:r>
            <a:r>
              <a:rPr lang="en-US" altLang="en-US" i="1">
                <a:latin typeface="Arial" panose="020B0604020202020204" pitchFamily="34" charset="0"/>
              </a:rPr>
              <a:t>table</a:t>
            </a:r>
            <a:r>
              <a:rPr lang="en-US" altLang="en-US">
                <a:latin typeface="Arial" panose="020B0604020202020204" pitchFamily="34" charset="0"/>
              </a:rPr>
              <a:t>			is the name of the table</a:t>
            </a:r>
          </a:p>
          <a:p>
            <a:pPr marL="114300" lvl="1" defTabSz="401638"/>
            <a:r>
              <a:rPr lang="en-US" altLang="en-US">
                <a:latin typeface="Arial" panose="020B0604020202020204" pitchFamily="34" charset="0"/>
              </a:rPr>
              <a:t>		</a:t>
            </a:r>
            <a:r>
              <a:rPr lang="en-US" altLang="en-US" i="1">
                <a:latin typeface="Arial" panose="020B0604020202020204" pitchFamily="34" charset="0"/>
              </a:rPr>
              <a:t>constraint</a:t>
            </a:r>
            <a:r>
              <a:rPr lang="en-US" altLang="en-US">
                <a:latin typeface="Arial" panose="020B0604020202020204" pitchFamily="34" charset="0"/>
              </a:rPr>
              <a:t>		is the name of the constraint</a:t>
            </a:r>
          </a:p>
          <a:p>
            <a:pPr defTabSz="401638"/>
            <a:r>
              <a:rPr lang="en-US" altLang="en-US">
                <a:latin typeface="Arial" panose="020B0604020202020204" pitchFamily="34" charset="0"/>
              </a:rPr>
              <a:t>Guidelines</a:t>
            </a:r>
          </a:p>
          <a:p>
            <a:pPr marL="450850" lvl="2" indent="-217488" defTabSz="401638"/>
            <a:r>
              <a:rPr lang="en-US" altLang="en-US">
                <a:latin typeface="Arial" panose="020B0604020202020204" pitchFamily="34" charset="0"/>
              </a:rPr>
              <a:t>If you enable a constraint, that constraint applies to all the data in the table. All the data in the table must fit the constraint.</a:t>
            </a:r>
          </a:p>
          <a:p>
            <a:pPr marL="450850" lvl="2" indent="-217488" defTabSz="401638"/>
            <a:r>
              <a:rPr lang="en-US" altLang="en-US">
                <a:latin typeface="Arial" panose="020B0604020202020204" pitchFamily="34" charset="0"/>
              </a:rPr>
              <a:t>If you enable a UNIQUE key or PRIMARY KEY constraint, a UNIQUE or PRIMARY KEY index is automatically created.</a:t>
            </a:r>
          </a:p>
          <a:p>
            <a:pPr marL="450850" lvl="2" indent="-217488" defTabSz="401638"/>
            <a:r>
              <a:rPr lang="en-US" altLang="en-US">
                <a:latin typeface="Arial" panose="020B0604020202020204" pitchFamily="34" charset="0"/>
              </a:rPr>
              <a:t>You can use the ENABLE clause in both the CREATE TABLE statement and the ALTER TABLE statement.</a:t>
            </a:r>
          </a:p>
        </p:txBody>
      </p:sp>
      <p:sp>
        <p:nvSpPr>
          <p:cNvPr id="87043" name="Rectangle 3">
            <a:extLst>
              <a:ext uri="{FF2B5EF4-FFF2-40B4-BE49-F238E27FC236}">
                <a16:creationId xmlns:a16="http://schemas.microsoft.com/office/drawing/2014/main" id="{7B3AFB84-FFA4-C3E2-092D-3C9AD828DA97}"/>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87044" name="Rectangle 4">
            <a:extLst>
              <a:ext uri="{FF2B5EF4-FFF2-40B4-BE49-F238E27FC236}">
                <a16:creationId xmlns:a16="http://schemas.microsoft.com/office/drawing/2014/main" id="{B145D705-B002-F7E3-3663-A955250006C6}"/>
              </a:ext>
            </a:extLst>
          </p:cNvPr>
          <p:cNvSpPr>
            <a:spLocks noChangeArrowheads="1"/>
          </p:cNvSpPr>
          <p:nvPr/>
        </p:nvSpPr>
        <p:spPr bwMode="auto">
          <a:xfrm>
            <a:off x="609600" y="5738813"/>
            <a:ext cx="5492750" cy="4714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B8F33784-AB01-716D-3E7D-66130EAAE01B}"/>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89091" name="Rectangle 3">
            <a:extLst>
              <a:ext uri="{FF2B5EF4-FFF2-40B4-BE49-F238E27FC236}">
                <a16:creationId xmlns:a16="http://schemas.microsoft.com/office/drawing/2014/main" id="{021DC41A-6D45-D47B-ED51-13C9592BA94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r>
              <a:rPr lang="en-US" altLang="en-US">
                <a:latin typeface="Arial" panose="020B0604020202020204" pitchFamily="34" charset="0"/>
              </a:rPr>
              <a:t>Renaming a Table</a:t>
            </a:r>
          </a:p>
          <a:p>
            <a:pPr marL="114300" lvl="1" defTabSz="382588"/>
            <a:r>
              <a:rPr lang="en-US" altLang="en-US">
                <a:latin typeface="Arial" panose="020B0604020202020204" pitchFamily="34" charset="0"/>
              </a:rPr>
              <a:t>Additional DDL statements include the </a:t>
            </a:r>
            <a:r>
              <a:rPr lang="en-US" altLang="en-US">
                <a:solidFill>
                  <a:srgbClr val="FC0128"/>
                </a:solidFill>
                <a:latin typeface="Arial" panose="020B0604020202020204" pitchFamily="34" charset="0"/>
              </a:rPr>
              <a:t>RENAME </a:t>
            </a:r>
            <a:r>
              <a:rPr lang="en-US" altLang="en-US">
                <a:latin typeface="Arial" panose="020B0604020202020204" pitchFamily="34" charset="0"/>
              </a:rPr>
              <a:t>statement, which is used to rename a table, view, sequence, or a synonym. </a:t>
            </a:r>
          </a:p>
          <a:p>
            <a:pPr marL="114300" lvl="1" defTabSz="382588"/>
            <a:r>
              <a:rPr lang="en-US" altLang="en-US" b="1">
                <a:latin typeface="Arial" panose="020B0604020202020204" pitchFamily="34" charset="0"/>
              </a:rPr>
              <a:t>Syntax</a:t>
            </a:r>
          </a:p>
          <a:p>
            <a:pPr marL="114300" lvl="1" defTabSz="382588"/>
            <a:r>
              <a:rPr lang="en-US" altLang="en-US">
                <a:latin typeface="Courier New" panose="02070309020205020404" pitchFamily="49" charset="0"/>
              </a:rPr>
              <a:t> RENAME    </a:t>
            </a:r>
            <a:r>
              <a:rPr lang="en-US" altLang="en-US" i="1">
                <a:latin typeface="Courier New" panose="02070309020205020404" pitchFamily="49" charset="0"/>
              </a:rPr>
              <a:t>old_name</a:t>
            </a:r>
            <a:r>
              <a:rPr lang="en-US" altLang="en-US">
                <a:latin typeface="Courier New" panose="02070309020205020404" pitchFamily="49" charset="0"/>
              </a:rPr>
              <a:t>  TO  </a:t>
            </a:r>
            <a:r>
              <a:rPr lang="en-US" altLang="en-US" i="1">
                <a:latin typeface="Courier New" panose="02070309020205020404" pitchFamily="49" charset="0"/>
              </a:rPr>
              <a:t>new_name;</a:t>
            </a:r>
            <a:endParaRPr lang="en-US" altLang="en-US">
              <a:latin typeface="Arial" panose="020B0604020202020204" pitchFamily="34" charset="0"/>
            </a:endParaRPr>
          </a:p>
          <a:p>
            <a:pPr marL="114300" lvl="1" defTabSz="382588"/>
            <a:r>
              <a:rPr lang="en-US" altLang="en-US" b="1">
                <a:latin typeface="Arial" panose="020B0604020202020204" pitchFamily="34" charset="0"/>
              </a:rPr>
              <a:t>where:</a:t>
            </a:r>
            <a:r>
              <a:rPr lang="en-US" altLang="en-US">
                <a:latin typeface="Arial" panose="020B0604020202020204" pitchFamily="34" charset="0"/>
              </a:rPr>
              <a:t>	</a:t>
            </a:r>
            <a:r>
              <a:rPr lang="en-US" altLang="en-US" i="1">
                <a:latin typeface="Arial" panose="020B0604020202020204" pitchFamily="34" charset="0"/>
              </a:rPr>
              <a:t>old_name	</a:t>
            </a:r>
            <a:r>
              <a:rPr lang="en-US" altLang="en-US">
                <a:latin typeface="Arial" panose="020B0604020202020204" pitchFamily="34" charset="0"/>
              </a:rPr>
              <a:t>		is the old name of the table, view, sequence, or synonym</a:t>
            </a:r>
          </a:p>
          <a:p>
            <a:pPr marL="114300" lvl="1" defTabSz="382588"/>
            <a:r>
              <a:rPr lang="en-US" altLang="en-US">
                <a:latin typeface="Arial" panose="020B0604020202020204" pitchFamily="34" charset="0"/>
              </a:rPr>
              <a:t>		</a:t>
            </a:r>
            <a:r>
              <a:rPr lang="en-US" altLang="en-US" i="1">
                <a:latin typeface="Arial" panose="020B0604020202020204" pitchFamily="34" charset="0"/>
              </a:rPr>
              <a:t>new_name	</a:t>
            </a:r>
            <a:r>
              <a:rPr lang="en-US" altLang="en-US">
                <a:latin typeface="Arial" panose="020B0604020202020204" pitchFamily="34" charset="0"/>
              </a:rPr>
              <a:t>		is the new name of the table, view, sequence, or synonym</a:t>
            </a:r>
          </a:p>
          <a:p>
            <a:pPr marL="114300" lvl="1" defTabSz="382588"/>
            <a:r>
              <a:rPr lang="en-US" altLang="en-US">
                <a:latin typeface="Arial" panose="020B0604020202020204" pitchFamily="34" charset="0"/>
              </a:rPr>
              <a:t>You must be the owner of the object that you rename.</a:t>
            </a:r>
          </a:p>
          <a:p>
            <a:pPr defTabSz="382588"/>
            <a:endParaRPr lang="en-US" altLang="en-US" b="1">
              <a:latin typeface="Times New Roman" panose="02020603050405020304" pitchFamily="18" charset="0"/>
            </a:endParaRPr>
          </a:p>
        </p:txBody>
      </p:sp>
      <p:sp>
        <p:nvSpPr>
          <p:cNvPr id="89092" name="Rectangle 4">
            <a:extLst>
              <a:ext uri="{FF2B5EF4-FFF2-40B4-BE49-F238E27FC236}">
                <a16:creationId xmlns:a16="http://schemas.microsoft.com/office/drawing/2014/main" id="{22C9E032-AFED-7508-B409-F053A55AFA43}"/>
              </a:ext>
            </a:extLst>
          </p:cNvPr>
          <p:cNvSpPr>
            <a:spLocks noChangeArrowheads="1"/>
          </p:cNvSpPr>
          <p:nvPr/>
        </p:nvSpPr>
        <p:spPr bwMode="auto">
          <a:xfrm>
            <a:off x="619125" y="5715000"/>
            <a:ext cx="5494338" cy="22066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grpSp>
        <p:nvGrpSpPr>
          <p:cNvPr id="89093" name="Group 5">
            <a:extLst>
              <a:ext uri="{FF2B5EF4-FFF2-40B4-BE49-F238E27FC236}">
                <a16:creationId xmlns:a16="http://schemas.microsoft.com/office/drawing/2014/main" id="{B586601F-B4EA-DD7B-89DC-A1C7928B4FF0}"/>
              </a:ext>
            </a:extLst>
          </p:cNvPr>
          <p:cNvGrpSpPr>
            <a:grpSpLocks/>
          </p:cNvGrpSpPr>
          <p:nvPr/>
        </p:nvGrpSpPr>
        <p:grpSpPr bwMode="auto">
          <a:xfrm>
            <a:off x="190500" y="6421438"/>
            <a:ext cx="285750" cy="296862"/>
            <a:chOff x="119" y="3972"/>
            <a:chExt cx="179" cy="183"/>
          </a:xfrm>
        </p:grpSpPr>
        <p:sp>
          <p:nvSpPr>
            <p:cNvPr id="89094" name="Freeform 6">
              <a:extLst>
                <a:ext uri="{FF2B5EF4-FFF2-40B4-BE49-F238E27FC236}">
                  <a16:creationId xmlns:a16="http://schemas.microsoft.com/office/drawing/2014/main" id="{332DC45B-04F2-9B00-FC49-0BE9E4F9D919}"/>
                </a:ext>
              </a:extLst>
            </p:cNvPr>
            <p:cNvSpPr>
              <a:spLocks/>
            </p:cNvSpPr>
            <p:nvPr/>
          </p:nvSpPr>
          <p:spPr bwMode="auto">
            <a:xfrm>
              <a:off x="119" y="3972"/>
              <a:ext cx="179" cy="183"/>
            </a:xfrm>
            <a:custGeom>
              <a:avLst/>
              <a:gdLst>
                <a:gd name="T0" fmla="*/ 178 w 179"/>
                <a:gd name="T1" fmla="*/ 182 h 183"/>
                <a:gd name="T2" fmla="*/ 178 w 179"/>
                <a:gd name="T3" fmla="*/ 0 h 183"/>
                <a:gd name="T4" fmla="*/ 0 w 179"/>
                <a:gd name="T5" fmla="*/ 0 h 183"/>
                <a:gd name="T6" fmla="*/ 0 w 179"/>
                <a:gd name="T7" fmla="*/ 182 h 183"/>
                <a:gd name="T8" fmla="*/ 178 w 179"/>
                <a:gd name="T9" fmla="*/ 182 h 183"/>
                <a:gd name="T10" fmla="*/ 0 60000 65536"/>
                <a:gd name="T11" fmla="*/ 0 60000 65536"/>
                <a:gd name="T12" fmla="*/ 0 60000 65536"/>
                <a:gd name="T13" fmla="*/ 0 60000 65536"/>
                <a:gd name="T14" fmla="*/ 0 60000 65536"/>
                <a:gd name="T15" fmla="*/ 0 w 179"/>
                <a:gd name="T16" fmla="*/ 0 h 183"/>
                <a:gd name="T17" fmla="*/ 179 w 179"/>
                <a:gd name="T18" fmla="*/ 183 h 183"/>
              </a:gdLst>
              <a:ahLst/>
              <a:cxnLst>
                <a:cxn ang="T10">
                  <a:pos x="T0" y="T1"/>
                </a:cxn>
                <a:cxn ang="T11">
                  <a:pos x="T2" y="T3"/>
                </a:cxn>
                <a:cxn ang="T12">
                  <a:pos x="T4" y="T5"/>
                </a:cxn>
                <a:cxn ang="T13">
                  <a:pos x="T6" y="T7"/>
                </a:cxn>
                <a:cxn ang="T14">
                  <a:pos x="T8" y="T9"/>
                </a:cxn>
              </a:cxnLst>
              <a:rect l="T15" t="T16" r="T17" b="T18"/>
              <a:pathLst>
                <a:path w="179" h="183">
                  <a:moveTo>
                    <a:pt x="178" y="182"/>
                  </a:moveTo>
                  <a:lnTo>
                    <a:pt x="178" y="0"/>
                  </a:lnTo>
                  <a:lnTo>
                    <a:pt x="0" y="0"/>
                  </a:lnTo>
                  <a:lnTo>
                    <a:pt x="0" y="182"/>
                  </a:lnTo>
                  <a:lnTo>
                    <a:pt x="178" y="18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9095" name="Freeform 7">
              <a:extLst>
                <a:ext uri="{FF2B5EF4-FFF2-40B4-BE49-F238E27FC236}">
                  <a16:creationId xmlns:a16="http://schemas.microsoft.com/office/drawing/2014/main" id="{19F10F44-A135-E07E-71BB-9A57B2D7FC42}"/>
                </a:ext>
              </a:extLst>
            </p:cNvPr>
            <p:cNvSpPr>
              <a:spLocks/>
            </p:cNvSpPr>
            <p:nvPr/>
          </p:nvSpPr>
          <p:spPr bwMode="auto">
            <a:xfrm>
              <a:off x="129" y="3978"/>
              <a:ext cx="163" cy="165"/>
            </a:xfrm>
            <a:custGeom>
              <a:avLst/>
              <a:gdLst>
                <a:gd name="T0" fmla="*/ 83 w 163"/>
                <a:gd name="T1" fmla="*/ 0 h 165"/>
                <a:gd name="T2" fmla="*/ 0 w 163"/>
                <a:gd name="T3" fmla="*/ 164 h 165"/>
                <a:gd name="T4" fmla="*/ 162 w 163"/>
                <a:gd name="T5" fmla="*/ 164 h 165"/>
                <a:gd name="T6" fmla="*/ 83 w 163"/>
                <a:gd name="T7" fmla="*/ 0 h 165"/>
                <a:gd name="T8" fmla="*/ 0 60000 65536"/>
                <a:gd name="T9" fmla="*/ 0 60000 65536"/>
                <a:gd name="T10" fmla="*/ 0 60000 65536"/>
                <a:gd name="T11" fmla="*/ 0 60000 65536"/>
                <a:gd name="T12" fmla="*/ 0 w 163"/>
                <a:gd name="T13" fmla="*/ 0 h 165"/>
                <a:gd name="T14" fmla="*/ 163 w 163"/>
                <a:gd name="T15" fmla="*/ 165 h 165"/>
              </a:gdLst>
              <a:ahLst/>
              <a:cxnLst>
                <a:cxn ang="T8">
                  <a:pos x="T0" y="T1"/>
                </a:cxn>
                <a:cxn ang="T9">
                  <a:pos x="T2" y="T3"/>
                </a:cxn>
                <a:cxn ang="T10">
                  <a:pos x="T4" y="T5"/>
                </a:cxn>
                <a:cxn ang="T11">
                  <a:pos x="T6" y="T7"/>
                </a:cxn>
              </a:cxnLst>
              <a:rect l="T12" t="T13" r="T14" b="T15"/>
              <a:pathLst>
                <a:path w="163" h="165">
                  <a:moveTo>
                    <a:pt x="83" y="0"/>
                  </a:moveTo>
                  <a:lnTo>
                    <a:pt x="0" y="164"/>
                  </a:lnTo>
                  <a:lnTo>
                    <a:pt x="162" y="164"/>
                  </a:lnTo>
                  <a:lnTo>
                    <a:pt x="83"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9096" name="Freeform 8">
              <a:extLst>
                <a:ext uri="{FF2B5EF4-FFF2-40B4-BE49-F238E27FC236}">
                  <a16:creationId xmlns:a16="http://schemas.microsoft.com/office/drawing/2014/main" id="{895FAC70-9FE1-A28D-5946-0C7E56CB11A0}"/>
                </a:ext>
              </a:extLst>
            </p:cNvPr>
            <p:cNvSpPr>
              <a:spLocks/>
            </p:cNvSpPr>
            <p:nvPr/>
          </p:nvSpPr>
          <p:spPr bwMode="auto">
            <a:xfrm>
              <a:off x="148" y="3998"/>
              <a:ext cx="132" cy="133"/>
            </a:xfrm>
            <a:custGeom>
              <a:avLst/>
              <a:gdLst>
                <a:gd name="T0" fmla="*/ 64 w 132"/>
                <a:gd name="T1" fmla="*/ 0 h 133"/>
                <a:gd name="T2" fmla="*/ 0 w 132"/>
                <a:gd name="T3" fmla="*/ 132 h 133"/>
                <a:gd name="T4" fmla="*/ 131 w 132"/>
                <a:gd name="T5" fmla="*/ 132 h 133"/>
                <a:gd name="T6" fmla="*/ 64 w 132"/>
                <a:gd name="T7" fmla="*/ 0 h 133"/>
                <a:gd name="T8" fmla="*/ 0 60000 65536"/>
                <a:gd name="T9" fmla="*/ 0 60000 65536"/>
                <a:gd name="T10" fmla="*/ 0 60000 65536"/>
                <a:gd name="T11" fmla="*/ 0 60000 65536"/>
                <a:gd name="T12" fmla="*/ 0 w 132"/>
                <a:gd name="T13" fmla="*/ 0 h 133"/>
                <a:gd name="T14" fmla="*/ 132 w 132"/>
                <a:gd name="T15" fmla="*/ 133 h 133"/>
              </a:gdLst>
              <a:ahLst/>
              <a:cxnLst>
                <a:cxn ang="T8">
                  <a:pos x="T0" y="T1"/>
                </a:cxn>
                <a:cxn ang="T9">
                  <a:pos x="T2" y="T3"/>
                </a:cxn>
                <a:cxn ang="T10">
                  <a:pos x="T4" y="T5"/>
                </a:cxn>
                <a:cxn ang="T11">
                  <a:pos x="T6" y="T7"/>
                </a:cxn>
              </a:cxnLst>
              <a:rect l="T12" t="T13" r="T14" b="T15"/>
              <a:pathLst>
                <a:path w="132" h="133">
                  <a:moveTo>
                    <a:pt x="64" y="0"/>
                  </a:moveTo>
                  <a:lnTo>
                    <a:pt x="0" y="132"/>
                  </a:lnTo>
                  <a:lnTo>
                    <a:pt x="131" y="132"/>
                  </a:lnTo>
                  <a:lnTo>
                    <a:pt x="6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9097" name="Freeform 9">
              <a:extLst>
                <a:ext uri="{FF2B5EF4-FFF2-40B4-BE49-F238E27FC236}">
                  <a16:creationId xmlns:a16="http://schemas.microsoft.com/office/drawing/2014/main" id="{2EA8A9CF-A6A2-CF16-FE57-2117043D7904}"/>
                </a:ext>
              </a:extLst>
            </p:cNvPr>
            <p:cNvSpPr>
              <a:spLocks/>
            </p:cNvSpPr>
            <p:nvPr/>
          </p:nvSpPr>
          <p:spPr bwMode="auto">
            <a:xfrm>
              <a:off x="203" y="4109"/>
              <a:ext cx="20" cy="18"/>
            </a:xfrm>
            <a:custGeom>
              <a:avLst/>
              <a:gdLst>
                <a:gd name="T0" fmla="*/ 9 w 20"/>
                <a:gd name="T1" fmla="*/ 17 h 18"/>
                <a:gd name="T2" fmla="*/ 10 w 20"/>
                <a:gd name="T3" fmla="*/ 16 h 18"/>
                <a:gd name="T4" fmla="*/ 12 w 20"/>
                <a:gd name="T5" fmla="*/ 16 h 18"/>
                <a:gd name="T6" fmla="*/ 14 w 20"/>
                <a:gd name="T7" fmla="*/ 15 h 18"/>
                <a:gd name="T8" fmla="*/ 15 w 20"/>
                <a:gd name="T9" fmla="*/ 14 h 18"/>
                <a:gd name="T10" fmla="*/ 16 w 20"/>
                <a:gd name="T11" fmla="*/ 13 h 18"/>
                <a:gd name="T12" fmla="*/ 17 w 20"/>
                <a:gd name="T13" fmla="*/ 11 h 18"/>
                <a:gd name="T14" fmla="*/ 17 w 20"/>
                <a:gd name="T15" fmla="*/ 10 h 18"/>
                <a:gd name="T16" fmla="*/ 19 w 20"/>
                <a:gd name="T17" fmla="*/ 8 h 18"/>
                <a:gd name="T18" fmla="*/ 17 w 20"/>
                <a:gd name="T19" fmla="*/ 6 h 18"/>
                <a:gd name="T20" fmla="*/ 17 w 20"/>
                <a:gd name="T21" fmla="*/ 5 h 18"/>
                <a:gd name="T22" fmla="*/ 16 w 20"/>
                <a:gd name="T23" fmla="*/ 3 h 18"/>
                <a:gd name="T24" fmla="*/ 15 w 20"/>
                <a:gd name="T25" fmla="*/ 2 h 18"/>
                <a:gd name="T26" fmla="*/ 14 w 20"/>
                <a:gd name="T27" fmla="*/ 1 h 18"/>
                <a:gd name="T28" fmla="*/ 12 w 20"/>
                <a:gd name="T29" fmla="*/ 0 h 18"/>
                <a:gd name="T30" fmla="*/ 10 w 20"/>
                <a:gd name="T31" fmla="*/ 0 h 18"/>
                <a:gd name="T32" fmla="*/ 9 w 20"/>
                <a:gd name="T33" fmla="*/ 0 h 18"/>
                <a:gd name="T34" fmla="*/ 7 w 20"/>
                <a:gd name="T35" fmla="*/ 0 h 18"/>
                <a:gd name="T36" fmla="*/ 5 w 20"/>
                <a:gd name="T37" fmla="*/ 0 h 18"/>
                <a:gd name="T38" fmla="*/ 4 w 20"/>
                <a:gd name="T39" fmla="*/ 1 h 18"/>
                <a:gd name="T40" fmla="*/ 2 w 20"/>
                <a:gd name="T41" fmla="*/ 2 h 18"/>
                <a:gd name="T42" fmla="*/ 1 w 20"/>
                <a:gd name="T43" fmla="*/ 3 h 18"/>
                <a:gd name="T44" fmla="*/ 1 w 20"/>
                <a:gd name="T45" fmla="*/ 5 h 18"/>
                <a:gd name="T46" fmla="*/ 0 w 20"/>
                <a:gd name="T47" fmla="*/ 6 h 18"/>
                <a:gd name="T48" fmla="*/ 0 w 20"/>
                <a:gd name="T49" fmla="*/ 8 h 18"/>
                <a:gd name="T50" fmla="*/ 0 w 20"/>
                <a:gd name="T51" fmla="*/ 10 h 18"/>
                <a:gd name="T52" fmla="*/ 1 w 20"/>
                <a:gd name="T53" fmla="*/ 11 h 18"/>
                <a:gd name="T54" fmla="*/ 1 w 20"/>
                <a:gd name="T55" fmla="*/ 13 h 18"/>
                <a:gd name="T56" fmla="*/ 2 w 20"/>
                <a:gd name="T57" fmla="*/ 14 h 18"/>
                <a:gd name="T58" fmla="*/ 4 w 20"/>
                <a:gd name="T59" fmla="*/ 15 h 18"/>
                <a:gd name="T60" fmla="*/ 5 w 20"/>
                <a:gd name="T61" fmla="*/ 16 h 18"/>
                <a:gd name="T62" fmla="*/ 7 w 20"/>
                <a:gd name="T63" fmla="*/ 16 h 18"/>
                <a:gd name="T64" fmla="*/ 9 w 20"/>
                <a:gd name="T65" fmla="*/ 17 h 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
                <a:gd name="T100" fmla="*/ 0 h 18"/>
                <a:gd name="T101" fmla="*/ 20 w 20"/>
                <a:gd name="T102" fmla="*/ 18 h 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 h="18">
                  <a:moveTo>
                    <a:pt x="9" y="17"/>
                  </a:moveTo>
                  <a:lnTo>
                    <a:pt x="10" y="16"/>
                  </a:lnTo>
                  <a:lnTo>
                    <a:pt x="12" y="16"/>
                  </a:lnTo>
                  <a:lnTo>
                    <a:pt x="14" y="15"/>
                  </a:lnTo>
                  <a:lnTo>
                    <a:pt x="15" y="14"/>
                  </a:lnTo>
                  <a:lnTo>
                    <a:pt x="16" y="13"/>
                  </a:lnTo>
                  <a:lnTo>
                    <a:pt x="17" y="11"/>
                  </a:lnTo>
                  <a:lnTo>
                    <a:pt x="17" y="10"/>
                  </a:lnTo>
                  <a:lnTo>
                    <a:pt x="19" y="8"/>
                  </a:lnTo>
                  <a:lnTo>
                    <a:pt x="17" y="6"/>
                  </a:lnTo>
                  <a:lnTo>
                    <a:pt x="17" y="5"/>
                  </a:lnTo>
                  <a:lnTo>
                    <a:pt x="16" y="3"/>
                  </a:lnTo>
                  <a:lnTo>
                    <a:pt x="15" y="2"/>
                  </a:lnTo>
                  <a:lnTo>
                    <a:pt x="14" y="1"/>
                  </a:lnTo>
                  <a:lnTo>
                    <a:pt x="12" y="0"/>
                  </a:lnTo>
                  <a:lnTo>
                    <a:pt x="10" y="0"/>
                  </a:lnTo>
                  <a:lnTo>
                    <a:pt x="9" y="0"/>
                  </a:lnTo>
                  <a:lnTo>
                    <a:pt x="7" y="0"/>
                  </a:lnTo>
                  <a:lnTo>
                    <a:pt x="5" y="0"/>
                  </a:lnTo>
                  <a:lnTo>
                    <a:pt x="4" y="1"/>
                  </a:lnTo>
                  <a:lnTo>
                    <a:pt x="2" y="2"/>
                  </a:lnTo>
                  <a:lnTo>
                    <a:pt x="1" y="3"/>
                  </a:lnTo>
                  <a:lnTo>
                    <a:pt x="1" y="5"/>
                  </a:lnTo>
                  <a:lnTo>
                    <a:pt x="0" y="6"/>
                  </a:lnTo>
                  <a:lnTo>
                    <a:pt x="0" y="8"/>
                  </a:lnTo>
                  <a:lnTo>
                    <a:pt x="0" y="10"/>
                  </a:lnTo>
                  <a:lnTo>
                    <a:pt x="1" y="11"/>
                  </a:lnTo>
                  <a:lnTo>
                    <a:pt x="1" y="13"/>
                  </a:lnTo>
                  <a:lnTo>
                    <a:pt x="2" y="14"/>
                  </a:lnTo>
                  <a:lnTo>
                    <a:pt x="4" y="15"/>
                  </a:lnTo>
                  <a:lnTo>
                    <a:pt x="5" y="16"/>
                  </a:lnTo>
                  <a:lnTo>
                    <a:pt x="7" y="16"/>
                  </a:lnTo>
                  <a:lnTo>
                    <a:pt x="9"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9098" name="Freeform 10">
              <a:extLst>
                <a:ext uri="{FF2B5EF4-FFF2-40B4-BE49-F238E27FC236}">
                  <a16:creationId xmlns:a16="http://schemas.microsoft.com/office/drawing/2014/main" id="{0B214DDC-5146-7431-B1B7-784F54F06606}"/>
                </a:ext>
              </a:extLst>
            </p:cNvPr>
            <p:cNvSpPr>
              <a:spLocks/>
            </p:cNvSpPr>
            <p:nvPr/>
          </p:nvSpPr>
          <p:spPr bwMode="auto">
            <a:xfrm>
              <a:off x="203" y="4027"/>
              <a:ext cx="19" cy="79"/>
            </a:xfrm>
            <a:custGeom>
              <a:avLst/>
              <a:gdLst>
                <a:gd name="T0" fmla="*/ 10 w 19"/>
                <a:gd name="T1" fmla="*/ 0 h 79"/>
                <a:gd name="T2" fmla="*/ 11 w 19"/>
                <a:gd name="T3" fmla="*/ 0 h 79"/>
                <a:gd name="T4" fmla="*/ 13 w 19"/>
                <a:gd name="T5" fmla="*/ 0 h 79"/>
                <a:gd name="T6" fmla="*/ 15 w 19"/>
                <a:gd name="T7" fmla="*/ 1 h 79"/>
                <a:gd name="T8" fmla="*/ 17 w 19"/>
                <a:gd name="T9" fmla="*/ 6 h 79"/>
                <a:gd name="T10" fmla="*/ 18 w 19"/>
                <a:gd name="T11" fmla="*/ 14 h 79"/>
                <a:gd name="T12" fmla="*/ 18 w 19"/>
                <a:gd name="T13" fmla="*/ 28 h 79"/>
                <a:gd name="T14" fmla="*/ 15 w 19"/>
                <a:gd name="T15" fmla="*/ 49 h 79"/>
                <a:gd name="T16" fmla="*/ 10 w 19"/>
                <a:gd name="T17" fmla="*/ 78 h 79"/>
                <a:gd name="T18" fmla="*/ 5 w 19"/>
                <a:gd name="T19" fmla="*/ 62 h 79"/>
                <a:gd name="T20" fmla="*/ 2 w 19"/>
                <a:gd name="T21" fmla="*/ 47 h 79"/>
                <a:gd name="T22" fmla="*/ 0 w 19"/>
                <a:gd name="T23" fmla="*/ 33 h 79"/>
                <a:gd name="T24" fmla="*/ 0 w 19"/>
                <a:gd name="T25" fmla="*/ 21 h 79"/>
                <a:gd name="T26" fmla="*/ 1 w 19"/>
                <a:gd name="T27" fmla="*/ 10 h 79"/>
                <a:gd name="T28" fmla="*/ 4 w 19"/>
                <a:gd name="T29" fmla="*/ 3 h 79"/>
                <a:gd name="T30" fmla="*/ 7 w 19"/>
                <a:gd name="T31" fmla="*/ 0 h 79"/>
                <a:gd name="T32" fmla="*/ 10 w 19"/>
                <a:gd name="T33" fmla="*/ 0 h 7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
                <a:gd name="T52" fmla="*/ 0 h 79"/>
                <a:gd name="T53" fmla="*/ 19 w 19"/>
                <a:gd name="T54" fmla="*/ 79 h 7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 h="79">
                  <a:moveTo>
                    <a:pt x="10" y="0"/>
                  </a:moveTo>
                  <a:lnTo>
                    <a:pt x="11" y="0"/>
                  </a:lnTo>
                  <a:lnTo>
                    <a:pt x="13" y="0"/>
                  </a:lnTo>
                  <a:lnTo>
                    <a:pt x="15" y="1"/>
                  </a:lnTo>
                  <a:lnTo>
                    <a:pt x="17" y="6"/>
                  </a:lnTo>
                  <a:lnTo>
                    <a:pt x="18" y="14"/>
                  </a:lnTo>
                  <a:lnTo>
                    <a:pt x="18" y="28"/>
                  </a:lnTo>
                  <a:lnTo>
                    <a:pt x="15" y="49"/>
                  </a:lnTo>
                  <a:lnTo>
                    <a:pt x="10" y="78"/>
                  </a:lnTo>
                  <a:lnTo>
                    <a:pt x="5" y="62"/>
                  </a:lnTo>
                  <a:lnTo>
                    <a:pt x="2" y="47"/>
                  </a:lnTo>
                  <a:lnTo>
                    <a:pt x="0" y="33"/>
                  </a:lnTo>
                  <a:lnTo>
                    <a:pt x="0" y="21"/>
                  </a:lnTo>
                  <a:lnTo>
                    <a:pt x="1" y="10"/>
                  </a:lnTo>
                  <a:lnTo>
                    <a:pt x="4" y="3"/>
                  </a:lnTo>
                  <a:lnTo>
                    <a:pt x="7" y="0"/>
                  </a:lnTo>
                  <a:lnTo>
                    <a:pt x="1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8442D9F2-221D-A63F-5F1E-39FE0045D58E}"/>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91139" name="Rectangle 3">
            <a:extLst>
              <a:ext uri="{FF2B5EF4-FFF2-40B4-BE49-F238E27FC236}">
                <a16:creationId xmlns:a16="http://schemas.microsoft.com/office/drawing/2014/main" id="{F7F7EA0A-B8A3-C4AA-DA00-F1DF564FA72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r>
              <a:rPr lang="en-US" altLang="en-US">
                <a:latin typeface="Arial" panose="020B0604020202020204" pitchFamily="34" charset="0"/>
              </a:rPr>
              <a:t>Dropping a Table</a:t>
            </a:r>
          </a:p>
          <a:p>
            <a:pPr marL="114300" lvl="1" defTabSz="382588"/>
            <a:r>
              <a:rPr lang="en-US" altLang="en-US">
                <a:latin typeface="Arial" panose="020B0604020202020204" pitchFamily="34" charset="0"/>
              </a:rPr>
              <a:t>The </a:t>
            </a:r>
            <a:r>
              <a:rPr lang="en-US" altLang="en-US">
                <a:solidFill>
                  <a:srgbClr val="FC0128"/>
                </a:solidFill>
                <a:latin typeface="Arial" panose="020B0604020202020204" pitchFamily="34" charset="0"/>
              </a:rPr>
              <a:t>DROP TABLE </a:t>
            </a:r>
            <a:r>
              <a:rPr lang="en-US" altLang="en-US">
                <a:latin typeface="Arial" panose="020B0604020202020204" pitchFamily="34" charset="0"/>
              </a:rPr>
              <a:t>statement removes the definition of an Oracle8 table. When you drop a table, the database loses all the data in the table and all the indexes associated with it. </a:t>
            </a:r>
          </a:p>
          <a:p>
            <a:pPr marL="114300" lvl="1" defTabSz="382588"/>
            <a:r>
              <a:rPr lang="en-US" altLang="en-US" b="1">
                <a:latin typeface="Arial" panose="020B0604020202020204" pitchFamily="34" charset="0"/>
              </a:rPr>
              <a:t>Syntax</a:t>
            </a:r>
          </a:p>
          <a:p>
            <a:pPr defTabSz="382588"/>
            <a:endParaRPr lang="en-US" altLang="en-US">
              <a:latin typeface="Arial" panose="020B0604020202020204" pitchFamily="34" charset="0"/>
            </a:endParaRPr>
          </a:p>
          <a:p>
            <a:pPr marL="114300" lvl="1" defTabSz="382588"/>
            <a:r>
              <a:rPr lang="en-US" altLang="en-US" b="1">
                <a:latin typeface="Arial" panose="020B0604020202020204" pitchFamily="34" charset="0"/>
              </a:rPr>
              <a:t>where:</a:t>
            </a:r>
            <a:r>
              <a:rPr lang="en-US" altLang="en-US" i="1">
                <a:latin typeface="Arial" panose="020B0604020202020204" pitchFamily="34" charset="0"/>
              </a:rPr>
              <a:t>	table</a:t>
            </a:r>
            <a:r>
              <a:rPr lang="en-US" altLang="en-US">
                <a:latin typeface="Arial" panose="020B0604020202020204" pitchFamily="34" charset="0"/>
              </a:rPr>
              <a:t>			is the name of the table</a:t>
            </a:r>
          </a:p>
          <a:p>
            <a:pPr defTabSz="382588"/>
            <a:r>
              <a:rPr lang="en-US" altLang="en-US">
                <a:latin typeface="Arial" panose="020B0604020202020204" pitchFamily="34" charset="0"/>
              </a:rPr>
              <a:t>Guidelines</a:t>
            </a:r>
          </a:p>
          <a:p>
            <a:pPr marL="439738" lvl="2" indent="-211138" defTabSz="382588"/>
            <a:r>
              <a:rPr lang="en-US" altLang="en-US">
                <a:latin typeface="Arial" panose="020B0604020202020204" pitchFamily="34" charset="0"/>
              </a:rPr>
              <a:t>All data is deleted from the table.</a:t>
            </a:r>
          </a:p>
          <a:p>
            <a:pPr marL="439738" lvl="2" indent="-211138" defTabSz="382588"/>
            <a:r>
              <a:rPr lang="en-US" altLang="en-US">
                <a:latin typeface="Arial" panose="020B0604020202020204" pitchFamily="34" charset="0"/>
              </a:rPr>
              <a:t>Any views and synonyms will remain but are invalid.</a:t>
            </a:r>
          </a:p>
          <a:p>
            <a:pPr marL="439738" lvl="2" indent="-211138" defTabSz="382588"/>
            <a:r>
              <a:rPr lang="en-US" altLang="en-US">
                <a:latin typeface="Arial" panose="020B0604020202020204" pitchFamily="34" charset="0"/>
              </a:rPr>
              <a:t>Any pending transactions are committed.</a:t>
            </a:r>
          </a:p>
          <a:p>
            <a:pPr marL="439738" lvl="2" indent="-211138" defTabSz="382588"/>
            <a:r>
              <a:rPr lang="en-US" altLang="en-US">
                <a:latin typeface="Arial" panose="020B0604020202020204" pitchFamily="34" charset="0"/>
              </a:rPr>
              <a:t>Only the creator of the table or a user with the DROP ANY TABLE privilege can remove a table.</a:t>
            </a:r>
          </a:p>
          <a:p>
            <a:pPr marL="114300" lvl="1" defTabSz="382588"/>
            <a:r>
              <a:rPr lang="en-US" altLang="en-US">
                <a:latin typeface="Arial" panose="020B0604020202020204" pitchFamily="34" charset="0"/>
              </a:rPr>
              <a:t>The DROP TABLE statement, once executed, is irreversible. The Oracle Server does not question the action when you issue the DROP TABLE statement. If you own that table or have a high-level privilege, then the table is immediately removed. All DDL statements issue a commit, therefore making the transaction permanent.</a:t>
            </a:r>
          </a:p>
        </p:txBody>
      </p:sp>
      <p:sp>
        <p:nvSpPr>
          <p:cNvPr id="91140" name="Rectangle 4">
            <a:extLst>
              <a:ext uri="{FF2B5EF4-FFF2-40B4-BE49-F238E27FC236}">
                <a16:creationId xmlns:a16="http://schemas.microsoft.com/office/drawing/2014/main" id="{7628AA6F-EEB0-73DF-75A6-AB780B912170}"/>
              </a:ext>
            </a:extLst>
          </p:cNvPr>
          <p:cNvSpPr>
            <a:spLocks noChangeArrowheads="1"/>
          </p:cNvSpPr>
          <p:nvPr/>
        </p:nvSpPr>
        <p:spPr bwMode="auto">
          <a:xfrm>
            <a:off x="623888" y="5715000"/>
            <a:ext cx="5567362" cy="1936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91141" name="Rectangle 5">
            <a:extLst>
              <a:ext uri="{FF2B5EF4-FFF2-40B4-BE49-F238E27FC236}">
                <a16:creationId xmlns:a16="http://schemas.microsoft.com/office/drawing/2014/main" id="{D55DD5D3-3D73-C64E-4BA2-F2D430A96BCA}"/>
              </a:ext>
            </a:extLst>
          </p:cNvPr>
          <p:cNvSpPr>
            <a:spLocks noChangeArrowheads="1"/>
          </p:cNvSpPr>
          <p:nvPr/>
        </p:nvSpPr>
        <p:spPr bwMode="auto">
          <a:xfrm>
            <a:off x="657225" y="5673725"/>
            <a:ext cx="16129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56" tIns="43420" rIns="90056" bIns="43420">
            <a:spAutoFit/>
          </a:bodyPr>
          <a:lstStyle>
            <a:lvl1pPr defTabSz="839788">
              <a:spcBef>
                <a:spcPct val="30000"/>
              </a:spcBef>
              <a:defRPr sz="1200">
                <a:solidFill>
                  <a:schemeClr val="tx1"/>
                </a:solidFill>
                <a:latin typeface="Arial" panose="020B0604020202020204" pitchFamily="34" charset="0"/>
              </a:defRPr>
            </a:lvl1pPr>
            <a:lvl2pPr marL="742950" indent="-285750" defTabSz="839788">
              <a:spcBef>
                <a:spcPct val="30000"/>
              </a:spcBef>
              <a:defRPr sz="1200">
                <a:solidFill>
                  <a:schemeClr val="tx1"/>
                </a:solidFill>
                <a:latin typeface="Arial" panose="020B0604020202020204" pitchFamily="34" charset="0"/>
              </a:defRPr>
            </a:lvl2pPr>
            <a:lvl3pPr marL="1143000" indent="-228600" defTabSz="839788">
              <a:spcBef>
                <a:spcPct val="30000"/>
              </a:spcBef>
              <a:defRPr sz="1200">
                <a:solidFill>
                  <a:schemeClr val="tx1"/>
                </a:solidFill>
                <a:latin typeface="Arial" panose="020B0604020202020204" pitchFamily="34" charset="0"/>
              </a:defRPr>
            </a:lvl3pPr>
            <a:lvl4pPr marL="1600200" indent="-228600" defTabSz="839788">
              <a:spcBef>
                <a:spcPct val="30000"/>
              </a:spcBef>
              <a:defRPr sz="1200">
                <a:solidFill>
                  <a:schemeClr val="tx1"/>
                </a:solidFill>
                <a:latin typeface="Arial" panose="020B0604020202020204" pitchFamily="34" charset="0"/>
              </a:defRPr>
            </a:lvl4pPr>
            <a:lvl5pPr marL="2057400" indent="-228600" defTabSz="839788">
              <a:spcBef>
                <a:spcPct val="30000"/>
              </a:spcBef>
              <a:defRPr sz="1200">
                <a:solidFill>
                  <a:schemeClr val="tx1"/>
                </a:solidFill>
                <a:latin typeface="Arial" panose="020B0604020202020204" pitchFamily="34" charset="0"/>
              </a:defRPr>
            </a:lvl5pPr>
            <a:lvl6pPr marL="2514600" indent="-228600" defTabSz="839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39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39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39788" eaLnBrk="0" fontAlgn="base" hangingPunct="0">
              <a:spcBef>
                <a:spcPct val="30000"/>
              </a:spcBef>
              <a:spcAft>
                <a:spcPct val="0"/>
              </a:spcAft>
              <a:defRPr sz="1200">
                <a:solidFill>
                  <a:schemeClr val="tx1"/>
                </a:solidFill>
                <a:latin typeface="Arial" panose="020B0604020202020204" pitchFamily="34" charset="0"/>
              </a:defRPr>
            </a:lvl9pPr>
          </a:lstStyle>
          <a:p>
            <a:pPr>
              <a:lnSpc>
                <a:spcPct val="120000"/>
              </a:lnSpc>
              <a:spcBef>
                <a:spcPct val="60000"/>
              </a:spcBef>
            </a:pPr>
            <a:r>
              <a:rPr lang="en-US" altLang="en-US" sz="1100">
                <a:latin typeface="Courier New" panose="02070309020205020404" pitchFamily="49" charset="0"/>
              </a:rPr>
              <a:t>DROP TABLE </a:t>
            </a:r>
            <a:r>
              <a:rPr lang="en-US" altLang="en-US" sz="1100" i="1">
                <a:latin typeface="Courier New" panose="02070309020205020404" pitchFamily="49" charset="0"/>
              </a:rPr>
              <a:t>table;</a:t>
            </a:r>
          </a:p>
        </p:txBody>
      </p:sp>
      <p:grpSp>
        <p:nvGrpSpPr>
          <p:cNvPr id="91142" name="Group 6">
            <a:extLst>
              <a:ext uri="{FF2B5EF4-FFF2-40B4-BE49-F238E27FC236}">
                <a16:creationId xmlns:a16="http://schemas.microsoft.com/office/drawing/2014/main" id="{F44A20B7-13A8-7B5B-2D03-9E4F0D98B4D0}"/>
              </a:ext>
            </a:extLst>
          </p:cNvPr>
          <p:cNvGrpSpPr>
            <a:grpSpLocks/>
          </p:cNvGrpSpPr>
          <p:nvPr/>
        </p:nvGrpSpPr>
        <p:grpSpPr bwMode="auto">
          <a:xfrm>
            <a:off x="215900" y="7493000"/>
            <a:ext cx="287338" cy="298450"/>
            <a:chOff x="135" y="4635"/>
            <a:chExt cx="180" cy="184"/>
          </a:xfrm>
        </p:grpSpPr>
        <p:sp>
          <p:nvSpPr>
            <p:cNvPr id="91143" name="Freeform 7">
              <a:extLst>
                <a:ext uri="{FF2B5EF4-FFF2-40B4-BE49-F238E27FC236}">
                  <a16:creationId xmlns:a16="http://schemas.microsoft.com/office/drawing/2014/main" id="{0D2DF40E-5247-54B3-2C49-C9ED22D66065}"/>
                </a:ext>
              </a:extLst>
            </p:cNvPr>
            <p:cNvSpPr>
              <a:spLocks/>
            </p:cNvSpPr>
            <p:nvPr/>
          </p:nvSpPr>
          <p:spPr bwMode="auto">
            <a:xfrm>
              <a:off x="135" y="4635"/>
              <a:ext cx="180" cy="184"/>
            </a:xfrm>
            <a:custGeom>
              <a:avLst/>
              <a:gdLst>
                <a:gd name="T0" fmla="*/ 179 w 180"/>
                <a:gd name="T1" fmla="*/ 183 h 184"/>
                <a:gd name="T2" fmla="*/ 179 w 180"/>
                <a:gd name="T3" fmla="*/ 0 h 184"/>
                <a:gd name="T4" fmla="*/ 0 w 180"/>
                <a:gd name="T5" fmla="*/ 0 h 184"/>
                <a:gd name="T6" fmla="*/ 0 w 180"/>
                <a:gd name="T7" fmla="*/ 183 h 184"/>
                <a:gd name="T8" fmla="*/ 179 w 180"/>
                <a:gd name="T9" fmla="*/ 183 h 184"/>
                <a:gd name="T10" fmla="*/ 0 60000 65536"/>
                <a:gd name="T11" fmla="*/ 0 60000 65536"/>
                <a:gd name="T12" fmla="*/ 0 60000 65536"/>
                <a:gd name="T13" fmla="*/ 0 60000 65536"/>
                <a:gd name="T14" fmla="*/ 0 60000 65536"/>
                <a:gd name="T15" fmla="*/ 0 w 180"/>
                <a:gd name="T16" fmla="*/ 0 h 184"/>
                <a:gd name="T17" fmla="*/ 180 w 180"/>
                <a:gd name="T18" fmla="*/ 184 h 184"/>
              </a:gdLst>
              <a:ahLst/>
              <a:cxnLst>
                <a:cxn ang="T10">
                  <a:pos x="T0" y="T1"/>
                </a:cxn>
                <a:cxn ang="T11">
                  <a:pos x="T2" y="T3"/>
                </a:cxn>
                <a:cxn ang="T12">
                  <a:pos x="T4" y="T5"/>
                </a:cxn>
                <a:cxn ang="T13">
                  <a:pos x="T6" y="T7"/>
                </a:cxn>
                <a:cxn ang="T14">
                  <a:pos x="T8" y="T9"/>
                </a:cxn>
              </a:cxnLst>
              <a:rect l="T15" t="T16" r="T17" b="T18"/>
              <a:pathLst>
                <a:path w="180" h="184">
                  <a:moveTo>
                    <a:pt x="179" y="183"/>
                  </a:moveTo>
                  <a:lnTo>
                    <a:pt x="179" y="0"/>
                  </a:lnTo>
                  <a:lnTo>
                    <a:pt x="0" y="0"/>
                  </a:lnTo>
                  <a:lnTo>
                    <a:pt x="0" y="183"/>
                  </a:lnTo>
                  <a:lnTo>
                    <a:pt x="179" y="183"/>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91144" name="Freeform 8">
              <a:extLst>
                <a:ext uri="{FF2B5EF4-FFF2-40B4-BE49-F238E27FC236}">
                  <a16:creationId xmlns:a16="http://schemas.microsoft.com/office/drawing/2014/main" id="{171F6841-36F2-0C87-7336-EF13BE21788F}"/>
                </a:ext>
              </a:extLst>
            </p:cNvPr>
            <p:cNvSpPr>
              <a:spLocks/>
            </p:cNvSpPr>
            <p:nvPr/>
          </p:nvSpPr>
          <p:spPr bwMode="auto">
            <a:xfrm>
              <a:off x="145" y="4644"/>
              <a:ext cx="163" cy="162"/>
            </a:xfrm>
            <a:custGeom>
              <a:avLst/>
              <a:gdLst>
                <a:gd name="T0" fmla="*/ 83 w 163"/>
                <a:gd name="T1" fmla="*/ 0 h 162"/>
                <a:gd name="T2" fmla="*/ 0 w 163"/>
                <a:gd name="T3" fmla="*/ 161 h 162"/>
                <a:gd name="T4" fmla="*/ 162 w 163"/>
                <a:gd name="T5" fmla="*/ 161 h 162"/>
                <a:gd name="T6" fmla="*/ 83 w 163"/>
                <a:gd name="T7" fmla="*/ 0 h 162"/>
                <a:gd name="T8" fmla="*/ 0 60000 65536"/>
                <a:gd name="T9" fmla="*/ 0 60000 65536"/>
                <a:gd name="T10" fmla="*/ 0 60000 65536"/>
                <a:gd name="T11" fmla="*/ 0 60000 65536"/>
                <a:gd name="T12" fmla="*/ 0 w 163"/>
                <a:gd name="T13" fmla="*/ 0 h 162"/>
                <a:gd name="T14" fmla="*/ 163 w 163"/>
                <a:gd name="T15" fmla="*/ 162 h 162"/>
              </a:gdLst>
              <a:ahLst/>
              <a:cxnLst>
                <a:cxn ang="T8">
                  <a:pos x="T0" y="T1"/>
                </a:cxn>
                <a:cxn ang="T9">
                  <a:pos x="T2" y="T3"/>
                </a:cxn>
                <a:cxn ang="T10">
                  <a:pos x="T4" y="T5"/>
                </a:cxn>
                <a:cxn ang="T11">
                  <a:pos x="T6" y="T7"/>
                </a:cxn>
              </a:cxnLst>
              <a:rect l="T12" t="T13" r="T14" b="T15"/>
              <a:pathLst>
                <a:path w="163" h="162">
                  <a:moveTo>
                    <a:pt x="83" y="0"/>
                  </a:moveTo>
                  <a:lnTo>
                    <a:pt x="0" y="161"/>
                  </a:lnTo>
                  <a:lnTo>
                    <a:pt x="162" y="161"/>
                  </a:lnTo>
                  <a:lnTo>
                    <a:pt x="83"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91145" name="Freeform 9">
              <a:extLst>
                <a:ext uri="{FF2B5EF4-FFF2-40B4-BE49-F238E27FC236}">
                  <a16:creationId xmlns:a16="http://schemas.microsoft.com/office/drawing/2014/main" id="{3214DD5C-258A-E4B3-7660-15AF39FC0F08}"/>
                </a:ext>
              </a:extLst>
            </p:cNvPr>
            <p:cNvSpPr>
              <a:spLocks/>
            </p:cNvSpPr>
            <p:nvPr/>
          </p:nvSpPr>
          <p:spPr bwMode="auto">
            <a:xfrm>
              <a:off x="163" y="4661"/>
              <a:ext cx="133" cy="134"/>
            </a:xfrm>
            <a:custGeom>
              <a:avLst/>
              <a:gdLst>
                <a:gd name="T0" fmla="*/ 65 w 133"/>
                <a:gd name="T1" fmla="*/ 0 h 134"/>
                <a:gd name="T2" fmla="*/ 0 w 133"/>
                <a:gd name="T3" fmla="*/ 133 h 134"/>
                <a:gd name="T4" fmla="*/ 132 w 133"/>
                <a:gd name="T5" fmla="*/ 133 h 134"/>
                <a:gd name="T6" fmla="*/ 65 w 133"/>
                <a:gd name="T7" fmla="*/ 0 h 134"/>
                <a:gd name="T8" fmla="*/ 0 60000 65536"/>
                <a:gd name="T9" fmla="*/ 0 60000 65536"/>
                <a:gd name="T10" fmla="*/ 0 60000 65536"/>
                <a:gd name="T11" fmla="*/ 0 60000 65536"/>
                <a:gd name="T12" fmla="*/ 0 w 133"/>
                <a:gd name="T13" fmla="*/ 0 h 134"/>
                <a:gd name="T14" fmla="*/ 133 w 133"/>
                <a:gd name="T15" fmla="*/ 134 h 134"/>
              </a:gdLst>
              <a:ahLst/>
              <a:cxnLst>
                <a:cxn ang="T8">
                  <a:pos x="T0" y="T1"/>
                </a:cxn>
                <a:cxn ang="T9">
                  <a:pos x="T2" y="T3"/>
                </a:cxn>
                <a:cxn ang="T10">
                  <a:pos x="T4" y="T5"/>
                </a:cxn>
                <a:cxn ang="T11">
                  <a:pos x="T6" y="T7"/>
                </a:cxn>
              </a:cxnLst>
              <a:rect l="T12" t="T13" r="T14" b="T15"/>
              <a:pathLst>
                <a:path w="133" h="134">
                  <a:moveTo>
                    <a:pt x="65" y="0"/>
                  </a:moveTo>
                  <a:lnTo>
                    <a:pt x="0" y="133"/>
                  </a:lnTo>
                  <a:lnTo>
                    <a:pt x="132" y="133"/>
                  </a:lnTo>
                  <a:lnTo>
                    <a:pt x="65"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91146" name="Freeform 10">
              <a:extLst>
                <a:ext uri="{FF2B5EF4-FFF2-40B4-BE49-F238E27FC236}">
                  <a16:creationId xmlns:a16="http://schemas.microsoft.com/office/drawing/2014/main" id="{2E0F488D-32E6-4611-58A5-D292E0309B09}"/>
                </a:ext>
              </a:extLst>
            </p:cNvPr>
            <p:cNvSpPr>
              <a:spLocks/>
            </p:cNvSpPr>
            <p:nvPr/>
          </p:nvSpPr>
          <p:spPr bwMode="auto">
            <a:xfrm>
              <a:off x="219" y="4773"/>
              <a:ext cx="19" cy="18"/>
            </a:xfrm>
            <a:custGeom>
              <a:avLst/>
              <a:gdLst>
                <a:gd name="T0" fmla="*/ 9 w 19"/>
                <a:gd name="T1" fmla="*/ 17 h 18"/>
                <a:gd name="T2" fmla="*/ 10 w 19"/>
                <a:gd name="T3" fmla="*/ 16 h 18"/>
                <a:gd name="T4" fmla="*/ 12 w 19"/>
                <a:gd name="T5" fmla="*/ 16 h 18"/>
                <a:gd name="T6" fmla="*/ 14 w 19"/>
                <a:gd name="T7" fmla="*/ 15 h 18"/>
                <a:gd name="T8" fmla="*/ 15 w 19"/>
                <a:gd name="T9" fmla="*/ 14 h 18"/>
                <a:gd name="T10" fmla="*/ 16 w 19"/>
                <a:gd name="T11" fmla="*/ 13 h 18"/>
                <a:gd name="T12" fmla="*/ 17 w 19"/>
                <a:gd name="T13" fmla="*/ 11 h 18"/>
                <a:gd name="T14" fmla="*/ 17 w 19"/>
                <a:gd name="T15" fmla="*/ 10 h 18"/>
                <a:gd name="T16" fmla="*/ 18 w 19"/>
                <a:gd name="T17" fmla="*/ 8 h 18"/>
                <a:gd name="T18" fmla="*/ 17 w 19"/>
                <a:gd name="T19" fmla="*/ 6 h 18"/>
                <a:gd name="T20" fmla="*/ 17 w 19"/>
                <a:gd name="T21" fmla="*/ 5 h 18"/>
                <a:gd name="T22" fmla="*/ 16 w 19"/>
                <a:gd name="T23" fmla="*/ 3 h 18"/>
                <a:gd name="T24" fmla="*/ 15 w 19"/>
                <a:gd name="T25" fmla="*/ 2 h 18"/>
                <a:gd name="T26" fmla="*/ 14 w 19"/>
                <a:gd name="T27" fmla="*/ 1 h 18"/>
                <a:gd name="T28" fmla="*/ 12 w 19"/>
                <a:gd name="T29" fmla="*/ 0 h 18"/>
                <a:gd name="T30" fmla="*/ 10 w 19"/>
                <a:gd name="T31" fmla="*/ 0 h 18"/>
                <a:gd name="T32" fmla="*/ 9 w 19"/>
                <a:gd name="T33" fmla="*/ 0 h 18"/>
                <a:gd name="T34" fmla="*/ 7 w 19"/>
                <a:gd name="T35" fmla="*/ 0 h 18"/>
                <a:gd name="T36" fmla="*/ 5 w 19"/>
                <a:gd name="T37" fmla="*/ 0 h 18"/>
                <a:gd name="T38" fmla="*/ 4 w 19"/>
                <a:gd name="T39" fmla="*/ 1 h 18"/>
                <a:gd name="T40" fmla="*/ 2 w 19"/>
                <a:gd name="T41" fmla="*/ 2 h 18"/>
                <a:gd name="T42" fmla="*/ 1 w 19"/>
                <a:gd name="T43" fmla="*/ 3 h 18"/>
                <a:gd name="T44" fmla="*/ 1 w 19"/>
                <a:gd name="T45" fmla="*/ 5 h 18"/>
                <a:gd name="T46" fmla="*/ 0 w 19"/>
                <a:gd name="T47" fmla="*/ 6 h 18"/>
                <a:gd name="T48" fmla="*/ 0 w 19"/>
                <a:gd name="T49" fmla="*/ 8 h 18"/>
                <a:gd name="T50" fmla="*/ 0 w 19"/>
                <a:gd name="T51" fmla="*/ 10 h 18"/>
                <a:gd name="T52" fmla="*/ 1 w 19"/>
                <a:gd name="T53" fmla="*/ 11 h 18"/>
                <a:gd name="T54" fmla="*/ 1 w 19"/>
                <a:gd name="T55" fmla="*/ 13 h 18"/>
                <a:gd name="T56" fmla="*/ 2 w 19"/>
                <a:gd name="T57" fmla="*/ 14 h 18"/>
                <a:gd name="T58" fmla="*/ 4 w 19"/>
                <a:gd name="T59" fmla="*/ 15 h 18"/>
                <a:gd name="T60" fmla="*/ 5 w 19"/>
                <a:gd name="T61" fmla="*/ 16 h 18"/>
                <a:gd name="T62" fmla="*/ 7 w 19"/>
                <a:gd name="T63" fmla="*/ 16 h 18"/>
                <a:gd name="T64" fmla="*/ 9 w 19"/>
                <a:gd name="T65" fmla="*/ 17 h 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
                <a:gd name="T100" fmla="*/ 0 h 18"/>
                <a:gd name="T101" fmla="*/ 19 w 19"/>
                <a:gd name="T102" fmla="*/ 18 h 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 h="18">
                  <a:moveTo>
                    <a:pt x="9" y="17"/>
                  </a:moveTo>
                  <a:lnTo>
                    <a:pt x="10" y="16"/>
                  </a:lnTo>
                  <a:lnTo>
                    <a:pt x="12" y="16"/>
                  </a:lnTo>
                  <a:lnTo>
                    <a:pt x="14" y="15"/>
                  </a:lnTo>
                  <a:lnTo>
                    <a:pt x="15" y="14"/>
                  </a:lnTo>
                  <a:lnTo>
                    <a:pt x="16" y="13"/>
                  </a:lnTo>
                  <a:lnTo>
                    <a:pt x="17" y="11"/>
                  </a:lnTo>
                  <a:lnTo>
                    <a:pt x="17" y="10"/>
                  </a:lnTo>
                  <a:lnTo>
                    <a:pt x="18" y="8"/>
                  </a:lnTo>
                  <a:lnTo>
                    <a:pt x="17" y="6"/>
                  </a:lnTo>
                  <a:lnTo>
                    <a:pt x="17" y="5"/>
                  </a:lnTo>
                  <a:lnTo>
                    <a:pt x="16" y="3"/>
                  </a:lnTo>
                  <a:lnTo>
                    <a:pt x="15" y="2"/>
                  </a:lnTo>
                  <a:lnTo>
                    <a:pt x="14" y="1"/>
                  </a:lnTo>
                  <a:lnTo>
                    <a:pt x="12" y="0"/>
                  </a:lnTo>
                  <a:lnTo>
                    <a:pt x="10" y="0"/>
                  </a:lnTo>
                  <a:lnTo>
                    <a:pt x="9" y="0"/>
                  </a:lnTo>
                  <a:lnTo>
                    <a:pt x="7" y="0"/>
                  </a:lnTo>
                  <a:lnTo>
                    <a:pt x="5" y="0"/>
                  </a:lnTo>
                  <a:lnTo>
                    <a:pt x="4" y="1"/>
                  </a:lnTo>
                  <a:lnTo>
                    <a:pt x="2" y="2"/>
                  </a:lnTo>
                  <a:lnTo>
                    <a:pt x="1" y="3"/>
                  </a:lnTo>
                  <a:lnTo>
                    <a:pt x="1" y="5"/>
                  </a:lnTo>
                  <a:lnTo>
                    <a:pt x="0" y="6"/>
                  </a:lnTo>
                  <a:lnTo>
                    <a:pt x="0" y="8"/>
                  </a:lnTo>
                  <a:lnTo>
                    <a:pt x="0" y="10"/>
                  </a:lnTo>
                  <a:lnTo>
                    <a:pt x="1" y="11"/>
                  </a:lnTo>
                  <a:lnTo>
                    <a:pt x="1" y="13"/>
                  </a:lnTo>
                  <a:lnTo>
                    <a:pt x="2" y="14"/>
                  </a:lnTo>
                  <a:lnTo>
                    <a:pt x="4" y="15"/>
                  </a:lnTo>
                  <a:lnTo>
                    <a:pt x="5" y="16"/>
                  </a:lnTo>
                  <a:lnTo>
                    <a:pt x="7" y="16"/>
                  </a:lnTo>
                  <a:lnTo>
                    <a:pt x="9"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91147" name="Freeform 11">
              <a:extLst>
                <a:ext uri="{FF2B5EF4-FFF2-40B4-BE49-F238E27FC236}">
                  <a16:creationId xmlns:a16="http://schemas.microsoft.com/office/drawing/2014/main" id="{351E0969-DBD6-1057-E5A1-DB70C98748D8}"/>
                </a:ext>
              </a:extLst>
            </p:cNvPr>
            <p:cNvSpPr>
              <a:spLocks/>
            </p:cNvSpPr>
            <p:nvPr/>
          </p:nvSpPr>
          <p:spPr bwMode="auto">
            <a:xfrm>
              <a:off x="219" y="4690"/>
              <a:ext cx="18" cy="80"/>
            </a:xfrm>
            <a:custGeom>
              <a:avLst/>
              <a:gdLst>
                <a:gd name="T0" fmla="*/ 9 w 18"/>
                <a:gd name="T1" fmla="*/ 0 h 80"/>
                <a:gd name="T2" fmla="*/ 10 w 18"/>
                <a:gd name="T3" fmla="*/ 0 h 80"/>
                <a:gd name="T4" fmla="*/ 12 w 18"/>
                <a:gd name="T5" fmla="*/ 0 h 80"/>
                <a:gd name="T6" fmla="*/ 14 w 18"/>
                <a:gd name="T7" fmla="*/ 2 h 80"/>
                <a:gd name="T8" fmla="*/ 16 w 18"/>
                <a:gd name="T9" fmla="*/ 7 h 80"/>
                <a:gd name="T10" fmla="*/ 17 w 18"/>
                <a:gd name="T11" fmla="*/ 15 h 80"/>
                <a:gd name="T12" fmla="*/ 17 w 18"/>
                <a:gd name="T13" fmla="*/ 29 h 80"/>
                <a:gd name="T14" fmla="*/ 14 w 18"/>
                <a:gd name="T15" fmla="*/ 50 h 80"/>
                <a:gd name="T16" fmla="*/ 9 w 18"/>
                <a:gd name="T17" fmla="*/ 79 h 80"/>
                <a:gd name="T18" fmla="*/ 4 w 18"/>
                <a:gd name="T19" fmla="*/ 63 h 80"/>
                <a:gd name="T20" fmla="*/ 1 w 18"/>
                <a:gd name="T21" fmla="*/ 48 h 80"/>
                <a:gd name="T22" fmla="*/ 0 w 18"/>
                <a:gd name="T23" fmla="*/ 34 h 80"/>
                <a:gd name="T24" fmla="*/ 0 w 18"/>
                <a:gd name="T25" fmla="*/ 22 h 80"/>
                <a:gd name="T26" fmla="*/ 0 w 18"/>
                <a:gd name="T27" fmla="*/ 11 h 80"/>
                <a:gd name="T28" fmla="*/ 3 w 18"/>
                <a:gd name="T29" fmla="*/ 4 h 80"/>
                <a:gd name="T30" fmla="*/ 6 w 18"/>
                <a:gd name="T31" fmla="*/ 0 h 80"/>
                <a:gd name="T32" fmla="*/ 9 w 18"/>
                <a:gd name="T33" fmla="*/ 0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8"/>
                <a:gd name="T52" fmla="*/ 0 h 80"/>
                <a:gd name="T53" fmla="*/ 18 w 18"/>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8" h="80">
                  <a:moveTo>
                    <a:pt x="9" y="0"/>
                  </a:moveTo>
                  <a:lnTo>
                    <a:pt x="10" y="0"/>
                  </a:lnTo>
                  <a:lnTo>
                    <a:pt x="12" y="0"/>
                  </a:lnTo>
                  <a:lnTo>
                    <a:pt x="14" y="2"/>
                  </a:lnTo>
                  <a:lnTo>
                    <a:pt x="16" y="7"/>
                  </a:lnTo>
                  <a:lnTo>
                    <a:pt x="17" y="15"/>
                  </a:lnTo>
                  <a:lnTo>
                    <a:pt x="17" y="29"/>
                  </a:lnTo>
                  <a:lnTo>
                    <a:pt x="14" y="50"/>
                  </a:lnTo>
                  <a:lnTo>
                    <a:pt x="9" y="79"/>
                  </a:lnTo>
                  <a:lnTo>
                    <a:pt x="4" y="63"/>
                  </a:lnTo>
                  <a:lnTo>
                    <a:pt x="1" y="48"/>
                  </a:lnTo>
                  <a:lnTo>
                    <a:pt x="0" y="34"/>
                  </a:lnTo>
                  <a:lnTo>
                    <a:pt x="0" y="22"/>
                  </a:lnTo>
                  <a:lnTo>
                    <a:pt x="0" y="11"/>
                  </a:lnTo>
                  <a:lnTo>
                    <a:pt x="3" y="4"/>
                  </a:lnTo>
                  <a:lnTo>
                    <a:pt x="6" y="0"/>
                  </a:lnTo>
                  <a:lnTo>
                    <a:pt x="9"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E35D723C-C9C7-A568-FCF7-4EB6D646C9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a:spcBef>
                <a:spcPct val="30000"/>
              </a:spcBef>
              <a:defRPr sz="1200">
                <a:solidFill>
                  <a:schemeClr val="tx1"/>
                </a:solidFill>
                <a:latin typeface="Arial" panose="020B0604020202020204" pitchFamily="34" charset="0"/>
              </a:defRPr>
            </a:lvl1pPr>
            <a:lvl2pPr marL="742950" indent="-285750" defTabSz="892175">
              <a:spcBef>
                <a:spcPct val="30000"/>
              </a:spcBef>
              <a:defRPr sz="1200">
                <a:solidFill>
                  <a:schemeClr val="tx1"/>
                </a:solidFill>
                <a:latin typeface="Arial" panose="020B0604020202020204" pitchFamily="34" charset="0"/>
              </a:defRPr>
            </a:lvl2pPr>
            <a:lvl3pPr marL="1143000" indent="-228600" defTabSz="892175">
              <a:spcBef>
                <a:spcPct val="30000"/>
              </a:spcBef>
              <a:defRPr sz="1200">
                <a:solidFill>
                  <a:schemeClr val="tx1"/>
                </a:solidFill>
                <a:latin typeface="Arial" panose="020B0604020202020204" pitchFamily="34" charset="0"/>
              </a:defRPr>
            </a:lvl3pPr>
            <a:lvl4pPr marL="1600200" indent="-228600" defTabSz="892175">
              <a:spcBef>
                <a:spcPct val="30000"/>
              </a:spcBef>
              <a:defRPr sz="1200">
                <a:solidFill>
                  <a:schemeClr val="tx1"/>
                </a:solidFill>
                <a:latin typeface="Arial" panose="020B0604020202020204" pitchFamily="34" charset="0"/>
              </a:defRPr>
            </a:lvl4pPr>
            <a:lvl5pPr marL="2057400" indent="-228600" defTabSz="892175">
              <a:spcBef>
                <a:spcPct val="30000"/>
              </a:spcBef>
              <a:defRPr sz="1200">
                <a:solidFill>
                  <a:schemeClr val="tx1"/>
                </a:solidFill>
                <a:latin typeface="Arial" panose="020B0604020202020204" pitchFamily="34" charset="0"/>
              </a:defRPr>
            </a:lvl5pPr>
            <a:lvl6pPr marL="2514600" indent="-228600" defTabSz="8921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21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21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21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D7620E5-E56A-49FA-9155-1FDAD0A7E276}" type="slidenum">
              <a:rPr lang="de-AT" altLang="en-US" smtClean="0">
                <a:solidFill>
                  <a:srgbClr val="000000"/>
                </a:solidFill>
              </a:rPr>
              <a:pPr>
                <a:spcBef>
                  <a:spcPct val="0"/>
                </a:spcBef>
              </a:pPr>
              <a:t>45</a:t>
            </a:fld>
            <a:endParaRPr lang="de-AT" altLang="en-US">
              <a:solidFill>
                <a:srgbClr val="000000"/>
              </a:solidFill>
            </a:endParaRPr>
          </a:p>
        </p:txBody>
      </p:sp>
      <p:sp>
        <p:nvSpPr>
          <p:cNvPr id="98307" name="Rectangle 2">
            <a:extLst>
              <a:ext uri="{FF2B5EF4-FFF2-40B4-BE49-F238E27FC236}">
                <a16:creationId xmlns:a16="http://schemas.microsoft.com/office/drawing/2014/main" id="{C6836BE6-20E4-351B-BC60-248E1316EE70}"/>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FC398F3C-1D53-AF59-20A3-2AC1A709E7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413E7A04-4953-42BC-1B99-C1805100900A}"/>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016631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8E520FE-7297-AECE-D0C9-D4089F3FCDA3}"/>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850257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Rectangle 4">
            <a:extLst>
              <a:ext uri="{FF2B5EF4-FFF2-40B4-BE49-F238E27FC236}">
                <a16:creationId xmlns:a16="http://schemas.microsoft.com/office/drawing/2014/main" id="{D9ED6C28-DCA7-8E7A-85EF-06CF4303D99E}"/>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008722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33388" y="1524000"/>
            <a:ext cx="4062412"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4447B679-D585-37E4-C89C-F3484C13E27E}"/>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4803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75E1DBBA-4F10-45A4-D398-BCD4E8ADDA63}"/>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787566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9EC4A19A-E5B2-DB1A-21B7-6D32B0DC4B3E}"/>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533881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74B2F1C-66AC-1041-03F9-D5D2AE34B000}"/>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06456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3CE180E-BB7D-E604-F588-F2D72773DDA9}"/>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870866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5BDD17D-088B-A036-6E7E-EBA1A362B490}"/>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817865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ECEE74A-912D-AB67-4390-C475AFF4FF40}"/>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409972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2100" y="228600"/>
            <a:ext cx="2068513"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33388" y="228600"/>
            <a:ext cx="6056312"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BB174BD-D6BA-C03B-2835-4BB5E865D311}"/>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5188781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ext Placeholder 2"/>
          <p:cNvSpPr>
            <a:spLocks noGrp="1"/>
          </p:cNvSpPr>
          <p:nvPr>
            <p:ph type="body" sz="half" idx="1"/>
          </p:nvPr>
        </p:nvSpPr>
        <p:spPr>
          <a:xfrm>
            <a:off x="433388" y="1524000"/>
            <a:ext cx="4062412"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05CA68D1-B6F9-966C-B5CE-608D4B0D9526}"/>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694073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FA85EB1-A482-3065-264D-315B7AEC6B32}"/>
              </a:ext>
            </a:extLst>
          </p:cNvPr>
          <p:cNvSpPr>
            <a:spLocks noGrp="1" noChangeArrowheads="1"/>
          </p:cNvSpPr>
          <p:nvPr>
            <p:ph type="title"/>
          </p:nvPr>
        </p:nvSpPr>
        <p:spPr bwMode="auto">
          <a:xfrm>
            <a:off x="433388" y="228600"/>
            <a:ext cx="8277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en-US"/>
              <a:t>Titel bearbeiten</a:t>
            </a:r>
          </a:p>
        </p:txBody>
      </p:sp>
      <p:sp>
        <p:nvSpPr>
          <p:cNvPr id="1027" name="Rectangle 3">
            <a:extLst>
              <a:ext uri="{FF2B5EF4-FFF2-40B4-BE49-F238E27FC236}">
                <a16:creationId xmlns:a16="http://schemas.microsoft.com/office/drawing/2014/main" id="{729BA220-DDF9-C98E-1A43-534E136A3A6A}"/>
              </a:ext>
            </a:extLst>
          </p:cNvPr>
          <p:cNvSpPr>
            <a:spLocks noGrp="1" noChangeArrowheads="1"/>
          </p:cNvSpPr>
          <p:nvPr>
            <p:ph type="body" idx="1"/>
          </p:nvPr>
        </p:nvSpPr>
        <p:spPr bwMode="auto">
          <a:xfrm>
            <a:off x="433388" y="1524000"/>
            <a:ext cx="8277225"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en-US"/>
              <a:t>Erste Ebene</a:t>
            </a:r>
          </a:p>
          <a:p>
            <a:pPr lvl="1"/>
            <a:r>
              <a:rPr lang="de-DE" altLang="en-US"/>
              <a:t>Zweite Ebene</a:t>
            </a:r>
          </a:p>
          <a:p>
            <a:pPr lvl="2"/>
            <a:r>
              <a:rPr lang="de-DE" altLang="en-US"/>
              <a:t>Dritte Ebene</a:t>
            </a:r>
          </a:p>
          <a:p>
            <a:pPr lvl="3"/>
            <a:r>
              <a:rPr lang="de-DE" altLang="en-US"/>
              <a:t>Vierte Ebene</a:t>
            </a:r>
          </a:p>
          <a:p>
            <a:pPr lvl="4"/>
            <a:r>
              <a:rPr lang="de-DE" altLang="en-US"/>
              <a:t>Fünfte Ebene</a:t>
            </a:r>
          </a:p>
        </p:txBody>
      </p:sp>
      <p:sp>
        <p:nvSpPr>
          <p:cNvPr id="4100" name="Rectangle 4">
            <a:extLst>
              <a:ext uri="{FF2B5EF4-FFF2-40B4-BE49-F238E27FC236}">
                <a16:creationId xmlns:a16="http://schemas.microsoft.com/office/drawing/2014/main" id="{D675B65C-0109-1D47-AE2E-DD2162E65977}"/>
              </a:ext>
            </a:extLst>
          </p:cNvPr>
          <p:cNvSpPr>
            <a:spLocks noGrp="1" noChangeArrowheads="1"/>
          </p:cNvSpPr>
          <p:nvPr>
            <p:ph type="dt" sz="half" idx="2"/>
          </p:nvPr>
        </p:nvSpPr>
        <p:spPr bwMode="auto">
          <a:xfrm>
            <a:off x="0" y="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de-DE"/>
          </a:p>
        </p:txBody>
      </p:sp>
      <p:sp>
        <p:nvSpPr>
          <p:cNvPr id="1029" name="Rectangle 14">
            <a:extLst>
              <a:ext uri="{FF2B5EF4-FFF2-40B4-BE49-F238E27FC236}">
                <a16:creationId xmlns:a16="http://schemas.microsoft.com/office/drawing/2014/main" id="{575D526A-2713-12A6-BBF7-E246F6C23411}"/>
              </a:ext>
            </a:extLst>
          </p:cNvPr>
          <p:cNvSpPr>
            <a:spLocks noChangeArrowheads="1"/>
          </p:cNvSpPr>
          <p:nvPr userDrawn="1"/>
        </p:nvSpPr>
        <p:spPr bwMode="auto">
          <a:xfrm>
            <a:off x="395288" y="1125538"/>
            <a:ext cx="8748712" cy="73025"/>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p>
        </p:txBody>
      </p:sp>
      <p:sp>
        <p:nvSpPr>
          <p:cNvPr id="1030" name="Rectangle 10">
            <a:extLst>
              <a:ext uri="{FF2B5EF4-FFF2-40B4-BE49-F238E27FC236}">
                <a16:creationId xmlns:a16="http://schemas.microsoft.com/office/drawing/2014/main" id="{4684D51F-C031-50FC-CA5B-385486E5D279}"/>
              </a:ext>
            </a:extLst>
          </p:cNvPr>
          <p:cNvSpPr>
            <a:spLocks noChangeArrowheads="1"/>
          </p:cNvSpPr>
          <p:nvPr userDrawn="1"/>
        </p:nvSpPr>
        <p:spPr bwMode="auto">
          <a:xfrm>
            <a:off x="0" y="6569075"/>
            <a:ext cx="9167813" cy="315913"/>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p>
        </p:txBody>
      </p:sp>
      <p:sp>
        <p:nvSpPr>
          <p:cNvPr id="1031" name="Text Box 11">
            <a:extLst>
              <a:ext uri="{FF2B5EF4-FFF2-40B4-BE49-F238E27FC236}">
                <a16:creationId xmlns:a16="http://schemas.microsoft.com/office/drawing/2014/main" id="{3E1442A3-5981-4625-AA1B-203C02547027}"/>
              </a:ext>
            </a:extLst>
          </p:cNvPr>
          <p:cNvSpPr txBox="1">
            <a:spLocks noChangeArrowheads="1"/>
          </p:cNvSpPr>
          <p:nvPr userDrawn="1"/>
        </p:nvSpPr>
        <p:spPr bwMode="auto">
          <a:xfrm>
            <a:off x="-36513" y="6583363"/>
            <a:ext cx="5905501" cy="276225"/>
          </a:xfrm>
          <a:prstGeom prst="rect">
            <a:avLst/>
          </a:prstGeom>
          <a:noFill/>
          <a:ln>
            <a:noFill/>
          </a:ln>
        </p:spPr>
        <p:txBody>
          <a:bodyPr>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spcBef>
                <a:spcPct val="50000"/>
              </a:spcBef>
              <a:defRPr/>
            </a:pPr>
            <a:r>
              <a:rPr lang="de-DE" sz="1200">
                <a:solidFill>
                  <a:srgbClr val="FFFF00"/>
                </a:solidFill>
                <a:cs typeface="Arial" pitchFamily="34" charset="0"/>
              </a:rPr>
              <a:t>Database Systems</a:t>
            </a:r>
            <a:endParaRPr lang="de-DE" sz="1200">
              <a:solidFill>
                <a:srgbClr val="FFFF00"/>
              </a:solidFill>
            </a:endParaRPr>
          </a:p>
        </p:txBody>
      </p:sp>
      <p:sp>
        <p:nvSpPr>
          <p:cNvPr id="1032" name="Rectangle 12">
            <a:extLst>
              <a:ext uri="{FF2B5EF4-FFF2-40B4-BE49-F238E27FC236}">
                <a16:creationId xmlns:a16="http://schemas.microsoft.com/office/drawing/2014/main" id="{DCB0A653-D91A-1604-F0CE-7F0DBD035B58}"/>
              </a:ext>
            </a:extLst>
          </p:cNvPr>
          <p:cNvSpPr>
            <a:spLocks noChangeArrowheads="1"/>
          </p:cNvSpPr>
          <p:nvPr userDrawn="1"/>
        </p:nvSpPr>
        <p:spPr bwMode="auto">
          <a:xfrm>
            <a:off x="7596188" y="6640513"/>
            <a:ext cx="1905000" cy="215900"/>
          </a:xfrm>
          <a:prstGeom prst="rect">
            <a:avLst/>
          </a:prstGeom>
          <a:noFill/>
          <a:ln>
            <a:noFill/>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r>
              <a:rPr lang="de-DE" altLang="en-US" sz="1000"/>
              <a:t>Slide </a:t>
            </a:r>
            <a:fld id="{C72049B4-FB9D-44FD-ADF7-3EA02ABDA698}" type="slidenum">
              <a:rPr lang="de-DE" altLang="en-US" sz="1000" smtClean="0"/>
              <a:pPr algn="ctr" eaLnBrk="1" hangingPunct="1">
                <a:defRPr/>
              </a:pPr>
              <a:t>‹#›</a:t>
            </a:fld>
            <a:endParaRPr lang="de-DE" altLang="en-US" sz="100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35FC211-1AFE-ECE2-BEDC-1BB8A6B84D8F}"/>
              </a:ext>
            </a:extLst>
          </p:cNvPr>
          <p:cNvSpPr>
            <a:spLocks noGrp="1" noChangeArrowheads="1"/>
          </p:cNvSpPr>
          <p:nvPr>
            <p:ph type="ctrTitle"/>
          </p:nvPr>
        </p:nvSpPr>
        <p:spPr>
          <a:xfrm>
            <a:off x="790575" y="1557338"/>
            <a:ext cx="7669213" cy="2087562"/>
          </a:xfrm>
          <a:solidFill>
            <a:srgbClr val="FFFFCC">
              <a:alpha val="20000"/>
            </a:srgbClr>
          </a:solidFill>
          <a:ln w="38100">
            <a:solidFill>
              <a:srgbClr val="800000"/>
            </a:solidFill>
            <a:miter lim="800000"/>
            <a:headEnd/>
            <a:tailEnd/>
          </a:ln>
        </p:spPr>
        <p:txBody>
          <a:bodyPr/>
          <a:lstStyle/>
          <a:p>
            <a:pPr algn="ctr" eaLnBrk="1" hangingPunct="1"/>
            <a:r>
              <a:rPr lang="en-US" altLang="en-US" u="sng">
                <a:solidFill>
                  <a:srgbClr val="800000"/>
                </a:solidFill>
              </a:rPr>
              <a:t> (SQL) </a:t>
            </a:r>
            <a:br>
              <a:rPr lang="en-US" altLang="en-US" u="sng">
                <a:solidFill>
                  <a:srgbClr val="800000"/>
                </a:solidFill>
              </a:rPr>
            </a:br>
            <a:r>
              <a:rPr lang="en-US" altLang="en-US">
                <a:solidFill>
                  <a:schemeClr val="accent2"/>
                </a:solidFill>
              </a:rPr>
              <a:t>Creating and Managing Tables</a:t>
            </a:r>
            <a:endParaRPr lang="de-AT" altLang="en-US">
              <a:solidFill>
                <a:schemeClr val="accent2"/>
              </a:solidFill>
            </a:endParaRPr>
          </a:p>
        </p:txBody>
      </p:sp>
      <p:pic>
        <p:nvPicPr>
          <p:cNvPr id="4100" name="Picture 9">
            <a:extLst>
              <a:ext uri="{FF2B5EF4-FFF2-40B4-BE49-F238E27FC236}">
                <a16:creationId xmlns:a16="http://schemas.microsoft.com/office/drawing/2014/main" id="{3884D358-DF56-D826-0F7F-3CCC5F2514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11">
            <a:extLst>
              <a:ext uri="{FF2B5EF4-FFF2-40B4-BE49-F238E27FC236}">
                <a16:creationId xmlns:a16="http://schemas.microsoft.com/office/drawing/2014/main" id="{93F99FA3-8E9A-45B8-0D6B-593335DAA5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038" y="0"/>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2" name="Rectangle 1">
            <a:extLst>
              <a:ext uri="{FF2B5EF4-FFF2-40B4-BE49-F238E27FC236}">
                <a16:creationId xmlns:a16="http://schemas.microsoft.com/office/drawing/2014/main" id="{04C2C7A4-F675-487F-79B8-DAD5334CDF3A}"/>
              </a:ext>
            </a:extLst>
          </p:cNvPr>
          <p:cNvSpPr>
            <a:spLocks noChangeArrowheads="1"/>
          </p:cNvSpPr>
          <p:nvPr/>
        </p:nvSpPr>
        <p:spPr bwMode="auto">
          <a:xfrm>
            <a:off x="631825" y="5516563"/>
            <a:ext cx="80645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b="1" u="sng">
                <a:solidFill>
                  <a:srgbClr val="000099"/>
                </a:solidFill>
              </a:rPr>
              <a:t>Note:</a:t>
            </a:r>
            <a:r>
              <a:rPr lang="en-US" altLang="en-US" sz="2400">
                <a:solidFill>
                  <a:srgbClr val="000099"/>
                </a:solidFill>
              </a:rPr>
              <a:t> </a:t>
            </a:r>
          </a:p>
          <a:p>
            <a:pPr eaLnBrk="1" hangingPunct="1">
              <a:spcBef>
                <a:spcPct val="0"/>
              </a:spcBef>
              <a:buFontTx/>
              <a:buNone/>
            </a:pPr>
            <a:r>
              <a:rPr lang="en-US" altLang="en-US" sz="2400"/>
              <a:t>The slides are adapted from Oracle corporation’s slides. </a:t>
            </a:r>
          </a:p>
        </p:txBody>
      </p:sp>
      <p:sp>
        <p:nvSpPr>
          <p:cNvPr id="4" name="Rectangle 3">
            <a:extLst>
              <a:ext uri="{FF2B5EF4-FFF2-40B4-BE49-F238E27FC236}">
                <a16:creationId xmlns:a16="http://schemas.microsoft.com/office/drawing/2014/main" id="{055083A1-6A75-ABC5-C64A-5C7B332F7E30}"/>
              </a:ext>
            </a:extLst>
          </p:cNvPr>
          <p:cNvSpPr txBox="1">
            <a:spLocks noChangeArrowheads="1"/>
          </p:cNvSpPr>
          <p:nvPr/>
        </p:nvSpPr>
        <p:spPr bwMode="auto">
          <a:xfrm>
            <a:off x="790575" y="3860899"/>
            <a:ext cx="7669213" cy="1584325"/>
          </a:xfrm>
          <a:prstGeom prst="rect">
            <a:avLst/>
          </a:prstGeom>
          <a:solidFill>
            <a:srgbClr val="FFFFCC">
              <a:alpha val="20000"/>
            </a:srgbClr>
          </a:solidFill>
          <a:ln w="38100" cap="flat" algn="ctr">
            <a:solidFill>
              <a:srgbClr val="800000"/>
            </a:solidFill>
            <a:miter lim="800000"/>
            <a:headEnd/>
            <a:tailEnd/>
          </a:ln>
        </p:spPr>
        <p:txBody>
          <a:bodyPr anchor="ctr"/>
          <a:lstStyle>
            <a:lvl1pPr marL="0" indent="0" algn="ctr" rtl="0" eaLnBrk="0" fontAlgn="base" hangingPunct="0">
              <a:spcBef>
                <a:spcPct val="20000"/>
              </a:spcBef>
              <a:spcAft>
                <a:spcPct val="0"/>
              </a:spcAft>
              <a:buNone/>
              <a:defRPr sz="2800">
                <a:solidFill>
                  <a:schemeClr val="tx1"/>
                </a:solidFill>
                <a:latin typeface="+mn-lt"/>
                <a:ea typeface="+mn-ea"/>
                <a:cs typeface="+mn-cs"/>
              </a:defRPr>
            </a:lvl1pPr>
            <a:lvl2pPr marL="457200" indent="0" algn="ctr" rtl="0" eaLnBrk="0" fontAlgn="base" hangingPunct="0">
              <a:spcBef>
                <a:spcPct val="20000"/>
              </a:spcBef>
              <a:spcAft>
                <a:spcPct val="0"/>
              </a:spcAft>
              <a:buNone/>
              <a:defRPr sz="2400">
                <a:solidFill>
                  <a:schemeClr val="tx1"/>
                </a:solidFill>
                <a:latin typeface="+mn-lt"/>
              </a:defRPr>
            </a:lvl2pPr>
            <a:lvl3pPr marL="914400" indent="0" algn="ctr" rtl="0" eaLnBrk="0" fontAlgn="base" hangingPunct="0">
              <a:spcBef>
                <a:spcPct val="20000"/>
              </a:spcBef>
              <a:spcAft>
                <a:spcPct val="0"/>
              </a:spcAft>
              <a:buNone/>
              <a:defRPr sz="20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a:solidFill>
                  <a:schemeClr val="tx1"/>
                </a:solidFill>
                <a:latin typeface="+mn-lt"/>
              </a:defRPr>
            </a:lvl6pPr>
            <a:lvl7pPr marL="2743200" indent="0" algn="ctr" rtl="0" fontAlgn="base">
              <a:spcBef>
                <a:spcPct val="20000"/>
              </a:spcBef>
              <a:spcAft>
                <a:spcPct val="0"/>
              </a:spcAft>
              <a:buNone/>
              <a:defRPr>
                <a:solidFill>
                  <a:schemeClr val="tx1"/>
                </a:solidFill>
                <a:latin typeface="+mn-lt"/>
              </a:defRPr>
            </a:lvl7pPr>
            <a:lvl8pPr marL="3200400" indent="0" algn="ctr" rtl="0" fontAlgn="base">
              <a:spcBef>
                <a:spcPct val="20000"/>
              </a:spcBef>
              <a:spcAft>
                <a:spcPct val="0"/>
              </a:spcAft>
              <a:buNone/>
              <a:defRPr>
                <a:solidFill>
                  <a:schemeClr val="tx1"/>
                </a:solidFill>
                <a:latin typeface="+mn-lt"/>
              </a:defRPr>
            </a:lvl8pPr>
            <a:lvl9pPr marL="3657600" indent="0" algn="ctr" rtl="0" fontAlgn="base">
              <a:spcBef>
                <a:spcPct val="20000"/>
              </a:spcBef>
              <a:spcAft>
                <a:spcPct val="0"/>
              </a:spcAft>
              <a:buNone/>
              <a:defRPr>
                <a:solidFill>
                  <a:schemeClr val="tx1"/>
                </a:solidFill>
                <a:latin typeface="+mn-lt"/>
              </a:defRPr>
            </a:lvl9pPr>
          </a:lstStyle>
          <a:p>
            <a:pPr eaLnBrk="1" hangingPunct="1">
              <a:lnSpc>
                <a:spcPct val="80000"/>
              </a:lnSpc>
              <a:spcBef>
                <a:spcPct val="0"/>
              </a:spcBef>
              <a:defRPr/>
            </a:pPr>
            <a:endParaRPr lang="en-US" altLang="en-US" sz="2400" b="1" kern="0" dirty="0">
              <a:solidFill>
                <a:schemeClr val="accent2"/>
              </a:solidFill>
            </a:endParaRPr>
          </a:p>
          <a:p>
            <a:pPr eaLnBrk="1" hangingPunct="1">
              <a:lnSpc>
                <a:spcPct val="80000"/>
              </a:lnSpc>
              <a:spcBef>
                <a:spcPct val="0"/>
              </a:spcBef>
              <a:defRPr/>
            </a:pPr>
            <a:r>
              <a:rPr lang="en-US" altLang="en-US" sz="3200" kern="0" dirty="0">
                <a:solidFill>
                  <a:srgbClr val="800000"/>
                </a:solidFill>
              </a:rPr>
              <a:t>Dr. Asif Sohail</a:t>
            </a:r>
            <a:r>
              <a:rPr lang="en-US" altLang="en-US" sz="3200" kern="0" dirty="0">
                <a:solidFill>
                  <a:schemeClr val="folHlink"/>
                </a:solidFill>
              </a:rPr>
              <a:t> </a:t>
            </a:r>
            <a:br>
              <a:rPr lang="en-US" altLang="en-US" sz="3200" b="1" kern="0" dirty="0">
                <a:solidFill>
                  <a:schemeClr val="folHlink"/>
                </a:solidFill>
              </a:rPr>
            </a:br>
            <a:br>
              <a:rPr lang="en-US" altLang="en-US" sz="3200" b="1" kern="0" dirty="0"/>
            </a:br>
            <a:r>
              <a:rPr lang="en-US" altLang="en-US" sz="1800" b="1" kern="0" dirty="0"/>
              <a:t>University of the Punjab</a:t>
            </a:r>
          </a:p>
          <a:p>
            <a:pPr eaLnBrk="1" hangingPunct="1">
              <a:lnSpc>
                <a:spcPct val="80000"/>
              </a:lnSpc>
              <a:spcBef>
                <a:spcPct val="0"/>
              </a:spcBef>
              <a:defRPr/>
            </a:pPr>
            <a:r>
              <a:rPr lang="en-US" altLang="en-US" sz="1800" b="1" kern="0" dirty="0">
                <a:solidFill>
                  <a:schemeClr val="accent2"/>
                </a:solidFill>
              </a:rPr>
              <a:t>Department of Information Technology, FCIT</a:t>
            </a:r>
            <a:endParaRPr lang="de-AT" altLang="en-US" sz="1800" b="1" kern="0" dirty="0">
              <a:solidFill>
                <a:schemeClr val="accen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06469F39-7C1D-4B7D-E4DA-15705208E6E6}"/>
              </a:ext>
            </a:extLst>
          </p:cNvPr>
          <p:cNvSpPr>
            <a:spLocks noGrp="1" noChangeArrowheads="1"/>
          </p:cNvSpPr>
          <p:nvPr>
            <p:ph type="title"/>
          </p:nvPr>
        </p:nvSpPr>
        <p:spPr>
          <a:xfrm>
            <a:off x="360363" y="660400"/>
            <a:ext cx="2051050" cy="392113"/>
          </a:xfrm>
          <a:noFill/>
        </p:spPr>
        <p:txBody>
          <a:bodyPr lIns="92075" tIns="46038" rIns="92075" bIns="46038" anchor="t"/>
          <a:lstStyle/>
          <a:p>
            <a:r>
              <a:rPr lang="en-US" altLang="en-US" sz="2800">
                <a:solidFill>
                  <a:srgbClr val="800000"/>
                </a:solidFill>
              </a:rPr>
              <a:t>Objectives</a:t>
            </a:r>
          </a:p>
        </p:txBody>
      </p:sp>
      <p:sp>
        <p:nvSpPr>
          <p:cNvPr id="6147" name="Rectangle 3">
            <a:extLst>
              <a:ext uri="{FF2B5EF4-FFF2-40B4-BE49-F238E27FC236}">
                <a16:creationId xmlns:a16="http://schemas.microsoft.com/office/drawing/2014/main" id="{B05731F7-D252-78C3-33F0-C35FE79A9955}"/>
              </a:ext>
            </a:extLst>
          </p:cNvPr>
          <p:cNvSpPr>
            <a:spLocks noGrp="1" noChangeArrowheads="1"/>
          </p:cNvSpPr>
          <p:nvPr>
            <p:ph type="body" idx="1"/>
          </p:nvPr>
        </p:nvSpPr>
        <p:spPr>
          <a:xfrm>
            <a:off x="860425" y="1795463"/>
            <a:ext cx="7385050" cy="3502025"/>
          </a:xfrm>
          <a:noFill/>
        </p:spPr>
        <p:txBody>
          <a:bodyPr lIns="92075" tIns="46038" rIns="92075" bIns="46038">
            <a:spAutoFit/>
          </a:bodyPr>
          <a:lstStyle/>
          <a:p>
            <a:r>
              <a:rPr lang="en-US" altLang="en-US"/>
              <a:t>After completing this lesson, you should be able to do the following:</a:t>
            </a:r>
          </a:p>
          <a:p>
            <a:pPr lvl="1"/>
            <a:r>
              <a:rPr lang="en-US" altLang="en-US"/>
              <a:t>Describe the main database objects</a:t>
            </a:r>
          </a:p>
          <a:p>
            <a:pPr lvl="1"/>
            <a:r>
              <a:rPr lang="en-US" altLang="en-US"/>
              <a:t>Create tables</a:t>
            </a:r>
          </a:p>
          <a:p>
            <a:pPr lvl="1"/>
            <a:r>
              <a:rPr lang="en-US" altLang="en-US"/>
              <a:t>Describe the data types that can be used when specifying column definition</a:t>
            </a:r>
          </a:p>
          <a:p>
            <a:pPr lvl="1"/>
            <a:r>
              <a:rPr lang="en-US" altLang="en-US"/>
              <a:t>Alter table definitions</a:t>
            </a:r>
          </a:p>
          <a:p>
            <a:pPr lvl="1"/>
            <a:r>
              <a:rPr lang="en-US" altLang="en-US"/>
              <a:t>Drop, rename, and truncate tables</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9D8CFA0E-7C6A-728A-B031-FF6C74F7A7DA}"/>
              </a:ext>
            </a:extLst>
          </p:cNvPr>
          <p:cNvSpPr>
            <a:spLocks noChangeArrowheads="1"/>
          </p:cNvSpPr>
          <p:nvPr/>
        </p:nvSpPr>
        <p:spPr bwMode="blackWhite">
          <a:xfrm>
            <a:off x="1179513" y="1595438"/>
            <a:ext cx="6786562" cy="3609975"/>
          </a:xfrm>
          <a:prstGeom prst="rect">
            <a:avLst/>
          </a:prstGeom>
          <a:solidFill>
            <a:srgbClr val="FFCC99"/>
          </a:solidFill>
          <a:ln w="25400">
            <a:solidFill>
              <a:srgbClr val="0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195" name="Rectangle 3">
            <a:extLst>
              <a:ext uri="{FF2B5EF4-FFF2-40B4-BE49-F238E27FC236}">
                <a16:creationId xmlns:a16="http://schemas.microsoft.com/office/drawing/2014/main" id="{468915C8-DAD7-DFAF-D0A6-F733BBD860E5}"/>
              </a:ext>
            </a:extLst>
          </p:cNvPr>
          <p:cNvSpPr>
            <a:spLocks noGrp="1" noChangeArrowheads="1"/>
          </p:cNvSpPr>
          <p:nvPr>
            <p:ph type="title"/>
          </p:nvPr>
        </p:nvSpPr>
        <p:spPr>
          <a:xfrm>
            <a:off x="323850" y="674688"/>
            <a:ext cx="3433763" cy="450850"/>
          </a:xfrm>
          <a:noFill/>
        </p:spPr>
        <p:txBody>
          <a:bodyPr lIns="92075" tIns="46038" rIns="92075" bIns="46038" anchor="t"/>
          <a:lstStyle/>
          <a:p>
            <a:r>
              <a:rPr lang="en-US" altLang="en-US" sz="2800">
                <a:solidFill>
                  <a:srgbClr val="800000"/>
                </a:solidFill>
              </a:rPr>
              <a:t>Database Objects</a:t>
            </a:r>
          </a:p>
        </p:txBody>
      </p:sp>
      <p:sp>
        <p:nvSpPr>
          <p:cNvPr id="8196" name="Line 4">
            <a:extLst>
              <a:ext uri="{FF2B5EF4-FFF2-40B4-BE49-F238E27FC236}">
                <a16:creationId xmlns:a16="http://schemas.microsoft.com/office/drawing/2014/main" id="{5D5828AC-5232-E334-8714-6DF6AFC20F96}"/>
              </a:ext>
            </a:extLst>
          </p:cNvPr>
          <p:cNvSpPr>
            <a:spLocks noChangeShapeType="1"/>
          </p:cNvSpPr>
          <p:nvPr/>
        </p:nvSpPr>
        <p:spPr bwMode="auto">
          <a:xfrm>
            <a:off x="1162050" y="3019425"/>
            <a:ext cx="681355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8197" name="Line 5">
            <a:extLst>
              <a:ext uri="{FF2B5EF4-FFF2-40B4-BE49-F238E27FC236}">
                <a16:creationId xmlns:a16="http://schemas.microsoft.com/office/drawing/2014/main" id="{13B60D17-A524-801C-33E7-479D8439E487}"/>
              </a:ext>
            </a:extLst>
          </p:cNvPr>
          <p:cNvSpPr>
            <a:spLocks noChangeShapeType="1"/>
          </p:cNvSpPr>
          <p:nvPr/>
        </p:nvSpPr>
        <p:spPr bwMode="auto">
          <a:xfrm>
            <a:off x="1162050" y="3876675"/>
            <a:ext cx="681990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8198" name="Line 6">
            <a:extLst>
              <a:ext uri="{FF2B5EF4-FFF2-40B4-BE49-F238E27FC236}">
                <a16:creationId xmlns:a16="http://schemas.microsoft.com/office/drawing/2014/main" id="{3DAE3764-65DE-540A-794A-F396BCD9AC14}"/>
              </a:ext>
            </a:extLst>
          </p:cNvPr>
          <p:cNvSpPr>
            <a:spLocks noChangeShapeType="1"/>
          </p:cNvSpPr>
          <p:nvPr/>
        </p:nvSpPr>
        <p:spPr bwMode="auto">
          <a:xfrm>
            <a:off x="1162050" y="4303713"/>
            <a:ext cx="681672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8199" name="Line 7">
            <a:extLst>
              <a:ext uri="{FF2B5EF4-FFF2-40B4-BE49-F238E27FC236}">
                <a16:creationId xmlns:a16="http://schemas.microsoft.com/office/drawing/2014/main" id="{71F1EF0F-86A9-EB87-1EE6-ADD313D2BEF2}"/>
              </a:ext>
            </a:extLst>
          </p:cNvPr>
          <p:cNvSpPr>
            <a:spLocks noChangeShapeType="1"/>
          </p:cNvSpPr>
          <p:nvPr/>
        </p:nvSpPr>
        <p:spPr bwMode="auto">
          <a:xfrm>
            <a:off x="1162050" y="4737100"/>
            <a:ext cx="681672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8200" name="Line 8">
            <a:extLst>
              <a:ext uri="{FF2B5EF4-FFF2-40B4-BE49-F238E27FC236}">
                <a16:creationId xmlns:a16="http://schemas.microsoft.com/office/drawing/2014/main" id="{A8FFA97D-A6C0-A987-EC5B-91F2F5DAFCE1}"/>
              </a:ext>
            </a:extLst>
          </p:cNvPr>
          <p:cNvSpPr>
            <a:spLocks noChangeShapeType="1"/>
          </p:cNvSpPr>
          <p:nvPr/>
        </p:nvSpPr>
        <p:spPr bwMode="auto">
          <a:xfrm>
            <a:off x="1181100" y="2151063"/>
            <a:ext cx="6797675"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50217" name="Rectangle 9">
            <a:extLst>
              <a:ext uri="{FF2B5EF4-FFF2-40B4-BE49-F238E27FC236}">
                <a16:creationId xmlns:a16="http://schemas.microsoft.com/office/drawing/2014/main" id="{E38841DF-7DD0-6E96-7EEB-8DDBB14DE97C}"/>
              </a:ext>
            </a:extLst>
          </p:cNvPr>
          <p:cNvSpPr>
            <a:spLocks noChangeArrowheads="1"/>
          </p:cNvSpPr>
          <p:nvPr/>
        </p:nvSpPr>
        <p:spPr bwMode="ltGray">
          <a:xfrm>
            <a:off x="1190625" y="2190750"/>
            <a:ext cx="6772275" cy="8191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202" name="Line 10">
            <a:extLst>
              <a:ext uri="{FF2B5EF4-FFF2-40B4-BE49-F238E27FC236}">
                <a16:creationId xmlns:a16="http://schemas.microsoft.com/office/drawing/2014/main" id="{C7CD58D8-498C-70D5-B43B-3F9175D07CFA}"/>
              </a:ext>
            </a:extLst>
          </p:cNvPr>
          <p:cNvSpPr>
            <a:spLocks noChangeShapeType="1"/>
          </p:cNvSpPr>
          <p:nvPr/>
        </p:nvSpPr>
        <p:spPr bwMode="auto">
          <a:xfrm flipV="1">
            <a:off x="2752725" y="1600200"/>
            <a:ext cx="0" cy="36195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8203" name="Rectangle 11">
            <a:extLst>
              <a:ext uri="{FF2B5EF4-FFF2-40B4-BE49-F238E27FC236}">
                <a16:creationId xmlns:a16="http://schemas.microsoft.com/office/drawing/2014/main" id="{29DED4CA-2DF6-03BC-7872-945C2B324B8A}"/>
              </a:ext>
            </a:extLst>
          </p:cNvPr>
          <p:cNvSpPr>
            <a:spLocks noChangeArrowheads="1"/>
          </p:cNvSpPr>
          <p:nvPr/>
        </p:nvSpPr>
        <p:spPr bwMode="blackWhite">
          <a:xfrm>
            <a:off x="1228725" y="1662113"/>
            <a:ext cx="6748463" cy="349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14300" defTabSz="919163">
              <a:spcBef>
                <a:spcPct val="20000"/>
              </a:spcBef>
              <a:buChar char="•"/>
              <a:tabLst>
                <a:tab pos="1658938" algn="l"/>
              </a:tabLst>
              <a:defRPr sz="2800">
                <a:solidFill>
                  <a:schemeClr val="tx1"/>
                </a:solidFill>
                <a:latin typeface="Arial" panose="020B0604020202020204" pitchFamily="34" charset="0"/>
              </a:defRPr>
            </a:lvl1pPr>
            <a:lvl2pPr marL="742950" indent="-285750" defTabSz="919163">
              <a:spcBef>
                <a:spcPct val="20000"/>
              </a:spcBef>
              <a:buChar char="–"/>
              <a:tabLst>
                <a:tab pos="1658938" algn="l"/>
              </a:tabLst>
              <a:defRPr sz="2400">
                <a:solidFill>
                  <a:schemeClr val="tx1"/>
                </a:solidFill>
                <a:latin typeface="Arial" panose="020B0604020202020204" pitchFamily="34" charset="0"/>
              </a:defRPr>
            </a:lvl2pPr>
            <a:lvl3pPr marL="1143000" indent="-228600" defTabSz="919163">
              <a:spcBef>
                <a:spcPct val="20000"/>
              </a:spcBef>
              <a:buChar char="•"/>
              <a:tabLst>
                <a:tab pos="1658938" algn="l"/>
              </a:tabLst>
              <a:defRPr sz="2000">
                <a:solidFill>
                  <a:schemeClr val="tx1"/>
                </a:solidFill>
                <a:latin typeface="Arial" panose="020B0604020202020204" pitchFamily="34" charset="0"/>
              </a:defRPr>
            </a:lvl3pPr>
            <a:lvl4pPr marL="1600200" indent="-228600" defTabSz="919163">
              <a:spcBef>
                <a:spcPct val="20000"/>
              </a:spcBef>
              <a:buChar char="–"/>
              <a:tabLst>
                <a:tab pos="1658938" algn="l"/>
              </a:tabLst>
              <a:defRPr sz="2000">
                <a:solidFill>
                  <a:schemeClr val="tx1"/>
                </a:solidFill>
                <a:latin typeface="Arial" panose="020B0604020202020204" pitchFamily="34" charset="0"/>
              </a:defRPr>
            </a:lvl4pPr>
            <a:lvl5pPr marL="2057400" indent="-228600" defTabSz="919163">
              <a:spcBef>
                <a:spcPct val="20000"/>
              </a:spcBef>
              <a:buChar char="»"/>
              <a:tabLst>
                <a:tab pos="1658938" algn="l"/>
              </a:tabLst>
              <a:defRPr sz="2000">
                <a:solidFill>
                  <a:schemeClr val="tx1"/>
                </a:solidFill>
                <a:latin typeface="Arial" panose="020B0604020202020204" pitchFamily="34" charset="0"/>
              </a:defRPr>
            </a:lvl5pPr>
            <a:lvl6pPr marL="2514600" indent="-228600" defTabSz="919163" eaLnBrk="0" fontAlgn="base" hangingPunct="0">
              <a:spcBef>
                <a:spcPct val="20000"/>
              </a:spcBef>
              <a:spcAft>
                <a:spcPct val="0"/>
              </a:spcAft>
              <a:buChar char="»"/>
              <a:tabLst>
                <a:tab pos="1658938" algn="l"/>
              </a:tabLst>
              <a:defRPr sz="2000">
                <a:solidFill>
                  <a:schemeClr val="tx1"/>
                </a:solidFill>
                <a:latin typeface="Arial" panose="020B0604020202020204" pitchFamily="34" charset="0"/>
              </a:defRPr>
            </a:lvl6pPr>
            <a:lvl7pPr marL="2971800" indent="-228600" defTabSz="919163" eaLnBrk="0" fontAlgn="base" hangingPunct="0">
              <a:spcBef>
                <a:spcPct val="20000"/>
              </a:spcBef>
              <a:spcAft>
                <a:spcPct val="0"/>
              </a:spcAft>
              <a:buChar char="»"/>
              <a:tabLst>
                <a:tab pos="1658938" algn="l"/>
              </a:tabLst>
              <a:defRPr sz="2000">
                <a:solidFill>
                  <a:schemeClr val="tx1"/>
                </a:solidFill>
                <a:latin typeface="Arial" panose="020B0604020202020204" pitchFamily="34" charset="0"/>
              </a:defRPr>
            </a:lvl7pPr>
            <a:lvl8pPr marL="3429000" indent="-228600" defTabSz="919163" eaLnBrk="0" fontAlgn="base" hangingPunct="0">
              <a:spcBef>
                <a:spcPct val="20000"/>
              </a:spcBef>
              <a:spcAft>
                <a:spcPct val="0"/>
              </a:spcAft>
              <a:buChar char="»"/>
              <a:tabLst>
                <a:tab pos="1658938" algn="l"/>
              </a:tabLst>
              <a:defRPr sz="2000">
                <a:solidFill>
                  <a:schemeClr val="tx1"/>
                </a:solidFill>
                <a:latin typeface="Arial" panose="020B0604020202020204" pitchFamily="34" charset="0"/>
              </a:defRPr>
            </a:lvl8pPr>
            <a:lvl9pPr marL="3886200" indent="-228600" defTabSz="919163" eaLnBrk="0" fontAlgn="base" hangingPunct="0">
              <a:spcBef>
                <a:spcPct val="20000"/>
              </a:spcBef>
              <a:spcAft>
                <a:spcPct val="0"/>
              </a:spcAft>
              <a:buChar char="»"/>
              <a:tabLst>
                <a:tab pos="1658938" algn="l"/>
              </a:tabLst>
              <a:defRPr sz="2000">
                <a:solidFill>
                  <a:schemeClr val="tx1"/>
                </a:solidFill>
                <a:latin typeface="Arial" panose="020B0604020202020204" pitchFamily="34" charset="0"/>
              </a:defRPr>
            </a:lvl9pPr>
          </a:lstStyle>
          <a:p>
            <a:pPr>
              <a:lnSpc>
                <a:spcPct val="150000"/>
              </a:lnSpc>
              <a:spcBef>
                <a:spcPct val="0"/>
              </a:spcBef>
              <a:buFontTx/>
              <a:buNone/>
            </a:pPr>
            <a:r>
              <a:rPr lang="en-US" altLang="en-US" sz="1800" b="1">
                <a:solidFill>
                  <a:srgbClr val="000000"/>
                </a:solidFill>
              </a:rPr>
              <a:t>Object	Description</a:t>
            </a:r>
          </a:p>
          <a:p>
            <a:pPr>
              <a:lnSpc>
                <a:spcPct val="150000"/>
              </a:lnSpc>
              <a:spcBef>
                <a:spcPct val="0"/>
              </a:spcBef>
              <a:buFontTx/>
              <a:buNone/>
            </a:pPr>
            <a:r>
              <a:rPr lang="en-US" altLang="en-US" sz="1800" b="1">
                <a:solidFill>
                  <a:srgbClr val="000000"/>
                </a:solidFill>
              </a:rPr>
              <a:t>Table	Basic unit of storage; composed of rows  		and columns</a:t>
            </a:r>
          </a:p>
          <a:p>
            <a:pPr>
              <a:lnSpc>
                <a:spcPct val="150000"/>
              </a:lnSpc>
              <a:spcBef>
                <a:spcPct val="0"/>
              </a:spcBef>
              <a:buFontTx/>
              <a:buNone/>
            </a:pPr>
            <a:r>
              <a:rPr lang="en-US" altLang="en-US" sz="1800" b="1">
                <a:solidFill>
                  <a:srgbClr val="000000"/>
                </a:solidFill>
              </a:rPr>
              <a:t>View 	Logically represents subsets of data from    	one or more tables</a:t>
            </a:r>
          </a:p>
          <a:p>
            <a:pPr>
              <a:lnSpc>
                <a:spcPct val="150000"/>
              </a:lnSpc>
              <a:spcBef>
                <a:spcPct val="0"/>
              </a:spcBef>
              <a:buFontTx/>
              <a:buNone/>
            </a:pPr>
            <a:r>
              <a:rPr lang="en-US" altLang="en-US" sz="1800" b="1">
                <a:solidFill>
                  <a:srgbClr val="000000"/>
                </a:solidFill>
              </a:rPr>
              <a:t>Sequence 	Generates primary key values</a:t>
            </a:r>
          </a:p>
          <a:p>
            <a:pPr>
              <a:lnSpc>
                <a:spcPct val="120000"/>
              </a:lnSpc>
              <a:spcBef>
                <a:spcPct val="35000"/>
              </a:spcBef>
              <a:buFontTx/>
              <a:buNone/>
            </a:pPr>
            <a:r>
              <a:rPr lang="en-US" altLang="en-US" sz="1800" b="1">
                <a:solidFill>
                  <a:srgbClr val="000000"/>
                </a:solidFill>
              </a:rPr>
              <a:t>Index	Improves the performance of some queries</a:t>
            </a:r>
          </a:p>
          <a:p>
            <a:pPr>
              <a:lnSpc>
                <a:spcPct val="150000"/>
              </a:lnSpc>
              <a:spcBef>
                <a:spcPct val="0"/>
              </a:spcBef>
              <a:buFontTx/>
              <a:buNone/>
            </a:pPr>
            <a:r>
              <a:rPr lang="en-US" altLang="en-US" sz="1800" b="1">
                <a:solidFill>
                  <a:srgbClr val="000000"/>
                </a:solidFill>
              </a:rPr>
              <a:t>Synonym 	Gives alternative names to objects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50217"/>
                                        </p:tgtEl>
                                        <p:attrNameLst>
                                          <p:attrName>style.visibility</p:attrName>
                                        </p:attrNameLst>
                                      </p:cBhvr>
                                      <p:to>
                                        <p:strVal val="visible"/>
                                      </p:to>
                                    </p:set>
                                    <p:animEffect transition="in" filter="wipe(up)">
                                      <p:cBhvr>
                                        <p:cTn id="7" dur="500"/>
                                        <p:tgtEl>
                                          <p:spTgt spid="350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6595E605-B818-C26E-0B99-2B1B035FDBCE}"/>
              </a:ext>
            </a:extLst>
          </p:cNvPr>
          <p:cNvSpPr>
            <a:spLocks noGrp="1" noChangeArrowheads="1"/>
          </p:cNvSpPr>
          <p:nvPr>
            <p:ph type="title"/>
          </p:nvPr>
        </p:nvSpPr>
        <p:spPr>
          <a:xfrm>
            <a:off x="361950" y="660400"/>
            <a:ext cx="3633788" cy="536575"/>
          </a:xfrm>
          <a:noFill/>
        </p:spPr>
        <p:txBody>
          <a:bodyPr lIns="92075" tIns="46038" rIns="92075" bIns="46038" anchor="t"/>
          <a:lstStyle/>
          <a:p>
            <a:r>
              <a:rPr lang="en-US" altLang="en-US" sz="2800">
                <a:solidFill>
                  <a:srgbClr val="800000"/>
                </a:solidFill>
              </a:rPr>
              <a:t>Naming Conventions</a:t>
            </a:r>
          </a:p>
        </p:txBody>
      </p:sp>
      <p:sp>
        <p:nvSpPr>
          <p:cNvPr id="10243" name="Rectangle 3">
            <a:extLst>
              <a:ext uri="{FF2B5EF4-FFF2-40B4-BE49-F238E27FC236}">
                <a16:creationId xmlns:a16="http://schemas.microsoft.com/office/drawing/2014/main" id="{DB9D1535-B0F7-C86C-4F06-E04F3160D827}"/>
              </a:ext>
            </a:extLst>
          </p:cNvPr>
          <p:cNvSpPr>
            <a:spLocks noGrp="1" noChangeArrowheads="1"/>
          </p:cNvSpPr>
          <p:nvPr>
            <p:ph type="body" idx="1"/>
          </p:nvPr>
        </p:nvSpPr>
        <p:spPr>
          <a:xfrm>
            <a:off x="539750" y="1484313"/>
            <a:ext cx="7920038" cy="3417887"/>
          </a:xfrm>
          <a:noFill/>
        </p:spPr>
        <p:txBody>
          <a:bodyPr lIns="92075" tIns="46038" rIns="92075" bIns="46038">
            <a:spAutoFit/>
          </a:bodyPr>
          <a:lstStyle/>
          <a:p>
            <a:pPr lvl="1">
              <a:buFont typeface="Arial" panose="020B0604020202020204" pitchFamily="34" charset="0"/>
              <a:buChar char="•"/>
            </a:pPr>
            <a:r>
              <a:rPr lang="en-US" altLang="en-US"/>
              <a:t>Must begin with a letter</a:t>
            </a:r>
          </a:p>
          <a:p>
            <a:pPr lvl="1">
              <a:buFont typeface="Arial" panose="020B0604020202020204" pitchFamily="34" charset="0"/>
              <a:buChar char="•"/>
            </a:pPr>
            <a:r>
              <a:rPr lang="en-US" altLang="en-US"/>
              <a:t>Can be 1–30 characters long</a:t>
            </a:r>
          </a:p>
          <a:p>
            <a:pPr lvl="1">
              <a:buFont typeface="Arial" panose="020B0604020202020204" pitchFamily="34" charset="0"/>
              <a:buChar char="•"/>
            </a:pPr>
            <a:r>
              <a:rPr lang="en-US" altLang="en-US"/>
              <a:t>Can contain only A–Z, a–z, 0–9, _, $, and #</a:t>
            </a:r>
          </a:p>
          <a:p>
            <a:pPr lvl="1">
              <a:buFont typeface="Arial" panose="020B0604020202020204" pitchFamily="34" charset="0"/>
              <a:buChar char="•"/>
            </a:pPr>
            <a:r>
              <a:rPr lang="en-US" altLang="en-US"/>
              <a:t>Names are not case sensitive (enclose names in double quotes to make them case sensitive)</a:t>
            </a:r>
          </a:p>
          <a:p>
            <a:pPr lvl="1">
              <a:buFont typeface="Arial" panose="020B0604020202020204" pitchFamily="34" charset="0"/>
              <a:buChar char="•"/>
            </a:pPr>
            <a:r>
              <a:rPr lang="en-US" altLang="en-US"/>
              <a:t>Must not duplicate the name of another object owned by the same user</a:t>
            </a:r>
          </a:p>
          <a:p>
            <a:pPr lvl="1">
              <a:buFont typeface="Arial" panose="020B0604020202020204" pitchFamily="34" charset="0"/>
              <a:buChar char="•"/>
            </a:pPr>
            <a:r>
              <a:rPr lang="en-US" altLang="en-US"/>
              <a:t>Must not be an Oracle Server reserved word</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E943968-968B-110F-FFE9-5CBA14C74F0B}"/>
              </a:ext>
            </a:extLst>
          </p:cNvPr>
          <p:cNvSpPr>
            <a:spLocks noGrp="1" noChangeArrowheads="1"/>
          </p:cNvSpPr>
          <p:nvPr>
            <p:ph type="title"/>
          </p:nvPr>
        </p:nvSpPr>
        <p:spPr>
          <a:xfrm>
            <a:off x="323850" y="660400"/>
            <a:ext cx="5434013" cy="536575"/>
          </a:xfrm>
          <a:noFill/>
        </p:spPr>
        <p:txBody>
          <a:bodyPr lIns="92075" tIns="46038" rIns="92075" bIns="46038" anchor="t"/>
          <a:lstStyle/>
          <a:p>
            <a:r>
              <a:rPr lang="en-US" altLang="en-US" sz="2800">
                <a:solidFill>
                  <a:srgbClr val="800000"/>
                </a:solidFill>
              </a:rPr>
              <a:t>The CREATE TABLE Statement</a:t>
            </a:r>
          </a:p>
        </p:txBody>
      </p:sp>
      <p:sp>
        <p:nvSpPr>
          <p:cNvPr id="12291" name="Rectangle 3">
            <a:extLst>
              <a:ext uri="{FF2B5EF4-FFF2-40B4-BE49-F238E27FC236}">
                <a16:creationId xmlns:a16="http://schemas.microsoft.com/office/drawing/2014/main" id="{3BD809A0-F397-2C92-9D86-D1D80D0B40A0}"/>
              </a:ext>
            </a:extLst>
          </p:cNvPr>
          <p:cNvSpPr>
            <a:spLocks noGrp="1" noChangeArrowheads="1"/>
          </p:cNvSpPr>
          <p:nvPr>
            <p:ph type="body" idx="1"/>
          </p:nvPr>
        </p:nvSpPr>
        <p:spPr>
          <a:xfrm>
            <a:off x="857250" y="1397000"/>
            <a:ext cx="8035925" cy="4838700"/>
          </a:xfrm>
          <a:noFill/>
        </p:spPr>
        <p:txBody>
          <a:bodyPr lIns="92075" tIns="46038" rIns="92075" bIns="46038">
            <a:spAutoFit/>
          </a:bodyPr>
          <a:lstStyle/>
          <a:p>
            <a:pPr lvl="1"/>
            <a:r>
              <a:rPr lang="en-US" altLang="en-US"/>
              <a:t>You must have :</a:t>
            </a:r>
          </a:p>
          <a:p>
            <a:pPr lvl="2"/>
            <a:r>
              <a:rPr lang="en-US" altLang="en-US"/>
              <a:t>CREATE TABLE privilege</a:t>
            </a:r>
          </a:p>
          <a:p>
            <a:pPr lvl="2"/>
            <a:r>
              <a:rPr lang="en-US" altLang="en-US"/>
              <a:t>A storage area</a:t>
            </a:r>
          </a:p>
          <a:p>
            <a:pPr lvl="2"/>
            <a:endParaRPr lang="en-US" altLang="en-US"/>
          </a:p>
          <a:p>
            <a:pPr lvl="2"/>
            <a:endParaRPr lang="en-US" altLang="en-US"/>
          </a:p>
          <a:p>
            <a:pPr lvl="2"/>
            <a:endParaRPr lang="en-US" altLang="en-US"/>
          </a:p>
          <a:p>
            <a:pPr lvl="2">
              <a:buFontTx/>
              <a:buNone/>
            </a:pPr>
            <a:endParaRPr lang="en-US" altLang="en-US"/>
          </a:p>
          <a:p>
            <a:pPr lvl="2">
              <a:buFontTx/>
              <a:buNone/>
            </a:pPr>
            <a:endParaRPr lang="en-US" altLang="en-US"/>
          </a:p>
          <a:p>
            <a:pPr lvl="2">
              <a:buFontTx/>
              <a:buNone/>
            </a:pPr>
            <a:r>
              <a:rPr lang="en-US" altLang="en-US"/>
              <a:t>You specify:</a:t>
            </a:r>
          </a:p>
          <a:p>
            <a:pPr lvl="2"/>
            <a:r>
              <a:rPr lang="en-US" altLang="en-US"/>
              <a:t>Table name</a:t>
            </a:r>
          </a:p>
          <a:p>
            <a:pPr lvl="2"/>
            <a:r>
              <a:rPr lang="en-US" altLang="en-US"/>
              <a:t>Column name, column data type, and column size</a:t>
            </a:r>
          </a:p>
          <a:p>
            <a:pPr lvl="2"/>
            <a:r>
              <a:rPr lang="en-US" altLang="en-US"/>
              <a:t>Size specifies the max. length of a column.</a:t>
            </a:r>
          </a:p>
          <a:p>
            <a:pPr lvl="2"/>
            <a:r>
              <a:rPr lang="en-US" altLang="en-US"/>
              <a:t>An oracle table can have up to 256 columns.</a:t>
            </a:r>
          </a:p>
        </p:txBody>
      </p:sp>
      <p:sp>
        <p:nvSpPr>
          <p:cNvPr id="12292" name="Rectangle 4">
            <a:extLst>
              <a:ext uri="{FF2B5EF4-FFF2-40B4-BE49-F238E27FC236}">
                <a16:creationId xmlns:a16="http://schemas.microsoft.com/office/drawing/2014/main" id="{D141A553-42A1-5910-2C72-E3FF5077D855}"/>
              </a:ext>
            </a:extLst>
          </p:cNvPr>
          <p:cNvSpPr>
            <a:spLocks noChangeArrowheads="1"/>
          </p:cNvSpPr>
          <p:nvPr/>
        </p:nvSpPr>
        <p:spPr bwMode="blackWhite">
          <a:xfrm>
            <a:off x="468313" y="2636838"/>
            <a:ext cx="8424862" cy="17287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2293" name="Rectangle 5">
            <a:extLst>
              <a:ext uri="{FF2B5EF4-FFF2-40B4-BE49-F238E27FC236}">
                <a16:creationId xmlns:a16="http://schemas.microsoft.com/office/drawing/2014/main" id="{C3268E44-2C87-D8D9-BC7D-7ACBA830BA19}"/>
              </a:ext>
            </a:extLst>
          </p:cNvPr>
          <p:cNvSpPr>
            <a:spLocks noChangeArrowheads="1"/>
          </p:cNvSpPr>
          <p:nvPr/>
        </p:nvSpPr>
        <p:spPr bwMode="blackWhite">
          <a:xfrm>
            <a:off x="646113" y="2676525"/>
            <a:ext cx="8174037"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i="1">
                <a:solidFill>
                  <a:srgbClr val="000000"/>
                </a:solidFill>
                <a:latin typeface="Courier New" panose="02070309020205020404" pitchFamily="49" charset="0"/>
              </a:rPr>
              <a:t>CREATE TABLE table_name</a:t>
            </a:r>
          </a:p>
          <a:p>
            <a:pPr>
              <a:spcBef>
                <a:spcPct val="0"/>
              </a:spcBef>
              <a:buFontTx/>
              <a:buNone/>
            </a:pPr>
            <a:r>
              <a:rPr lang="en-US" altLang="en-US" sz="1800" b="1" i="1">
                <a:solidFill>
                  <a:srgbClr val="000000"/>
                </a:solidFill>
                <a:latin typeface="Courier New" panose="02070309020205020404" pitchFamily="49" charset="0"/>
              </a:rPr>
              <a:t>(col_name1 datatype(size) [Default expr][Col Constraints],</a:t>
            </a:r>
          </a:p>
          <a:p>
            <a:pPr>
              <a:spcBef>
                <a:spcPct val="0"/>
              </a:spcBef>
              <a:buFontTx/>
              <a:buNone/>
            </a:pPr>
            <a:r>
              <a:rPr lang="en-US" altLang="en-US" sz="1800" b="1" i="1">
                <a:solidFill>
                  <a:srgbClr val="000000"/>
                </a:solidFill>
                <a:latin typeface="Courier New" panose="02070309020205020404" pitchFamily="49" charset="0"/>
              </a:rPr>
              <a:t> col_name2 datatype(size) [Default expr][Col Constraints],</a:t>
            </a:r>
          </a:p>
          <a:p>
            <a:pPr>
              <a:spcBef>
                <a:spcPct val="0"/>
              </a:spcBef>
              <a:buFontTx/>
              <a:buNone/>
            </a:pPr>
            <a:r>
              <a:rPr lang="en-US" altLang="en-US" sz="1800" b="1" i="1">
                <a:solidFill>
                  <a:srgbClr val="000000"/>
                </a:solidFill>
                <a:latin typeface="Courier New" panose="02070309020205020404" pitchFamily="49" charset="0"/>
              </a:rPr>
              <a:t>      </a:t>
            </a:r>
            <a:r>
              <a:rPr lang="en-US" altLang="en-US" sz="1800" b="1" i="1">
                <a:solidFill>
                  <a:srgbClr val="000000"/>
                </a:solidFill>
              </a:rPr>
              <a:t>…………</a:t>
            </a:r>
            <a:r>
              <a:rPr lang="en-US" altLang="en-US" sz="1800" b="1" i="1">
                <a:solidFill>
                  <a:srgbClr val="000000"/>
                </a:solidFill>
                <a:latin typeface="Courier New" panose="02070309020205020404" pitchFamily="49" charset="0"/>
              </a:rPr>
              <a:t>      </a:t>
            </a:r>
          </a:p>
          <a:p>
            <a:pPr>
              <a:spcBef>
                <a:spcPct val="0"/>
              </a:spcBef>
              <a:buFontTx/>
              <a:buNone/>
            </a:pPr>
            <a:r>
              <a:rPr lang="en-US" altLang="en-US" sz="1800" b="1" i="1">
                <a:solidFill>
                  <a:srgbClr val="000000"/>
                </a:solidFill>
                <a:latin typeface="Courier New" panose="02070309020205020404" pitchFamily="49" charset="0"/>
              </a:rPr>
              <a:t>[Table Constraints]); </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D5766B08-405F-A554-968E-DEBA2A05AA33}"/>
              </a:ext>
            </a:extLst>
          </p:cNvPr>
          <p:cNvSpPr>
            <a:spLocks noChangeArrowheads="1"/>
          </p:cNvSpPr>
          <p:nvPr/>
        </p:nvSpPr>
        <p:spPr bwMode="blackWhite">
          <a:xfrm>
            <a:off x="925513" y="1471613"/>
            <a:ext cx="7294562" cy="2190750"/>
          </a:xfrm>
          <a:prstGeom prst="rect">
            <a:avLst/>
          </a:prstGeom>
          <a:solidFill>
            <a:srgbClr val="FFCC99"/>
          </a:solidFill>
          <a:ln w="25400">
            <a:solidFill>
              <a:srgbClr val="0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4339" name="Rectangle 3">
            <a:extLst>
              <a:ext uri="{FF2B5EF4-FFF2-40B4-BE49-F238E27FC236}">
                <a16:creationId xmlns:a16="http://schemas.microsoft.com/office/drawing/2014/main" id="{48EE41FD-F62F-5F19-AFEF-AD07ED40C1E2}"/>
              </a:ext>
            </a:extLst>
          </p:cNvPr>
          <p:cNvSpPr>
            <a:spLocks noGrp="1" noChangeArrowheads="1"/>
          </p:cNvSpPr>
          <p:nvPr>
            <p:ph type="title"/>
          </p:nvPr>
        </p:nvSpPr>
        <p:spPr>
          <a:xfrm>
            <a:off x="323850" y="623888"/>
            <a:ext cx="2085975" cy="501650"/>
          </a:xfrm>
          <a:noFill/>
        </p:spPr>
        <p:txBody>
          <a:bodyPr lIns="92075" tIns="46038" rIns="92075" bIns="46038" anchor="t"/>
          <a:lstStyle/>
          <a:p>
            <a:r>
              <a:rPr lang="en-US" altLang="en-US" sz="2800" dirty="0">
                <a:solidFill>
                  <a:srgbClr val="800000"/>
                </a:solidFill>
              </a:rPr>
              <a:t>Data Types</a:t>
            </a:r>
          </a:p>
        </p:txBody>
      </p:sp>
      <p:sp>
        <p:nvSpPr>
          <p:cNvPr id="14340" name="Rectangle 4">
            <a:extLst>
              <a:ext uri="{FF2B5EF4-FFF2-40B4-BE49-F238E27FC236}">
                <a16:creationId xmlns:a16="http://schemas.microsoft.com/office/drawing/2014/main" id="{CDFFFDB5-09E9-BA0F-51D9-80FF2A0536DC}"/>
              </a:ext>
            </a:extLst>
          </p:cNvPr>
          <p:cNvSpPr>
            <a:spLocks noChangeArrowheads="1"/>
          </p:cNvSpPr>
          <p:nvPr/>
        </p:nvSpPr>
        <p:spPr bwMode="blackWhite">
          <a:xfrm>
            <a:off x="1076325" y="1655763"/>
            <a:ext cx="6872288" cy="225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2684463" algn="l"/>
              </a:tabLst>
              <a:defRPr sz="2800">
                <a:solidFill>
                  <a:schemeClr val="tx1"/>
                </a:solidFill>
                <a:latin typeface="Arial" panose="020B0604020202020204" pitchFamily="34" charset="0"/>
              </a:defRPr>
            </a:lvl1pPr>
            <a:lvl2pPr marL="742950" indent="-285750">
              <a:spcBef>
                <a:spcPct val="20000"/>
              </a:spcBef>
              <a:buChar char="–"/>
              <a:tabLst>
                <a:tab pos="2684463" algn="l"/>
              </a:tabLst>
              <a:defRPr sz="2400">
                <a:solidFill>
                  <a:schemeClr val="tx1"/>
                </a:solidFill>
                <a:latin typeface="Arial" panose="020B0604020202020204" pitchFamily="34" charset="0"/>
              </a:defRPr>
            </a:lvl2pPr>
            <a:lvl3pPr marL="1143000" indent="-228600">
              <a:spcBef>
                <a:spcPct val="20000"/>
              </a:spcBef>
              <a:buChar char="•"/>
              <a:tabLst>
                <a:tab pos="2684463" algn="l"/>
              </a:tabLst>
              <a:defRPr sz="2000">
                <a:solidFill>
                  <a:schemeClr val="tx1"/>
                </a:solidFill>
                <a:latin typeface="Arial" panose="020B0604020202020204" pitchFamily="34" charset="0"/>
              </a:defRPr>
            </a:lvl3pPr>
            <a:lvl4pPr marL="1600200" indent="-228600">
              <a:spcBef>
                <a:spcPct val="20000"/>
              </a:spcBef>
              <a:buChar char="–"/>
              <a:tabLst>
                <a:tab pos="2684463" algn="l"/>
              </a:tabLst>
              <a:defRPr sz="2000">
                <a:solidFill>
                  <a:schemeClr val="tx1"/>
                </a:solidFill>
                <a:latin typeface="Arial" panose="020B0604020202020204" pitchFamily="34" charset="0"/>
              </a:defRPr>
            </a:lvl4pPr>
            <a:lvl5pPr marL="2057400" indent="-228600">
              <a:spcBef>
                <a:spcPct val="20000"/>
              </a:spcBef>
              <a:buChar char="»"/>
              <a:tabLst>
                <a:tab pos="26844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9pPr>
          </a:lstStyle>
          <a:p>
            <a:pPr>
              <a:lnSpc>
                <a:spcPct val="90000"/>
              </a:lnSpc>
              <a:spcBef>
                <a:spcPct val="60000"/>
              </a:spcBef>
              <a:buFontTx/>
              <a:buNone/>
            </a:pPr>
            <a:r>
              <a:rPr lang="en-US" altLang="en-US" sz="1800" b="1">
                <a:solidFill>
                  <a:schemeClr val="accent2"/>
                </a:solidFill>
              </a:rPr>
              <a:t>Datatype	Description</a:t>
            </a:r>
          </a:p>
          <a:p>
            <a:pPr>
              <a:lnSpc>
                <a:spcPct val="90000"/>
              </a:lnSpc>
              <a:spcBef>
                <a:spcPct val="60000"/>
              </a:spcBef>
              <a:buFontTx/>
              <a:buNone/>
            </a:pPr>
            <a:r>
              <a:rPr lang="en-US" altLang="en-US" sz="1800" b="1">
                <a:solidFill>
                  <a:srgbClr val="000000"/>
                </a:solidFill>
              </a:rPr>
              <a:t>VARCHAR2(</a:t>
            </a:r>
            <a:r>
              <a:rPr lang="en-US" altLang="en-US" sz="1800" b="1" i="1">
                <a:solidFill>
                  <a:srgbClr val="000000"/>
                </a:solidFill>
              </a:rPr>
              <a:t>size</a:t>
            </a:r>
            <a:r>
              <a:rPr lang="en-US" altLang="en-US" sz="1800" b="1">
                <a:solidFill>
                  <a:srgbClr val="000000"/>
                </a:solidFill>
              </a:rPr>
              <a:t>)	Variable-length character data</a:t>
            </a:r>
          </a:p>
          <a:p>
            <a:pPr>
              <a:lnSpc>
                <a:spcPct val="90000"/>
              </a:lnSpc>
              <a:spcBef>
                <a:spcPct val="60000"/>
              </a:spcBef>
              <a:buFontTx/>
              <a:buNone/>
            </a:pPr>
            <a:r>
              <a:rPr lang="en-US" altLang="en-US" sz="1800" b="1">
                <a:solidFill>
                  <a:srgbClr val="000000"/>
                </a:solidFill>
              </a:rPr>
              <a:t>CHAR(</a:t>
            </a:r>
            <a:r>
              <a:rPr lang="en-US" altLang="en-US" sz="1800" b="1" i="1">
                <a:solidFill>
                  <a:srgbClr val="000000"/>
                </a:solidFill>
              </a:rPr>
              <a:t>size</a:t>
            </a:r>
            <a:r>
              <a:rPr lang="en-US" altLang="en-US" sz="1800" b="1">
                <a:solidFill>
                  <a:srgbClr val="000000"/>
                </a:solidFill>
              </a:rPr>
              <a:t>)  	Fixed-length character data</a:t>
            </a:r>
          </a:p>
          <a:p>
            <a:pPr>
              <a:lnSpc>
                <a:spcPct val="90000"/>
              </a:lnSpc>
              <a:spcBef>
                <a:spcPct val="60000"/>
              </a:spcBef>
              <a:buFontTx/>
              <a:buNone/>
            </a:pPr>
            <a:r>
              <a:rPr lang="en-US" altLang="en-US" sz="1800" b="1">
                <a:solidFill>
                  <a:srgbClr val="000000"/>
                </a:solidFill>
              </a:rPr>
              <a:t>NUMBER(</a:t>
            </a:r>
            <a:r>
              <a:rPr lang="en-US" altLang="en-US" sz="1800" b="1" i="1">
                <a:solidFill>
                  <a:srgbClr val="000000"/>
                </a:solidFill>
              </a:rPr>
              <a:t>p</a:t>
            </a:r>
            <a:r>
              <a:rPr lang="en-US" altLang="en-US" sz="1800" b="1">
                <a:solidFill>
                  <a:srgbClr val="000000"/>
                </a:solidFill>
              </a:rPr>
              <a:t>,</a:t>
            </a:r>
            <a:r>
              <a:rPr lang="en-US" altLang="en-US" sz="1800" b="1" i="1">
                <a:solidFill>
                  <a:srgbClr val="000000"/>
                </a:solidFill>
              </a:rPr>
              <a:t>s)</a:t>
            </a:r>
            <a:r>
              <a:rPr lang="en-US" altLang="en-US" sz="1800" b="1">
                <a:solidFill>
                  <a:srgbClr val="000000"/>
                </a:solidFill>
              </a:rPr>
              <a:t>  	Variable-length numeric data</a:t>
            </a:r>
          </a:p>
          <a:p>
            <a:pPr>
              <a:lnSpc>
                <a:spcPct val="90000"/>
              </a:lnSpc>
              <a:spcBef>
                <a:spcPct val="60000"/>
              </a:spcBef>
              <a:buFontTx/>
              <a:buNone/>
            </a:pPr>
            <a:r>
              <a:rPr lang="en-US" altLang="en-US" sz="1800" b="1">
                <a:solidFill>
                  <a:srgbClr val="000000"/>
                </a:solidFill>
              </a:rPr>
              <a:t>DATE 	Date and time values			</a:t>
            </a:r>
          </a:p>
        </p:txBody>
      </p:sp>
      <p:sp>
        <p:nvSpPr>
          <p:cNvPr id="14341" name="Line 5">
            <a:extLst>
              <a:ext uri="{FF2B5EF4-FFF2-40B4-BE49-F238E27FC236}">
                <a16:creationId xmlns:a16="http://schemas.microsoft.com/office/drawing/2014/main" id="{8A3E3324-FC9C-B2AC-5B69-481AFDBDBD42}"/>
              </a:ext>
            </a:extLst>
          </p:cNvPr>
          <p:cNvSpPr>
            <a:spLocks noChangeShapeType="1"/>
          </p:cNvSpPr>
          <p:nvPr/>
        </p:nvSpPr>
        <p:spPr bwMode="auto">
          <a:xfrm>
            <a:off x="939800" y="2419350"/>
            <a:ext cx="72929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4342" name="Line 6">
            <a:extLst>
              <a:ext uri="{FF2B5EF4-FFF2-40B4-BE49-F238E27FC236}">
                <a16:creationId xmlns:a16="http://schemas.microsoft.com/office/drawing/2014/main" id="{3E62E69E-E95B-E7F6-C7E1-2C4715828214}"/>
              </a:ext>
            </a:extLst>
          </p:cNvPr>
          <p:cNvSpPr>
            <a:spLocks noChangeShapeType="1"/>
          </p:cNvSpPr>
          <p:nvPr/>
        </p:nvSpPr>
        <p:spPr bwMode="auto">
          <a:xfrm>
            <a:off x="939800" y="2008188"/>
            <a:ext cx="7292975"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4343" name="Line 7">
            <a:extLst>
              <a:ext uri="{FF2B5EF4-FFF2-40B4-BE49-F238E27FC236}">
                <a16:creationId xmlns:a16="http://schemas.microsoft.com/office/drawing/2014/main" id="{DAEF480D-9D62-9325-A6C1-4B6F8F1AEEC2}"/>
              </a:ext>
            </a:extLst>
          </p:cNvPr>
          <p:cNvSpPr>
            <a:spLocks noChangeShapeType="1"/>
          </p:cNvSpPr>
          <p:nvPr/>
        </p:nvSpPr>
        <p:spPr bwMode="auto">
          <a:xfrm flipH="1" flipV="1">
            <a:off x="3643313" y="1501775"/>
            <a:ext cx="11112" cy="211455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4344" name="Line 8">
            <a:extLst>
              <a:ext uri="{FF2B5EF4-FFF2-40B4-BE49-F238E27FC236}">
                <a16:creationId xmlns:a16="http://schemas.microsoft.com/office/drawing/2014/main" id="{3C3CAB35-BFF2-C16B-CEF2-C15650438668}"/>
              </a:ext>
            </a:extLst>
          </p:cNvPr>
          <p:cNvSpPr>
            <a:spLocks noChangeShapeType="1"/>
          </p:cNvSpPr>
          <p:nvPr/>
        </p:nvSpPr>
        <p:spPr bwMode="auto">
          <a:xfrm>
            <a:off x="939800" y="2851150"/>
            <a:ext cx="72929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4345" name="Line 9">
            <a:extLst>
              <a:ext uri="{FF2B5EF4-FFF2-40B4-BE49-F238E27FC236}">
                <a16:creationId xmlns:a16="http://schemas.microsoft.com/office/drawing/2014/main" id="{45F7DD0C-587E-DFC1-4A8F-ABB2BCC6B8FD}"/>
              </a:ext>
            </a:extLst>
          </p:cNvPr>
          <p:cNvSpPr>
            <a:spLocks noChangeShapeType="1"/>
          </p:cNvSpPr>
          <p:nvPr/>
        </p:nvSpPr>
        <p:spPr bwMode="auto">
          <a:xfrm>
            <a:off x="939800" y="3255963"/>
            <a:ext cx="72929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rc 6">
            <a:extLst>
              <a:ext uri="{FF2B5EF4-FFF2-40B4-BE49-F238E27FC236}">
                <a16:creationId xmlns:a16="http://schemas.microsoft.com/office/drawing/2014/main" id="{26B29D62-A89B-4ACB-90A5-48815C5D7AF9}"/>
              </a:ext>
            </a:extLst>
          </p:cNvPr>
          <p:cNvSpPr>
            <a:spLocks/>
          </p:cNvSpPr>
          <p:nvPr/>
        </p:nvSpPr>
        <p:spPr bwMode="ltGray">
          <a:xfrm>
            <a:off x="5316538" y="1238250"/>
            <a:ext cx="211137" cy="225425"/>
          </a:xfrm>
          <a:custGeom>
            <a:avLst/>
            <a:gdLst>
              <a:gd name="T0" fmla="*/ 2147483646 w 21600"/>
              <a:gd name="T1" fmla="*/ 2147483646 h 21600"/>
              <a:gd name="T2" fmla="*/ 0 w 21600"/>
              <a:gd name="T3" fmla="*/ 0 h 21600"/>
              <a:gd name="T4" fmla="*/ 2147483646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20483" name="Rectangle 7">
            <a:extLst>
              <a:ext uri="{FF2B5EF4-FFF2-40B4-BE49-F238E27FC236}">
                <a16:creationId xmlns:a16="http://schemas.microsoft.com/office/drawing/2014/main" id="{337DB399-20ED-0350-BCA5-3000FFFCE9CC}"/>
              </a:ext>
            </a:extLst>
          </p:cNvPr>
          <p:cNvSpPr>
            <a:spLocks noGrp="1" noChangeArrowheads="1"/>
          </p:cNvSpPr>
          <p:nvPr>
            <p:ph type="title"/>
          </p:nvPr>
        </p:nvSpPr>
        <p:spPr>
          <a:xfrm>
            <a:off x="323850" y="693738"/>
            <a:ext cx="5534025" cy="431800"/>
          </a:xfrm>
          <a:noFill/>
        </p:spPr>
        <p:txBody>
          <a:bodyPr lIns="92075" tIns="46038" rIns="92075" bIns="46038" anchor="t"/>
          <a:lstStyle/>
          <a:p>
            <a:r>
              <a:rPr lang="en-US" altLang="en-US" sz="2800" dirty="0">
                <a:solidFill>
                  <a:srgbClr val="800000"/>
                </a:solidFill>
              </a:rPr>
              <a:t>Data Types</a:t>
            </a:r>
          </a:p>
        </p:txBody>
      </p:sp>
      <p:graphicFrame>
        <p:nvGraphicFramePr>
          <p:cNvPr id="2" name="Table 1">
            <a:extLst>
              <a:ext uri="{FF2B5EF4-FFF2-40B4-BE49-F238E27FC236}">
                <a16:creationId xmlns:a16="http://schemas.microsoft.com/office/drawing/2014/main" id="{58309180-60F2-56AA-AF65-38C34ADBA98F}"/>
              </a:ext>
            </a:extLst>
          </p:cNvPr>
          <p:cNvGraphicFramePr>
            <a:graphicFrameLocks noGrp="1"/>
          </p:cNvGraphicFramePr>
          <p:nvPr>
            <p:extLst>
              <p:ext uri="{D42A27DB-BD31-4B8C-83A1-F6EECF244321}">
                <p14:modId xmlns:p14="http://schemas.microsoft.com/office/powerpoint/2010/main" val="2171252639"/>
              </p:ext>
            </p:extLst>
          </p:nvPr>
        </p:nvGraphicFramePr>
        <p:xfrm>
          <a:off x="107504" y="1258888"/>
          <a:ext cx="8856984" cy="4937720"/>
        </p:xfrm>
        <a:graphic>
          <a:graphicData uri="http://schemas.openxmlformats.org/drawingml/2006/table">
            <a:tbl>
              <a:tblPr firstRow="1" bandRow="1">
                <a:tableStyleId>{5C22544A-7EE6-4342-B048-85BDC9FD1C3A}</a:tableStyleId>
              </a:tblPr>
              <a:tblGrid>
                <a:gridCol w="2592288">
                  <a:extLst>
                    <a:ext uri="{9D8B030D-6E8A-4147-A177-3AD203B41FA5}">
                      <a16:colId xmlns:a16="http://schemas.microsoft.com/office/drawing/2014/main" val="20000"/>
                    </a:ext>
                  </a:extLst>
                </a:gridCol>
                <a:gridCol w="4030789">
                  <a:extLst>
                    <a:ext uri="{9D8B030D-6E8A-4147-A177-3AD203B41FA5}">
                      <a16:colId xmlns:a16="http://schemas.microsoft.com/office/drawing/2014/main" val="20001"/>
                    </a:ext>
                  </a:extLst>
                </a:gridCol>
                <a:gridCol w="2233907">
                  <a:extLst>
                    <a:ext uri="{9D8B030D-6E8A-4147-A177-3AD203B41FA5}">
                      <a16:colId xmlns:a16="http://schemas.microsoft.com/office/drawing/2014/main" val="20002"/>
                    </a:ext>
                  </a:extLst>
                </a:gridCol>
              </a:tblGrid>
              <a:tr h="365747">
                <a:tc>
                  <a:txBody>
                    <a:bodyPr/>
                    <a:lstStyle/>
                    <a:p>
                      <a:pPr algn="ctr"/>
                      <a:r>
                        <a:rPr lang="en-US" sz="2000" dirty="0">
                          <a:solidFill>
                            <a:schemeClr val="accent2"/>
                          </a:solidFill>
                        </a:rPr>
                        <a:t>Data Type</a:t>
                      </a:r>
                    </a:p>
                  </a:txBody>
                  <a:tcPr marL="91434" marR="91434"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accent2"/>
                          </a:solidFill>
                        </a:rPr>
                        <a:t>Description</a:t>
                      </a:r>
                    </a:p>
                  </a:txBody>
                  <a:tcPr marL="91434" marR="91434"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accent2"/>
                          </a:solidFill>
                        </a:rPr>
                        <a:t>Examples</a:t>
                      </a:r>
                    </a:p>
                  </a:txBody>
                  <a:tcPr marL="91434" marR="91434"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14382">
                <a:tc>
                  <a:txBody>
                    <a:bodyPr/>
                    <a:lstStyle/>
                    <a:p>
                      <a:pPr algn="ctr"/>
                      <a:r>
                        <a:rPr lang="en-US" sz="2000" dirty="0">
                          <a:solidFill>
                            <a:schemeClr val="tx1"/>
                          </a:solidFill>
                        </a:rPr>
                        <a:t>CHAR [(&lt;size&gt;)]</a:t>
                      </a:r>
                    </a:p>
                  </a:txBody>
                  <a:tcPr marL="91434" marR="91434" marT="45715" marB="4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0188" indent="-230188">
                        <a:buFont typeface="Arial" panose="020B0604020202020204" pitchFamily="34" charset="0"/>
                        <a:buChar char="•"/>
                      </a:pPr>
                      <a:r>
                        <a:rPr lang="en-US" sz="2000" dirty="0">
                          <a:solidFill>
                            <a:schemeClr val="tx1"/>
                          </a:solidFill>
                        </a:rPr>
                        <a:t>Fixed Length</a:t>
                      </a:r>
                    </a:p>
                    <a:p>
                      <a:pPr marL="230188" indent="-230188">
                        <a:buFont typeface="Arial" panose="020B0604020202020204" pitchFamily="34" charset="0"/>
                        <a:buChar char="•"/>
                      </a:pPr>
                      <a:r>
                        <a:rPr lang="en-US" sz="2000" dirty="0">
                          <a:solidFill>
                            <a:schemeClr val="tx1"/>
                          </a:solidFill>
                        </a:rPr>
                        <a:t>Blank-padded</a:t>
                      </a:r>
                    </a:p>
                    <a:p>
                      <a:pPr marL="230188" indent="-230188">
                        <a:buFont typeface="Arial" panose="020B0604020202020204" pitchFamily="34" charset="0"/>
                        <a:buChar char="•"/>
                      </a:pPr>
                      <a:r>
                        <a:rPr lang="en-US" sz="2000" dirty="0">
                          <a:solidFill>
                            <a:schemeClr val="tx1"/>
                          </a:solidFill>
                        </a:rPr>
                        <a:t>Max Length = 2000 characters</a:t>
                      </a:r>
                    </a:p>
                    <a:p>
                      <a:pPr marL="230188" indent="-230188">
                        <a:buFont typeface="Arial" panose="020B0604020202020204" pitchFamily="34" charset="0"/>
                        <a:buChar char="•"/>
                      </a:pPr>
                      <a:r>
                        <a:rPr lang="en-US" sz="2000" dirty="0">
                          <a:solidFill>
                            <a:schemeClr val="tx1"/>
                          </a:solidFill>
                        </a:rPr>
                        <a:t>Default size = 1 Byte</a:t>
                      </a:r>
                    </a:p>
                  </a:txBody>
                  <a:tcPr marL="91434" marR="91434" marT="45715" marB="4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solidFill>
                            <a:schemeClr val="tx1"/>
                          </a:solidFill>
                        </a:rPr>
                        <a:t>id CHAR(5)</a:t>
                      </a:r>
                    </a:p>
                    <a:p>
                      <a:r>
                        <a:rPr lang="en-US" sz="2000" dirty="0">
                          <a:solidFill>
                            <a:schemeClr val="tx1"/>
                          </a:solidFill>
                        </a:rPr>
                        <a:t>status CHAR</a:t>
                      </a:r>
                    </a:p>
                  </a:txBody>
                  <a:tcPr marL="91434" marR="91434" marT="45715" marB="4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640065">
                <a:tc>
                  <a:txBody>
                    <a:bodyPr/>
                    <a:lstStyle/>
                    <a:p>
                      <a:pPr algn="ctr"/>
                      <a:r>
                        <a:rPr lang="en-US" sz="2000" dirty="0">
                          <a:solidFill>
                            <a:schemeClr val="tx1"/>
                          </a:solidFill>
                        </a:rPr>
                        <a:t>VARCHAR (</a:t>
                      </a:r>
                      <a:r>
                        <a:rPr lang="en-US" sz="2000" dirty="0">
                          <a:solidFill>
                            <a:srgbClr val="FF0000"/>
                          </a:solidFill>
                        </a:rPr>
                        <a:t>&lt;size&gt;</a:t>
                      </a:r>
                      <a:r>
                        <a:rPr lang="en-US" sz="2000" dirty="0">
                          <a:solidFill>
                            <a:schemeClr val="tx1"/>
                          </a:solidFill>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VARCHAR2 (</a:t>
                      </a:r>
                      <a:r>
                        <a:rPr lang="en-US" sz="2000" dirty="0">
                          <a:solidFill>
                            <a:srgbClr val="FF0000"/>
                          </a:solidFill>
                        </a:rPr>
                        <a:t>&lt;size&gt;</a:t>
                      </a:r>
                      <a:r>
                        <a:rPr lang="en-US" sz="2000" dirty="0">
                          <a:solidFill>
                            <a:schemeClr val="tx1"/>
                          </a:solidFill>
                        </a:rPr>
                        <a:t>)</a:t>
                      </a:r>
                    </a:p>
                  </a:txBody>
                  <a:tcPr marL="91434" marR="91434" marT="45715" marB="4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230188" indent="-230188" algn="l" defTabSz="914400" rtl="0" eaLnBrk="1" latinLnBrk="0" hangingPunct="1">
                        <a:buFont typeface="Arial" panose="020B0604020202020204" pitchFamily="34" charset="0"/>
                        <a:buChar char="•"/>
                      </a:pPr>
                      <a:r>
                        <a:rPr lang="en-US" sz="2000" kern="1200" dirty="0">
                          <a:solidFill>
                            <a:schemeClr val="tx1"/>
                          </a:solidFill>
                          <a:latin typeface="+mn-lt"/>
                          <a:ea typeface="+mn-ea"/>
                          <a:cs typeface="+mn-cs"/>
                        </a:rPr>
                        <a:t>Variable Length Character</a:t>
                      </a:r>
                    </a:p>
                    <a:p>
                      <a:pPr marL="230188" indent="-230188" algn="l" defTabSz="914400" rtl="0" eaLnBrk="1" latinLnBrk="0" hangingPunct="1">
                        <a:buFont typeface="Arial" panose="020B0604020202020204" pitchFamily="34" charset="0"/>
                        <a:buChar char="•"/>
                      </a:pPr>
                      <a:r>
                        <a:rPr lang="en-US" sz="2000" kern="1200" dirty="0">
                          <a:solidFill>
                            <a:schemeClr val="tx1"/>
                          </a:solidFill>
                          <a:latin typeface="+mn-lt"/>
                          <a:ea typeface="+mn-ea"/>
                          <a:cs typeface="+mn-cs"/>
                        </a:rPr>
                        <a:t>Not blank-padded</a:t>
                      </a:r>
                    </a:p>
                    <a:p>
                      <a:pPr marL="230188" indent="-230188" algn="l" defTabSz="914400" rtl="0" eaLnBrk="1" latinLnBrk="0" hangingPunct="1">
                        <a:buFont typeface="Arial" panose="020B0604020202020204" pitchFamily="34" charset="0"/>
                        <a:buChar char="•"/>
                      </a:pPr>
                      <a:r>
                        <a:rPr lang="en-US" sz="2000" kern="1200" dirty="0">
                          <a:solidFill>
                            <a:schemeClr val="tx1"/>
                          </a:solidFill>
                          <a:latin typeface="+mn-lt"/>
                          <a:ea typeface="+mn-ea"/>
                          <a:cs typeface="+mn-cs"/>
                        </a:rPr>
                        <a:t>Max Length = 4000 characters</a:t>
                      </a:r>
                    </a:p>
                    <a:p>
                      <a:pPr marL="230188" indent="-230188" algn="l" defTabSz="914400" rtl="0" eaLnBrk="1" latinLnBrk="0" hangingPunct="1">
                        <a:buFont typeface="Arial" panose="020B0604020202020204" pitchFamily="34" charset="0"/>
                        <a:buChar char="•"/>
                      </a:pPr>
                      <a:r>
                        <a:rPr lang="en-US" sz="2000" kern="1200" dirty="0">
                          <a:solidFill>
                            <a:schemeClr val="tx1"/>
                          </a:solidFill>
                          <a:latin typeface="+mn-lt"/>
                          <a:ea typeface="+mn-ea"/>
                          <a:cs typeface="+mn-cs"/>
                        </a:rPr>
                        <a:t>Size must be specified</a:t>
                      </a:r>
                    </a:p>
                    <a:p>
                      <a:pPr marL="230188" indent="-230188" algn="l" defTabSz="914400" rtl="0" eaLnBrk="1" latinLnBrk="0" hangingPunct="1">
                        <a:buFont typeface="Arial" panose="020B0604020202020204" pitchFamily="34" charset="0"/>
                        <a:buChar char="•"/>
                      </a:pPr>
                      <a:r>
                        <a:rPr lang="en-US" sz="2000" kern="1200" dirty="0">
                          <a:solidFill>
                            <a:schemeClr val="tx1"/>
                          </a:solidFill>
                          <a:latin typeface="+mn-lt"/>
                          <a:ea typeface="+mn-ea"/>
                          <a:cs typeface="+mn-cs"/>
                        </a:rPr>
                        <a:t>VARCHAR2 is recommended for upward compatibility</a:t>
                      </a:r>
                    </a:p>
                  </a:txBody>
                  <a:tcPr marL="91434" marR="91434" marT="45715" marB="4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sz="2000" dirty="0">
                        <a:solidFill>
                          <a:schemeClr val="tx1"/>
                        </a:solidFill>
                      </a:endParaRPr>
                    </a:p>
                  </a:txBody>
                  <a:tcPr marL="91434" marR="91434" marT="45715" marB="4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640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NUMBER [(</a:t>
                      </a:r>
                      <a:r>
                        <a:rPr lang="en-US" sz="2000" dirty="0">
                          <a:solidFill>
                            <a:srgbClr val="FF0000"/>
                          </a:solidFill>
                        </a:rPr>
                        <a:t>&lt;</a:t>
                      </a:r>
                      <a:r>
                        <a:rPr lang="en-US" sz="2000" dirty="0" err="1">
                          <a:solidFill>
                            <a:srgbClr val="FF0000"/>
                          </a:solidFill>
                        </a:rPr>
                        <a:t>p,s</a:t>
                      </a:r>
                      <a:r>
                        <a:rPr lang="en-US" sz="2000" dirty="0">
                          <a:solidFill>
                            <a:srgbClr val="FF0000"/>
                          </a:solidFill>
                        </a:rPr>
                        <a:t>&gt;</a:t>
                      </a:r>
                      <a:r>
                        <a:rPr lang="en-US" sz="2000" dirty="0">
                          <a:solidFill>
                            <a:schemeClr val="tx1"/>
                          </a:solidFill>
                        </a:rPr>
                        <a:t>)]</a:t>
                      </a:r>
                    </a:p>
                  </a:txBody>
                  <a:tcPr marL="91434" marR="91434"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230188" indent="-230188">
                        <a:buFont typeface="Arial" panose="020B0604020202020204" pitchFamily="34" charset="0"/>
                        <a:buChar char="•"/>
                      </a:pPr>
                      <a:r>
                        <a:rPr lang="en-US" sz="2000" dirty="0">
                          <a:solidFill>
                            <a:schemeClr val="tx1"/>
                          </a:solidFill>
                        </a:rPr>
                        <a:t>Number with precision </a:t>
                      </a:r>
                      <a:r>
                        <a:rPr lang="en-US" sz="2000" i="1" dirty="0">
                          <a:solidFill>
                            <a:srgbClr val="FF0000"/>
                          </a:solidFill>
                        </a:rPr>
                        <a:t>p</a:t>
                      </a:r>
                      <a:r>
                        <a:rPr lang="en-US" sz="2000" dirty="0">
                          <a:solidFill>
                            <a:schemeClr val="tx1"/>
                          </a:solidFill>
                        </a:rPr>
                        <a:t> and scale </a:t>
                      </a:r>
                      <a:r>
                        <a:rPr lang="en-US" sz="2000" i="1" dirty="0">
                          <a:solidFill>
                            <a:srgbClr val="FF0000"/>
                          </a:solidFill>
                        </a:rPr>
                        <a:t>s</a:t>
                      </a:r>
                    </a:p>
                    <a:p>
                      <a:pPr marL="230188" indent="-230188">
                        <a:buFont typeface="Arial" panose="020B0604020202020204" pitchFamily="34" charset="0"/>
                        <a:buChar char="•"/>
                      </a:pPr>
                      <a:r>
                        <a:rPr lang="en-US" sz="2000" dirty="0">
                          <a:solidFill>
                            <a:schemeClr val="tx1"/>
                          </a:solidFill>
                        </a:rPr>
                        <a:t>Precision is the total number of digits</a:t>
                      </a:r>
                    </a:p>
                    <a:p>
                      <a:pPr marL="230188" indent="-230188">
                        <a:buFont typeface="Arial" panose="020B0604020202020204" pitchFamily="34" charset="0"/>
                        <a:buChar char="•"/>
                      </a:pPr>
                      <a:r>
                        <a:rPr lang="en-US" sz="2000" dirty="0">
                          <a:solidFill>
                            <a:schemeClr val="tx1"/>
                          </a:solidFill>
                        </a:rPr>
                        <a:t>Scale is the number of digits to the right side of the decimal point</a:t>
                      </a:r>
                    </a:p>
                  </a:txBody>
                  <a:tcPr marL="91434" marR="91434"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sz="2000" dirty="0">
                        <a:solidFill>
                          <a:schemeClr val="tx1"/>
                        </a:solidFill>
                      </a:endParaRPr>
                    </a:p>
                  </a:txBody>
                  <a:tcPr marL="91434" marR="91434"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CCE07A3B-8FF7-41F4-483D-98855ED3A412}"/>
              </a:ext>
            </a:extLst>
          </p:cNvPr>
          <p:cNvSpPr>
            <a:spLocks noGrp="1" noChangeArrowheads="1"/>
          </p:cNvSpPr>
          <p:nvPr>
            <p:ph type="title"/>
          </p:nvPr>
        </p:nvSpPr>
        <p:spPr>
          <a:xfrm>
            <a:off x="323850" y="620713"/>
            <a:ext cx="2770188" cy="536575"/>
          </a:xfrm>
          <a:noFill/>
        </p:spPr>
        <p:txBody>
          <a:bodyPr lIns="92075" tIns="46038" rIns="92075" bIns="46038" anchor="t"/>
          <a:lstStyle/>
          <a:p>
            <a:r>
              <a:rPr lang="en-US" altLang="en-US" sz="2800">
                <a:solidFill>
                  <a:srgbClr val="800000"/>
                </a:solidFill>
              </a:rPr>
              <a:t>Creating Tables</a:t>
            </a:r>
          </a:p>
        </p:txBody>
      </p:sp>
      <p:sp>
        <p:nvSpPr>
          <p:cNvPr id="16387" name="Rectangle 3">
            <a:extLst>
              <a:ext uri="{FF2B5EF4-FFF2-40B4-BE49-F238E27FC236}">
                <a16:creationId xmlns:a16="http://schemas.microsoft.com/office/drawing/2014/main" id="{FA42F615-D11A-5896-1429-3BD38F6D3B84}"/>
              </a:ext>
            </a:extLst>
          </p:cNvPr>
          <p:cNvSpPr>
            <a:spLocks noChangeArrowheads="1"/>
          </p:cNvSpPr>
          <p:nvPr/>
        </p:nvSpPr>
        <p:spPr bwMode="blackWhite">
          <a:xfrm>
            <a:off x="933450" y="4384675"/>
            <a:ext cx="7491413" cy="1490663"/>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6388" name="Rectangle 4">
            <a:extLst>
              <a:ext uri="{FF2B5EF4-FFF2-40B4-BE49-F238E27FC236}">
                <a16:creationId xmlns:a16="http://schemas.microsoft.com/office/drawing/2014/main" id="{53B5609D-2FED-3AD3-6E16-58B2ACBF4642}"/>
              </a:ext>
            </a:extLst>
          </p:cNvPr>
          <p:cNvSpPr>
            <a:spLocks noChangeArrowheads="1"/>
          </p:cNvSpPr>
          <p:nvPr/>
        </p:nvSpPr>
        <p:spPr bwMode="auto">
          <a:xfrm>
            <a:off x="928688" y="985838"/>
            <a:ext cx="7385050" cy="1066800"/>
          </a:xfrm>
          <a:prstGeom prst="rect">
            <a:avLst/>
          </a:prstGeom>
          <a:noFill/>
          <a:ln>
            <a:noFill/>
          </a:ln>
          <a:effectLst>
            <a:outerShdw dist="53882"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6389" name="Rectangle 5">
            <a:extLst>
              <a:ext uri="{FF2B5EF4-FFF2-40B4-BE49-F238E27FC236}">
                <a16:creationId xmlns:a16="http://schemas.microsoft.com/office/drawing/2014/main" id="{65DF6F40-E830-F815-B72C-99936B77BD1A}"/>
              </a:ext>
            </a:extLst>
          </p:cNvPr>
          <p:cNvSpPr>
            <a:spLocks noChangeArrowheads="1"/>
          </p:cNvSpPr>
          <p:nvPr/>
        </p:nvSpPr>
        <p:spPr bwMode="auto">
          <a:xfrm>
            <a:off x="963613" y="3244850"/>
            <a:ext cx="7385050" cy="1066800"/>
          </a:xfrm>
          <a:prstGeom prst="rect">
            <a:avLst/>
          </a:prstGeom>
          <a:noFill/>
          <a:ln>
            <a:noFill/>
          </a:ln>
          <a:effectLst>
            <a:outerShdw dist="53882"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6390" name="Rectangle 6">
            <a:extLst>
              <a:ext uri="{FF2B5EF4-FFF2-40B4-BE49-F238E27FC236}">
                <a16:creationId xmlns:a16="http://schemas.microsoft.com/office/drawing/2014/main" id="{15BDB66A-F28B-5368-2D93-DE894756536A}"/>
              </a:ext>
            </a:extLst>
          </p:cNvPr>
          <p:cNvSpPr>
            <a:spLocks noChangeArrowheads="1"/>
          </p:cNvSpPr>
          <p:nvPr/>
        </p:nvSpPr>
        <p:spPr bwMode="blackWhite">
          <a:xfrm>
            <a:off x="920750" y="1543050"/>
            <a:ext cx="7516813" cy="1550988"/>
          </a:xfrm>
          <a:prstGeom prst="rect">
            <a:avLst/>
          </a:prstGeom>
          <a:solidFill>
            <a:srgbClr val="FFFFCC"/>
          </a:solidFill>
          <a:ln>
            <a:noFill/>
          </a:ln>
          <a:effectLst>
            <a:outerShdw dist="89803"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358407" name="Rectangle 7">
            <a:extLst>
              <a:ext uri="{FF2B5EF4-FFF2-40B4-BE49-F238E27FC236}">
                <a16:creationId xmlns:a16="http://schemas.microsoft.com/office/drawing/2014/main" id="{97DEC8F2-F0EA-4F88-2403-584215352378}"/>
              </a:ext>
            </a:extLst>
          </p:cNvPr>
          <p:cNvSpPr>
            <a:spLocks noChangeArrowheads="1"/>
          </p:cNvSpPr>
          <p:nvPr/>
        </p:nvSpPr>
        <p:spPr bwMode="blackWhite">
          <a:xfrm>
            <a:off x="1008063" y="1671638"/>
            <a:ext cx="7315200" cy="1304925"/>
          </a:xfrm>
          <a:prstGeom prst="rect">
            <a:avLst/>
          </a:prstGeom>
          <a:noFill/>
          <a:ln w="9525">
            <a:noFill/>
            <a:miter lim="800000"/>
            <a:headEnd/>
            <a:tailEnd/>
          </a:ln>
          <a:effectLst/>
        </p:spPr>
        <p:txBody>
          <a:bodyPr wrap="none" lIns="92075" tIns="46038" rIns="92075" bIns="46038" anchor="ctr"/>
          <a:lstStyle/>
          <a:p>
            <a:pPr>
              <a:tabLst>
                <a:tab pos="1601788" algn="l"/>
                <a:tab pos="1717675" algn="l"/>
              </a:tabLst>
              <a:defRPr/>
            </a:pPr>
            <a:r>
              <a:rPr lang="en-US" sz="1800" b="1" dirty="0">
                <a:solidFill>
                  <a:srgbClr val="000000"/>
                </a:solidFill>
                <a:latin typeface="Courier New" pitchFamily="49" charset="0"/>
              </a:rPr>
              <a:t>SQL&gt; CREATE TABLE dept</a:t>
            </a:r>
            <a:br>
              <a:rPr lang="en-US" sz="1800" b="1" dirty="0">
                <a:solidFill>
                  <a:srgbClr val="000000"/>
                </a:solidFill>
                <a:latin typeface="Courier New" pitchFamily="49" charset="0"/>
              </a:rPr>
            </a:br>
            <a:r>
              <a:rPr lang="en-US" sz="1800" b="1" dirty="0">
                <a:solidFill>
                  <a:srgbClr val="000000"/>
                </a:solidFill>
                <a:latin typeface="Courier New" pitchFamily="49" charset="0"/>
              </a:rPr>
              <a:t>  2	(</a:t>
            </a:r>
            <a:r>
              <a:rPr lang="en-US" sz="1800" b="1" dirty="0" err="1">
                <a:solidFill>
                  <a:srgbClr val="000000"/>
                </a:solidFill>
                <a:latin typeface="Courier New" pitchFamily="49" charset="0"/>
              </a:rPr>
              <a:t>deptno</a:t>
            </a:r>
            <a:r>
              <a:rPr lang="en-US" sz="1800" b="1" dirty="0">
                <a:solidFill>
                  <a:srgbClr val="000000"/>
                </a:solidFill>
                <a:latin typeface="Courier New" pitchFamily="49" charset="0"/>
              </a:rPr>
              <a:t> 	NUMBER(2),</a:t>
            </a:r>
          </a:p>
          <a:p>
            <a:pPr>
              <a:tabLst>
                <a:tab pos="1601788" algn="l"/>
                <a:tab pos="1717675" algn="l"/>
              </a:tabLst>
              <a:defRPr/>
            </a:pPr>
            <a:r>
              <a:rPr lang="en-US" sz="1800" b="1" dirty="0">
                <a:solidFill>
                  <a:srgbClr val="000000"/>
                </a:solidFill>
                <a:latin typeface="Courier New" pitchFamily="49" charset="0"/>
              </a:rPr>
              <a:t>  3  		</a:t>
            </a:r>
            <a:r>
              <a:rPr lang="en-US" sz="1800" b="1" dirty="0" err="1">
                <a:solidFill>
                  <a:srgbClr val="000000"/>
                </a:solidFill>
                <a:latin typeface="Courier New" pitchFamily="49" charset="0"/>
              </a:rPr>
              <a:t>dname</a:t>
            </a:r>
            <a:r>
              <a:rPr lang="en-US" sz="1800" b="1" dirty="0">
                <a:solidFill>
                  <a:srgbClr val="000000"/>
                </a:solidFill>
                <a:latin typeface="Courier New" pitchFamily="49" charset="0"/>
              </a:rPr>
              <a:t> 	VARCHAR2(14),</a:t>
            </a:r>
          </a:p>
          <a:p>
            <a:pPr>
              <a:tabLst>
                <a:tab pos="1601788" algn="l"/>
                <a:tab pos="1717675" algn="l"/>
              </a:tabLst>
              <a:defRPr/>
            </a:pPr>
            <a:r>
              <a:rPr lang="en-US" sz="1800" b="1" dirty="0">
                <a:solidFill>
                  <a:srgbClr val="000000"/>
                </a:solidFill>
                <a:latin typeface="Courier New" pitchFamily="49" charset="0"/>
              </a:rPr>
              <a:t>  4  		loc 	VARCHAR2(13));</a:t>
            </a:r>
          </a:p>
          <a:p>
            <a:pPr>
              <a:tabLst>
                <a:tab pos="1601788" algn="l"/>
                <a:tab pos="1717675" algn="l"/>
              </a:tabLst>
              <a:defRPr/>
            </a:pPr>
            <a:r>
              <a:rPr lang="en-US" sz="1800" b="1" dirty="0">
                <a:solidFill>
                  <a:srgbClr val="FF3300"/>
                </a:solidFill>
                <a:effectLst>
                  <a:outerShdw blurRad="38100" dist="38100" dir="2700000" algn="tl">
                    <a:srgbClr val="000000"/>
                  </a:outerShdw>
                </a:effectLst>
                <a:latin typeface="Courier New" pitchFamily="49" charset="0"/>
              </a:rPr>
              <a:t>Table created.</a:t>
            </a:r>
          </a:p>
        </p:txBody>
      </p:sp>
      <p:sp>
        <p:nvSpPr>
          <p:cNvPr id="358409" name="Rectangle 9">
            <a:extLst>
              <a:ext uri="{FF2B5EF4-FFF2-40B4-BE49-F238E27FC236}">
                <a16:creationId xmlns:a16="http://schemas.microsoft.com/office/drawing/2014/main" id="{89B0ABF3-16A5-EF57-7FF0-DDA2FBE21296}"/>
              </a:ext>
            </a:extLst>
          </p:cNvPr>
          <p:cNvSpPr>
            <a:spLocks noChangeArrowheads="1"/>
          </p:cNvSpPr>
          <p:nvPr/>
        </p:nvSpPr>
        <p:spPr bwMode="auto">
          <a:xfrm>
            <a:off x="858838" y="3286125"/>
            <a:ext cx="7385050" cy="385763"/>
          </a:xfrm>
          <a:prstGeom prst="rect">
            <a:avLst/>
          </a:prstGeom>
          <a:noFill/>
          <a:ln w="9525">
            <a:noFill/>
            <a:miter lim="800000"/>
            <a:headEnd/>
            <a:tailEnd/>
          </a:ln>
          <a:effectLst/>
        </p:spPr>
        <p:txBody>
          <a:bodyPr lIns="92075" tIns="46038" rIns="92075" bIns="46038">
            <a:spAutoFit/>
          </a:bodyPr>
          <a:lstStyle/>
          <a:p>
            <a:pPr marL="341313" lvl="1" indent="-227013" defTabSz="346075">
              <a:lnSpc>
                <a:spcPct val="95000"/>
              </a:lnSpc>
              <a:spcBef>
                <a:spcPct val="35000"/>
              </a:spcBef>
              <a:buClr>
                <a:srgbClr val="FFCC66"/>
              </a:buClr>
              <a:buSzPct val="100000"/>
              <a:buFontTx/>
              <a:buChar char="•"/>
              <a:tabLst>
                <a:tab pos="571500" algn="l"/>
              </a:tabLst>
              <a:defRPr/>
            </a:pPr>
            <a:r>
              <a:rPr lang="en-US" sz="2000" b="1" dirty="0">
                <a:solidFill>
                  <a:schemeClr val="accent6"/>
                </a:solidFill>
              </a:rPr>
              <a:t>Confirm table creation.</a:t>
            </a:r>
          </a:p>
        </p:txBody>
      </p:sp>
      <p:sp>
        <p:nvSpPr>
          <p:cNvPr id="16393" name="Rectangle 10">
            <a:extLst>
              <a:ext uri="{FF2B5EF4-FFF2-40B4-BE49-F238E27FC236}">
                <a16:creationId xmlns:a16="http://schemas.microsoft.com/office/drawing/2014/main" id="{43DE7A4B-8699-0D50-FFD2-A69B15E2FC48}"/>
              </a:ext>
            </a:extLst>
          </p:cNvPr>
          <p:cNvSpPr>
            <a:spLocks noChangeArrowheads="1"/>
          </p:cNvSpPr>
          <p:nvPr/>
        </p:nvSpPr>
        <p:spPr bwMode="blackWhite">
          <a:xfrm>
            <a:off x="920750" y="3789363"/>
            <a:ext cx="7516813" cy="425450"/>
          </a:xfrm>
          <a:prstGeom prst="rect">
            <a:avLst/>
          </a:prstGeom>
          <a:solidFill>
            <a:srgbClr val="FFFFCC"/>
          </a:solidFill>
          <a:ln>
            <a:noFill/>
          </a:ln>
          <a:effectLst>
            <a:outerShdw dist="89803"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16394" name="Rectangle 11">
            <a:extLst>
              <a:ext uri="{FF2B5EF4-FFF2-40B4-BE49-F238E27FC236}">
                <a16:creationId xmlns:a16="http://schemas.microsoft.com/office/drawing/2014/main" id="{0C98993E-9D4E-0EFF-5CB4-CFF608235F28}"/>
              </a:ext>
            </a:extLst>
          </p:cNvPr>
          <p:cNvSpPr>
            <a:spLocks noChangeArrowheads="1"/>
          </p:cNvSpPr>
          <p:nvPr/>
        </p:nvSpPr>
        <p:spPr bwMode="blackWhite">
          <a:xfrm>
            <a:off x="1054100" y="3736975"/>
            <a:ext cx="73152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601788" algn="l"/>
                <a:tab pos="1717675" algn="l"/>
              </a:tabLst>
              <a:defRPr sz="2800">
                <a:solidFill>
                  <a:schemeClr val="tx1"/>
                </a:solidFill>
                <a:latin typeface="Arial" panose="020B0604020202020204" pitchFamily="34" charset="0"/>
              </a:defRPr>
            </a:lvl1pPr>
            <a:lvl2pPr marL="742950" indent="-285750">
              <a:spcBef>
                <a:spcPct val="20000"/>
              </a:spcBef>
              <a:buChar char="–"/>
              <a:tabLst>
                <a:tab pos="1601788" algn="l"/>
                <a:tab pos="1717675" algn="l"/>
              </a:tabLst>
              <a:defRPr sz="2400">
                <a:solidFill>
                  <a:schemeClr val="tx1"/>
                </a:solidFill>
                <a:latin typeface="Arial" panose="020B0604020202020204" pitchFamily="34" charset="0"/>
              </a:defRPr>
            </a:lvl2pPr>
            <a:lvl3pPr marL="1143000" indent="-228600">
              <a:spcBef>
                <a:spcPct val="20000"/>
              </a:spcBef>
              <a:buChar char="•"/>
              <a:tabLst>
                <a:tab pos="1601788" algn="l"/>
                <a:tab pos="1717675" algn="l"/>
              </a:tabLst>
              <a:defRPr sz="2000">
                <a:solidFill>
                  <a:schemeClr val="tx1"/>
                </a:solidFill>
                <a:latin typeface="Arial" panose="020B0604020202020204" pitchFamily="34" charset="0"/>
              </a:defRPr>
            </a:lvl3pPr>
            <a:lvl4pPr marL="1600200" indent="-228600">
              <a:spcBef>
                <a:spcPct val="20000"/>
              </a:spcBef>
              <a:buChar char="–"/>
              <a:tabLst>
                <a:tab pos="1601788" algn="l"/>
                <a:tab pos="1717675" algn="l"/>
              </a:tabLst>
              <a:defRPr sz="2000">
                <a:solidFill>
                  <a:schemeClr val="tx1"/>
                </a:solidFill>
                <a:latin typeface="Arial" panose="020B0604020202020204" pitchFamily="34" charset="0"/>
              </a:defRPr>
            </a:lvl4pPr>
            <a:lvl5pPr marL="2057400" indent="-228600">
              <a:spcBef>
                <a:spcPct val="20000"/>
              </a:spcBef>
              <a:buChar char="»"/>
              <a:tabLst>
                <a:tab pos="1601788" algn="l"/>
                <a:tab pos="1717675"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601788" algn="l"/>
                <a:tab pos="1717675"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601788" algn="l"/>
                <a:tab pos="1717675"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601788" algn="l"/>
                <a:tab pos="1717675"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601788" algn="l"/>
                <a:tab pos="1717675"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DESCRIBE dept</a:t>
            </a:r>
          </a:p>
        </p:txBody>
      </p:sp>
      <p:sp>
        <p:nvSpPr>
          <p:cNvPr id="16395" name="Rectangle 12">
            <a:extLst>
              <a:ext uri="{FF2B5EF4-FFF2-40B4-BE49-F238E27FC236}">
                <a16:creationId xmlns:a16="http://schemas.microsoft.com/office/drawing/2014/main" id="{C527D0F0-080C-4892-8FBD-EBA2EB2496E5}"/>
              </a:ext>
            </a:extLst>
          </p:cNvPr>
          <p:cNvSpPr>
            <a:spLocks noChangeArrowheads="1"/>
          </p:cNvSpPr>
          <p:nvPr/>
        </p:nvSpPr>
        <p:spPr bwMode="blackWhite">
          <a:xfrm>
            <a:off x="889000" y="4403725"/>
            <a:ext cx="7129463"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Name                        Null?    Type</a:t>
            </a:r>
          </a:p>
          <a:p>
            <a:pPr>
              <a:spcBef>
                <a:spcPct val="0"/>
              </a:spcBef>
              <a:buFontTx/>
              <a:buNone/>
            </a:pPr>
            <a:r>
              <a:rPr lang="en-US" altLang="en-US" sz="1800" b="1">
                <a:solidFill>
                  <a:srgbClr val="000000"/>
                </a:solidFill>
                <a:latin typeface="Courier New" panose="02070309020205020404" pitchFamily="49" charset="0"/>
              </a:rPr>
              <a:t> --------------------------- -------- ---------</a:t>
            </a:r>
          </a:p>
          <a:p>
            <a:pPr>
              <a:spcBef>
                <a:spcPct val="0"/>
              </a:spcBef>
              <a:buFontTx/>
              <a:buNone/>
            </a:pPr>
            <a:r>
              <a:rPr lang="en-US" altLang="en-US" sz="1800" b="1">
                <a:solidFill>
                  <a:srgbClr val="000000"/>
                </a:solidFill>
                <a:latin typeface="Courier New" panose="02070309020205020404" pitchFamily="49" charset="0"/>
              </a:rPr>
              <a:t> DEPTNO                               NUMBER(2)</a:t>
            </a:r>
          </a:p>
          <a:p>
            <a:pPr>
              <a:spcBef>
                <a:spcPct val="0"/>
              </a:spcBef>
              <a:buFontTx/>
              <a:buNone/>
            </a:pPr>
            <a:r>
              <a:rPr lang="en-US" altLang="en-US" sz="1800" b="1">
                <a:solidFill>
                  <a:srgbClr val="000000"/>
                </a:solidFill>
                <a:latin typeface="Courier New" panose="02070309020205020404" pitchFamily="49" charset="0"/>
              </a:rPr>
              <a:t> DNAME                                VARCHAR2(14)</a:t>
            </a:r>
          </a:p>
          <a:p>
            <a:pPr>
              <a:spcBef>
                <a:spcPct val="0"/>
              </a:spcBef>
              <a:buFontTx/>
              <a:buNone/>
            </a:pPr>
            <a:r>
              <a:rPr lang="en-US" altLang="en-US" sz="1800" b="1">
                <a:solidFill>
                  <a:srgbClr val="000000"/>
                </a:solidFill>
                <a:latin typeface="Courier New" panose="02070309020205020404" pitchFamily="49" charset="0"/>
              </a:rPr>
              <a:t> LOC                                  VARCHAR2(13)</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BEB200A-7604-6481-01B1-E47A3438F4BA}"/>
              </a:ext>
            </a:extLst>
          </p:cNvPr>
          <p:cNvSpPr>
            <a:spLocks noGrp="1" noChangeArrowheads="1"/>
          </p:cNvSpPr>
          <p:nvPr>
            <p:ph type="title"/>
          </p:nvPr>
        </p:nvSpPr>
        <p:spPr>
          <a:xfrm>
            <a:off x="323850" y="660400"/>
            <a:ext cx="5002213" cy="536575"/>
          </a:xfrm>
          <a:noFill/>
        </p:spPr>
        <p:txBody>
          <a:bodyPr lIns="92075" tIns="46038" rIns="92075" bIns="46038" anchor="t"/>
          <a:lstStyle/>
          <a:p>
            <a:r>
              <a:rPr lang="en-US" altLang="en-US" sz="2800">
                <a:solidFill>
                  <a:srgbClr val="800000"/>
                </a:solidFill>
              </a:rPr>
              <a:t>Tables in the Oracle Database</a:t>
            </a:r>
          </a:p>
        </p:txBody>
      </p:sp>
      <p:sp>
        <p:nvSpPr>
          <p:cNvPr id="368643" name="Rectangle 3">
            <a:extLst>
              <a:ext uri="{FF2B5EF4-FFF2-40B4-BE49-F238E27FC236}">
                <a16:creationId xmlns:a16="http://schemas.microsoft.com/office/drawing/2014/main" id="{719C4D02-E23E-3405-E88A-EB1DB4C1DBAA}"/>
              </a:ext>
            </a:extLst>
          </p:cNvPr>
          <p:cNvSpPr>
            <a:spLocks noGrp="1" noChangeArrowheads="1"/>
          </p:cNvSpPr>
          <p:nvPr>
            <p:ph type="body" idx="1"/>
          </p:nvPr>
        </p:nvSpPr>
        <p:spPr>
          <a:xfrm>
            <a:off x="285750" y="1357313"/>
            <a:ext cx="8143875" cy="3416300"/>
          </a:xfrm>
        </p:spPr>
        <p:txBody>
          <a:bodyPr lIns="92075" tIns="46038" rIns="92075" bIns="46038">
            <a:spAutoFit/>
          </a:bodyPr>
          <a:lstStyle/>
          <a:p>
            <a:pPr lvl="1">
              <a:defRPr/>
            </a:pPr>
            <a:r>
              <a:rPr lang="en-US" dirty="0">
                <a:solidFill>
                  <a:schemeClr val="accent6"/>
                </a:solidFill>
              </a:rPr>
              <a:t>User Tables</a:t>
            </a:r>
          </a:p>
          <a:p>
            <a:pPr lvl="2">
              <a:defRPr/>
            </a:pPr>
            <a:r>
              <a:rPr lang="en-US" sz="2400" dirty="0"/>
              <a:t>Collection of tables created and maintained by the user</a:t>
            </a:r>
          </a:p>
          <a:p>
            <a:pPr lvl="2">
              <a:defRPr/>
            </a:pPr>
            <a:r>
              <a:rPr lang="en-US" sz="2400" dirty="0"/>
              <a:t>Contain user information</a:t>
            </a:r>
            <a:endParaRPr lang="en-US" dirty="0"/>
          </a:p>
          <a:p>
            <a:pPr lvl="1">
              <a:defRPr/>
            </a:pPr>
            <a:r>
              <a:rPr lang="en-US" dirty="0">
                <a:solidFill>
                  <a:schemeClr val="accent6"/>
                </a:solidFill>
              </a:rPr>
              <a:t>Data Dictionary</a:t>
            </a:r>
          </a:p>
          <a:p>
            <a:pPr lvl="2">
              <a:defRPr/>
            </a:pPr>
            <a:r>
              <a:rPr lang="en-US" sz="2400" dirty="0"/>
              <a:t>Collection of tables created and maintained by the Oracle server</a:t>
            </a:r>
          </a:p>
          <a:p>
            <a:pPr lvl="2">
              <a:defRPr/>
            </a:pPr>
            <a:r>
              <a:rPr lang="en-US" sz="2400" dirty="0"/>
              <a:t>Contain database information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DC065137-171E-2FC0-04D2-22451D0AACC1}"/>
              </a:ext>
            </a:extLst>
          </p:cNvPr>
          <p:cNvSpPr>
            <a:spLocks noGrp="1" noChangeArrowheads="1"/>
          </p:cNvSpPr>
          <p:nvPr>
            <p:ph type="title"/>
          </p:nvPr>
        </p:nvSpPr>
        <p:spPr>
          <a:xfrm>
            <a:off x="323850" y="660400"/>
            <a:ext cx="4786313" cy="536575"/>
          </a:xfrm>
          <a:noFill/>
        </p:spPr>
        <p:txBody>
          <a:bodyPr lIns="92075" tIns="46038" rIns="92075" bIns="46038" anchor="t"/>
          <a:lstStyle/>
          <a:p>
            <a:r>
              <a:rPr lang="en-US" altLang="en-US" sz="2800">
                <a:solidFill>
                  <a:srgbClr val="800000"/>
                </a:solidFill>
              </a:rPr>
              <a:t>Querying the Data Dictionary</a:t>
            </a:r>
          </a:p>
        </p:txBody>
      </p:sp>
      <p:sp>
        <p:nvSpPr>
          <p:cNvPr id="20483" name="Rectangle 3">
            <a:extLst>
              <a:ext uri="{FF2B5EF4-FFF2-40B4-BE49-F238E27FC236}">
                <a16:creationId xmlns:a16="http://schemas.microsoft.com/office/drawing/2014/main" id="{967F59B7-0EA1-C607-9E1A-C2C61240776D}"/>
              </a:ext>
            </a:extLst>
          </p:cNvPr>
          <p:cNvSpPr>
            <a:spLocks noGrp="1" noChangeArrowheads="1"/>
          </p:cNvSpPr>
          <p:nvPr>
            <p:ph type="body" idx="1"/>
          </p:nvPr>
        </p:nvSpPr>
        <p:spPr bwMode="blackWhite">
          <a:xfrm>
            <a:off x="858838" y="1281113"/>
            <a:ext cx="7385050" cy="461962"/>
          </a:xfrm>
        </p:spPr>
        <p:txBody>
          <a:bodyPr lIns="92075" tIns="46038" rIns="92075" bIns="46038">
            <a:spAutoFit/>
          </a:bodyPr>
          <a:lstStyle/>
          <a:p>
            <a:r>
              <a:rPr lang="en-US" altLang="en-US" sz="2400"/>
              <a:t>List all the tables owned by the user.</a:t>
            </a:r>
          </a:p>
        </p:txBody>
      </p:sp>
      <p:sp>
        <p:nvSpPr>
          <p:cNvPr id="20484" name="Rectangle 4">
            <a:extLst>
              <a:ext uri="{FF2B5EF4-FFF2-40B4-BE49-F238E27FC236}">
                <a16:creationId xmlns:a16="http://schemas.microsoft.com/office/drawing/2014/main" id="{5F4725B0-8C87-8120-61B4-8447224A750D}"/>
              </a:ext>
            </a:extLst>
          </p:cNvPr>
          <p:cNvSpPr>
            <a:spLocks noChangeArrowheads="1"/>
          </p:cNvSpPr>
          <p:nvPr/>
        </p:nvSpPr>
        <p:spPr bwMode="blackWhite">
          <a:xfrm>
            <a:off x="906463" y="2781300"/>
            <a:ext cx="7494587" cy="4635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Lst>
              <a:defRPr sz="2800">
                <a:solidFill>
                  <a:schemeClr val="tx1"/>
                </a:solidFill>
                <a:latin typeface="Arial" panose="020B0604020202020204" pitchFamily="34" charset="0"/>
              </a:defRPr>
            </a:lvl1pPr>
            <a:lvl2pPr marL="742950" indent="-285750">
              <a:spcBef>
                <a:spcPct val="20000"/>
              </a:spcBef>
              <a:buChar char="–"/>
              <a:tabLst>
                <a:tab pos="692150" algn="l"/>
              </a:tabLst>
              <a:defRPr sz="2400">
                <a:solidFill>
                  <a:schemeClr val="tx1"/>
                </a:solidFill>
                <a:latin typeface="Arial" panose="020B0604020202020204" pitchFamily="34" charset="0"/>
              </a:defRPr>
            </a:lvl2pPr>
            <a:lvl3pPr marL="1143000" indent="-228600">
              <a:spcBef>
                <a:spcPct val="20000"/>
              </a:spcBef>
              <a:buChar char="•"/>
              <a:tabLst>
                <a:tab pos="692150" algn="l"/>
              </a:tabLst>
              <a:defRPr sz="2000">
                <a:solidFill>
                  <a:schemeClr val="tx1"/>
                </a:solidFill>
                <a:latin typeface="Arial" panose="020B0604020202020204" pitchFamily="34" charset="0"/>
              </a:defRPr>
            </a:lvl3pPr>
            <a:lvl4pPr marL="1600200" indent="-228600">
              <a:spcBef>
                <a:spcPct val="20000"/>
              </a:spcBef>
              <a:buChar char="–"/>
              <a:tabLst>
                <a:tab pos="692150" algn="l"/>
              </a:tabLst>
              <a:defRPr sz="2000">
                <a:solidFill>
                  <a:schemeClr val="tx1"/>
                </a:solidFill>
                <a:latin typeface="Arial" panose="020B0604020202020204" pitchFamily="34" charset="0"/>
              </a:defRPr>
            </a:lvl4pPr>
            <a:lvl5pPr marL="2057400" indent="-228600">
              <a:spcBef>
                <a:spcPct val="20000"/>
              </a:spcBef>
              <a:buChar char="»"/>
              <a:tabLst>
                <a:tab pos="692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0485" name="Rectangle 5">
            <a:extLst>
              <a:ext uri="{FF2B5EF4-FFF2-40B4-BE49-F238E27FC236}">
                <a16:creationId xmlns:a16="http://schemas.microsoft.com/office/drawing/2014/main" id="{D732820A-FFE3-886E-CEC3-8405F394C302}"/>
              </a:ext>
            </a:extLst>
          </p:cNvPr>
          <p:cNvSpPr>
            <a:spLocks noChangeArrowheads="1"/>
          </p:cNvSpPr>
          <p:nvPr/>
        </p:nvSpPr>
        <p:spPr bwMode="blackWhite">
          <a:xfrm>
            <a:off x="906463" y="3763963"/>
            <a:ext cx="7494587" cy="5111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Lst>
              <a:defRPr sz="2800">
                <a:solidFill>
                  <a:schemeClr val="tx1"/>
                </a:solidFill>
                <a:latin typeface="Arial" panose="020B0604020202020204" pitchFamily="34" charset="0"/>
              </a:defRPr>
            </a:lvl1pPr>
            <a:lvl2pPr marL="742950" indent="-285750">
              <a:spcBef>
                <a:spcPct val="20000"/>
              </a:spcBef>
              <a:buChar char="–"/>
              <a:tabLst>
                <a:tab pos="692150" algn="l"/>
              </a:tabLst>
              <a:defRPr sz="2400">
                <a:solidFill>
                  <a:schemeClr val="tx1"/>
                </a:solidFill>
                <a:latin typeface="Arial" panose="020B0604020202020204" pitchFamily="34" charset="0"/>
              </a:defRPr>
            </a:lvl2pPr>
            <a:lvl3pPr marL="1143000" indent="-228600">
              <a:spcBef>
                <a:spcPct val="20000"/>
              </a:spcBef>
              <a:buChar char="•"/>
              <a:tabLst>
                <a:tab pos="692150" algn="l"/>
              </a:tabLst>
              <a:defRPr sz="2000">
                <a:solidFill>
                  <a:schemeClr val="tx1"/>
                </a:solidFill>
                <a:latin typeface="Arial" panose="020B0604020202020204" pitchFamily="34" charset="0"/>
              </a:defRPr>
            </a:lvl3pPr>
            <a:lvl4pPr marL="1600200" indent="-228600">
              <a:spcBef>
                <a:spcPct val="20000"/>
              </a:spcBef>
              <a:buChar char="–"/>
              <a:tabLst>
                <a:tab pos="692150" algn="l"/>
              </a:tabLst>
              <a:defRPr sz="2000">
                <a:solidFill>
                  <a:schemeClr val="tx1"/>
                </a:solidFill>
                <a:latin typeface="Arial" panose="020B0604020202020204" pitchFamily="34" charset="0"/>
              </a:defRPr>
            </a:lvl4pPr>
            <a:lvl5pPr marL="2057400" indent="-228600">
              <a:spcBef>
                <a:spcPct val="20000"/>
              </a:spcBef>
              <a:buChar char="»"/>
              <a:tabLst>
                <a:tab pos="692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0486" name="Rectangle 6">
            <a:extLst>
              <a:ext uri="{FF2B5EF4-FFF2-40B4-BE49-F238E27FC236}">
                <a16:creationId xmlns:a16="http://schemas.microsoft.com/office/drawing/2014/main" id="{13F24791-2ED7-430D-8564-A21B2678D9E1}"/>
              </a:ext>
            </a:extLst>
          </p:cNvPr>
          <p:cNvSpPr>
            <a:spLocks noChangeArrowheads="1"/>
          </p:cNvSpPr>
          <p:nvPr/>
        </p:nvSpPr>
        <p:spPr bwMode="auto">
          <a:xfrm>
            <a:off x="709613" y="2362200"/>
            <a:ext cx="7747000" cy="1066800"/>
          </a:xfrm>
          <a:prstGeom prst="rect">
            <a:avLst/>
          </a:prstGeom>
          <a:noFill/>
          <a:ln>
            <a:noFill/>
          </a:ln>
          <a:effectLst>
            <a:outerShdw dist="53882"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0487" name="Rectangle 7">
            <a:extLst>
              <a:ext uri="{FF2B5EF4-FFF2-40B4-BE49-F238E27FC236}">
                <a16:creationId xmlns:a16="http://schemas.microsoft.com/office/drawing/2014/main" id="{F2936C24-2811-8082-E006-D8B92AAE9045}"/>
              </a:ext>
            </a:extLst>
          </p:cNvPr>
          <p:cNvSpPr>
            <a:spLocks noChangeArrowheads="1"/>
          </p:cNvSpPr>
          <p:nvPr/>
        </p:nvSpPr>
        <p:spPr bwMode="auto">
          <a:xfrm>
            <a:off x="887413" y="4090988"/>
            <a:ext cx="7747000" cy="1066800"/>
          </a:xfrm>
          <a:prstGeom prst="rect">
            <a:avLst/>
          </a:prstGeom>
          <a:noFill/>
          <a:ln>
            <a:noFill/>
          </a:ln>
          <a:effectLst>
            <a:outerShdw dist="53882"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0488" name="Rectangle 8">
            <a:extLst>
              <a:ext uri="{FF2B5EF4-FFF2-40B4-BE49-F238E27FC236}">
                <a16:creationId xmlns:a16="http://schemas.microsoft.com/office/drawing/2014/main" id="{D6424FCC-CDF2-77BA-5B01-6920A58D15F0}"/>
              </a:ext>
            </a:extLst>
          </p:cNvPr>
          <p:cNvSpPr>
            <a:spLocks noChangeArrowheads="1"/>
          </p:cNvSpPr>
          <p:nvPr/>
        </p:nvSpPr>
        <p:spPr bwMode="blackWhite">
          <a:xfrm>
            <a:off x="906463" y="1760538"/>
            <a:ext cx="7494587" cy="4333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  </a:t>
            </a:r>
          </a:p>
        </p:txBody>
      </p:sp>
      <p:sp>
        <p:nvSpPr>
          <p:cNvPr id="20489" name="Rectangle 9">
            <a:extLst>
              <a:ext uri="{FF2B5EF4-FFF2-40B4-BE49-F238E27FC236}">
                <a16:creationId xmlns:a16="http://schemas.microsoft.com/office/drawing/2014/main" id="{4FAC7ECD-E7E4-87DA-1A71-9FD51160FD2E}"/>
              </a:ext>
            </a:extLst>
          </p:cNvPr>
          <p:cNvSpPr>
            <a:spLocks noChangeArrowheads="1"/>
          </p:cNvSpPr>
          <p:nvPr/>
        </p:nvSpPr>
        <p:spPr bwMode="blackWhite">
          <a:xfrm>
            <a:off x="674688" y="2341563"/>
            <a:ext cx="7748587"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defTabSz="346075">
              <a:spcBef>
                <a:spcPct val="20000"/>
              </a:spcBef>
              <a:buChar char="•"/>
              <a:tabLst>
                <a:tab pos="571500" algn="l"/>
              </a:tabLst>
              <a:defRPr sz="2800">
                <a:solidFill>
                  <a:schemeClr val="tx1"/>
                </a:solidFill>
                <a:latin typeface="Arial" panose="020B0604020202020204" pitchFamily="34" charset="0"/>
              </a:defRPr>
            </a:lvl1pPr>
            <a:lvl2pPr marL="341313" indent="-227013" defTabSz="346075">
              <a:spcBef>
                <a:spcPct val="20000"/>
              </a:spcBef>
              <a:buChar char="–"/>
              <a:tabLst>
                <a:tab pos="571500" algn="l"/>
              </a:tabLst>
              <a:defRPr sz="2400">
                <a:solidFill>
                  <a:schemeClr val="tx1"/>
                </a:solidFill>
                <a:latin typeface="Arial" panose="020B0604020202020204" pitchFamily="34" charset="0"/>
              </a:defRPr>
            </a:lvl2pPr>
            <a:lvl3pPr marL="1143000" indent="-228600" defTabSz="346075">
              <a:spcBef>
                <a:spcPct val="20000"/>
              </a:spcBef>
              <a:buChar char="•"/>
              <a:tabLst>
                <a:tab pos="571500" algn="l"/>
              </a:tabLst>
              <a:defRPr sz="2000">
                <a:solidFill>
                  <a:schemeClr val="tx1"/>
                </a:solidFill>
                <a:latin typeface="Arial" panose="020B0604020202020204" pitchFamily="34" charset="0"/>
              </a:defRPr>
            </a:lvl3pPr>
            <a:lvl4pPr marL="1600200" indent="-228600" defTabSz="346075">
              <a:spcBef>
                <a:spcPct val="20000"/>
              </a:spcBef>
              <a:buChar char="–"/>
              <a:tabLst>
                <a:tab pos="571500" algn="l"/>
              </a:tabLst>
              <a:defRPr sz="2000">
                <a:solidFill>
                  <a:schemeClr val="tx1"/>
                </a:solidFill>
                <a:latin typeface="Arial" panose="020B0604020202020204" pitchFamily="34" charset="0"/>
              </a:defRPr>
            </a:lvl4pPr>
            <a:lvl5pPr marL="2057400" indent="-228600" defTabSz="346075">
              <a:spcBef>
                <a:spcPct val="20000"/>
              </a:spcBef>
              <a:buChar char="»"/>
              <a:tabLst>
                <a:tab pos="571500" algn="l"/>
              </a:tabLst>
              <a:defRPr sz="2000">
                <a:solidFill>
                  <a:schemeClr val="tx1"/>
                </a:solidFill>
                <a:latin typeface="Arial" panose="020B0604020202020204" pitchFamily="34" charset="0"/>
              </a:defRPr>
            </a:lvl5pPr>
            <a:lvl6pPr marL="25146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6pPr>
            <a:lvl7pPr marL="29718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7pPr>
            <a:lvl8pPr marL="34290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8pPr>
            <a:lvl9pPr marL="38862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9pPr>
          </a:lstStyle>
          <a:p>
            <a:pPr lvl="1">
              <a:lnSpc>
                <a:spcPct val="95000"/>
              </a:lnSpc>
              <a:spcBef>
                <a:spcPct val="35000"/>
              </a:spcBef>
              <a:buClr>
                <a:srgbClr val="FFCC66"/>
              </a:buClr>
              <a:buFontTx/>
              <a:buChar char="•"/>
            </a:pPr>
            <a:r>
              <a:rPr lang="en-US" altLang="en-US"/>
              <a:t>View distinct object types owned by the user.</a:t>
            </a:r>
          </a:p>
        </p:txBody>
      </p:sp>
      <p:sp>
        <p:nvSpPr>
          <p:cNvPr id="20490" name="Rectangle 10">
            <a:extLst>
              <a:ext uri="{FF2B5EF4-FFF2-40B4-BE49-F238E27FC236}">
                <a16:creationId xmlns:a16="http://schemas.microsoft.com/office/drawing/2014/main" id="{937995FD-9D65-475D-DA1F-803DE3149C51}"/>
              </a:ext>
            </a:extLst>
          </p:cNvPr>
          <p:cNvSpPr>
            <a:spLocks noChangeArrowheads="1"/>
          </p:cNvSpPr>
          <p:nvPr/>
        </p:nvSpPr>
        <p:spPr bwMode="blackWhite">
          <a:xfrm>
            <a:off x="673100" y="3357563"/>
            <a:ext cx="8059738"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defTabSz="346075">
              <a:spcBef>
                <a:spcPct val="20000"/>
              </a:spcBef>
              <a:buChar char="•"/>
              <a:tabLst>
                <a:tab pos="571500" algn="l"/>
              </a:tabLst>
              <a:defRPr sz="2800">
                <a:solidFill>
                  <a:schemeClr val="tx1"/>
                </a:solidFill>
                <a:latin typeface="Arial" panose="020B0604020202020204" pitchFamily="34" charset="0"/>
              </a:defRPr>
            </a:lvl1pPr>
            <a:lvl2pPr marL="341313" indent="-227013" defTabSz="346075">
              <a:spcBef>
                <a:spcPct val="20000"/>
              </a:spcBef>
              <a:buChar char="–"/>
              <a:tabLst>
                <a:tab pos="571500" algn="l"/>
              </a:tabLst>
              <a:defRPr sz="2400">
                <a:solidFill>
                  <a:schemeClr val="tx1"/>
                </a:solidFill>
                <a:latin typeface="Arial" panose="020B0604020202020204" pitchFamily="34" charset="0"/>
              </a:defRPr>
            </a:lvl2pPr>
            <a:lvl3pPr marL="1143000" indent="-228600" defTabSz="346075">
              <a:spcBef>
                <a:spcPct val="20000"/>
              </a:spcBef>
              <a:buChar char="•"/>
              <a:tabLst>
                <a:tab pos="571500" algn="l"/>
              </a:tabLst>
              <a:defRPr sz="2000">
                <a:solidFill>
                  <a:schemeClr val="tx1"/>
                </a:solidFill>
                <a:latin typeface="Arial" panose="020B0604020202020204" pitchFamily="34" charset="0"/>
              </a:defRPr>
            </a:lvl3pPr>
            <a:lvl4pPr marL="1600200" indent="-228600" defTabSz="346075">
              <a:spcBef>
                <a:spcPct val="20000"/>
              </a:spcBef>
              <a:buChar char="–"/>
              <a:tabLst>
                <a:tab pos="571500" algn="l"/>
              </a:tabLst>
              <a:defRPr sz="2000">
                <a:solidFill>
                  <a:schemeClr val="tx1"/>
                </a:solidFill>
                <a:latin typeface="Arial" panose="020B0604020202020204" pitchFamily="34" charset="0"/>
              </a:defRPr>
            </a:lvl4pPr>
            <a:lvl5pPr marL="2057400" indent="-228600" defTabSz="346075">
              <a:spcBef>
                <a:spcPct val="20000"/>
              </a:spcBef>
              <a:buChar char="»"/>
              <a:tabLst>
                <a:tab pos="571500" algn="l"/>
              </a:tabLst>
              <a:defRPr sz="2000">
                <a:solidFill>
                  <a:schemeClr val="tx1"/>
                </a:solidFill>
                <a:latin typeface="Arial" panose="020B0604020202020204" pitchFamily="34" charset="0"/>
              </a:defRPr>
            </a:lvl5pPr>
            <a:lvl6pPr marL="25146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6pPr>
            <a:lvl7pPr marL="29718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7pPr>
            <a:lvl8pPr marL="34290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8pPr>
            <a:lvl9pPr marL="38862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9pPr>
          </a:lstStyle>
          <a:p>
            <a:pPr lvl="1">
              <a:lnSpc>
                <a:spcPct val="95000"/>
              </a:lnSpc>
              <a:spcBef>
                <a:spcPct val="35000"/>
              </a:spcBef>
              <a:buClr>
                <a:srgbClr val="FFCC66"/>
              </a:buClr>
              <a:buFontTx/>
              <a:buChar char="•"/>
            </a:pPr>
            <a:r>
              <a:rPr lang="en-US" altLang="en-US"/>
              <a:t>View all database objects owned by a user.</a:t>
            </a:r>
          </a:p>
        </p:txBody>
      </p:sp>
      <p:sp>
        <p:nvSpPr>
          <p:cNvPr id="20491" name="Rectangle 12">
            <a:extLst>
              <a:ext uri="{FF2B5EF4-FFF2-40B4-BE49-F238E27FC236}">
                <a16:creationId xmlns:a16="http://schemas.microsoft.com/office/drawing/2014/main" id="{411D2244-826D-2AEF-FC7B-F4059F9971B3}"/>
              </a:ext>
            </a:extLst>
          </p:cNvPr>
          <p:cNvSpPr>
            <a:spLocks noChangeArrowheads="1"/>
          </p:cNvSpPr>
          <p:nvPr/>
        </p:nvSpPr>
        <p:spPr bwMode="ltGray">
          <a:xfrm>
            <a:off x="3779838" y="1874838"/>
            <a:ext cx="1733550" cy="3238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0492" name="Rectangle 13">
            <a:extLst>
              <a:ext uri="{FF2B5EF4-FFF2-40B4-BE49-F238E27FC236}">
                <a16:creationId xmlns:a16="http://schemas.microsoft.com/office/drawing/2014/main" id="{C3DBC2D9-8357-44A4-CB3E-164A934B6218}"/>
              </a:ext>
            </a:extLst>
          </p:cNvPr>
          <p:cNvSpPr>
            <a:spLocks noChangeArrowheads="1"/>
          </p:cNvSpPr>
          <p:nvPr/>
        </p:nvSpPr>
        <p:spPr bwMode="ltGray">
          <a:xfrm>
            <a:off x="6494463" y="2879725"/>
            <a:ext cx="1885950" cy="22860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chemeClr val="accent2"/>
              </a:solidFill>
            </a:endParaRPr>
          </a:p>
        </p:txBody>
      </p:sp>
      <p:sp>
        <p:nvSpPr>
          <p:cNvPr id="20493" name="Rectangle 14">
            <a:extLst>
              <a:ext uri="{FF2B5EF4-FFF2-40B4-BE49-F238E27FC236}">
                <a16:creationId xmlns:a16="http://schemas.microsoft.com/office/drawing/2014/main" id="{913B16B5-43ED-89F1-78E0-D1EDAFDEE79E}"/>
              </a:ext>
            </a:extLst>
          </p:cNvPr>
          <p:cNvSpPr>
            <a:spLocks noChangeArrowheads="1"/>
          </p:cNvSpPr>
          <p:nvPr/>
        </p:nvSpPr>
        <p:spPr bwMode="ltGray">
          <a:xfrm>
            <a:off x="3779838" y="3829050"/>
            <a:ext cx="1936750" cy="3238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chemeClr val="accent2"/>
              </a:solidFill>
            </a:endParaRPr>
          </a:p>
        </p:txBody>
      </p:sp>
      <p:sp>
        <p:nvSpPr>
          <p:cNvPr id="20494" name="Rectangle 15">
            <a:extLst>
              <a:ext uri="{FF2B5EF4-FFF2-40B4-BE49-F238E27FC236}">
                <a16:creationId xmlns:a16="http://schemas.microsoft.com/office/drawing/2014/main" id="{2E8DCB6B-35A4-D656-BFC2-724EE3DAA89C}"/>
              </a:ext>
            </a:extLst>
          </p:cNvPr>
          <p:cNvSpPr>
            <a:spLocks noChangeArrowheads="1"/>
          </p:cNvSpPr>
          <p:nvPr/>
        </p:nvSpPr>
        <p:spPr bwMode="blackWhite">
          <a:xfrm>
            <a:off x="1009650" y="1662113"/>
            <a:ext cx="7427913"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 FROM	</a:t>
            </a:r>
            <a:r>
              <a:rPr lang="en-US" altLang="en-US" sz="1800" b="1">
                <a:solidFill>
                  <a:schemeClr val="accent2"/>
                </a:solidFill>
                <a:latin typeface="Courier New" panose="02070309020205020404" pitchFamily="49" charset="0"/>
              </a:rPr>
              <a:t>user_tables</a:t>
            </a:r>
            <a:r>
              <a:rPr lang="en-US" altLang="en-US" sz="1800" b="1">
                <a:solidFill>
                  <a:srgbClr val="000000"/>
                </a:solidFill>
                <a:latin typeface="Courier New" panose="02070309020205020404" pitchFamily="49" charset="0"/>
              </a:rPr>
              <a:t>;</a:t>
            </a:r>
          </a:p>
        </p:txBody>
      </p:sp>
      <p:sp>
        <p:nvSpPr>
          <p:cNvPr id="20495" name="Rectangle 16">
            <a:extLst>
              <a:ext uri="{FF2B5EF4-FFF2-40B4-BE49-F238E27FC236}">
                <a16:creationId xmlns:a16="http://schemas.microsoft.com/office/drawing/2014/main" id="{F640C542-1802-FB4A-89C7-BB2C7E370026}"/>
              </a:ext>
            </a:extLst>
          </p:cNvPr>
          <p:cNvSpPr>
            <a:spLocks noChangeArrowheads="1"/>
          </p:cNvSpPr>
          <p:nvPr/>
        </p:nvSpPr>
        <p:spPr bwMode="blackWhite">
          <a:xfrm>
            <a:off x="973138" y="2790825"/>
            <a:ext cx="7427912"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92150" algn="l"/>
              </a:tabLst>
              <a:defRPr sz="2800">
                <a:solidFill>
                  <a:schemeClr val="tx1"/>
                </a:solidFill>
                <a:latin typeface="Arial" panose="020B0604020202020204" pitchFamily="34" charset="0"/>
              </a:defRPr>
            </a:lvl1pPr>
            <a:lvl2pPr marL="742950" indent="-285750">
              <a:spcBef>
                <a:spcPct val="20000"/>
              </a:spcBef>
              <a:buChar char="–"/>
              <a:tabLst>
                <a:tab pos="692150" algn="l"/>
              </a:tabLst>
              <a:defRPr sz="2400">
                <a:solidFill>
                  <a:schemeClr val="tx1"/>
                </a:solidFill>
                <a:latin typeface="Arial" panose="020B0604020202020204" pitchFamily="34" charset="0"/>
              </a:defRPr>
            </a:lvl2pPr>
            <a:lvl3pPr marL="1143000" indent="-228600">
              <a:spcBef>
                <a:spcPct val="20000"/>
              </a:spcBef>
              <a:buChar char="•"/>
              <a:tabLst>
                <a:tab pos="692150" algn="l"/>
              </a:tabLst>
              <a:defRPr sz="2000">
                <a:solidFill>
                  <a:schemeClr val="tx1"/>
                </a:solidFill>
                <a:latin typeface="Arial" panose="020B0604020202020204" pitchFamily="34" charset="0"/>
              </a:defRPr>
            </a:lvl3pPr>
            <a:lvl4pPr marL="1600200" indent="-228600">
              <a:spcBef>
                <a:spcPct val="20000"/>
              </a:spcBef>
              <a:buChar char="–"/>
              <a:tabLst>
                <a:tab pos="692150" algn="l"/>
              </a:tabLst>
              <a:defRPr sz="2000">
                <a:solidFill>
                  <a:schemeClr val="tx1"/>
                </a:solidFill>
                <a:latin typeface="Arial" panose="020B0604020202020204" pitchFamily="34" charset="0"/>
              </a:defRPr>
            </a:lvl4pPr>
            <a:lvl5pPr marL="2057400" indent="-228600">
              <a:spcBef>
                <a:spcPct val="20000"/>
              </a:spcBef>
              <a:buChar char="»"/>
              <a:tabLst>
                <a:tab pos="692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DISTINCT object_type FROM 	</a:t>
            </a:r>
            <a:r>
              <a:rPr lang="en-US" altLang="en-US" sz="1800" b="1">
                <a:solidFill>
                  <a:schemeClr val="accent2"/>
                </a:solidFill>
                <a:latin typeface="Courier New" panose="02070309020205020404" pitchFamily="49" charset="0"/>
              </a:rPr>
              <a:t>user_objects;</a:t>
            </a:r>
          </a:p>
        </p:txBody>
      </p:sp>
      <p:sp>
        <p:nvSpPr>
          <p:cNvPr id="20496" name="Rectangle 17">
            <a:extLst>
              <a:ext uri="{FF2B5EF4-FFF2-40B4-BE49-F238E27FC236}">
                <a16:creationId xmlns:a16="http://schemas.microsoft.com/office/drawing/2014/main" id="{43C917C5-9FC4-8516-9BC3-79F4EF586C71}"/>
              </a:ext>
            </a:extLst>
          </p:cNvPr>
          <p:cNvSpPr>
            <a:spLocks noChangeArrowheads="1"/>
          </p:cNvSpPr>
          <p:nvPr/>
        </p:nvSpPr>
        <p:spPr bwMode="blackWhite">
          <a:xfrm>
            <a:off x="1023938" y="3683000"/>
            <a:ext cx="74739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92150" algn="l"/>
              </a:tabLst>
              <a:defRPr sz="2800">
                <a:solidFill>
                  <a:schemeClr val="tx1"/>
                </a:solidFill>
                <a:latin typeface="Arial" panose="020B0604020202020204" pitchFamily="34" charset="0"/>
              </a:defRPr>
            </a:lvl1pPr>
            <a:lvl2pPr marL="742950" indent="-285750">
              <a:spcBef>
                <a:spcPct val="20000"/>
              </a:spcBef>
              <a:buChar char="–"/>
              <a:tabLst>
                <a:tab pos="692150" algn="l"/>
              </a:tabLst>
              <a:defRPr sz="2400">
                <a:solidFill>
                  <a:schemeClr val="tx1"/>
                </a:solidFill>
                <a:latin typeface="Arial" panose="020B0604020202020204" pitchFamily="34" charset="0"/>
              </a:defRPr>
            </a:lvl2pPr>
            <a:lvl3pPr marL="1143000" indent="-228600">
              <a:spcBef>
                <a:spcPct val="20000"/>
              </a:spcBef>
              <a:buChar char="•"/>
              <a:tabLst>
                <a:tab pos="692150" algn="l"/>
              </a:tabLst>
              <a:defRPr sz="2000">
                <a:solidFill>
                  <a:schemeClr val="tx1"/>
                </a:solidFill>
                <a:latin typeface="Arial" panose="020B0604020202020204" pitchFamily="34" charset="0"/>
              </a:defRPr>
            </a:lvl3pPr>
            <a:lvl4pPr marL="1600200" indent="-228600">
              <a:spcBef>
                <a:spcPct val="20000"/>
              </a:spcBef>
              <a:buChar char="–"/>
              <a:tabLst>
                <a:tab pos="692150" algn="l"/>
              </a:tabLst>
              <a:defRPr sz="2000">
                <a:solidFill>
                  <a:schemeClr val="tx1"/>
                </a:solidFill>
                <a:latin typeface="Arial" panose="020B0604020202020204" pitchFamily="34" charset="0"/>
              </a:defRPr>
            </a:lvl4pPr>
            <a:lvl5pPr marL="2057400" indent="-228600">
              <a:spcBef>
                <a:spcPct val="20000"/>
              </a:spcBef>
              <a:buChar char="»"/>
              <a:tabLst>
                <a:tab pos="692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 FROM	</a:t>
            </a:r>
            <a:r>
              <a:rPr lang="en-US" altLang="en-US" sz="1800" b="1">
                <a:solidFill>
                  <a:schemeClr val="accent2"/>
                </a:solidFill>
                <a:latin typeface="Courier New" panose="02070309020205020404" pitchFamily="49" charset="0"/>
              </a:rPr>
              <a:t>user_catalog;</a:t>
            </a:r>
          </a:p>
        </p:txBody>
      </p:sp>
      <p:sp>
        <p:nvSpPr>
          <p:cNvPr id="3" name="Rectangle 3">
            <a:extLst>
              <a:ext uri="{FF2B5EF4-FFF2-40B4-BE49-F238E27FC236}">
                <a16:creationId xmlns:a16="http://schemas.microsoft.com/office/drawing/2014/main" id="{352FBF09-4B36-2E0A-B018-D9F29F7E424A}"/>
              </a:ext>
            </a:extLst>
          </p:cNvPr>
          <p:cNvSpPr txBox="1">
            <a:spLocks noChangeArrowheads="1"/>
          </p:cNvSpPr>
          <p:nvPr/>
        </p:nvSpPr>
        <p:spPr bwMode="blackWhite">
          <a:xfrm>
            <a:off x="884238" y="4335463"/>
            <a:ext cx="7385050" cy="463550"/>
          </a:xfrm>
          <a:prstGeom prst="rect">
            <a:avLst/>
          </a:prstGeom>
          <a:noFill/>
          <a:ln>
            <a:noFill/>
          </a:ln>
        </p:spPr>
        <p:txBody>
          <a:bodyPr lIns="92075" tIns="46038" rIns="92075" bIns="46038">
            <a:spAutoFit/>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a:lstStyle>
          <a:p>
            <a:pPr>
              <a:defRPr/>
            </a:pPr>
            <a:r>
              <a:rPr lang="en-US" altLang="en-US" sz="2400" kern="0" dirty="0"/>
              <a:t>Information on all columns in a table</a:t>
            </a:r>
          </a:p>
        </p:txBody>
      </p:sp>
      <p:sp>
        <p:nvSpPr>
          <p:cNvPr id="20498" name="Rectangle 8">
            <a:extLst>
              <a:ext uri="{FF2B5EF4-FFF2-40B4-BE49-F238E27FC236}">
                <a16:creationId xmlns:a16="http://schemas.microsoft.com/office/drawing/2014/main" id="{CEE062DB-5D68-9BD6-A14B-E683791561D5}"/>
              </a:ext>
            </a:extLst>
          </p:cNvPr>
          <p:cNvSpPr>
            <a:spLocks noChangeArrowheads="1"/>
          </p:cNvSpPr>
          <p:nvPr/>
        </p:nvSpPr>
        <p:spPr bwMode="blackWhite">
          <a:xfrm>
            <a:off x="931863" y="4841875"/>
            <a:ext cx="7494587" cy="4460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  </a:t>
            </a:r>
          </a:p>
        </p:txBody>
      </p:sp>
      <p:sp>
        <p:nvSpPr>
          <p:cNvPr id="20499" name="Rectangle 12">
            <a:extLst>
              <a:ext uri="{FF2B5EF4-FFF2-40B4-BE49-F238E27FC236}">
                <a16:creationId xmlns:a16="http://schemas.microsoft.com/office/drawing/2014/main" id="{AA227BA8-F052-47E4-1512-D1092790333B}"/>
              </a:ext>
            </a:extLst>
          </p:cNvPr>
          <p:cNvSpPr>
            <a:spLocks noChangeArrowheads="1"/>
          </p:cNvSpPr>
          <p:nvPr/>
        </p:nvSpPr>
        <p:spPr bwMode="ltGray">
          <a:xfrm>
            <a:off x="3805238" y="4868863"/>
            <a:ext cx="2062162" cy="3492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0500" name="Rectangle 15">
            <a:extLst>
              <a:ext uri="{FF2B5EF4-FFF2-40B4-BE49-F238E27FC236}">
                <a16:creationId xmlns:a16="http://schemas.microsoft.com/office/drawing/2014/main" id="{63351A40-E054-19F5-89BD-44FE83A26E41}"/>
              </a:ext>
            </a:extLst>
          </p:cNvPr>
          <p:cNvSpPr>
            <a:spLocks noChangeArrowheads="1"/>
          </p:cNvSpPr>
          <p:nvPr/>
        </p:nvSpPr>
        <p:spPr bwMode="blackWhite">
          <a:xfrm>
            <a:off x="1035050" y="4829175"/>
            <a:ext cx="74279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 FROM	</a:t>
            </a:r>
            <a:r>
              <a:rPr lang="en-US" altLang="en-US" sz="1800" b="1">
                <a:solidFill>
                  <a:schemeClr val="accent2"/>
                </a:solidFill>
                <a:latin typeface="Courier New" panose="02070309020205020404" pitchFamily="49" charset="0"/>
              </a:rPr>
              <a:t>user_tab_cols</a:t>
            </a:r>
            <a:r>
              <a:rPr lang="en-US" altLang="en-US" sz="1800" b="1">
                <a:solidFill>
                  <a:srgbClr val="000000"/>
                </a:solidFill>
                <a:latin typeface="Courier New" panose="02070309020205020404" pitchFamily="49" charset="0"/>
              </a:rPr>
              <a:t>;</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F149141A-6130-7379-3977-6C7BAFBF690F}"/>
              </a:ext>
            </a:extLst>
          </p:cNvPr>
          <p:cNvSpPr>
            <a:spLocks noGrp="1" noChangeArrowheads="1"/>
          </p:cNvSpPr>
          <p:nvPr>
            <p:ph type="title"/>
          </p:nvPr>
        </p:nvSpPr>
        <p:spPr>
          <a:xfrm>
            <a:off x="323850" y="660400"/>
            <a:ext cx="3600450" cy="536575"/>
          </a:xfrm>
          <a:noFill/>
        </p:spPr>
        <p:txBody>
          <a:bodyPr lIns="92075" tIns="46038" rIns="92075" bIns="46038" anchor="t"/>
          <a:lstStyle/>
          <a:p>
            <a:r>
              <a:rPr lang="en-US" altLang="en-US" sz="2800">
                <a:solidFill>
                  <a:srgbClr val="800000"/>
                </a:solidFill>
              </a:rPr>
              <a:t>Including Constraints</a:t>
            </a:r>
          </a:p>
        </p:txBody>
      </p:sp>
      <p:sp>
        <p:nvSpPr>
          <p:cNvPr id="22531" name="Rectangle 3">
            <a:extLst>
              <a:ext uri="{FF2B5EF4-FFF2-40B4-BE49-F238E27FC236}">
                <a16:creationId xmlns:a16="http://schemas.microsoft.com/office/drawing/2014/main" id="{65C49409-0CD6-3480-962C-59856117F83B}"/>
              </a:ext>
            </a:extLst>
          </p:cNvPr>
          <p:cNvSpPr>
            <a:spLocks noGrp="1" noChangeArrowheads="1"/>
          </p:cNvSpPr>
          <p:nvPr>
            <p:ph type="body" idx="1"/>
          </p:nvPr>
        </p:nvSpPr>
        <p:spPr>
          <a:xfrm>
            <a:off x="395288" y="1341438"/>
            <a:ext cx="8569325" cy="5116512"/>
          </a:xfrm>
          <a:noFill/>
        </p:spPr>
        <p:txBody>
          <a:bodyPr lIns="92075" tIns="46038" rIns="92075" bIns="46038">
            <a:spAutoFit/>
          </a:bodyPr>
          <a:lstStyle/>
          <a:p>
            <a:pPr lvl="1"/>
            <a:r>
              <a:rPr lang="en-US" altLang="en-US" sz="2000"/>
              <a:t>Constraints enforce data integrity rules.</a:t>
            </a:r>
          </a:p>
          <a:p>
            <a:pPr lvl="1"/>
            <a:r>
              <a:rPr lang="en-US" altLang="en-US" sz="2000"/>
              <a:t>Constraint can be either at table level or column level. </a:t>
            </a:r>
          </a:p>
          <a:p>
            <a:pPr lvl="1"/>
            <a:r>
              <a:rPr lang="en-US" altLang="en-US" sz="2000"/>
              <a:t>A constraint should be given a meaningful name (its optional though), otherwise oracle server give every constraint a unique name in sys-cn format.</a:t>
            </a:r>
          </a:p>
          <a:p>
            <a:pPr lvl="1"/>
            <a:r>
              <a:rPr lang="en-US" altLang="en-US" sz="2000"/>
              <a:t>A constraint can be defined either at the time of table creation or after it.</a:t>
            </a:r>
          </a:p>
          <a:p>
            <a:pPr lvl="1"/>
            <a:r>
              <a:rPr lang="en-US" altLang="en-US" sz="2000"/>
              <a:t>The constraints are stored in a data dictionary view called </a:t>
            </a:r>
            <a:r>
              <a:rPr lang="en-US" altLang="en-US" sz="2000">
                <a:solidFill>
                  <a:schemeClr val="accent2"/>
                </a:solidFill>
              </a:rPr>
              <a:t>USER_CONSTTAINTS.</a:t>
            </a:r>
            <a:r>
              <a:rPr lang="en-US" altLang="en-US" sz="2000"/>
              <a:t> </a:t>
            </a:r>
          </a:p>
          <a:p>
            <a:pPr lvl="1"/>
            <a:r>
              <a:rPr lang="en-US" altLang="en-US" sz="2000"/>
              <a:t>The following constraint types are valid in Oracle:</a:t>
            </a:r>
          </a:p>
          <a:p>
            <a:pPr lvl="2">
              <a:spcBef>
                <a:spcPct val="10000"/>
              </a:spcBef>
            </a:pPr>
            <a:r>
              <a:rPr lang="en-US" altLang="en-US"/>
              <a:t>NOT NULL</a:t>
            </a:r>
          </a:p>
          <a:p>
            <a:pPr lvl="2">
              <a:spcBef>
                <a:spcPct val="10000"/>
              </a:spcBef>
            </a:pPr>
            <a:r>
              <a:rPr lang="en-US" altLang="en-US"/>
              <a:t>UNIQUE </a:t>
            </a:r>
          </a:p>
          <a:p>
            <a:pPr lvl="2">
              <a:spcBef>
                <a:spcPct val="10000"/>
              </a:spcBef>
            </a:pPr>
            <a:r>
              <a:rPr lang="en-US" altLang="en-US"/>
              <a:t>PRIMARY KEY</a:t>
            </a:r>
          </a:p>
          <a:p>
            <a:pPr lvl="2">
              <a:spcBef>
                <a:spcPct val="10000"/>
              </a:spcBef>
            </a:pPr>
            <a:r>
              <a:rPr lang="en-US" altLang="en-US"/>
              <a:t>FOREIGN KEY</a:t>
            </a:r>
          </a:p>
          <a:p>
            <a:pPr lvl="2">
              <a:spcBef>
                <a:spcPct val="10000"/>
              </a:spcBef>
            </a:pPr>
            <a:r>
              <a:rPr lang="en-US" altLang="en-US"/>
              <a:t>CHECK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85CEC35-33CA-CC35-3FFF-EA4B87628FDE}"/>
              </a:ext>
            </a:extLst>
          </p:cNvPr>
          <p:cNvSpPr>
            <a:spLocks noGrp="1" noChangeArrowheads="1"/>
          </p:cNvSpPr>
          <p:nvPr>
            <p:ph type="title"/>
          </p:nvPr>
        </p:nvSpPr>
        <p:spPr>
          <a:xfrm>
            <a:off x="323850" y="549275"/>
            <a:ext cx="4824413" cy="536575"/>
          </a:xfrm>
          <a:noFill/>
        </p:spPr>
        <p:txBody>
          <a:bodyPr lIns="92075" tIns="46038" rIns="92075" bIns="46038" anchor="t"/>
          <a:lstStyle/>
          <a:p>
            <a:r>
              <a:rPr lang="en-US" altLang="en-US" sz="3200">
                <a:solidFill>
                  <a:srgbClr val="800000"/>
                </a:solidFill>
              </a:rPr>
              <a:t>Including Constraints</a:t>
            </a:r>
          </a:p>
        </p:txBody>
      </p:sp>
      <p:sp>
        <p:nvSpPr>
          <p:cNvPr id="24579" name="Rectangle 3">
            <a:extLst>
              <a:ext uri="{FF2B5EF4-FFF2-40B4-BE49-F238E27FC236}">
                <a16:creationId xmlns:a16="http://schemas.microsoft.com/office/drawing/2014/main" id="{93765887-F3A4-4980-04B9-80B8CBC06A44}"/>
              </a:ext>
            </a:extLst>
          </p:cNvPr>
          <p:cNvSpPr>
            <a:spLocks noGrp="1" noChangeArrowheads="1"/>
          </p:cNvSpPr>
          <p:nvPr>
            <p:ph type="body" idx="1"/>
          </p:nvPr>
        </p:nvSpPr>
        <p:spPr>
          <a:xfrm>
            <a:off x="395288" y="1341438"/>
            <a:ext cx="8569325" cy="2900362"/>
          </a:xfrm>
          <a:noFill/>
        </p:spPr>
        <p:txBody>
          <a:bodyPr lIns="92075" tIns="46038" rIns="92075" bIns="46038">
            <a:spAutoFit/>
          </a:bodyPr>
          <a:lstStyle/>
          <a:p>
            <a:pPr lvl="1"/>
            <a:r>
              <a:rPr lang="en-US" altLang="en-US"/>
              <a:t>The following constraint types are valid in Oracle:</a:t>
            </a:r>
          </a:p>
          <a:p>
            <a:pPr lvl="2">
              <a:spcBef>
                <a:spcPct val="10000"/>
              </a:spcBef>
            </a:pPr>
            <a:r>
              <a:rPr lang="en-US" altLang="en-US" sz="2400"/>
              <a:t>NOT NULL [Column Level]</a:t>
            </a:r>
          </a:p>
          <a:p>
            <a:pPr lvl="2">
              <a:spcBef>
                <a:spcPct val="10000"/>
              </a:spcBef>
            </a:pPr>
            <a:r>
              <a:rPr lang="en-US" altLang="en-US" sz="2400"/>
              <a:t>UNIQUE [Column or Table Level]</a:t>
            </a:r>
          </a:p>
          <a:p>
            <a:pPr lvl="2">
              <a:spcBef>
                <a:spcPct val="10000"/>
              </a:spcBef>
            </a:pPr>
            <a:r>
              <a:rPr lang="en-US" altLang="en-US" sz="2400"/>
              <a:t>PRIMARY KEY [Column or Table Level]</a:t>
            </a:r>
          </a:p>
          <a:p>
            <a:pPr lvl="2">
              <a:spcBef>
                <a:spcPct val="10000"/>
              </a:spcBef>
            </a:pPr>
            <a:r>
              <a:rPr lang="en-US" altLang="en-US" sz="2400"/>
              <a:t>FOREIGN KEY [Column or Table Level]</a:t>
            </a:r>
          </a:p>
          <a:p>
            <a:pPr lvl="2">
              <a:spcBef>
                <a:spcPct val="10000"/>
              </a:spcBef>
            </a:pPr>
            <a:r>
              <a:rPr lang="en-US" altLang="en-US" sz="2400"/>
              <a:t>CHECK [Column or Table Level]</a:t>
            </a:r>
          </a:p>
          <a:p>
            <a:pPr lvl="2">
              <a:spcBef>
                <a:spcPct val="10000"/>
              </a:spcBef>
            </a:pPr>
            <a:r>
              <a:rPr lang="en-US" altLang="en-US" sz="2400"/>
              <a:t>DEFAULT [Column Level]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F54ECD68-38F6-5CAF-37A9-E89E0EB7ACD3}"/>
              </a:ext>
            </a:extLst>
          </p:cNvPr>
          <p:cNvSpPr>
            <a:spLocks noGrp="1" noChangeArrowheads="1"/>
          </p:cNvSpPr>
          <p:nvPr>
            <p:ph type="title"/>
          </p:nvPr>
        </p:nvSpPr>
        <p:spPr>
          <a:xfrm>
            <a:off x="323850" y="660400"/>
            <a:ext cx="3490913" cy="536575"/>
          </a:xfrm>
          <a:noFill/>
        </p:spPr>
        <p:txBody>
          <a:bodyPr lIns="92075" tIns="46038" rIns="92075" bIns="46038" anchor="t"/>
          <a:lstStyle/>
          <a:p>
            <a:r>
              <a:rPr lang="en-US" altLang="en-US" sz="2800">
                <a:solidFill>
                  <a:srgbClr val="800000"/>
                </a:solidFill>
              </a:rPr>
              <a:t>Defining Constraints</a:t>
            </a:r>
          </a:p>
        </p:txBody>
      </p:sp>
      <p:grpSp>
        <p:nvGrpSpPr>
          <p:cNvPr id="26627" name="Group 3">
            <a:extLst>
              <a:ext uri="{FF2B5EF4-FFF2-40B4-BE49-F238E27FC236}">
                <a16:creationId xmlns:a16="http://schemas.microsoft.com/office/drawing/2014/main" id="{FF2C6C58-5B0D-88A5-5BEF-1D3BC8548F76}"/>
              </a:ext>
            </a:extLst>
          </p:cNvPr>
          <p:cNvGrpSpPr>
            <a:grpSpLocks/>
          </p:cNvGrpSpPr>
          <p:nvPr/>
        </p:nvGrpSpPr>
        <p:grpSpPr bwMode="auto">
          <a:xfrm>
            <a:off x="539750" y="1517650"/>
            <a:ext cx="8185150" cy="1606550"/>
            <a:chOff x="610" y="956"/>
            <a:chExt cx="5156" cy="1012"/>
          </a:xfrm>
        </p:grpSpPr>
        <p:sp>
          <p:nvSpPr>
            <p:cNvPr id="26631" name="Rectangle 4">
              <a:extLst>
                <a:ext uri="{FF2B5EF4-FFF2-40B4-BE49-F238E27FC236}">
                  <a16:creationId xmlns:a16="http://schemas.microsoft.com/office/drawing/2014/main" id="{65800F6E-8C1D-1731-F673-62373F0EC97E}"/>
                </a:ext>
              </a:extLst>
            </p:cNvPr>
            <p:cNvSpPr>
              <a:spLocks noChangeArrowheads="1"/>
            </p:cNvSpPr>
            <p:nvPr/>
          </p:nvSpPr>
          <p:spPr bwMode="blackWhite">
            <a:xfrm>
              <a:off x="610" y="957"/>
              <a:ext cx="5156" cy="996"/>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6632" name="Rectangle 5">
              <a:extLst>
                <a:ext uri="{FF2B5EF4-FFF2-40B4-BE49-F238E27FC236}">
                  <a16:creationId xmlns:a16="http://schemas.microsoft.com/office/drawing/2014/main" id="{D99CC17E-5A06-90E8-11DC-6D1788F8EE13}"/>
                </a:ext>
              </a:extLst>
            </p:cNvPr>
            <p:cNvSpPr>
              <a:spLocks noChangeArrowheads="1"/>
            </p:cNvSpPr>
            <p:nvPr/>
          </p:nvSpPr>
          <p:spPr bwMode="blackWhite">
            <a:xfrm>
              <a:off x="687" y="956"/>
              <a:ext cx="5079" cy="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CREATE TABLE </a:t>
              </a:r>
              <a:r>
                <a:rPr lang="en-US" altLang="en-US" sz="1800" b="1" i="1">
                  <a:solidFill>
                    <a:srgbClr val="000000"/>
                  </a:solidFill>
                  <a:latin typeface="Courier New" panose="02070309020205020404" pitchFamily="49" charset="0"/>
                </a:rPr>
                <a:t>tablename</a:t>
              </a:r>
            </a:p>
            <a:p>
              <a:pPr>
                <a:spcBef>
                  <a:spcPct val="0"/>
                </a:spcBef>
                <a:buFontTx/>
                <a:buNone/>
              </a:pPr>
              <a:r>
                <a:rPr lang="en-US" altLang="en-US" sz="1800" b="1">
                  <a:solidFill>
                    <a:srgbClr val="000000"/>
                  </a:solidFill>
                  <a:latin typeface="Courier New" panose="02070309020205020404" pitchFamily="49" charset="0"/>
                </a:rPr>
                <a:t>(</a:t>
              </a:r>
              <a:r>
                <a:rPr lang="en-US" altLang="en-US" sz="1800" b="1" i="1">
                  <a:solidFill>
                    <a:srgbClr val="000000"/>
                  </a:solidFill>
                  <a:latin typeface="Courier New" panose="02070309020205020404" pitchFamily="49" charset="0"/>
                </a:rPr>
                <a:t>col_name1 datatype(size)[Default expr][Col Constraints], </a:t>
              </a: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		[</a:t>
              </a:r>
              <a:r>
                <a:rPr lang="en-US" altLang="en-US" sz="1800" b="1" i="1">
                  <a:solidFill>
                    <a:srgbClr val="000000"/>
                  </a:solidFill>
                  <a:latin typeface="Courier New" panose="02070309020205020404" pitchFamily="49" charset="0"/>
                </a:rPr>
                <a:t>table_constraint</a:t>
              </a:r>
              <a:r>
                <a:rPr lang="en-US" altLang="en-US" sz="1800" b="1">
                  <a:solidFill>
                    <a:srgbClr val="000000"/>
                  </a:solidFill>
                  <a:latin typeface="Courier New" panose="02070309020205020404" pitchFamily="49" charset="0"/>
                </a:rPr>
                <a:t>][,...]);</a:t>
              </a:r>
            </a:p>
          </p:txBody>
        </p:sp>
      </p:grpSp>
      <p:grpSp>
        <p:nvGrpSpPr>
          <p:cNvPr id="26628" name="Group 6">
            <a:extLst>
              <a:ext uri="{FF2B5EF4-FFF2-40B4-BE49-F238E27FC236}">
                <a16:creationId xmlns:a16="http://schemas.microsoft.com/office/drawing/2014/main" id="{6DA4F366-E04F-B579-26D0-BB2FDBD4DAF2}"/>
              </a:ext>
            </a:extLst>
          </p:cNvPr>
          <p:cNvGrpSpPr>
            <a:grpSpLocks/>
          </p:cNvGrpSpPr>
          <p:nvPr/>
        </p:nvGrpSpPr>
        <p:grpSpPr bwMode="auto">
          <a:xfrm>
            <a:off x="987425" y="3479800"/>
            <a:ext cx="7737475" cy="2254250"/>
            <a:chOff x="622" y="2192"/>
            <a:chExt cx="4874" cy="1420"/>
          </a:xfrm>
        </p:grpSpPr>
        <p:sp>
          <p:nvSpPr>
            <p:cNvPr id="26629" name="Rectangle 7">
              <a:extLst>
                <a:ext uri="{FF2B5EF4-FFF2-40B4-BE49-F238E27FC236}">
                  <a16:creationId xmlns:a16="http://schemas.microsoft.com/office/drawing/2014/main" id="{58FA09D7-D010-3238-18A4-F52E0D9789F3}"/>
                </a:ext>
              </a:extLst>
            </p:cNvPr>
            <p:cNvSpPr>
              <a:spLocks noChangeArrowheads="1"/>
            </p:cNvSpPr>
            <p:nvPr/>
          </p:nvSpPr>
          <p:spPr bwMode="blackWhite">
            <a:xfrm>
              <a:off x="622" y="2192"/>
              <a:ext cx="4754" cy="140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6630" name="Rectangle 8">
              <a:extLst>
                <a:ext uri="{FF2B5EF4-FFF2-40B4-BE49-F238E27FC236}">
                  <a16:creationId xmlns:a16="http://schemas.microsoft.com/office/drawing/2014/main" id="{AB672DF7-DA84-F241-436E-853D0C95B8CE}"/>
                </a:ext>
              </a:extLst>
            </p:cNvPr>
            <p:cNvSpPr>
              <a:spLocks noChangeArrowheads="1"/>
            </p:cNvSpPr>
            <p:nvPr/>
          </p:nvSpPr>
          <p:spPr bwMode="blackWhite">
            <a:xfrm>
              <a:off x="698" y="2193"/>
              <a:ext cx="4798" cy="1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CREATE TABLE emp(</a:t>
              </a:r>
            </a:p>
            <a:p>
              <a:pPr>
                <a:spcBef>
                  <a:spcPct val="0"/>
                </a:spcBef>
                <a:buFontTx/>
                <a:buNone/>
              </a:pPr>
              <a:r>
                <a:rPr lang="en-US" altLang="en-US" sz="1800" b="1">
                  <a:solidFill>
                    <a:srgbClr val="000000"/>
                  </a:solidFill>
                  <a:latin typeface="Courier New" panose="02070309020205020404" pitchFamily="49" charset="0"/>
                </a:rPr>
                <a:t>  	     empno  NUMBER(4),</a:t>
              </a:r>
            </a:p>
            <a:p>
              <a:pPr>
                <a:spcBef>
                  <a:spcPct val="0"/>
                </a:spcBef>
                <a:buFontTx/>
                <a:buNone/>
              </a:pPr>
              <a:r>
                <a:rPr lang="en-US" altLang="en-US" sz="1800" b="1">
                  <a:solidFill>
                    <a:srgbClr val="000000"/>
                  </a:solidFill>
                  <a:latin typeface="Courier New" panose="02070309020205020404" pitchFamily="49" charset="0"/>
                </a:rPr>
                <a:t>    	     ename  VARCHAR2(10),</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  	     deptno  NUMBER(7,2) NOT NULL,</a:t>
              </a:r>
            </a:p>
            <a:p>
              <a:pPr>
                <a:spcBef>
                  <a:spcPct val="0"/>
                </a:spcBef>
                <a:buFontTx/>
                <a:buNone/>
              </a:pPr>
              <a:r>
                <a:rPr lang="en-US" altLang="en-US" sz="1800" b="1">
                  <a:solidFill>
                    <a:srgbClr val="000000"/>
                  </a:solidFill>
                  <a:latin typeface="Courier New" panose="02070309020205020404" pitchFamily="49" charset="0"/>
                </a:rPr>
                <a:t>	     CONSTRAINT emp_empno_pk </a:t>
              </a:r>
            </a:p>
            <a:p>
              <a:pPr>
                <a:spcBef>
                  <a:spcPct val="0"/>
                </a:spcBef>
                <a:buFontTx/>
                <a:buNone/>
              </a:pPr>
              <a:r>
                <a:rPr lang="en-US" altLang="en-US" sz="1800" b="1">
                  <a:solidFill>
                    <a:srgbClr val="000000"/>
                  </a:solidFill>
                  <a:latin typeface="Courier New" panose="02070309020205020404" pitchFamily="49" charset="0"/>
                </a:rPr>
                <a:t>		           	PRIMARY KEY (EMPNO));	</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E9E31F13-6243-8654-79F2-D12FD0D733F2}"/>
              </a:ext>
            </a:extLst>
          </p:cNvPr>
          <p:cNvSpPr>
            <a:spLocks noGrp="1" noChangeArrowheads="1"/>
          </p:cNvSpPr>
          <p:nvPr>
            <p:ph type="title"/>
          </p:nvPr>
        </p:nvSpPr>
        <p:spPr>
          <a:xfrm>
            <a:off x="361950" y="660400"/>
            <a:ext cx="3417888" cy="536575"/>
          </a:xfrm>
          <a:noFill/>
        </p:spPr>
        <p:txBody>
          <a:bodyPr lIns="92075" tIns="46038" rIns="92075" bIns="46038" anchor="t"/>
          <a:lstStyle/>
          <a:p>
            <a:r>
              <a:rPr lang="en-US" altLang="en-US" sz="2800">
                <a:solidFill>
                  <a:srgbClr val="800000"/>
                </a:solidFill>
              </a:rPr>
              <a:t>Defining Constraints</a:t>
            </a:r>
          </a:p>
        </p:txBody>
      </p:sp>
      <p:sp>
        <p:nvSpPr>
          <p:cNvPr id="28675" name="Rectangle 3">
            <a:extLst>
              <a:ext uri="{FF2B5EF4-FFF2-40B4-BE49-F238E27FC236}">
                <a16:creationId xmlns:a16="http://schemas.microsoft.com/office/drawing/2014/main" id="{DCDDD178-E991-FA67-2D03-6135ACF042E8}"/>
              </a:ext>
            </a:extLst>
          </p:cNvPr>
          <p:cNvSpPr>
            <a:spLocks noGrp="1" noChangeArrowheads="1"/>
          </p:cNvSpPr>
          <p:nvPr>
            <p:ph type="body" idx="1"/>
          </p:nvPr>
        </p:nvSpPr>
        <p:spPr>
          <a:xfrm>
            <a:off x="433388" y="1524000"/>
            <a:ext cx="8277225" cy="2063750"/>
          </a:xfrm>
          <a:noFill/>
        </p:spPr>
        <p:txBody>
          <a:bodyPr lIns="92075" tIns="46038" rIns="92075" bIns="46038">
            <a:spAutoFit/>
          </a:bodyPr>
          <a:lstStyle/>
          <a:p>
            <a:pPr lvl="1"/>
            <a:r>
              <a:rPr lang="en-US" altLang="en-US"/>
              <a:t>Column constraint level</a:t>
            </a:r>
            <a:br>
              <a:rPr lang="en-US" altLang="en-US"/>
            </a:br>
            <a:br>
              <a:rPr lang="en-US" altLang="en-US"/>
            </a:br>
            <a:endParaRPr lang="en-US" altLang="en-US"/>
          </a:p>
          <a:p>
            <a:pPr lvl="1"/>
            <a:endParaRPr lang="en-US" altLang="en-US"/>
          </a:p>
          <a:p>
            <a:pPr lvl="1"/>
            <a:r>
              <a:rPr lang="en-US" altLang="en-US"/>
              <a:t>Table constraint level</a:t>
            </a:r>
          </a:p>
        </p:txBody>
      </p:sp>
      <p:sp>
        <p:nvSpPr>
          <p:cNvPr id="28676" name="Rectangle 4">
            <a:extLst>
              <a:ext uri="{FF2B5EF4-FFF2-40B4-BE49-F238E27FC236}">
                <a16:creationId xmlns:a16="http://schemas.microsoft.com/office/drawing/2014/main" id="{C0DF5B5C-9FE7-FB1A-0133-BF0CAC7BE008}"/>
              </a:ext>
            </a:extLst>
          </p:cNvPr>
          <p:cNvSpPr>
            <a:spLocks noChangeArrowheads="1"/>
          </p:cNvSpPr>
          <p:nvPr/>
        </p:nvSpPr>
        <p:spPr bwMode="blackWhite">
          <a:xfrm>
            <a:off x="909638" y="2430463"/>
            <a:ext cx="7496175" cy="4333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i="1">
                <a:solidFill>
                  <a:srgbClr val="000000"/>
                </a:solidFill>
                <a:latin typeface="Courier New" panose="02070309020205020404" pitchFamily="49" charset="0"/>
              </a:rPr>
              <a:t>column</a:t>
            </a:r>
            <a:r>
              <a:rPr lang="en-US" altLang="en-US" sz="1800" b="1">
                <a:solidFill>
                  <a:srgbClr val="000000"/>
                </a:solidFill>
                <a:latin typeface="Courier New" panose="02070309020205020404" pitchFamily="49" charset="0"/>
              </a:rPr>
              <a:t> [CONSTRAINT </a:t>
            </a:r>
            <a:r>
              <a:rPr lang="en-US" altLang="en-US" sz="1800" b="1" i="1">
                <a:solidFill>
                  <a:srgbClr val="000000"/>
                </a:solidFill>
                <a:latin typeface="Courier New" panose="02070309020205020404" pitchFamily="49" charset="0"/>
              </a:rPr>
              <a:t>constraint_name</a:t>
            </a:r>
            <a:r>
              <a:rPr lang="en-US" altLang="en-US" sz="1800" b="1">
                <a:solidFill>
                  <a:srgbClr val="000000"/>
                </a:solidFill>
                <a:latin typeface="Courier New" panose="02070309020205020404" pitchFamily="49" charset="0"/>
              </a:rPr>
              <a:t>] </a:t>
            </a:r>
            <a:r>
              <a:rPr lang="en-US" altLang="en-US" sz="1800" b="1" i="1">
                <a:solidFill>
                  <a:srgbClr val="000000"/>
                </a:solidFill>
                <a:latin typeface="Courier New" panose="02070309020205020404" pitchFamily="49" charset="0"/>
              </a:rPr>
              <a:t>constraint_type</a:t>
            </a:r>
            <a:r>
              <a:rPr lang="en-US" altLang="en-US" sz="1800" b="1">
                <a:solidFill>
                  <a:srgbClr val="000000"/>
                </a:solidFill>
                <a:latin typeface="Courier New" panose="02070309020205020404" pitchFamily="49" charset="0"/>
              </a:rPr>
              <a:t>,</a:t>
            </a:r>
          </a:p>
        </p:txBody>
      </p:sp>
      <p:sp>
        <p:nvSpPr>
          <p:cNvPr id="28677" name="Rectangle 5">
            <a:extLst>
              <a:ext uri="{FF2B5EF4-FFF2-40B4-BE49-F238E27FC236}">
                <a16:creationId xmlns:a16="http://schemas.microsoft.com/office/drawing/2014/main" id="{EB79229F-C40A-E0E4-1554-87BE2C30695A}"/>
              </a:ext>
            </a:extLst>
          </p:cNvPr>
          <p:cNvSpPr>
            <a:spLocks noChangeArrowheads="1"/>
          </p:cNvSpPr>
          <p:nvPr/>
        </p:nvSpPr>
        <p:spPr bwMode="blackWhite">
          <a:xfrm>
            <a:off x="950913" y="3916363"/>
            <a:ext cx="7473950"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i="1">
                <a:solidFill>
                  <a:srgbClr val="000000"/>
                </a:solidFill>
                <a:latin typeface="Courier New" panose="02070309020205020404" pitchFamily="49" charset="0"/>
              </a:rPr>
              <a:t>column,...</a:t>
            </a:r>
          </a:p>
          <a:p>
            <a:pPr>
              <a:spcBef>
                <a:spcPct val="0"/>
              </a:spcBef>
              <a:buFontTx/>
              <a:buNone/>
            </a:pPr>
            <a:r>
              <a:rPr lang="en-US" altLang="en-US" sz="1800" b="1" i="1">
                <a:solidFill>
                  <a:srgbClr val="000000"/>
                </a:solidFill>
                <a:latin typeface="Courier New" panose="02070309020205020404" pitchFamily="49" charset="0"/>
              </a:rPr>
              <a:t>  </a:t>
            </a:r>
            <a:r>
              <a:rPr lang="en-US" altLang="en-US" sz="1800" b="1">
                <a:solidFill>
                  <a:srgbClr val="000000"/>
                </a:solidFill>
                <a:latin typeface="Courier New" panose="02070309020205020404" pitchFamily="49" charset="0"/>
              </a:rPr>
              <a:t>[CONSTRAINT </a:t>
            </a:r>
            <a:r>
              <a:rPr lang="en-US" altLang="en-US" sz="1800" b="1" i="1">
                <a:solidFill>
                  <a:srgbClr val="000000"/>
                </a:solidFill>
                <a:latin typeface="Courier New" panose="02070309020205020404" pitchFamily="49" charset="0"/>
              </a:rPr>
              <a:t>constraint_name</a:t>
            </a:r>
            <a:r>
              <a:rPr lang="en-US" altLang="en-US" sz="1800" b="1">
                <a:solidFill>
                  <a:srgbClr val="000000"/>
                </a:solidFill>
                <a:latin typeface="Courier New" panose="02070309020205020404" pitchFamily="49" charset="0"/>
              </a:rPr>
              <a:t>] </a:t>
            </a:r>
            <a:r>
              <a:rPr lang="en-US" altLang="en-US" sz="1800" b="1" i="1">
                <a:solidFill>
                  <a:srgbClr val="000000"/>
                </a:solidFill>
                <a:latin typeface="Courier New" panose="02070309020205020404" pitchFamily="49" charset="0"/>
              </a:rPr>
              <a:t>constraint_type</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  (</a:t>
            </a:r>
            <a:r>
              <a:rPr lang="en-US" altLang="en-US" sz="1800" b="1" i="1">
                <a:solidFill>
                  <a:srgbClr val="000000"/>
                </a:solidFill>
                <a:latin typeface="Courier New" panose="02070309020205020404" pitchFamily="49" charset="0"/>
              </a:rPr>
              <a:t>column</a:t>
            </a:r>
            <a:r>
              <a:rPr lang="en-US" altLang="en-US" sz="1800" b="1">
                <a:solidFill>
                  <a:srgbClr val="000000"/>
                </a:solidFill>
                <a:latin typeface="Courier New" panose="02070309020205020404" pitchFamily="49" charset="0"/>
              </a:rPr>
              <a:t>, ...),</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8147BF6-7BF5-EC12-78B2-3CBF0F71FECA}"/>
              </a:ext>
            </a:extLst>
          </p:cNvPr>
          <p:cNvSpPr>
            <a:spLocks noGrp="1" noChangeArrowheads="1"/>
          </p:cNvSpPr>
          <p:nvPr>
            <p:ph type="title"/>
          </p:nvPr>
        </p:nvSpPr>
        <p:spPr>
          <a:xfrm>
            <a:off x="323850" y="661988"/>
            <a:ext cx="4643438" cy="463550"/>
          </a:xfrm>
          <a:noFill/>
        </p:spPr>
        <p:txBody>
          <a:bodyPr lIns="92075" tIns="46038" rIns="92075" bIns="46038" anchor="t"/>
          <a:lstStyle/>
          <a:p>
            <a:r>
              <a:rPr lang="en-US" altLang="en-US" sz="2800">
                <a:solidFill>
                  <a:srgbClr val="800000"/>
                </a:solidFill>
              </a:rPr>
              <a:t>The NOT NULL Constraint</a:t>
            </a:r>
          </a:p>
        </p:txBody>
      </p:sp>
      <p:sp>
        <p:nvSpPr>
          <p:cNvPr id="30723" name="Rectangle 3">
            <a:extLst>
              <a:ext uri="{FF2B5EF4-FFF2-40B4-BE49-F238E27FC236}">
                <a16:creationId xmlns:a16="http://schemas.microsoft.com/office/drawing/2014/main" id="{DA6CBA74-51B8-E3AB-6617-02A9B4E1D02C}"/>
              </a:ext>
            </a:extLst>
          </p:cNvPr>
          <p:cNvSpPr>
            <a:spLocks noGrp="1" noChangeArrowheads="1"/>
          </p:cNvSpPr>
          <p:nvPr>
            <p:ph type="body" idx="1"/>
          </p:nvPr>
        </p:nvSpPr>
        <p:spPr>
          <a:xfrm>
            <a:off x="974725" y="1357313"/>
            <a:ext cx="7385050" cy="946150"/>
          </a:xfrm>
          <a:noFill/>
        </p:spPr>
        <p:txBody>
          <a:bodyPr lIns="92075" tIns="46038" rIns="92075" bIns="46038">
            <a:spAutoFit/>
          </a:bodyPr>
          <a:lstStyle/>
          <a:p>
            <a:r>
              <a:rPr lang="en-US" altLang="en-US"/>
              <a:t>Ensures that null values are not permitted for the column</a:t>
            </a:r>
          </a:p>
        </p:txBody>
      </p:sp>
      <p:sp>
        <p:nvSpPr>
          <p:cNvPr id="30724" name="Rectangle 4">
            <a:extLst>
              <a:ext uri="{FF2B5EF4-FFF2-40B4-BE49-F238E27FC236}">
                <a16:creationId xmlns:a16="http://schemas.microsoft.com/office/drawing/2014/main" id="{592CC3C6-31B8-5878-73D6-857EA21CC25E}"/>
              </a:ext>
            </a:extLst>
          </p:cNvPr>
          <p:cNvSpPr>
            <a:spLocks noChangeArrowheads="1"/>
          </p:cNvSpPr>
          <p:nvPr/>
        </p:nvSpPr>
        <p:spPr bwMode="blackWhite">
          <a:xfrm>
            <a:off x="1712913" y="2862263"/>
            <a:ext cx="5913437" cy="19399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376837" name="Rectangle 5">
            <a:extLst>
              <a:ext uri="{FF2B5EF4-FFF2-40B4-BE49-F238E27FC236}">
                <a16:creationId xmlns:a16="http://schemas.microsoft.com/office/drawing/2014/main" id="{415BD2F6-8FAB-3D13-E7DD-6AD476D85383}"/>
              </a:ext>
            </a:extLst>
          </p:cNvPr>
          <p:cNvSpPr>
            <a:spLocks noChangeArrowheads="1"/>
          </p:cNvSpPr>
          <p:nvPr/>
        </p:nvSpPr>
        <p:spPr bwMode="auto">
          <a:xfrm>
            <a:off x="1625600" y="2489200"/>
            <a:ext cx="735013"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EMP</a:t>
            </a:r>
          </a:p>
        </p:txBody>
      </p:sp>
      <p:sp>
        <p:nvSpPr>
          <p:cNvPr id="30726" name="Line 6">
            <a:extLst>
              <a:ext uri="{FF2B5EF4-FFF2-40B4-BE49-F238E27FC236}">
                <a16:creationId xmlns:a16="http://schemas.microsoft.com/office/drawing/2014/main" id="{633A75D0-9597-E984-FA62-0DCF33F870B0}"/>
              </a:ext>
            </a:extLst>
          </p:cNvPr>
          <p:cNvSpPr>
            <a:spLocks noChangeShapeType="1"/>
          </p:cNvSpPr>
          <p:nvPr/>
        </p:nvSpPr>
        <p:spPr bwMode="auto">
          <a:xfrm>
            <a:off x="2711450" y="2852738"/>
            <a:ext cx="0" cy="198755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727" name="Line 7">
            <a:extLst>
              <a:ext uri="{FF2B5EF4-FFF2-40B4-BE49-F238E27FC236}">
                <a16:creationId xmlns:a16="http://schemas.microsoft.com/office/drawing/2014/main" id="{375B6C43-D5A7-6E02-2A3D-AE69E2232384}"/>
              </a:ext>
            </a:extLst>
          </p:cNvPr>
          <p:cNvSpPr>
            <a:spLocks noChangeShapeType="1"/>
          </p:cNvSpPr>
          <p:nvPr/>
        </p:nvSpPr>
        <p:spPr bwMode="auto">
          <a:xfrm>
            <a:off x="3562350" y="2852738"/>
            <a:ext cx="0" cy="197802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728" name="Line 8">
            <a:extLst>
              <a:ext uri="{FF2B5EF4-FFF2-40B4-BE49-F238E27FC236}">
                <a16:creationId xmlns:a16="http://schemas.microsoft.com/office/drawing/2014/main" id="{97DD1C3E-C7E3-7F1D-A25E-C492B278CA09}"/>
              </a:ext>
            </a:extLst>
          </p:cNvPr>
          <p:cNvSpPr>
            <a:spLocks noChangeShapeType="1"/>
          </p:cNvSpPr>
          <p:nvPr/>
        </p:nvSpPr>
        <p:spPr bwMode="auto">
          <a:xfrm>
            <a:off x="5057775" y="2852738"/>
            <a:ext cx="0" cy="195897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729" name="Line 9">
            <a:extLst>
              <a:ext uri="{FF2B5EF4-FFF2-40B4-BE49-F238E27FC236}">
                <a16:creationId xmlns:a16="http://schemas.microsoft.com/office/drawing/2014/main" id="{861FC170-B7BA-33B7-34D3-99C6630390DB}"/>
              </a:ext>
            </a:extLst>
          </p:cNvPr>
          <p:cNvSpPr>
            <a:spLocks noChangeShapeType="1"/>
          </p:cNvSpPr>
          <p:nvPr/>
        </p:nvSpPr>
        <p:spPr bwMode="auto">
          <a:xfrm>
            <a:off x="5676900" y="2852738"/>
            <a:ext cx="0" cy="199707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730" name="Rectangle 10">
            <a:extLst>
              <a:ext uri="{FF2B5EF4-FFF2-40B4-BE49-F238E27FC236}">
                <a16:creationId xmlns:a16="http://schemas.microsoft.com/office/drawing/2014/main" id="{13B74787-E135-A104-72BD-D1471540C87B}"/>
              </a:ext>
            </a:extLst>
          </p:cNvPr>
          <p:cNvSpPr>
            <a:spLocks noChangeArrowheads="1"/>
          </p:cNvSpPr>
          <p:nvPr/>
        </p:nvSpPr>
        <p:spPr bwMode="blackWhite">
          <a:xfrm>
            <a:off x="1744663" y="2903538"/>
            <a:ext cx="7361237"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 pos="3200400" algn="l"/>
                <a:tab pos="45720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200400" algn="l"/>
                <a:tab pos="45720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200400" algn="l"/>
                <a:tab pos="45720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200400" algn="l"/>
                <a:tab pos="45720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200400" algn="l"/>
                <a:tab pos="45720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JOB		 ...  COMM  DEPTNO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7839	KING	PRESIDENT		      10</a:t>
            </a:r>
          </a:p>
          <a:p>
            <a:pPr>
              <a:lnSpc>
                <a:spcPct val="95000"/>
              </a:lnSpc>
              <a:spcBef>
                <a:spcPct val="0"/>
              </a:spcBef>
              <a:buFontTx/>
              <a:buNone/>
            </a:pPr>
            <a:r>
              <a:rPr lang="en-US" altLang="en-US" sz="1800" b="1">
                <a:solidFill>
                  <a:srgbClr val="000000"/>
                </a:solidFill>
                <a:latin typeface="Courier New" panose="02070309020205020404" pitchFamily="49" charset="0"/>
              </a:rPr>
              <a:t>  7698	BLAKE	MANAGER		      30</a:t>
            </a:r>
          </a:p>
          <a:p>
            <a:pPr>
              <a:lnSpc>
                <a:spcPct val="95000"/>
              </a:lnSpc>
              <a:spcBef>
                <a:spcPct val="0"/>
              </a:spcBef>
              <a:buFontTx/>
              <a:buNone/>
            </a:pPr>
            <a:r>
              <a:rPr lang="en-US" altLang="en-US" sz="1800" b="1">
                <a:solidFill>
                  <a:srgbClr val="000000"/>
                </a:solidFill>
                <a:latin typeface="Courier New" panose="02070309020205020404" pitchFamily="49" charset="0"/>
              </a:rPr>
              <a:t>  7782	CLARK	MANAGER		      10</a:t>
            </a:r>
          </a:p>
          <a:p>
            <a:pPr>
              <a:lnSpc>
                <a:spcPct val="95000"/>
              </a:lnSpc>
              <a:spcBef>
                <a:spcPct val="0"/>
              </a:spcBef>
              <a:buFontTx/>
              <a:buNone/>
            </a:pPr>
            <a:r>
              <a:rPr lang="en-US" altLang="en-US" sz="1800" b="1">
                <a:solidFill>
                  <a:srgbClr val="000000"/>
                </a:solidFill>
                <a:latin typeface="Courier New" panose="02070309020205020404" pitchFamily="49" charset="0"/>
              </a:rPr>
              <a:t>  7566	JONES	MANAGER		      20</a:t>
            </a:r>
          </a:p>
          <a:p>
            <a:pPr>
              <a:lnSpc>
                <a:spcPct val="95000"/>
              </a:lnSpc>
              <a:spcBef>
                <a:spcPct val="0"/>
              </a:spcBef>
              <a:buFontTx/>
              <a:buNone/>
            </a:pPr>
            <a:r>
              <a:rPr lang="en-US" altLang="en-US" sz="1800" b="1">
                <a:solidFill>
                  <a:srgbClr val="000000"/>
                </a:solidFill>
                <a:latin typeface="Courier New" panose="02070309020205020404" pitchFamily="49" charset="0"/>
              </a:rPr>
              <a:t>  ...</a:t>
            </a:r>
          </a:p>
        </p:txBody>
      </p:sp>
      <p:grpSp>
        <p:nvGrpSpPr>
          <p:cNvPr id="30731" name="Group 11">
            <a:extLst>
              <a:ext uri="{FF2B5EF4-FFF2-40B4-BE49-F238E27FC236}">
                <a16:creationId xmlns:a16="http://schemas.microsoft.com/office/drawing/2014/main" id="{CC05DD8A-C8B3-B55E-E9B7-8904CF74758A}"/>
              </a:ext>
            </a:extLst>
          </p:cNvPr>
          <p:cNvGrpSpPr>
            <a:grpSpLocks/>
          </p:cNvGrpSpPr>
          <p:nvPr/>
        </p:nvGrpSpPr>
        <p:grpSpPr bwMode="auto">
          <a:xfrm>
            <a:off x="1708150" y="3316288"/>
            <a:ext cx="5930900" cy="1200150"/>
            <a:chOff x="1076" y="2089"/>
            <a:chExt cx="3736" cy="756"/>
          </a:xfrm>
        </p:grpSpPr>
        <p:sp>
          <p:nvSpPr>
            <p:cNvPr id="30741" name="Line 12">
              <a:extLst>
                <a:ext uri="{FF2B5EF4-FFF2-40B4-BE49-F238E27FC236}">
                  <a16:creationId xmlns:a16="http://schemas.microsoft.com/office/drawing/2014/main" id="{A5101AD9-9DFA-853B-1082-09604FF65A60}"/>
                </a:ext>
              </a:extLst>
            </p:cNvPr>
            <p:cNvSpPr>
              <a:spLocks noChangeShapeType="1"/>
            </p:cNvSpPr>
            <p:nvPr/>
          </p:nvSpPr>
          <p:spPr bwMode="auto">
            <a:xfrm>
              <a:off x="1080" y="2089"/>
              <a:ext cx="3719"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742" name="Line 13">
              <a:extLst>
                <a:ext uri="{FF2B5EF4-FFF2-40B4-BE49-F238E27FC236}">
                  <a16:creationId xmlns:a16="http://schemas.microsoft.com/office/drawing/2014/main" id="{38A5A98B-1D03-8B5B-8A33-9DA279810329}"/>
                </a:ext>
              </a:extLst>
            </p:cNvPr>
            <p:cNvSpPr>
              <a:spLocks noChangeShapeType="1"/>
            </p:cNvSpPr>
            <p:nvPr/>
          </p:nvSpPr>
          <p:spPr bwMode="auto">
            <a:xfrm>
              <a:off x="1076" y="2337"/>
              <a:ext cx="3736"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743" name="Line 14">
              <a:extLst>
                <a:ext uri="{FF2B5EF4-FFF2-40B4-BE49-F238E27FC236}">
                  <a16:creationId xmlns:a16="http://schemas.microsoft.com/office/drawing/2014/main" id="{E83F5E5B-15E5-5A22-8FB0-002EFCD62F61}"/>
                </a:ext>
              </a:extLst>
            </p:cNvPr>
            <p:cNvSpPr>
              <a:spLocks noChangeShapeType="1"/>
            </p:cNvSpPr>
            <p:nvPr/>
          </p:nvSpPr>
          <p:spPr bwMode="auto">
            <a:xfrm>
              <a:off x="1076" y="2845"/>
              <a:ext cx="3729"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744" name="Line 15">
              <a:extLst>
                <a:ext uri="{FF2B5EF4-FFF2-40B4-BE49-F238E27FC236}">
                  <a16:creationId xmlns:a16="http://schemas.microsoft.com/office/drawing/2014/main" id="{4882D0E9-274D-72A2-D05B-5C8189A1C3A4}"/>
                </a:ext>
              </a:extLst>
            </p:cNvPr>
            <p:cNvSpPr>
              <a:spLocks noChangeShapeType="1"/>
            </p:cNvSpPr>
            <p:nvPr/>
          </p:nvSpPr>
          <p:spPr bwMode="auto">
            <a:xfrm>
              <a:off x="1076" y="2493"/>
              <a:ext cx="3736"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745" name="Line 16">
              <a:extLst>
                <a:ext uri="{FF2B5EF4-FFF2-40B4-BE49-F238E27FC236}">
                  <a16:creationId xmlns:a16="http://schemas.microsoft.com/office/drawing/2014/main" id="{CC7F5CC5-D713-BA81-295D-556800559F99}"/>
                </a:ext>
              </a:extLst>
            </p:cNvPr>
            <p:cNvSpPr>
              <a:spLocks noChangeShapeType="1"/>
            </p:cNvSpPr>
            <p:nvPr/>
          </p:nvSpPr>
          <p:spPr bwMode="auto">
            <a:xfrm>
              <a:off x="1076" y="2661"/>
              <a:ext cx="3736"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30732" name="Line 17">
            <a:extLst>
              <a:ext uri="{FF2B5EF4-FFF2-40B4-BE49-F238E27FC236}">
                <a16:creationId xmlns:a16="http://schemas.microsoft.com/office/drawing/2014/main" id="{4A9FD0A1-D6C3-4627-A625-416C04A29A6B}"/>
              </a:ext>
            </a:extLst>
          </p:cNvPr>
          <p:cNvSpPr>
            <a:spLocks noChangeShapeType="1"/>
          </p:cNvSpPr>
          <p:nvPr/>
        </p:nvSpPr>
        <p:spPr bwMode="auto">
          <a:xfrm>
            <a:off x="6534150" y="2852738"/>
            <a:ext cx="0" cy="199707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3" name="Group 18">
            <a:extLst>
              <a:ext uri="{FF2B5EF4-FFF2-40B4-BE49-F238E27FC236}">
                <a16:creationId xmlns:a16="http://schemas.microsoft.com/office/drawing/2014/main" id="{99A90C44-1D47-25CC-9A3F-9FCFE253881B}"/>
              </a:ext>
            </a:extLst>
          </p:cNvPr>
          <p:cNvGrpSpPr>
            <a:grpSpLocks/>
          </p:cNvGrpSpPr>
          <p:nvPr/>
        </p:nvGrpSpPr>
        <p:grpSpPr bwMode="auto">
          <a:xfrm>
            <a:off x="1501775" y="4687888"/>
            <a:ext cx="7470775" cy="1360487"/>
            <a:chOff x="946" y="2953"/>
            <a:chExt cx="4706" cy="857"/>
          </a:xfrm>
        </p:grpSpPr>
        <p:grpSp>
          <p:nvGrpSpPr>
            <p:cNvPr id="30734" name="Group 19">
              <a:extLst>
                <a:ext uri="{FF2B5EF4-FFF2-40B4-BE49-F238E27FC236}">
                  <a16:creationId xmlns:a16="http://schemas.microsoft.com/office/drawing/2014/main" id="{35E8EA3C-983B-70E3-914E-2BD4E05BE127}"/>
                </a:ext>
              </a:extLst>
            </p:cNvPr>
            <p:cNvGrpSpPr>
              <a:grpSpLocks/>
            </p:cNvGrpSpPr>
            <p:nvPr/>
          </p:nvGrpSpPr>
          <p:grpSpPr bwMode="auto">
            <a:xfrm>
              <a:off x="946" y="2953"/>
              <a:ext cx="2030" cy="857"/>
              <a:chOff x="946" y="2953"/>
              <a:chExt cx="2030" cy="857"/>
            </a:xfrm>
          </p:grpSpPr>
          <p:sp>
            <p:nvSpPr>
              <p:cNvPr id="376852" name="Rectangle 20">
                <a:extLst>
                  <a:ext uri="{FF2B5EF4-FFF2-40B4-BE49-F238E27FC236}">
                    <a16:creationId xmlns:a16="http://schemas.microsoft.com/office/drawing/2014/main" id="{93F111C8-97B3-B1FE-A0D7-A668A41530C8}"/>
                  </a:ext>
                </a:extLst>
              </p:cNvPr>
              <p:cNvSpPr>
                <a:spLocks noChangeArrowheads="1"/>
              </p:cNvSpPr>
              <p:nvPr/>
            </p:nvSpPr>
            <p:spPr bwMode="auto">
              <a:xfrm>
                <a:off x="946" y="3196"/>
                <a:ext cx="2030" cy="614"/>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600" b="1">
                    <a:solidFill>
                      <a:schemeClr val="accent2"/>
                    </a:solidFill>
                    <a:effectLst>
                      <a:outerShdw blurRad="38100" dist="38100" dir="2700000" algn="tl">
                        <a:srgbClr val="000000"/>
                      </a:outerShdw>
                    </a:effectLst>
                  </a:rPr>
                  <a:t>NOT NULL constraint</a:t>
                </a:r>
              </a:p>
              <a:p>
                <a:pPr>
                  <a:lnSpc>
                    <a:spcPct val="90000"/>
                  </a:lnSpc>
                  <a:defRPr/>
                </a:pPr>
                <a:r>
                  <a:rPr lang="en-US" sz="1600" b="1">
                    <a:solidFill>
                      <a:schemeClr val="accent2"/>
                    </a:solidFill>
                    <a:effectLst>
                      <a:outerShdw blurRad="38100" dist="38100" dir="2700000" algn="tl">
                        <a:srgbClr val="000000"/>
                      </a:outerShdw>
                    </a:effectLst>
                  </a:rPr>
                  <a:t>(no row can contain</a:t>
                </a:r>
                <a:br>
                  <a:rPr lang="en-US" sz="1600" b="1">
                    <a:solidFill>
                      <a:schemeClr val="accent2"/>
                    </a:solidFill>
                    <a:effectLst>
                      <a:outerShdw blurRad="38100" dist="38100" dir="2700000" algn="tl">
                        <a:srgbClr val="000000"/>
                      </a:outerShdw>
                    </a:effectLst>
                  </a:rPr>
                </a:br>
                <a:r>
                  <a:rPr lang="en-US" sz="1600" b="1">
                    <a:solidFill>
                      <a:schemeClr val="accent2"/>
                    </a:solidFill>
                    <a:effectLst>
                      <a:outerShdw blurRad="38100" dist="38100" dir="2700000" algn="tl">
                        <a:srgbClr val="000000"/>
                      </a:outerShdw>
                    </a:effectLst>
                  </a:rPr>
                  <a:t>a null value for</a:t>
                </a:r>
                <a:br>
                  <a:rPr lang="en-US" sz="1600" b="1">
                    <a:solidFill>
                      <a:schemeClr val="accent2"/>
                    </a:solidFill>
                    <a:effectLst>
                      <a:outerShdw blurRad="38100" dist="38100" dir="2700000" algn="tl">
                        <a:srgbClr val="000000"/>
                      </a:outerShdw>
                    </a:effectLst>
                  </a:rPr>
                </a:br>
                <a:r>
                  <a:rPr lang="en-US" sz="1600" b="1">
                    <a:solidFill>
                      <a:schemeClr val="accent2"/>
                    </a:solidFill>
                    <a:effectLst>
                      <a:outerShdw blurRad="38100" dist="38100" dir="2700000" algn="tl">
                        <a:srgbClr val="000000"/>
                      </a:outerShdw>
                    </a:effectLst>
                  </a:rPr>
                  <a:t>this column)</a:t>
                </a:r>
              </a:p>
            </p:txBody>
          </p:sp>
          <p:sp>
            <p:nvSpPr>
              <p:cNvPr id="30740" name="Line 21">
                <a:extLst>
                  <a:ext uri="{FF2B5EF4-FFF2-40B4-BE49-F238E27FC236}">
                    <a16:creationId xmlns:a16="http://schemas.microsoft.com/office/drawing/2014/main" id="{0E7411EE-02D4-6F87-02E7-7297789A2A3D}"/>
                  </a:ext>
                </a:extLst>
              </p:cNvPr>
              <p:cNvSpPr>
                <a:spLocks noChangeShapeType="1"/>
              </p:cNvSpPr>
              <p:nvPr/>
            </p:nvSpPr>
            <p:spPr bwMode="auto">
              <a:xfrm>
                <a:off x="1943" y="2953"/>
                <a:ext cx="1" cy="263"/>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
          <p:nvSpPr>
            <p:cNvPr id="376854" name="Rectangle 22">
              <a:extLst>
                <a:ext uri="{FF2B5EF4-FFF2-40B4-BE49-F238E27FC236}">
                  <a16:creationId xmlns:a16="http://schemas.microsoft.com/office/drawing/2014/main" id="{37B74681-03D3-117E-73BB-25E78F935F31}"/>
                </a:ext>
              </a:extLst>
            </p:cNvPr>
            <p:cNvSpPr>
              <a:spLocks noChangeArrowheads="1"/>
            </p:cNvSpPr>
            <p:nvPr/>
          </p:nvSpPr>
          <p:spPr bwMode="auto">
            <a:xfrm>
              <a:off x="2686" y="3196"/>
              <a:ext cx="1514" cy="614"/>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600" b="1">
                  <a:solidFill>
                    <a:schemeClr val="accent2"/>
                  </a:solidFill>
                  <a:effectLst>
                    <a:outerShdw blurRad="38100" dist="38100" dir="2700000" algn="tl">
                      <a:srgbClr val="000000"/>
                    </a:outerShdw>
                  </a:effectLst>
                </a:rPr>
                <a:t>Absence of NOT NULL constraint</a:t>
              </a:r>
            </a:p>
            <a:p>
              <a:pPr>
                <a:lnSpc>
                  <a:spcPct val="90000"/>
                </a:lnSpc>
                <a:defRPr/>
              </a:pPr>
              <a:r>
                <a:rPr lang="en-US" sz="1600" b="1">
                  <a:solidFill>
                    <a:schemeClr val="accent2"/>
                  </a:solidFill>
                  <a:effectLst>
                    <a:outerShdw blurRad="38100" dist="38100" dir="2700000" algn="tl">
                      <a:srgbClr val="000000"/>
                    </a:outerShdw>
                  </a:effectLst>
                </a:rPr>
                <a:t>(any row can contain</a:t>
              </a:r>
              <a:br>
                <a:rPr lang="en-US" sz="1600" b="1">
                  <a:solidFill>
                    <a:schemeClr val="accent2"/>
                  </a:solidFill>
                  <a:effectLst>
                    <a:outerShdw blurRad="38100" dist="38100" dir="2700000" algn="tl">
                      <a:srgbClr val="000000"/>
                    </a:outerShdw>
                  </a:effectLst>
                </a:rPr>
              </a:br>
              <a:r>
                <a:rPr lang="en-US" sz="1600" b="1">
                  <a:solidFill>
                    <a:schemeClr val="accent2"/>
                  </a:solidFill>
                  <a:effectLst>
                    <a:outerShdw blurRad="38100" dist="38100" dir="2700000" algn="tl">
                      <a:srgbClr val="000000"/>
                    </a:outerShdw>
                  </a:effectLst>
                </a:rPr>
                <a:t>null for this column)</a:t>
              </a:r>
            </a:p>
          </p:txBody>
        </p:sp>
        <p:sp>
          <p:nvSpPr>
            <p:cNvPr id="30736" name="Line 23">
              <a:extLst>
                <a:ext uri="{FF2B5EF4-FFF2-40B4-BE49-F238E27FC236}">
                  <a16:creationId xmlns:a16="http://schemas.microsoft.com/office/drawing/2014/main" id="{DC5A6C25-3D66-4948-5C42-3EC0F00F43D6}"/>
                </a:ext>
              </a:extLst>
            </p:cNvPr>
            <p:cNvSpPr>
              <a:spLocks noChangeShapeType="1"/>
            </p:cNvSpPr>
            <p:nvPr/>
          </p:nvSpPr>
          <p:spPr bwMode="auto">
            <a:xfrm>
              <a:off x="3827" y="2953"/>
              <a:ext cx="1" cy="263"/>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376856" name="Rectangle 24">
              <a:extLst>
                <a:ext uri="{FF2B5EF4-FFF2-40B4-BE49-F238E27FC236}">
                  <a16:creationId xmlns:a16="http://schemas.microsoft.com/office/drawing/2014/main" id="{30C40D43-D79D-FB7D-B735-9BC6332820D8}"/>
                </a:ext>
              </a:extLst>
            </p:cNvPr>
            <p:cNvSpPr>
              <a:spLocks noChangeArrowheads="1"/>
            </p:cNvSpPr>
            <p:nvPr/>
          </p:nvSpPr>
          <p:spPr bwMode="auto">
            <a:xfrm>
              <a:off x="4197" y="3196"/>
              <a:ext cx="1455" cy="197"/>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600" b="1">
                  <a:solidFill>
                    <a:schemeClr val="accent2"/>
                  </a:solidFill>
                  <a:effectLst>
                    <a:outerShdw blurRad="38100" dist="38100" dir="2700000" algn="tl">
                      <a:srgbClr val="000000"/>
                    </a:outerShdw>
                  </a:effectLst>
                </a:rPr>
                <a:t>NOT NULL constraint</a:t>
              </a:r>
            </a:p>
          </p:txBody>
        </p:sp>
        <p:sp>
          <p:nvSpPr>
            <p:cNvPr id="30738" name="Line 25">
              <a:extLst>
                <a:ext uri="{FF2B5EF4-FFF2-40B4-BE49-F238E27FC236}">
                  <a16:creationId xmlns:a16="http://schemas.microsoft.com/office/drawing/2014/main" id="{8D8A8C93-2B5A-39CC-BA0C-0D02F04A44D1}"/>
                </a:ext>
              </a:extLst>
            </p:cNvPr>
            <p:cNvSpPr>
              <a:spLocks noChangeShapeType="1"/>
            </p:cNvSpPr>
            <p:nvPr/>
          </p:nvSpPr>
          <p:spPr bwMode="auto">
            <a:xfrm>
              <a:off x="4619" y="2953"/>
              <a:ext cx="1" cy="263"/>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DB52962B-387A-9DDB-EC45-586D08E484A6}"/>
              </a:ext>
            </a:extLst>
          </p:cNvPr>
          <p:cNvSpPr>
            <a:spLocks noChangeArrowheads="1"/>
          </p:cNvSpPr>
          <p:nvPr/>
        </p:nvSpPr>
        <p:spPr bwMode="blackWhite">
          <a:xfrm>
            <a:off x="1212850" y="2184400"/>
            <a:ext cx="6794500" cy="26924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2771" name="Rectangle 3">
            <a:extLst>
              <a:ext uri="{FF2B5EF4-FFF2-40B4-BE49-F238E27FC236}">
                <a16:creationId xmlns:a16="http://schemas.microsoft.com/office/drawing/2014/main" id="{C7DE38E2-399E-2A35-1BBA-C4F6E8167C36}"/>
              </a:ext>
            </a:extLst>
          </p:cNvPr>
          <p:cNvSpPr>
            <a:spLocks noGrp="1" noChangeArrowheads="1"/>
          </p:cNvSpPr>
          <p:nvPr>
            <p:ph type="title"/>
          </p:nvPr>
        </p:nvSpPr>
        <p:spPr>
          <a:xfrm>
            <a:off x="323850" y="660400"/>
            <a:ext cx="4425950" cy="536575"/>
          </a:xfrm>
          <a:noFill/>
        </p:spPr>
        <p:txBody>
          <a:bodyPr lIns="92075" tIns="46038" rIns="92075" bIns="46038" anchor="t"/>
          <a:lstStyle/>
          <a:p>
            <a:r>
              <a:rPr lang="en-US" altLang="en-US" sz="2800">
                <a:solidFill>
                  <a:srgbClr val="800000"/>
                </a:solidFill>
              </a:rPr>
              <a:t>The NOT NULL Constraint</a:t>
            </a:r>
          </a:p>
        </p:txBody>
      </p:sp>
      <p:sp>
        <p:nvSpPr>
          <p:cNvPr id="32772" name="Rectangle 4">
            <a:extLst>
              <a:ext uri="{FF2B5EF4-FFF2-40B4-BE49-F238E27FC236}">
                <a16:creationId xmlns:a16="http://schemas.microsoft.com/office/drawing/2014/main" id="{F6CAD269-2711-F207-C670-034FD9C9CAB7}"/>
              </a:ext>
            </a:extLst>
          </p:cNvPr>
          <p:cNvSpPr>
            <a:spLocks noGrp="1" noChangeArrowheads="1"/>
          </p:cNvSpPr>
          <p:nvPr>
            <p:ph type="body" idx="1"/>
          </p:nvPr>
        </p:nvSpPr>
        <p:spPr>
          <a:xfrm>
            <a:off x="1108075" y="1471613"/>
            <a:ext cx="7385050" cy="519112"/>
          </a:xfrm>
          <a:noFill/>
        </p:spPr>
        <p:txBody>
          <a:bodyPr lIns="92075" tIns="46038" rIns="92075" bIns="46038">
            <a:spAutoFit/>
          </a:bodyPr>
          <a:lstStyle/>
          <a:p>
            <a:r>
              <a:rPr lang="en-US" altLang="en-US"/>
              <a:t>Defined at the column level</a:t>
            </a:r>
          </a:p>
        </p:txBody>
      </p:sp>
      <p:grpSp>
        <p:nvGrpSpPr>
          <p:cNvPr id="2" name="Group 5">
            <a:extLst>
              <a:ext uri="{FF2B5EF4-FFF2-40B4-BE49-F238E27FC236}">
                <a16:creationId xmlns:a16="http://schemas.microsoft.com/office/drawing/2014/main" id="{B76DEC6D-7DF7-6079-4A5D-EFAA1E236485}"/>
              </a:ext>
            </a:extLst>
          </p:cNvPr>
          <p:cNvGrpSpPr>
            <a:grpSpLocks/>
          </p:cNvGrpSpPr>
          <p:nvPr/>
        </p:nvGrpSpPr>
        <p:grpSpPr bwMode="auto">
          <a:xfrm>
            <a:off x="2466975" y="2857500"/>
            <a:ext cx="4429125" cy="1924050"/>
            <a:chOff x="1554" y="1800"/>
            <a:chExt cx="2790" cy="1212"/>
          </a:xfrm>
        </p:grpSpPr>
        <p:sp>
          <p:nvSpPr>
            <p:cNvPr id="32775" name="Rectangle 6">
              <a:extLst>
                <a:ext uri="{FF2B5EF4-FFF2-40B4-BE49-F238E27FC236}">
                  <a16:creationId xmlns:a16="http://schemas.microsoft.com/office/drawing/2014/main" id="{C9C526A6-A83A-1E25-0493-D697CCD87E77}"/>
                </a:ext>
              </a:extLst>
            </p:cNvPr>
            <p:cNvSpPr>
              <a:spLocks noChangeArrowheads="1"/>
            </p:cNvSpPr>
            <p:nvPr/>
          </p:nvSpPr>
          <p:spPr bwMode="ltGray">
            <a:xfrm>
              <a:off x="1554" y="1800"/>
              <a:ext cx="2790" cy="18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2776" name="Rectangle 7">
              <a:extLst>
                <a:ext uri="{FF2B5EF4-FFF2-40B4-BE49-F238E27FC236}">
                  <a16:creationId xmlns:a16="http://schemas.microsoft.com/office/drawing/2014/main" id="{7154BA7B-A5AC-5872-8827-8505C6719BDE}"/>
                </a:ext>
              </a:extLst>
            </p:cNvPr>
            <p:cNvSpPr>
              <a:spLocks noChangeArrowheads="1"/>
            </p:cNvSpPr>
            <p:nvPr/>
          </p:nvSpPr>
          <p:spPr bwMode="ltGray">
            <a:xfrm>
              <a:off x="1554" y="2832"/>
              <a:ext cx="2627" cy="18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32774" name="Rectangle 8">
            <a:extLst>
              <a:ext uri="{FF2B5EF4-FFF2-40B4-BE49-F238E27FC236}">
                <a16:creationId xmlns:a16="http://schemas.microsoft.com/office/drawing/2014/main" id="{BC59A515-8934-1793-5570-BAF56EF4977E}"/>
              </a:ext>
            </a:extLst>
          </p:cNvPr>
          <p:cNvSpPr>
            <a:spLocks noChangeArrowheads="1"/>
          </p:cNvSpPr>
          <p:nvPr/>
        </p:nvSpPr>
        <p:spPr bwMode="blackWhite">
          <a:xfrm>
            <a:off x="1238250" y="3121025"/>
            <a:ext cx="749617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CREATE TABLE emp(</a:t>
            </a:r>
          </a:p>
          <a:p>
            <a:pPr>
              <a:spcBef>
                <a:spcPct val="0"/>
              </a:spcBef>
              <a:buFontTx/>
              <a:buNone/>
            </a:pPr>
            <a:r>
              <a:rPr lang="en-US" altLang="en-US" sz="1800" b="1">
                <a:solidFill>
                  <a:srgbClr val="000000"/>
                </a:solidFill>
                <a:latin typeface="Courier New" panose="02070309020205020404" pitchFamily="49" charset="0"/>
              </a:rPr>
              <a:t>  2  	empno 	NUMBER(4),</a:t>
            </a:r>
          </a:p>
          <a:p>
            <a:pPr>
              <a:spcBef>
                <a:spcPct val="0"/>
              </a:spcBef>
              <a:buFontTx/>
              <a:buNone/>
            </a:pPr>
            <a:r>
              <a:rPr lang="en-US" altLang="en-US" sz="1800" b="1">
                <a:solidFill>
                  <a:srgbClr val="000000"/>
                </a:solidFill>
                <a:latin typeface="Courier New" panose="02070309020205020404" pitchFamily="49" charset="0"/>
              </a:rPr>
              <a:t>  3	ename	VARCHAR2(10) NOT NULL,</a:t>
            </a:r>
          </a:p>
          <a:p>
            <a:pPr>
              <a:spcBef>
                <a:spcPct val="0"/>
              </a:spcBef>
              <a:buFontTx/>
              <a:buNone/>
            </a:pPr>
            <a:r>
              <a:rPr lang="en-US" altLang="en-US" sz="1800" b="1">
                <a:solidFill>
                  <a:srgbClr val="000000"/>
                </a:solidFill>
                <a:latin typeface="Courier New" panose="02070309020205020404" pitchFamily="49" charset="0"/>
              </a:rPr>
              <a:t>  4	job	VARCHAR2(9),</a:t>
            </a:r>
          </a:p>
          <a:p>
            <a:pPr>
              <a:spcBef>
                <a:spcPct val="0"/>
              </a:spcBef>
              <a:buFontTx/>
              <a:buNone/>
            </a:pPr>
            <a:r>
              <a:rPr lang="en-US" altLang="en-US" sz="1800" b="1">
                <a:solidFill>
                  <a:srgbClr val="000000"/>
                </a:solidFill>
                <a:latin typeface="Courier New" panose="02070309020205020404" pitchFamily="49" charset="0"/>
              </a:rPr>
              <a:t>  5	mgr	NUMBER(4),</a:t>
            </a:r>
          </a:p>
          <a:p>
            <a:pPr>
              <a:spcBef>
                <a:spcPct val="0"/>
              </a:spcBef>
              <a:buFontTx/>
              <a:buNone/>
            </a:pPr>
            <a:r>
              <a:rPr lang="en-US" altLang="en-US" sz="1800" b="1">
                <a:solidFill>
                  <a:srgbClr val="000000"/>
                </a:solidFill>
                <a:latin typeface="Courier New" panose="02070309020205020404" pitchFamily="49" charset="0"/>
              </a:rPr>
              <a:t>  6	hiredate	DATE,</a:t>
            </a:r>
          </a:p>
          <a:p>
            <a:pPr>
              <a:spcBef>
                <a:spcPct val="0"/>
              </a:spcBef>
              <a:buFontTx/>
              <a:buNone/>
            </a:pPr>
            <a:r>
              <a:rPr lang="en-US" altLang="en-US" sz="1800" b="1">
                <a:solidFill>
                  <a:srgbClr val="000000"/>
                </a:solidFill>
                <a:latin typeface="Courier New" panose="02070309020205020404" pitchFamily="49" charset="0"/>
              </a:rPr>
              <a:t>  7	sal	NUMBER(7,2),</a:t>
            </a:r>
          </a:p>
          <a:p>
            <a:pPr>
              <a:spcBef>
                <a:spcPct val="0"/>
              </a:spcBef>
              <a:buFontTx/>
              <a:buNone/>
            </a:pPr>
            <a:r>
              <a:rPr lang="en-US" altLang="en-US" sz="1800" b="1">
                <a:solidFill>
                  <a:srgbClr val="000000"/>
                </a:solidFill>
                <a:latin typeface="Courier New" panose="02070309020205020404" pitchFamily="49" charset="0"/>
              </a:rPr>
              <a:t>  8 	comm	NUMBER(7,2),</a:t>
            </a:r>
          </a:p>
          <a:p>
            <a:pPr>
              <a:spcBef>
                <a:spcPct val="0"/>
              </a:spcBef>
              <a:buFontTx/>
              <a:buNone/>
            </a:pPr>
            <a:r>
              <a:rPr lang="en-US" altLang="en-US" sz="1800" b="1">
                <a:solidFill>
                  <a:srgbClr val="000000"/>
                </a:solidFill>
                <a:latin typeface="Courier New" panose="02070309020205020404" pitchFamily="49" charset="0"/>
              </a:rPr>
              <a:t>  9	deptno	NUMBER(7,2) NOT NULL);</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FAC202D-5743-FB0C-3790-99CE47047953}"/>
              </a:ext>
            </a:extLst>
          </p:cNvPr>
          <p:cNvSpPr>
            <a:spLocks noGrp="1" noChangeArrowheads="1"/>
          </p:cNvSpPr>
          <p:nvPr>
            <p:ph type="title"/>
          </p:nvPr>
        </p:nvSpPr>
        <p:spPr>
          <a:xfrm>
            <a:off x="323850" y="660400"/>
            <a:ext cx="4786313" cy="536575"/>
          </a:xfrm>
          <a:noFill/>
        </p:spPr>
        <p:txBody>
          <a:bodyPr lIns="92075" tIns="46038" rIns="92075" bIns="46038" anchor="t"/>
          <a:lstStyle/>
          <a:p>
            <a:r>
              <a:rPr lang="en-US" altLang="en-US" sz="2800">
                <a:solidFill>
                  <a:srgbClr val="800000"/>
                </a:solidFill>
              </a:rPr>
              <a:t>The UNIQUE Key Constraint</a:t>
            </a:r>
          </a:p>
        </p:txBody>
      </p:sp>
      <p:sp>
        <p:nvSpPr>
          <p:cNvPr id="34819" name="Rectangle 3">
            <a:extLst>
              <a:ext uri="{FF2B5EF4-FFF2-40B4-BE49-F238E27FC236}">
                <a16:creationId xmlns:a16="http://schemas.microsoft.com/office/drawing/2014/main" id="{204F0C53-83AD-243C-1950-0355F3C3B3DD}"/>
              </a:ext>
            </a:extLst>
          </p:cNvPr>
          <p:cNvSpPr>
            <a:spLocks noChangeArrowheads="1"/>
          </p:cNvSpPr>
          <p:nvPr/>
        </p:nvSpPr>
        <p:spPr bwMode="blackWhite">
          <a:xfrm>
            <a:off x="1179513" y="2047875"/>
            <a:ext cx="3862387" cy="16795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380932" name="Rectangle 4">
            <a:extLst>
              <a:ext uri="{FF2B5EF4-FFF2-40B4-BE49-F238E27FC236}">
                <a16:creationId xmlns:a16="http://schemas.microsoft.com/office/drawing/2014/main" id="{A4122D56-BBBA-2C12-17EB-6865415E4D35}"/>
              </a:ext>
            </a:extLst>
          </p:cNvPr>
          <p:cNvSpPr>
            <a:spLocks noChangeArrowheads="1"/>
          </p:cNvSpPr>
          <p:nvPr/>
        </p:nvSpPr>
        <p:spPr bwMode="auto">
          <a:xfrm>
            <a:off x="1092200" y="1684338"/>
            <a:ext cx="931863"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DEPT </a:t>
            </a:r>
          </a:p>
        </p:txBody>
      </p:sp>
      <p:sp>
        <p:nvSpPr>
          <p:cNvPr id="34821" name="Rectangle 5">
            <a:extLst>
              <a:ext uri="{FF2B5EF4-FFF2-40B4-BE49-F238E27FC236}">
                <a16:creationId xmlns:a16="http://schemas.microsoft.com/office/drawing/2014/main" id="{F1D9327D-5385-59C8-6200-DD1A0F3136BF}"/>
              </a:ext>
            </a:extLst>
          </p:cNvPr>
          <p:cNvSpPr>
            <a:spLocks noChangeArrowheads="1"/>
          </p:cNvSpPr>
          <p:nvPr/>
        </p:nvSpPr>
        <p:spPr bwMode="blackWhite">
          <a:xfrm>
            <a:off x="1192213" y="2079625"/>
            <a:ext cx="3836987"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40	OPERATIONS	BOSTON</a:t>
            </a:r>
          </a:p>
        </p:txBody>
      </p:sp>
      <p:sp>
        <p:nvSpPr>
          <p:cNvPr id="34822" name="Line 6">
            <a:extLst>
              <a:ext uri="{FF2B5EF4-FFF2-40B4-BE49-F238E27FC236}">
                <a16:creationId xmlns:a16="http://schemas.microsoft.com/office/drawing/2014/main" id="{4B23B673-88A7-B0F3-9519-30219AFA5647}"/>
              </a:ext>
            </a:extLst>
          </p:cNvPr>
          <p:cNvSpPr>
            <a:spLocks noChangeShapeType="1"/>
          </p:cNvSpPr>
          <p:nvPr/>
        </p:nvSpPr>
        <p:spPr bwMode="auto">
          <a:xfrm>
            <a:off x="1181100" y="2511425"/>
            <a:ext cx="3879850"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4823" name="Line 7">
            <a:extLst>
              <a:ext uri="{FF2B5EF4-FFF2-40B4-BE49-F238E27FC236}">
                <a16:creationId xmlns:a16="http://schemas.microsoft.com/office/drawing/2014/main" id="{A46304AA-E46F-BDD4-8305-11DE5E057C9B}"/>
              </a:ext>
            </a:extLst>
          </p:cNvPr>
          <p:cNvSpPr>
            <a:spLocks noChangeShapeType="1"/>
          </p:cNvSpPr>
          <p:nvPr/>
        </p:nvSpPr>
        <p:spPr bwMode="auto">
          <a:xfrm>
            <a:off x="1174750" y="2905125"/>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4824" name="Line 8">
            <a:extLst>
              <a:ext uri="{FF2B5EF4-FFF2-40B4-BE49-F238E27FC236}">
                <a16:creationId xmlns:a16="http://schemas.microsoft.com/office/drawing/2014/main" id="{5001C9A7-AE85-27B3-869B-680C29720DC3}"/>
              </a:ext>
            </a:extLst>
          </p:cNvPr>
          <p:cNvSpPr>
            <a:spLocks noChangeShapeType="1"/>
          </p:cNvSpPr>
          <p:nvPr/>
        </p:nvSpPr>
        <p:spPr bwMode="auto">
          <a:xfrm>
            <a:off x="1174750" y="3165475"/>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4825" name="Line 9">
            <a:extLst>
              <a:ext uri="{FF2B5EF4-FFF2-40B4-BE49-F238E27FC236}">
                <a16:creationId xmlns:a16="http://schemas.microsoft.com/office/drawing/2014/main" id="{F2A19FC8-9E40-2312-B748-9186C0C8CCC3}"/>
              </a:ext>
            </a:extLst>
          </p:cNvPr>
          <p:cNvSpPr>
            <a:spLocks noChangeShapeType="1"/>
          </p:cNvSpPr>
          <p:nvPr/>
        </p:nvSpPr>
        <p:spPr bwMode="auto">
          <a:xfrm>
            <a:off x="1174750" y="3425825"/>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4826" name="Line 10">
            <a:extLst>
              <a:ext uri="{FF2B5EF4-FFF2-40B4-BE49-F238E27FC236}">
                <a16:creationId xmlns:a16="http://schemas.microsoft.com/office/drawing/2014/main" id="{77278A11-0B43-7DBC-97BB-C7066770AED5}"/>
              </a:ext>
            </a:extLst>
          </p:cNvPr>
          <p:cNvSpPr>
            <a:spLocks noChangeShapeType="1"/>
          </p:cNvSpPr>
          <p:nvPr/>
        </p:nvSpPr>
        <p:spPr bwMode="auto">
          <a:xfrm>
            <a:off x="2178050" y="2047875"/>
            <a:ext cx="0" cy="1714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4827" name="Line 11">
            <a:extLst>
              <a:ext uri="{FF2B5EF4-FFF2-40B4-BE49-F238E27FC236}">
                <a16:creationId xmlns:a16="http://schemas.microsoft.com/office/drawing/2014/main" id="{EAC92F33-BC77-5254-3A8E-B169E7B153FB}"/>
              </a:ext>
            </a:extLst>
          </p:cNvPr>
          <p:cNvSpPr>
            <a:spLocks noChangeShapeType="1"/>
          </p:cNvSpPr>
          <p:nvPr/>
        </p:nvSpPr>
        <p:spPr bwMode="auto">
          <a:xfrm>
            <a:off x="3676650" y="2047875"/>
            <a:ext cx="0" cy="1714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0940" name="Rectangle 12">
            <a:extLst>
              <a:ext uri="{FF2B5EF4-FFF2-40B4-BE49-F238E27FC236}">
                <a16:creationId xmlns:a16="http://schemas.microsoft.com/office/drawing/2014/main" id="{3BAB0E4B-0D35-A2BE-389E-E94D007A9DB4}"/>
              </a:ext>
            </a:extLst>
          </p:cNvPr>
          <p:cNvSpPr>
            <a:spLocks noChangeArrowheads="1"/>
          </p:cNvSpPr>
          <p:nvPr/>
        </p:nvSpPr>
        <p:spPr bwMode="auto">
          <a:xfrm>
            <a:off x="2795588" y="1439863"/>
            <a:ext cx="2938462" cy="339725"/>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a:solidFill>
                  <a:schemeClr val="accent2"/>
                </a:solidFill>
                <a:effectLst>
                  <a:outerShdw blurRad="38100" dist="38100" dir="2700000" algn="tl">
                    <a:srgbClr val="000000"/>
                  </a:outerShdw>
                </a:effectLst>
              </a:rPr>
              <a:t>UNIQUE key constraint</a:t>
            </a:r>
          </a:p>
        </p:txBody>
      </p:sp>
      <p:sp>
        <p:nvSpPr>
          <p:cNvPr id="34829" name="Freeform 13">
            <a:extLst>
              <a:ext uri="{FF2B5EF4-FFF2-40B4-BE49-F238E27FC236}">
                <a16:creationId xmlns:a16="http://schemas.microsoft.com/office/drawing/2014/main" id="{78489D09-234C-DECD-378F-0FF055255EEA}"/>
              </a:ext>
            </a:extLst>
          </p:cNvPr>
          <p:cNvSpPr>
            <a:spLocks/>
          </p:cNvSpPr>
          <p:nvPr/>
        </p:nvSpPr>
        <p:spPr bwMode="auto">
          <a:xfrm>
            <a:off x="2457450" y="1581150"/>
            <a:ext cx="325438" cy="477838"/>
          </a:xfrm>
          <a:custGeom>
            <a:avLst/>
            <a:gdLst>
              <a:gd name="T0" fmla="*/ 2147483646 w 205"/>
              <a:gd name="T1" fmla="*/ 0 h 301"/>
              <a:gd name="T2" fmla="*/ 0 w 205"/>
              <a:gd name="T3" fmla="*/ 0 h 301"/>
              <a:gd name="T4" fmla="*/ 0 w 205"/>
              <a:gd name="T5" fmla="*/ 2147483646 h 301"/>
              <a:gd name="T6" fmla="*/ 0 60000 65536"/>
              <a:gd name="T7" fmla="*/ 0 60000 65536"/>
              <a:gd name="T8" fmla="*/ 0 60000 65536"/>
            </a:gdLst>
            <a:ahLst/>
            <a:cxnLst>
              <a:cxn ang="T6">
                <a:pos x="T0" y="T1"/>
              </a:cxn>
              <a:cxn ang="T7">
                <a:pos x="T2" y="T3"/>
              </a:cxn>
              <a:cxn ang="T8">
                <a:pos x="T4" y="T5"/>
              </a:cxn>
            </a:cxnLst>
            <a:rect l="0" t="0" r="r" b="b"/>
            <a:pathLst>
              <a:path w="205" h="301">
                <a:moveTo>
                  <a:pt x="204" y="0"/>
                </a:moveTo>
                <a:lnTo>
                  <a:pt x="0" y="0"/>
                </a:lnTo>
                <a:lnTo>
                  <a:pt x="0" y="300"/>
                </a:lnTo>
              </a:path>
            </a:pathLst>
          </a:custGeom>
          <a:noFill/>
          <a:ln w="50800" cap="rnd" cmpd="sng">
            <a:solidFill>
              <a:srgbClr val="FFCC00"/>
            </a:solidFill>
            <a:prstDash val="solid"/>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 name="Group 14">
            <a:extLst>
              <a:ext uri="{FF2B5EF4-FFF2-40B4-BE49-F238E27FC236}">
                <a16:creationId xmlns:a16="http://schemas.microsoft.com/office/drawing/2014/main" id="{F839973E-2547-3DAC-3D17-7DB7A6562A29}"/>
              </a:ext>
            </a:extLst>
          </p:cNvPr>
          <p:cNvGrpSpPr>
            <a:grpSpLocks/>
          </p:cNvGrpSpPr>
          <p:nvPr/>
        </p:nvGrpSpPr>
        <p:grpSpPr bwMode="auto">
          <a:xfrm>
            <a:off x="1174750" y="3867150"/>
            <a:ext cx="4767263" cy="1619250"/>
            <a:chOff x="740" y="2436"/>
            <a:chExt cx="3003" cy="1020"/>
          </a:xfrm>
        </p:grpSpPr>
        <p:sp>
          <p:nvSpPr>
            <p:cNvPr id="34836" name="AutoShape 15">
              <a:extLst>
                <a:ext uri="{FF2B5EF4-FFF2-40B4-BE49-F238E27FC236}">
                  <a16:creationId xmlns:a16="http://schemas.microsoft.com/office/drawing/2014/main" id="{A61A0B82-FC4C-B638-BBC5-0E3F743734F1}"/>
                </a:ext>
              </a:extLst>
            </p:cNvPr>
            <p:cNvSpPr>
              <a:spLocks noChangeArrowheads="1"/>
            </p:cNvSpPr>
            <p:nvPr/>
          </p:nvSpPr>
          <p:spPr bwMode="auto">
            <a:xfrm>
              <a:off x="1764" y="2436"/>
              <a:ext cx="396" cy="444"/>
            </a:xfrm>
            <a:prstGeom prst="upArrow">
              <a:avLst>
                <a:gd name="adj1" fmla="val 50000"/>
                <a:gd name="adj2" fmla="val 56055"/>
              </a:avLst>
            </a:prstGeom>
            <a:solidFill>
              <a:srgbClr val="FFCC99"/>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4837" name="Rectangle 16">
              <a:extLst>
                <a:ext uri="{FF2B5EF4-FFF2-40B4-BE49-F238E27FC236}">
                  <a16:creationId xmlns:a16="http://schemas.microsoft.com/office/drawing/2014/main" id="{7262DBCA-EF76-02B2-FB8F-5B73F810C531}"/>
                </a:ext>
              </a:extLst>
            </p:cNvPr>
            <p:cNvSpPr>
              <a:spLocks noChangeArrowheads="1"/>
            </p:cNvSpPr>
            <p:nvPr/>
          </p:nvSpPr>
          <p:spPr bwMode="blackWhite">
            <a:xfrm>
              <a:off x="743" y="2874"/>
              <a:ext cx="2433" cy="566"/>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34838" name="Rectangle 17">
              <a:extLst>
                <a:ext uri="{FF2B5EF4-FFF2-40B4-BE49-F238E27FC236}">
                  <a16:creationId xmlns:a16="http://schemas.microsoft.com/office/drawing/2014/main" id="{81550E68-5588-29F9-EE6C-A59ACBF8A979}"/>
                </a:ext>
              </a:extLst>
            </p:cNvPr>
            <p:cNvSpPr>
              <a:spLocks noChangeArrowheads="1"/>
            </p:cNvSpPr>
            <p:nvPr/>
          </p:nvSpPr>
          <p:spPr bwMode="blackWhite">
            <a:xfrm>
              <a:off x="751" y="2894"/>
              <a:ext cx="2417" cy="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50	SALES		DETROIT</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    60			BOSTON</a:t>
              </a:r>
            </a:p>
          </p:txBody>
        </p:sp>
        <p:grpSp>
          <p:nvGrpSpPr>
            <p:cNvPr id="34839" name="Group 18">
              <a:extLst>
                <a:ext uri="{FF2B5EF4-FFF2-40B4-BE49-F238E27FC236}">
                  <a16:creationId xmlns:a16="http://schemas.microsoft.com/office/drawing/2014/main" id="{3B1ABBAB-E9BF-EA59-8724-2EE666A2F615}"/>
                </a:ext>
              </a:extLst>
            </p:cNvPr>
            <p:cNvGrpSpPr>
              <a:grpSpLocks/>
            </p:cNvGrpSpPr>
            <p:nvPr/>
          </p:nvGrpSpPr>
          <p:grpSpPr bwMode="auto">
            <a:xfrm>
              <a:off x="1372" y="2874"/>
              <a:ext cx="944" cy="582"/>
              <a:chOff x="1372" y="2874"/>
              <a:chExt cx="944" cy="582"/>
            </a:xfrm>
          </p:grpSpPr>
          <p:sp>
            <p:nvSpPr>
              <p:cNvPr id="34842" name="Line 19">
                <a:extLst>
                  <a:ext uri="{FF2B5EF4-FFF2-40B4-BE49-F238E27FC236}">
                    <a16:creationId xmlns:a16="http://schemas.microsoft.com/office/drawing/2014/main" id="{EA9A82AB-B96A-DBEF-B187-5A7BE818CC3B}"/>
                  </a:ext>
                </a:extLst>
              </p:cNvPr>
              <p:cNvSpPr>
                <a:spLocks noChangeShapeType="1"/>
              </p:cNvSpPr>
              <p:nvPr/>
            </p:nvSpPr>
            <p:spPr bwMode="auto">
              <a:xfrm>
                <a:off x="1372" y="2874"/>
                <a:ext cx="0" cy="58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4843" name="Line 20">
                <a:extLst>
                  <a:ext uri="{FF2B5EF4-FFF2-40B4-BE49-F238E27FC236}">
                    <a16:creationId xmlns:a16="http://schemas.microsoft.com/office/drawing/2014/main" id="{6B73CC7D-5205-FB4B-0050-C11B1E6A6ABF}"/>
                  </a:ext>
                </a:extLst>
              </p:cNvPr>
              <p:cNvSpPr>
                <a:spLocks noChangeShapeType="1"/>
              </p:cNvSpPr>
              <p:nvPr/>
            </p:nvSpPr>
            <p:spPr bwMode="auto">
              <a:xfrm>
                <a:off x="2316" y="2874"/>
                <a:ext cx="0" cy="58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380949" name="Rectangle 21">
              <a:extLst>
                <a:ext uri="{FF2B5EF4-FFF2-40B4-BE49-F238E27FC236}">
                  <a16:creationId xmlns:a16="http://schemas.microsoft.com/office/drawing/2014/main" id="{6D91469B-D32E-E882-7D84-9D60054B788C}"/>
                </a:ext>
              </a:extLst>
            </p:cNvPr>
            <p:cNvSpPr>
              <a:spLocks noChangeArrowheads="1"/>
            </p:cNvSpPr>
            <p:nvPr/>
          </p:nvSpPr>
          <p:spPr bwMode="auto">
            <a:xfrm>
              <a:off x="2109" y="2656"/>
              <a:ext cx="1634" cy="214"/>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a:solidFill>
                    <a:schemeClr val="accent2"/>
                  </a:solidFill>
                  <a:effectLst>
                    <a:outerShdw blurRad="38100" dist="38100" dir="2700000" algn="tl">
                      <a:srgbClr val="000000"/>
                    </a:outerShdw>
                  </a:effectLst>
                </a:rPr>
                <a:t>Insert into</a:t>
              </a:r>
            </a:p>
          </p:txBody>
        </p:sp>
        <p:sp>
          <p:nvSpPr>
            <p:cNvPr id="34841" name="Line 22">
              <a:extLst>
                <a:ext uri="{FF2B5EF4-FFF2-40B4-BE49-F238E27FC236}">
                  <a16:creationId xmlns:a16="http://schemas.microsoft.com/office/drawing/2014/main" id="{438D0021-A1D2-43F6-FAB8-4D3A14A351DA}"/>
                </a:ext>
              </a:extLst>
            </p:cNvPr>
            <p:cNvSpPr>
              <a:spLocks noChangeShapeType="1"/>
            </p:cNvSpPr>
            <p:nvPr/>
          </p:nvSpPr>
          <p:spPr bwMode="auto">
            <a:xfrm>
              <a:off x="740" y="3154"/>
              <a:ext cx="244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grpSp>
        <p:nvGrpSpPr>
          <p:cNvPr id="4" name="Group 23">
            <a:extLst>
              <a:ext uri="{FF2B5EF4-FFF2-40B4-BE49-F238E27FC236}">
                <a16:creationId xmlns:a16="http://schemas.microsoft.com/office/drawing/2014/main" id="{DA1A60AC-3543-4201-E55D-D27E16D6A0FB}"/>
              </a:ext>
            </a:extLst>
          </p:cNvPr>
          <p:cNvGrpSpPr>
            <a:grpSpLocks/>
          </p:cNvGrpSpPr>
          <p:nvPr/>
        </p:nvGrpSpPr>
        <p:grpSpPr bwMode="auto">
          <a:xfrm>
            <a:off x="5065713" y="4273550"/>
            <a:ext cx="3530600" cy="1196975"/>
            <a:chOff x="3191" y="2692"/>
            <a:chExt cx="2224" cy="754"/>
          </a:xfrm>
        </p:grpSpPr>
        <p:sp>
          <p:nvSpPr>
            <p:cNvPr id="380952" name="Rectangle 24">
              <a:extLst>
                <a:ext uri="{FF2B5EF4-FFF2-40B4-BE49-F238E27FC236}">
                  <a16:creationId xmlns:a16="http://schemas.microsoft.com/office/drawing/2014/main" id="{AADFBE23-A20D-2A52-E194-4DCF76A83E3E}"/>
                </a:ext>
              </a:extLst>
            </p:cNvPr>
            <p:cNvSpPr>
              <a:spLocks noChangeArrowheads="1"/>
            </p:cNvSpPr>
            <p:nvPr/>
          </p:nvSpPr>
          <p:spPr bwMode="auto">
            <a:xfrm>
              <a:off x="3694" y="2692"/>
              <a:ext cx="1721" cy="526"/>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a:solidFill>
                    <a:schemeClr val="accent2"/>
                  </a:solidFill>
                  <a:effectLst>
                    <a:outerShdw blurRad="38100" dist="38100" dir="2700000" algn="tl">
                      <a:srgbClr val="000000"/>
                    </a:outerShdw>
                  </a:effectLst>
                </a:rPr>
                <a:t>Not allowed </a:t>
              </a:r>
              <a:br>
                <a:rPr lang="en-US" sz="1800" b="1">
                  <a:solidFill>
                    <a:schemeClr val="accent2"/>
                  </a:solidFill>
                  <a:effectLst>
                    <a:outerShdw blurRad="38100" dist="38100" dir="2700000" algn="tl">
                      <a:srgbClr val="000000"/>
                    </a:outerShdw>
                  </a:effectLst>
                </a:rPr>
              </a:br>
              <a:r>
                <a:rPr lang="en-US" sz="1800" b="1">
                  <a:solidFill>
                    <a:schemeClr val="accent2"/>
                  </a:solidFill>
                  <a:effectLst>
                    <a:outerShdw blurRad="38100" dist="38100" dir="2700000" algn="tl">
                      <a:srgbClr val="000000"/>
                    </a:outerShdw>
                  </a:effectLst>
                </a:rPr>
                <a:t>(DNAME</a:t>
              </a:r>
              <a:r>
                <a:rPr lang="en-US" sz="1800">
                  <a:solidFill>
                    <a:schemeClr val="accent2"/>
                  </a:solidFill>
                  <a:latin typeface="Symbol" pitchFamily="18" charset="2"/>
                </a:rPr>
                <a:t>-</a:t>
              </a:r>
              <a:r>
                <a:rPr lang="en-US" sz="1800" b="1">
                  <a:solidFill>
                    <a:schemeClr val="accent2"/>
                  </a:solidFill>
                </a:rPr>
                <a:t>SALES</a:t>
              </a:r>
              <a:r>
                <a:rPr lang="en-US" sz="1800" b="1">
                  <a:solidFill>
                    <a:schemeClr val="accent2"/>
                  </a:solidFill>
                  <a:effectLst>
                    <a:outerShdw blurRad="38100" dist="38100" dir="2700000" algn="tl">
                      <a:srgbClr val="000000"/>
                    </a:outerShdw>
                  </a:effectLst>
                </a:rPr>
                <a:t> already exists)</a:t>
              </a:r>
            </a:p>
          </p:txBody>
        </p:sp>
        <p:sp>
          <p:nvSpPr>
            <p:cNvPr id="34833" name="Line 25">
              <a:extLst>
                <a:ext uri="{FF2B5EF4-FFF2-40B4-BE49-F238E27FC236}">
                  <a16:creationId xmlns:a16="http://schemas.microsoft.com/office/drawing/2014/main" id="{843D5EBD-9CE4-6B25-00C0-23C5CE74582D}"/>
                </a:ext>
              </a:extLst>
            </p:cNvPr>
            <p:cNvSpPr>
              <a:spLocks noChangeShapeType="1"/>
            </p:cNvSpPr>
            <p:nvPr/>
          </p:nvSpPr>
          <p:spPr bwMode="auto">
            <a:xfrm flipV="1">
              <a:off x="3191" y="2988"/>
              <a:ext cx="431" cy="1"/>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380954" name="Rectangle 26">
              <a:extLst>
                <a:ext uri="{FF2B5EF4-FFF2-40B4-BE49-F238E27FC236}">
                  <a16:creationId xmlns:a16="http://schemas.microsoft.com/office/drawing/2014/main" id="{25E7E23B-0908-E258-4A10-19204A98C133}"/>
                </a:ext>
              </a:extLst>
            </p:cNvPr>
            <p:cNvSpPr>
              <a:spLocks noChangeArrowheads="1"/>
            </p:cNvSpPr>
            <p:nvPr/>
          </p:nvSpPr>
          <p:spPr bwMode="auto">
            <a:xfrm>
              <a:off x="3694" y="3232"/>
              <a:ext cx="1721" cy="214"/>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a:solidFill>
                    <a:srgbClr val="800000"/>
                  </a:solidFill>
                  <a:effectLst>
                    <a:outerShdw blurRad="38100" dist="38100" dir="2700000" algn="tl">
                      <a:srgbClr val="000000"/>
                    </a:outerShdw>
                  </a:effectLst>
                </a:rPr>
                <a:t>Allowed</a:t>
              </a:r>
            </a:p>
          </p:txBody>
        </p:sp>
        <p:sp>
          <p:nvSpPr>
            <p:cNvPr id="34835" name="Line 27">
              <a:extLst>
                <a:ext uri="{FF2B5EF4-FFF2-40B4-BE49-F238E27FC236}">
                  <a16:creationId xmlns:a16="http://schemas.microsoft.com/office/drawing/2014/main" id="{D2A0FA27-E261-5D58-9632-B1D0AAE29483}"/>
                </a:ext>
              </a:extLst>
            </p:cNvPr>
            <p:cNvSpPr>
              <a:spLocks noChangeShapeType="1"/>
            </p:cNvSpPr>
            <p:nvPr/>
          </p:nvSpPr>
          <p:spPr bwMode="auto">
            <a:xfrm flipV="1">
              <a:off x="3191" y="3324"/>
              <a:ext cx="431" cy="1"/>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90A93520-9615-437E-B496-F88E3E305098}"/>
              </a:ext>
            </a:extLst>
          </p:cNvPr>
          <p:cNvSpPr>
            <a:spLocks noGrp="1" noChangeArrowheads="1"/>
          </p:cNvSpPr>
          <p:nvPr>
            <p:ph type="title"/>
          </p:nvPr>
        </p:nvSpPr>
        <p:spPr>
          <a:xfrm>
            <a:off x="323850" y="620713"/>
            <a:ext cx="4930775" cy="463550"/>
          </a:xfrm>
          <a:noFill/>
        </p:spPr>
        <p:txBody>
          <a:bodyPr lIns="92075" tIns="46038" rIns="92075" bIns="46038" anchor="t"/>
          <a:lstStyle/>
          <a:p>
            <a:r>
              <a:rPr lang="en-US" altLang="en-US" sz="2800">
                <a:solidFill>
                  <a:srgbClr val="800000"/>
                </a:solidFill>
              </a:rPr>
              <a:t>The UNIQUE Key Constraint</a:t>
            </a:r>
          </a:p>
        </p:txBody>
      </p:sp>
      <p:sp>
        <p:nvSpPr>
          <p:cNvPr id="36867" name="Rectangle 3">
            <a:extLst>
              <a:ext uri="{FF2B5EF4-FFF2-40B4-BE49-F238E27FC236}">
                <a16:creationId xmlns:a16="http://schemas.microsoft.com/office/drawing/2014/main" id="{DABADB53-C158-0195-02AF-FA68BE42D58C}"/>
              </a:ext>
            </a:extLst>
          </p:cNvPr>
          <p:cNvSpPr>
            <a:spLocks noGrp="1" noChangeArrowheads="1"/>
          </p:cNvSpPr>
          <p:nvPr>
            <p:ph type="body" idx="1"/>
          </p:nvPr>
        </p:nvSpPr>
        <p:spPr>
          <a:xfrm>
            <a:off x="382588" y="1196975"/>
            <a:ext cx="8007350" cy="2711450"/>
          </a:xfrm>
          <a:noFill/>
        </p:spPr>
        <p:txBody>
          <a:bodyPr lIns="92075" tIns="46038" rIns="92075" bIns="46038">
            <a:spAutoFit/>
          </a:bodyPr>
          <a:lstStyle/>
          <a:p>
            <a:r>
              <a:rPr lang="en-US" altLang="en-US" sz="2400"/>
              <a:t>Table Level</a:t>
            </a:r>
          </a:p>
          <a:p>
            <a:endParaRPr lang="en-US" altLang="en-US"/>
          </a:p>
          <a:p>
            <a:endParaRPr lang="en-US" altLang="en-US"/>
          </a:p>
          <a:p>
            <a:endParaRPr lang="en-US" altLang="en-US"/>
          </a:p>
          <a:p>
            <a:pPr>
              <a:lnSpc>
                <a:spcPct val="200000"/>
              </a:lnSpc>
            </a:pPr>
            <a:r>
              <a:rPr lang="en-US" altLang="en-US" sz="2400"/>
              <a:t>Column Level</a:t>
            </a:r>
          </a:p>
        </p:txBody>
      </p:sp>
      <p:sp>
        <p:nvSpPr>
          <p:cNvPr id="36868" name="Rectangle 4">
            <a:extLst>
              <a:ext uri="{FF2B5EF4-FFF2-40B4-BE49-F238E27FC236}">
                <a16:creationId xmlns:a16="http://schemas.microsoft.com/office/drawing/2014/main" id="{568E8A74-88B1-DBE2-387B-D3EA0DF0DFB3}"/>
              </a:ext>
            </a:extLst>
          </p:cNvPr>
          <p:cNvSpPr>
            <a:spLocks noChangeArrowheads="1"/>
          </p:cNvSpPr>
          <p:nvPr/>
        </p:nvSpPr>
        <p:spPr bwMode="blackWhite">
          <a:xfrm>
            <a:off x="827088" y="1700213"/>
            <a:ext cx="6794500" cy="15113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82981" name="Rectangle 5">
            <a:extLst>
              <a:ext uri="{FF2B5EF4-FFF2-40B4-BE49-F238E27FC236}">
                <a16:creationId xmlns:a16="http://schemas.microsoft.com/office/drawing/2014/main" id="{7FF1C253-6B15-DFC1-B1BF-DF778C1F7420}"/>
              </a:ext>
            </a:extLst>
          </p:cNvPr>
          <p:cNvSpPr>
            <a:spLocks noChangeArrowheads="1"/>
          </p:cNvSpPr>
          <p:nvPr/>
        </p:nvSpPr>
        <p:spPr bwMode="ltGray">
          <a:xfrm>
            <a:off x="2081213" y="2849563"/>
            <a:ext cx="5419725" cy="3238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6870" name="Rectangle 6">
            <a:extLst>
              <a:ext uri="{FF2B5EF4-FFF2-40B4-BE49-F238E27FC236}">
                <a16:creationId xmlns:a16="http://schemas.microsoft.com/office/drawing/2014/main" id="{87B449A3-5BE3-5C94-A206-5DE73A019FD0}"/>
              </a:ext>
            </a:extLst>
          </p:cNvPr>
          <p:cNvSpPr>
            <a:spLocks noChangeArrowheads="1"/>
          </p:cNvSpPr>
          <p:nvPr/>
        </p:nvSpPr>
        <p:spPr bwMode="blackWhite">
          <a:xfrm>
            <a:off x="852488" y="2008188"/>
            <a:ext cx="749617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CREATE TABLE   dept(</a:t>
            </a:r>
          </a:p>
          <a:p>
            <a:pPr>
              <a:spcBef>
                <a:spcPct val="0"/>
              </a:spcBef>
              <a:buFontTx/>
              <a:buNone/>
            </a:pPr>
            <a:r>
              <a:rPr lang="en-US" altLang="en-US" sz="1800" b="1">
                <a:solidFill>
                  <a:srgbClr val="000000"/>
                </a:solidFill>
                <a:latin typeface="Courier New" panose="02070309020205020404" pitchFamily="49" charset="0"/>
              </a:rPr>
              <a:t>  2  	deptno 	  NUMBER(2),</a:t>
            </a:r>
          </a:p>
          <a:p>
            <a:pPr>
              <a:spcBef>
                <a:spcPct val="0"/>
              </a:spcBef>
              <a:buFontTx/>
              <a:buNone/>
            </a:pPr>
            <a:r>
              <a:rPr lang="en-US" altLang="en-US" sz="1800" b="1">
                <a:solidFill>
                  <a:srgbClr val="000000"/>
                </a:solidFill>
                <a:latin typeface="Courier New" panose="02070309020205020404" pitchFamily="49" charset="0"/>
              </a:rPr>
              <a:t>  3	dname	  VARCHAR2(14),</a:t>
            </a:r>
          </a:p>
          <a:p>
            <a:pPr>
              <a:spcBef>
                <a:spcPct val="0"/>
              </a:spcBef>
              <a:buFontTx/>
              <a:buNone/>
            </a:pPr>
            <a:r>
              <a:rPr lang="en-US" altLang="en-US" sz="1800" b="1">
                <a:solidFill>
                  <a:srgbClr val="000000"/>
                </a:solidFill>
                <a:latin typeface="Courier New" panose="02070309020205020404" pitchFamily="49" charset="0"/>
              </a:rPr>
              <a:t>  4	loc	  VARCHAR2(13),</a:t>
            </a:r>
          </a:p>
          <a:p>
            <a:pPr>
              <a:spcBef>
                <a:spcPct val="0"/>
              </a:spcBef>
              <a:buFontTx/>
              <a:buNone/>
            </a:pPr>
            <a:r>
              <a:rPr lang="en-US" altLang="en-US" sz="1800" b="1">
                <a:solidFill>
                  <a:srgbClr val="000000"/>
                </a:solidFill>
                <a:latin typeface="Courier New" panose="02070309020205020404" pitchFamily="49" charset="0"/>
              </a:rPr>
              <a:t>  5	</a:t>
            </a:r>
            <a:r>
              <a:rPr lang="en-US" altLang="en-US" sz="1800" b="1">
                <a:solidFill>
                  <a:schemeClr val="accent2"/>
                </a:solidFill>
                <a:latin typeface="Courier New" panose="02070309020205020404" pitchFamily="49" charset="0"/>
              </a:rPr>
              <a:t>CONSTRAINT dept_dname_uk</a:t>
            </a:r>
            <a:r>
              <a:rPr lang="en-US" altLang="en-US" sz="1800" b="1">
                <a:solidFill>
                  <a:srgbClr val="000000"/>
                </a:solidFill>
                <a:latin typeface="Courier New" panose="02070309020205020404" pitchFamily="49" charset="0"/>
              </a:rPr>
              <a:t> UNIQUE(dname));</a:t>
            </a:r>
          </a:p>
        </p:txBody>
      </p:sp>
      <p:sp>
        <p:nvSpPr>
          <p:cNvPr id="36871" name="Rectangle 4">
            <a:extLst>
              <a:ext uri="{FF2B5EF4-FFF2-40B4-BE49-F238E27FC236}">
                <a16:creationId xmlns:a16="http://schemas.microsoft.com/office/drawing/2014/main" id="{DC8E2452-CDCA-92CB-DF0A-7487074551C7}"/>
              </a:ext>
            </a:extLst>
          </p:cNvPr>
          <p:cNvSpPr>
            <a:spLocks noChangeArrowheads="1"/>
          </p:cNvSpPr>
          <p:nvPr/>
        </p:nvSpPr>
        <p:spPr bwMode="blackWhite">
          <a:xfrm>
            <a:off x="890588" y="4005263"/>
            <a:ext cx="6794500" cy="18716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 name="Rectangle 5">
            <a:extLst>
              <a:ext uri="{FF2B5EF4-FFF2-40B4-BE49-F238E27FC236}">
                <a16:creationId xmlns:a16="http://schemas.microsoft.com/office/drawing/2014/main" id="{50C6004F-153E-5AF6-E382-AE93098DD34E}"/>
              </a:ext>
            </a:extLst>
          </p:cNvPr>
          <p:cNvSpPr>
            <a:spLocks noChangeArrowheads="1"/>
          </p:cNvSpPr>
          <p:nvPr/>
        </p:nvSpPr>
        <p:spPr bwMode="ltGray">
          <a:xfrm>
            <a:off x="2144713" y="4833938"/>
            <a:ext cx="4659312" cy="3238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6873" name="Rectangle 6">
            <a:extLst>
              <a:ext uri="{FF2B5EF4-FFF2-40B4-BE49-F238E27FC236}">
                <a16:creationId xmlns:a16="http://schemas.microsoft.com/office/drawing/2014/main" id="{AABEA1CB-85DB-0D6B-2469-0E1C46C009B2}"/>
              </a:ext>
            </a:extLst>
          </p:cNvPr>
          <p:cNvSpPr>
            <a:spLocks noChangeArrowheads="1"/>
          </p:cNvSpPr>
          <p:nvPr/>
        </p:nvSpPr>
        <p:spPr bwMode="blackWhite">
          <a:xfrm>
            <a:off x="915988" y="4446588"/>
            <a:ext cx="749617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CREATE TABLE   dept(</a:t>
            </a:r>
          </a:p>
          <a:p>
            <a:pPr>
              <a:spcBef>
                <a:spcPct val="0"/>
              </a:spcBef>
              <a:buFontTx/>
              <a:buNone/>
            </a:pPr>
            <a:r>
              <a:rPr lang="en-US" altLang="en-US" sz="1800" b="1">
                <a:solidFill>
                  <a:srgbClr val="000000"/>
                </a:solidFill>
                <a:latin typeface="Courier New" panose="02070309020205020404" pitchFamily="49" charset="0"/>
              </a:rPr>
              <a:t>  2  	deptno 	  NUMBER(2),</a:t>
            </a:r>
          </a:p>
          <a:p>
            <a:pPr>
              <a:spcBef>
                <a:spcPct val="0"/>
              </a:spcBef>
              <a:buFontTx/>
              <a:buNone/>
            </a:pPr>
            <a:r>
              <a:rPr lang="en-US" altLang="en-US" sz="1800" b="1">
                <a:solidFill>
                  <a:srgbClr val="000000"/>
                </a:solidFill>
                <a:latin typeface="Courier New" panose="02070309020205020404" pitchFamily="49" charset="0"/>
              </a:rPr>
              <a:t>  3	dname	  VARCHAR2(14)</a:t>
            </a:r>
          </a:p>
          <a:p>
            <a:pPr>
              <a:spcBef>
                <a:spcPct val="0"/>
              </a:spcBef>
              <a:buFontTx/>
              <a:buNone/>
            </a:pPr>
            <a:r>
              <a:rPr lang="en-US" altLang="en-US" sz="1800" b="1">
                <a:solidFill>
                  <a:schemeClr val="accent2"/>
                </a:solidFill>
                <a:latin typeface="Courier New" panose="02070309020205020404" pitchFamily="49" charset="0"/>
              </a:rPr>
              <a:t>	CONSTRAINT dept_dname_uk</a:t>
            </a:r>
            <a:r>
              <a:rPr lang="en-US" altLang="en-US" sz="1800" b="1">
                <a:solidFill>
                  <a:srgbClr val="000000"/>
                </a:solidFill>
                <a:latin typeface="Courier New" panose="02070309020205020404" pitchFamily="49" charset="0"/>
              </a:rPr>
              <a:t> UNIQUE,</a:t>
            </a:r>
          </a:p>
          <a:p>
            <a:pPr>
              <a:spcBef>
                <a:spcPct val="0"/>
              </a:spcBef>
              <a:buFontTx/>
              <a:buNone/>
            </a:pPr>
            <a:r>
              <a:rPr lang="en-US" altLang="en-US" sz="1800" b="1">
                <a:solidFill>
                  <a:srgbClr val="000000"/>
                </a:solidFill>
                <a:latin typeface="Courier New" panose="02070309020205020404" pitchFamily="49" charset="0"/>
              </a:rPr>
              <a:t>  4	loc	  VARCHAR2(13)</a:t>
            </a:r>
          </a:p>
          <a:p>
            <a:pPr>
              <a:spcBef>
                <a:spcPct val="0"/>
              </a:spcBef>
              <a:buFontTx/>
              <a:buNone/>
            </a:pPr>
            <a:r>
              <a:rPr lang="en-US" altLang="en-US" sz="1800" b="1">
                <a:solidFill>
                  <a:srgbClr val="000000"/>
                </a:solidFill>
                <a:latin typeface="Courier New" panose="02070309020205020404" pitchFamily="49" charset="0"/>
              </a:rPr>
              <a:t>  5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82981"/>
                                        </p:tgtEl>
                                        <p:attrNameLst>
                                          <p:attrName>style.visibility</p:attrName>
                                        </p:attrNameLst>
                                      </p:cBhvr>
                                      <p:to>
                                        <p:strVal val="visible"/>
                                      </p:to>
                                    </p:set>
                                    <p:animEffect transition="in" filter="wipe(up)">
                                      <p:cBhvr>
                                        <p:cTn id="7" dur="500"/>
                                        <p:tgtEl>
                                          <p:spTgt spid="3829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81" grpId="0" animBg="1"/>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78734826-5A6A-D3FC-FACC-0B58D39340D4}"/>
              </a:ext>
            </a:extLst>
          </p:cNvPr>
          <p:cNvSpPr>
            <a:spLocks noGrp="1" noChangeArrowheads="1"/>
          </p:cNvSpPr>
          <p:nvPr>
            <p:ph type="title"/>
          </p:nvPr>
        </p:nvSpPr>
        <p:spPr>
          <a:xfrm>
            <a:off x="323850" y="660400"/>
            <a:ext cx="5075238" cy="536575"/>
          </a:xfrm>
          <a:noFill/>
        </p:spPr>
        <p:txBody>
          <a:bodyPr lIns="92075" tIns="46038" rIns="92075" bIns="46038" anchor="t"/>
          <a:lstStyle/>
          <a:p>
            <a:r>
              <a:rPr lang="en-US" altLang="en-US" sz="2800">
                <a:solidFill>
                  <a:srgbClr val="800000"/>
                </a:solidFill>
              </a:rPr>
              <a:t>The PRIMARY KEY Constraint</a:t>
            </a:r>
          </a:p>
        </p:txBody>
      </p:sp>
      <p:sp>
        <p:nvSpPr>
          <p:cNvPr id="38915" name="Rectangle 3">
            <a:extLst>
              <a:ext uri="{FF2B5EF4-FFF2-40B4-BE49-F238E27FC236}">
                <a16:creationId xmlns:a16="http://schemas.microsoft.com/office/drawing/2014/main" id="{DDC69D6D-D1CA-82AA-35B2-FA88E86B4BC6}"/>
              </a:ext>
            </a:extLst>
          </p:cNvPr>
          <p:cNvSpPr>
            <a:spLocks noChangeArrowheads="1"/>
          </p:cNvSpPr>
          <p:nvPr/>
        </p:nvSpPr>
        <p:spPr bwMode="blackWhite">
          <a:xfrm>
            <a:off x="1179513" y="2047875"/>
            <a:ext cx="3862387" cy="16795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385028" name="Rectangle 4">
            <a:extLst>
              <a:ext uri="{FF2B5EF4-FFF2-40B4-BE49-F238E27FC236}">
                <a16:creationId xmlns:a16="http://schemas.microsoft.com/office/drawing/2014/main" id="{5F5F2621-5815-D7C4-9CDA-586803F2B2B0}"/>
              </a:ext>
            </a:extLst>
          </p:cNvPr>
          <p:cNvSpPr>
            <a:spLocks noChangeArrowheads="1"/>
          </p:cNvSpPr>
          <p:nvPr/>
        </p:nvSpPr>
        <p:spPr bwMode="auto">
          <a:xfrm>
            <a:off x="1092200" y="1684338"/>
            <a:ext cx="931863"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DEPT </a:t>
            </a:r>
          </a:p>
        </p:txBody>
      </p:sp>
      <p:sp>
        <p:nvSpPr>
          <p:cNvPr id="38917" name="Rectangle 5">
            <a:extLst>
              <a:ext uri="{FF2B5EF4-FFF2-40B4-BE49-F238E27FC236}">
                <a16:creationId xmlns:a16="http://schemas.microsoft.com/office/drawing/2014/main" id="{1BF23A73-DA52-3E9B-550C-4879166A0E19}"/>
              </a:ext>
            </a:extLst>
          </p:cNvPr>
          <p:cNvSpPr>
            <a:spLocks noChangeArrowheads="1"/>
          </p:cNvSpPr>
          <p:nvPr/>
        </p:nvSpPr>
        <p:spPr bwMode="blackWhite">
          <a:xfrm>
            <a:off x="1192213" y="2079625"/>
            <a:ext cx="3836987"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40	OPERATIONS	BOSTON</a:t>
            </a:r>
          </a:p>
        </p:txBody>
      </p:sp>
      <p:sp>
        <p:nvSpPr>
          <p:cNvPr id="38918" name="Line 6">
            <a:extLst>
              <a:ext uri="{FF2B5EF4-FFF2-40B4-BE49-F238E27FC236}">
                <a16:creationId xmlns:a16="http://schemas.microsoft.com/office/drawing/2014/main" id="{3DA58BCD-5A29-56F7-0B5B-717024C64D44}"/>
              </a:ext>
            </a:extLst>
          </p:cNvPr>
          <p:cNvSpPr>
            <a:spLocks noChangeShapeType="1"/>
          </p:cNvSpPr>
          <p:nvPr/>
        </p:nvSpPr>
        <p:spPr bwMode="auto">
          <a:xfrm>
            <a:off x="1181100" y="2511425"/>
            <a:ext cx="3879850"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919" name="Line 7">
            <a:extLst>
              <a:ext uri="{FF2B5EF4-FFF2-40B4-BE49-F238E27FC236}">
                <a16:creationId xmlns:a16="http://schemas.microsoft.com/office/drawing/2014/main" id="{B0C00516-C4A7-48ED-1AEC-FEE81F7AE88B}"/>
              </a:ext>
            </a:extLst>
          </p:cNvPr>
          <p:cNvSpPr>
            <a:spLocks noChangeShapeType="1"/>
          </p:cNvSpPr>
          <p:nvPr/>
        </p:nvSpPr>
        <p:spPr bwMode="auto">
          <a:xfrm>
            <a:off x="1174750" y="2905125"/>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920" name="Line 8">
            <a:extLst>
              <a:ext uri="{FF2B5EF4-FFF2-40B4-BE49-F238E27FC236}">
                <a16:creationId xmlns:a16="http://schemas.microsoft.com/office/drawing/2014/main" id="{C091C8F3-7E62-BADE-FFDA-32D414BD932E}"/>
              </a:ext>
            </a:extLst>
          </p:cNvPr>
          <p:cNvSpPr>
            <a:spLocks noChangeShapeType="1"/>
          </p:cNvSpPr>
          <p:nvPr/>
        </p:nvSpPr>
        <p:spPr bwMode="auto">
          <a:xfrm>
            <a:off x="1174750" y="3165475"/>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921" name="Line 9">
            <a:extLst>
              <a:ext uri="{FF2B5EF4-FFF2-40B4-BE49-F238E27FC236}">
                <a16:creationId xmlns:a16="http://schemas.microsoft.com/office/drawing/2014/main" id="{2726FFE1-7953-5579-14DA-909125800582}"/>
              </a:ext>
            </a:extLst>
          </p:cNvPr>
          <p:cNvSpPr>
            <a:spLocks noChangeShapeType="1"/>
          </p:cNvSpPr>
          <p:nvPr/>
        </p:nvSpPr>
        <p:spPr bwMode="auto">
          <a:xfrm>
            <a:off x="1174750" y="3425825"/>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922" name="Line 10">
            <a:extLst>
              <a:ext uri="{FF2B5EF4-FFF2-40B4-BE49-F238E27FC236}">
                <a16:creationId xmlns:a16="http://schemas.microsoft.com/office/drawing/2014/main" id="{EA9F93C2-9FAC-CB7F-B485-DA1DCEFD55C6}"/>
              </a:ext>
            </a:extLst>
          </p:cNvPr>
          <p:cNvSpPr>
            <a:spLocks noChangeShapeType="1"/>
          </p:cNvSpPr>
          <p:nvPr/>
        </p:nvSpPr>
        <p:spPr bwMode="auto">
          <a:xfrm>
            <a:off x="2178050" y="2047875"/>
            <a:ext cx="0" cy="1714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923" name="Line 11">
            <a:extLst>
              <a:ext uri="{FF2B5EF4-FFF2-40B4-BE49-F238E27FC236}">
                <a16:creationId xmlns:a16="http://schemas.microsoft.com/office/drawing/2014/main" id="{3847E13A-E3B2-E657-D5D1-C5D82830021F}"/>
              </a:ext>
            </a:extLst>
          </p:cNvPr>
          <p:cNvSpPr>
            <a:spLocks noChangeShapeType="1"/>
          </p:cNvSpPr>
          <p:nvPr/>
        </p:nvSpPr>
        <p:spPr bwMode="auto">
          <a:xfrm>
            <a:off x="3676650" y="2047875"/>
            <a:ext cx="0" cy="1714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5036" name="Rectangle 12">
            <a:extLst>
              <a:ext uri="{FF2B5EF4-FFF2-40B4-BE49-F238E27FC236}">
                <a16:creationId xmlns:a16="http://schemas.microsoft.com/office/drawing/2014/main" id="{D5F6C639-2D0D-82F3-6421-8CDB4517BC02}"/>
              </a:ext>
            </a:extLst>
          </p:cNvPr>
          <p:cNvSpPr>
            <a:spLocks noChangeArrowheads="1"/>
          </p:cNvSpPr>
          <p:nvPr/>
        </p:nvSpPr>
        <p:spPr bwMode="auto">
          <a:xfrm>
            <a:off x="2357438" y="1439863"/>
            <a:ext cx="2938462" cy="339725"/>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a:solidFill>
                  <a:schemeClr val="accent2"/>
                </a:solidFill>
                <a:effectLst>
                  <a:outerShdw blurRad="38100" dist="38100" dir="2700000" algn="tl">
                    <a:srgbClr val="000000"/>
                  </a:outerShdw>
                </a:effectLst>
              </a:rPr>
              <a:t>PRIMARY KEY</a:t>
            </a:r>
          </a:p>
        </p:txBody>
      </p:sp>
      <p:sp>
        <p:nvSpPr>
          <p:cNvPr id="38925" name="Freeform 13">
            <a:extLst>
              <a:ext uri="{FF2B5EF4-FFF2-40B4-BE49-F238E27FC236}">
                <a16:creationId xmlns:a16="http://schemas.microsoft.com/office/drawing/2014/main" id="{74EA78C8-866E-D3A7-BAC2-C1161DBC0AC9}"/>
              </a:ext>
            </a:extLst>
          </p:cNvPr>
          <p:cNvSpPr>
            <a:spLocks/>
          </p:cNvSpPr>
          <p:nvPr/>
        </p:nvSpPr>
        <p:spPr bwMode="auto">
          <a:xfrm>
            <a:off x="2019300" y="1581150"/>
            <a:ext cx="325438" cy="477838"/>
          </a:xfrm>
          <a:custGeom>
            <a:avLst/>
            <a:gdLst>
              <a:gd name="T0" fmla="*/ 2147483646 w 205"/>
              <a:gd name="T1" fmla="*/ 0 h 301"/>
              <a:gd name="T2" fmla="*/ 0 w 205"/>
              <a:gd name="T3" fmla="*/ 0 h 301"/>
              <a:gd name="T4" fmla="*/ 0 w 205"/>
              <a:gd name="T5" fmla="*/ 2147483646 h 301"/>
              <a:gd name="T6" fmla="*/ 0 60000 65536"/>
              <a:gd name="T7" fmla="*/ 0 60000 65536"/>
              <a:gd name="T8" fmla="*/ 0 60000 65536"/>
            </a:gdLst>
            <a:ahLst/>
            <a:cxnLst>
              <a:cxn ang="T6">
                <a:pos x="T0" y="T1"/>
              </a:cxn>
              <a:cxn ang="T7">
                <a:pos x="T2" y="T3"/>
              </a:cxn>
              <a:cxn ang="T8">
                <a:pos x="T4" y="T5"/>
              </a:cxn>
            </a:cxnLst>
            <a:rect l="0" t="0" r="r" b="b"/>
            <a:pathLst>
              <a:path w="205" h="301">
                <a:moveTo>
                  <a:pt x="204" y="0"/>
                </a:moveTo>
                <a:lnTo>
                  <a:pt x="0" y="0"/>
                </a:lnTo>
                <a:lnTo>
                  <a:pt x="0" y="300"/>
                </a:lnTo>
              </a:path>
            </a:pathLst>
          </a:custGeom>
          <a:noFill/>
          <a:ln w="50800" cap="rnd" cmpd="sng">
            <a:solidFill>
              <a:srgbClr val="FFCC00"/>
            </a:solidFill>
            <a:prstDash val="solid"/>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 name="Group 14">
            <a:extLst>
              <a:ext uri="{FF2B5EF4-FFF2-40B4-BE49-F238E27FC236}">
                <a16:creationId xmlns:a16="http://schemas.microsoft.com/office/drawing/2014/main" id="{114C511C-5ECC-88E3-2BA4-7F7F612DE7C5}"/>
              </a:ext>
            </a:extLst>
          </p:cNvPr>
          <p:cNvGrpSpPr>
            <a:grpSpLocks/>
          </p:cNvGrpSpPr>
          <p:nvPr/>
        </p:nvGrpSpPr>
        <p:grpSpPr bwMode="auto">
          <a:xfrm>
            <a:off x="1174750" y="3848100"/>
            <a:ext cx="4843463" cy="1638300"/>
            <a:chOff x="740" y="2424"/>
            <a:chExt cx="3051" cy="1032"/>
          </a:xfrm>
        </p:grpSpPr>
        <p:sp>
          <p:nvSpPr>
            <p:cNvPr id="385039" name="Rectangle 15">
              <a:extLst>
                <a:ext uri="{FF2B5EF4-FFF2-40B4-BE49-F238E27FC236}">
                  <a16:creationId xmlns:a16="http://schemas.microsoft.com/office/drawing/2014/main" id="{22D94FC1-BEAD-C83B-0BF0-47E2F7B900B5}"/>
                </a:ext>
              </a:extLst>
            </p:cNvPr>
            <p:cNvSpPr>
              <a:spLocks noChangeArrowheads="1"/>
            </p:cNvSpPr>
            <p:nvPr/>
          </p:nvSpPr>
          <p:spPr bwMode="auto">
            <a:xfrm>
              <a:off x="2157" y="2668"/>
              <a:ext cx="1634" cy="214"/>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a:solidFill>
                    <a:schemeClr val="accent2"/>
                  </a:solidFill>
                  <a:effectLst>
                    <a:outerShdw blurRad="38100" dist="38100" dir="2700000" algn="tl">
                      <a:srgbClr val="000000"/>
                    </a:outerShdw>
                  </a:effectLst>
                </a:rPr>
                <a:t>Insert into</a:t>
              </a:r>
            </a:p>
          </p:txBody>
        </p:sp>
        <p:grpSp>
          <p:nvGrpSpPr>
            <p:cNvPr id="38933" name="Group 16">
              <a:extLst>
                <a:ext uri="{FF2B5EF4-FFF2-40B4-BE49-F238E27FC236}">
                  <a16:creationId xmlns:a16="http://schemas.microsoft.com/office/drawing/2014/main" id="{58D47144-BA9E-8016-DFC7-BDFE02F1ED10}"/>
                </a:ext>
              </a:extLst>
            </p:cNvPr>
            <p:cNvGrpSpPr>
              <a:grpSpLocks/>
            </p:cNvGrpSpPr>
            <p:nvPr/>
          </p:nvGrpSpPr>
          <p:grpSpPr bwMode="auto">
            <a:xfrm>
              <a:off x="740" y="2424"/>
              <a:ext cx="2448" cy="1032"/>
              <a:chOff x="740" y="2424"/>
              <a:chExt cx="2448" cy="1032"/>
            </a:xfrm>
          </p:grpSpPr>
          <p:sp>
            <p:nvSpPr>
              <p:cNvPr id="38934" name="AutoShape 17">
                <a:extLst>
                  <a:ext uri="{FF2B5EF4-FFF2-40B4-BE49-F238E27FC236}">
                    <a16:creationId xmlns:a16="http://schemas.microsoft.com/office/drawing/2014/main" id="{30D5BE17-FC94-A634-2296-543258586006}"/>
                  </a:ext>
                </a:extLst>
              </p:cNvPr>
              <p:cNvSpPr>
                <a:spLocks noChangeArrowheads="1"/>
              </p:cNvSpPr>
              <p:nvPr/>
            </p:nvSpPr>
            <p:spPr bwMode="auto">
              <a:xfrm>
                <a:off x="1752" y="2424"/>
                <a:ext cx="420" cy="456"/>
              </a:xfrm>
              <a:prstGeom prst="upArrow">
                <a:avLst>
                  <a:gd name="adj1" fmla="val 50000"/>
                  <a:gd name="adj2" fmla="val 54281"/>
                </a:avLst>
              </a:prstGeom>
              <a:solidFill>
                <a:srgbClr val="FFCC99"/>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35" name="Rectangle 18">
                <a:extLst>
                  <a:ext uri="{FF2B5EF4-FFF2-40B4-BE49-F238E27FC236}">
                    <a16:creationId xmlns:a16="http://schemas.microsoft.com/office/drawing/2014/main" id="{2BA0EAFD-D3B5-8397-A552-4A9F095D91AF}"/>
                  </a:ext>
                </a:extLst>
              </p:cNvPr>
              <p:cNvSpPr>
                <a:spLocks noChangeArrowheads="1"/>
              </p:cNvSpPr>
              <p:nvPr/>
            </p:nvSpPr>
            <p:spPr bwMode="blackWhite">
              <a:xfrm>
                <a:off x="743" y="2874"/>
                <a:ext cx="2433" cy="566"/>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38936" name="Rectangle 19">
                <a:extLst>
                  <a:ext uri="{FF2B5EF4-FFF2-40B4-BE49-F238E27FC236}">
                    <a16:creationId xmlns:a16="http://schemas.microsoft.com/office/drawing/2014/main" id="{3F928BDD-D735-068F-BB2F-9572F32E3ECF}"/>
                  </a:ext>
                </a:extLst>
              </p:cNvPr>
              <p:cNvSpPr>
                <a:spLocks noChangeArrowheads="1"/>
              </p:cNvSpPr>
              <p:nvPr/>
            </p:nvSpPr>
            <p:spPr bwMode="blackWhite">
              <a:xfrm>
                <a:off x="751" y="2894"/>
                <a:ext cx="2417" cy="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20	MARKETING	DALLAS</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	FINANCE	NEW YORK</a:t>
                </a:r>
              </a:p>
            </p:txBody>
          </p:sp>
          <p:grpSp>
            <p:nvGrpSpPr>
              <p:cNvPr id="38937" name="Group 20">
                <a:extLst>
                  <a:ext uri="{FF2B5EF4-FFF2-40B4-BE49-F238E27FC236}">
                    <a16:creationId xmlns:a16="http://schemas.microsoft.com/office/drawing/2014/main" id="{DD6A5726-DB1C-B842-32CC-92E0D14947A3}"/>
                  </a:ext>
                </a:extLst>
              </p:cNvPr>
              <p:cNvGrpSpPr>
                <a:grpSpLocks/>
              </p:cNvGrpSpPr>
              <p:nvPr/>
            </p:nvGrpSpPr>
            <p:grpSpPr bwMode="auto">
              <a:xfrm>
                <a:off x="1372" y="2874"/>
                <a:ext cx="944" cy="582"/>
                <a:chOff x="1372" y="2874"/>
                <a:chExt cx="944" cy="582"/>
              </a:xfrm>
            </p:grpSpPr>
            <p:sp>
              <p:nvSpPr>
                <p:cNvPr id="38939" name="Line 21">
                  <a:extLst>
                    <a:ext uri="{FF2B5EF4-FFF2-40B4-BE49-F238E27FC236}">
                      <a16:creationId xmlns:a16="http://schemas.microsoft.com/office/drawing/2014/main" id="{36355C3A-9F10-16E8-A794-7C1BD1ECD129}"/>
                    </a:ext>
                  </a:extLst>
                </p:cNvPr>
                <p:cNvSpPr>
                  <a:spLocks noChangeShapeType="1"/>
                </p:cNvSpPr>
                <p:nvPr/>
              </p:nvSpPr>
              <p:spPr bwMode="auto">
                <a:xfrm>
                  <a:off x="1372" y="2874"/>
                  <a:ext cx="0" cy="58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940" name="Line 22">
                  <a:extLst>
                    <a:ext uri="{FF2B5EF4-FFF2-40B4-BE49-F238E27FC236}">
                      <a16:creationId xmlns:a16="http://schemas.microsoft.com/office/drawing/2014/main" id="{B7E817AE-FE89-2D97-757D-A7E415AFB767}"/>
                    </a:ext>
                  </a:extLst>
                </p:cNvPr>
                <p:cNvSpPr>
                  <a:spLocks noChangeShapeType="1"/>
                </p:cNvSpPr>
                <p:nvPr/>
              </p:nvSpPr>
              <p:spPr bwMode="auto">
                <a:xfrm>
                  <a:off x="2316" y="2874"/>
                  <a:ext cx="0" cy="58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38938" name="Line 23">
                <a:extLst>
                  <a:ext uri="{FF2B5EF4-FFF2-40B4-BE49-F238E27FC236}">
                    <a16:creationId xmlns:a16="http://schemas.microsoft.com/office/drawing/2014/main" id="{42C2EF34-9913-1E69-F383-6DF98C78D12B}"/>
                  </a:ext>
                </a:extLst>
              </p:cNvPr>
              <p:cNvSpPr>
                <a:spLocks noChangeShapeType="1"/>
              </p:cNvSpPr>
              <p:nvPr/>
            </p:nvSpPr>
            <p:spPr bwMode="auto">
              <a:xfrm>
                <a:off x="740" y="3154"/>
                <a:ext cx="244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grpSp>
      <p:grpSp>
        <p:nvGrpSpPr>
          <p:cNvPr id="5" name="Group 24">
            <a:extLst>
              <a:ext uri="{FF2B5EF4-FFF2-40B4-BE49-F238E27FC236}">
                <a16:creationId xmlns:a16="http://schemas.microsoft.com/office/drawing/2014/main" id="{6458E129-CA43-9474-B697-5F4990B2C891}"/>
              </a:ext>
            </a:extLst>
          </p:cNvPr>
          <p:cNvGrpSpPr>
            <a:grpSpLocks/>
          </p:cNvGrpSpPr>
          <p:nvPr/>
        </p:nvGrpSpPr>
        <p:grpSpPr bwMode="auto">
          <a:xfrm>
            <a:off x="5065713" y="4330700"/>
            <a:ext cx="3352800" cy="1387475"/>
            <a:chOff x="3191" y="2728"/>
            <a:chExt cx="2112" cy="874"/>
          </a:xfrm>
        </p:grpSpPr>
        <p:sp>
          <p:nvSpPr>
            <p:cNvPr id="385049" name="Rectangle 25">
              <a:extLst>
                <a:ext uri="{FF2B5EF4-FFF2-40B4-BE49-F238E27FC236}">
                  <a16:creationId xmlns:a16="http://schemas.microsoft.com/office/drawing/2014/main" id="{4A03D56B-7163-6B57-BD09-2A63AA8380C7}"/>
                </a:ext>
              </a:extLst>
            </p:cNvPr>
            <p:cNvSpPr>
              <a:spLocks noChangeArrowheads="1"/>
            </p:cNvSpPr>
            <p:nvPr/>
          </p:nvSpPr>
          <p:spPr bwMode="auto">
            <a:xfrm>
              <a:off x="3669" y="2728"/>
              <a:ext cx="1634" cy="526"/>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a:solidFill>
                    <a:schemeClr val="accent2"/>
                  </a:solidFill>
                  <a:effectLst>
                    <a:outerShdw blurRad="38100" dist="38100" dir="2700000" algn="tl">
                      <a:srgbClr val="000000"/>
                    </a:outerShdw>
                  </a:effectLst>
                </a:rPr>
                <a:t>Not allowed (DEPTNO</a:t>
              </a:r>
              <a:r>
                <a:rPr lang="en-US" sz="1800">
                  <a:solidFill>
                    <a:schemeClr val="accent2"/>
                  </a:solidFill>
                  <a:latin typeface="Symbol" pitchFamily="18" charset="2"/>
                </a:rPr>
                <a:t>-</a:t>
              </a:r>
              <a:r>
                <a:rPr lang="en-US" sz="1800" b="1">
                  <a:solidFill>
                    <a:schemeClr val="accent2"/>
                  </a:solidFill>
                  <a:effectLst>
                    <a:outerShdw blurRad="38100" dist="38100" dir="2700000" algn="tl">
                      <a:srgbClr val="000000"/>
                    </a:outerShdw>
                  </a:effectLst>
                </a:rPr>
                <a:t>20 already exists)</a:t>
              </a:r>
            </a:p>
          </p:txBody>
        </p:sp>
        <p:sp>
          <p:nvSpPr>
            <p:cNvPr id="38929" name="Line 26">
              <a:extLst>
                <a:ext uri="{FF2B5EF4-FFF2-40B4-BE49-F238E27FC236}">
                  <a16:creationId xmlns:a16="http://schemas.microsoft.com/office/drawing/2014/main" id="{2ACEA4F1-0FB1-C948-0507-E9371F42896A}"/>
                </a:ext>
              </a:extLst>
            </p:cNvPr>
            <p:cNvSpPr>
              <a:spLocks noChangeShapeType="1"/>
            </p:cNvSpPr>
            <p:nvPr/>
          </p:nvSpPr>
          <p:spPr bwMode="auto">
            <a:xfrm flipV="1">
              <a:off x="3191" y="2988"/>
              <a:ext cx="409" cy="1"/>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385051" name="Rectangle 27">
              <a:extLst>
                <a:ext uri="{FF2B5EF4-FFF2-40B4-BE49-F238E27FC236}">
                  <a16:creationId xmlns:a16="http://schemas.microsoft.com/office/drawing/2014/main" id="{E2D6C3EF-D78F-66D7-5ED5-23B02BA6FD7B}"/>
                </a:ext>
              </a:extLst>
            </p:cNvPr>
            <p:cNvSpPr>
              <a:spLocks noChangeArrowheads="1"/>
            </p:cNvSpPr>
            <p:nvPr/>
          </p:nvSpPr>
          <p:spPr bwMode="auto">
            <a:xfrm>
              <a:off x="3669" y="3232"/>
              <a:ext cx="1634" cy="370"/>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a:solidFill>
                    <a:schemeClr val="accent2"/>
                  </a:solidFill>
                  <a:effectLst>
                    <a:outerShdw blurRad="38100" dist="38100" dir="2700000" algn="tl">
                      <a:srgbClr val="000000"/>
                    </a:outerShdw>
                  </a:effectLst>
                </a:rPr>
                <a:t>Not allowed</a:t>
              </a:r>
              <a:br>
                <a:rPr lang="en-US" sz="1800" b="1">
                  <a:solidFill>
                    <a:schemeClr val="accent2"/>
                  </a:solidFill>
                  <a:effectLst>
                    <a:outerShdw blurRad="38100" dist="38100" dir="2700000" algn="tl">
                      <a:srgbClr val="000000"/>
                    </a:outerShdw>
                  </a:effectLst>
                </a:rPr>
              </a:br>
              <a:r>
                <a:rPr lang="en-US" sz="1800" b="1">
                  <a:solidFill>
                    <a:schemeClr val="accent2"/>
                  </a:solidFill>
                  <a:effectLst>
                    <a:outerShdw blurRad="38100" dist="38100" dir="2700000" algn="tl">
                      <a:srgbClr val="000000"/>
                    </a:outerShdw>
                  </a:effectLst>
                </a:rPr>
                <a:t>(DEPTNO is null)</a:t>
              </a:r>
            </a:p>
          </p:txBody>
        </p:sp>
        <p:sp>
          <p:nvSpPr>
            <p:cNvPr id="38931" name="Line 28">
              <a:extLst>
                <a:ext uri="{FF2B5EF4-FFF2-40B4-BE49-F238E27FC236}">
                  <a16:creationId xmlns:a16="http://schemas.microsoft.com/office/drawing/2014/main" id="{0951E9DA-2121-81EE-1DCB-5289C086B885}"/>
                </a:ext>
              </a:extLst>
            </p:cNvPr>
            <p:cNvSpPr>
              <a:spLocks noChangeShapeType="1"/>
            </p:cNvSpPr>
            <p:nvPr/>
          </p:nvSpPr>
          <p:spPr bwMode="auto">
            <a:xfrm flipV="1">
              <a:off x="3191" y="3324"/>
              <a:ext cx="409" cy="1"/>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0A108F85-A657-F553-29DC-33A1C0A10F03}"/>
              </a:ext>
            </a:extLst>
          </p:cNvPr>
          <p:cNvSpPr>
            <a:spLocks noGrp="1" noChangeArrowheads="1"/>
          </p:cNvSpPr>
          <p:nvPr>
            <p:ph type="title"/>
          </p:nvPr>
        </p:nvSpPr>
        <p:spPr>
          <a:xfrm>
            <a:off x="323850" y="588963"/>
            <a:ext cx="5075238" cy="536575"/>
          </a:xfrm>
          <a:noFill/>
        </p:spPr>
        <p:txBody>
          <a:bodyPr lIns="92075" tIns="46038" rIns="92075" bIns="46038" anchor="t"/>
          <a:lstStyle/>
          <a:p>
            <a:r>
              <a:rPr lang="en-US" altLang="en-US" sz="2800">
                <a:solidFill>
                  <a:srgbClr val="800000"/>
                </a:solidFill>
              </a:rPr>
              <a:t>The PRIMARY KEY Constraint</a:t>
            </a:r>
          </a:p>
        </p:txBody>
      </p:sp>
      <p:sp>
        <p:nvSpPr>
          <p:cNvPr id="40963" name="Rectangle 3">
            <a:extLst>
              <a:ext uri="{FF2B5EF4-FFF2-40B4-BE49-F238E27FC236}">
                <a16:creationId xmlns:a16="http://schemas.microsoft.com/office/drawing/2014/main" id="{EE549753-15FF-028E-750C-2E5D825EF732}"/>
              </a:ext>
            </a:extLst>
          </p:cNvPr>
          <p:cNvSpPr>
            <a:spLocks noGrp="1" noChangeArrowheads="1"/>
          </p:cNvSpPr>
          <p:nvPr>
            <p:ph type="body" idx="1"/>
          </p:nvPr>
        </p:nvSpPr>
        <p:spPr>
          <a:xfrm>
            <a:off x="860425" y="1539875"/>
            <a:ext cx="7926388" cy="1373188"/>
          </a:xfrm>
          <a:noFill/>
        </p:spPr>
        <p:txBody>
          <a:bodyPr lIns="92075" tIns="46038" rIns="92075" bIns="46038">
            <a:spAutoFit/>
          </a:bodyPr>
          <a:lstStyle/>
          <a:p>
            <a:r>
              <a:rPr lang="en-US" altLang="en-US"/>
              <a:t>Defined at either the table level or the column level, however if the PK is composite, then it should be defined at table level.</a:t>
            </a:r>
          </a:p>
        </p:txBody>
      </p:sp>
      <p:sp>
        <p:nvSpPr>
          <p:cNvPr id="40964" name="Rectangle 4">
            <a:extLst>
              <a:ext uri="{FF2B5EF4-FFF2-40B4-BE49-F238E27FC236}">
                <a16:creationId xmlns:a16="http://schemas.microsoft.com/office/drawing/2014/main" id="{450C989D-5C31-031F-92E7-80039DC6B3A2}"/>
              </a:ext>
            </a:extLst>
          </p:cNvPr>
          <p:cNvSpPr>
            <a:spLocks noChangeArrowheads="1"/>
          </p:cNvSpPr>
          <p:nvPr/>
        </p:nvSpPr>
        <p:spPr bwMode="blackWhite">
          <a:xfrm>
            <a:off x="812800" y="3475038"/>
            <a:ext cx="7823200" cy="18986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87077" name="Rectangle 5">
            <a:extLst>
              <a:ext uri="{FF2B5EF4-FFF2-40B4-BE49-F238E27FC236}">
                <a16:creationId xmlns:a16="http://schemas.microsoft.com/office/drawing/2014/main" id="{1850DD5A-11B1-83B9-212A-64DA7CE3347B}"/>
              </a:ext>
            </a:extLst>
          </p:cNvPr>
          <p:cNvSpPr>
            <a:spLocks noChangeArrowheads="1"/>
          </p:cNvSpPr>
          <p:nvPr/>
        </p:nvSpPr>
        <p:spPr bwMode="ltGray">
          <a:xfrm>
            <a:off x="2066925" y="4967288"/>
            <a:ext cx="6334125" cy="30480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0966" name="Rectangle 6">
            <a:extLst>
              <a:ext uri="{FF2B5EF4-FFF2-40B4-BE49-F238E27FC236}">
                <a16:creationId xmlns:a16="http://schemas.microsoft.com/office/drawing/2014/main" id="{9B053528-2255-8BAA-EC13-00A79B20B270}"/>
              </a:ext>
            </a:extLst>
          </p:cNvPr>
          <p:cNvSpPr>
            <a:spLocks noChangeArrowheads="1"/>
          </p:cNvSpPr>
          <p:nvPr/>
        </p:nvSpPr>
        <p:spPr bwMode="blackWhite">
          <a:xfrm>
            <a:off x="838200" y="3973513"/>
            <a:ext cx="749617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CREATE TABLE   dept(</a:t>
            </a:r>
          </a:p>
          <a:p>
            <a:pPr>
              <a:spcBef>
                <a:spcPct val="0"/>
              </a:spcBef>
              <a:buFontTx/>
              <a:buNone/>
            </a:pPr>
            <a:r>
              <a:rPr lang="en-US" altLang="en-US" sz="1800" b="1">
                <a:solidFill>
                  <a:srgbClr val="000000"/>
                </a:solidFill>
                <a:latin typeface="Courier New" panose="02070309020205020404" pitchFamily="49" charset="0"/>
              </a:rPr>
              <a:t>  2  	deptno 	  NUMBER(2),</a:t>
            </a:r>
          </a:p>
          <a:p>
            <a:pPr>
              <a:spcBef>
                <a:spcPct val="0"/>
              </a:spcBef>
              <a:buFontTx/>
              <a:buNone/>
            </a:pPr>
            <a:r>
              <a:rPr lang="en-US" altLang="en-US" sz="1800" b="1">
                <a:solidFill>
                  <a:srgbClr val="000000"/>
                </a:solidFill>
                <a:latin typeface="Courier New" panose="02070309020205020404" pitchFamily="49" charset="0"/>
              </a:rPr>
              <a:t>  3	dname	  VARCHAR2(14),</a:t>
            </a:r>
          </a:p>
          <a:p>
            <a:pPr>
              <a:spcBef>
                <a:spcPct val="0"/>
              </a:spcBef>
              <a:buFontTx/>
              <a:buNone/>
            </a:pPr>
            <a:r>
              <a:rPr lang="en-US" altLang="en-US" sz="1800" b="1">
                <a:solidFill>
                  <a:srgbClr val="000000"/>
                </a:solidFill>
                <a:latin typeface="Courier New" panose="02070309020205020404" pitchFamily="49" charset="0"/>
              </a:rPr>
              <a:t>  4	loc	  VARCHAR2(13),</a:t>
            </a:r>
          </a:p>
          <a:p>
            <a:pPr>
              <a:spcBef>
                <a:spcPct val="0"/>
              </a:spcBef>
              <a:buFontTx/>
              <a:buNone/>
            </a:pPr>
            <a:r>
              <a:rPr lang="en-US" altLang="en-US" sz="1800" b="1">
                <a:solidFill>
                  <a:srgbClr val="000000"/>
                </a:solidFill>
                <a:latin typeface="Courier New" panose="02070309020205020404" pitchFamily="49" charset="0"/>
              </a:rPr>
              <a:t>  5	CONSTRAINT dept_dname_uk UNIQUE (dname),</a:t>
            </a:r>
          </a:p>
          <a:p>
            <a:pPr>
              <a:spcBef>
                <a:spcPct val="0"/>
              </a:spcBef>
              <a:buFontTx/>
              <a:buNone/>
            </a:pPr>
            <a:r>
              <a:rPr lang="en-US" altLang="en-US" sz="1800" b="1">
                <a:solidFill>
                  <a:srgbClr val="000000"/>
                </a:solidFill>
                <a:latin typeface="Courier New" panose="02070309020205020404" pitchFamily="49" charset="0"/>
              </a:rPr>
              <a:t>  6	CONSTRAINT dept_deptno_pk PRIMARY KEY(deptno));</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87077"/>
                                        </p:tgtEl>
                                        <p:attrNameLst>
                                          <p:attrName>style.visibility</p:attrName>
                                        </p:attrNameLst>
                                      </p:cBhvr>
                                      <p:to>
                                        <p:strVal val="visible"/>
                                      </p:to>
                                    </p:set>
                                    <p:animEffect transition="in" filter="wipe(up)">
                                      <p:cBhvr>
                                        <p:cTn id="7" dur="500"/>
                                        <p:tgtEl>
                                          <p:spTgt spid="387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2A3CC105-CEB7-DBC4-2F8E-5FEA08968C7C}"/>
              </a:ext>
            </a:extLst>
          </p:cNvPr>
          <p:cNvSpPr>
            <a:spLocks noGrp="1" noChangeArrowheads="1"/>
          </p:cNvSpPr>
          <p:nvPr>
            <p:ph type="title"/>
          </p:nvPr>
        </p:nvSpPr>
        <p:spPr>
          <a:xfrm>
            <a:off x="361950" y="588963"/>
            <a:ext cx="5146675" cy="536575"/>
          </a:xfrm>
          <a:noFill/>
        </p:spPr>
        <p:txBody>
          <a:bodyPr lIns="92075" tIns="46038" rIns="92075" bIns="46038" anchor="t"/>
          <a:lstStyle/>
          <a:p>
            <a:r>
              <a:rPr lang="en-US" altLang="en-US" sz="2800">
                <a:solidFill>
                  <a:srgbClr val="800000"/>
                </a:solidFill>
              </a:rPr>
              <a:t>The FOREIGN KEY Constraint</a:t>
            </a:r>
          </a:p>
        </p:txBody>
      </p:sp>
      <p:sp>
        <p:nvSpPr>
          <p:cNvPr id="43011" name="Rectangle 3">
            <a:extLst>
              <a:ext uri="{FF2B5EF4-FFF2-40B4-BE49-F238E27FC236}">
                <a16:creationId xmlns:a16="http://schemas.microsoft.com/office/drawing/2014/main" id="{7C4DEB92-322A-5E33-0510-F26928E3B2B1}"/>
              </a:ext>
            </a:extLst>
          </p:cNvPr>
          <p:cNvSpPr>
            <a:spLocks noChangeArrowheads="1"/>
          </p:cNvSpPr>
          <p:nvPr/>
        </p:nvSpPr>
        <p:spPr bwMode="blackWhite">
          <a:xfrm>
            <a:off x="2760663" y="1495425"/>
            <a:ext cx="3862387" cy="14192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389124" name="Rectangle 4">
            <a:extLst>
              <a:ext uri="{FF2B5EF4-FFF2-40B4-BE49-F238E27FC236}">
                <a16:creationId xmlns:a16="http://schemas.microsoft.com/office/drawing/2014/main" id="{39A447B6-41FC-A165-AFD7-955899D9BB76}"/>
              </a:ext>
            </a:extLst>
          </p:cNvPr>
          <p:cNvSpPr>
            <a:spLocks noChangeArrowheads="1"/>
          </p:cNvSpPr>
          <p:nvPr/>
        </p:nvSpPr>
        <p:spPr bwMode="auto">
          <a:xfrm>
            <a:off x="2635250" y="1131888"/>
            <a:ext cx="931863"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DEPT </a:t>
            </a:r>
          </a:p>
        </p:txBody>
      </p:sp>
      <p:sp>
        <p:nvSpPr>
          <p:cNvPr id="43013" name="Rectangle 5">
            <a:extLst>
              <a:ext uri="{FF2B5EF4-FFF2-40B4-BE49-F238E27FC236}">
                <a16:creationId xmlns:a16="http://schemas.microsoft.com/office/drawing/2014/main" id="{874265F8-95FD-27D9-7E6B-86FE82FD314D}"/>
              </a:ext>
            </a:extLst>
          </p:cNvPr>
          <p:cNvSpPr>
            <a:spLocks noChangeArrowheads="1"/>
          </p:cNvSpPr>
          <p:nvPr/>
        </p:nvSpPr>
        <p:spPr bwMode="blackWhite">
          <a:xfrm>
            <a:off x="2735263" y="1527175"/>
            <a:ext cx="3836987" cy="139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a:t>
            </a:r>
          </a:p>
        </p:txBody>
      </p:sp>
      <p:sp>
        <p:nvSpPr>
          <p:cNvPr id="43014" name="Line 6">
            <a:extLst>
              <a:ext uri="{FF2B5EF4-FFF2-40B4-BE49-F238E27FC236}">
                <a16:creationId xmlns:a16="http://schemas.microsoft.com/office/drawing/2014/main" id="{E8734E47-5DA2-6851-3CE6-DDBD381342B7}"/>
              </a:ext>
            </a:extLst>
          </p:cNvPr>
          <p:cNvSpPr>
            <a:spLocks noChangeShapeType="1"/>
          </p:cNvSpPr>
          <p:nvPr/>
        </p:nvSpPr>
        <p:spPr bwMode="auto">
          <a:xfrm>
            <a:off x="2743200" y="1958975"/>
            <a:ext cx="3879850"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15" name="Line 7">
            <a:extLst>
              <a:ext uri="{FF2B5EF4-FFF2-40B4-BE49-F238E27FC236}">
                <a16:creationId xmlns:a16="http://schemas.microsoft.com/office/drawing/2014/main" id="{ADB50020-4ACC-F6BF-E4E4-5E7604F31410}"/>
              </a:ext>
            </a:extLst>
          </p:cNvPr>
          <p:cNvSpPr>
            <a:spLocks noChangeShapeType="1"/>
          </p:cNvSpPr>
          <p:nvPr/>
        </p:nvSpPr>
        <p:spPr bwMode="auto">
          <a:xfrm>
            <a:off x="2736850" y="2352675"/>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16" name="Line 8">
            <a:extLst>
              <a:ext uri="{FF2B5EF4-FFF2-40B4-BE49-F238E27FC236}">
                <a16:creationId xmlns:a16="http://schemas.microsoft.com/office/drawing/2014/main" id="{4166967E-651E-3448-094A-5941655B4D66}"/>
              </a:ext>
            </a:extLst>
          </p:cNvPr>
          <p:cNvSpPr>
            <a:spLocks noChangeShapeType="1"/>
          </p:cNvSpPr>
          <p:nvPr/>
        </p:nvSpPr>
        <p:spPr bwMode="auto">
          <a:xfrm>
            <a:off x="2736850" y="2613025"/>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43017" name="Group 9">
            <a:extLst>
              <a:ext uri="{FF2B5EF4-FFF2-40B4-BE49-F238E27FC236}">
                <a16:creationId xmlns:a16="http://schemas.microsoft.com/office/drawing/2014/main" id="{79CDEEF1-A2D5-6298-869D-483DB9102A11}"/>
              </a:ext>
            </a:extLst>
          </p:cNvPr>
          <p:cNvGrpSpPr>
            <a:grpSpLocks/>
          </p:cNvGrpSpPr>
          <p:nvPr/>
        </p:nvGrpSpPr>
        <p:grpSpPr bwMode="auto">
          <a:xfrm>
            <a:off x="3721100" y="1495425"/>
            <a:ext cx="1498600" cy="1438275"/>
            <a:chOff x="2344" y="942"/>
            <a:chExt cx="944" cy="906"/>
          </a:xfrm>
        </p:grpSpPr>
        <p:sp>
          <p:nvSpPr>
            <p:cNvPr id="43054" name="Line 10">
              <a:extLst>
                <a:ext uri="{FF2B5EF4-FFF2-40B4-BE49-F238E27FC236}">
                  <a16:creationId xmlns:a16="http://schemas.microsoft.com/office/drawing/2014/main" id="{44588D2F-9967-97B8-19D3-0FA9A692CADE}"/>
                </a:ext>
              </a:extLst>
            </p:cNvPr>
            <p:cNvSpPr>
              <a:spLocks noChangeShapeType="1"/>
            </p:cNvSpPr>
            <p:nvPr/>
          </p:nvSpPr>
          <p:spPr bwMode="auto">
            <a:xfrm>
              <a:off x="2344" y="942"/>
              <a:ext cx="0" cy="906"/>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55" name="Line 11">
              <a:extLst>
                <a:ext uri="{FF2B5EF4-FFF2-40B4-BE49-F238E27FC236}">
                  <a16:creationId xmlns:a16="http://schemas.microsoft.com/office/drawing/2014/main" id="{DEA88764-1AB0-28DD-A463-A1ED337EFA06}"/>
                </a:ext>
              </a:extLst>
            </p:cNvPr>
            <p:cNvSpPr>
              <a:spLocks noChangeShapeType="1"/>
            </p:cNvSpPr>
            <p:nvPr/>
          </p:nvSpPr>
          <p:spPr bwMode="auto">
            <a:xfrm>
              <a:off x="3288" y="942"/>
              <a:ext cx="0" cy="906"/>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389132" name="Rectangle 12">
            <a:extLst>
              <a:ext uri="{FF2B5EF4-FFF2-40B4-BE49-F238E27FC236}">
                <a16:creationId xmlns:a16="http://schemas.microsoft.com/office/drawing/2014/main" id="{DA432BC2-6F48-36CC-E93E-09366D2802EC}"/>
              </a:ext>
            </a:extLst>
          </p:cNvPr>
          <p:cNvSpPr>
            <a:spLocks noChangeArrowheads="1"/>
          </p:cNvSpPr>
          <p:nvPr/>
        </p:nvSpPr>
        <p:spPr bwMode="auto">
          <a:xfrm>
            <a:off x="419100" y="1516063"/>
            <a:ext cx="1333500" cy="587375"/>
          </a:xfrm>
          <a:prstGeom prst="rect">
            <a:avLst/>
          </a:prstGeom>
          <a:noFill/>
          <a:ln w="9525">
            <a:noFill/>
            <a:miter lim="800000"/>
            <a:headEnd/>
            <a:tailEnd/>
          </a:ln>
          <a:effectLst/>
        </p:spPr>
        <p:txBody>
          <a:bodyPr lIns="92075" tIns="46038" rIns="92075" bIns="46038">
            <a:spAutoFit/>
          </a:bodyPr>
          <a:lstStyle/>
          <a:p>
            <a:pPr algn="r">
              <a:lnSpc>
                <a:spcPct val="90000"/>
              </a:lnSpc>
              <a:defRPr/>
            </a:pPr>
            <a:r>
              <a:rPr lang="en-US" sz="1800" b="1">
                <a:solidFill>
                  <a:schemeClr val="accent2"/>
                </a:solidFill>
                <a:effectLst>
                  <a:outerShdw blurRad="38100" dist="38100" dir="2700000" algn="tl">
                    <a:srgbClr val="000000"/>
                  </a:outerShdw>
                </a:effectLst>
              </a:rPr>
              <a:t>PRIMARY</a:t>
            </a:r>
            <a:br>
              <a:rPr lang="en-US" sz="1800" b="1">
                <a:solidFill>
                  <a:schemeClr val="accent2"/>
                </a:solidFill>
                <a:effectLst>
                  <a:outerShdw blurRad="38100" dist="38100" dir="2700000" algn="tl">
                    <a:srgbClr val="000000"/>
                  </a:outerShdw>
                </a:effectLst>
              </a:rPr>
            </a:br>
            <a:r>
              <a:rPr lang="en-US" sz="1800" b="1">
                <a:solidFill>
                  <a:schemeClr val="accent2"/>
                </a:solidFill>
                <a:effectLst>
                  <a:outerShdw blurRad="38100" dist="38100" dir="2700000" algn="tl">
                    <a:srgbClr val="000000"/>
                  </a:outerShdw>
                </a:effectLst>
              </a:rPr>
              <a:t>KEY</a:t>
            </a:r>
          </a:p>
        </p:txBody>
      </p:sp>
      <p:sp>
        <p:nvSpPr>
          <p:cNvPr id="43019" name="Rectangle 13">
            <a:extLst>
              <a:ext uri="{FF2B5EF4-FFF2-40B4-BE49-F238E27FC236}">
                <a16:creationId xmlns:a16="http://schemas.microsoft.com/office/drawing/2014/main" id="{7992E579-9EE9-45DE-EF1D-004627449B2B}"/>
              </a:ext>
            </a:extLst>
          </p:cNvPr>
          <p:cNvSpPr>
            <a:spLocks noChangeArrowheads="1"/>
          </p:cNvSpPr>
          <p:nvPr/>
        </p:nvSpPr>
        <p:spPr bwMode="blackWhite">
          <a:xfrm>
            <a:off x="722313" y="3319463"/>
            <a:ext cx="5913437" cy="14192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389134" name="Rectangle 14">
            <a:extLst>
              <a:ext uri="{FF2B5EF4-FFF2-40B4-BE49-F238E27FC236}">
                <a16:creationId xmlns:a16="http://schemas.microsoft.com/office/drawing/2014/main" id="{390161CF-0BCC-16B1-CACD-77D631D68ED1}"/>
              </a:ext>
            </a:extLst>
          </p:cNvPr>
          <p:cNvSpPr>
            <a:spLocks noChangeArrowheads="1"/>
          </p:cNvSpPr>
          <p:nvPr/>
        </p:nvSpPr>
        <p:spPr bwMode="auto">
          <a:xfrm>
            <a:off x="633413" y="2946400"/>
            <a:ext cx="735012"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EMP</a:t>
            </a:r>
          </a:p>
        </p:txBody>
      </p:sp>
      <p:sp>
        <p:nvSpPr>
          <p:cNvPr id="43021" name="Rectangle 15">
            <a:extLst>
              <a:ext uri="{FF2B5EF4-FFF2-40B4-BE49-F238E27FC236}">
                <a16:creationId xmlns:a16="http://schemas.microsoft.com/office/drawing/2014/main" id="{82660CFC-1EFA-E743-56BB-04B1A6DCD3A5}"/>
              </a:ext>
            </a:extLst>
          </p:cNvPr>
          <p:cNvSpPr>
            <a:spLocks noChangeArrowheads="1"/>
          </p:cNvSpPr>
          <p:nvPr/>
        </p:nvSpPr>
        <p:spPr bwMode="blackWhite">
          <a:xfrm>
            <a:off x="714375" y="3360738"/>
            <a:ext cx="7361238" cy="139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 pos="3200400" algn="l"/>
                <a:tab pos="45720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200400" algn="l"/>
                <a:tab pos="45720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200400" algn="l"/>
                <a:tab pos="45720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200400" algn="l"/>
                <a:tab pos="45720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200400" algn="l"/>
                <a:tab pos="45720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JOB		 ...  COMM  DEPTNO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7839	KING	PRESIDENT		      10</a:t>
            </a:r>
          </a:p>
          <a:p>
            <a:pPr>
              <a:lnSpc>
                <a:spcPct val="95000"/>
              </a:lnSpc>
              <a:spcBef>
                <a:spcPct val="0"/>
              </a:spcBef>
              <a:buFontTx/>
              <a:buNone/>
            </a:pPr>
            <a:r>
              <a:rPr lang="en-US" altLang="en-US" sz="1800" b="1">
                <a:solidFill>
                  <a:srgbClr val="000000"/>
                </a:solidFill>
                <a:latin typeface="Courier New" panose="02070309020205020404" pitchFamily="49" charset="0"/>
              </a:rPr>
              <a:t>  7698	BLAKE	MANAGER		      30</a:t>
            </a:r>
          </a:p>
          <a:p>
            <a:pPr>
              <a:lnSpc>
                <a:spcPct val="95000"/>
              </a:lnSpc>
              <a:spcBef>
                <a:spcPct val="0"/>
              </a:spcBef>
              <a:buFontTx/>
              <a:buNone/>
            </a:pPr>
            <a:r>
              <a:rPr lang="en-US" altLang="en-US" sz="1800" b="1">
                <a:solidFill>
                  <a:srgbClr val="000000"/>
                </a:solidFill>
                <a:latin typeface="Courier New" panose="02070309020205020404" pitchFamily="49" charset="0"/>
              </a:rPr>
              <a:t>  ...</a:t>
            </a:r>
          </a:p>
        </p:txBody>
      </p:sp>
      <p:sp>
        <p:nvSpPr>
          <p:cNvPr id="43022" name="Line 16">
            <a:extLst>
              <a:ext uri="{FF2B5EF4-FFF2-40B4-BE49-F238E27FC236}">
                <a16:creationId xmlns:a16="http://schemas.microsoft.com/office/drawing/2014/main" id="{16B5DAAC-DBE8-79B3-D754-5B3BF0D71441}"/>
              </a:ext>
            </a:extLst>
          </p:cNvPr>
          <p:cNvSpPr>
            <a:spLocks noChangeShapeType="1"/>
          </p:cNvSpPr>
          <p:nvPr/>
        </p:nvSpPr>
        <p:spPr bwMode="auto">
          <a:xfrm>
            <a:off x="722313" y="3773488"/>
            <a:ext cx="5903912"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23" name="Line 17">
            <a:extLst>
              <a:ext uri="{FF2B5EF4-FFF2-40B4-BE49-F238E27FC236}">
                <a16:creationId xmlns:a16="http://schemas.microsoft.com/office/drawing/2014/main" id="{6ACD4C3A-88A7-F149-1A21-5DDA1F98ECD0}"/>
              </a:ext>
            </a:extLst>
          </p:cNvPr>
          <p:cNvSpPr>
            <a:spLocks noChangeShapeType="1"/>
          </p:cNvSpPr>
          <p:nvPr/>
        </p:nvSpPr>
        <p:spPr bwMode="auto">
          <a:xfrm>
            <a:off x="715963" y="4167188"/>
            <a:ext cx="5930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24" name="Line 18">
            <a:extLst>
              <a:ext uri="{FF2B5EF4-FFF2-40B4-BE49-F238E27FC236}">
                <a16:creationId xmlns:a16="http://schemas.microsoft.com/office/drawing/2014/main" id="{F8C37B7C-ED3C-35D8-326B-87A34FB75A5B}"/>
              </a:ext>
            </a:extLst>
          </p:cNvPr>
          <p:cNvSpPr>
            <a:spLocks noChangeShapeType="1"/>
          </p:cNvSpPr>
          <p:nvPr/>
        </p:nvSpPr>
        <p:spPr bwMode="auto">
          <a:xfrm>
            <a:off x="715963" y="4414838"/>
            <a:ext cx="5930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43025" name="Group 19">
            <a:extLst>
              <a:ext uri="{FF2B5EF4-FFF2-40B4-BE49-F238E27FC236}">
                <a16:creationId xmlns:a16="http://schemas.microsoft.com/office/drawing/2014/main" id="{1EAF745C-D4F8-9EEA-3DEC-A64758934BB3}"/>
              </a:ext>
            </a:extLst>
          </p:cNvPr>
          <p:cNvGrpSpPr>
            <a:grpSpLocks/>
          </p:cNvGrpSpPr>
          <p:nvPr/>
        </p:nvGrpSpPr>
        <p:grpSpPr bwMode="auto">
          <a:xfrm>
            <a:off x="1719263" y="3309938"/>
            <a:ext cx="3822700" cy="1471612"/>
            <a:chOff x="1083" y="2085"/>
            <a:chExt cx="2408" cy="927"/>
          </a:xfrm>
        </p:grpSpPr>
        <p:sp>
          <p:nvSpPr>
            <p:cNvPr id="43049" name="Line 20">
              <a:extLst>
                <a:ext uri="{FF2B5EF4-FFF2-40B4-BE49-F238E27FC236}">
                  <a16:creationId xmlns:a16="http://schemas.microsoft.com/office/drawing/2014/main" id="{6D794A9B-FD11-9570-E19A-55027B0A3D5A}"/>
                </a:ext>
              </a:extLst>
            </p:cNvPr>
            <p:cNvSpPr>
              <a:spLocks noChangeShapeType="1"/>
            </p:cNvSpPr>
            <p:nvPr/>
          </p:nvSpPr>
          <p:spPr bwMode="auto">
            <a:xfrm>
              <a:off x="1083" y="2085"/>
              <a:ext cx="0" cy="923"/>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50" name="Line 21">
              <a:extLst>
                <a:ext uri="{FF2B5EF4-FFF2-40B4-BE49-F238E27FC236}">
                  <a16:creationId xmlns:a16="http://schemas.microsoft.com/office/drawing/2014/main" id="{A879908D-D295-AE49-E23E-C162E04C1336}"/>
                </a:ext>
              </a:extLst>
            </p:cNvPr>
            <p:cNvSpPr>
              <a:spLocks noChangeShapeType="1"/>
            </p:cNvSpPr>
            <p:nvPr/>
          </p:nvSpPr>
          <p:spPr bwMode="auto">
            <a:xfrm>
              <a:off x="1619" y="2085"/>
              <a:ext cx="0" cy="918"/>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51" name="Line 22">
              <a:extLst>
                <a:ext uri="{FF2B5EF4-FFF2-40B4-BE49-F238E27FC236}">
                  <a16:creationId xmlns:a16="http://schemas.microsoft.com/office/drawing/2014/main" id="{B22AC137-398E-9B5B-10ED-9F5DFA08DA16}"/>
                </a:ext>
              </a:extLst>
            </p:cNvPr>
            <p:cNvSpPr>
              <a:spLocks noChangeShapeType="1"/>
            </p:cNvSpPr>
            <p:nvPr/>
          </p:nvSpPr>
          <p:spPr bwMode="auto">
            <a:xfrm>
              <a:off x="2561" y="2085"/>
              <a:ext cx="0" cy="909"/>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52" name="Line 23">
              <a:extLst>
                <a:ext uri="{FF2B5EF4-FFF2-40B4-BE49-F238E27FC236}">
                  <a16:creationId xmlns:a16="http://schemas.microsoft.com/office/drawing/2014/main" id="{CC662814-EFB0-886F-04CE-D93E12CDD670}"/>
                </a:ext>
              </a:extLst>
            </p:cNvPr>
            <p:cNvSpPr>
              <a:spLocks noChangeShapeType="1"/>
            </p:cNvSpPr>
            <p:nvPr/>
          </p:nvSpPr>
          <p:spPr bwMode="auto">
            <a:xfrm>
              <a:off x="2951" y="2085"/>
              <a:ext cx="0" cy="927"/>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53" name="Line 24">
              <a:extLst>
                <a:ext uri="{FF2B5EF4-FFF2-40B4-BE49-F238E27FC236}">
                  <a16:creationId xmlns:a16="http://schemas.microsoft.com/office/drawing/2014/main" id="{48374B8B-9742-6DA0-B297-B4E527AD3194}"/>
                </a:ext>
              </a:extLst>
            </p:cNvPr>
            <p:cNvSpPr>
              <a:spLocks noChangeShapeType="1"/>
            </p:cNvSpPr>
            <p:nvPr/>
          </p:nvSpPr>
          <p:spPr bwMode="auto">
            <a:xfrm>
              <a:off x="3491" y="2085"/>
              <a:ext cx="0" cy="927"/>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43026" name="Line 25">
            <a:extLst>
              <a:ext uri="{FF2B5EF4-FFF2-40B4-BE49-F238E27FC236}">
                <a16:creationId xmlns:a16="http://schemas.microsoft.com/office/drawing/2014/main" id="{94B8D672-F585-C231-FC47-373565E96C34}"/>
              </a:ext>
            </a:extLst>
          </p:cNvPr>
          <p:cNvSpPr>
            <a:spLocks noChangeShapeType="1"/>
          </p:cNvSpPr>
          <p:nvPr/>
        </p:nvSpPr>
        <p:spPr bwMode="auto">
          <a:xfrm>
            <a:off x="1752600" y="1657350"/>
            <a:ext cx="914400" cy="0"/>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43027" name="Freeform 26">
            <a:extLst>
              <a:ext uri="{FF2B5EF4-FFF2-40B4-BE49-F238E27FC236}">
                <a16:creationId xmlns:a16="http://schemas.microsoft.com/office/drawing/2014/main" id="{BDCC98FF-FE46-909F-6D46-2C639A2E58AB}"/>
              </a:ext>
            </a:extLst>
          </p:cNvPr>
          <p:cNvSpPr>
            <a:spLocks/>
          </p:cNvSpPr>
          <p:nvPr/>
        </p:nvSpPr>
        <p:spPr bwMode="auto">
          <a:xfrm>
            <a:off x="3467100" y="2743200"/>
            <a:ext cx="2592388" cy="649288"/>
          </a:xfrm>
          <a:custGeom>
            <a:avLst/>
            <a:gdLst>
              <a:gd name="T0" fmla="*/ 0 w 1633"/>
              <a:gd name="T1" fmla="*/ 0 h 409"/>
              <a:gd name="T2" fmla="*/ 0 w 1633"/>
              <a:gd name="T3" fmla="*/ 2147483646 h 409"/>
              <a:gd name="T4" fmla="*/ 2147483646 w 1633"/>
              <a:gd name="T5" fmla="*/ 2147483646 h 409"/>
              <a:gd name="T6" fmla="*/ 2147483646 w 1633"/>
              <a:gd name="T7" fmla="*/ 2147483646 h 40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33" h="409">
                <a:moveTo>
                  <a:pt x="0" y="0"/>
                </a:moveTo>
                <a:lnTo>
                  <a:pt x="0" y="204"/>
                </a:lnTo>
                <a:lnTo>
                  <a:pt x="1632" y="204"/>
                </a:lnTo>
                <a:lnTo>
                  <a:pt x="1632" y="408"/>
                </a:lnTo>
              </a:path>
            </a:pathLst>
          </a:custGeom>
          <a:noFill/>
          <a:ln w="50800" cap="rnd" cmpd="sng">
            <a:solidFill>
              <a:srgbClr val="FFCC00"/>
            </a:solidFill>
            <a:prstDash val="solid"/>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43028" name="Line 27">
            <a:extLst>
              <a:ext uri="{FF2B5EF4-FFF2-40B4-BE49-F238E27FC236}">
                <a16:creationId xmlns:a16="http://schemas.microsoft.com/office/drawing/2014/main" id="{1CE153B1-2BE8-2984-97A2-63E409F9DAE1}"/>
              </a:ext>
            </a:extLst>
          </p:cNvPr>
          <p:cNvSpPr>
            <a:spLocks noChangeShapeType="1"/>
          </p:cNvSpPr>
          <p:nvPr/>
        </p:nvSpPr>
        <p:spPr bwMode="auto">
          <a:xfrm flipH="1">
            <a:off x="6572250" y="3543300"/>
            <a:ext cx="455613" cy="0"/>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389148" name="Rectangle 28">
            <a:extLst>
              <a:ext uri="{FF2B5EF4-FFF2-40B4-BE49-F238E27FC236}">
                <a16:creationId xmlns:a16="http://schemas.microsoft.com/office/drawing/2014/main" id="{B55358E2-BB9F-3BF3-EFA3-4A45805DEAF9}"/>
              </a:ext>
            </a:extLst>
          </p:cNvPr>
          <p:cNvSpPr>
            <a:spLocks noChangeArrowheads="1"/>
          </p:cNvSpPr>
          <p:nvPr/>
        </p:nvSpPr>
        <p:spPr bwMode="auto">
          <a:xfrm>
            <a:off x="7046913" y="3382963"/>
            <a:ext cx="1333500" cy="587375"/>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a:solidFill>
                  <a:schemeClr val="accent2"/>
                </a:solidFill>
                <a:effectLst>
                  <a:outerShdw blurRad="38100" dist="38100" dir="2700000" algn="tl">
                    <a:srgbClr val="000000"/>
                  </a:outerShdw>
                </a:effectLst>
              </a:rPr>
              <a:t>FOREIGN</a:t>
            </a:r>
            <a:br>
              <a:rPr lang="en-US" sz="1800" b="1">
                <a:solidFill>
                  <a:schemeClr val="accent2"/>
                </a:solidFill>
                <a:effectLst>
                  <a:outerShdw blurRad="38100" dist="38100" dir="2700000" algn="tl">
                    <a:srgbClr val="000000"/>
                  </a:outerShdw>
                </a:effectLst>
              </a:rPr>
            </a:br>
            <a:r>
              <a:rPr lang="en-US" sz="1800" b="1">
                <a:solidFill>
                  <a:schemeClr val="accent2"/>
                </a:solidFill>
                <a:effectLst>
                  <a:outerShdw blurRad="38100" dist="38100" dir="2700000" algn="tl">
                    <a:srgbClr val="000000"/>
                  </a:outerShdw>
                </a:effectLst>
              </a:rPr>
              <a:t>KEY</a:t>
            </a:r>
          </a:p>
        </p:txBody>
      </p:sp>
      <p:grpSp>
        <p:nvGrpSpPr>
          <p:cNvPr id="4" name="Group 29">
            <a:extLst>
              <a:ext uri="{FF2B5EF4-FFF2-40B4-BE49-F238E27FC236}">
                <a16:creationId xmlns:a16="http://schemas.microsoft.com/office/drawing/2014/main" id="{7EDAC0F2-9508-C05D-A09D-168B97F05237}"/>
              </a:ext>
            </a:extLst>
          </p:cNvPr>
          <p:cNvGrpSpPr>
            <a:grpSpLocks/>
          </p:cNvGrpSpPr>
          <p:nvPr/>
        </p:nvGrpSpPr>
        <p:grpSpPr bwMode="auto">
          <a:xfrm>
            <a:off x="714375" y="4857750"/>
            <a:ext cx="7361238" cy="1200150"/>
            <a:chOff x="450" y="3060"/>
            <a:chExt cx="4637" cy="756"/>
          </a:xfrm>
        </p:grpSpPr>
        <p:grpSp>
          <p:nvGrpSpPr>
            <p:cNvPr id="43037" name="Group 30">
              <a:extLst>
                <a:ext uri="{FF2B5EF4-FFF2-40B4-BE49-F238E27FC236}">
                  <a16:creationId xmlns:a16="http://schemas.microsoft.com/office/drawing/2014/main" id="{59B0F086-6257-2E00-C22A-7BF9BD6E233E}"/>
                </a:ext>
              </a:extLst>
            </p:cNvPr>
            <p:cNvGrpSpPr>
              <a:grpSpLocks/>
            </p:cNvGrpSpPr>
            <p:nvPr/>
          </p:nvGrpSpPr>
          <p:grpSpPr bwMode="auto">
            <a:xfrm>
              <a:off x="450" y="3060"/>
              <a:ext cx="4637" cy="731"/>
              <a:chOff x="450" y="3060"/>
              <a:chExt cx="4637" cy="731"/>
            </a:xfrm>
          </p:grpSpPr>
          <p:sp>
            <p:nvSpPr>
              <p:cNvPr id="43044" name="AutoShape 31">
                <a:extLst>
                  <a:ext uri="{FF2B5EF4-FFF2-40B4-BE49-F238E27FC236}">
                    <a16:creationId xmlns:a16="http://schemas.microsoft.com/office/drawing/2014/main" id="{8CF0CB15-9D03-D736-602B-BBEC9EB79ECD}"/>
                  </a:ext>
                </a:extLst>
              </p:cNvPr>
              <p:cNvSpPr>
                <a:spLocks noChangeArrowheads="1"/>
              </p:cNvSpPr>
              <p:nvPr/>
            </p:nvSpPr>
            <p:spPr bwMode="auto">
              <a:xfrm>
                <a:off x="2124" y="3060"/>
                <a:ext cx="384" cy="324"/>
              </a:xfrm>
              <a:prstGeom prst="upArrow">
                <a:avLst>
                  <a:gd name="adj1" fmla="val 50000"/>
                  <a:gd name="adj2" fmla="val 49995"/>
                </a:avLst>
              </a:prstGeom>
              <a:solidFill>
                <a:srgbClr val="FFCC99"/>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3045" name="Rectangle 32">
                <a:extLst>
                  <a:ext uri="{FF2B5EF4-FFF2-40B4-BE49-F238E27FC236}">
                    <a16:creationId xmlns:a16="http://schemas.microsoft.com/office/drawing/2014/main" id="{77F3A9A0-EEF5-9898-CADD-09DF3A12BF54}"/>
                  </a:ext>
                </a:extLst>
              </p:cNvPr>
              <p:cNvSpPr>
                <a:spLocks noChangeArrowheads="1"/>
              </p:cNvSpPr>
              <p:nvPr/>
            </p:nvSpPr>
            <p:spPr bwMode="blackWhite">
              <a:xfrm>
                <a:off x="455" y="3380"/>
                <a:ext cx="3725" cy="402"/>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43046" name="Rectangle 33">
                <a:extLst>
                  <a:ext uri="{FF2B5EF4-FFF2-40B4-BE49-F238E27FC236}">
                    <a16:creationId xmlns:a16="http://schemas.microsoft.com/office/drawing/2014/main" id="{ACAA0E03-6CC9-FF12-D73D-C78BEE3F8CBF}"/>
                  </a:ext>
                </a:extLst>
              </p:cNvPr>
              <p:cNvSpPr>
                <a:spLocks noChangeArrowheads="1"/>
              </p:cNvSpPr>
              <p:nvPr/>
            </p:nvSpPr>
            <p:spPr bwMode="blackWhite">
              <a:xfrm>
                <a:off x="450" y="3077"/>
                <a:ext cx="4637" cy="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 pos="3200400" algn="l"/>
                    <a:tab pos="45720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200400" algn="l"/>
                    <a:tab pos="45720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200400" algn="l"/>
                    <a:tab pos="45720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200400" algn="l"/>
                    <a:tab pos="45720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200400" algn="l"/>
                    <a:tab pos="45720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200400" algn="l"/>
                    <a:tab pos="457200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7571	FORD	MANAGER	 ...  200	      9</a:t>
                </a:r>
              </a:p>
              <a:p>
                <a:pPr>
                  <a:lnSpc>
                    <a:spcPct val="95000"/>
                  </a:lnSpc>
                  <a:spcBef>
                    <a:spcPct val="0"/>
                  </a:spcBef>
                  <a:buFontTx/>
                  <a:buNone/>
                </a:pPr>
                <a:r>
                  <a:rPr lang="en-US" altLang="en-US" sz="1800" b="1">
                    <a:solidFill>
                      <a:srgbClr val="000000"/>
                    </a:solidFill>
                    <a:latin typeface="Courier New" panose="02070309020205020404" pitchFamily="49" charset="0"/>
                  </a:rPr>
                  <a:t>  7571	FORD	MANAGER	 ...  200      20</a:t>
                </a:r>
              </a:p>
            </p:txBody>
          </p:sp>
          <p:sp>
            <p:nvSpPr>
              <p:cNvPr id="43047" name="Line 34">
                <a:extLst>
                  <a:ext uri="{FF2B5EF4-FFF2-40B4-BE49-F238E27FC236}">
                    <a16:creationId xmlns:a16="http://schemas.microsoft.com/office/drawing/2014/main" id="{67867EF1-1350-5CAF-EB58-4C6AE6EA53FE}"/>
                  </a:ext>
                </a:extLst>
              </p:cNvPr>
              <p:cNvSpPr>
                <a:spLocks noChangeShapeType="1"/>
              </p:cNvSpPr>
              <p:nvPr/>
            </p:nvSpPr>
            <p:spPr bwMode="auto">
              <a:xfrm>
                <a:off x="451" y="3585"/>
                <a:ext cx="3736"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9155" name="Rectangle 35">
                <a:extLst>
                  <a:ext uri="{FF2B5EF4-FFF2-40B4-BE49-F238E27FC236}">
                    <a16:creationId xmlns:a16="http://schemas.microsoft.com/office/drawing/2014/main" id="{FF96A0C5-374C-086A-0DAC-2D08D1DDBBED}"/>
                  </a:ext>
                </a:extLst>
              </p:cNvPr>
              <p:cNvSpPr>
                <a:spLocks noChangeArrowheads="1"/>
              </p:cNvSpPr>
              <p:nvPr/>
            </p:nvSpPr>
            <p:spPr bwMode="auto">
              <a:xfrm>
                <a:off x="2529" y="3100"/>
                <a:ext cx="1634" cy="214"/>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a:solidFill>
                      <a:srgbClr val="FFFFCC"/>
                    </a:solidFill>
                    <a:effectLst>
                      <a:outerShdw blurRad="38100" dist="38100" dir="2700000" algn="tl">
                        <a:srgbClr val="000000"/>
                      </a:outerShdw>
                    </a:effectLst>
                  </a:rPr>
                  <a:t>Insert into</a:t>
                </a:r>
              </a:p>
            </p:txBody>
          </p:sp>
        </p:grpSp>
        <p:grpSp>
          <p:nvGrpSpPr>
            <p:cNvPr id="43038" name="Group 36">
              <a:extLst>
                <a:ext uri="{FF2B5EF4-FFF2-40B4-BE49-F238E27FC236}">
                  <a16:creationId xmlns:a16="http://schemas.microsoft.com/office/drawing/2014/main" id="{13B33384-F1A9-5F9C-F22E-8FBB66355E00}"/>
                </a:ext>
              </a:extLst>
            </p:cNvPr>
            <p:cNvGrpSpPr>
              <a:grpSpLocks/>
            </p:cNvGrpSpPr>
            <p:nvPr/>
          </p:nvGrpSpPr>
          <p:grpSpPr bwMode="auto">
            <a:xfrm>
              <a:off x="1083" y="3381"/>
              <a:ext cx="2408" cy="435"/>
              <a:chOff x="1083" y="3381"/>
              <a:chExt cx="2408" cy="435"/>
            </a:xfrm>
          </p:grpSpPr>
          <p:sp>
            <p:nvSpPr>
              <p:cNvPr id="43039" name="Line 37">
                <a:extLst>
                  <a:ext uri="{FF2B5EF4-FFF2-40B4-BE49-F238E27FC236}">
                    <a16:creationId xmlns:a16="http://schemas.microsoft.com/office/drawing/2014/main" id="{0C4018A3-ADAD-B8A7-83D1-F04E14C43F06}"/>
                  </a:ext>
                </a:extLst>
              </p:cNvPr>
              <p:cNvSpPr>
                <a:spLocks noChangeShapeType="1"/>
              </p:cNvSpPr>
              <p:nvPr/>
            </p:nvSpPr>
            <p:spPr bwMode="auto">
              <a:xfrm>
                <a:off x="1083" y="3381"/>
                <a:ext cx="0" cy="433"/>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40" name="Line 38">
                <a:extLst>
                  <a:ext uri="{FF2B5EF4-FFF2-40B4-BE49-F238E27FC236}">
                    <a16:creationId xmlns:a16="http://schemas.microsoft.com/office/drawing/2014/main" id="{D2F07572-D1E8-D837-9ED4-1CB49BDC4BEB}"/>
                  </a:ext>
                </a:extLst>
              </p:cNvPr>
              <p:cNvSpPr>
                <a:spLocks noChangeShapeType="1"/>
              </p:cNvSpPr>
              <p:nvPr/>
            </p:nvSpPr>
            <p:spPr bwMode="auto">
              <a:xfrm>
                <a:off x="1619" y="3381"/>
                <a:ext cx="0" cy="431"/>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41" name="Line 39">
                <a:extLst>
                  <a:ext uri="{FF2B5EF4-FFF2-40B4-BE49-F238E27FC236}">
                    <a16:creationId xmlns:a16="http://schemas.microsoft.com/office/drawing/2014/main" id="{EDD46997-7CB2-E27F-D10A-5DBA623C7A63}"/>
                  </a:ext>
                </a:extLst>
              </p:cNvPr>
              <p:cNvSpPr>
                <a:spLocks noChangeShapeType="1"/>
              </p:cNvSpPr>
              <p:nvPr/>
            </p:nvSpPr>
            <p:spPr bwMode="auto">
              <a:xfrm>
                <a:off x="2561" y="3381"/>
                <a:ext cx="0" cy="427"/>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42" name="Line 40">
                <a:extLst>
                  <a:ext uri="{FF2B5EF4-FFF2-40B4-BE49-F238E27FC236}">
                    <a16:creationId xmlns:a16="http://schemas.microsoft.com/office/drawing/2014/main" id="{C3FBA1B3-02B7-44A0-D7AB-A12E6C34D480}"/>
                  </a:ext>
                </a:extLst>
              </p:cNvPr>
              <p:cNvSpPr>
                <a:spLocks noChangeShapeType="1"/>
              </p:cNvSpPr>
              <p:nvPr/>
            </p:nvSpPr>
            <p:spPr bwMode="auto">
              <a:xfrm>
                <a:off x="2951" y="3381"/>
                <a:ext cx="0" cy="43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43" name="Line 41">
                <a:extLst>
                  <a:ext uri="{FF2B5EF4-FFF2-40B4-BE49-F238E27FC236}">
                    <a16:creationId xmlns:a16="http://schemas.microsoft.com/office/drawing/2014/main" id="{B0B3320D-DA80-1F64-81FE-5B077A016A20}"/>
                  </a:ext>
                </a:extLst>
              </p:cNvPr>
              <p:cNvSpPr>
                <a:spLocks noChangeShapeType="1"/>
              </p:cNvSpPr>
              <p:nvPr/>
            </p:nvSpPr>
            <p:spPr bwMode="auto">
              <a:xfrm>
                <a:off x="3491" y="3381"/>
                <a:ext cx="0" cy="43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grpSp>
      <p:grpSp>
        <p:nvGrpSpPr>
          <p:cNvPr id="7" name="Group 42">
            <a:extLst>
              <a:ext uri="{FF2B5EF4-FFF2-40B4-BE49-F238E27FC236}">
                <a16:creationId xmlns:a16="http://schemas.microsoft.com/office/drawing/2014/main" id="{854BDDE0-1338-1F78-13DC-887BA96C5FA5}"/>
              </a:ext>
            </a:extLst>
          </p:cNvPr>
          <p:cNvGrpSpPr>
            <a:grpSpLocks/>
          </p:cNvGrpSpPr>
          <p:nvPr/>
        </p:nvGrpSpPr>
        <p:grpSpPr bwMode="auto">
          <a:xfrm>
            <a:off x="6570663" y="4521200"/>
            <a:ext cx="2344737" cy="1825625"/>
            <a:chOff x="4139" y="2848"/>
            <a:chExt cx="1477" cy="1150"/>
          </a:xfrm>
        </p:grpSpPr>
        <p:sp>
          <p:nvSpPr>
            <p:cNvPr id="389163" name="Rectangle 43">
              <a:extLst>
                <a:ext uri="{FF2B5EF4-FFF2-40B4-BE49-F238E27FC236}">
                  <a16:creationId xmlns:a16="http://schemas.microsoft.com/office/drawing/2014/main" id="{CCD529D7-AB0E-19D3-DE86-AA77067229E1}"/>
                </a:ext>
              </a:extLst>
            </p:cNvPr>
            <p:cNvSpPr>
              <a:spLocks noChangeArrowheads="1"/>
            </p:cNvSpPr>
            <p:nvPr/>
          </p:nvSpPr>
          <p:spPr bwMode="auto">
            <a:xfrm>
              <a:off x="4437" y="2848"/>
              <a:ext cx="1179" cy="838"/>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a:solidFill>
                    <a:schemeClr val="accent2"/>
                  </a:solidFill>
                  <a:effectLst>
                    <a:outerShdw blurRad="38100" dist="38100" dir="2700000" algn="tl">
                      <a:srgbClr val="000000"/>
                    </a:outerShdw>
                  </a:effectLst>
                </a:rPr>
                <a:t>Not allowed</a:t>
              </a:r>
              <a:br>
                <a:rPr lang="en-US" sz="1800" b="1">
                  <a:solidFill>
                    <a:schemeClr val="accent2"/>
                  </a:solidFill>
                  <a:effectLst>
                    <a:outerShdw blurRad="38100" dist="38100" dir="2700000" algn="tl">
                      <a:srgbClr val="000000"/>
                    </a:outerShdw>
                  </a:effectLst>
                </a:rPr>
              </a:br>
              <a:r>
                <a:rPr lang="en-US" sz="1800" b="1">
                  <a:solidFill>
                    <a:schemeClr val="accent2"/>
                  </a:solidFill>
                  <a:effectLst>
                    <a:outerShdw blurRad="38100" dist="38100" dir="2700000" algn="tl">
                      <a:srgbClr val="000000"/>
                    </a:outerShdw>
                  </a:effectLst>
                </a:rPr>
                <a:t>(DEPTNO</a:t>
              </a:r>
              <a:r>
                <a:rPr lang="en-US" sz="1800" b="1">
                  <a:solidFill>
                    <a:schemeClr val="accent2"/>
                  </a:solidFill>
                  <a:latin typeface="Symbol" pitchFamily="18" charset="2"/>
                </a:rPr>
                <a:t> </a:t>
              </a:r>
              <a:r>
                <a:rPr lang="en-US" sz="1800" b="1">
                  <a:solidFill>
                    <a:schemeClr val="accent2"/>
                  </a:solidFill>
                  <a:effectLst>
                    <a:outerShdw blurRad="38100" dist="38100" dir="2700000" algn="tl">
                      <a:srgbClr val="000000"/>
                    </a:outerShdw>
                  </a:effectLst>
                </a:rPr>
                <a:t>9 does not exist in the DEPT table)</a:t>
              </a:r>
            </a:p>
          </p:txBody>
        </p:sp>
        <p:grpSp>
          <p:nvGrpSpPr>
            <p:cNvPr id="43033" name="Group 44">
              <a:extLst>
                <a:ext uri="{FF2B5EF4-FFF2-40B4-BE49-F238E27FC236}">
                  <a16:creationId xmlns:a16="http://schemas.microsoft.com/office/drawing/2014/main" id="{4A9A0F49-A2D1-2DE7-AAFD-85DEF11D8402}"/>
                </a:ext>
              </a:extLst>
            </p:cNvPr>
            <p:cNvGrpSpPr>
              <a:grpSpLocks/>
            </p:cNvGrpSpPr>
            <p:nvPr/>
          </p:nvGrpSpPr>
          <p:grpSpPr bwMode="auto">
            <a:xfrm>
              <a:off x="4139" y="3492"/>
              <a:ext cx="1020" cy="506"/>
              <a:chOff x="4139" y="3492"/>
              <a:chExt cx="1020" cy="506"/>
            </a:xfrm>
          </p:grpSpPr>
          <p:sp>
            <p:nvSpPr>
              <p:cNvPr id="389165" name="Rectangle 45">
                <a:extLst>
                  <a:ext uri="{FF2B5EF4-FFF2-40B4-BE49-F238E27FC236}">
                    <a16:creationId xmlns:a16="http://schemas.microsoft.com/office/drawing/2014/main" id="{F8EB876A-09F3-9D05-C7FF-B03E842AA178}"/>
                  </a:ext>
                </a:extLst>
              </p:cNvPr>
              <p:cNvSpPr>
                <a:spLocks noChangeArrowheads="1"/>
              </p:cNvSpPr>
              <p:nvPr/>
            </p:nvSpPr>
            <p:spPr bwMode="auto">
              <a:xfrm>
                <a:off x="4436" y="3628"/>
                <a:ext cx="723" cy="370"/>
              </a:xfrm>
              <a:prstGeom prst="rect">
                <a:avLst/>
              </a:prstGeom>
              <a:noFill/>
              <a:ln w="9525">
                <a:noFill/>
                <a:miter lim="800000"/>
                <a:headEnd/>
                <a:tailEnd/>
              </a:ln>
              <a:effectLst/>
            </p:spPr>
            <p:txBody>
              <a:bodyPr lIns="92075" tIns="46038" rIns="92075" bIns="46038">
                <a:spAutoFit/>
              </a:bodyPr>
              <a:lstStyle/>
              <a:p>
                <a:pPr>
                  <a:lnSpc>
                    <a:spcPct val="90000"/>
                  </a:lnSpc>
                  <a:defRPr/>
                </a:pPr>
                <a:r>
                  <a:rPr lang="en-US" sz="1800" b="1">
                    <a:solidFill>
                      <a:srgbClr val="800000"/>
                    </a:solidFill>
                    <a:effectLst>
                      <a:outerShdw blurRad="38100" dist="38100" dir="2700000" algn="tl">
                        <a:srgbClr val="000000"/>
                      </a:outerShdw>
                    </a:effectLst>
                  </a:rPr>
                  <a:t>Allowed</a:t>
                </a:r>
                <a:br>
                  <a:rPr lang="en-US" sz="1800" b="1">
                    <a:solidFill>
                      <a:srgbClr val="800000"/>
                    </a:solidFill>
                    <a:effectLst>
                      <a:outerShdw blurRad="38100" dist="38100" dir="2700000" algn="tl">
                        <a:srgbClr val="000000"/>
                      </a:outerShdw>
                    </a:effectLst>
                  </a:rPr>
                </a:br>
                <a:endParaRPr lang="en-US" sz="1800" b="1">
                  <a:solidFill>
                    <a:srgbClr val="800000"/>
                  </a:solidFill>
                  <a:effectLst>
                    <a:outerShdw blurRad="38100" dist="38100" dir="2700000" algn="tl">
                      <a:srgbClr val="000000"/>
                    </a:outerShdw>
                  </a:effectLst>
                </a:endParaRPr>
              </a:p>
            </p:txBody>
          </p:sp>
          <p:sp>
            <p:nvSpPr>
              <p:cNvPr id="43035" name="Line 46">
                <a:extLst>
                  <a:ext uri="{FF2B5EF4-FFF2-40B4-BE49-F238E27FC236}">
                    <a16:creationId xmlns:a16="http://schemas.microsoft.com/office/drawing/2014/main" id="{6BECA609-1270-5DCA-787C-9AEDFFF5F610}"/>
                  </a:ext>
                </a:extLst>
              </p:cNvPr>
              <p:cNvSpPr>
                <a:spLocks noChangeShapeType="1"/>
              </p:cNvSpPr>
              <p:nvPr/>
            </p:nvSpPr>
            <p:spPr bwMode="auto">
              <a:xfrm flipV="1">
                <a:off x="4139" y="3708"/>
                <a:ext cx="277" cy="1"/>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43036" name="Line 47">
                <a:extLst>
                  <a:ext uri="{FF2B5EF4-FFF2-40B4-BE49-F238E27FC236}">
                    <a16:creationId xmlns:a16="http://schemas.microsoft.com/office/drawing/2014/main" id="{1569D0AC-2E86-CEC9-F5A2-B17649E13277}"/>
                  </a:ext>
                </a:extLst>
              </p:cNvPr>
              <p:cNvSpPr>
                <a:spLocks noChangeShapeType="1"/>
              </p:cNvSpPr>
              <p:nvPr/>
            </p:nvSpPr>
            <p:spPr bwMode="auto">
              <a:xfrm flipV="1">
                <a:off x="4139" y="3492"/>
                <a:ext cx="277" cy="1"/>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CAD44677-E1DC-8DA6-1EFD-0CA0E7F44E55}"/>
              </a:ext>
            </a:extLst>
          </p:cNvPr>
          <p:cNvSpPr>
            <a:spLocks noGrp="1" noChangeArrowheads="1"/>
          </p:cNvSpPr>
          <p:nvPr>
            <p:ph type="title"/>
          </p:nvPr>
        </p:nvSpPr>
        <p:spPr>
          <a:xfrm>
            <a:off x="288925" y="660400"/>
            <a:ext cx="5146675" cy="536575"/>
          </a:xfrm>
          <a:noFill/>
        </p:spPr>
        <p:txBody>
          <a:bodyPr lIns="92075" tIns="46038" rIns="92075" bIns="46038" anchor="t"/>
          <a:lstStyle/>
          <a:p>
            <a:r>
              <a:rPr lang="en-US" altLang="en-US" sz="2800">
                <a:solidFill>
                  <a:srgbClr val="800000"/>
                </a:solidFill>
              </a:rPr>
              <a:t>The FOREIGN KEY Constraint</a:t>
            </a:r>
          </a:p>
        </p:txBody>
      </p:sp>
      <p:sp>
        <p:nvSpPr>
          <p:cNvPr id="45059" name="Rectangle 3">
            <a:extLst>
              <a:ext uri="{FF2B5EF4-FFF2-40B4-BE49-F238E27FC236}">
                <a16:creationId xmlns:a16="http://schemas.microsoft.com/office/drawing/2014/main" id="{12A9FEFC-7AA2-A995-32D7-7395526E846C}"/>
              </a:ext>
            </a:extLst>
          </p:cNvPr>
          <p:cNvSpPr>
            <a:spLocks noGrp="1" noChangeArrowheads="1"/>
          </p:cNvSpPr>
          <p:nvPr>
            <p:ph type="body" idx="1"/>
          </p:nvPr>
        </p:nvSpPr>
        <p:spPr>
          <a:xfrm>
            <a:off x="395288" y="1196975"/>
            <a:ext cx="8280400" cy="3292475"/>
          </a:xfrm>
          <a:noFill/>
        </p:spPr>
        <p:txBody>
          <a:bodyPr lIns="92075" tIns="46038" rIns="92075" bIns="46038">
            <a:spAutoFit/>
          </a:bodyPr>
          <a:lstStyle/>
          <a:p>
            <a:r>
              <a:rPr lang="en-US" altLang="en-US" sz="2400"/>
              <a:t>Table Level</a:t>
            </a:r>
          </a:p>
          <a:p>
            <a:endParaRPr lang="en-US" altLang="en-US" sz="2400"/>
          </a:p>
          <a:p>
            <a:endParaRPr lang="en-US" altLang="en-US"/>
          </a:p>
          <a:p>
            <a:endParaRPr lang="en-US" altLang="en-US"/>
          </a:p>
          <a:p>
            <a:endParaRPr lang="en-US" altLang="en-US"/>
          </a:p>
          <a:p>
            <a:pPr>
              <a:lnSpc>
                <a:spcPct val="250000"/>
              </a:lnSpc>
            </a:pPr>
            <a:r>
              <a:rPr lang="en-US" altLang="en-US" sz="2400"/>
              <a:t>Column Level</a:t>
            </a:r>
            <a:endParaRPr lang="en-US" altLang="en-US"/>
          </a:p>
        </p:txBody>
      </p:sp>
      <p:sp>
        <p:nvSpPr>
          <p:cNvPr id="45060" name="Rectangle 4">
            <a:extLst>
              <a:ext uri="{FF2B5EF4-FFF2-40B4-BE49-F238E27FC236}">
                <a16:creationId xmlns:a16="http://schemas.microsoft.com/office/drawing/2014/main" id="{2DCE095C-79DE-17AA-6656-F640F85F0282}"/>
              </a:ext>
            </a:extLst>
          </p:cNvPr>
          <p:cNvSpPr>
            <a:spLocks noChangeArrowheads="1"/>
          </p:cNvSpPr>
          <p:nvPr/>
        </p:nvSpPr>
        <p:spPr bwMode="blackWhite">
          <a:xfrm>
            <a:off x="684213" y="1773238"/>
            <a:ext cx="7537450" cy="20875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91173" name="Rectangle 5">
            <a:extLst>
              <a:ext uri="{FF2B5EF4-FFF2-40B4-BE49-F238E27FC236}">
                <a16:creationId xmlns:a16="http://schemas.microsoft.com/office/drawing/2014/main" id="{111A6A5D-ADC3-84F9-65CB-534B9FEA66F0}"/>
              </a:ext>
            </a:extLst>
          </p:cNvPr>
          <p:cNvSpPr>
            <a:spLocks noChangeArrowheads="1"/>
          </p:cNvSpPr>
          <p:nvPr/>
        </p:nvSpPr>
        <p:spPr bwMode="ltGray">
          <a:xfrm>
            <a:off x="1878013" y="3201988"/>
            <a:ext cx="6238875" cy="53340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5062" name="Rectangle 6">
            <a:extLst>
              <a:ext uri="{FF2B5EF4-FFF2-40B4-BE49-F238E27FC236}">
                <a16:creationId xmlns:a16="http://schemas.microsoft.com/office/drawing/2014/main" id="{BD2A5B5C-0C27-741E-EF70-F4934C46E795}"/>
              </a:ext>
            </a:extLst>
          </p:cNvPr>
          <p:cNvSpPr>
            <a:spLocks noChangeArrowheads="1"/>
          </p:cNvSpPr>
          <p:nvPr/>
        </p:nvSpPr>
        <p:spPr bwMode="blackWhite">
          <a:xfrm>
            <a:off x="681038" y="2347913"/>
            <a:ext cx="749617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CREATE TABLE emp(</a:t>
            </a:r>
          </a:p>
          <a:p>
            <a:pPr>
              <a:spcBef>
                <a:spcPct val="0"/>
              </a:spcBef>
              <a:buFontTx/>
              <a:buNone/>
            </a:pPr>
            <a:r>
              <a:rPr lang="en-US" altLang="en-US" sz="1800" b="1">
                <a:solidFill>
                  <a:srgbClr val="000000"/>
                </a:solidFill>
                <a:latin typeface="Courier New" panose="02070309020205020404" pitchFamily="49" charset="0"/>
              </a:rPr>
              <a:t>  2  	empno 	NUMBER(4),</a:t>
            </a:r>
          </a:p>
          <a:p>
            <a:pPr>
              <a:spcBef>
                <a:spcPct val="0"/>
              </a:spcBef>
              <a:buFontTx/>
              <a:buNone/>
            </a:pPr>
            <a:r>
              <a:rPr lang="en-US" altLang="en-US" sz="1800" b="1">
                <a:solidFill>
                  <a:srgbClr val="000000"/>
                </a:solidFill>
                <a:latin typeface="Courier New" panose="02070309020205020404" pitchFamily="49" charset="0"/>
              </a:rPr>
              <a:t>  3	ename	VARCHAR2(10) NOT NULL,</a:t>
            </a:r>
          </a:p>
          <a:p>
            <a:pPr>
              <a:spcBef>
                <a:spcPct val="0"/>
              </a:spcBef>
              <a:buFontTx/>
              <a:buNone/>
            </a:pPr>
            <a:r>
              <a:rPr lang="en-US" altLang="en-US" sz="1800" b="1">
                <a:solidFill>
                  <a:srgbClr val="000000"/>
                </a:solidFill>
                <a:latin typeface="Courier New" panose="02070309020205020404" pitchFamily="49" charset="0"/>
              </a:rPr>
              <a:t>  4	job	VARCHAR2(9),</a:t>
            </a:r>
          </a:p>
          <a:p>
            <a:pPr>
              <a:spcBef>
                <a:spcPct val="0"/>
              </a:spcBef>
              <a:buFontTx/>
              <a:buNone/>
            </a:pPr>
            <a:r>
              <a:rPr lang="en-US" altLang="en-US" sz="1800" b="1">
                <a:solidFill>
                  <a:srgbClr val="000000"/>
                </a:solidFill>
                <a:latin typeface="Courier New" panose="02070309020205020404" pitchFamily="49" charset="0"/>
              </a:rPr>
              <a:t>  5	deptno	NUMBER(7,2),</a:t>
            </a:r>
          </a:p>
          <a:p>
            <a:pPr>
              <a:spcBef>
                <a:spcPct val="0"/>
              </a:spcBef>
              <a:buFontTx/>
              <a:buNone/>
            </a:pPr>
            <a:r>
              <a:rPr lang="en-US" altLang="en-US" sz="1800" b="1">
                <a:solidFill>
                  <a:srgbClr val="000000"/>
                </a:solidFill>
                <a:latin typeface="Courier New" panose="02070309020205020404" pitchFamily="49" charset="0"/>
              </a:rPr>
              <a:t>  6	CONSTRAINT emp_deptno_fk FOREIGN KEY (deptno)</a:t>
            </a:r>
          </a:p>
          <a:p>
            <a:pPr>
              <a:spcBef>
                <a:spcPct val="0"/>
              </a:spcBef>
              <a:buFontTx/>
              <a:buNone/>
            </a:pPr>
            <a:r>
              <a:rPr lang="en-US" altLang="en-US" sz="1800" b="1">
                <a:solidFill>
                  <a:srgbClr val="000000"/>
                </a:solidFill>
                <a:latin typeface="Courier New" panose="02070309020205020404" pitchFamily="49" charset="0"/>
              </a:rPr>
              <a:t>  7			REFERENCES dept (deptno));</a:t>
            </a:r>
          </a:p>
        </p:txBody>
      </p:sp>
      <p:sp>
        <p:nvSpPr>
          <p:cNvPr id="45063" name="Rectangle 4">
            <a:extLst>
              <a:ext uri="{FF2B5EF4-FFF2-40B4-BE49-F238E27FC236}">
                <a16:creationId xmlns:a16="http://schemas.microsoft.com/office/drawing/2014/main" id="{98A7F95C-C4D8-2ADA-801A-FD62A2195DBF}"/>
              </a:ext>
            </a:extLst>
          </p:cNvPr>
          <p:cNvSpPr>
            <a:spLocks noChangeArrowheads="1"/>
          </p:cNvSpPr>
          <p:nvPr/>
        </p:nvSpPr>
        <p:spPr bwMode="blackWhite">
          <a:xfrm>
            <a:off x="706438" y="4486275"/>
            <a:ext cx="7537450" cy="196691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 name="Rectangle 5">
            <a:extLst>
              <a:ext uri="{FF2B5EF4-FFF2-40B4-BE49-F238E27FC236}">
                <a16:creationId xmlns:a16="http://schemas.microsoft.com/office/drawing/2014/main" id="{4E1B52FB-73AB-F37D-5EDD-842C81D829BC}"/>
              </a:ext>
            </a:extLst>
          </p:cNvPr>
          <p:cNvSpPr>
            <a:spLocks noChangeArrowheads="1"/>
          </p:cNvSpPr>
          <p:nvPr/>
        </p:nvSpPr>
        <p:spPr bwMode="ltGray">
          <a:xfrm>
            <a:off x="804863" y="6021388"/>
            <a:ext cx="7031037" cy="3746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5065" name="Rectangle 6">
            <a:extLst>
              <a:ext uri="{FF2B5EF4-FFF2-40B4-BE49-F238E27FC236}">
                <a16:creationId xmlns:a16="http://schemas.microsoft.com/office/drawing/2014/main" id="{6C306BA4-2D95-099C-307A-6EB076BC52C4}"/>
              </a:ext>
            </a:extLst>
          </p:cNvPr>
          <p:cNvSpPr>
            <a:spLocks noChangeArrowheads="1"/>
          </p:cNvSpPr>
          <p:nvPr/>
        </p:nvSpPr>
        <p:spPr bwMode="blackWhite">
          <a:xfrm>
            <a:off x="703263" y="5060950"/>
            <a:ext cx="749617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 pos="2457450" algn="l"/>
              </a:tabLst>
              <a:defRPr sz="2800">
                <a:solidFill>
                  <a:schemeClr val="tx1"/>
                </a:solidFill>
                <a:latin typeface="Arial" panose="020B0604020202020204" pitchFamily="34" charset="0"/>
              </a:defRPr>
            </a:lvl1pPr>
            <a:lvl2pPr marL="742950" indent="-285750">
              <a:spcBef>
                <a:spcPct val="20000"/>
              </a:spcBef>
              <a:buChar char="–"/>
              <a:tabLst>
                <a:tab pos="1200150" algn="l"/>
                <a:tab pos="2457450" algn="l"/>
              </a:tabLst>
              <a:defRPr sz="2400">
                <a:solidFill>
                  <a:schemeClr val="tx1"/>
                </a:solidFill>
                <a:latin typeface="Arial" panose="020B0604020202020204" pitchFamily="34" charset="0"/>
              </a:defRPr>
            </a:lvl2pPr>
            <a:lvl3pPr marL="1143000" indent="-228600">
              <a:spcBef>
                <a:spcPct val="20000"/>
              </a:spcBef>
              <a:buChar char="•"/>
              <a:tabLst>
                <a:tab pos="1200150" algn="l"/>
                <a:tab pos="2457450" algn="l"/>
              </a:tabLst>
              <a:defRPr sz="2000">
                <a:solidFill>
                  <a:schemeClr val="tx1"/>
                </a:solidFill>
                <a:latin typeface="Arial" panose="020B0604020202020204" pitchFamily="34" charset="0"/>
              </a:defRPr>
            </a:lvl3pPr>
            <a:lvl4pPr marL="1600200" indent="-228600">
              <a:spcBef>
                <a:spcPct val="20000"/>
              </a:spcBef>
              <a:buChar char="–"/>
              <a:tabLst>
                <a:tab pos="1200150" algn="l"/>
                <a:tab pos="2457450" algn="l"/>
              </a:tabLst>
              <a:defRPr sz="2000">
                <a:solidFill>
                  <a:schemeClr val="tx1"/>
                </a:solidFill>
                <a:latin typeface="Arial" panose="020B0604020202020204" pitchFamily="34" charset="0"/>
              </a:defRPr>
            </a:lvl4pPr>
            <a:lvl5pPr marL="2057400" indent="-228600">
              <a:spcBef>
                <a:spcPct val="20000"/>
              </a:spcBef>
              <a:buChar char="»"/>
              <a:tabLst>
                <a:tab pos="12001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4574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CREATE TABLE emp(</a:t>
            </a:r>
          </a:p>
          <a:p>
            <a:pPr>
              <a:spcBef>
                <a:spcPct val="0"/>
              </a:spcBef>
              <a:buFontTx/>
              <a:buNone/>
            </a:pPr>
            <a:r>
              <a:rPr lang="en-US" altLang="en-US" sz="1800" b="1">
                <a:solidFill>
                  <a:srgbClr val="000000"/>
                </a:solidFill>
                <a:latin typeface="Courier New" panose="02070309020205020404" pitchFamily="49" charset="0"/>
              </a:rPr>
              <a:t>  2  	empno 	NUMBER(4),</a:t>
            </a:r>
          </a:p>
          <a:p>
            <a:pPr>
              <a:spcBef>
                <a:spcPct val="0"/>
              </a:spcBef>
              <a:buFontTx/>
              <a:buNone/>
            </a:pPr>
            <a:r>
              <a:rPr lang="en-US" altLang="en-US" sz="1800" b="1">
                <a:solidFill>
                  <a:srgbClr val="000000"/>
                </a:solidFill>
                <a:latin typeface="Courier New" panose="02070309020205020404" pitchFamily="49" charset="0"/>
              </a:rPr>
              <a:t>  3	ename	VARCHAR2(10) NOT NULL,</a:t>
            </a:r>
          </a:p>
          <a:p>
            <a:pPr>
              <a:spcBef>
                <a:spcPct val="0"/>
              </a:spcBef>
              <a:buFontTx/>
              <a:buNone/>
            </a:pPr>
            <a:r>
              <a:rPr lang="en-US" altLang="en-US" sz="1800" b="1">
                <a:solidFill>
                  <a:srgbClr val="000000"/>
                </a:solidFill>
                <a:latin typeface="Courier New" panose="02070309020205020404" pitchFamily="49" charset="0"/>
              </a:rPr>
              <a:t>  4	job	VARCHAR2(9),</a:t>
            </a:r>
          </a:p>
          <a:p>
            <a:pPr>
              <a:spcBef>
                <a:spcPct val="0"/>
              </a:spcBef>
              <a:buFontTx/>
              <a:buNone/>
            </a:pPr>
            <a:r>
              <a:rPr lang="en-US" altLang="en-US" sz="1800" b="1">
                <a:solidFill>
                  <a:srgbClr val="000000"/>
                </a:solidFill>
                <a:latin typeface="Courier New" panose="02070309020205020404" pitchFamily="49" charset="0"/>
              </a:rPr>
              <a:t>  5	deptno	NUMBER(7,2)</a:t>
            </a:r>
          </a:p>
          <a:p>
            <a:pPr>
              <a:spcBef>
                <a:spcPct val="0"/>
              </a:spcBef>
              <a:buFontTx/>
              <a:buNone/>
            </a:pPr>
            <a:r>
              <a:rPr lang="en-US" altLang="en-US" sz="1800" b="1">
                <a:solidFill>
                  <a:srgbClr val="000000"/>
                </a:solidFill>
                <a:latin typeface="Courier New" panose="02070309020205020404" pitchFamily="49" charset="0"/>
              </a:rPr>
              <a:t>CONSTRAINT emp_deptno_fk REFERENCES dept (deptno));</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91173"/>
                                        </p:tgtEl>
                                        <p:attrNameLst>
                                          <p:attrName>style.visibility</p:attrName>
                                        </p:attrNameLst>
                                      </p:cBhvr>
                                      <p:to>
                                        <p:strVal val="visible"/>
                                      </p:to>
                                    </p:set>
                                    <p:animEffect transition="in" filter="wipe(up)">
                                      <p:cBhvr>
                                        <p:cTn id="7" dur="500"/>
                                        <p:tgtEl>
                                          <p:spTgt spid="3911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3" grpId="0" animBg="1"/>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6124CC5A-C31F-38F6-3450-2BDF2A5038B1}"/>
              </a:ext>
            </a:extLst>
          </p:cNvPr>
          <p:cNvSpPr>
            <a:spLocks noGrp="1" noChangeArrowheads="1"/>
          </p:cNvSpPr>
          <p:nvPr>
            <p:ph type="title"/>
          </p:nvPr>
        </p:nvSpPr>
        <p:spPr>
          <a:xfrm>
            <a:off x="323850" y="188913"/>
            <a:ext cx="8277225" cy="936625"/>
          </a:xfrm>
          <a:noFill/>
        </p:spPr>
        <p:txBody>
          <a:bodyPr lIns="92075" tIns="46038" rIns="92075" bIns="46038" anchor="t"/>
          <a:lstStyle/>
          <a:p>
            <a:r>
              <a:rPr lang="en-US" altLang="en-US" sz="2800">
                <a:solidFill>
                  <a:srgbClr val="800000"/>
                </a:solidFill>
              </a:rPr>
              <a:t>FOREIGN KEY Constraint </a:t>
            </a:r>
            <a:br>
              <a:rPr lang="en-US" altLang="en-US" sz="2800">
                <a:solidFill>
                  <a:srgbClr val="800000"/>
                </a:solidFill>
              </a:rPr>
            </a:br>
            <a:r>
              <a:rPr lang="en-US" altLang="en-US" sz="2800">
                <a:solidFill>
                  <a:srgbClr val="800000"/>
                </a:solidFill>
              </a:rPr>
              <a:t>Keywords</a:t>
            </a:r>
          </a:p>
        </p:txBody>
      </p:sp>
      <p:sp>
        <p:nvSpPr>
          <p:cNvPr id="47107" name="Rectangle 3">
            <a:extLst>
              <a:ext uri="{FF2B5EF4-FFF2-40B4-BE49-F238E27FC236}">
                <a16:creationId xmlns:a16="http://schemas.microsoft.com/office/drawing/2014/main" id="{55628CD8-1B69-9075-D30A-D85AD8B1626C}"/>
              </a:ext>
            </a:extLst>
          </p:cNvPr>
          <p:cNvSpPr>
            <a:spLocks noGrp="1" noChangeArrowheads="1"/>
          </p:cNvSpPr>
          <p:nvPr>
            <p:ph type="body" idx="1"/>
          </p:nvPr>
        </p:nvSpPr>
        <p:spPr>
          <a:xfrm>
            <a:off x="468313" y="1341438"/>
            <a:ext cx="8351837" cy="4746625"/>
          </a:xfrm>
          <a:noFill/>
        </p:spPr>
        <p:txBody>
          <a:bodyPr lIns="92075" tIns="46038" rIns="92075" bIns="46038">
            <a:spAutoFit/>
          </a:bodyPr>
          <a:lstStyle/>
          <a:p>
            <a:pPr marL="341313" lvl="1" indent="-227013" defTabSz="346075">
              <a:tabLst>
                <a:tab pos="571500" algn="l"/>
              </a:tabLst>
            </a:pPr>
            <a:r>
              <a:rPr lang="en-US" altLang="en-US">
                <a:solidFill>
                  <a:schemeClr val="accent2"/>
                </a:solidFill>
              </a:rPr>
              <a:t>FOREIGN KEY</a:t>
            </a:r>
          </a:p>
          <a:p>
            <a:pPr marL="341313" lvl="1" indent="-227013" defTabSz="346075">
              <a:buFontTx/>
              <a:buNone/>
              <a:tabLst>
                <a:tab pos="571500" algn="l"/>
              </a:tabLst>
            </a:pPr>
            <a:r>
              <a:rPr lang="en-US" altLang="en-US"/>
              <a:t>	Defines the column in the child table at the table constraint level</a:t>
            </a:r>
          </a:p>
          <a:p>
            <a:pPr marL="341313" lvl="1" indent="-227013" defTabSz="346075">
              <a:tabLst>
                <a:tab pos="571500" algn="l"/>
              </a:tabLst>
            </a:pPr>
            <a:r>
              <a:rPr lang="en-US" altLang="en-US">
                <a:solidFill>
                  <a:schemeClr val="accent2"/>
                </a:solidFill>
              </a:rPr>
              <a:t>REFERENCES</a:t>
            </a:r>
          </a:p>
          <a:p>
            <a:pPr marL="341313" lvl="1" indent="-227013" defTabSz="346075">
              <a:buFontTx/>
              <a:buNone/>
              <a:tabLst>
                <a:tab pos="571500" algn="l"/>
              </a:tabLst>
            </a:pPr>
            <a:r>
              <a:rPr lang="en-US" altLang="en-US"/>
              <a:t>	Identifies the table and column in the parent table</a:t>
            </a:r>
          </a:p>
          <a:p>
            <a:pPr marL="341313" lvl="1" indent="-227013" defTabSz="346075">
              <a:tabLst>
                <a:tab pos="571500" algn="l"/>
              </a:tabLst>
            </a:pPr>
            <a:r>
              <a:rPr lang="en-US" altLang="en-US">
                <a:solidFill>
                  <a:schemeClr val="accent2"/>
                </a:solidFill>
              </a:rPr>
              <a:t>ON DELETE CASCADE</a:t>
            </a:r>
          </a:p>
          <a:p>
            <a:pPr marL="341313" lvl="1" indent="-227013" defTabSz="346075">
              <a:buFontTx/>
              <a:buNone/>
              <a:tabLst>
                <a:tab pos="571500" algn="l"/>
              </a:tabLst>
            </a:pPr>
            <a:r>
              <a:rPr lang="en-US" altLang="en-US"/>
              <a:t>	it is optional clause and it Allows deletion in the parent table and deletion of the dependent rows in the child table</a:t>
            </a:r>
          </a:p>
          <a:p>
            <a:pPr marL="341313" lvl="1" indent="-227013" defTabSz="346075">
              <a:tabLst>
                <a:tab pos="571500" algn="l"/>
              </a:tabLst>
            </a:pPr>
            <a:r>
              <a:rPr lang="en-US" altLang="en-US">
                <a:solidFill>
                  <a:schemeClr val="accent2"/>
                </a:solidFill>
              </a:rPr>
              <a:t>ON DELETE SET NULL </a:t>
            </a:r>
          </a:p>
          <a:p>
            <a:pPr marL="341313" lvl="1" indent="-227013" defTabSz="346075">
              <a:buFontTx/>
              <a:buNone/>
              <a:tabLst>
                <a:tab pos="571500" algn="l"/>
              </a:tabLst>
            </a:pPr>
            <a:r>
              <a:rPr lang="en-US" altLang="en-US"/>
              <a:t>Converts dependent foreign key values to null</a:t>
            </a:r>
          </a:p>
          <a:p>
            <a:pPr marL="341313" lvl="1" indent="-227013" defTabSz="346075">
              <a:buFontTx/>
              <a:buNone/>
              <a:tabLst>
                <a:tab pos="571500" algn="l"/>
              </a:tabLst>
            </a:pPr>
            <a:endParaRPr lang="en-US" altLang="en-US"/>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8132E2C5-CA87-A481-F37E-3AF3EDBDF794}"/>
              </a:ext>
            </a:extLst>
          </p:cNvPr>
          <p:cNvSpPr>
            <a:spLocks noGrp="1" noChangeArrowheads="1"/>
          </p:cNvSpPr>
          <p:nvPr>
            <p:ph type="title"/>
          </p:nvPr>
        </p:nvSpPr>
        <p:spPr>
          <a:xfrm>
            <a:off x="360363" y="620713"/>
            <a:ext cx="4498975" cy="463550"/>
          </a:xfrm>
          <a:noFill/>
        </p:spPr>
        <p:txBody>
          <a:bodyPr lIns="92075" tIns="46038" rIns="92075" bIns="46038" anchor="t"/>
          <a:lstStyle/>
          <a:p>
            <a:r>
              <a:rPr lang="en-US" altLang="en-US" sz="2800">
                <a:solidFill>
                  <a:srgbClr val="800000"/>
                </a:solidFill>
              </a:rPr>
              <a:t>The CHECK Constraint</a:t>
            </a:r>
          </a:p>
        </p:txBody>
      </p:sp>
      <p:sp>
        <p:nvSpPr>
          <p:cNvPr id="49155" name="Rectangle 3">
            <a:extLst>
              <a:ext uri="{FF2B5EF4-FFF2-40B4-BE49-F238E27FC236}">
                <a16:creationId xmlns:a16="http://schemas.microsoft.com/office/drawing/2014/main" id="{D079DE5E-08B3-FEBE-ACBA-97D69D21879F}"/>
              </a:ext>
            </a:extLst>
          </p:cNvPr>
          <p:cNvSpPr>
            <a:spLocks noGrp="1" noChangeArrowheads="1"/>
          </p:cNvSpPr>
          <p:nvPr>
            <p:ph type="body" idx="1"/>
          </p:nvPr>
        </p:nvSpPr>
        <p:spPr>
          <a:xfrm>
            <a:off x="546100" y="1463675"/>
            <a:ext cx="8169275" cy="457200"/>
          </a:xfrm>
          <a:noFill/>
        </p:spPr>
        <p:txBody>
          <a:bodyPr lIns="92075" tIns="46038" rIns="92075" bIns="46038">
            <a:spAutoFit/>
          </a:bodyPr>
          <a:lstStyle/>
          <a:p>
            <a:pPr lvl="1"/>
            <a:r>
              <a:rPr lang="en-US" altLang="en-US"/>
              <a:t>Defines a condition that each row must satisfy</a:t>
            </a:r>
          </a:p>
        </p:txBody>
      </p:sp>
      <p:sp>
        <p:nvSpPr>
          <p:cNvPr id="49156" name="Rectangle 4">
            <a:extLst>
              <a:ext uri="{FF2B5EF4-FFF2-40B4-BE49-F238E27FC236}">
                <a16:creationId xmlns:a16="http://schemas.microsoft.com/office/drawing/2014/main" id="{C892DB7C-8F52-AD3A-8137-5EB57485E58F}"/>
              </a:ext>
            </a:extLst>
          </p:cNvPr>
          <p:cNvSpPr>
            <a:spLocks noChangeArrowheads="1"/>
          </p:cNvSpPr>
          <p:nvPr/>
        </p:nvSpPr>
        <p:spPr bwMode="blackWhite">
          <a:xfrm>
            <a:off x="931863" y="2274888"/>
            <a:ext cx="7473950" cy="8350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95269" name="Rectangle 5">
            <a:extLst>
              <a:ext uri="{FF2B5EF4-FFF2-40B4-BE49-F238E27FC236}">
                <a16:creationId xmlns:a16="http://schemas.microsoft.com/office/drawing/2014/main" id="{4CA5358C-91D9-D9DA-2C1C-484D96574786}"/>
              </a:ext>
            </a:extLst>
          </p:cNvPr>
          <p:cNvSpPr>
            <a:spLocks noChangeArrowheads="1"/>
          </p:cNvSpPr>
          <p:nvPr/>
        </p:nvSpPr>
        <p:spPr bwMode="ltGray">
          <a:xfrm>
            <a:off x="1755775" y="2568575"/>
            <a:ext cx="5932488" cy="52070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9158" name="Rectangle 6">
            <a:extLst>
              <a:ext uri="{FF2B5EF4-FFF2-40B4-BE49-F238E27FC236}">
                <a16:creationId xmlns:a16="http://schemas.microsoft.com/office/drawing/2014/main" id="{C750459B-FE51-615C-C9D4-1C04D94AACD9}"/>
              </a:ext>
            </a:extLst>
          </p:cNvPr>
          <p:cNvSpPr>
            <a:spLocks noChangeArrowheads="1"/>
          </p:cNvSpPr>
          <p:nvPr/>
        </p:nvSpPr>
        <p:spPr bwMode="blackWhite">
          <a:xfrm>
            <a:off x="900113" y="2281238"/>
            <a:ext cx="7910512"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deptno	NUMBER(2),</a:t>
            </a:r>
          </a:p>
          <a:p>
            <a:pPr>
              <a:spcBef>
                <a:spcPct val="0"/>
              </a:spcBef>
              <a:buFontTx/>
              <a:buNone/>
            </a:pPr>
            <a:r>
              <a:rPr lang="en-US" altLang="en-US" sz="1800" b="1">
                <a:solidFill>
                  <a:srgbClr val="000000"/>
                </a:solidFill>
                <a:latin typeface="Courier New" panose="02070309020205020404" pitchFamily="49" charset="0"/>
              </a:rPr>
              <a:t>      CONSTRAINT emp_deptno_ck  </a:t>
            </a:r>
          </a:p>
          <a:p>
            <a:pPr>
              <a:spcBef>
                <a:spcPct val="0"/>
              </a:spcBef>
              <a:buFontTx/>
              <a:buNone/>
            </a:pPr>
            <a:r>
              <a:rPr lang="en-US" altLang="en-US" sz="1800" b="1">
                <a:solidFill>
                  <a:srgbClr val="000000"/>
                </a:solidFill>
                <a:latin typeface="Courier New" panose="02070309020205020404" pitchFamily="49" charset="0"/>
              </a:rPr>
              <a:t>            CHECK (DEPTNO BETWEEN 10 AND 99),...</a:t>
            </a:r>
          </a:p>
        </p:txBody>
      </p:sp>
      <p:sp>
        <p:nvSpPr>
          <p:cNvPr id="49159" name="Rectangle 4">
            <a:extLst>
              <a:ext uri="{FF2B5EF4-FFF2-40B4-BE49-F238E27FC236}">
                <a16:creationId xmlns:a16="http://schemas.microsoft.com/office/drawing/2014/main" id="{5B20F116-876B-843E-00A5-C8AAFBA6EA07}"/>
              </a:ext>
            </a:extLst>
          </p:cNvPr>
          <p:cNvSpPr>
            <a:spLocks noChangeArrowheads="1"/>
          </p:cNvSpPr>
          <p:nvPr/>
        </p:nvSpPr>
        <p:spPr bwMode="blackWhite">
          <a:xfrm>
            <a:off x="931863" y="3429000"/>
            <a:ext cx="7473950" cy="8350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 name="Rectangle 5">
            <a:extLst>
              <a:ext uri="{FF2B5EF4-FFF2-40B4-BE49-F238E27FC236}">
                <a16:creationId xmlns:a16="http://schemas.microsoft.com/office/drawing/2014/main" id="{61BE1B5C-1FCC-656C-E5E6-2B7DE6308ACB}"/>
              </a:ext>
            </a:extLst>
          </p:cNvPr>
          <p:cNvSpPr>
            <a:spLocks noChangeArrowheads="1"/>
          </p:cNvSpPr>
          <p:nvPr/>
        </p:nvSpPr>
        <p:spPr bwMode="ltGray">
          <a:xfrm>
            <a:off x="1755775" y="3722688"/>
            <a:ext cx="5932488" cy="52070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9161" name="Rectangle 6">
            <a:extLst>
              <a:ext uri="{FF2B5EF4-FFF2-40B4-BE49-F238E27FC236}">
                <a16:creationId xmlns:a16="http://schemas.microsoft.com/office/drawing/2014/main" id="{DEDE16F0-7B20-CC93-552B-CA74F6CCCE42}"/>
              </a:ext>
            </a:extLst>
          </p:cNvPr>
          <p:cNvSpPr>
            <a:spLocks noChangeArrowheads="1"/>
          </p:cNvSpPr>
          <p:nvPr/>
        </p:nvSpPr>
        <p:spPr bwMode="blackWhite">
          <a:xfrm>
            <a:off x="900113" y="3435350"/>
            <a:ext cx="75057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program	CHAR(5),</a:t>
            </a:r>
          </a:p>
          <a:p>
            <a:pPr>
              <a:spcBef>
                <a:spcPct val="0"/>
              </a:spcBef>
              <a:buFontTx/>
              <a:buNone/>
            </a:pPr>
            <a:r>
              <a:rPr lang="en-US" altLang="en-US" sz="1800" b="1">
                <a:solidFill>
                  <a:srgbClr val="000000"/>
                </a:solidFill>
                <a:latin typeface="Courier New" panose="02070309020205020404" pitchFamily="49" charset="0"/>
              </a:rPr>
              <a:t>      CONSTRAINT student_program_ck  </a:t>
            </a:r>
          </a:p>
          <a:p>
            <a:pPr>
              <a:spcBef>
                <a:spcPct val="0"/>
              </a:spcBef>
              <a:buFontTx/>
              <a:buNone/>
            </a:pPr>
            <a:r>
              <a:rPr lang="en-US" altLang="en-US" sz="1800" b="1">
                <a:solidFill>
                  <a:srgbClr val="000000"/>
                </a:solidFill>
                <a:latin typeface="Courier New" panose="02070309020205020404" pitchFamily="49" charset="0"/>
              </a:rPr>
              <a:t>        CHECK (program IN (‘BS’, MIT’, ‘MS’)),...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95269"/>
                                        </p:tgtEl>
                                        <p:attrNameLst>
                                          <p:attrName>style.visibility</p:attrName>
                                        </p:attrNameLst>
                                      </p:cBhvr>
                                      <p:to>
                                        <p:strVal val="visible"/>
                                      </p:to>
                                    </p:set>
                                    <p:animEffect transition="in" filter="wipe(up)">
                                      <p:cBhvr>
                                        <p:cTn id="7" dur="500"/>
                                        <p:tgtEl>
                                          <p:spTgt spid="3952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9" grpId="0" animBg="1"/>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C1056E73-0A6B-F228-0F4F-BA77BB976E21}"/>
              </a:ext>
            </a:extLst>
          </p:cNvPr>
          <p:cNvSpPr>
            <a:spLocks noGrp="1" noChangeArrowheads="1"/>
          </p:cNvSpPr>
          <p:nvPr>
            <p:ph type="title"/>
          </p:nvPr>
        </p:nvSpPr>
        <p:spPr>
          <a:xfrm>
            <a:off x="323850" y="620713"/>
            <a:ext cx="4391025" cy="536575"/>
          </a:xfrm>
          <a:noFill/>
        </p:spPr>
        <p:txBody>
          <a:bodyPr lIns="92075" tIns="46038" rIns="92075" bIns="46038" anchor="t"/>
          <a:lstStyle/>
          <a:p>
            <a:r>
              <a:rPr lang="en-US" altLang="en-US" sz="2800">
                <a:solidFill>
                  <a:srgbClr val="800000"/>
                </a:solidFill>
              </a:rPr>
              <a:t>The DEFAULT Option</a:t>
            </a:r>
          </a:p>
        </p:txBody>
      </p:sp>
      <p:sp>
        <p:nvSpPr>
          <p:cNvPr id="51203" name="Rectangle 3">
            <a:extLst>
              <a:ext uri="{FF2B5EF4-FFF2-40B4-BE49-F238E27FC236}">
                <a16:creationId xmlns:a16="http://schemas.microsoft.com/office/drawing/2014/main" id="{32B3F218-8501-6F24-F31E-2A98D117D96E}"/>
              </a:ext>
            </a:extLst>
          </p:cNvPr>
          <p:cNvSpPr>
            <a:spLocks noChangeArrowheads="1"/>
          </p:cNvSpPr>
          <p:nvPr/>
        </p:nvSpPr>
        <p:spPr bwMode="blackWhite">
          <a:xfrm>
            <a:off x="857250" y="2500313"/>
            <a:ext cx="7500938" cy="1477962"/>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58407" name="Rectangle 7">
            <a:extLst>
              <a:ext uri="{FF2B5EF4-FFF2-40B4-BE49-F238E27FC236}">
                <a16:creationId xmlns:a16="http://schemas.microsoft.com/office/drawing/2014/main" id="{FE28D22F-E01E-D097-58CF-E5D19CE14ED1}"/>
              </a:ext>
            </a:extLst>
          </p:cNvPr>
          <p:cNvSpPr>
            <a:spLocks noChangeArrowheads="1"/>
          </p:cNvSpPr>
          <p:nvPr/>
        </p:nvSpPr>
        <p:spPr bwMode="blackWhite">
          <a:xfrm>
            <a:off x="357188" y="1571625"/>
            <a:ext cx="7315200" cy="1643063"/>
          </a:xfrm>
          <a:prstGeom prst="rect">
            <a:avLst/>
          </a:prstGeom>
          <a:noFill/>
          <a:ln w="9525">
            <a:noFill/>
            <a:miter lim="800000"/>
            <a:headEnd/>
            <a:tailEnd/>
          </a:ln>
          <a:effectLst/>
        </p:spPr>
        <p:txBody>
          <a:bodyPr wrap="none" lIns="92075" tIns="46038" rIns="92075" bIns="46038" anchor="ctr"/>
          <a:lstStyle/>
          <a:p>
            <a:pPr>
              <a:lnSpc>
                <a:spcPct val="150000"/>
              </a:lnSpc>
              <a:buFont typeface="Arial" pitchFamily="34" charset="0"/>
              <a:buChar char="•"/>
              <a:tabLst>
                <a:tab pos="1601788" algn="l"/>
                <a:tab pos="1717675" algn="l"/>
              </a:tabLst>
              <a:defRPr/>
            </a:pPr>
            <a:r>
              <a:rPr lang="en-US" dirty="0"/>
              <a:t> To specify a default value for a column.</a:t>
            </a:r>
          </a:p>
          <a:p>
            <a:pPr>
              <a:lnSpc>
                <a:spcPct val="150000"/>
              </a:lnSpc>
              <a:buFont typeface="Arial" pitchFamily="34" charset="0"/>
              <a:buChar char="•"/>
              <a:tabLst>
                <a:tab pos="1601788" algn="l"/>
                <a:tab pos="1717675" algn="l"/>
              </a:tabLst>
              <a:defRPr/>
            </a:pPr>
            <a:r>
              <a:rPr lang="en-US" dirty="0"/>
              <a:t> The default data type must match the column data type.</a:t>
            </a:r>
          </a:p>
          <a:p>
            <a:pPr>
              <a:lnSpc>
                <a:spcPct val="150000"/>
              </a:lnSpc>
              <a:buFont typeface="Arial" pitchFamily="34" charset="0"/>
              <a:buChar char="•"/>
              <a:tabLst>
                <a:tab pos="1601788" algn="l"/>
                <a:tab pos="1717675" algn="l"/>
              </a:tabLst>
              <a:defRPr/>
            </a:pPr>
            <a:endParaRPr lang="en-US" dirty="0"/>
          </a:p>
          <a:p>
            <a:pPr>
              <a:lnSpc>
                <a:spcPct val="150000"/>
              </a:lnSpc>
              <a:buFont typeface="Arial" pitchFamily="34" charset="0"/>
              <a:buChar char="•"/>
              <a:tabLst>
                <a:tab pos="1601788" algn="l"/>
                <a:tab pos="1717675" algn="l"/>
              </a:tabLst>
              <a:defRPr/>
            </a:pPr>
            <a:endParaRPr lang="en-US" b="1" dirty="0">
              <a:solidFill>
                <a:srgbClr val="FF3300"/>
              </a:solidFill>
              <a:effectLst>
                <a:outerShdw blurRad="38100" dist="38100" dir="2700000" algn="tl">
                  <a:srgbClr val="000000"/>
                </a:outerShdw>
              </a:effectLst>
              <a:latin typeface="Courier New" pitchFamily="49" charset="0"/>
            </a:endParaRPr>
          </a:p>
        </p:txBody>
      </p:sp>
      <p:sp>
        <p:nvSpPr>
          <p:cNvPr id="51205" name="Rectangle 12">
            <a:extLst>
              <a:ext uri="{FF2B5EF4-FFF2-40B4-BE49-F238E27FC236}">
                <a16:creationId xmlns:a16="http://schemas.microsoft.com/office/drawing/2014/main" id="{19226643-DC09-9C9C-7F14-0D5EEF94903A}"/>
              </a:ext>
            </a:extLst>
          </p:cNvPr>
          <p:cNvSpPr>
            <a:spLocks noChangeArrowheads="1"/>
          </p:cNvSpPr>
          <p:nvPr/>
        </p:nvSpPr>
        <p:spPr bwMode="blackWhite">
          <a:xfrm>
            <a:off x="812800" y="2519363"/>
            <a:ext cx="7138988" cy="887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20000"/>
              </a:lnSpc>
              <a:spcBef>
                <a:spcPct val="60000"/>
              </a:spcBef>
              <a:buFontTx/>
              <a:buNone/>
            </a:pPr>
            <a:r>
              <a:rPr lang="en-US" altLang="en-US" sz="1800" b="1">
                <a:solidFill>
                  <a:srgbClr val="000000"/>
                </a:solidFill>
                <a:latin typeface="Courier New" panose="02070309020205020404" pitchFamily="49" charset="0"/>
              </a:rPr>
              <a:t> ... hire_date DATE DEFAULT SYSDATE, ...</a:t>
            </a:r>
            <a:r>
              <a:rPr lang="en-US" altLang="en-US"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 ... Status CHAR(1) DEFAULT ‘P’, ...</a:t>
            </a:r>
            <a:endParaRPr lang="en-US" altLang="en-US" b="1">
              <a:solidFill>
                <a:srgbClr val="000000"/>
              </a:solidFill>
              <a:latin typeface="Courier New" panose="02070309020205020404" pitchFamily="49" charset="0"/>
            </a:endParaRPr>
          </a:p>
        </p:txBody>
      </p:sp>
      <p:sp>
        <p:nvSpPr>
          <p:cNvPr id="51206" name="Rectangle 6">
            <a:extLst>
              <a:ext uri="{FF2B5EF4-FFF2-40B4-BE49-F238E27FC236}">
                <a16:creationId xmlns:a16="http://schemas.microsoft.com/office/drawing/2014/main" id="{C4FEF8F3-8430-3A6E-B7AC-2F69658A1A72}"/>
              </a:ext>
            </a:extLst>
          </p:cNvPr>
          <p:cNvSpPr>
            <a:spLocks noChangeArrowheads="1"/>
          </p:cNvSpPr>
          <p:nvPr/>
        </p:nvSpPr>
        <p:spPr bwMode="blackWhite">
          <a:xfrm>
            <a:off x="920750" y="4357688"/>
            <a:ext cx="7516813" cy="1550987"/>
          </a:xfrm>
          <a:prstGeom prst="rect">
            <a:avLst/>
          </a:prstGeom>
          <a:solidFill>
            <a:srgbClr val="FFFFCC"/>
          </a:solidFill>
          <a:ln>
            <a:noFill/>
          </a:ln>
          <a:effectLst>
            <a:outerShdw dist="89803"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14" name="Rectangle 7">
            <a:extLst>
              <a:ext uri="{FF2B5EF4-FFF2-40B4-BE49-F238E27FC236}">
                <a16:creationId xmlns:a16="http://schemas.microsoft.com/office/drawing/2014/main" id="{D0CE1AB9-03AF-5A82-339F-CD55649EB4FB}"/>
              </a:ext>
            </a:extLst>
          </p:cNvPr>
          <p:cNvSpPr>
            <a:spLocks noChangeArrowheads="1"/>
          </p:cNvSpPr>
          <p:nvPr/>
        </p:nvSpPr>
        <p:spPr bwMode="blackWhite">
          <a:xfrm>
            <a:off x="1008063" y="4486275"/>
            <a:ext cx="7315200" cy="1304925"/>
          </a:xfrm>
          <a:prstGeom prst="rect">
            <a:avLst/>
          </a:prstGeom>
          <a:noFill/>
          <a:ln w="9525">
            <a:noFill/>
            <a:miter lim="800000"/>
            <a:headEnd/>
            <a:tailEnd/>
          </a:ln>
          <a:effectLst/>
        </p:spPr>
        <p:txBody>
          <a:bodyPr wrap="none" lIns="92075" tIns="46038" rIns="92075" bIns="46038" anchor="ctr"/>
          <a:lstStyle/>
          <a:p>
            <a:pPr>
              <a:tabLst>
                <a:tab pos="1601788" algn="l"/>
                <a:tab pos="1717675" algn="l"/>
              </a:tabLst>
              <a:defRPr/>
            </a:pPr>
            <a:r>
              <a:rPr lang="en-US" sz="1800" b="1" dirty="0">
                <a:solidFill>
                  <a:srgbClr val="000000"/>
                </a:solidFill>
                <a:latin typeface="Courier New" pitchFamily="49" charset="0"/>
              </a:rPr>
              <a:t>SQL&gt; CREATE TABLE test</a:t>
            </a:r>
            <a:br>
              <a:rPr lang="en-US" sz="1800" b="1" dirty="0">
                <a:solidFill>
                  <a:srgbClr val="000000"/>
                </a:solidFill>
                <a:latin typeface="Courier New" pitchFamily="49" charset="0"/>
              </a:rPr>
            </a:br>
            <a:r>
              <a:rPr lang="en-US" sz="1800" b="1" dirty="0">
                <a:solidFill>
                  <a:srgbClr val="000000"/>
                </a:solidFill>
                <a:latin typeface="Courier New" pitchFamily="49" charset="0"/>
              </a:rPr>
              <a:t>  2	(id 	NUMBER(2),</a:t>
            </a:r>
          </a:p>
          <a:p>
            <a:pPr>
              <a:tabLst>
                <a:tab pos="1601788" algn="l"/>
                <a:tab pos="1717675" algn="l"/>
              </a:tabLst>
              <a:defRPr/>
            </a:pPr>
            <a:r>
              <a:rPr lang="en-US" sz="1800" b="1" dirty="0">
                <a:solidFill>
                  <a:srgbClr val="000000"/>
                </a:solidFill>
                <a:latin typeface="Courier New" pitchFamily="49" charset="0"/>
              </a:rPr>
              <a:t>  3  		value 	NUMBER(2) DEFAULT 50,</a:t>
            </a:r>
          </a:p>
          <a:p>
            <a:pPr>
              <a:tabLst>
                <a:tab pos="1601788" algn="l"/>
                <a:tab pos="1717675" algn="l"/>
              </a:tabLst>
              <a:defRPr/>
            </a:pPr>
            <a:r>
              <a:rPr lang="en-US" sz="1800" b="1" dirty="0">
                <a:solidFill>
                  <a:srgbClr val="000000"/>
                </a:solidFill>
                <a:latin typeface="Courier New" pitchFamily="49" charset="0"/>
              </a:rPr>
              <a:t>  4  		name 	VARCHAR2(13));</a:t>
            </a:r>
          </a:p>
          <a:p>
            <a:pPr>
              <a:tabLst>
                <a:tab pos="1601788" algn="l"/>
                <a:tab pos="1717675" algn="l"/>
              </a:tabLst>
              <a:defRPr/>
            </a:pPr>
            <a:r>
              <a:rPr lang="en-US" sz="1800" b="1" dirty="0">
                <a:solidFill>
                  <a:srgbClr val="FF3300"/>
                </a:solidFill>
                <a:effectLst>
                  <a:outerShdw blurRad="38100" dist="38100" dir="2700000" algn="tl">
                    <a:srgbClr val="000000"/>
                  </a:outerShdw>
                </a:effectLst>
                <a:latin typeface="Courier New" pitchFamily="49" charset="0"/>
              </a:rPr>
              <a:t>Table created.</a:t>
            </a: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06E7CCFB-0DFE-E4AB-6CE9-CBB307F2EE95}"/>
              </a:ext>
            </a:extLst>
          </p:cNvPr>
          <p:cNvSpPr>
            <a:spLocks noChangeArrowheads="1"/>
          </p:cNvSpPr>
          <p:nvPr/>
        </p:nvSpPr>
        <p:spPr bwMode="blackWhite">
          <a:xfrm>
            <a:off x="915988" y="2682875"/>
            <a:ext cx="7502525" cy="11906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3251" name="Rectangle 3">
            <a:extLst>
              <a:ext uri="{FF2B5EF4-FFF2-40B4-BE49-F238E27FC236}">
                <a16:creationId xmlns:a16="http://schemas.microsoft.com/office/drawing/2014/main" id="{5DE6FC09-3FC2-57EC-F1ED-2E8968D62128}"/>
              </a:ext>
            </a:extLst>
          </p:cNvPr>
          <p:cNvSpPr>
            <a:spLocks noGrp="1" noChangeArrowheads="1"/>
          </p:cNvSpPr>
          <p:nvPr>
            <p:ph type="title"/>
          </p:nvPr>
        </p:nvSpPr>
        <p:spPr>
          <a:xfrm>
            <a:off x="361950" y="660400"/>
            <a:ext cx="3417888" cy="536575"/>
          </a:xfrm>
          <a:noFill/>
        </p:spPr>
        <p:txBody>
          <a:bodyPr lIns="92075" tIns="46038" rIns="92075" bIns="46038" anchor="t"/>
          <a:lstStyle/>
          <a:p>
            <a:r>
              <a:rPr lang="en-US" altLang="en-US" sz="2800">
                <a:solidFill>
                  <a:srgbClr val="800000"/>
                </a:solidFill>
              </a:rPr>
              <a:t>Viewing Constraints</a:t>
            </a:r>
          </a:p>
        </p:txBody>
      </p:sp>
      <p:sp>
        <p:nvSpPr>
          <p:cNvPr id="53252" name="Rectangle 4">
            <a:extLst>
              <a:ext uri="{FF2B5EF4-FFF2-40B4-BE49-F238E27FC236}">
                <a16:creationId xmlns:a16="http://schemas.microsoft.com/office/drawing/2014/main" id="{E1B4F53B-FD0C-377C-1E95-95BB630D918A}"/>
              </a:ext>
            </a:extLst>
          </p:cNvPr>
          <p:cNvSpPr>
            <a:spLocks noGrp="1" noChangeArrowheads="1"/>
          </p:cNvSpPr>
          <p:nvPr>
            <p:ph type="body" idx="1"/>
          </p:nvPr>
        </p:nvSpPr>
        <p:spPr>
          <a:xfrm>
            <a:off x="860425" y="1412875"/>
            <a:ext cx="7385050" cy="946150"/>
          </a:xfrm>
          <a:noFill/>
        </p:spPr>
        <p:txBody>
          <a:bodyPr lIns="92075" tIns="46038" rIns="92075" bIns="46038">
            <a:spAutoFit/>
          </a:bodyPr>
          <a:lstStyle/>
          <a:p>
            <a:r>
              <a:rPr lang="en-US" altLang="en-US"/>
              <a:t>Query the USER_CONSTRAINTS table to view all constraint definitions and names.</a:t>
            </a:r>
          </a:p>
        </p:txBody>
      </p:sp>
      <p:sp>
        <p:nvSpPr>
          <p:cNvPr id="53253" name="Rectangle 5">
            <a:extLst>
              <a:ext uri="{FF2B5EF4-FFF2-40B4-BE49-F238E27FC236}">
                <a16:creationId xmlns:a16="http://schemas.microsoft.com/office/drawing/2014/main" id="{0BDC05B5-1905-298D-731E-225F714F4E9F}"/>
              </a:ext>
            </a:extLst>
          </p:cNvPr>
          <p:cNvSpPr>
            <a:spLocks noChangeArrowheads="1"/>
          </p:cNvSpPr>
          <p:nvPr/>
        </p:nvSpPr>
        <p:spPr bwMode="blackWhite">
          <a:xfrm>
            <a:off x="931863" y="4051300"/>
            <a:ext cx="7493000" cy="17653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CONSTRAINT_NAME          C SEARCH_CONDITION</a:t>
            </a:r>
          </a:p>
          <a:p>
            <a:pPr>
              <a:spcBef>
                <a:spcPct val="0"/>
              </a:spcBef>
              <a:buFontTx/>
              <a:buNone/>
            </a:pPr>
            <a:r>
              <a:rPr lang="en-US" altLang="en-US" sz="1800" b="1">
                <a:solidFill>
                  <a:srgbClr val="000000"/>
                </a:solidFill>
                <a:latin typeface="Courier New" panose="02070309020205020404" pitchFamily="49" charset="0"/>
              </a:rPr>
              <a:t>------------------------ - ------------------------- </a:t>
            </a:r>
          </a:p>
          <a:p>
            <a:pPr>
              <a:spcBef>
                <a:spcPct val="0"/>
              </a:spcBef>
              <a:buFontTx/>
              <a:buNone/>
            </a:pPr>
            <a:r>
              <a:rPr lang="en-US" altLang="en-US" sz="1800" b="1">
                <a:solidFill>
                  <a:srgbClr val="000000"/>
                </a:solidFill>
                <a:latin typeface="Courier New" panose="02070309020205020404" pitchFamily="49" charset="0"/>
              </a:rPr>
              <a:t>SYS_C00674               C EMPNO IS NOT NULL  </a:t>
            </a:r>
          </a:p>
          <a:p>
            <a:pPr>
              <a:spcBef>
                <a:spcPct val="0"/>
              </a:spcBef>
              <a:buFontTx/>
              <a:buNone/>
            </a:pPr>
            <a:r>
              <a:rPr lang="en-US" altLang="en-US" sz="1800" b="1">
                <a:solidFill>
                  <a:srgbClr val="000000"/>
                </a:solidFill>
                <a:latin typeface="Courier New" panose="02070309020205020404" pitchFamily="49" charset="0"/>
              </a:rPr>
              <a:t>SYS_C00675               C DEPTNO IS NOT NULL</a:t>
            </a:r>
          </a:p>
          <a:p>
            <a:pPr>
              <a:spcBef>
                <a:spcPct val="0"/>
              </a:spcBef>
              <a:buFontTx/>
              <a:buNone/>
            </a:pPr>
            <a:r>
              <a:rPr lang="en-US" altLang="en-US" sz="1800" b="1">
                <a:solidFill>
                  <a:srgbClr val="000000"/>
                </a:solidFill>
                <a:latin typeface="Courier New" panose="02070309020205020404" pitchFamily="49" charset="0"/>
              </a:rPr>
              <a:t>EMP_EMPNO_PK		     P</a:t>
            </a:r>
          </a:p>
          <a:p>
            <a:pPr>
              <a:spcBef>
                <a:spcPct val="0"/>
              </a:spcBef>
              <a:buFontTx/>
              <a:buNone/>
            </a:pPr>
            <a:r>
              <a:rPr lang="en-US" altLang="en-US" sz="1800" b="1">
                <a:solidFill>
                  <a:srgbClr val="000000"/>
                </a:solidFill>
                <a:latin typeface="Courier New" panose="02070309020205020404" pitchFamily="49" charset="0"/>
              </a:rPr>
              <a:t>...</a:t>
            </a:r>
          </a:p>
        </p:txBody>
      </p:sp>
      <p:sp>
        <p:nvSpPr>
          <p:cNvPr id="409606" name="Rectangle 6">
            <a:extLst>
              <a:ext uri="{FF2B5EF4-FFF2-40B4-BE49-F238E27FC236}">
                <a16:creationId xmlns:a16="http://schemas.microsoft.com/office/drawing/2014/main" id="{5A688D24-02AF-8608-A706-85E9F31BCA71}"/>
              </a:ext>
            </a:extLst>
          </p:cNvPr>
          <p:cNvSpPr>
            <a:spLocks noChangeArrowheads="1"/>
          </p:cNvSpPr>
          <p:nvPr/>
        </p:nvSpPr>
        <p:spPr bwMode="ltGray">
          <a:xfrm>
            <a:off x="2813050" y="3319463"/>
            <a:ext cx="2268538" cy="246062"/>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3255" name="Rectangle 7">
            <a:extLst>
              <a:ext uri="{FF2B5EF4-FFF2-40B4-BE49-F238E27FC236}">
                <a16:creationId xmlns:a16="http://schemas.microsoft.com/office/drawing/2014/main" id="{F4CCC48D-C169-202B-D7C4-EB27973F0BE4}"/>
              </a:ext>
            </a:extLst>
          </p:cNvPr>
          <p:cNvSpPr>
            <a:spLocks noChangeArrowheads="1"/>
          </p:cNvSpPr>
          <p:nvPr/>
        </p:nvSpPr>
        <p:spPr bwMode="blackWhite">
          <a:xfrm>
            <a:off x="895350" y="2682875"/>
            <a:ext cx="7527925"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constraint_name, constraint_type,</a:t>
            </a:r>
          </a:p>
          <a:p>
            <a:pPr>
              <a:spcBef>
                <a:spcPct val="0"/>
              </a:spcBef>
              <a:buFontTx/>
              <a:buNone/>
            </a:pPr>
            <a:r>
              <a:rPr lang="en-US" altLang="en-US" sz="1800" b="1">
                <a:solidFill>
                  <a:srgbClr val="000000"/>
                </a:solidFill>
                <a:latin typeface="Courier New" panose="02070309020205020404" pitchFamily="49" charset="0"/>
              </a:rPr>
              <a:t>  2		search_condition</a:t>
            </a:r>
          </a:p>
          <a:p>
            <a:pPr>
              <a:spcBef>
                <a:spcPct val="0"/>
              </a:spcBef>
              <a:buFontTx/>
              <a:buNone/>
            </a:pPr>
            <a:r>
              <a:rPr lang="en-US" altLang="en-US" sz="1800" b="1">
                <a:solidFill>
                  <a:srgbClr val="000000"/>
                </a:solidFill>
                <a:latin typeface="Courier New" panose="02070309020205020404" pitchFamily="49" charset="0"/>
              </a:rPr>
              <a:t>  3   FROM	user_constraints</a:t>
            </a:r>
          </a:p>
          <a:p>
            <a:pPr>
              <a:spcBef>
                <a:spcPct val="0"/>
              </a:spcBef>
              <a:buFontTx/>
              <a:buNone/>
            </a:pPr>
            <a:r>
              <a:rPr lang="en-US" altLang="en-US" sz="1800" b="1">
                <a:solidFill>
                  <a:srgbClr val="000000"/>
                </a:solidFill>
                <a:latin typeface="Courier New" panose="02070309020205020404" pitchFamily="49" charset="0"/>
              </a:rPr>
              <a:t>  4   WHERE	table_name = 'EMP';</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09606"/>
                                        </p:tgtEl>
                                        <p:attrNameLst>
                                          <p:attrName>style.visibility</p:attrName>
                                        </p:attrNameLst>
                                      </p:cBhvr>
                                      <p:to>
                                        <p:strVal val="visible"/>
                                      </p:to>
                                    </p:set>
                                    <p:animEffect transition="in" filter="wipe(up)">
                                      <p:cBhvr>
                                        <p:cTn id="7" dur="500"/>
                                        <p:tgtEl>
                                          <p:spTgt spid="409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0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B48A2FC1-4B8B-9EC8-BE5B-8AE05A082B9C}"/>
              </a:ext>
            </a:extLst>
          </p:cNvPr>
          <p:cNvSpPr>
            <a:spLocks noGrp="1" noChangeArrowheads="1"/>
          </p:cNvSpPr>
          <p:nvPr>
            <p:ph type="title"/>
          </p:nvPr>
        </p:nvSpPr>
        <p:spPr>
          <a:xfrm>
            <a:off x="323850" y="260350"/>
            <a:ext cx="7299325" cy="881063"/>
          </a:xfrm>
          <a:noFill/>
        </p:spPr>
        <p:txBody>
          <a:bodyPr lIns="92075" tIns="46038" rIns="92075" bIns="46038" anchor="t"/>
          <a:lstStyle/>
          <a:p>
            <a:r>
              <a:rPr lang="en-US" altLang="en-US" sz="2800">
                <a:solidFill>
                  <a:srgbClr val="800000"/>
                </a:solidFill>
              </a:rPr>
              <a:t>Viewing the Columns Associated with Constraints</a:t>
            </a:r>
          </a:p>
        </p:txBody>
      </p:sp>
      <p:sp>
        <p:nvSpPr>
          <p:cNvPr id="55299" name="Rectangle 3">
            <a:extLst>
              <a:ext uri="{FF2B5EF4-FFF2-40B4-BE49-F238E27FC236}">
                <a16:creationId xmlns:a16="http://schemas.microsoft.com/office/drawing/2014/main" id="{B7FDC71F-3ACE-EAF6-DDCA-B2A44C340FD9}"/>
              </a:ext>
            </a:extLst>
          </p:cNvPr>
          <p:cNvSpPr>
            <a:spLocks noChangeArrowheads="1"/>
          </p:cNvSpPr>
          <p:nvPr/>
        </p:nvSpPr>
        <p:spPr bwMode="blackWhite">
          <a:xfrm>
            <a:off x="925513" y="3005138"/>
            <a:ext cx="7489825"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5300" name="Rectangle 4">
            <a:extLst>
              <a:ext uri="{FF2B5EF4-FFF2-40B4-BE49-F238E27FC236}">
                <a16:creationId xmlns:a16="http://schemas.microsoft.com/office/drawing/2014/main" id="{733CF76F-A0D5-4AAD-0040-1E632773128A}"/>
              </a:ext>
            </a:extLst>
          </p:cNvPr>
          <p:cNvSpPr>
            <a:spLocks noChangeArrowheads="1"/>
          </p:cNvSpPr>
          <p:nvPr/>
        </p:nvSpPr>
        <p:spPr bwMode="blackWhite">
          <a:xfrm>
            <a:off x="935038" y="4125913"/>
            <a:ext cx="7489825" cy="2039937"/>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CONSTRAINT_NAME           COLUMN_NAME</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EMP_DEPTNO_FK             DEPTNO</a:t>
            </a:r>
          </a:p>
          <a:p>
            <a:pPr>
              <a:spcBef>
                <a:spcPct val="0"/>
              </a:spcBef>
              <a:buFontTx/>
              <a:buNone/>
            </a:pPr>
            <a:r>
              <a:rPr lang="en-US" altLang="en-US" sz="1800" b="1">
                <a:solidFill>
                  <a:srgbClr val="000000"/>
                </a:solidFill>
                <a:latin typeface="Courier New" panose="02070309020205020404" pitchFamily="49" charset="0"/>
              </a:rPr>
              <a:t>EMP_EMPNO_PK              EMPNO</a:t>
            </a:r>
          </a:p>
          <a:p>
            <a:pPr>
              <a:spcBef>
                <a:spcPct val="0"/>
              </a:spcBef>
              <a:buFontTx/>
              <a:buNone/>
            </a:pPr>
            <a:r>
              <a:rPr lang="en-US" altLang="en-US" sz="1800" b="1">
                <a:solidFill>
                  <a:srgbClr val="000000"/>
                </a:solidFill>
                <a:latin typeface="Courier New" panose="02070309020205020404" pitchFamily="49" charset="0"/>
              </a:rPr>
              <a:t>EMP_MGR_FK                MGR</a:t>
            </a:r>
          </a:p>
          <a:p>
            <a:pPr>
              <a:spcBef>
                <a:spcPct val="0"/>
              </a:spcBef>
              <a:buFontTx/>
              <a:buNone/>
            </a:pPr>
            <a:r>
              <a:rPr lang="en-US" altLang="en-US" sz="1800" b="1">
                <a:solidFill>
                  <a:srgbClr val="000000"/>
                </a:solidFill>
                <a:latin typeface="Courier New" panose="02070309020205020404" pitchFamily="49" charset="0"/>
              </a:rPr>
              <a:t>SYS_C00674                EMPNO</a:t>
            </a:r>
          </a:p>
          <a:p>
            <a:pPr>
              <a:spcBef>
                <a:spcPct val="0"/>
              </a:spcBef>
              <a:buFontTx/>
              <a:buNone/>
            </a:pPr>
            <a:r>
              <a:rPr lang="en-US" altLang="en-US" sz="1800" b="1">
                <a:solidFill>
                  <a:srgbClr val="000000"/>
                </a:solidFill>
                <a:latin typeface="Courier New" panose="02070309020205020404" pitchFamily="49" charset="0"/>
              </a:rPr>
              <a:t>SYS_C00675                DEPTNO</a:t>
            </a:r>
          </a:p>
        </p:txBody>
      </p:sp>
      <p:sp>
        <p:nvSpPr>
          <p:cNvPr id="411653" name="Rectangle 5">
            <a:extLst>
              <a:ext uri="{FF2B5EF4-FFF2-40B4-BE49-F238E27FC236}">
                <a16:creationId xmlns:a16="http://schemas.microsoft.com/office/drawing/2014/main" id="{B4A260C6-656D-0C24-4060-50A8D74C6183}"/>
              </a:ext>
            </a:extLst>
          </p:cNvPr>
          <p:cNvSpPr>
            <a:spLocks noChangeArrowheads="1"/>
          </p:cNvSpPr>
          <p:nvPr/>
        </p:nvSpPr>
        <p:spPr bwMode="ltGray">
          <a:xfrm>
            <a:off x="2809875" y="3328988"/>
            <a:ext cx="2492375" cy="268287"/>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11654" name="Rectangle 6">
            <a:extLst>
              <a:ext uri="{FF2B5EF4-FFF2-40B4-BE49-F238E27FC236}">
                <a16:creationId xmlns:a16="http://schemas.microsoft.com/office/drawing/2014/main" id="{5FE7C308-699D-06F0-42F3-01ED7E1D7824}"/>
              </a:ext>
            </a:extLst>
          </p:cNvPr>
          <p:cNvSpPr>
            <a:spLocks noChangeArrowheads="1"/>
          </p:cNvSpPr>
          <p:nvPr/>
        </p:nvSpPr>
        <p:spPr bwMode="blackWhite">
          <a:xfrm>
            <a:off x="904875" y="2984500"/>
            <a:ext cx="7515225" cy="941388"/>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SELECT	constraint_name, column_name</a:t>
            </a:r>
          </a:p>
          <a:p>
            <a:pPr>
              <a:tabLst>
                <a:tab pos="1200150" algn="l"/>
              </a:tabLst>
              <a:defRPr/>
            </a:pPr>
            <a:r>
              <a:rPr lang="en-US" sz="1800" b="1">
                <a:solidFill>
                  <a:srgbClr val="000000"/>
                </a:solidFill>
                <a:latin typeface="Courier New" pitchFamily="49" charset="0"/>
              </a:rPr>
              <a:t>  2  FROM</a:t>
            </a:r>
            <a:r>
              <a:rPr lang="en-US" sz="1800" b="1">
                <a:solidFill>
                  <a:srgbClr val="000000"/>
                </a:solidFill>
                <a:effectLst>
                  <a:outerShdw blurRad="38100" dist="38100" dir="2700000" algn="tl">
                    <a:srgbClr val="FFFFFF"/>
                  </a:outerShdw>
                </a:effectLst>
                <a:latin typeface="Courier New" pitchFamily="49" charset="0"/>
              </a:rPr>
              <a:t>	</a:t>
            </a:r>
            <a:r>
              <a:rPr lang="en-US" sz="1800" b="1">
                <a:solidFill>
                  <a:srgbClr val="000000"/>
                </a:solidFill>
                <a:latin typeface="Courier New" pitchFamily="49" charset="0"/>
              </a:rPr>
              <a:t>user_cons_columns</a:t>
            </a:r>
          </a:p>
          <a:p>
            <a:pPr>
              <a:tabLst>
                <a:tab pos="1200150" algn="l"/>
              </a:tabLst>
              <a:defRPr/>
            </a:pPr>
            <a:r>
              <a:rPr lang="en-US" sz="1800" b="1">
                <a:solidFill>
                  <a:srgbClr val="000000"/>
                </a:solidFill>
                <a:latin typeface="Courier New" pitchFamily="49" charset="0"/>
              </a:rPr>
              <a:t>  3  WHERE	table_name = 'EMP';</a:t>
            </a:r>
          </a:p>
        </p:txBody>
      </p:sp>
      <p:sp>
        <p:nvSpPr>
          <p:cNvPr id="55303" name="Rectangle 7">
            <a:extLst>
              <a:ext uri="{FF2B5EF4-FFF2-40B4-BE49-F238E27FC236}">
                <a16:creationId xmlns:a16="http://schemas.microsoft.com/office/drawing/2014/main" id="{ED000702-C623-14FA-8A36-D5BC09C529EC}"/>
              </a:ext>
            </a:extLst>
          </p:cNvPr>
          <p:cNvSpPr>
            <a:spLocks noGrp="1" noChangeArrowheads="1"/>
          </p:cNvSpPr>
          <p:nvPr>
            <p:ph type="body" idx="1"/>
          </p:nvPr>
        </p:nvSpPr>
        <p:spPr>
          <a:xfrm>
            <a:off x="827088" y="1484313"/>
            <a:ext cx="7578725" cy="1385887"/>
          </a:xfrm>
          <a:noFill/>
        </p:spPr>
        <p:txBody>
          <a:bodyPr lIns="92075" tIns="46038" rIns="92075" bIns="46038">
            <a:spAutoFit/>
          </a:bodyPr>
          <a:lstStyle/>
          <a:p>
            <a:r>
              <a:rPr lang="en-US" altLang="en-US"/>
              <a:t>View the columns associated with the constraint names in the USER_CONS_COLUMNS view.</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11653"/>
                                        </p:tgtEl>
                                        <p:attrNameLst>
                                          <p:attrName>style.visibility</p:attrName>
                                        </p:attrNameLst>
                                      </p:cBhvr>
                                      <p:to>
                                        <p:strVal val="visible"/>
                                      </p:to>
                                    </p:set>
                                    <p:animEffect transition="in" filter="wipe(up)">
                                      <p:cBhvr>
                                        <p:cTn id="7" dur="500"/>
                                        <p:tgtEl>
                                          <p:spTgt spid="411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65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DCB34B0F-9181-9AEF-8BEA-2D89E7162092}"/>
              </a:ext>
            </a:extLst>
          </p:cNvPr>
          <p:cNvSpPr>
            <a:spLocks noGrp="1" noChangeArrowheads="1"/>
          </p:cNvSpPr>
          <p:nvPr>
            <p:ph type="title"/>
          </p:nvPr>
        </p:nvSpPr>
        <p:spPr>
          <a:xfrm>
            <a:off x="323850" y="660400"/>
            <a:ext cx="3490913" cy="536575"/>
          </a:xfrm>
          <a:noFill/>
        </p:spPr>
        <p:txBody>
          <a:bodyPr lIns="92075" tIns="46038" rIns="92075" bIns="46038" anchor="t"/>
          <a:lstStyle/>
          <a:p>
            <a:r>
              <a:rPr lang="en-US" altLang="en-US" sz="2800">
                <a:solidFill>
                  <a:srgbClr val="800000"/>
                </a:solidFill>
              </a:rPr>
              <a:t>Virtual Column</a:t>
            </a:r>
          </a:p>
        </p:txBody>
      </p:sp>
      <p:grpSp>
        <p:nvGrpSpPr>
          <p:cNvPr id="57347" name="Group 6">
            <a:extLst>
              <a:ext uri="{FF2B5EF4-FFF2-40B4-BE49-F238E27FC236}">
                <a16:creationId xmlns:a16="http://schemas.microsoft.com/office/drawing/2014/main" id="{575AFCA3-9097-E364-FE6E-49ACB6268550}"/>
              </a:ext>
            </a:extLst>
          </p:cNvPr>
          <p:cNvGrpSpPr>
            <a:grpSpLocks/>
          </p:cNvGrpSpPr>
          <p:nvPr/>
        </p:nvGrpSpPr>
        <p:grpSpPr bwMode="auto">
          <a:xfrm>
            <a:off x="706438" y="2133600"/>
            <a:ext cx="7737475" cy="1582738"/>
            <a:chOff x="622" y="1831"/>
            <a:chExt cx="4874" cy="2672"/>
          </a:xfrm>
        </p:grpSpPr>
        <p:sp>
          <p:nvSpPr>
            <p:cNvPr id="57352" name="Rectangle 7">
              <a:extLst>
                <a:ext uri="{FF2B5EF4-FFF2-40B4-BE49-F238E27FC236}">
                  <a16:creationId xmlns:a16="http://schemas.microsoft.com/office/drawing/2014/main" id="{11CAA4EC-6233-8B62-FCDE-D7B344F12D24}"/>
                </a:ext>
              </a:extLst>
            </p:cNvPr>
            <p:cNvSpPr>
              <a:spLocks noChangeArrowheads="1"/>
            </p:cNvSpPr>
            <p:nvPr/>
          </p:nvSpPr>
          <p:spPr bwMode="blackWhite">
            <a:xfrm>
              <a:off x="622" y="1831"/>
              <a:ext cx="4754" cy="267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7353" name="Rectangle 8">
              <a:extLst>
                <a:ext uri="{FF2B5EF4-FFF2-40B4-BE49-F238E27FC236}">
                  <a16:creationId xmlns:a16="http://schemas.microsoft.com/office/drawing/2014/main" id="{2FFD1807-3DAE-CE6E-9E03-8D14B8912F53}"/>
                </a:ext>
              </a:extLst>
            </p:cNvPr>
            <p:cNvSpPr>
              <a:spLocks noChangeArrowheads="1"/>
            </p:cNvSpPr>
            <p:nvPr/>
          </p:nvSpPr>
          <p:spPr bwMode="blackWhite">
            <a:xfrm>
              <a:off x="698" y="2193"/>
              <a:ext cx="4798" cy="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CREATE TABLE table_name(</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  virtual_column_name AS (expression)</a:t>
              </a:r>
            </a:p>
            <a:p>
              <a:pPr>
                <a:spcBef>
                  <a:spcPct val="0"/>
                </a:spcBef>
                <a:buFontTx/>
                <a:buNone/>
              </a:pPr>
              <a:r>
                <a:rPr lang="en-US" altLang="en-US" sz="1800" b="1">
                  <a:solidFill>
                    <a:srgbClr val="000000"/>
                  </a:solidFill>
                  <a:latin typeface="Courier New" panose="02070309020205020404" pitchFamily="49" charset="0"/>
                </a:rPr>
                <a:t>);	</a:t>
              </a:r>
            </a:p>
          </p:txBody>
        </p:sp>
      </p:grpSp>
      <p:sp>
        <p:nvSpPr>
          <p:cNvPr id="2" name="Rectangle 3">
            <a:extLst>
              <a:ext uri="{FF2B5EF4-FFF2-40B4-BE49-F238E27FC236}">
                <a16:creationId xmlns:a16="http://schemas.microsoft.com/office/drawing/2014/main" id="{F459C46B-5280-13D2-7CCF-9B5A9A5E000D}"/>
              </a:ext>
            </a:extLst>
          </p:cNvPr>
          <p:cNvSpPr txBox="1">
            <a:spLocks noChangeArrowheads="1"/>
          </p:cNvSpPr>
          <p:nvPr/>
        </p:nvSpPr>
        <p:spPr bwMode="auto">
          <a:xfrm>
            <a:off x="293688" y="1196975"/>
            <a:ext cx="8143875" cy="831850"/>
          </a:xfrm>
          <a:prstGeom prst="rect">
            <a:avLst/>
          </a:prstGeom>
          <a:noFill/>
          <a:ln>
            <a:noFill/>
          </a:ln>
        </p:spPr>
        <p:txBody>
          <a:bodyPr lIns="92075" tIns="46038" rIns="92075" bIns="46038">
            <a:spAutoFit/>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a:lstStyle>
          <a:p>
            <a:pPr>
              <a:defRPr/>
            </a:pPr>
            <a:r>
              <a:rPr lang="en-US" sz="2400" kern="0" dirty="0"/>
              <a:t>Virtual column aka derived column refers to other columns of the table. </a:t>
            </a:r>
          </a:p>
        </p:txBody>
      </p:sp>
      <p:grpSp>
        <p:nvGrpSpPr>
          <p:cNvPr id="57349" name="Group 6">
            <a:extLst>
              <a:ext uri="{FF2B5EF4-FFF2-40B4-BE49-F238E27FC236}">
                <a16:creationId xmlns:a16="http://schemas.microsoft.com/office/drawing/2014/main" id="{3B10B37A-80B6-F438-D9A4-EE1A8F685C17}"/>
              </a:ext>
            </a:extLst>
          </p:cNvPr>
          <p:cNvGrpSpPr>
            <a:grpSpLocks/>
          </p:cNvGrpSpPr>
          <p:nvPr/>
        </p:nvGrpSpPr>
        <p:grpSpPr bwMode="auto">
          <a:xfrm>
            <a:off x="684213" y="3933825"/>
            <a:ext cx="7737475" cy="2517775"/>
            <a:chOff x="622" y="1831"/>
            <a:chExt cx="4874" cy="4249"/>
          </a:xfrm>
        </p:grpSpPr>
        <p:sp>
          <p:nvSpPr>
            <p:cNvPr id="57350" name="Rectangle 7">
              <a:extLst>
                <a:ext uri="{FF2B5EF4-FFF2-40B4-BE49-F238E27FC236}">
                  <a16:creationId xmlns:a16="http://schemas.microsoft.com/office/drawing/2014/main" id="{B6815D80-E8E1-1105-7481-6BA2EC2C3B0D}"/>
                </a:ext>
              </a:extLst>
            </p:cNvPr>
            <p:cNvSpPr>
              <a:spLocks noChangeArrowheads="1"/>
            </p:cNvSpPr>
            <p:nvPr/>
          </p:nvSpPr>
          <p:spPr bwMode="blackWhite">
            <a:xfrm>
              <a:off x="622" y="1831"/>
              <a:ext cx="4754" cy="4249"/>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7351" name="Rectangle 8">
              <a:extLst>
                <a:ext uri="{FF2B5EF4-FFF2-40B4-BE49-F238E27FC236}">
                  <a16:creationId xmlns:a16="http://schemas.microsoft.com/office/drawing/2014/main" id="{D898664D-1C83-D2B9-348C-6B454AD85BDD}"/>
                </a:ext>
              </a:extLst>
            </p:cNvPr>
            <p:cNvSpPr>
              <a:spLocks noChangeArrowheads="1"/>
            </p:cNvSpPr>
            <p:nvPr/>
          </p:nvSpPr>
          <p:spPr bwMode="blackWhite">
            <a:xfrm>
              <a:off x="698" y="2071"/>
              <a:ext cx="4798" cy="3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CREATE TABLE table_name(</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description AS (</a:t>
              </a:r>
            </a:p>
            <a:p>
              <a:pPr>
                <a:spcBef>
                  <a:spcPct val="0"/>
                </a:spcBef>
                <a:buFontTx/>
                <a:buNone/>
              </a:pPr>
              <a:r>
                <a:rPr lang="en-US" altLang="en-US" sz="1800" b="1">
                  <a:solidFill>
                    <a:srgbClr val="000000"/>
                  </a:solidFill>
                  <a:latin typeface="Courier New" panose="02070309020205020404" pitchFamily="49" charset="0"/>
                </a:rPr>
                <a:t>CASE </a:t>
              </a:r>
            </a:p>
            <a:p>
              <a:pPr>
                <a:spcBef>
                  <a:spcPct val="0"/>
                </a:spcBef>
                <a:buFontTx/>
                <a:buNone/>
              </a:pPr>
              <a:r>
                <a:rPr lang="en-US" altLang="en-US" sz="1800" b="1">
                  <a:solidFill>
                    <a:srgbClr val="000000"/>
                  </a:solidFill>
                  <a:latin typeface="Courier New" panose="02070309020205020404" pitchFamily="49" charset="0"/>
                </a:rPr>
                <a:t>	WHEN sal&lt;1000 THEN ‘Low’</a:t>
              </a:r>
            </a:p>
            <a:p>
              <a:pPr>
                <a:spcBef>
                  <a:spcPct val="0"/>
                </a:spcBef>
                <a:buFontTx/>
                <a:buNone/>
              </a:pPr>
              <a:r>
                <a:rPr lang="en-US" altLang="en-US" sz="1800" b="1">
                  <a:solidFill>
                    <a:srgbClr val="000000"/>
                  </a:solidFill>
                  <a:latin typeface="Courier New" panose="02070309020205020404" pitchFamily="49" charset="0"/>
                </a:rPr>
                <a:t>	WHEN sal&gt;=1000 AND sal&lt;2000 THEN ‘Average’)</a:t>
              </a:r>
            </a:p>
            <a:p>
              <a:pPr>
                <a:spcBef>
                  <a:spcPct val="0"/>
                </a:spcBef>
                <a:buFontTx/>
                <a:buNone/>
              </a:pPr>
              <a:r>
                <a:rPr lang="en-US" altLang="en-US" sz="1800" b="1">
                  <a:solidFill>
                    <a:srgbClr val="000000"/>
                  </a:solidFill>
                  <a:latin typeface="Courier New" panose="02070309020205020404" pitchFamily="49" charset="0"/>
                </a:rPr>
                <a:t>	WHEN sal&gt;=2000 THEN ‘High’</a:t>
              </a:r>
            </a:p>
            <a:p>
              <a:pPr>
                <a:spcBef>
                  <a:spcPct val="0"/>
                </a:spcBef>
                <a:buFontTx/>
                <a:buNone/>
              </a:pPr>
              <a:r>
                <a:rPr lang="en-US" altLang="en-US" sz="1800" b="1">
                  <a:solidFill>
                    <a:srgbClr val="000000"/>
                  </a:solidFill>
                  <a:latin typeface="Courier New" panose="02070309020205020404" pitchFamily="49" charset="0"/>
                </a:rPr>
                <a:t>END)</a:t>
              </a:r>
            </a:p>
            <a:p>
              <a:pPr>
                <a:spcBef>
                  <a:spcPct val="0"/>
                </a:spcBef>
                <a:buFontTx/>
                <a:buNone/>
              </a:pPr>
              <a:r>
                <a:rPr lang="en-US" altLang="en-US" sz="1800" b="1">
                  <a:solidFill>
                    <a:srgbClr val="000000"/>
                  </a:solidFill>
                  <a:latin typeface="Courier New" panose="02070309020205020404" pitchFamily="49" charset="0"/>
                </a:rPr>
                <a:t>);	</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457199C6-F92B-8CB5-9DE3-AE1EB7987AD6}"/>
              </a:ext>
            </a:extLst>
          </p:cNvPr>
          <p:cNvSpPr>
            <a:spLocks noGrp="1" noChangeArrowheads="1"/>
          </p:cNvSpPr>
          <p:nvPr>
            <p:ph type="title"/>
          </p:nvPr>
        </p:nvSpPr>
        <p:spPr>
          <a:xfrm>
            <a:off x="323850" y="244475"/>
            <a:ext cx="3884613" cy="881063"/>
          </a:xfrm>
          <a:noFill/>
        </p:spPr>
        <p:txBody>
          <a:bodyPr lIns="92075" tIns="46038" rIns="92075" bIns="46038" anchor="t"/>
          <a:lstStyle/>
          <a:p>
            <a:r>
              <a:rPr lang="en-US" altLang="en-US" sz="2800">
                <a:solidFill>
                  <a:srgbClr val="800000"/>
                </a:solidFill>
              </a:rPr>
              <a:t>Creating a Table </a:t>
            </a:r>
            <a:br>
              <a:rPr lang="en-US" altLang="en-US" sz="2800">
                <a:solidFill>
                  <a:srgbClr val="800000"/>
                </a:solidFill>
              </a:rPr>
            </a:br>
            <a:r>
              <a:rPr lang="en-US" altLang="en-US" sz="2800">
                <a:solidFill>
                  <a:srgbClr val="800000"/>
                </a:solidFill>
              </a:rPr>
              <a:t>by Using a Subquery</a:t>
            </a:r>
          </a:p>
        </p:txBody>
      </p:sp>
      <p:sp>
        <p:nvSpPr>
          <p:cNvPr id="59395" name="Rectangle 3">
            <a:extLst>
              <a:ext uri="{FF2B5EF4-FFF2-40B4-BE49-F238E27FC236}">
                <a16:creationId xmlns:a16="http://schemas.microsoft.com/office/drawing/2014/main" id="{3AED0323-B5F1-84DC-16E7-5F88CD3F5CC7}"/>
              </a:ext>
            </a:extLst>
          </p:cNvPr>
          <p:cNvSpPr>
            <a:spLocks noGrp="1" noChangeArrowheads="1"/>
          </p:cNvSpPr>
          <p:nvPr>
            <p:ph type="body" idx="1"/>
          </p:nvPr>
        </p:nvSpPr>
        <p:spPr>
          <a:xfrm>
            <a:off x="330200" y="1268413"/>
            <a:ext cx="8278813" cy="4378325"/>
          </a:xfrm>
          <a:noFill/>
        </p:spPr>
        <p:txBody>
          <a:bodyPr lIns="92075" tIns="46038" rIns="92075" bIns="46038">
            <a:spAutoFit/>
          </a:bodyPr>
          <a:lstStyle/>
          <a:p>
            <a:pPr lvl="1">
              <a:lnSpc>
                <a:spcPct val="85000"/>
              </a:lnSpc>
            </a:pPr>
            <a:r>
              <a:rPr lang="en-US" altLang="en-US"/>
              <a:t>Create a table and insert rows by combining the CREATE TABLE statement and AS </a:t>
            </a:r>
            <a:r>
              <a:rPr lang="en-US" altLang="en-US" i="1"/>
              <a:t>subquery</a:t>
            </a:r>
            <a:r>
              <a:rPr lang="en-US" altLang="en-US"/>
              <a:t> option.</a:t>
            </a:r>
          </a:p>
          <a:p>
            <a:pPr lvl="1">
              <a:lnSpc>
                <a:spcPct val="85000"/>
              </a:lnSpc>
            </a:pPr>
            <a:endParaRPr lang="en-US" altLang="en-US"/>
          </a:p>
          <a:p>
            <a:pPr lvl="1">
              <a:lnSpc>
                <a:spcPct val="85000"/>
              </a:lnSpc>
            </a:pPr>
            <a:endParaRPr lang="en-US" altLang="en-US"/>
          </a:p>
          <a:p>
            <a:pPr lvl="1">
              <a:lnSpc>
                <a:spcPct val="85000"/>
              </a:lnSpc>
              <a:buFontTx/>
              <a:buNone/>
            </a:pPr>
            <a:endParaRPr lang="en-US" altLang="en-US"/>
          </a:p>
          <a:p>
            <a:pPr lvl="1">
              <a:lnSpc>
                <a:spcPct val="85000"/>
              </a:lnSpc>
            </a:pPr>
            <a:r>
              <a:rPr lang="en-US" altLang="en-US"/>
              <a:t>Match the number of specified columns to the number of subquery columns.</a:t>
            </a:r>
          </a:p>
          <a:p>
            <a:pPr lvl="1">
              <a:lnSpc>
                <a:spcPct val="85000"/>
              </a:lnSpc>
            </a:pPr>
            <a:r>
              <a:rPr lang="en-US" altLang="en-US"/>
              <a:t>Define columns with column names and</a:t>
            </a:r>
            <a:br>
              <a:rPr lang="en-US" altLang="en-US"/>
            </a:br>
            <a:r>
              <a:rPr lang="en-US" altLang="en-US"/>
              <a:t>default values.</a:t>
            </a:r>
          </a:p>
          <a:p>
            <a:pPr lvl="1">
              <a:lnSpc>
                <a:spcPct val="85000"/>
              </a:lnSpc>
            </a:pPr>
            <a:r>
              <a:rPr lang="en-US" altLang="en-US"/>
              <a:t>To create new table without populating it with the data in the existing table, use the following:</a:t>
            </a:r>
          </a:p>
          <a:p>
            <a:pPr lvl="1">
              <a:lnSpc>
                <a:spcPct val="85000"/>
              </a:lnSpc>
            </a:pPr>
            <a:endParaRPr lang="en-US" altLang="en-US"/>
          </a:p>
        </p:txBody>
      </p:sp>
      <p:sp>
        <p:nvSpPr>
          <p:cNvPr id="59396" name="Rectangle 4">
            <a:extLst>
              <a:ext uri="{FF2B5EF4-FFF2-40B4-BE49-F238E27FC236}">
                <a16:creationId xmlns:a16="http://schemas.microsoft.com/office/drawing/2014/main" id="{11F62A86-96C8-F0F6-521B-967A7EF613B1}"/>
              </a:ext>
            </a:extLst>
          </p:cNvPr>
          <p:cNvSpPr>
            <a:spLocks noChangeArrowheads="1"/>
          </p:cNvSpPr>
          <p:nvPr/>
        </p:nvSpPr>
        <p:spPr bwMode="blackWhite">
          <a:xfrm>
            <a:off x="900113" y="2008188"/>
            <a:ext cx="7510462"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9397" name="Rectangle 5">
            <a:extLst>
              <a:ext uri="{FF2B5EF4-FFF2-40B4-BE49-F238E27FC236}">
                <a16:creationId xmlns:a16="http://schemas.microsoft.com/office/drawing/2014/main" id="{9D647F4A-4D82-AC48-5FBF-D8C0CF8B7414}"/>
              </a:ext>
            </a:extLst>
          </p:cNvPr>
          <p:cNvSpPr>
            <a:spLocks noChangeArrowheads="1"/>
          </p:cNvSpPr>
          <p:nvPr/>
        </p:nvSpPr>
        <p:spPr bwMode="blackWhite">
          <a:xfrm>
            <a:off x="914400" y="1989138"/>
            <a:ext cx="6937375"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CREATE TABLE </a:t>
            </a:r>
            <a:r>
              <a:rPr lang="en-US" altLang="en-US" sz="1800" b="1" i="1">
                <a:solidFill>
                  <a:srgbClr val="000000"/>
                </a:solidFill>
                <a:latin typeface="Courier New" panose="02070309020205020404" pitchFamily="49" charset="0"/>
              </a:rPr>
              <a:t>table</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  	  [(</a:t>
            </a:r>
            <a:r>
              <a:rPr lang="en-US" altLang="en-US" sz="1800" b="1" i="1">
                <a:solidFill>
                  <a:srgbClr val="000000"/>
                </a:solidFill>
                <a:latin typeface="Courier New" panose="02070309020205020404" pitchFamily="49" charset="0"/>
              </a:rPr>
              <a:t>column</a:t>
            </a:r>
            <a:r>
              <a:rPr lang="en-US" altLang="en-US" sz="1800" b="1">
                <a:solidFill>
                  <a:srgbClr val="000000"/>
                </a:solidFill>
                <a:latin typeface="Courier New" panose="02070309020205020404" pitchFamily="49" charset="0"/>
              </a:rPr>
              <a:t>, </a:t>
            </a:r>
            <a:r>
              <a:rPr lang="en-US" altLang="en-US" sz="1800" b="1" i="1">
                <a:solidFill>
                  <a:srgbClr val="000000"/>
                </a:solidFill>
                <a:latin typeface="Courier New" panose="02070309020205020404" pitchFamily="49" charset="0"/>
              </a:rPr>
              <a:t>column</a:t>
            </a: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AS </a:t>
            </a:r>
            <a:r>
              <a:rPr lang="en-US" altLang="en-US" sz="1800" b="1" i="1">
                <a:solidFill>
                  <a:srgbClr val="000000"/>
                </a:solidFill>
                <a:latin typeface="Courier New" panose="02070309020205020404" pitchFamily="49" charset="0"/>
              </a:rPr>
              <a:t>subquery</a:t>
            </a:r>
            <a:r>
              <a:rPr lang="en-US" altLang="en-US" sz="1800" b="1">
                <a:solidFill>
                  <a:srgbClr val="000000"/>
                </a:solidFill>
                <a:latin typeface="Courier New" panose="02070309020205020404" pitchFamily="49" charset="0"/>
              </a:rPr>
              <a:t>;</a:t>
            </a:r>
          </a:p>
        </p:txBody>
      </p:sp>
      <p:sp>
        <p:nvSpPr>
          <p:cNvPr id="59398" name="Rectangle 4">
            <a:extLst>
              <a:ext uri="{FF2B5EF4-FFF2-40B4-BE49-F238E27FC236}">
                <a16:creationId xmlns:a16="http://schemas.microsoft.com/office/drawing/2014/main" id="{0EA094C7-9CC3-5F5D-6C2E-FB1923F4FA19}"/>
              </a:ext>
            </a:extLst>
          </p:cNvPr>
          <p:cNvSpPr>
            <a:spLocks noChangeArrowheads="1"/>
          </p:cNvSpPr>
          <p:nvPr/>
        </p:nvSpPr>
        <p:spPr bwMode="blackWhite">
          <a:xfrm>
            <a:off x="877888" y="5392738"/>
            <a:ext cx="7510462"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9399" name="Rectangle 5">
            <a:extLst>
              <a:ext uri="{FF2B5EF4-FFF2-40B4-BE49-F238E27FC236}">
                <a16:creationId xmlns:a16="http://schemas.microsoft.com/office/drawing/2014/main" id="{B751B8D1-1B6B-0B27-4EFC-F88DB267C42A}"/>
              </a:ext>
            </a:extLst>
          </p:cNvPr>
          <p:cNvSpPr>
            <a:spLocks noChangeArrowheads="1"/>
          </p:cNvSpPr>
          <p:nvPr/>
        </p:nvSpPr>
        <p:spPr bwMode="blackWhite">
          <a:xfrm>
            <a:off x="895350" y="5367338"/>
            <a:ext cx="6937375"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CREATE TABLE </a:t>
            </a:r>
            <a:r>
              <a:rPr lang="en-US" altLang="en-US" sz="1800" b="1" i="1">
                <a:solidFill>
                  <a:srgbClr val="000000"/>
                </a:solidFill>
                <a:latin typeface="Courier New" panose="02070309020205020404" pitchFamily="49" charset="0"/>
              </a:rPr>
              <a:t>table</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  	  [(</a:t>
            </a:r>
            <a:r>
              <a:rPr lang="en-US" altLang="en-US" sz="1800" b="1" i="1">
                <a:solidFill>
                  <a:srgbClr val="000000"/>
                </a:solidFill>
                <a:latin typeface="Courier New" panose="02070309020205020404" pitchFamily="49" charset="0"/>
              </a:rPr>
              <a:t>column</a:t>
            </a:r>
            <a:r>
              <a:rPr lang="en-US" altLang="en-US" sz="1800" b="1">
                <a:solidFill>
                  <a:srgbClr val="000000"/>
                </a:solidFill>
                <a:latin typeface="Courier New" panose="02070309020205020404" pitchFamily="49" charset="0"/>
              </a:rPr>
              <a:t>, </a:t>
            </a:r>
            <a:r>
              <a:rPr lang="en-US" altLang="en-US" sz="1800" b="1" i="1">
                <a:solidFill>
                  <a:srgbClr val="000000"/>
                </a:solidFill>
                <a:latin typeface="Courier New" panose="02070309020205020404" pitchFamily="49" charset="0"/>
              </a:rPr>
              <a:t>column</a:t>
            </a: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AS </a:t>
            </a:r>
            <a:r>
              <a:rPr lang="en-US" altLang="en-US" sz="1800" b="1" i="1">
                <a:solidFill>
                  <a:srgbClr val="000000"/>
                </a:solidFill>
                <a:latin typeface="Courier New" panose="02070309020205020404" pitchFamily="49" charset="0"/>
              </a:rPr>
              <a:t>subquery </a:t>
            </a:r>
            <a:r>
              <a:rPr lang="en-US" altLang="en-US" sz="1800" b="1" i="1">
                <a:solidFill>
                  <a:schemeClr val="accent2"/>
                </a:solidFill>
                <a:latin typeface="Courier New" panose="02070309020205020404" pitchFamily="49" charset="0"/>
              </a:rPr>
              <a:t>WHERE 1=2</a:t>
            </a:r>
            <a:r>
              <a:rPr lang="en-US" altLang="en-US" sz="1800" b="1">
                <a:solidFill>
                  <a:srgbClr val="000000"/>
                </a:solidFill>
                <a:latin typeface="Courier New" panose="02070309020205020404" pitchFamily="49" charset="0"/>
              </a:rPr>
              <a:t>;</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EEB0CE7D-E733-9DFC-6A92-B4DC0C3673BF}"/>
              </a:ext>
            </a:extLst>
          </p:cNvPr>
          <p:cNvSpPr>
            <a:spLocks noGrp="1" noChangeArrowheads="1"/>
          </p:cNvSpPr>
          <p:nvPr>
            <p:ph type="title"/>
          </p:nvPr>
        </p:nvSpPr>
        <p:spPr>
          <a:xfrm>
            <a:off x="323850" y="188913"/>
            <a:ext cx="3721100" cy="881062"/>
          </a:xfrm>
          <a:noFill/>
        </p:spPr>
        <p:txBody>
          <a:bodyPr lIns="92075" tIns="46038" rIns="92075" bIns="46038" anchor="t"/>
          <a:lstStyle/>
          <a:p>
            <a:r>
              <a:rPr lang="en-US" altLang="en-US" sz="2800">
                <a:solidFill>
                  <a:srgbClr val="800000"/>
                </a:solidFill>
              </a:rPr>
              <a:t>Creating a Table </a:t>
            </a:r>
            <a:br>
              <a:rPr lang="en-US" altLang="en-US" sz="2800">
                <a:solidFill>
                  <a:srgbClr val="800000"/>
                </a:solidFill>
              </a:rPr>
            </a:br>
            <a:r>
              <a:rPr lang="en-US" altLang="en-US" sz="2800">
                <a:solidFill>
                  <a:srgbClr val="800000"/>
                </a:solidFill>
              </a:rPr>
              <a:t>by Using a Subquery</a:t>
            </a:r>
          </a:p>
        </p:txBody>
      </p:sp>
      <p:sp>
        <p:nvSpPr>
          <p:cNvPr id="61443" name="Rectangle 3">
            <a:extLst>
              <a:ext uri="{FF2B5EF4-FFF2-40B4-BE49-F238E27FC236}">
                <a16:creationId xmlns:a16="http://schemas.microsoft.com/office/drawing/2014/main" id="{C474EF7A-D248-EE59-76E7-3F3962E33B79}"/>
              </a:ext>
            </a:extLst>
          </p:cNvPr>
          <p:cNvSpPr>
            <a:spLocks noGrp="1" noChangeArrowheads="1"/>
          </p:cNvSpPr>
          <p:nvPr>
            <p:ph type="body" idx="1"/>
          </p:nvPr>
        </p:nvSpPr>
        <p:spPr bwMode="blackWhite">
          <a:xfrm>
            <a:off x="912813" y="1700213"/>
            <a:ext cx="7512050" cy="1739900"/>
          </a:xfrm>
          <a:solidFill>
            <a:srgbClr val="FFFFCC"/>
          </a:solidFill>
          <a:ln w="25400" cap="flat">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indent="0">
              <a:spcBef>
                <a:spcPct val="0"/>
              </a:spcBef>
              <a:tabLst>
                <a:tab pos="692150" algn="l"/>
                <a:tab pos="1200150" algn="l"/>
              </a:tabLst>
            </a:pPr>
            <a:endParaRPr lang="en-US" altLang="en-US" sz="1800">
              <a:solidFill>
                <a:srgbClr val="000000"/>
              </a:solidFill>
              <a:latin typeface="Courier New" panose="02070309020205020404" pitchFamily="49" charset="0"/>
            </a:endParaRPr>
          </a:p>
          <a:p>
            <a:pPr marL="0" indent="0">
              <a:spcBef>
                <a:spcPct val="0"/>
              </a:spcBef>
              <a:tabLst>
                <a:tab pos="692150" algn="l"/>
                <a:tab pos="1200150" algn="l"/>
              </a:tabLst>
            </a:pPr>
            <a:endParaRPr lang="en-US" altLang="en-US" sz="1800">
              <a:solidFill>
                <a:srgbClr val="000000"/>
              </a:solidFill>
              <a:latin typeface="Courier New" panose="02070309020205020404" pitchFamily="49" charset="0"/>
            </a:endParaRPr>
          </a:p>
          <a:p>
            <a:pPr marL="0" indent="0">
              <a:spcBef>
                <a:spcPct val="0"/>
              </a:spcBef>
              <a:tabLst>
                <a:tab pos="692150" algn="l"/>
                <a:tab pos="1200150" algn="l"/>
              </a:tabLst>
            </a:pPr>
            <a:endParaRPr lang="en-US" altLang="en-US" sz="1800">
              <a:solidFill>
                <a:srgbClr val="000000"/>
              </a:solidFill>
              <a:latin typeface="Courier New" panose="02070309020205020404" pitchFamily="49" charset="0"/>
            </a:endParaRPr>
          </a:p>
          <a:p>
            <a:pPr marL="0" indent="0">
              <a:spcBef>
                <a:spcPct val="0"/>
              </a:spcBef>
              <a:tabLst>
                <a:tab pos="692150" algn="l"/>
                <a:tab pos="1200150" algn="l"/>
              </a:tabLst>
            </a:pPr>
            <a:endParaRPr lang="en-US" altLang="en-US" sz="1800">
              <a:solidFill>
                <a:srgbClr val="000000"/>
              </a:solidFill>
              <a:latin typeface="Courier New" panose="02070309020205020404" pitchFamily="49" charset="0"/>
            </a:endParaRPr>
          </a:p>
          <a:p>
            <a:pPr marL="0" indent="0">
              <a:spcBef>
                <a:spcPct val="0"/>
              </a:spcBef>
              <a:tabLst>
                <a:tab pos="692150" algn="l"/>
                <a:tab pos="1200150" algn="l"/>
              </a:tabLst>
            </a:pPr>
            <a:endParaRPr lang="en-US" altLang="en-US" sz="1800">
              <a:solidFill>
                <a:srgbClr val="000000"/>
              </a:solidFill>
              <a:latin typeface="Courier New" panose="02070309020205020404" pitchFamily="49" charset="0"/>
            </a:endParaRPr>
          </a:p>
          <a:p>
            <a:pPr marL="0" indent="0">
              <a:spcBef>
                <a:spcPct val="0"/>
              </a:spcBef>
              <a:tabLst>
                <a:tab pos="692150" algn="l"/>
                <a:tab pos="1200150" algn="l"/>
              </a:tabLst>
            </a:pPr>
            <a:endParaRPr lang="en-US" altLang="en-US" sz="1800">
              <a:solidFill>
                <a:srgbClr val="000000"/>
              </a:solidFill>
              <a:latin typeface="Courier New" panose="02070309020205020404" pitchFamily="49" charset="0"/>
            </a:endParaRPr>
          </a:p>
          <a:p>
            <a:pPr marL="0" indent="0">
              <a:spcBef>
                <a:spcPct val="0"/>
              </a:spcBef>
              <a:tabLst>
                <a:tab pos="692150" algn="l"/>
                <a:tab pos="1200150" algn="l"/>
              </a:tabLst>
            </a:pPr>
            <a:endParaRPr lang="en-US" altLang="en-US" sz="1800">
              <a:solidFill>
                <a:srgbClr val="000000"/>
              </a:solidFill>
              <a:latin typeface="Courier New" panose="02070309020205020404" pitchFamily="49" charset="0"/>
            </a:endParaRPr>
          </a:p>
        </p:txBody>
      </p:sp>
      <p:sp>
        <p:nvSpPr>
          <p:cNvPr id="61444" name="Rectangle 4">
            <a:extLst>
              <a:ext uri="{FF2B5EF4-FFF2-40B4-BE49-F238E27FC236}">
                <a16:creationId xmlns:a16="http://schemas.microsoft.com/office/drawing/2014/main" id="{BB878B88-9A5E-5E7C-FA15-2E7A579D1BEF}"/>
              </a:ext>
            </a:extLst>
          </p:cNvPr>
          <p:cNvSpPr>
            <a:spLocks noChangeArrowheads="1"/>
          </p:cNvSpPr>
          <p:nvPr/>
        </p:nvSpPr>
        <p:spPr bwMode="blackWhite">
          <a:xfrm>
            <a:off x="914400" y="3694113"/>
            <a:ext cx="7510463" cy="38893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1445" name="Rectangle 5">
            <a:extLst>
              <a:ext uri="{FF2B5EF4-FFF2-40B4-BE49-F238E27FC236}">
                <a16:creationId xmlns:a16="http://schemas.microsoft.com/office/drawing/2014/main" id="{B7EA890C-B6CB-9E4A-B3F3-D58BB0BC2FDE}"/>
              </a:ext>
            </a:extLst>
          </p:cNvPr>
          <p:cNvSpPr>
            <a:spLocks noChangeArrowheads="1"/>
          </p:cNvSpPr>
          <p:nvPr/>
        </p:nvSpPr>
        <p:spPr bwMode="blackWhite">
          <a:xfrm>
            <a:off x="908050" y="4294188"/>
            <a:ext cx="7516813" cy="17653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Name                         Null?    Type</a:t>
            </a:r>
          </a:p>
          <a:p>
            <a:pPr>
              <a:spcBef>
                <a:spcPct val="0"/>
              </a:spcBef>
              <a:buFontTx/>
              <a:buNone/>
            </a:pPr>
            <a:r>
              <a:rPr lang="en-US" altLang="en-US" sz="1800" b="1">
                <a:solidFill>
                  <a:srgbClr val="000000"/>
                </a:solidFill>
                <a:latin typeface="Courier New" panose="02070309020205020404" pitchFamily="49" charset="0"/>
              </a:rPr>
              <a:t> ---------------------------- -------- -----</a:t>
            </a:r>
          </a:p>
          <a:p>
            <a:pPr>
              <a:spcBef>
                <a:spcPct val="0"/>
              </a:spcBef>
              <a:buFontTx/>
              <a:buNone/>
            </a:pPr>
            <a:r>
              <a:rPr lang="en-US" altLang="en-US" sz="1800" b="1">
                <a:solidFill>
                  <a:srgbClr val="000000"/>
                </a:solidFill>
                <a:latin typeface="Courier New" panose="02070309020205020404" pitchFamily="49" charset="0"/>
              </a:rPr>
              <a:t> EMPNO                        NOT NULL NUMBER(4)</a:t>
            </a:r>
          </a:p>
          <a:p>
            <a:pPr>
              <a:spcBef>
                <a:spcPct val="0"/>
              </a:spcBef>
              <a:buFontTx/>
              <a:buNone/>
            </a:pPr>
            <a:r>
              <a:rPr lang="en-US" altLang="en-US" sz="1800" b="1">
                <a:solidFill>
                  <a:srgbClr val="000000"/>
                </a:solidFill>
                <a:latin typeface="Courier New" panose="02070309020205020404" pitchFamily="49" charset="0"/>
              </a:rPr>
              <a:t> ENAME                                 VARCHAR2(10)</a:t>
            </a:r>
          </a:p>
          <a:p>
            <a:pPr>
              <a:spcBef>
                <a:spcPct val="0"/>
              </a:spcBef>
              <a:buFontTx/>
              <a:buNone/>
            </a:pPr>
            <a:r>
              <a:rPr lang="en-US" altLang="en-US" sz="1800" b="1">
                <a:solidFill>
                  <a:srgbClr val="000000"/>
                </a:solidFill>
                <a:latin typeface="Courier New" panose="02070309020205020404" pitchFamily="49" charset="0"/>
              </a:rPr>
              <a:t> ANNSAL                                NUMBER</a:t>
            </a:r>
          </a:p>
          <a:p>
            <a:pPr>
              <a:spcBef>
                <a:spcPct val="0"/>
              </a:spcBef>
              <a:buFontTx/>
              <a:buNone/>
            </a:pPr>
            <a:r>
              <a:rPr lang="en-US" altLang="en-US" sz="1800" b="1">
                <a:solidFill>
                  <a:srgbClr val="000000"/>
                </a:solidFill>
                <a:latin typeface="Courier New" panose="02070309020205020404" pitchFamily="49" charset="0"/>
              </a:rPr>
              <a:t> HIREDATE                              DATE</a:t>
            </a:r>
          </a:p>
        </p:txBody>
      </p:sp>
      <p:sp>
        <p:nvSpPr>
          <p:cNvPr id="61446" name="Rectangle 6">
            <a:extLst>
              <a:ext uri="{FF2B5EF4-FFF2-40B4-BE49-F238E27FC236}">
                <a16:creationId xmlns:a16="http://schemas.microsoft.com/office/drawing/2014/main" id="{CE6C6C6C-027C-203A-D136-FCF6E167527D}"/>
              </a:ext>
            </a:extLst>
          </p:cNvPr>
          <p:cNvSpPr>
            <a:spLocks noChangeArrowheads="1"/>
          </p:cNvSpPr>
          <p:nvPr/>
        </p:nvSpPr>
        <p:spPr bwMode="blackWhite">
          <a:xfrm>
            <a:off x="1038225" y="3668713"/>
            <a:ext cx="722788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DESCRIBE dept30</a:t>
            </a:r>
          </a:p>
        </p:txBody>
      </p:sp>
      <p:sp>
        <p:nvSpPr>
          <p:cNvPr id="61447" name="Rectangle 7">
            <a:extLst>
              <a:ext uri="{FF2B5EF4-FFF2-40B4-BE49-F238E27FC236}">
                <a16:creationId xmlns:a16="http://schemas.microsoft.com/office/drawing/2014/main" id="{DE1A74E6-645D-ECFA-B499-6CE5DCEC28E8}"/>
              </a:ext>
            </a:extLst>
          </p:cNvPr>
          <p:cNvSpPr>
            <a:spLocks noChangeArrowheads="1"/>
          </p:cNvSpPr>
          <p:nvPr/>
        </p:nvSpPr>
        <p:spPr bwMode="auto">
          <a:xfrm>
            <a:off x="1905000" y="2278063"/>
            <a:ext cx="6457950" cy="846137"/>
          </a:xfrm>
          <a:prstGeom prst="rect">
            <a:avLst/>
          </a:prstGeom>
          <a:gradFill rotWithShape="0">
            <a:gsLst>
              <a:gs pos="0">
                <a:srgbClr val="FF9966"/>
              </a:gs>
              <a:gs pos="100000">
                <a:srgbClr val="FF996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07560" name="Rectangle 8">
            <a:extLst>
              <a:ext uri="{FF2B5EF4-FFF2-40B4-BE49-F238E27FC236}">
                <a16:creationId xmlns:a16="http://schemas.microsoft.com/office/drawing/2014/main" id="{C4E4BC84-5F8A-D558-EED0-B916CF6AB085}"/>
              </a:ext>
            </a:extLst>
          </p:cNvPr>
          <p:cNvSpPr>
            <a:spLocks noChangeArrowheads="1"/>
          </p:cNvSpPr>
          <p:nvPr/>
        </p:nvSpPr>
        <p:spPr bwMode="blackWhite">
          <a:xfrm>
            <a:off x="922338" y="1687513"/>
            <a:ext cx="6805612" cy="1765300"/>
          </a:xfrm>
          <a:prstGeom prst="rect">
            <a:avLst/>
          </a:prstGeom>
          <a:noFill/>
          <a:ln w="9525">
            <a:noFill/>
            <a:miter lim="800000"/>
            <a:headEnd/>
            <a:tailEnd/>
          </a:ln>
          <a:effectLst/>
        </p:spPr>
        <p:txBody>
          <a:bodyPr wrap="none" lIns="92075" tIns="46038" rIns="92075" bIns="46038" anchor="ctr"/>
          <a:lstStyle/>
          <a:p>
            <a:pPr>
              <a:tabLst>
                <a:tab pos="692150" algn="l"/>
                <a:tab pos="971550" algn="l"/>
              </a:tabLst>
              <a:defRPr/>
            </a:pPr>
            <a:r>
              <a:rPr lang="en-US" sz="1800" b="1">
                <a:solidFill>
                  <a:srgbClr val="000000"/>
                </a:solidFill>
                <a:latin typeface="Courier New" pitchFamily="49" charset="0"/>
              </a:rPr>
              <a:t>SQL&gt; CREATE TABLE 	dept30</a:t>
            </a:r>
          </a:p>
          <a:p>
            <a:pPr>
              <a:tabLst>
                <a:tab pos="692150" algn="l"/>
                <a:tab pos="971550" algn="l"/>
              </a:tabLst>
              <a:defRPr/>
            </a:pPr>
            <a:r>
              <a:rPr lang="en-US" sz="1800" b="1">
                <a:solidFill>
                  <a:srgbClr val="000000"/>
                </a:solidFill>
                <a:latin typeface="Courier New" pitchFamily="49" charset="0"/>
              </a:rPr>
              <a:t>  2	AS </a:t>
            </a:r>
            <a:br>
              <a:rPr lang="en-US" sz="1800" b="1">
                <a:solidFill>
                  <a:srgbClr val="000000"/>
                </a:solidFill>
                <a:latin typeface="Courier New" pitchFamily="49" charset="0"/>
              </a:rPr>
            </a:br>
            <a:r>
              <a:rPr lang="en-US" sz="1800" b="1">
                <a:solidFill>
                  <a:srgbClr val="000000"/>
                </a:solidFill>
                <a:latin typeface="Courier New" pitchFamily="49" charset="0"/>
              </a:rPr>
              <a:t>  3		SELECT	   empno, ename, sal*12 ANNSAL, hiredate</a:t>
            </a:r>
            <a:br>
              <a:rPr lang="en-US" sz="1800" b="1">
                <a:solidFill>
                  <a:srgbClr val="000000"/>
                </a:solidFill>
                <a:latin typeface="Courier New" pitchFamily="49" charset="0"/>
              </a:rPr>
            </a:br>
            <a:r>
              <a:rPr lang="en-US" sz="1800" b="1">
                <a:solidFill>
                  <a:srgbClr val="000000"/>
                </a:solidFill>
                <a:latin typeface="Courier New" pitchFamily="49" charset="0"/>
              </a:rPr>
              <a:t>  4		FROM	   emp</a:t>
            </a:r>
            <a:br>
              <a:rPr lang="en-US" sz="1800" b="1">
                <a:solidFill>
                  <a:srgbClr val="000000"/>
                </a:solidFill>
                <a:latin typeface="Courier New" pitchFamily="49" charset="0"/>
              </a:rPr>
            </a:br>
            <a:r>
              <a:rPr lang="en-US" sz="1800" b="1">
                <a:solidFill>
                  <a:srgbClr val="000000"/>
                </a:solidFill>
                <a:latin typeface="Courier New" pitchFamily="49" charset="0"/>
              </a:rPr>
              <a:t>  5		WHERE	   deptno = 30;</a:t>
            </a:r>
          </a:p>
          <a:p>
            <a:pPr>
              <a:tabLst>
                <a:tab pos="692150" algn="l"/>
                <a:tab pos="971550" algn="l"/>
              </a:tabLst>
              <a:defRPr/>
            </a:pPr>
            <a:r>
              <a:rPr lang="en-US" sz="1800" b="1">
                <a:solidFill>
                  <a:srgbClr val="FF3300"/>
                </a:solidFill>
                <a:effectLst>
                  <a:outerShdw blurRad="38100" dist="38100" dir="2700000" algn="tl">
                    <a:srgbClr val="000000"/>
                  </a:outerShdw>
                </a:effectLst>
                <a:latin typeface="Courier New" pitchFamily="49" charset="0"/>
              </a:rPr>
              <a:t>Table created.</a:t>
            </a: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91C2786A-615A-D941-DE6F-0E997898B7C5}"/>
              </a:ext>
            </a:extLst>
          </p:cNvPr>
          <p:cNvSpPr>
            <a:spLocks noGrp="1" noChangeArrowheads="1"/>
          </p:cNvSpPr>
          <p:nvPr>
            <p:ph type="title"/>
          </p:nvPr>
        </p:nvSpPr>
        <p:spPr>
          <a:xfrm>
            <a:off x="323850" y="549275"/>
            <a:ext cx="7127875" cy="576263"/>
          </a:xfrm>
          <a:noFill/>
        </p:spPr>
        <p:txBody>
          <a:bodyPr lIns="92075" tIns="46038" rIns="92075" bIns="46038" anchor="t"/>
          <a:lstStyle/>
          <a:p>
            <a:r>
              <a:rPr lang="en-US" altLang="en-US" sz="2800">
                <a:solidFill>
                  <a:srgbClr val="800000"/>
                </a:solidFill>
              </a:rPr>
              <a:t>Creating a Small Database (Exercise)</a:t>
            </a:r>
          </a:p>
        </p:txBody>
      </p:sp>
      <p:graphicFrame>
        <p:nvGraphicFramePr>
          <p:cNvPr id="4" name="Table 3">
            <a:extLst>
              <a:ext uri="{FF2B5EF4-FFF2-40B4-BE49-F238E27FC236}">
                <a16:creationId xmlns:a16="http://schemas.microsoft.com/office/drawing/2014/main" id="{229FB222-0711-7B79-CC2A-A774F1FE1B54}"/>
              </a:ext>
            </a:extLst>
          </p:cNvPr>
          <p:cNvGraphicFramePr>
            <a:graphicFrameLocks noGrp="1"/>
          </p:cNvGraphicFramePr>
          <p:nvPr/>
        </p:nvGraphicFramePr>
        <p:xfrm>
          <a:off x="2051050" y="1412875"/>
          <a:ext cx="4681538" cy="1646238"/>
        </p:xfrm>
        <a:graphic>
          <a:graphicData uri="http://schemas.openxmlformats.org/drawingml/2006/table">
            <a:tbl>
              <a:tblPr/>
              <a:tblGrid>
                <a:gridCol w="1554818">
                  <a:extLst>
                    <a:ext uri="{9D8B030D-6E8A-4147-A177-3AD203B41FA5}">
                      <a16:colId xmlns:a16="http://schemas.microsoft.com/office/drawing/2014/main" val="20000"/>
                    </a:ext>
                  </a:extLst>
                </a:gridCol>
                <a:gridCol w="3126720">
                  <a:extLst>
                    <a:ext uri="{9D8B030D-6E8A-4147-A177-3AD203B41FA5}">
                      <a16:colId xmlns:a16="http://schemas.microsoft.com/office/drawing/2014/main" val="20001"/>
                    </a:ext>
                  </a:extLst>
                </a:gridCol>
              </a:tblGrid>
              <a:tr h="274373">
                <a:tc gridSpan="2">
                  <a:txBody>
                    <a:bodyPr/>
                    <a:lstStyle/>
                    <a:p>
                      <a:pPr marL="0" marR="0" algn="ctr">
                        <a:spcBef>
                          <a:spcPts val="0"/>
                        </a:spcBef>
                        <a:spcAft>
                          <a:spcPts val="0"/>
                        </a:spcAft>
                      </a:pPr>
                      <a:r>
                        <a:rPr lang="en-US" sz="1800" b="1" dirty="0">
                          <a:solidFill>
                            <a:srgbClr val="FF0000"/>
                          </a:solidFill>
                          <a:effectLst/>
                          <a:latin typeface="Times New Roman"/>
                          <a:ea typeface="Times New Roman"/>
                          <a:cs typeface="Times New Roman"/>
                        </a:rPr>
                        <a:t>Table Name: Student</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spcBef>
                          <a:spcPts val="0"/>
                        </a:spcBef>
                        <a:spcAft>
                          <a:spcPts val="0"/>
                        </a:spcAft>
                      </a:pPr>
                      <a:endParaRPr lang="en-US" sz="1800" dirty="0">
                        <a:effectLst/>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4373">
                <a:tc>
                  <a:txBody>
                    <a:bodyPr/>
                    <a:lstStyle/>
                    <a:p>
                      <a:pPr marL="0" marR="0">
                        <a:spcBef>
                          <a:spcPts val="0"/>
                        </a:spcBef>
                        <a:spcAft>
                          <a:spcPts val="0"/>
                        </a:spcAft>
                      </a:pPr>
                      <a:r>
                        <a:rPr lang="en-US" sz="1800" b="1" dirty="0">
                          <a:effectLst/>
                          <a:latin typeface="Times New Roman"/>
                          <a:ea typeface="Times New Roman"/>
                          <a:cs typeface="Times New Roman"/>
                        </a:rPr>
                        <a:t>Col Name</a:t>
                      </a:r>
                      <a:endParaRPr lang="en-US" sz="1800" dirty="0">
                        <a:effectLst/>
                        <a:latin typeface="Times New Roman"/>
                        <a:ea typeface="Times New Roman"/>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b="1" dirty="0">
                          <a:effectLst/>
                          <a:latin typeface="Times New Roman"/>
                          <a:ea typeface="Times New Roman"/>
                          <a:cs typeface="Times New Roman"/>
                        </a:rPr>
                        <a:t>Constraints</a:t>
                      </a:r>
                      <a:endParaRPr lang="en-US" sz="1800" dirty="0">
                        <a:effectLst/>
                        <a:latin typeface="Times New Roman"/>
                        <a:ea typeface="Times New Roman"/>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4373">
                <a:tc>
                  <a:txBody>
                    <a:bodyPr/>
                    <a:lstStyle/>
                    <a:p>
                      <a:pPr marL="0" marR="0">
                        <a:spcBef>
                          <a:spcPts val="0"/>
                        </a:spcBef>
                        <a:spcAft>
                          <a:spcPts val="0"/>
                        </a:spcAft>
                      </a:pPr>
                      <a:r>
                        <a:rPr lang="en-US" sz="1800" dirty="0" err="1">
                          <a:effectLst/>
                          <a:latin typeface="Times New Roman"/>
                          <a:ea typeface="Times New Roman"/>
                          <a:cs typeface="Times New Roman"/>
                        </a:rPr>
                        <a:t>RegNo</a:t>
                      </a:r>
                      <a:endParaRPr lang="en-US" sz="1800" dirty="0">
                        <a:effectLst/>
                        <a:latin typeface="Times New Roman"/>
                        <a:ea typeface="Times New Roman"/>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Times New Roman"/>
                          <a:ea typeface="Times New Roman"/>
                          <a:cs typeface="Times New Roman"/>
                        </a:rPr>
                        <a:t>Primary Key</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4373">
                <a:tc>
                  <a:txBody>
                    <a:bodyPr/>
                    <a:lstStyle/>
                    <a:p>
                      <a:pPr marL="0" marR="0">
                        <a:spcBef>
                          <a:spcPts val="0"/>
                        </a:spcBef>
                        <a:spcAft>
                          <a:spcPts val="0"/>
                        </a:spcAft>
                      </a:pPr>
                      <a:r>
                        <a:rPr lang="en-US" sz="1800">
                          <a:effectLst/>
                          <a:latin typeface="Times New Roman"/>
                          <a:ea typeface="Times New Roman"/>
                          <a:cs typeface="Times New Roman"/>
                        </a:rPr>
                        <a:t>SName</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Times New Roman"/>
                          <a:ea typeface="Times New Roman"/>
                          <a:cs typeface="Times New Roman"/>
                        </a:rPr>
                        <a:t>Not Null</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74373">
                <a:tc>
                  <a:txBody>
                    <a:bodyPr/>
                    <a:lstStyle/>
                    <a:p>
                      <a:pPr marL="0" marR="0">
                        <a:spcBef>
                          <a:spcPts val="0"/>
                        </a:spcBef>
                        <a:spcAft>
                          <a:spcPts val="0"/>
                        </a:spcAft>
                      </a:pPr>
                      <a:r>
                        <a:rPr lang="en-US" sz="1800" dirty="0">
                          <a:effectLst/>
                          <a:latin typeface="Times New Roman"/>
                          <a:ea typeface="Times New Roman"/>
                          <a:cs typeface="Times New Roman"/>
                        </a:rPr>
                        <a:t>Program </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Times New Roman"/>
                          <a:ea typeface="Times New Roman"/>
                          <a:cs typeface="Times New Roman"/>
                        </a:rPr>
                        <a:t>Can be ‘BS’, ‘BBA’, or ‘BA’</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74373">
                <a:tc>
                  <a:txBody>
                    <a:bodyPr/>
                    <a:lstStyle/>
                    <a:p>
                      <a:pPr marL="0" marR="0">
                        <a:spcBef>
                          <a:spcPts val="0"/>
                        </a:spcBef>
                        <a:spcAft>
                          <a:spcPts val="0"/>
                        </a:spcAft>
                      </a:pPr>
                      <a:r>
                        <a:rPr lang="en-US" sz="1800">
                          <a:effectLst/>
                          <a:latin typeface="Times New Roman"/>
                          <a:ea typeface="Times New Roman"/>
                          <a:cs typeface="Times New Roman"/>
                        </a:rPr>
                        <a:t>NIC</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Times New Roman"/>
                          <a:ea typeface="Times New Roman"/>
                          <a:cs typeface="Times New Roman"/>
                        </a:rPr>
                        <a:t>Unique</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7" name="Table 6">
            <a:extLst>
              <a:ext uri="{FF2B5EF4-FFF2-40B4-BE49-F238E27FC236}">
                <a16:creationId xmlns:a16="http://schemas.microsoft.com/office/drawing/2014/main" id="{1A5BF713-09C0-FB8B-E994-394B45F62900}"/>
              </a:ext>
            </a:extLst>
          </p:cNvPr>
          <p:cNvGraphicFramePr>
            <a:graphicFrameLocks noGrp="1"/>
          </p:cNvGraphicFramePr>
          <p:nvPr/>
        </p:nvGraphicFramePr>
        <p:xfrm>
          <a:off x="2051050" y="3284538"/>
          <a:ext cx="4681538" cy="1371600"/>
        </p:xfrm>
        <a:graphic>
          <a:graphicData uri="http://schemas.openxmlformats.org/drawingml/2006/table">
            <a:tbl>
              <a:tblPr/>
              <a:tblGrid>
                <a:gridCol w="1554818">
                  <a:extLst>
                    <a:ext uri="{9D8B030D-6E8A-4147-A177-3AD203B41FA5}">
                      <a16:colId xmlns:a16="http://schemas.microsoft.com/office/drawing/2014/main" val="20000"/>
                    </a:ext>
                  </a:extLst>
                </a:gridCol>
                <a:gridCol w="3126720">
                  <a:extLst>
                    <a:ext uri="{9D8B030D-6E8A-4147-A177-3AD203B41FA5}">
                      <a16:colId xmlns:a16="http://schemas.microsoft.com/office/drawing/2014/main" val="20001"/>
                    </a:ext>
                  </a:extLst>
                </a:gridCol>
              </a:tblGrid>
              <a:tr h="0">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FF0000"/>
                          </a:solidFill>
                          <a:effectLst/>
                          <a:latin typeface="Times New Roman"/>
                          <a:ea typeface="Times New Roman"/>
                          <a:cs typeface="Times New Roman"/>
                        </a:rPr>
                        <a:t>Table Name: Course</a:t>
                      </a:r>
                      <a:endParaRPr lang="en-US" sz="1800" dirty="0">
                        <a:effectLst/>
                        <a:latin typeface="Times New Roman"/>
                        <a:ea typeface="Times New Roman"/>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spcBef>
                          <a:spcPts val="0"/>
                        </a:spcBef>
                        <a:spcAft>
                          <a:spcPts val="0"/>
                        </a:spcAft>
                      </a:pPr>
                      <a:endParaRPr lang="en-US" sz="1800" dirty="0">
                        <a:effectLst/>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marR="0">
                        <a:spcBef>
                          <a:spcPts val="0"/>
                        </a:spcBef>
                        <a:spcAft>
                          <a:spcPts val="0"/>
                        </a:spcAft>
                      </a:pPr>
                      <a:r>
                        <a:rPr lang="en-US" sz="1800" b="1" dirty="0">
                          <a:effectLst/>
                          <a:latin typeface="Times New Roman"/>
                          <a:ea typeface="Times New Roman"/>
                          <a:cs typeface="Times New Roman"/>
                        </a:rPr>
                        <a:t>Col Name</a:t>
                      </a:r>
                      <a:endParaRPr lang="en-US" sz="1800" dirty="0">
                        <a:effectLst/>
                        <a:latin typeface="Times New Roman"/>
                        <a:ea typeface="Times New Roman"/>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b="1" dirty="0">
                          <a:effectLst/>
                          <a:latin typeface="Times New Roman"/>
                          <a:ea typeface="Times New Roman"/>
                          <a:cs typeface="Times New Roman"/>
                        </a:rPr>
                        <a:t>Constraints</a:t>
                      </a:r>
                      <a:endParaRPr lang="en-US" sz="1800" dirty="0">
                        <a:effectLst/>
                        <a:latin typeface="Times New Roman"/>
                        <a:ea typeface="Times New Roman"/>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spcBef>
                          <a:spcPts val="0"/>
                        </a:spcBef>
                        <a:spcAft>
                          <a:spcPts val="0"/>
                        </a:spcAft>
                      </a:pPr>
                      <a:r>
                        <a:rPr lang="en-US" sz="1800">
                          <a:effectLst/>
                          <a:latin typeface="Times New Roman"/>
                          <a:ea typeface="Times New Roman"/>
                          <a:cs typeface="Times New Roman"/>
                        </a:rPr>
                        <a:t>CourseCode</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Times New Roman"/>
                          <a:ea typeface="Times New Roman"/>
                          <a:cs typeface="Times New Roman"/>
                        </a:rPr>
                        <a:t>Primary Key</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spcBef>
                          <a:spcPts val="0"/>
                        </a:spcBef>
                        <a:spcAft>
                          <a:spcPts val="0"/>
                        </a:spcAft>
                      </a:pPr>
                      <a:r>
                        <a:rPr lang="en-US" sz="1800" dirty="0" err="1">
                          <a:effectLst/>
                          <a:latin typeface="Times New Roman"/>
                          <a:ea typeface="Times New Roman"/>
                          <a:cs typeface="Times New Roman"/>
                        </a:rPr>
                        <a:t>CourseTitle</a:t>
                      </a:r>
                      <a:endParaRPr lang="en-US" sz="1800" dirty="0">
                        <a:effectLst/>
                        <a:latin typeface="Times New Roman"/>
                        <a:ea typeface="Times New Roman"/>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Times New Roman"/>
                          <a:ea typeface="Times New Roman"/>
                          <a:cs typeface="Times New Roman"/>
                        </a:rPr>
                        <a:t>Not Null</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marR="0">
                        <a:spcBef>
                          <a:spcPts val="0"/>
                        </a:spcBef>
                        <a:spcAft>
                          <a:spcPts val="0"/>
                        </a:spcAft>
                      </a:pPr>
                      <a:r>
                        <a:rPr lang="en-US" sz="1800">
                          <a:effectLst/>
                          <a:latin typeface="Times New Roman"/>
                          <a:ea typeface="Times New Roman"/>
                          <a:cs typeface="Times New Roman"/>
                        </a:rPr>
                        <a:t>CreditHours</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Times New Roman"/>
                          <a:ea typeface="Times New Roman"/>
                          <a:cs typeface="Times New Roman"/>
                        </a:rPr>
                        <a:t>Can be either 3 or 4</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8" name="Table 7">
            <a:extLst>
              <a:ext uri="{FF2B5EF4-FFF2-40B4-BE49-F238E27FC236}">
                <a16:creationId xmlns:a16="http://schemas.microsoft.com/office/drawing/2014/main" id="{41490E3B-A791-9E90-7E84-43B91570AF2F}"/>
              </a:ext>
            </a:extLst>
          </p:cNvPr>
          <p:cNvGraphicFramePr>
            <a:graphicFrameLocks noGrp="1"/>
          </p:cNvGraphicFramePr>
          <p:nvPr/>
        </p:nvGraphicFramePr>
        <p:xfrm>
          <a:off x="2051050" y="4868863"/>
          <a:ext cx="4681538" cy="1371600"/>
        </p:xfrm>
        <a:graphic>
          <a:graphicData uri="http://schemas.openxmlformats.org/drawingml/2006/table">
            <a:tbl>
              <a:tblPr/>
              <a:tblGrid>
                <a:gridCol w="1554818">
                  <a:extLst>
                    <a:ext uri="{9D8B030D-6E8A-4147-A177-3AD203B41FA5}">
                      <a16:colId xmlns:a16="http://schemas.microsoft.com/office/drawing/2014/main" val="20000"/>
                    </a:ext>
                  </a:extLst>
                </a:gridCol>
                <a:gridCol w="3126720">
                  <a:extLst>
                    <a:ext uri="{9D8B030D-6E8A-4147-A177-3AD203B41FA5}">
                      <a16:colId xmlns:a16="http://schemas.microsoft.com/office/drawing/2014/main" val="20001"/>
                    </a:ext>
                  </a:extLst>
                </a:gridCol>
              </a:tblGrid>
              <a:tr h="0">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FF0000"/>
                          </a:solidFill>
                          <a:effectLst/>
                          <a:latin typeface="Times New Roman"/>
                          <a:ea typeface="Times New Roman"/>
                          <a:cs typeface="Times New Roman"/>
                        </a:rPr>
                        <a:t>Table Name: Result</a:t>
                      </a:r>
                      <a:endParaRPr lang="en-US" sz="1800" dirty="0">
                        <a:effectLst/>
                        <a:latin typeface="Times New Roman"/>
                        <a:ea typeface="Times New Roman"/>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spcBef>
                          <a:spcPts val="0"/>
                        </a:spcBef>
                        <a:spcAft>
                          <a:spcPts val="0"/>
                        </a:spcAft>
                      </a:pPr>
                      <a:endParaRPr lang="en-US" sz="1800" dirty="0">
                        <a:effectLst/>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marR="0">
                        <a:spcBef>
                          <a:spcPts val="0"/>
                        </a:spcBef>
                        <a:spcAft>
                          <a:spcPts val="0"/>
                        </a:spcAft>
                      </a:pPr>
                      <a:r>
                        <a:rPr lang="en-US" sz="1800" b="1" dirty="0">
                          <a:effectLst/>
                          <a:latin typeface="Times New Roman"/>
                          <a:ea typeface="Times New Roman"/>
                          <a:cs typeface="Times New Roman"/>
                        </a:rPr>
                        <a:t>Col Name</a:t>
                      </a:r>
                      <a:endParaRPr lang="en-US" sz="1800" dirty="0">
                        <a:effectLst/>
                        <a:latin typeface="Times New Roman"/>
                        <a:ea typeface="Times New Roman"/>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b="1" dirty="0">
                          <a:effectLst/>
                          <a:latin typeface="Times New Roman"/>
                          <a:ea typeface="Times New Roman"/>
                          <a:cs typeface="Times New Roman"/>
                        </a:rPr>
                        <a:t>Constraints</a:t>
                      </a:r>
                      <a:endParaRPr lang="en-US" sz="1800" dirty="0">
                        <a:effectLst/>
                        <a:latin typeface="Times New Roman"/>
                        <a:ea typeface="Times New Roman"/>
                        <a:cs typeface="Times New Roman"/>
                      </a:endParaRP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spcBef>
                          <a:spcPts val="0"/>
                        </a:spcBef>
                        <a:spcAft>
                          <a:spcPts val="0"/>
                        </a:spcAft>
                      </a:pPr>
                      <a:r>
                        <a:rPr lang="en-US" sz="1800">
                          <a:effectLst/>
                          <a:latin typeface="Times New Roman"/>
                          <a:ea typeface="Times New Roman"/>
                          <a:cs typeface="Times New Roman"/>
                        </a:rPr>
                        <a:t>RegNo</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Times New Roman"/>
                          <a:ea typeface="Times New Roman"/>
                          <a:cs typeface="Times New Roman"/>
                        </a:rPr>
                        <a:t>Primary Key, Foreign Key</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spcBef>
                          <a:spcPts val="0"/>
                        </a:spcBef>
                        <a:spcAft>
                          <a:spcPts val="0"/>
                        </a:spcAft>
                      </a:pPr>
                      <a:r>
                        <a:rPr lang="en-US" sz="1800">
                          <a:effectLst/>
                          <a:latin typeface="Times New Roman"/>
                          <a:ea typeface="Times New Roman"/>
                          <a:cs typeface="Times New Roman"/>
                        </a:rPr>
                        <a:t>CourseCode</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Times New Roman"/>
                          <a:ea typeface="Times New Roman"/>
                          <a:cs typeface="Times New Roman"/>
                        </a:rPr>
                        <a:t>Primary Key, Foreign Key</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marR="0">
                        <a:spcBef>
                          <a:spcPts val="0"/>
                        </a:spcBef>
                        <a:spcAft>
                          <a:spcPts val="0"/>
                        </a:spcAft>
                      </a:pPr>
                      <a:r>
                        <a:rPr lang="en-US" sz="1800">
                          <a:effectLst/>
                          <a:latin typeface="Times New Roman"/>
                          <a:ea typeface="Times New Roman"/>
                          <a:cs typeface="Times New Roman"/>
                        </a:rPr>
                        <a:t>CourseMarks</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Times New Roman"/>
                          <a:ea typeface="Times New Roman"/>
                          <a:cs typeface="Times New Roman"/>
                        </a:rPr>
                        <a:t>Between 0 and 100</a:t>
                      </a:r>
                    </a:p>
                  </a:txBody>
                  <a:tcPr marL="68595" marR="685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28A250E8-4FFF-BE1B-C5CF-84DE1C5F9F15}"/>
              </a:ext>
            </a:extLst>
          </p:cNvPr>
          <p:cNvSpPr>
            <a:spLocks noGrp="1" noChangeArrowheads="1"/>
          </p:cNvSpPr>
          <p:nvPr>
            <p:ph type="title"/>
          </p:nvPr>
        </p:nvSpPr>
        <p:spPr>
          <a:xfrm>
            <a:off x="323850" y="588963"/>
            <a:ext cx="5002213" cy="536575"/>
          </a:xfrm>
          <a:noFill/>
        </p:spPr>
        <p:txBody>
          <a:bodyPr lIns="92075" tIns="46038" rIns="92075" bIns="46038" anchor="t"/>
          <a:lstStyle/>
          <a:p>
            <a:r>
              <a:rPr lang="en-US" altLang="en-US" sz="2800">
                <a:solidFill>
                  <a:srgbClr val="800000"/>
                </a:solidFill>
              </a:rPr>
              <a:t>The ALTER TABLE Statement</a:t>
            </a:r>
          </a:p>
        </p:txBody>
      </p:sp>
      <p:sp>
        <p:nvSpPr>
          <p:cNvPr id="65539" name="Rectangle 3">
            <a:extLst>
              <a:ext uri="{FF2B5EF4-FFF2-40B4-BE49-F238E27FC236}">
                <a16:creationId xmlns:a16="http://schemas.microsoft.com/office/drawing/2014/main" id="{4762F0B5-D20E-BEFB-C52F-6E1171494F17}"/>
              </a:ext>
            </a:extLst>
          </p:cNvPr>
          <p:cNvSpPr>
            <a:spLocks noGrp="1" noChangeArrowheads="1"/>
          </p:cNvSpPr>
          <p:nvPr>
            <p:ph type="body" idx="1"/>
          </p:nvPr>
        </p:nvSpPr>
        <p:spPr>
          <a:xfrm>
            <a:off x="500063" y="1214438"/>
            <a:ext cx="7594600" cy="2678112"/>
          </a:xfrm>
          <a:noFill/>
        </p:spPr>
        <p:txBody>
          <a:bodyPr lIns="92075" tIns="46038" rIns="92075" bIns="46038">
            <a:spAutoFit/>
          </a:bodyPr>
          <a:lstStyle/>
          <a:p>
            <a:pPr lvl="1"/>
            <a:r>
              <a:rPr lang="en-US" altLang="en-US"/>
              <a:t>Add a new column</a:t>
            </a:r>
          </a:p>
          <a:p>
            <a:pPr lvl="1"/>
            <a:r>
              <a:rPr lang="en-US" altLang="en-US"/>
              <a:t>Modify an existing column</a:t>
            </a:r>
          </a:p>
          <a:p>
            <a:pPr lvl="1"/>
            <a:r>
              <a:rPr lang="en-US" altLang="en-US"/>
              <a:t>Drop a column</a:t>
            </a:r>
          </a:p>
          <a:p>
            <a:pPr lvl="1"/>
            <a:r>
              <a:rPr lang="en-US" altLang="en-US"/>
              <a:t>Add or Drop a Constraint.</a:t>
            </a:r>
          </a:p>
          <a:p>
            <a:pPr lvl="1"/>
            <a:r>
              <a:rPr lang="en-US" altLang="en-US"/>
              <a:t>Disable or Enable a Constraint</a:t>
            </a:r>
          </a:p>
          <a:p>
            <a:pPr lvl="1"/>
            <a:r>
              <a:rPr lang="en-US" altLang="en-US"/>
              <a:t>Rename a column or table</a:t>
            </a:r>
          </a:p>
        </p:txBody>
      </p:sp>
      <p:sp>
        <p:nvSpPr>
          <p:cNvPr id="65540" name="Rectangle 4">
            <a:extLst>
              <a:ext uri="{FF2B5EF4-FFF2-40B4-BE49-F238E27FC236}">
                <a16:creationId xmlns:a16="http://schemas.microsoft.com/office/drawing/2014/main" id="{431F25C7-6431-5B62-9828-DA6F26095D21}"/>
              </a:ext>
            </a:extLst>
          </p:cNvPr>
          <p:cNvSpPr>
            <a:spLocks noChangeArrowheads="1"/>
          </p:cNvSpPr>
          <p:nvPr/>
        </p:nvSpPr>
        <p:spPr bwMode="blackWhite">
          <a:xfrm>
            <a:off x="896938" y="4006850"/>
            <a:ext cx="7527925" cy="9159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5541" name="Rectangle 5">
            <a:extLst>
              <a:ext uri="{FF2B5EF4-FFF2-40B4-BE49-F238E27FC236}">
                <a16:creationId xmlns:a16="http://schemas.microsoft.com/office/drawing/2014/main" id="{46327768-D5A5-3D53-73A3-7B4E8EF4B87F}"/>
              </a:ext>
            </a:extLst>
          </p:cNvPr>
          <p:cNvSpPr>
            <a:spLocks noChangeArrowheads="1"/>
          </p:cNvSpPr>
          <p:nvPr/>
        </p:nvSpPr>
        <p:spPr bwMode="blackWhite">
          <a:xfrm>
            <a:off x="904875" y="5227638"/>
            <a:ext cx="7519988"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5542" name="Rectangle 6">
            <a:extLst>
              <a:ext uri="{FF2B5EF4-FFF2-40B4-BE49-F238E27FC236}">
                <a16:creationId xmlns:a16="http://schemas.microsoft.com/office/drawing/2014/main" id="{76473BAC-AE02-C0CF-922D-5BFBA41E6153}"/>
              </a:ext>
            </a:extLst>
          </p:cNvPr>
          <p:cNvSpPr>
            <a:spLocks noChangeArrowheads="1"/>
          </p:cNvSpPr>
          <p:nvPr/>
        </p:nvSpPr>
        <p:spPr bwMode="blackWhite">
          <a:xfrm>
            <a:off x="931863" y="3994150"/>
            <a:ext cx="7300912"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ALTER TABLE </a:t>
            </a:r>
            <a:r>
              <a:rPr lang="en-US" altLang="en-US" sz="1800" b="1" i="1">
                <a:solidFill>
                  <a:srgbClr val="000000"/>
                </a:solidFill>
                <a:latin typeface="Courier New" panose="02070309020205020404" pitchFamily="49" charset="0"/>
              </a:rPr>
              <a:t>table</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ADD		   (</a:t>
            </a:r>
            <a:r>
              <a:rPr lang="en-US" altLang="en-US" sz="1800" b="1" i="1">
                <a:solidFill>
                  <a:srgbClr val="000000"/>
                </a:solidFill>
                <a:latin typeface="Courier New" panose="02070309020205020404" pitchFamily="49" charset="0"/>
              </a:rPr>
              <a:t>column datatype </a:t>
            </a:r>
            <a:r>
              <a:rPr lang="en-US" altLang="en-US" sz="1800" b="1">
                <a:solidFill>
                  <a:srgbClr val="000000"/>
                </a:solidFill>
                <a:latin typeface="Courier New" panose="02070309020205020404" pitchFamily="49" charset="0"/>
              </a:rPr>
              <a:t>[DEFAULT </a:t>
            </a:r>
            <a:r>
              <a:rPr lang="en-US" altLang="en-US" sz="1800" b="1" i="1">
                <a:solidFill>
                  <a:srgbClr val="000000"/>
                </a:solidFill>
                <a:latin typeface="Courier New" panose="02070309020205020404" pitchFamily="49" charset="0"/>
              </a:rPr>
              <a:t>expr</a:t>
            </a: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		   [, </a:t>
            </a:r>
            <a:r>
              <a:rPr lang="en-US" altLang="en-US" sz="1800" b="1" i="1">
                <a:solidFill>
                  <a:srgbClr val="000000"/>
                </a:solidFill>
                <a:latin typeface="Courier New" panose="02070309020205020404" pitchFamily="49" charset="0"/>
              </a:rPr>
              <a:t>column datatype</a:t>
            </a:r>
            <a:r>
              <a:rPr lang="en-US" altLang="en-US" sz="1800" b="1">
                <a:solidFill>
                  <a:srgbClr val="000000"/>
                </a:solidFill>
                <a:latin typeface="Courier New" panose="02070309020205020404" pitchFamily="49" charset="0"/>
              </a:rPr>
              <a:t>]...);</a:t>
            </a:r>
          </a:p>
        </p:txBody>
      </p:sp>
      <p:sp>
        <p:nvSpPr>
          <p:cNvPr id="65543" name="Rectangle 7">
            <a:extLst>
              <a:ext uri="{FF2B5EF4-FFF2-40B4-BE49-F238E27FC236}">
                <a16:creationId xmlns:a16="http://schemas.microsoft.com/office/drawing/2014/main" id="{5AFA3D12-179B-2589-76D7-1B640114A1F9}"/>
              </a:ext>
            </a:extLst>
          </p:cNvPr>
          <p:cNvSpPr>
            <a:spLocks noChangeArrowheads="1"/>
          </p:cNvSpPr>
          <p:nvPr/>
        </p:nvSpPr>
        <p:spPr bwMode="blackWhite">
          <a:xfrm>
            <a:off x="949325" y="5224463"/>
            <a:ext cx="7300913"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ALTER TABLE </a:t>
            </a:r>
            <a:r>
              <a:rPr lang="en-US" altLang="en-US" sz="1800" b="1" i="1">
                <a:solidFill>
                  <a:srgbClr val="000000"/>
                </a:solidFill>
                <a:latin typeface="Courier New" panose="02070309020205020404" pitchFamily="49" charset="0"/>
              </a:rPr>
              <a:t>table</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MODIFY	   (</a:t>
            </a:r>
            <a:r>
              <a:rPr lang="en-US" altLang="en-US" sz="1800" b="1" i="1">
                <a:solidFill>
                  <a:srgbClr val="000000"/>
                </a:solidFill>
                <a:latin typeface="Courier New" panose="02070309020205020404" pitchFamily="49" charset="0"/>
              </a:rPr>
              <a:t>column datatype </a:t>
            </a:r>
            <a:r>
              <a:rPr lang="en-US" altLang="en-US" sz="1800" b="1">
                <a:solidFill>
                  <a:srgbClr val="000000"/>
                </a:solidFill>
                <a:latin typeface="Courier New" panose="02070309020205020404" pitchFamily="49" charset="0"/>
              </a:rPr>
              <a:t>[DEFAULT </a:t>
            </a:r>
            <a:r>
              <a:rPr lang="en-US" altLang="en-US" sz="1800" b="1" i="1">
                <a:solidFill>
                  <a:srgbClr val="000000"/>
                </a:solidFill>
                <a:latin typeface="Courier New" panose="02070309020205020404" pitchFamily="49" charset="0"/>
              </a:rPr>
              <a:t>expr</a:t>
            </a: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		   [, </a:t>
            </a:r>
            <a:r>
              <a:rPr lang="en-US" altLang="en-US" sz="1800" b="1" i="1">
                <a:solidFill>
                  <a:srgbClr val="000000"/>
                </a:solidFill>
                <a:latin typeface="Courier New" panose="02070309020205020404" pitchFamily="49" charset="0"/>
              </a:rPr>
              <a:t>column datatype</a:t>
            </a:r>
            <a:r>
              <a:rPr lang="en-US" altLang="en-US" sz="1800" b="1">
                <a:solidFill>
                  <a:srgbClr val="000000"/>
                </a:solidFill>
                <a:latin typeface="Courier New" panose="02070309020205020404" pitchFamily="49" charset="0"/>
              </a:rPr>
              <a:t>]...);</a:t>
            </a: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447BFCA8-1BE1-2C47-91E7-1AAD16374E90}"/>
              </a:ext>
            </a:extLst>
          </p:cNvPr>
          <p:cNvSpPr>
            <a:spLocks noGrp="1" noChangeArrowheads="1"/>
          </p:cNvSpPr>
          <p:nvPr>
            <p:ph type="title"/>
          </p:nvPr>
        </p:nvSpPr>
        <p:spPr>
          <a:xfrm>
            <a:off x="323850" y="661988"/>
            <a:ext cx="3201988" cy="463550"/>
          </a:xfrm>
          <a:noFill/>
        </p:spPr>
        <p:txBody>
          <a:bodyPr lIns="92075" tIns="46038" rIns="92075" bIns="46038" anchor="t"/>
          <a:lstStyle/>
          <a:p>
            <a:r>
              <a:rPr lang="en-US" altLang="en-US" sz="2800">
                <a:solidFill>
                  <a:srgbClr val="800000"/>
                </a:solidFill>
              </a:rPr>
              <a:t>Adding a Column</a:t>
            </a:r>
          </a:p>
        </p:txBody>
      </p:sp>
      <p:sp>
        <p:nvSpPr>
          <p:cNvPr id="67587" name="Rectangle 3">
            <a:extLst>
              <a:ext uri="{FF2B5EF4-FFF2-40B4-BE49-F238E27FC236}">
                <a16:creationId xmlns:a16="http://schemas.microsoft.com/office/drawing/2014/main" id="{C68B2C1D-9480-7473-9580-976D147D25E2}"/>
              </a:ext>
            </a:extLst>
          </p:cNvPr>
          <p:cNvSpPr>
            <a:spLocks noChangeArrowheads="1"/>
          </p:cNvSpPr>
          <p:nvPr/>
        </p:nvSpPr>
        <p:spPr bwMode="blackWhite">
          <a:xfrm>
            <a:off x="684213" y="1612900"/>
            <a:ext cx="5332412" cy="19399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415748" name="Rectangle 4">
            <a:extLst>
              <a:ext uri="{FF2B5EF4-FFF2-40B4-BE49-F238E27FC236}">
                <a16:creationId xmlns:a16="http://schemas.microsoft.com/office/drawing/2014/main" id="{BB3B0D31-920D-607A-0126-FD7F5D9C2D1A}"/>
              </a:ext>
            </a:extLst>
          </p:cNvPr>
          <p:cNvSpPr>
            <a:spLocks noChangeArrowheads="1"/>
          </p:cNvSpPr>
          <p:nvPr/>
        </p:nvSpPr>
        <p:spPr bwMode="auto">
          <a:xfrm>
            <a:off x="596900" y="1249363"/>
            <a:ext cx="1144588"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DEPT30</a:t>
            </a:r>
          </a:p>
        </p:txBody>
      </p:sp>
      <p:sp>
        <p:nvSpPr>
          <p:cNvPr id="67589" name="Rectangle 5">
            <a:extLst>
              <a:ext uri="{FF2B5EF4-FFF2-40B4-BE49-F238E27FC236}">
                <a16:creationId xmlns:a16="http://schemas.microsoft.com/office/drawing/2014/main" id="{0196265E-A663-EFB7-4F8A-78DBEDB1ED27}"/>
              </a:ext>
            </a:extLst>
          </p:cNvPr>
          <p:cNvSpPr>
            <a:spLocks noChangeArrowheads="1"/>
          </p:cNvSpPr>
          <p:nvPr/>
        </p:nvSpPr>
        <p:spPr bwMode="blackWhite">
          <a:xfrm>
            <a:off x="720725" y="1644650"/>
            <a:ext cx="5508625"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 pos="38862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8862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ANNSAL	 HIREDATE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7698	BLAKE	   	   34200	01-MAY-81</a:t>
            </a:r>
          </a:p>
          <a:p>
            <a:pPr>
              <a:lnSpc>
                <a:spcPct val="95000"/>
              </a:lnSpc>
              <a:spcBef>
                <a:spcPct val="0"/>
              </a:spcBef>
              <a:buFontTx/>
              <a:buNone/>
            </a:pPr>
            <a:r>
              <a:rPr lang="en-US" altLang="en-US" sz="1800" b="1">
                <a:solidFill>
                  <a:srgbClr val="000000"/>
                </a:solidFill>
                <a:latin typeface="Courier New" panose="02070309020205020404" pitchFamily="49" charset="0"/>
              </a:rPr>
              <a:t>  7654	MARTIN	   	   15000	28-SEP-81</a:t>
            </a:r>
          </a:p>
          <a:p>
            <a:pPr>
              <a:lnSpc>
                <a:spcPct val="95000"/>
              </a:lnSpc>
              <a:spcBef>
                <a:spcPct val="0"/>
              </a:spcBef>
              <a:buFontTx/>
              <a:buNone/>
            </a:pPr>
            <a:r>
              <a:rPr lang="en-US" altLang="en-US" sz="1800" b="1">
                <a:solidFill>
                  <a:srgbClr val="000000"/>
                </a:solidFill>
                <a:latin typeface="Courier New" panose="02070309020205020404" pitchFamily="49" charset="0"/>
              </a:rPr>
              <a:t>  7499	ALLEN		   19200	20-FEB-81</a:t>
            </a:r>
          </a:p>
          <a:p>
            <a:pPr>
              <a:lnSpc>
                <a:spcPct val="95000"/>
              </a:lnSpc>
              <a:spcBef>
                <a:spcPct val="0"/>
              </a:spcBef>
              <a:buFontTx/>
              <a:buNone/>
            </a:pPr>
            <a:r>
              <a:rPr lang="en-US" altLang="en-US" sz="1800" b="1">
                <a:solidFill>
                  <a:srgbClr val="000000"/>
                </a:solidFill>
                <a:latin typeface="Courier New" panose="02070309020205020404" pitchFamily="49" charset="0"/>
              </a:rPr>
              <a:t>  7844	TURNER	   	   18000	08-SEP-81</a:t>
            </a:r>
          </a:p>
          <a:p>
            <a:pPr>
              <a:lnSpc>
                <a:spcPct val="95000"/>
              </a:lnSpc>
              <a:spcBef>
                <a:spcPct val="0"/>
              </a:spcBef>
              <a:buFontTx/>
              <a:buNone/>
            </a:pPr>
            <a:r>
              <a:rPr lang="en-US" altLang="en-US" sz="1800" b="1">
                <a:solidFill>
                  <a:srgbClr val="000000"/>
                </a:solidFill>
                <a:latin typeface="Courier New" panose="02070309020205020404" pitchFamily="49" charset="0"/>
              </a:rPr>
              <a:t>...</a:t>
            </a:r>
          </a:p>
        </p:txBody>
      </p:sp>
      <p:sp>
        <p:nvSpPr>
          <p:cNvPr id="67590" name="Line 6">
            <a:extLst>
              <a:ext uri="{FF2B5EF4-FFF2-40B4-BE49-F238E27FC236}">
                <a16:creationId xmlns:a16="http://schemas.microsoft.com/office/drawing/2014/main" id="{958AA463-5D86-9A15-A217-C7A090DAAED4}"/>
              </a:ext>
            </a:extLst>
          </p:cNvPr>
          <p:cNvSpPr>
            <a:spLocks noChangeShapeType="1"/>
          </p:cNvSpPr>
          <p:nvPr/>
        </p:nvSpPr>
        <p:spPr bwMode="auto">
          <a:xfrm>
            <a:off x="685800" y="2076450"/>
            <a:ext cx="5343525"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591" name="Line 7">
            <a:extLst>
              <a:ext uri="{FF2B5EF4-FFF2-40B4-BE49-F238E27FC236}">
                <a16:creationId xmlns:a16="http://schemas.microsoft.com/office/drawing/2014/main" id="{73B7287E-0ACF-C449-12F9-BE09208DD964}"/>
              </a:ext>
            </a:extLst>
          </p:cNvPr>
          <p:cNvSpPr>
            <a:spLocks noChangeShapeType="1"/>
          </p:cNvSpPr>
          <p:nvPr/>
        </p:nvSpPr>
        <p:spPr bwMode="auto">
          <a:xfrm>
            <a:off x="679450" y="2470150"/>
            <a:ext cx="536892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592" name="Line 8">
            <a:extLst>
              <a:ext uri="{FF2B5EF4-FFF2-40B4-BE49-F238E27FC236}">
                <a16:creationId xmlns:a16="http://schemas.microsoft.com/office/drawing/2014/main" id="{CAD8530A-A75A-0CF8-8163-A6880A586699}"/>
              </a:ext>
            </a:extLst>
          </p:cNvPr>
          <p:cNvSpPr>
            <a:spLocks noChangeShapeType="1"/>
          </p:cNvSpPr>
          <p:nvPr/>
        </p:nvSpPr>
        <p:spPr bwMode="auto">
          <a:xfrm>
            <a:off x="679450" y="2730500"/>
            <a:ext cx="536892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593" name="Line 9">
            <a:extLst>
              <a:ext uri="{FF2B5EF4-FFF2-40B4-BE49-F238E27FC236}">
                <a16:creationId xmlns:a16="http://schemas.microsoft.com/office/drawing/2014/main" id="{FE072150-DA78-EF91-B67A-0E4FC3E8DDE5}"/>
              </a:ext>
            </a:extLst>
          </p:cNvPr>
          <p:cNvSpPr>
            <a:spLocks noChangeShapeType="1"/>
          </p:cNvSpPr>
          <p:nvPr/>
        </p:nvSpPr>
        <p:spPr bwMode="auto">
          <a:xfrm>
            <a:off x="679450" y="2990850"/>
            <a:ext cx="534987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594" name="Line 10">
            <a:extLst>
              <a:ext uri="{FF2B5EF4-FFF2-40B4-BE49-F238E27FC236}">
                <a16:creationId xmlns:a16="http://schemas.microsoft.com/office/drawing/2014/main" id="{66A8EBED-20CE-437B-7BA1-F236BBD7BE6F}"/>
              </a:ext>
            </a:extLst>
          </p:cNvPr>
          <p:cNvSpPr>
            <a:spLocks noChangeShapeType="1"/>
          </p:cNvSpPr>
          <p:nvPr/>
        </p:nvSpPr>
        <p:spPr bwMode="auto">
          <a:xfrm>
            <a:off x="1682750" y="1612900"/>
            <a:ext cx="0" cy="198755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595" name="Line 11">
            <a:extLst>
              <a:ext uri="{FF2B5EF4-FFF2-40B4-BE49-F238E27FC236}">
                <a16:creationId xmlns:a16="http://schemas.microsoft.com/office/drawing/2014/main" id="{C1AD2A9D-6B27-AAA4-3DDE-19B03E7ED1F1}"/>
              </a:ext>
            </a:extLst>
          </p:cNvPr>
          <p:cNvSpPr>
            <a:spLocks noChangeShapeType="1"/>
          </p:cNvSpPr>
          <p:nvPr/>
        </p:nvSpPr>
        <p:spPr bwMode="auto">
          <a:xfrm>
            <a:off x="3181350" y="1612900"/>
            <a:ext cx="0" cy="1968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2" name="Group 12">
            <a:extLst>
              <a:ext uri="{FF2B5EF4-FFF2-40B4-BE49-F238E27FC236}">
                <a16:creationId xmlns:a16="http://schemas.microsoft.com/office/drawing/2014/main" id="{95BBC2A4-9D37-85CE-98D0-A65733C1584A}"/>
              </a:ext>
            </a:extLst>
          </p:cNvPr>
          <p:cNvGrpSpPr>
            <a:grpSpLocks/>
          </p:cNvGrpSpPr>
          <p:nvPr/>
        </p:nvGrpSpPr>
        <p:grpSpPr bwMode="auto">
          <a:xfrm>
            <a:off x="7046913" y="1098550"/>
            <a:ext cx="1658937" cy="2887663"/>
            <a:chOff x="4439" y="692"/>
            <a:chExt cx="1045" cy="1819"/>
          </a:xfrm>
        </p:grpSpPr>
        <p:sp>
          <p:nvSpPr>
            <p:cNvPr id="415757" name="Rectangle 13">
              <a:extLst>
                <a:ext uri="{FF2B5EF4-FFF2-40B4-BE49-F238E27FC236}">
                  <a16:creationId xmlns:a16="http://schemas.microsoft.com/office/drawing/2014/main" id="{92912A2A-07FC-79A8-1BB1-36B463FD10EB}"/>
                </a:ext>
              </a:extLst>
            </p:cNvPr>
            <p:cNvSpPr>
              <a:spLocks noChangeArrowheads="1"/>
            </p:cNvSpPr>
            <p:nvPr/>
          </p:nvSpPr>
          <p:spPr bwMode="auto">
            <a:xfrm>
              <a:off x="4439" y="692"/>
              <a:ext cx="1045" cy="1234"/>
            </a:xfrm>
            <a:prstGeom prst="rect">
              <a:avLst/>
            </a:prstGeom>
            <a:noFill/>
            <a:ln w="9525">
              <a:noFill/>
              <a:miter lim="800000"/>
              <a:headEnd/>
              <a:tailEnd/>
            </a:ln>
            <a:effectLst/>
          </p:spPr>
          <p:txBody>
            <a:bodyPr lIns="92075" tIns="46038" rIns="92075" bIns="46038">
              <a:spAutoFit/>
            </a:bodyPr>
            <a:lstStyle/>
            <a:p>
              <a:pPr defTabSz="346075">
                <a:lnSpc>
                  <a:spcPct val="85000"/>
                </a:lnSpc>
                <a:spcBef>
                  <a:spcPct val="35000"/>
                </a:spcBef>
                <a:tabLst>
                  <a:tab pos="576263" algn="l"/>
                </a:tabLst>
                <a:defRPr/>
              </a:pPr>
              <a:r>
                <a:rPr lang="en-US" b="1">
                  <a:solidFill>
                    <a:schemeClr val="accent2"/>
                  </a:solidFill>
                  <a:effectLst>
                    <a:outerShdw blurRad="38100" dist="38100" dir="2700000" algn="tl">
                      <a:srgbClr val="000000"/>
                    </a:outerShdw>
                  </a:effectLst>
                </a:rPr>
                <a:t>“…add a new</a:t>
              </a:r>
              <a:br>
                <a:rPr lang="en-US" b="1">
                  <a:solidFill>
                    <a:schemeClr val="accent2"/>
                  </a:solidFill>
                  <a:effectLst>
                    <a:outerShdw blurRad="38100" dist="38100" dir="2700000" algn="tl">
                      <a:srgbClr val="000000"/>
                    </a:outerShdw>
                  </a:effectLst>
                </a:rPr>
              </a:br>
              <a:r>
                <a:rPr lang="en-US" b="1">
                  <a:solidFill>
                    <a:schemeClr val="accent2"/>
                  </a:solidFill>
                  <a:effectLst>
                    <a:outerShdw blurRad="38100" dist="38100" dir="2700000" algn="tl">
                      <a:srgbClr val="000000"/>
                    </a:outerShdw>
                  </a:effectLst>
                </a:rPr>
                <a:t>column into</a:t>
              </a:r>
              <a:br>
                <a:rPr lang="en-US" b="1">
                  <a:solidFill>
                    <a:schemeClr val="accent2"/>
                  </a:solidFill>
                  <a:effectLst>
                    <a:outerShdw blurRad="38100" dist="38100" dir="2700000" algn="tl">
                      <a:srgbClr val="000000"/>
                    </a:outerShdw>
                  </a:effectLst>
                </a:rPr>
              </a:br>
              <a:r>
                <a:rPr lang="en-US" b="1">
                  <a:solidFill>
                    <a:schemeClr val="accent2"/>
                  </a:solidFill>
                  <a:effectLst>
                    <a:outerShdw blurRad="38100" dist="38100" dir="2700000" algn="tl">
                      <a:srgbClr val="000000"/>
                    </a:outerShdw>
                  </a:effectLst>
                </a:rPr>
                <a:t>DEPT30 table…”</a:t>
              </a:r>
            </a:p>
          </p:txBody>
        </p:sp>
        <p:sp>
          <p:nvSpPr>
            <p:cNvPr id="67629" name="Arc 14">
              <a:extLst>
                <a:ext uri="{FF2B5EF4-FFF2-40B4-BE49-F238E27FC236}">
                  <a16:creationId xmlns:a16="http://schemas.microsoft.com/office/drawing/2014/main" id="{76D60980-42B4-343D-3063-F0DB1F5E884F}"/>
                </a:ext>
              </a:extLst>
            </p:cNvPr>
            <p:cNvSpPr>
              <a:spLocks/>
            </p:cNvSpPr>
            <p:nvPr/>
          </p:nvSpPr>
          <p:spPr bwMode="auto">
            <a:xfrm>
              <a:off x="4547" y="1917"/>
              <a:ext cx="685" cy="594"/>
            </a:xfrm>
            <a:custGeom>
              <a:avLst/>
              <a:gdLst>
                <a:gd name="T0" fmla="*/ 0 w 21632"/>
                <a:gd name="T1" fmla="*/ 0 h 25060"/>
                <a:gd name="T2" fmla="*/ 0 w 21632"/>
                <a:gd name="T3" fmla="*/ 0 h 25060"/>
                <a:gd name="T4" fmla="*/ 0 w 21632"/>
                <a:gd name="T5" fmla="*/ 0 h 25060"/>
                <a:gd name="T6" fmla="*/ 0 60000 65536"/>
                <a:gd name="T7" fmla="*/ 0 60000 65536"/>
                <a:gd name="T8" fmla="*/ 0 60000 65536"/>
              </a:gdLst>
              <a:ahLst/>
              <a:cxnLst>
                <a:cxn ang="T6">
                  <a:pos x="T0" y="T1"/>
                </a:cxn>
                <a:cxn ang="T7">
                  <a:pos x="T2" y="T3"/>
                </a:cxn>
                <a:cxn ang="T8">
                  <a:pos x="T4" y="T5"/>
                </a:cxn>
              </a:cxnLst>
              <a:rect l="0" t="0" r="r" b="b"/>
              <a:pathLst>
                <a:path w="21632" h="25060" fill="none" extrusionOk="0">
                  <a:moveTo>
                    <a:pt x="0" y="0"/>
                  </a:moveTo>
                  <a:cubicBezTo>
                    <a:pt x="10" y="0"/>
                    <a:pt x="21" y="-1"/>
                    <a:pt x="32" y="0"/>
                  </a:cubicBezTo>
                  <a:cubicBezTo>
                    <a:pt x="11961" y="0"/>
                    <a:pt x="21632" y="9670"/>
                    <a:pt x="21632" y="21600"/>
                  </a:cubicBezTo>
                  <a:cubicBezTo>
                    <a:pt x="21632" y="22758"/>
                    <a:pt x="21538" y="23916"/>
                    <a:pt x="21353" y="25060"/>
                  </a:cubicBezTo>
                </a:path>
                <a:path w="21632" h="25060" stroke="0" extrusionOk="0">
                  <a:moveTo>
                    <a:pt x="0" y="0"/>
                  </a:moveTo>
                  <a:cubicBezTo>
                    <a:pt x="10" y="0"/>
                    <a:pt x="21" y="-1"/>
                    <a:pt x="32" y="0"/>
                  </a:cubicBezTo>
                  <a:cubicBezTo>
                    <a:pt x="11961" y="0"/>
                    <a:pt x="21632" y="9670"/>
                    <a:pt x="21632" y="21600"/>
                  </a:cubicBezTo>
                  <a:cubicBezTo>
                    <a:pt x="21632" y="22758"/>
                    <a:pt x="21538" y="23916"/>
                    <a:pt x="21353" y="25060"/>
                  </a:cubicBezTo>
                  <a:lnTo>
                    <a:pt x="32" y="21600"/>
                  </a:lnTo>
                  <a:lnTo>
                    <a:pt x="0" y="0"/>
                  </a:lnTo>
                  <a:close/>
                </a:path>
              </a:pathLst>
            </a:custGeom>
            <a:noFill/>
            <a:ln w="50800" cap="rnd">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7597" name="Line 15">
            <a:extLst>
              <a:ext uri="{FF2B5EF4-FFF2-40B4-BE49-F238E27FC236}">
                <a16:creationId xmlns:a16="http://schemas.microsoft.com/office/drawing/2014/main" id="{9A8435DA-7B27-3503-B85B-80081F1D4EC8}"/>
              </a:ext>
            </a:extLst>
          </p:cNvPr>
          <p:cNvSpPr>
            <a:spLocks noChangeShapeType="1"/>
          </p:cNvSpPr>
          <p:nvPr/>
        </p:nvSpPr>
        <p:spPr bwMode="auto">
          <a:xfrm>
            <a:off x="679450" y="3267075"/>
            <a:ext cx="53975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598" name="Line 16">
            <a:extLst>
              <a:ext uri="{FF2B5EF4-FFF2-40B4-BE49-F238E27FC236}">
                <a16:creationId xmlns:a16="http://schemas.microsoft.com/office/drawing/2014/main" id="{DAA31355-6EC0-72D2-4CB1-923995856334}"/>
              </a:ext>
            </a:extLst>
          </p:cNvPr>
          <p:cNvSpPr>
            <a:spLocks noChangeShapeType="1"/>
          </p:cNvSpPr>
          <p:nvPr/>
        </p:nvSpPr>
        <p:spPr bwMode="auto">
          <a:xfrm>
            <a:off x="4552950" y="1612900"/>
            <a:ext cx="0" cy="1968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599" name="Rectangle 17">
            <a:extLst>
              <a:ext uri="{FF2B5EF4-FFF2-40B4-BE49-F238E27FC236}">
                <a16:creationId xmlns:a16="http://schemas.microsoft.com/office/drawing/2014/main" id="{718E95E8-2B94-7A22-4DE4-68A46B77E394}"/>
              </a:ext>
            </a:extLst>
          </p:cNvPr>
          <p:cNvSpPr>
            <a:spLocks noChangeArrowheads="1"/>
          </p:cNvSpPr>
          <p:nvPr/>
        </p:nvSpPr>
        <p:spPr bwMode="blackWhite">
          <a:xfrm>
            <a:off x="2398713" y="4129088"/>
            <a:ext cx="5332412" cy="19399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415762" name="Rectangle 18">
            <a:extLst>
              <a:ext uri="{FF2B5EF4-FFF2-40B4-BE49-F238E27FC236}">
                <a16:creationId xmlns:a16="http://schemas.microsoft.com/office/drawing/2014/main" id="{9ED43792-3911-AC23-292B-D2FB06C69F4B}"/>
              </a:ext>
            </a:extLst>
          </p:cNvPr>
          <p:cNvSpPr>
            <a:spLocks noChangeArrowheads="1"/>
          </p:cNvSpPr>
          <p:nvPr/>
        </p:nvSpPr>
        <p:spPr bwMode="auto">
          <a:xfrm>
            <a:off x="2311400" y="3765550"/>
            <a:ext cx="1144588"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DEPT30</a:t>
            </a:r>
          </a:p>
        </p:txBody>
      </p:sp>
      <p:sp>
        <p:nvSpPr>
          <p:cNvPr id="67601" name="Rectangle 19">
            <a:extLst>
              <a:ext uri="{FF2B5EF4-FFF2-40B4-BE49-F238E27FC236}">
                <a16:creationId xmlns:a16="http://schemas.microsoft.com/office/drawing/2014/main" id="{848194D1-4AA5-CE11-DB0B-2D5532B1F500}"/>
              </a:ext>
            </a:extLst>
          </p:cNvPr>
          <p:cNvSpPr>
            <a:spLocks noChangeArrowheads="1"/>
          </p:cNvSpPr>
          <p:nvPr/>
        </p:nvSpPr>
        <p:spPr bwMode="blackWhite">
          <a:xfrm>
            <a:off x="2435225" y="4160838"/>
            <a:ext cx="5508625"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 pos="38862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8862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ANNSAL	 HIREDATE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7698	BLAKE	   	   34200	01-MAY-81</a:t>
            </a:r>
          </a:p>
          <a:p>
            <a:pPr>
              <a:lnSpc>
                <a:spcPct val="95000"/>
              </a:lnSpc>
              <a:spcBef>
                <a:spcPct val="0"/>
              </a:spcBef>
              <a:buFontTx/>
              <a:buNone/>
            </a:pPr>
            <a:r>
              <a:rPr lang="en-US" altLang="en-US" sz="1800" b="1">
                <a:solidFill>
                  <a:srgbClr val="000000"/>
                </a:solidFill>
                <a:latin typeface="Courier New" panose="02070309020205020404" pitchFamily="49" charset="0"/>
              </a:rPr>
              <a:t>  7654	MARTIN	   	   15000	28-SEP-81</a:t>
            </a:r>
          </a:p>
          <a:p>
            <a:pPr>
              <a:lnSpc>
                <a:spcPct val="95000"/>
              </a:lnSpc>
              <a:spcBef>
                <a:spcPct val="0"/>
              </a:spcBef>
              <a:buFontTx/>
              <a:buNone/>
            </a:pPr>
            <a:r>
              <a:rPr lang="en-US" altLang="en-US" sz="1800" b="1">
                <a:solidFill>
                  <a:srgbClr val="000000"/>
                </a:solidFill>
                <a:latin typeface="Courier New" panose="02070309020205020404" pitchFamily="49" charset="0"/>
              </a:rPr>
              <a:t>  7499	ALLEN		   19200	20-FEB-81</a:t>
            </a:r>
          </a:p>
          <a:p>
            <a:pPr>
              <a:lnSpc>
                <a:spcPct val="95000"/>
              </a:lnSpc>
              <a:spcBef>
                <a:spcPct val="0"/>
              </a:spcBef>
              <a:buFontTx/>
              <a:buNone/>
            </a:pPr>
            <a:r>
              <a:rPr lang="en-US" altLang="en-US" sz="1800" b="1">
                <a:solidFill>
                  <a:srgbClr val="000000"/>
                </a:solidFill>
                <a:latin typeface="Courier New" panose="02070309020205020404" pitchFamily="49" charset="0"/>
              </a:rPr>
              <a:t>  7844	TURNER	   	   18000	08-SEP-81</a:t>
            </a:r>
          </a:p>
          <a:p>
            <a:pPr>
              <a:lnSpc>
                <a:spcPct val="95000"/>
              </a:lnSpc>
              <a:spcBef>
                <a:spcPct val="0"/>
              </a:spcBef>
              <a:buFontTx/>
              <a:buNone/>
            </a:pPr>
            <a:r>
              <a:rPr lang="en-US" altLang="en-US" sz="1800" b="1">
                <a:solidFill>
                  <a:srgbClr val="000000"/>
                </a:solidFill>
                <a:latin typeface="Courier New" panose="02070309020205020404" pitchFamily="49" charset="0"/>
              </a:rPr>
              <a:t>...</a:t>
            </a:r>
          </a:p>
        </p:txBody>
      </p:sp>
      <p:sp>
        <p:nvSpPr>
          <p:cNvPr id="67602" name="Line 20">
            <a:extLst>
              <a:ext uri="{FF2B5EF4-FFF2-40B4-BE49-F238E27FC236}">
                <a16:creationId xmlns:a16="http://schemas.microsoft.com/office/drawing/2014/main" id="{2DC865E8-64BD-9BEE-CA6D-416E16FEA0F2}"/>
              </a:ext>
            </a:extLst>
          </p:cNvPr>
          <p:cNvSpPr>
            <a:spLocks noChangeShapeType="1"/>
          </p:cNvSpPr>
          <p:nvPr/>
        </p:nvSpPr>
        <p:spPr bwMode="auto">
          <a:xfrm>
            <a:off x="2400300" y="4592638"/>
            <a:ext cx="5343525"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03" name="Line 21">
            <a:extLst>
              <a:ext uri="{FF2B5EF4-FFF2-40B4-BE49-F238E27FC236}">
                <a16:creationId xmlns:a16="http://schemas.microsoft.com/office/drawing/2014/main" id="{BB9694A7-171D-57C6-8763-243B7C723725}"/>
              </a:ext>
            </a:extLst>
          </p:cNvPr>
          <p:cNvSpPr>
            <a:spLocks noChangeShapeType="1"/>
          </p:cNvSpPr>
          <p:nvPr/>
        </p:nvSpPr>
        <p:spPr bwMode="auto">
          <a:xfrm>
            <a:off x="2393950" y="4986338"/>
            <a:ext cx="536892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04" name="Line 22">
            <a:extLst>
              <a:ext uri="{FF2B5EF4-FFF2-40B4-BE49-F238E27FC236}">
                <a16:creationId xmlns:a16="http://schemas.microsoft.com/office/drawing/2014/main" id="{D9FCA9BF-7C16-A4F8-68D6-DCD836231061}"/>
              </a:ext>
            </a:extLst>
          </p:cNvPr>
          <p:cNvSpPr>
            <a:spLocks noChangeShapeType="1"/>
          </p:cNvSpPr>
          <p:nvPr/>
        </p:nvSpPr>
        <p:spPr bwMode="auto">
          <a:xfrm>
            <a:off x="2393950" y="5246688"/>
            <a:ext cx="536892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05" name="Line 23">
            <a:extLst>
              <a:ext uri="{FF2B5EF4-FFF2-40B4-BE49-F238E27FC236}">
                <a16:creationId xmlns:a16="http://schemas.microsoft.com/office/drawing/2014/main" id="{8C8638C3-6C04-3533-6A36-BEE8D8BF9BA5}"/>
              </a:ext>
            </a:extLst>
          </p:cNvPr>
          <p:cNvSpPr>
            <a:spLocks noChangeShapeType="1"/>
          </p:cNvSpPr>
          <p:nvPr/>
        </p:nvSpPr>
        <p:spPr bwMode="auto">
          <a:xfrm>
            <a:off x="2393950" y="5507038"/>
            <a:ext cx="534987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06" name="Line 24">
            <a:extLst>
              <a:ext uri="{FF2B5EF4-FFF2-40B4-BE49-F238E27FC236}">
                <a16:creationId xmlns:a16="http://schemas.microsoft.com/office/drawing/2014/main" id="{C613A912-6089-1C6B-14AE-BD6DFC6BBC14}"/>
              </a:ext>
            </a:extLst>
          </p:cNvPr>
          <p:cNvSpPr>
            <a:spLocks noChangeShapeType="1"/>
          </p:cNvSpPr>
          <p:nvPr/>
        </p:nvSpPr>
        <p:spPr bwMode="auto">
          <a:xfrm>
            <a:off x="3397250" y="4129088"/>
            <a:ext cx="0" cy="198755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07" name="Line 25">
            <a:extLst>
              <a:ext uri="{FF2B5EF4-FFF2-40B4-BE49-F238E27FC236}">
                <a16:creationId xmlns:a16="http://schemas.microsoft.com/office/drawing/2014/main" id="{68CDDED8-D015-6D8B-0D43-A054279A9D8B}"/>
              </a:ext>
            </a:extLst>
          </p:cNvPr>
          <p:cNvSpPr>
            <a:spLocks noChangeShapeType="1"/>
          </p:cNvSpPr>
          <p:nvPr/>
        </p:nvSpPr>
        <p:spPr bwMode="auto">
          <a:xfrm>
            <a:off x="4895850" y="4129088"/>
            <a:ext cx="0" cy="1968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08" name="Line 26">
            <a:extLst>
              <a:ext uri="{FF2B5EF4-FFF2-40B4-BE49-F238E27FC236}">
                <a16:creationId xmlns:a16="http://schemas.microsoft.com/office/drawing/2014/main" id="{E5C3443C-4B06-6897-851C-EA10C377C277}"/>
              </a:ext>
            </a:extLst>
          </p:cNvPr>
          <p:cNvSpPr>
            <a:spLocks noChangeShapeType="1"/>
          </p:cNvSpPr>
          <p:nvPr/>
        </p:nvSpPr>
        <p:spPr bwMode="auto">
          <a:xfrm>
            <a:off x="2393950" y="5783263"/>
            <a:ext cx="53975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09" name="Line 27">
            <a:extLst>
              <a:ext uri="{FF2B5EF4-FFF2-40B4-BE49-F238E27FC236}">
                <a16:creationId xmlns:a16="http://schemas.microsoft.com/office/drawing/2014/main" id="{58BCA29E-19D8-0BFB-0439-286D80044193}"/>
              </a:ext>
            </a:extLst>
          </p:cNvPr>
          <p:cNvSpPr>
            <a:spLocks noChangeShapeType="1"/>
          </p:cNvSpPr>
          <p:nvPr/>
        </p:nvSpPr>
        <p:spPr bwMode="auto">
          <a:xfrm>
            <a:off x="6267450" y="4129088"/>
            <a:ext cx="0" cy="1968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3" name="Group 28">
            <a:extLst>
              <a:ext uri="{FF2B5EF4-FFF2-40B4-BE49-F238E27FC236}">
                <a16:creationId xmlns:a16="http://schemas.microsoft.com/office/drawing/2014/main" id="{B8A726C3-DD60-4BA0-2C26-948B0DF86D81}"/>
              </a:ext>
            </a:extLst>
          </p:cNvPr>
          <p:cNvGrpSpPr>
            <a:grpSpLocks/>
          </p:cNvGrpSpPr>
          <p:nvPr/>
        </p:nvGrpSpPr>
        <p:grpSpPr bwMode="auto">
          <a:xfrm>
            <a:off x="7753350" y="4129088"/>
            <a:ext cx="749300" cy="1939925"/>
            <a:chOff x="4884" y="2601"/>
            <a:chExt cx="472" cy="1222"/>
          </a:xfrm>
        </p:grpSpPr>
        <p:sp>
          <p:nvSpPr>
            <p:cNvPr id="67620" name="Rectangle 29">
              <a:extLst>
                <a:ext uri="{FF2B5EF4-FFF2-40B4-BE49-F238E27FC236}">
                  <a16:creationId xmlns:a16="http://schemas.microsoft.com/office/drawing/2014/main" id="{98F0F428-C4AD-35FD-D413-2275817ED4AE}"/>
                </a:ext>
              </a:extLst>
            </p:cNvPr>
            <p:cNvSpPr>
              <a:spLocks noChangeArrowheads="1"/>
            </p:cNvSpPr>
            <p:nvPr/>
          </p:nvSpPr>
          <p:spPr bwMode="blackWhite">
            <a:xfrm>
              <a:off x="4887" y="2601"/>
              <a:ext cx="449" cy="1222"/>
            </a:xfrm>
            <a:prstGeom prst="rect">
              <a:avLst/>
            </a:prstGeom>
            <a:solidFill>
              <a:srgbClr val="FF9966"/>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67621" name="Rectangle 30">
              <a:extLst>
                <a:ext uri="{FF2B5EF4-FFF2-40B4-BE49-F238E27FC236}">
                  <a16:creationId xmlns:a16="http://schemas.microsoft.com/office/drawing/2014/main" id="{44B481A6-CE46-4C37-A072-C8E0387A13FD}"/>
                </a:ext>
              </a:extLst>
            </p:cNvPr>
            <p:cNvSpPr>
              <a:spLocks noChangeArrowheads="1"/>
            </p:cNvSpPr>
            <p:nvPr/>
          </p:nvSpPr>
          <p:spPr bwMode="blackWhite">
            <a:xfrm>
              <a:off x="4910" y="2621"/>
              <a:ext cx="418"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 pos="38862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8862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JOB</a:t>
              </a:r>
            </a:p>
          </p:txBody>
        </p:sp>
        <p:grpSp>
          <p:nvGrpSpPr>
            <p:cNvPr id="67622" name="Group 31">
              <a:extLst>
                <a:ext uri="{FF2B5EF4-FFF2-40B4-BE49-F238E27FC236}">
                  <a16:creationId xmlns:a16="http://schemas.microsoft.com/office/drawing/2014/main" id="{6F9FA253-6AAA-302F-3EAE-9E1DD9D31EA2}"/>
                </a:ext>
              </a:extLst>
            </p:cNvPr>
            <p:cNvGrpSpPr>
              <a:grpSpLocks/>
            </p:cNvGrpSpPr>
            <p:nvPr/>
          </p:nvGrpSpPr>
          <p:grpSpPr bwMode="auto">
            <a:xfrm>
              <a:off x="4884" y="2893"/>
              <a:ext cx="472" cy="750"/>
              <a:chOff x="4884" y="2893"/>
              <a:chExt cx="472" cy="750"/>
            </a:xfrm>
          </p:grpSpPr>
          <p:sp>
            <p:nvSpPr>
              <p:cNvPr id="67623" name="Line 32">
                <a:extLst>
                  <a:ext uri="{FF2B5EF4-FFF2-40B4-BE49-F238E27FC236}">
                    <a16:creationId xmlns:a16="http://schemas.microsoft.com/office/drawing/2014/main" id="{D9536A75-6878-41FC-32E0-F8A93746D91F}"/>
                  </a:ext>
                </a:extLst>
              </p:cNvPr>
              <p:cNvSpPr>
                <a:spLocks noChangeShapeType="1"/>
              </p:cNvSpPr>
              <p:nvPr/>
            </p:nvSpPr>
            <p:spPr bwMode="auto">
              <a:xfrm>
                <a:off x="4885" y="2893"/>
                <a:ext cx="467"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24" name="Line 33">
                <a:extLst>
                  <a:ext uri="{FF2B5EF4-FFF2-40B4-BE49-F238E27FC236}">
                    <a16:creationId xmlns:a16="http://schemas.microsoft.com/office/drawing/2014/main" id="{34987522-8A18-FFD1-476A-1B13364EEE86}"/>
                  </a:ext>
                </a:extLst>
              </p:cNvPr>
              <p:cNvSpPr>
                <a:spLocks noChangeShapeType="1"/>
              </p:cNvSpPr>
              <p:nvPr/>
            </p:nvSpPr>
            <p:spPr bwMode="auto">
              <a:xfrm>
                <a:off x="4884" y="3141"/>
                <a:ext cx="47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25" name="Line 34">
                <a:extLst>
                  <a:ext uri="{FF2B5EF4-FFF2-40B4-BE49-F238E27FC236}">
                    <a16:creationId xmlns:a16="http://schemas.microsoft.com/office/drawing/2014/main" id="{797D4A9C-3232-6034-74E7-4F0723B9F909}"/>
                  </a:ext>
                </a:extLst>
              </p:cNvPr>
              <p:cNvSpPr>
                <a:spLocks noChangeShapeType="1"/>
              </p:cNvSpPr>
              <p:nvPr/>
            </p:nvSpPr>
            <p:spPr bwMode="auto">
              <a:xfrm>
                <a:off x="4884" y="3305"/>
                <a:ext cx="47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26" name="Line 35">
                <a:extLst>
                  <a:ext uri="{FF2B5EF4-FFF2-40B4-BE49-F238E27FC236}">
                    <a16:creationId xmlns:a16="http://schemas.microsoft.com/office/drawing/2014/main" id="{E1747A3C-CB95-10A5-FE40-484B78B2F858}"/>
                  </a:ext>
                </a:extLst>
              </p:cNvPr>
              <p:cNvSpPr>
                <a:spLocks noChangeShapeType="1"/>
              </p:cNvSpPr>
              <p:nvPr/>
            </p:nvSpPr>
            <p:spPr bwMode="auto">
              <a:xfrm>
                <a:off x="4884" y="3469"/>
                <a:ext cx="46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27" name="Line 36">
                <a:extLst>
                  <a:ext uri="{FF2B5EF4-FFF2-40B4-BE49-F238E27FC236}">
                    <a16:creationId xmlns:a16="http://schemas.microsoft.com/office/drawing/2014/main" id="{2F44BD83-0D18-1A03-E282-34DECE95A1A4}"/>
                  </a:ext>
                </a:extLst>
              </p:cNvPr>
              <p:cNvSpPr>
                <a:spLocks noChangeShapeType="1"/>
              </p:cNvSpPr>
              <p:nvPr/>
            </p:nvSpPr>
            <p:spPr bwMode="auto">
              <a:xfrm>
                <a:off x="4884" y="3643"/>
                <a:ext cx="472"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grpSp>
      <p:sp>
        <p:nvSpPr>
          <p:cNvPr id="67611" name="Rectangle 37">
            <a:extLst>
              <a:ext uri="{FF2B5EF4-FFF2-40B4-BE49-F238E27FC236}">
                <a16:creationId xmlns:a16="http://schemas.microsoft.com/office/drawing/2014/main" id="{80A8E861-AA0E-3AFD-8522-6E4851B2EC3A}"/>
              </a:ext>
            </a:extLst>
          </p:cNvPr>
          <p:cNvSpPr>
            <a:spLocks noChangeArrowheads="1"/>
          </p:cNvSpPr>
          <p:nvPr/>
        </p:nvSpPr>
        <p:spPr bwMode="blackWhite">
          <a:xfrm>
            <a:off x="6157913" y="1614488"/>
            <a:ext cx="712787" cy="1939925"/>
          </a:xfrm>
          <a:prstGeom prst="rect">
            <a:avLst/>
          </a:prstGeom>
          <a:solidFill>
            <a:srgbClr val="FF9966"/>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67612" name="Rectangle 38">
            <a:extLst>
              <a:ext uri="{FF2B5EF4-FFF2-40B4-BE49-F238E27FC236}">
                <a16:creationId xmlns:a16="http://schemas.microsoft.com/office/drawing/2014/main" id="{748569F7-2342-9B9B-A318-9C3C849B64F2}"/>
              </a:ext>
            </a:extLst>
          </p:cNvPr>
          <p:cNvSpPr>
            <a:spLocks noChangeArrowheads="1"/>
          </p:cNvSpPr>
          <p:nvPr/>
        </p:nvSpPr>
        <p:spPr bwMode="blackWhite">
          <a:xfrm>
            <a:off x="6194425" y="1646238"/>
            <a:ext cx="66357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 pos="38862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8862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8862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8862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JOB</a:t>
            </a:r>
          </a:p>
        </p:txBody>
      </p:sp>
      <p:grpSp>
        <p:nvGrpSpPr>
          <p:cNvPr id="67613" name="Group 39">
            <a:extLst>
              <a:ext uri="{FF2B5EF4-FFF2-40B4-BE49-F238E27FC236}">
                <a16:creationId xmlns:a16="http://schemas.microsoft.com/office/drawing/2014/main" id="{A9B3DB87-FE94-8319-7E54-C94D8DBF44BC}"/>
              </a:ext>
            </a:extLst>
          </p:cNvPr>
          <p:cNvGrpSpPr>
            <a:grpSpLocks/>
          </p:cNvGrpSpPr>
          <p:nvPr/>
        </p:nvGrpSpPr>
        <p:grpSpPr bwMode="auto">
          <a:xfrm>
            <a:off x="6153150" y="2078038"/>
            <a:ext cx="749300" cy="1190625"/>
            <a:chOff x="3876" y="1309"/>
            <a:chExt cx="472" cy="750"/>
          </a:xfrm>
        </p:grpSpPr>
        <p:sp>
          <p:nvSpPr>
            <p:cNvPr id="67615" name="Line 40">
              <a:extLst>
                <a:ext uri="{FF2B5EF4-FFF2-40B4-BE49-F238E27FC236}">
                  <a16:creationId xmlns:a16="http://schemas.microsoft.com/office/drawing/2014/main" id="{41C81C1D-BB48-2A85-8007-32D218FFDE77}"/>
                </a:ext>
              </a:extLst>
            </p:cNvPr>
            <p:cNvSpPr>
              <a:spLocks noChangeShapeType="1"/>
            </p:cNvSpPr>
            <p:nvPr/>
          </p:nvSpPr>
          <p:spPr bwMode="auto">
            <a:xfrm>
              <a:off x="3877" y="1309"/>
              <a:ext cx="467"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16" name="Line 41">
              <a:extLst>
                <a:ext uri="{FF2B5EF4-FFF2-40B4-BE49-F238E27FC236}">
                  <a16:creationId xmlns:a16="http://schemas.microsoft.com/office/drawing/2014/main" id="{46DF1ABD-D477-A724-B434-6CF7A75BB5B6}"/>
                </a:ext>
              </a:extLst>
            </p:cNvPr>
            <p:cNvSpPr>
              <a:spLocks noChangeShapeType="1"/>
            </p:cNvSpPr>
            <p:nvPr/>
          </p:nvSpPr>
          <p:spPr bwMode="auto">
            <a:xfrm>
              <a:off x="3876" y="1557"/>
              <a:ext cx="47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17" name="Line 42">
              <a:extLst>
                <a:ext uri="{FF2B5EF4-FFF2-40B4-BE49-F238E27FC236}">
                  <a16:creationId xmlns:a16="http://schemas.microsoft.com/office/drawing/2014/main" id="{84AE0FBD-A74C-CDFC-055B-AD205E3D11C0}"/>
                </a:ext>
              </a:extLst>
            </p:cNvPr>
            <p:cNvSpPr>
              <a:spLocks noChangeShapeType="1"/>
            </p:cNvSpPr>
            <p:nvPr/>
          </p:nvSpPr>
          <p:spPr bwMode="auto">
            <a:xfrm>
              <a:off x="3876" y="1721"/>
              <a:ext cx="47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18" name="Line 43">
              <a:extLst>
                <a:ext uri="{FF2B5EF4-FFF2-40B4-BE49-F238E27FC236}">
                  <a16:creationId xmlns:a16="http://schemas.microsoft.com/office/drawing/2014/main" id="{6C007583-4D5A-EE9F-7481-407B222368FC}"/>
                </a:ext>
              </a:extLst>
            </p:cNvPr>
            <p:cNvSpPr>
              <a:spLocks noChangeShapeType="1"/>
            </p:cNvSpPr>
            <p:nvPr/>
          </p:nvSpPr>
          <p:spPr bwMode="auto">
            <a:xfrm>
              <a:off x="3876" y="1885"/>
              <a:ext cx="46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19" name="Line 44">
              <a:extLst>
                <a:ext uri="{FF2B5EF4-FFF2-40B4-BE49-F238E27FC236}">
                  <a16:creationId xmlns:a16="http://schemas.microsoft.com/office/drawing/2014/main" id="{AED6E9C7-6A23-00FD-18FA-675E4F6A8EE5}"/>
                </a:ext>
              </a:extLst>
            </p:cNvPr>
            <p:cNvSpPr>
              <a:spLocks noChangeShapeType="1"/>
            </p:cNvSpPr>
            <p:nvPr/>
          </p:nvSpPr>
          <p:spPr bwMode="auto">
            <a:xfrm>
              <a:off x="3876" y="2059"/>
              <a:ext cx="472"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415789" name="Rectangle 45">
            <a:extLst>
              <a:ext uri="{FF2B5EF4-FFF2-40B4-BE49-F238E27FC236}">
                <a16:creationId xmlns:a16="http://schemas.microsoft.com/office/drawing/2014/main" id="{843B06D0-2ACD-440E-6102-65DBB4F52900}"/>
              </a:ext>
            </a:extLst>
          </p:cNvPr>
          <p:cNvSpPr>
            <a:spLocks noChangeArrowheads="1"/>
          </p:cNvSpPr>
          <p:nvPr/>
        </p:nvSpPr>
        <p:spPr bwMode="auto">
          <a:xfrm>
            <a:off x="5283200" y="1249363"/>
            <a:ext cx="1679575"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New column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nodeType="afterGroup">
                            <p:stCondLst>
                              <p:cond delay="500"/>
                            </p:stCondLst>
                            <p:childTnLst>
                              <p:par>
                                <p:cTn id="9" presetID="2" presetClass="entr" presetSubtype="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8F7DA224-1E83-49F3-B5D3-4793302A6EC8}"/>
              </a:ext>
            </a:extLst>
          </p:cNvPr>
          <p:cNvSpPr>
            <a:spLocks noGrp="1" noChangeArrowheads="1"/>
          </p:cNvSpPr>
          <p:nvPr>
            <p:ph type="title"/>
          </p:nvPr>
        </p:nvSpPr>
        <p:spPr>
          <a:xfrm>
            <a:off x="361950" y="660400"/>
            <a:ext cx="2986088" cy="536575"/>
          </a:xfrm>
          <a:noFill/>
        </p:spPr>
        <p:txBody>
          <a:bodyPr lIns="92075" tIns="46038" rIns="92075" bIns="46038" anchor="t"/>
          <a:lstStyle/>
          <a:p>
            <a:r>
              <a:rPr lang="en-US" altLang="en-US" sz="2800">
                <a:solidFill>
                  <a:srgbClr val="800000"/>
                </a:solidFill>
              </a:rPr>
              <a:t>Adding a Column</a:t>
            </a:r>
          </a:p>
        </p:txBody>
      </p:sp>
      <p:sp>
        <p:nvSpPr>
          <p:cNvPr id="69635" name="Rectangle 3">
            <a:extLst>
              <a:ext uri="{FF2B5EF4-FFF2-40B4-BE49-F238E27FC236}">
                <a16:creationId xmlns:a16="http://schemas.microsoft.com/office/drawing/2014/main" id="{448CD4DD-916B-8D8F-3B86-3F312E4E79F7}"/>
              </a:ext>
            </a:extLst>
          </p:cNvPr>
          <p:cNvSpPr>
            <a:spLocks noGrp="1" noChangeArrowheads="1"/>
          </p:cNvSpPr>
          <p:nvPr>
            <p:ph type="body" idx="1"/>
          </p:nvPr>
        </p:nvSpPr>
        <p:spPr>
          <a:xfrm>
            <a:off x="725488" y="1528763"/>
            <a:ext cx="7732712" cy="457200"/>
          </a:xfrm>
          <a:noFill/>
        </p:spPr>
        <p:txBody>
          <a:bodyPr lIns="92075" tIns="46038" rIns="92075" bIns="46038">
            <a:spAutoFit/>
          </a:bodyPr>
          <a:lstStyle/>
          <a:p>
            <a:pPr lvl="1"/>
            <a:r>
              <a:rPr lang="en-US" altLang="en-US"/>
              <a:t>You use the ADD clause to add columns.</a:t>
            </a:r>
          </a:p>
        </p:txBody>
      </p:sp>
      <p:sp>
        <p:nvSpPr>
          <p:cNvPr id="69636" name="Rectangle 4">
            <a:extLst>
              <a:ext uri="{FF2B5EF4-FFF2-40B4-BE49-F238E27FC236}">
                <a16:creationId xmlns:a16="http://schemas.microsoft.com/office/drawing/2014/main" id="{B7CFCC78-6C45-05D2-7AC2-6EE3814D980B}"/>
              </a:ext>
            </a:extLst>
          </p:cNvPr>
          <p:cNvSpPr>
            <a:spLocks noChangeArrowheads="1"/>
          </p:cNvSpPr>
          <p:nvPr/>
        </p:nvSpPr>
        <p:spPr bwMode="blackWhite">
          <a:xfrm>
            <a:off x="901700" y="2052638"/>
            <a:ext cx="7523163"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9637" name="Rectangle 5">
            <a:extLst>
              <a:ext uri="{FF2B5EF4-FFF2-40B4-BE49-F238E27FC236}">
                <a16:creationId xmlns:a16="http://schemas.microsoft.com/office/drawing/2014/main" id="{D3952AAC-429D-80DE-0E0B-75CD137DF312}"/>
              </a:ext>
            </a:extLst>
          </p:cNvPr>
          <p:cNvSpPr>
            <a:spLocks noChangeArrowheads="1"/>
          </p:cNvSpPr>
          <p:nvPr/>
        </p:nvSpPr>
        <p:spPr bwMode="auto">
          <a:xfrm>
            <a:off x="787400" y="3516313"/>
            <a:ext cx="7385050" cy="1066800"/>
          </a:xfrm>
          <a:prstGeom prst="rect">
            <a:avLst/>
          </a:prstGeom>
          <a:noFill/>
          <a:ln>
            <a:noFill/>
          </a:ln>
          <a:effectLst>
            <a:outerShdw dist="53882"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9638" name="Rectangle 6">
            <a:extLst>
              <a:ext uri="{FF2B5EF4-FFF2-40B4-BE49-F238E27FC236}">
                <a16:creationId xmlns:a16="http://schemas.microsoft.com/office/drawing/2014/main" id="{14CC700C-77A1-99C4-F2CA-0AE4129A4D1D}"/>
              </a:ext>
            </a:extLst>
          </p:cNvPr>
          <p:cNvSpPr>
            <a:spLocks noChangeArrowheads="1"/>
          </p:cNvSpPr>
          <p:nvPr/>
        </p:nvSpPr>
        <p:spPr bwMode="blackWhite">
          <a:xfrm>
            <a:off x="901700" y="3727450"/>
            <a:ext cx="7523163" cy="2376488"/>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92150" algn="l"/>
                <a:tab pos="1200150" algn="l"/>
              </a:tabLst>
              <a:defRPr sz="2800">
                <a:solidFill>
                  <a:schemeClr val="tx1"/>
                </a:solidFill>
                <a:latin typeface="Arial" panose="020B0604020202020204" pitchFamily="34" charset="0"/>
              </a:defRPr>
            </a:lvl1pPr>
            <a:lvl2pPr marL="742950" indent="-285750">
              <a:spcBef>
                <a:spcPct val="20000"/>
              </a:spcBef>
              <a:buChar char="–"/>
              <a:tabLst>
                <a:tab pos="692150" algn="l"/>
                <a:tab pos="1200150" algn="l"/>
              </a:tabLst>
              <a:defRPr sz="2400">
                <a:solidFill>
                  <a:schemeClr val="tx1"/>
                </a:solidFill>
                <a:latin typeface="Arial" panose="020B0604020202020204" pitchFamily="34" charset="0"/>
              </a:defRPr>
            </a:lvl2pPr>
            <a:lvl3pPr marL="1143000" indent="-228600">
              <a:spcBef>
                <a:spcPct val="20000"/>
              </a:spcBef>
              <a:buChar char="•"/>
              <a:tabLst>
                <a:tab pos="692150" algn="l"/>
                <a:tab pos="1200150" algn="l"/>
              </a:tabLst>
              <a:defRPr sz="2000">
                <a:solidFill>
                  <a:schemeClr val="tx1"/>
                </a:solidFill>
                <a:latin typeface="Arial" panose="020B0604020202020204" pitchFamily="34" charset="0"/>
              </a:defRPr>
            </a:lvl3pPr>
            <a:lvl4pPr marL="1600200" indent="-228600">
              <a:spcBef>
                <a:spcPct val="20000"/>
              </a:spcBef>
              <a:buChar char="–"/>
              <a:tabLst>
                <a:tab pos="692150" algn="l"/>
                <a:tab pos="1200150" algn="l"/>
              </a:tabLst>
              <a:defRPr sz="2000">
                <a:solidFill>
                  <a:schemeClr val="tx1"/>
                </a:solidFill>
                <a:latin typeface="Arial" panose="020B0604020202020204" pitchFamily="34" charset="0"/>
              </a:defRPr>
            </a:lvl4pPr>
            <a:lvl5pPr marL="2057400" indent="-228600">
              <a:spcBef>
                <a:spcPct val="20000"/>
              </a:spcBef>
              <a:buChar char="»"/>
              <a:tabLst>
                <a:tab pos="692150" algn="l"/>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92150" algn="l"/>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EMPNO ENAME         ANNSAL HIREDATE  JOB</a:t>
            </a:r>
          </a:p>
          <a:p>
            <a:pPr>
              <a:spcBef>
                <a:spcPct val="0"/>
              </a:spcBef>
              <a:buFontTx/>
              <a:buNone/>
            </a:pPr>
            <a:r>
              <a:rPr lang="en-US" altLang="en-US" sz="1800" b="1">
                <a:solidFill>
                  <a:srgbClr val="000000"/>
                </a:solidFill>
                <a:latin typeface="Courier New" panose="02070309020205020404" pitchFamily="49" charset="0"/>
              </a:rPr>
              <a:t>--------- ---------- --------- --------- ----</a:t>
            </a:r>
          </a:p>
          <a:p>
            <a:pPr>
              <a:spcBef>
                <a:spcPct val="0"/>
              </a:spcBef>
              <a:buFontTx/>
              <a:buNone/>
            </a:pPr>
            <a:r>
              <a:rPr lang="en-US" altLang="en-US" sz="1800" b="1">
                <a:solidFill>
                  <a:srgbClr val="000000"/>
                </a:solidFill>
                <a:latin typeface="Courier New" panose="02070309020205020404" pitchFamily="49" charset="0"/>
              </a:rPr>
              <a:t>     7698 BLAKE          34200 01-MAY-81</a:t>
            </a:r>
          </a:p>
          <a:p>
            <a:pPr>
              <a:spcBef>
                <a:spcPct val="0"/>
              </a:spcBef>
              <a:buFontTx/>
              <a:buNone/>
            </a:pPr>
            <a:r>
              <a:rPr lang="en-US" altLang="en-US" sz="1800" b="1">
                <a:solidFill>
                  <a:srgbClr val="000000"/>
                </a:solidFill>
                <a:latin typeface="Courier New" panose="02070309020205020404" pitchFamily="49" charset="0"/>
              </a:rPr>
              <a:t>     7654 MARTIN         15000 28-SEP-81</a:t>
            </a:r>
          </a:p>
          <a:p>
            <a:pPr>
              <a:spcBef>
                <a:spcPct val="0"/>
              </a:spcBef>
              <a:buFontTx/>
              <a:buNone/>
            </a:pPr>
            <a:r>
              <a:rPr lang="en-US" altLang="en-US" sz="1800" b="1">
                <a:solidFill>
                  <a:srgbClr val="000000"/>
                </a:solidFill>
                <a:latin typeface="Courier New" panose="02070309020205020404" pitchFamily="49" charset="0"/>
              </a:rPr>
              <a:t>     7499 ALLEN          19200 20-FEB-81</a:t>
            </a:r>
          </a:p>
          <a:p>
            <a:pPr>
              <a:spcBef>
                <a:spcPct val="0"/>
              </a:spcBef>
              <a:buFontTx/>
              <a:buNone/>
            </a:pPr>
            <a:r>
              <a:rPr lang="en-US" altLang="en-US" sz="1800" b="1">
                <a:solidFill>
                  <a:srgbClr val="000000"/>
                </a:solidFill>
                <a:latin typeface="Courier New" panose="02070309020205020404" pitchFamily="49" charset="0"/>
              </a:rPr>
              <a:t>     7844 TURNER         18000 08-SEP-81</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6 rows selected.</a:t>
            </a:r>
          </a:p>
        </p:txBody>
      </p:sp>
      <p:sp>
        <p:nvSpPr>
          <p:cNvPr id="417799" name="Rectangle 7">
            <a:extLst>
              <a:ext uri="{FF2B5EF4-FFF2-40B4-BE49-F238E27FC236}">
                <a16:creationId xmlns:a16="http://schemas.microsoft.com/office/drawing/2014/main" id="{7BF4869B-6B26-BCE1-62B0-5CB6262B95F3}"/>
              </a:ext>
            </a:extLst>
          </p:cNvPr>
          <p:cNvSpPr>
            <a:spLocks noChangeArrowheads="1"/>
          </p:cNvSpPr>
          <p:nvPr/>
        </p:nvSpPr>
        <p:spPr bwMode="blackWhite">
          <a:xfrm>
            <a:off x="915988" y="2058988"/>
            <a:ext cx="7205662" cy="941387"/>
          </a:xfrm>
          <a:prstGeom prst="rect">
            <a:avLst/>
          </a:prstGeom>
          <a:noFill/>
          <a:ln w="9525">
            <a:noFill/>
            <a:miter lim="800000"/>
            <a:headEnd/>
            <a:tailEnd/>
          </a:ln>
          <a:effectLst/>
        </p:spPr>
        <p:txBody>
          <a:bodyPr wrap="none" lIns="92075" tIns="46038" rIns="92075" bIns="46038" anchor="ctr"/>
          <a:lstStyle/>
          <a:p>
            <a:pPr>
              <a:tabLst>
                <a:tab pos="692150" algn="l"/>
                <a:tab pos="1200150" algn="l"/>
              </a:tabLst>
              <a:defRPr/>
            </a:pPr>
            <a:r>
              <a:rPr lang="en-US" sz="1800" b="1">
                <a:solidFill>
                  <a:srgbClr val="000000"/>
                </a:solidFill>
                <a:latin typeface="Courier New" pitchFamily="49" charset="0"/>
              </a:rPr>
              <a:t>SQL&gt; ALTER TABLE dept30</a:t>
            </a:r>
          </a:p>
          <a:p>
            <a:pPr>
              <a:tabLst>
                <a:tab pos="692150" algn="l"/>
                <a:tab pos="1200150" algn="l"/>
              </a:tabLst>
              <a:defRPr/>
            </a:pPr>
            <a:r>
              <a:rPr lang="en-US" sz="1800" b="1">
                <a:solidFill>
                  <a:srgbClr val="000000"/>
                </a:solidFill>
                <a:latin typeface="Courier New" pitchFamily="49" charset="0"/>
              </a:rPr>
              <a:t>  2  ADD		   (job VARCHAR2(9));</a:t>
            </a:r>
          </a:p>
          <a:p>
            <a:pPr>
              <a:tabLst>
                <a:tab pos="692150" algn="l"/>
                <a:tab pos="1200150" algn="l"/>
              </a:tabLst>
              <a:defRPr/>
            </a:pPr>
            <a:r>
              <a:rPr lang="en-US" sz="1800" b="1">
                <a:solidFill>
                  <a:srgbClr val="FF3300"/>
                </a:solidFill>
                <a:effectLst>
                  <a:outerShdw blurRad="38100" dist="38100" dir="2700000" algn="tl">
                    <a:srgbClr val="000000"/>
                  </a:outerShdw>
                </a:effectLst>
                <a:latin typeface="Courier New" pitchFamily="49" charset="0"/>
              </a:rPr>
              <a:t>Table altered.</a:t>
            </a:r>
          </a:p>
        </p:txBody>
      </p:sp>
      <p:sp>
        <p:nvSpPr>
          <p:cNvPr id="69640" name="Rectangle 8">
            <a:extLst>
              <a:ext uri="{FF2B5EF4-FFF2-40B4-BE49-F238E27FC236}">
                <a16:creationId xmlns:a16="http://schemas.microsoft.com/office/drawing/2014/main" id="{3E9082CB-78C0-FBE8-71CF-92494EA308DF}"/>
              </a:ext>
            </a:extLst>
          </p:cNvPr>
          <p:cNvSpPr>
            <a:spLocks noChangeArrowheads="1"/>
          </p:cNvSpPr>
          <p:nvPr/>
        </p:nvSpPr>
        <p:spPr bwMode="auto">
          <a:xfrm>
            <a:off x="733425" y="3219450"/>
            <a:ext cx="7842250"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defTabSz="346075">
              <a:spcBef>
                <a:spcPct val="20000"/>
              </a:spcBef>
              <a:buChar char="•"/>
              <a:tabLst>
                <a:tab pos="571500" algn="l"/>
              </a:tabLst>
              <a:defRPr sz="2800">
                <a:solidFill>
                  <a:schemeClr val="tx1"/>
                </a:solidFill>
                <a:latin typeface="Arial" panose="020B0604020202020204" pitchFamily="34" charset="0"/>
              </a:defRPr>
            </a:lvl1pPr>
            <a:lvl2pPr marL="341313" indent="-227013" defTabSz="346075">
              <a:spcBef>
                <a:spcPct val="20000"/>
              </a:spcBef>
              <a:buChar char="–"/>
              <a:tabLst>
                <a:tab pos="571500" algn="l"/>
              </a:tabLst>
              <a:defRPr sz="2400">
                <a:solidFill>
                  <a:schemeClr val="tx1"/>
                </a:solidFill>
                <a:latin typeface="Arial" panose="020B0604020202020204" pitchFamily="34" charset="0"/>
              </a:defRPr>
            </a:lvl2pPr>
            <a:lvl3pPr marL="1143000" indent="-228600" defTabSz="346075">
              <a:spcBef>
                <a:spcPct val="20000"/>
              </a:spcBef>
              <a:buChar char="•"/>
              <a:tabLst>
                <a:tab pos="571500" algn="l"/>
              </a:tabLst>
              <a:defRPr sz="2000">
                <a:solidFill>
                  <a:schemeClr val="tx1"/>
                </a:solidFill>
                <a:latin typeface="Arial" panose="020B0604020202020204" pitchFamily="34" charset="0"/>
              </a:defRPr>
            </a:lvl3pPr>
            <a:lvl4pPr marL="1600200" indent="-228600" defTabSz="346075">
              <a:spcBef>
                <a:spcPct val="20000"/>
              </a:spcBef>
              <a:buChar char="–"/>
              <a:tabLst>
                <a:tab pos="571500" algn="l"/>
              </a:tabLst>
              <a:defRPr sz="2000">
                <a:solidFill>
                  <a:schemeClr val="tx1"/>
                </a:solidFill>
                <a:latin typeface="Arial" panose="020B0604020202020204" pitchFamily="34" charset="0"/>
              </a:defRPr>
            </a:lvl4pPr>
            <a:lvl5pPr marL="2057400" indent="-228600" defTabSz="346075">
              <a:spcBef>
                <a:spcPct val="20000"/>
              </a:spcBef>
              <a:buChar char="»"/>
              <a:tabLst>
                <a:tab pos="571500" algn="l"/>
              </a:tabLst>
              <a:defRPr sz="2000">
                <a:solidFill>
                  <a:schemeClr val="tx1"/>
                </a:solidFill>
                <a:latin typeface="Arial" panose="020B0604020202020204" pitchFamily="34" charset="0"/>
              </a:defRPr>
            </a:lvl5pPr>
            <a:lvl6pPr marL="25146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6pPr>
            <a:lvl7pPr marL="29718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7pPr>
            <a:lvl8pPr marL="34290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8pPr>
            <a:lvl9pPr marL="38862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9pPr>
          </a:lstStyle>
          <a:p>
            <a:pPr lvl="1">
              <a:lnSpc>
                <a:spcPct val="95000"/>
              </a:lnSpc>
              <a:spcBef>
                <a:spcPct val="35000"/>
              </a:spcBef>
              <a:buClr>
                <a:srgbClr val="FFCC66"/>
              </a:buClr>
              <a:buFontTx/>
              <a:buChar char="•"/>
            </a:pPr>
            <a:r>
              <a:rPr lang="en-US" altLang="en-US"/>
              <a:t>The new column becomes the last column.</a:t>
            </a: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9C46AF39-6B64-DD79-5403-4BE81E68124B}"/>
              </a:ext>
            </a:extLst>
          </p:cNvPr>
          <p:cNvSpPr>
            <a:spLocks noGrp="1" noChangeArrowheads="1"/>
          </p:cNvSpPr>
          <p:nvPr>
            <p:ph type="title"/>
          </p:nvPr>
        </p:nvSpPr>
        <p:spPr>
          <a:xfrm>
            <a:off x="323850" y="588963"/>
            <a:ext cx="3346450" cy="536575"/>
          </a:xfrm>
          <a:noFill/>
        </p:spPr>
        <p:txBody>
          <a:bodyPr lIns="92075" tIns="46038" rIns="92075" bIns="46038" anchor="t"/>
          <a:lstStyle/>
          <a:p>
            <a:r>
              <a:rPr lang="en-US" altLang="en-US" sz="2800">
                <a:solidFill>
                  <a:srgbClr val="800000"/>
                </a:solidFill>
              </a:rPr>
              <a:t>Modifying a Column</a:t>
            </a:r>
          </a:p>
        </p:txBody>
      </p:sp>
      <p:sp>
        <p:nvSpPr>
          <p:cNvPr id="34819" name="Rectangle 3">
            <a:extLst>
              <a:ext uri="{FF2B5EF4-FFF2-40B4-BE49-F238E27FC236}">
                <a16:creationId xmlns:a16="http://schemas.microsoft.com/office/drawing/2014/main" id="{5B361C54-3F10-A700-C7FE-C5F3A4B9FBAF}"/>
              </a:ext>
            </a:extLst>
          </p:cNvPr>
          <p:cNvSpPr>
            <a:spLocks noGrp="1" noChangeArrowheads="1"/>
          </p:cNvSpPr>
          <p:nvPr>
            <p:ph type="body" idx="1"/>
          </p:nvPr>
        </p:nvSpPr>
        <p:spPr>
          <a:xfrm>
            <a:off x="468313" y="1268413"/>
            <a:ext cx="8135937" cy="5189755"/>
          </a:xfrm>
        </p:spPr>
        <p:txBody>
          <a:bodyPr lIns="92075" tIns="46038" rIns="92075" bIns="46038">
            <a:spAutoFit/>
          </a:bodyPr>
          <a:lstStyle/>
          <a:p>
            <a:pPr algn="just">
              <a:defRPr/>
            </a:pPr>
            <a:r>
              <a:rPr lang="en-US" sz="2400" dirty="0"/>
              <a:t>You can change a column’s </a:t>
            </a:r>
            <a:r>
              <a:rPr lang="en-US" sz="2400" dirty="0" err="1"/>
              <a:t>datatype</a:t>
            </a:r>
            <a:r>
              <a:rPr lang="en-US" sz="2400" dirty="0"/>
              <a:t>, size, and default value.</a:t>
            </a:r>
          </a:p>
          <a:p>
            <a:pPr lvl="1">
              <a:buFontTx/>
              <a:buNone/>
              <a:defRPr/>
            </a:pPr>
            <a:endParaRPr lang="en-US" dirty="0"/>
          </a:p>
          <a:p>
            <a:pPr lvl="1">
              <a:buFontTx/>
              <a:buNone/>
              <a:defRPr/>
            </a:pPr>
            <a:endParaRPr lang="en-US" dirty="0"/>
          </a:p>
          <a:p>
            <a:pPr lvl="1">
              <a:buFontTx/>
              <a:buNone/>
              <a:defRPr/>
            </a:pPr>
            <a:endParaRPr lang="en-US" dirty="0"/>
          </a:p>
          <a:p>
            <a:pPr algn="just">
              <a:defRPr/>
            </a:pPr>
            <a:r>
              <a:rPr lang="en-US" sz="2400" dirty="0"/>
              <a:t>A change to the default value affects only subsequent insertions to the table.</a:t>
            </a:r>
          </a:p>
          <a:p>
            <a:pPr lvl="1">
              <a:defRPr/>
            </a:pPr>
            <a:endParaRPr lang="en-US" dirty="0"/>
          </a:p>
          <a:p>
            <a:pPr lvl="1">
              <a:defRPr/>
            </a:pPr>
            <a:endParaRPr lang="en-US" dirty="0"/>
          </a:p>
          <a:p>
            <a:pPr marL="457200" lvl="1" indent="0">
              <a:buFontTx/>
              <a:buNone/>
              <a:defRPr/>
            </a:pPr>
            <a:r>
              <a:rPr lang="en-US" dirty="0">
                <a:solidFill>
                  <a:srgbClr val="FF0000"/>
                </a:solidFill>
              </a:rPr>
              <a:t>****************************************************</a:t>
            </a:r>
          </a:p>
          <a:p>
            <a:pPr lvl="1">
              <a:defRPr/>
            </a:pPr>
            <a:r>
              <a:rPr lang="en-US" dirty="0">
                <a:solidFill>
                  <a:srgbClr val="FF0000"/>
                </a:solidFill>
              </a:rPr>
              <a:t>ALTER TABLE t </a:t>
            </a:r>
            <a:r>
              <a:rPr lang="en-US" dirty="0">
                <a:solidFill>
                  <a:schemeClr val="accent6"/>
                </a:solidFill>
              </a:rPr>
              <a:t>READ ONLY</a:t>
            </a:r>
          </a:p>
          <a:p>
            <a:pPr lvl="1">
              <a:defRPr/>
            </a:pPr>
            <a:r>
              <a:rPr lang="en-US" dirty="0">
                <a:solidFill>
                  <a:srgbClr val="FF0000"/>
                </a:solidFill>
              </a:rPr>
              <a:t>ALTER TABLE t </a:t>
            </a:r>
            <a:r>
              <a:rPr lang="en-US" dirty="0">
                <a:solidFill>
                  <a:schemeClr val="accent6"/>
                </a:solidFill>
              </a:rPr>
              <a:t>READ WRITE</a:t>
            </a:r>
          </a:p>
        </p:txBody>
      </p:sp>
      <p:sp>
        <p:nvSpPr>
          <p:cNvPr id="71684" name="Rectangle 4">
            <a:extLst>
              <a:ext uri="{FF2B5EF4-FFF2-40B4-BE49-F238E27FC236}">
                <a16:creationId xmlns:a16="http://schemas.microsoft.com/office/drawing/2014/main" id="{85D76A41-7D26-1C01-73CF-9ABCE3FD9798}"/>
              </a:ext>
            </a:extLst>
          </p:cNvPr>
          <p:cNvSpPr>
            <a:spLocks noChangeArrowheads="1"/>
          </p:cNvSpPr>
          <p:nvPr/>
        </p:nvSpPr>
        <p:spPr bwMode="blackWhite">
          <a:xfrm>
            <a:off x="890588" y="2266950"/>
            <a:ext cx="7510462" cy="9461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419845" name="Rectangle 5">
            <a:extLst>
              <a:ext uri="{FF2B5EF4-FFF2-40B4-BE49-F238E27FC236}">
                <a16:creationId xmlns:a16="http://schemas.microsoft.com/office/drawing/2014/main" id="{3DA078B6-9FF0-F802-2449-80741016113F}"/>
              </a:ext>
            </a:extLst>
          </p:cNvPr>
          <p:cNvSpPr>
            <a:spLocks noChangeArrowheads="1"/>
          </p:cNvSpPr>
          <p:nvPr/>
        </p:nvSpPr>
        <p:spPr bwMode="blackWhite">
          <a:xfrm>
            <a:off x="971550" y="2319338"/>
            <a:ext cx="6578600" cy="860425"/>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ALTER TABLE	dept30</a:t>
            </a:r>
          </a:p>
          <a:p>
            <a:pPr>
              <a:tabLst>
                <a:tab pos="1200150" algn="l"/>
              </a:tabLst>
              <a:defRPr/>
            </a:pPr>
            <a:r>
              <a:rPr lang="en-US" sz="1800" b="1">
                <a:solidFill>
                  <a:srgbClr val="000000"/>
                </a:solidFill>
                <a:latin typeface="Courier New" pitchFamily="49" charset="0"/>
              </a:rPr>
              <a:t>MODIFY		(ename VARCHAR2(15));</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Table altered.</a:t>
            </a: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645CB976-EBD4-0D71-448B-3370AD6F208F}"/>
              </a:ext>
            </a:extLst>
          </p:cNvPr>
          <p:cNvSpPr>
            <a:spLocks noGrp="1" noChangeArrowheads="1"/>
          </p:cNvSpPr>
          <p:nvPr>
            <p:ph type="title"/>
          </p:nvPr>
        </p:nvSpPr>
        <p:spPr>
          <a:xfrm>
            <a:off x="323850" y="588963"/>
            <a:ext cx="3346450" cy="536575"/>
          </a:xfrm>
          <a:noFill/>
        </p:spPr>
        <p:txBody>
          <a:bodyPr lIns="92075" tIns="46038" rIns="92075" bIns="46038" anchor="t"/>
          <a:lstStyle/>
          <a:p>
            <a:r>
              <a:rPr lang="en-US" altLang="en-US" sz="2800">
                <a:solidFill>
                  <a:srgbClr val="800000"/>
                </a:solidFill>
              </a:rPr>
              <a:t>Modifying a Column</a:t>
            </a:r>
          </a:p>
        </p:txBody>
      </p:sp>
      <p:sp>
        <p:nvSpPr>
          <p:cNvPr id="73731" name="Rectangle 3">
            <a:extLst>
              <a:ext uri="{FF2B5EF4-FFF2-40B4-BE49-F238E27FC236}">
                <a16:creationId xmlns:a16="http://schemas.microsoft.com/office/drawing/2014/main" id="{E176BA14-2AAB-0A9E-AAA7-ABED219860A5}"/>
              </a:ext>
            </a:extLst>
          </p:cNvPr>
          <p:cNvSpPr>
            <a:spLocks noGrp="1" noChangeArrowheads="1"/>
          </p:cNvSpPr>
          <p:nvPr>
            <p:ph type="body" idx="1"/>
          </p:nvPr>
        </p:nvSpPr>
        <p:spPr>
          <a:xfrm>
            <a:off x="468313" y="1268413"/>
            <a:ext cx="8135937" cy="3933825"/>
          </a:xfrm>
        </p:spPr>
        <p:txBody>
          <a:bodyPr lIns="92075" tIns="46038" rIns="92075" bIns="46038">
            <a:spAutoFit/>
          </a:bodyPr>
          <a:lstStyle/>
          <a:p>
            <a:pPr algn="just"/>
            <a:r>
              <a:rPr lang="en-US" altLang="en-US" sz="2400"/>
              <a:t>You can increase the length of the CHAR column and the precision of numeric column. Increasing the length of CHAR column requires blank padding.</a:t>
            </a:r>
          </a:p>
          <a:p>
            <a:pPr algn="just"/>
            <a:r>
              <a:rPr lang="en-US" altLang="en-US" sz="2400"/>
              <a:t> You can decrease the length of a VARCHAR2 and reduce the precision of a numeric column, if all the data in the column fits new length. </a:t>
            </a:r>
          </a:p>
          <a:p>
            <a:pPr algn="just"/>
            <a:r>
              <a:rPr lang="en-US" altLang="en-US" sz="2400"/>
              <a:t>The column values must be NULL to change the column’s datatype. However, the the non-empty columns with datatypes CHAR and VARCHAR2 are interchangeable by keeping the size unchanged. </a:t>
            </a: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22A27A97-500B-E78E-18EB-997BC18A7B4F}"/>
              </a:ext>
            </a:extLst>
          </p:cNvPr>
          <p:cNvSpPr>
            <a:spLocks noGrp="1" noChangeArrowheads="1"/>
          </p:cNvSpPr>
          <p:nvPr>
            <p:ph type="title"/>
          </p:nvPr>
        </p:nvSpPr>
        <p:spPr>
          <a:xfrm>
            <a:off x="323850" y="588963"/>
            <a:ext cx="6624638" cy="536575"/>
          </a:xfrm>
          <a:noFill/>
        </p:spPr>
        <p:txBody>
          <a:bodyPr lIns="92075" tIns="46038" rIns="92075" bIns="46038" anchor="t"/>
          <a:lstStyle/>
          <a:p>
            <a:r>
              <a:rPr lang="en-US" altLang="en-US" sz="2800">
                <a:solidFill>
                  <a:srgbClr val="800000"/>
                </a:solidFill>
              </a:rPr>
              <a:t>Dropping and Renaming a Column</a:t>
            </a:r>
          </a:p>
        </p:txBody>
      </p:sp>
      <p:sp>
        <p:nvSpPr>
          <p:cNvPr id="75779" name="Rectangle 3">
            <a:extLst>
              <a:ext uri="{FF2B5EF4-FFF2-40B4-BE49-F238E27FC236}">
                <a16:creationId xmlns:a16="http://schemas.microsoft.com/office/drawing/2014/main" id="{F09517CC-9EEC-DCE4-E834-ADDCB2E84B1A}"/>
              </a:ext>
            </a:extLst>
          </p:cNvPr>
          <p:cNvSpPr>
            <a:spLocks noGrp="1" noChangeArrowheads="1"/>
          </p:cNvSpPr>
          <p:nvPr>
            <p:ph type="body" idx="1"/>
          </p:nvPr>
        </p:nvSpPr>
        <p:spPr>
          <a:xfrm>
            <a:off x="500063" y="1428750"/>
            <a:ext cx="8286750" cy="2524125"/>
          </a:xfrm>
          <a:noFill/>
        </p:spPr>
        <p:txBody>
          <a:bodyPr lIns="92075" tIns="46038" rIns="92075" bIns="46038">
            <a:spAutoFit/>
          </a:bodyPr>
          <a:lstStyle/>
          <a:p>
            <a:pPr>
              <a:spcBef>
                <a:spcPts val="600"/>
              </a:spcBef>
              <a:spcAft>
                <a:spcPts val="600"/>
              </a:spcAft>
            </a:pPr>
            <a:r>
              <a:rPr lang="en-US" altLang="en-US"/>
              <a:t>Use the DROP COLUMN clause to drop columns you no longer need from the table.</a:t>
            </a:r>
          </a:p>
          <a:p>
            <a:pPr lvl="1">
              <a:spcBef>
                <a:spcPts val="600"/>
              </a:spcBef>
              <a:spcAft>
                <a:spcPts val="600"/>
              </a:spcAft>
            </a:pPr>
            <a:endParaRPr lang="en-US" altLang="en-US"/>
          </a:p>
          <a:p>
            <a:pPr lvl="1">
              <a:spcBef>
                <a:spcPts val="600"/>
              </a:spcBef>
              <a:spcAft>
                <a:spcPts val="600"/>
              </a:spcAft>
            </a:pPr>
            <a:endParaRPr lang="en-US" altLang="en-US"/>
          </a:p>
          <a:p>
            <a:pPr lvl="1">
              <a:spcBef>
                <a:spcPts val="600"/>
              </a:spcBef>
              <a:spcAft>
                <a:spcPts val="600"/>
              </a:spcAft>
              <a:buFontTx/>
              <a:buNone/>
            </a:pPr>
            <a:endParaRPr lang="en-US" altLang="en-US"/>
          </a:p>
        </p:txBody>
      </p:sp>
      <p:sp>
        <p:nvSpPr>
          <p:cNvPr id="75780" name="Rectangle 4">
            <a:extLst>
              <a:ext uri="{FF2B5EF4-FFF2-40B4-BE49-F238E27FC236}">
                <a16:creationId xmlns:a16="http://schemas.microsoft.com/office/drawing/2014/main" id="{A9658299-9697-FFCF-9595-19C2ED470FFF}"/>
              </a:ext>
            </a:extLst>
          </p:cNvPr>
          <p:cNvSpPr>
            <a:spLocks noChangeArrowheads="1"/>
          </p:cNvSpPr>
          <p:nvPr/>
        </p:nvSpPr>
        <p:spPr bwMode="blackWhite">
          <a:xfrm>
            <a:off x="914400" y="2557463"/>
            <a:ext cx="7510463" cy="9461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419845" name="Rectangle 5">
            <a:extLst>
              <a:ext uri="{FF2B5EF4-FFF2-40B4-BE49-F238E27FC236}">
                <a16:creationId xmlns:a16="http://schemas.microsoft.com/office/drawing/2014/main" id="{C005FE4B-71F2-63AE-BCDB-1CC42E07703A}"/>
              </a:ext>
            </a:extLst>
          </p:cNvPr>
          <p:cNvSpPr>
            <a:spLocks noChangeArrowheads="1"/>
          </p:cNvSpPr>
          <p:nvPr/>
        </p:nvSpPr>
        <p:spPr bwMode="blackWhite">
          <a:xfrm>
            <a:off x="995363" y="2609850"/>
            <a:ext cx="6578600" cy="860425"/>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dirty="0">
                <a:solidFill>
                  <a:srgbClr val="000000"/>
                </a:solidFill>
                <a:latin typeface="Courier New" pitchFamily="49" charset="0"/>
              </a:rPr>
              <a:t>ALTER TABLE	dept30</a:t>
            </a:r>
          </a:p>
          <a:p>
            <a:pPr>
              <a:tabLst>
                <a:tab pos="1200150" algn="l"/>
              </a:tabLst>
              <a:defRPr/>
            </a:pPr>
            <a:r>
              <a:rPr lang="en-US" sz="1800" b="1" dirty="0">
                <a:solidFill>
                  <a:srgbClr val="000000"/>
                </a:solidFill>
                <a:latin typeface="Courier New" pitchFamily="49" charset="0"/>
              </a:rPr>
              <a:t>DROP COLUMN Job; </a:t>
            </a:r>
          </a:p>
          <a:p>
            <a:pPr>
              <a:tabLst>
                <a:tab pos="1200150" algn="l"/>
              </a:tabLst>
              <a:defRPr/>
            </a:pPr>
            <a:r>
              <a:rPr lang="en-US" sz="1800" b="1" dirty="0">
                <a:solidFill>
                  <a:srgbClr val="FF3300"/>
                </a:solidFill>
                <a:effectLst>
                  <a:outerShdw blurRad="38100" dist="38100" dir="2700000" algn="tl">
                    <a:srgbClr val="000000"/>
                  </a:outerShdw>
                </a:effectLst>
                <a:latin typeface="Courier New" pitchFamily="49" charset="0"/>
              </a:rPr>
              <a:t>Table altered.</a:t>
            </a:r>
          </a:p>
        </p:txBody>
      </p:sp>
      <p:sp>
        <p:nvSpPr>
          <p:cNvPr id="75782" name="Rectangle 3">
            <a:extLst>
              <a:ext uri="{FF2B5EF4-FFF2-40B4-BE49-F238E27FC236}">
                <a16:creationId xmlns:a16="http://schemas.microsoft.com/office/drawing/2014/main" id="{3A3761FD-49A7-8240-72E3-5290B42EEABE}"/>
              </a:ext>
            </a:extLst>
          </p:cNvPr>
          <p:cNvSpPr txBox="1">
            <a:spLocks noChangeArrowheads="1"/>
          </p:cNvSpPr>
          <p:nvPr/>
        </p:nvSpPr>
        <p:spPr bwMode="auto">
          <a:xfrm>
            <a:off x="539750" y="3784600"/>
            <a:ext cx="8286750" cy="200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ts val="600"/>
              </a:spcBef>
              <a:spcAft>
                <a:spcPts val="600"/>
              </a:spcAft>
            </a:pPr>
            <a:r>
              <a:rPr lang="en-US" altLang="en-US"/>
              <a:t>Use the RENAME COLUMN clause to rename a col. </a:t>
            </a:r>
          </a:p>
          <a:p>
            <a:pPr lvl="1">
              <a:spcBef>
                <a:spcPts val="600"/>
              </a:spcBef>
              <a:spcAft>
                <a:spcPts val="600"/>
              </a:spcAft>
            </a:pPr>
            <a:endParaRPr lang="en-US" altLang="en-US"/>
          </a:p>
          <a:p>
            <a:pPr lvl="1">
              <a:spcBef>
                <a:spcPts val="600"/>
              </a:spcBef>
              <a:spcAft>
                <a:spcPts val="600"/>
              </a:spcAft>
              <a:buFontTx/>
              <a:buNone/>
            </a:pPr>
            <a:endParaRPr lang="en-US" altLang="en-US"/>
          </a:p>
        </p:txBody>
      </p:sp>
      <p:sp>
        <p:nvSpPr>
          <p:cNvPr id="75783" name="Rectangle 4">
            <a:extLst>
              <a:ext uri="{FF2B5EF4-FFF2-40B4-BE49-F238E27FC236}">
                <a16:creationId xmlns:a16="http://schemas.microsoft.com/office/drawing/2014/main" id="{AC0957D2-B1D3-7841-5ADC-2F91C1AC9599}"/>
              </a:ext>
            </a:extLst>
          </p:cNvPr>
          <p:cNvSpPr>
            <a:spLocks noChangeArrowheads="1"/>
          </p:cNvSpPr>
          <p:nvPr/>
        </p:nvSpPr>
        <p:spPr bwMode="blackWhite">
          <a:xfrm>
            <a:off x="914400" y="4994275"/>
            <a:ext cx="7510463" cy="9461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8" name="Rectangle 5">
            <a:extLst>
              <a:ext uri="{FF2B5EF4-FFF2-40B4-BE49-F238E27FC236}">
                <a16:creationId xmlns:a16="http://schemas.microsoft.com/office/drawing/2014/main" id="{78E45AB7-B200-0231-3B91-D3FE4F8E1718}"/>
              </a:ext>
            </a:extLst>
          </p:cNvPr>
          <p:cNvSpPr>
            <a:spLocks noChangeArrowheads="1"/>
          </p:cNvSpPr>
          <p:nvPr/>
        </p:nvSpPr>
        <p:spPr bwMode="blackWhite">
          <a:xfrm>
            <a:off x="995363" y="5046663"/>
            <a:ext cx="6578600" cy="860425"/>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dirty="0">
                <a:solidFill>
                  <a:srgbClr val="000000"/>
                </a:solidFill>
                <a:latin typeface="Courier New" pitchFamily="49" charset="0"/>
              </a:rPr>
              <a:t>ALTER TABLE	dept30</a:t>
            </a:r>
          </a:p>
          <a:p>
            <a:pPr>
              <a:tabLst>
                <a:tab pos="1200150" algn="l"/>
              </a:tabLst>
              <a:defRPr/>
            </a:pPr>
            <a:r>
              <a:rPr lang="en-US" sz="1800" b="1" dirty="0">
                <a:solidFill>
                  <a:srgbClr val="000000"/>
                </a:solidFill>
                <a:latin typeface="Courier New" pitchFamily="49" charset="0"/>
              </a:rPr>
              <a:t>RENAME COLUMN Job TO Designation; </a:t>
            </a:r>
          </a:p>
          <a:p>
            <a:pPr>
              <a:tabLst>
                <a:tab pos="1200150" algn="l"/>
              </a:tabLst>
              <a:defRPr/>
            </a:pPr>
            <a:r>
              <a:rPr lang="en-US" sz="1800" b="1" dirty="0">
                <a:solidFill>
                  <a:srgbClr val="FF3300"/>
                </a:solidFill>
                <a:effectLst>
                  <a:outerShdw blurRad="38100" dist="38100" dir="2700000" algn="tl">
                    <a:srgbClr val="000000"/>
                  </a:outerShdw>
                </a:effectLst>
                <a:latin typeface="Courier New" pitchFamily="49" charset="0"/>
              </a:rPr>
              <a:t>Table altered.</a:t>
            </a: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3CF71949-7B49-00A8-0A78-F743DDFE4EB4}"/>
              </a:ext>
            </a:extLst>
          </p:cNvPr>
          <p:cNvSpPr>
            <a:spLocks noGrp="1" noChangeArrowheads="1"/>
          </p:cNvSpPr>
          <p:nvPr>
            <p:ph type="title"/>
          </p:nvPr>
        </p:nvSpPr>
        <p:spPr>
          <a:xfrm>
            <a:off x="360363" y="660400"/>
            <a:ext cx="3490912" cy="536575"/>
          </a:xfrm>
          <a:noFill/>
        </p:spPr>
        <p:txBody>
          <a:bodyPr lIns="92075" tIns="46038" rIns="92075" bIns="46038" anchor="t"/>
          <a:lstStyle/>
          <a:p>
            <a:r>
              <a:rPr lang="en-US" altLang="en-US" sz="2800">
                <a:solidFill>
                  <a:srgbClr val="800000"/>
                </a:solidFill>
              </a:rPr>
              <a:t>Adding a Constraint</a:t>
            </a:r>
          </a:p>
        </p:txBody>
      </p:sp>
      <p:sp>
        <p:nvSpPr>
          <p:cNvPr id="77827" name="Rectangle 3">
            <a:extLst>
              <a:ext uri="{FF2B5EF4-FFF2-40B4-BE49-F238E27FC236}">
                <a16:creationId xmlns:a16="http://schemas.microsoft.com/office/drawing/2014/main" id="{7B629376-3EF9-306B-D1DB-99043FA638C4}"/>
              </a:ext>
            </a:extLst>
          </p:cNvPr>
          <p:cNvSpPr>
            <a:spLocks noGrp="1" noChangeArrowheads="1"/>
          </p:cNvSpPr>
          <p:nvPr>
            <p:ph type="body" idx="1"/>
          </p:nvPr>
        </p:nvSpPr>
        <p:spPr>
          <a:xfrm>
            <a:off x="860425" y="2674938"/>
            <a:ext cx="7385050" cy="1187450"/>
          </a:xfrm>
          <a:noFill/>
        </p:spPr>
        <p:txBody>
          <a:bodyPr lIns="92075" tIns="46038" rIns="92075" bIns="46038">
            <a:spAutoFit/>
          </a:bodyPr>
          <a:lstStyle/>
          <a:p>
            <a:r>
              <a:rPr lang="en-US" altLang="en-US" sz="2400"/>
              <a:t>Add a FOREIGN KEY constraint to the EMP table indicating that a manager must already exist as a valid employee in the EMP table.</a:t>
            </a:r>
          </a:p>
        </p:txBody>
      </p:sp>
      <p:sp>
        <p:nvSpPr>
          <p:cNvPr id="77828" name="Rectangle 4">
            <a:extLst>
              <a:ext uri="{FF2B5EF4-FFF2-40B4-BE49-F238E27FC236}">
                <a16:creationId xmlns:a16="http://schemas.microsoft.com/office/drawing/2014/main" id="{07443FD6-705B-EAEE-7B92-F3E307472C43}"/>
              </a:ext>
            </a:extLst>
          </p:cNvPr>
          <p:cNvSpPr>
            <a:spLocks noChangeArrowheads="1"/>
          </p:cNvSpPr>
          <p:nvPr/>
        </p:nvSpPr>
        <p:spPr bwMode="blackWhite">
          <a:xfrm>
            <a:off x="931863" y="1792288"/>
            <a:ext cx="7493000" cy="6905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ALTER TABLE	 </a:t>
            </a:r>
            <a:r>
              <a:rPr lang="en-US" altLang="en-US" sz="1800" b="1" i="1">
                <a:solidFill>
                  <a:srgbClr val="000000"/>
                </a:solidFill>
                <a:latin typeface="Courier New" panose="02070309020205020404" pitchFamily="49" charset="0"/>
              </a:rPr>
              <a:t>table</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  ADD [CONSTRAINT </a:t>
            </a:r>
            <a:r>
              <a:rPr lang="en-US" altLang="en-US" sz="1800" b="1" i="1">
                <a:solidFill>
                  <a:srgbClr val="000000"/>
                </a:solidFill>
                <a:latin typeface="Courier New" panose="02070309020205020404" pitchFamily="49" charset="0"/>
              </a:rPr>
              <a:t>constraint</a:t>
            </a:r>
            <a:r>
              <a:rPr lang="en-US" altLang="en-US" sz="1800" b="1">
                <a:solidFill>
                  <a:srgbClr val="000000"/>
                </a:solidFill>
                <a:latin typeface="Courier New" panose="02070309020205020404" pitchFamily="49" charset="0"/>
              </a:rPr>
              <a:t>] </a:t>
            </a:r>
            <a:r>
              <a:rPr lang="en-US" altLang="en-US" sz="1800" b="1" i="1">
                <a:solidFill>
                  <a:srgbClr val="000000"/>
                </a:solidFill>
                <a:latin typeface="Courier New" panose="02070309020205020404" pitchFamily="49" charset="0"/>
              </a:rPr>
              <a:t>type </a:t>
            </a:r>
            <a:r>
              <a:rPr lang="en-US" altLang="en-US" sz="1800" b="1">
                <a:solidFill>
                  <a:srgbClr val="000000"/>
                </a:solidFill>
                <a:latin typeface="Courier New" panose="02070309020205020404" pitchFamily="49" charset="0"/>
              </a:rPr>
              <a:t>(</a:t>
            </a:r>
            <a:r>
              <a:rPr lang="en-US" altLang="en-US" sz="1800" b="1" i="1">
                <a:solidFill>
                  <a:srgbClr val="000000"/>
                </a:solidFill>
                <a:latin typeface="Courier New" panose="02070309020205020404" pitchFamily="49" charset="0"/>
              </a:rPr>
              <a:t>column</a:t>
            </a:r>
            <a:r>
              <a:rPr lang="en-US" altLang="en-US" sz="1800" b="1">
                <a:solidFill>
                  <a:srgbClr val="000000"/>
                </a:solidFill>
                <a:latin typeface="Courier New" panose="02070309020205020404" pitchFamily="49" charset="0"/>
              </a:rPr>
              <a:t>);</a:t>
            </a:r>
          </a:p>
        </p:txBody>
      </p:sp>
      <p:sp>
        <p:nvSpPr>
          <p:cNvPr id="77829" name="Rectangle 5">
            <a:extLst>
              <a:ext uri="{FF2B5EF4-FFF2-40B4-BE49-F238E27FC236}">
                <a16:creationId xmlns:a16="http://schemas.microsoft.com/office/drawing/2014/main" id="{54AAED90-EA96-B4C6-0548-7FB847AEE9A4}"/>
              </a:ext>
            </a:extLst>
          </p:cNvPr>
          <p:cNvSpPr>
            <a:spLocks noChangeArrowheads="1"/>
          </p:cNvSpPr>
          <p:nvPr/>
        </p:nvSpPr>
        <p:spPr bwMode="blackWhite">
          <a:xfrm>
            <a:off x="930275" y="4143375"/>
            <a:ext cx="7494588" cy="12842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28038" name="Rectangle 6">
            <a:extLst>
              <a:ext uri="{FF2B5EF4-FFF2-40B4-BE49-F238E27FC236}">
                <a16:creationId xmlns:a16="http://schemas.microsoft.com/office/drawing/2014/main" id="{5B7B2B3E-7CD2-2EB2-C923-FAA7229ACC2F}"/>
              </a:ext>
            </a:extLst>
          </p:cNvPr>
          <p:cNvSpPr>
            <a:spLocks noChangeArrowheads="1"/>
          </p:cNvSpPr>
          <p:nvPr/>
        </p:nvSpPr>
        <p:spPr bwMode="blackWhite">
          <a:xfrm>
            <a:off x="993775" y="4054475"/>
            <a:ext cx="7480300" cy="1462088"/>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ALTER TABLE     emp</a:t>
            </a:r>
          </a:p>
          <a:p>
            <a:pPr>
              <a:tabLst>
                <a:tab pos="1200150" algn="l"/>
              </a:tabLst>
              <a:defRPr/>
            </a:pPr>
            <a:r>
              <a:rPr lang="en-US" sz="1800" b="1">
                <a:solidFill>
                  <a:srgbClr val="000000"/>
                </a:solidFill>
                <a:latin typeface="Courier New" pitchFamily="49" charset="0"/>
              </a:rPr>
              <a:t>  2  ADD CONSTRAINT  emp_mgr_fk </a:t>
            </a:r>
          </a:p>
          <a:p>
            <a:pPr>
              <a:tabLst>
                <a:tab pos="1200150" algn="l"/>
              </a:tabLst>
              <a:defRPr/>
            </a:pPr>
            <a:r>
              <a:rPr lang="en-US" sz="1800" b="1">
                <a:solidFill>
                  <a:srgbClr val="000000"/>
                </a:solidFill>
                <a:latin typeface="Courier New" pitchFamily="49" charset="0"/>
              </a:rPr>
              <a:t>  3  		FOREIGN KEY(mgr) REFERENCES emp(empno);</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Table altered.</a:t>
            </a: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FA122185-D75E-C0FB-1EFF-66828644A589}"/>
              </a:ext>
            </a:extLst>
          </p:cNvPr>
          <p:cNvSpPr>
            <a:spLocks noGrp="1" noChangeArrowheads="1"/>
          </p:cNvSpPr>
          <p:nvPr>
            <p:ph type="title"/>
          </p:nvPr>
        </p:nvSpPr>
        <p:spPr>
          <a:xfrm>
            <a:off x="360363" y="660400"/>
            <a:ext cx="3490912" cy="536575"/>
          </a:xfrm>
          <a:noFill/>
        </p:spPr>
        <p:txBody>
          <a:bodyPr lIns="92075" tIns="46038" rIns="92075" bIns="46038" anchor="t"/>
          <a:lstStyle/>
          <a:p>
            <a:r>
              <a:rPr lang="en-US" altLang="en-US" sz="2800">
                <a:solidFill>
                  <a:srgbClr val="800000"/>
                </a:solidFill>
              </a:rPr>
              <a:t>Adding a Constraint</a:t>
            </a:r>
          </a:p>
        </p:txBody>
      </p:sp>
      <p:sp>
        <p:nvSpPr>
          <p:cNvPr id="75779" name="Rectangle 3">
            <a:extLst>
              <a:ext uri="{FF2B5EF4-FFF2-40B4-BE49-F238E27FC236}">
                <a16:creationId xmlns:a16="http://schemas.microsoft.com/office/drawing/2014/main" id="{4604CA9E-55C1-4E96-4C18-46B4695E7918}"/>
              </a:ext>
            </a:extLst>
          </p:cNvPr>
          <p:cNvSpPr>
            <a:spLocks noGrp="1" noChangeArrowheads="1"/>
          </p:cNvSpPr>
          <p:nvPr>
            <p:ph type="body" idx="1"/>
          </p:nvPr>
        </p:nvSpPr>
        <p:spPr>
          <a:xfrm>
            <a:off x="360363" y="1196975"/>
            <a:ext cx="8243887" cy="3933825"/>
          </a:xfrm>
        </p:spPr>
        <p:txBody>
          <a:bodyPr lIns="92075" tIns="46038" rIns="92075" bIns="46038">
            <a:spAutoFit/>
          </a:bodyPr>
          <a:lstStyle/>
          <a:p>
            <a:pPr>
              <a:defRPr/>
            </a:pPr>
            <a:r>
              <a:rPr lang="en-US" altLang="en-US" sz="2400" dirty="0">
                <a:solidFill>
                  <a:schemeClr val="accent2"/>
                </a:solidFill>
              </a:rPr>
              <a:t>UNIQUE</a:t>
            </a:r>
            <a:r>
              <a:rPr lang="en-US" altLang="en-US" sz="2400" dirty="0"/>
              <a:t> constraint</a:t>
            </a:r>
          </a:p>
          <a:p>
            <a:pPr>
              <a:defRPr/>
            </a:pPr>
            <a:endParaRPr lang="en-US" altLang="en-US" sz="2400" dirty="0"/>
          </a:p>
          <a:p>
            <a:pPr>
              <a:defRPr/>
            </a:pPr>
            <a:endParaRPr lang="en-US" altLang="en-US" sz="2400" dirty="0"/>
          </a:p>
          <a:p>
            <a:pPr>
              <a:defRPr/>
            </a:pPr>
            <a:r>
              <a:rPr lang="en-US" altLang="en-US" sz="2400" dirty="0">
                <a:solidFill>
                  <a:schemeClr val="accent2"/>
                </a:solidFill>
              </a:rPr>
              <a:t>CHECK</a:t>
            </a:r>
            <a:r>
              <a:rPr lang="en-US" altLang="en-US" sz="2400" dirty="0"/>
              <a:t> constraint</a:t>
            </a:r>
          </a:p>
          <a:p>
            <a:pPr>
              <a:defRPr/>
            </a:pPr>
            <a:endParaRPr lang="en-US" altLang="en-US" sz="2400" dirty="0"/>
          </a:p>
          <a:p>
            <a:pPr>
              <a:defRPr/>
            </a:pPr>
            <a:endParaRPr lang="en-US" altLang="en-US" sz="2400" dirty="0"/>
          </a:p>
          <a:p>
            <a:pPr>
              <a:lnSpc>
                <a:spcPct val="200000"/>
              </a:lnSpc>
              <a:defRPr/>
            </a:pPr>
            <a:r>
              <a:rPr lang="en-US" altLang="en-US" sz="2400" dirty="0">
                <a:solidFill>
                  <a:schemeClr val="accent2"/>
                </a:solidFill>
              </a:rPr>
              <a:t>NOT NULL</a:t>
            </a:r>
            <a:r>
              <a:rPr lang="en-US" altLang="en-US" sz="2400" dirty="0"/>
              <a:t> constraint</a:t>
            </a:r>
          </a:p>
          <a:p>
            <a:pPr marL="0" indent="0">
              <a:buFontTx/>
              <a:buNone/>
              <a:defRPr/>
            </a:pPr>
            <a:r>
              <a:rPr lang="en-US" altLang="en-US" sz="2400" dirty="0"/>
              <a:t> </a:t>
            </a:r>
          </a:p>
        </p:txBody>
      </p:sp>
      <p:sp>
        <p:nvSpPr>
          <p:cNvPr id="79876" name="Rectangle 4">
            <a:extLst>
              <a:ext uri="{FF2B5EF4-FFF2-40B4-BE49-F238E27FC236}">
                <a16:creationId xmlns:a16="http://schemas.microsoft.com/office/drawing/2014/main" id="{63D8857B-E87B-BB2D-27CE-ED4F97227054}"/>
              </a:ext>
            </a:extLst>
          </p:cNvPr>
          <p:cNvSpPr>
            <a:spLocks noChangeArrowheads="1"/>
          </p:cNvSpPr>
          <p:nvPr/>
        </p:nvSpPr>
        <p:spPr bwMode="blackWhite">
          <a:xfrm>
            <a:off x="827088" y="1658938"/>
            <a:ext cx="7493000" cy="6905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ALTER TABLE	 </a:t>
            </a:r>
            <a:r>
              <a:rPr lang="en-US" altLang="en-US" sz="1800" b="1" i="1">
                <a:solidFill>
                  <a:srgbClr val="000000"/>
                </a:solidFill>
                <a:latin typeface="Courier New" panose="02070309020205020404" pitchFamily="49" charset="0"/>
              </a:rPr>
              <a:t>employee</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  ADD CONSTRAINT  emp_cnic_uq UNIQUE (cnic);</a:t>
            </a:r>
          </a:p>
        </p:txBody>
      </p:sp>
      <p:sp>
        <p:nvSpPr>
          <p:cNvPr id="79877" name="Rectangle 4">
            <a:extLst>
              <a:ext uri="{FF2B5EF4-FFF2-40B4-BE49-F238E27FC236}">
                <a16:creationId xmlns:a16="http://schemas.microsoft.com/office/drawing/2014/main" id="{76B8A33C-B640-C62D-58E3-2641762500AA}"/>
              </a:ext>
            </a:extLst>
          </p:cNvPr>
          <p:cNvSpPr>
            <a:spLocks noChangeArrowheads="1"/>
          </p:cNvSpPr>
          <p:nvPr/>
        </p:nvSpPr>
        <p:spPr bwMode="blackWhite">
          <a:xfrm>
            <a:off x="900113" y="3062288"/>
            <a:ext cx="7419975" cy="9032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ALTER TABLE	 </a:t>
            </a:r>
            <a:r>
              <a:rPr lang="en-US" altLang="en-US" sz="1800" b="1" i="1">
                <a:solidFill>
                  <a:srgbClr val="000000"/>
                </a:solidFill>
                <a:latin typeface="Courier New" panose="02070309020205020404" pitchFamily="49" charset="0"/>
              </a:rPr>
              <a:t>employee</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ADD CONSTRAINT  emp_job_chk </a:t>
            </a:r>
          </a:p>
          <a:p>
            <a:pPr>
              <a:spcBef>
                <a:spcPct val="0"/>
              </a:spcBef>
              <a:buFontTx/>
              <a:buNone/>
            </a:pPr>
            <a:r>
              <a:rPr lang="en-US" altLang="en-US" sz="1800" b="1">
                <a:solidFill>
                  <a:srgbClr val="000000"/>
                </a:solidFill>
                <a:latin typeface="Courier New" panose="02070309020205020404" pitchFamily="49" charset="0"/>
              </a:rPr>
              <a:t>CHECK (job IN ('CLERK', 'MANAGER','ACCOUNTANT'));</a:t>
            </a:r>
          </a:p>
        </p:txBody>
      </p:sp>
      <p:sp>
        <p:nvSpPr>
          <p:cNvPr id="79878" name="Rectangle 4">
            <a:extLst>
              <a:ext uri="{FF2B5EF4-FFF2-40B4-BE49-F238E27FC236}">
                <a16:creationId xmlns:a16="http://schemas.microsoft.com/office/drawing/2014/main" id="{74FD8333-3712-FBDE-83CF-9DA206C529D9}"/>
              </a:ext>
            </a:extLst>
          </p:cNvPr>
          <p:cNvSpPr>
            <a:spLocks noChangeArrowheads="1"/>
          </p:cNvSpPr>
          <p:nvPr/>
        </p:nvSpPr>
        <p:spPr bwMode="blackWhite">
          <a:xfrm>
            <a:off x="736600" y="4581525"/>
            <a:ext cx="7867650" cy="69056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ALTER TABLE	 </a:t>
            </a:r>
            <a:r>
              <a:rPr lang="en-US" altLang="en-US" sz="1800" b="1" i="1">
                <a:solidFill>
                  <a:srgbClr val="000000"/>
                </a:solidFill>
                <a:latin typeface="Courier New" panose="02070309020205020404" pitchFamily="49" charset="0"/>
              </a:rPr>
              <a:t>employee</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  MODIFY ename CONSTRAINT  emp_ename_nn NOT NULL(ename);</a:t>
            </a: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FB5D2FD6-AADF-13DF-DFCA-A7F3CA7CBF58}"/>
              </a:ext>
            </a:extLst>
          </p:cNvPr>
          <p:cNvSpPr>
            <a:spLocks noGrp="1" noChangeArrowheads="1"/>
          </p:cNvSpPr>
          <p:nvPr>
            <p:ph type="title"/>
          </p:nvPr>
        </p:nvSpPr>
        <p:spPr>
          <a:xfrm>
            <a:off x="323850" y="660400"/>
            <a:ext cx="3778250" cy="536575"/>
          </a:xfrm>
          <a:noFill/>
        </p:spPr>
        <p:txBody>
          <a:bodyPr lIns="92075" tIns="46038" rIns="92075" bIns="46038" anchor="t"/>
          <a:lstStyle/>
          <a:p>
            <a:r>
              <a:rPr lang="en-US" altLang="en-US" sz="2800">
                <a:solidFill>
                  <a:srgbClr val="800000"/>
                </a:solidFill>
              </a:rPr>
              <a:t>Dropping a Constraint</a:t>
            </a:r>
          </a:p>
        </p:txBody>
      </p:sp>
      <p:sp>
        <p:nvSpPr>
          <p:cNvPr id="81923" name="Rectangle 3">
            <a:extLst>
              <a:ext uri="{FF2B5EF4-FFF2-40B4-BE49-F238E27FC236}">
                <a16:creationId xmlns:a16="http://schemas.microsoft.com/office/drawing/2014/main" id="{4AAB36AA-4E17-B6DA-BEA4-FFE0DEE08125}"/>
              </a:ext>
            </a:extLst>
          </p:cNvPr>
          <p:cNvSpPr>
            <a:spLocks noGrp="1" noChangeArrowheads="1"/>
          </p:cNvSpPr>
          <p:nvPr>
            <p:ph type="body" idx="1"/>
          </p:nvPr>
        </p:nvSpPr>
        <p:spPr>
          <a:xfrm>
            <a:off x="395288" y="1238250"/>
            <a:ext cx="8280400" cy="461963"/>
          </a:xfrm>
          <a:noFill/>
        </p:spPr>
        <p:txBody>
          <a:bodyPr lIns="92075" tIns="46038" rIns="92075" bIns="46038">
            <a:spAutoFit/>
          </a:bodyPr>
          <a:lstStyle/>
          <a:p>
            <a:r>
              <a:rPr lang="en-US" altLang="en-US" sz="2400"/>
              <a:t>Remove foreign key constraint from the EMP table.</a:t>
            </a:r>
          </a:p>
        </p:txBody>
      </p:sp>
      <p:sp>
        <p:nvSpPr>
          <p:cNvPr id="81924" name="Arc 4">
            <a:extLst>
              <a:ext uri="{FF2B5EF4-FFF2-40B4-BE49-F238E27FC236}">
                <a16:creationId xmlns:a16="http://schemas.microsoft.com/office/drawing/2014/main" id="{4A9F8CF1-3E57-EF93-A97B-20E87D1EE82B}"/>
              </a:ext>
            </a:extLst>
          </p:cNvPr>
          <p:cNvSpPr>
            <a:spLocks/>
          </p:cNvSpPr>
          <p:nvPr/>
        </p:nvSpPr>
        <p:spPr bwMode="ltGray">
          <a:xfrm>
            <a:off x="5419725" y="2266950"/>
            <a:ext cx="211138" cy="225425"/>
          </a:xfrm>
          <a:custGeom>
            <a:avLst/>
            <a:gdLst>
              <a:gd name="T0" fmla="*/ 2147483646 w 21600"/>
              <a:gd name="T1" fmla="*/ 2147483646 h 21600"/>
              <a:gd name="T2" fmla="*/ 0 w 21600"/>
              <a:gd name="T3" fmla="*/ 0 h 21600"/>
              <a:gd name="T4" fmla="*/ 2147483646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432133" name="Rectangle 5">
            <a:extLst>
              <a:ext uri="{FF2B5EF4-FFF2-40B4-BE49-F238E27FC236}">
                <a16:creationId xmlns:a16="http://schemas.microsoft.com/office/drawing/2014/main" id="{147A7A42-F8F0-65C9-66DD-7D4C1F4ED13D}"/>
              </a:ext>
            </a:extLst>
          </p:cNvPr>
          <p:cNvSpPr>
            <a:spLocks noChangeArrowheads="1"/>
          </p:cNvSpPr>
          <p:nvPr/>
        </p:nvSpPr>
        <p:spPr bwMode="blackWhite">
          <a:xfrm>
            <a:off x="862013" y="1736725"/>
            <a:ext cx="7496175" cy="828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ALTER TABLE	  emp</a:t>
            </a:r>
          </a:p>
          <a:p>
            <a:pPr>
              <a:tabLst>
                <a:tab pos="1200150" algn="l"/>
              </a:tabLst>
              <a:defRPr/>
            </a:pPr>
            <a:r>
              <a:rPr lang="en-US" sz="1800" b="1">
                <a:solidFill>
                  <a:srgbClr val="000000"/>
                </a:solidFill>
                <a:latin typeface="Courier New" pitchFamily="49" charset="0"/>
              </a:rPr>
              <a:t>  2  DROP CONSTRAINT  emp_mgr_fk;</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Table altered.</a:t>
            </a:r>
          </a:p>
        </p:txBody>
      </p:sp>
      <p:sp>
        <p:nvSpPr>
          <p:cNvPr id="36870" name="Rectangle 6">
            <a:extLst>
              <a:ext uri="{FF2B5EF4-FFF2-40B4-BE49-F238E27FC236}">
                <a16:creationId xmlns:a16="http://schemas.microsoft.com/office/drawing/2014/main" id="{7EE0BCDF-A505-77F1-348D-FCA3446C787E}"/>
              </a:ext>
            </a:extLst>
          </p:cNvPr>
          <p:cNvSpPr>
            <a:spLocks noChangeArrowheads="1"/>
          </p:cNvSpPr>
          <p:nvPr/>
        </p:nvSpPr>
        <p:spPr bwMode="auto">
          <a:xfrm>
            <a:off x="539750" y="2708275"/>
            <a:ext cx="7818438" cy="1135063"/>
          </a:xfrm>
          <a:prstGeom prst="rect">
            <a:avLst/>
          </a:prstGeom>
          <a:noFill/>
          <a:ln>
            <a:noFill/>
          </a:ln>
        </p:spPr>
        <p:txBody>
          <a:bodyPr lIns="92075" tIns="46038" rIns="92075" bIns="46038">
            <a:spAutoFit/>
          </a:bodyPr>
          <a:lstStyle/>
          <a:p>
            <a:pPr lvl="1" indent="-342900" defTabSz="346075">
              <a:lnSpc>
                <a:spcPct val="95000"/>
              </a:lnSpc>
              <a:spcBef>
                <a:spcPct val="35000"/>
              </a:spcBef>
              <a:buClr>
                <a:srgbClr val="FFCC66"/>
              </a:buClr>
              <a:buSzPct val="100000"/>
              <a:buFont typeface="Arial" pitchFamily="34" charset="0"/>
              <a:buChar char="•"/>
              <a:tabLst>
                <a:tab pos="571500" algn="l"/>
              </a:tabLst>
              <a:defRPr/>
            </a:pPr>
            <a:r>
              <a:rPr lang="en-US" dirty="0">
                <a:latin typeface="+mn-lt"/>
              </a:rPr>
              <a:t>Remove the PRIMARY KEY constraint on the DEPT table and drop the associated FOREIGN KEY constraint on the EMP.DEPTNO column.</a:t>
            </a:r>
          </a:p>
        </p:txBody>
      </p:sp>
      <p:sp>
        <p:nvSpPr>
          <p:cNvPr id="432135" name="Rectangle 7">
            <a:extLst>
              <a:ext uri="{FF2B5EF4-FFF2-40B4-BE49-F238E27FC236}">
                <a16:creationId xmlns:a16="http://schemas.microsoft.com/office/drawing/2014/main" id="{E2B71E73-7974-334E-3A52-4451B3762E8B}"/>
              </a:ext>
            </a:extLst>
          </p:cNvPr>
          <p:cNvSpPr>
            <a:spLocks noChangeArrowheads="1"/>
          </p:cNvSpPr>
          <p:nvPr/>
        </p:nvSpPr>
        <p:spPr bwMode="blackWhite">
          <a:xfrm>
            <a:off x="862013" y="3943350"/>
            <a:ext cx="7470775" cy="828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sz="1800" b="1" dirty="0">
                <a:solidFill>
                  <a:srgbClr val="000000"/>
                </a:solidFill>
                <a:latin typeface="Courier New" pitchFamily="49" charset="0"/>
              </a:rPr>
              <a:t>SQL&gt; ALTER TABLE	</a:t>
            </a:r>
            <a:r>
              <a:rPr lang="en-US" sz="1800" b="1" dirty="0" err="1">
                <a:solidFill>
                  <a:srgbClr val="000000"/>
                </a:solidFill>
                <a:latin typeface="Courier New" pitchFamily="49" charset="0"/>
              </a:rPr>
              <a:t>dept</a:t>
            </a:r>
            <a:endParaRPr lang="en-US" sz="1800" b="1" dirty="0">
              <a:solidFill>
                <a:srgbClr val="000000"/>
              </a:solidFill>
              <a:latin typeface="Courier New" pitchFamily="49" charset="0"/>
            </a:endParaRPr>
          </a:p>
          <a:p>
            <a:pPr>
              <a:tabLst>
                <a:tab pos="1200150" algn="l"/>
              </a:tabLst>
              <a:defRPr/>
            </a:pPr>
            <a:r>
              <a:rPr lang="en-US" sz="1800" b="1" dirty="0">
                <a:solidFill>
                  <a:srgbClr val="000000"/>
                </a:solidFill>
                <a:latin typeface="Courier New" pitchFamily="49" charset="0"/>
              </a:rPr>
              <a:t>  2  DROP PRIMARY KEY CASCADE;</a:t>
            </a:r>
          </a:p>
          <a:p>
            <a:pPr>
              <a:tabLst>
                <a:tab pos="1200150" algn="l"/>
              </a:tabLst>
              <a:defRPr/>
            </a:pPr>
            <a:r>
              <a:rPr lang="en-US" sz="1800" b="1" dirty="0">
                <a:solidFill>
                  <a:srgbClr val="FF3300"/>
                </a:solidFill>
                <a:effectLst>
                  <a:outerShdw blurRad="38100" dist="38100" dir="2700000" algn="tl">
                    <a:srgbClr val="000000"/>
                  </a:outerShdw>
                </a:effectLst>
                <a:latin typeface="Courier New" pitchFamily="49" charset="0"/>
              </a:rPr>
              <a:t>Table altered.</a:t>
            </a:r>
          </a:p>
        </p:txBody>
      </p:sp>
      <p:sp>
        <p:nvSpPr>
          <p:cNvPr id="8" name="Rectangle 7">
            <a:extLst>
              <a:ext uri="{FF2B5EF4-FFF2-40B4-BE49-F238E27FC236}">
                <a16:creationId xmlns:a16="http://schemas.microsoft.com/office/drawing/2014/main" id="{00713D48-8C3A-8CFC-D13C-15A40183DA72}"/>
              </a:ext>
            </a:extLst>
          </p:cNvPr>
          <p:cNvSpPr>
            <a:spLocks noChangeArrowheads="1"/>
          </p:cNvSpPr>
          <p:nvPr/>
        </p:nvSpPr>
        <p:spPr bwMode="blackWhite">
          <a:xfrm>
            <a:off x="862013" y="5516563"/>
            <a:ext cx="7470775" cy="828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sz="1800" b="1" dirty="0">
                <a:solidFill>
                  <a:srgbClr val="000000"/>
                </a:solidFill>
                <a:latin typeface="Courier New" pitchFamily="49" charset="0"/>
              </a:rPr>
              <a:t>SQL&gt; ALTER TABLE	student</a:t>
            </a:r>
          </a:p>
          <a:p>
            <a:pPr>
              <a:tabLst>
                <a:tab pos="1200150" algn="l"/>
              </a:tabLst>
              <a:defRPr/>
            </a:pPr>
            <a:r>
              <a:rPr lang="en-US" sz="1800" b="1" dirty="0">
                <a:solidFill>
                  <a:srgbClr val="000000"/>
                </a:solidFill>
                <a:latin typeface="Courier New" pitchFamily="49" charset="0"/>
              </a:rPr>
              <a:t>  2  ALTER COLUMN program DROP DEFAULT;</a:t>
            </a:r>
          </a:p>
          <a:p>
            <a:pPr>
              <a:tabLst>
                <a:tab pos="1200150" algn="l"/>
              </a:tabLst>
              <a:defRPr/>
            </a:pPr>
            <a:r>
              <a:rPr lang="en-US" sz="1800" b="1" dirty="0">
                <a:solidFill>
                  <a:srgbClr val="FF3300"/>
                </a:solidFill>
                <a:effectLst>
                  <a:outerShdw blurRad="38100" dist="38100" dir="2700000" algn="tl">
                    <a:srgbClr val="000000"/>
                  </a:outerShdw>
                </a:effectLst>
                <a:latin typeface="Courier New" pitchFamily="49" charset="0"/>
              </a:rPr>
              <a:t>Table altered.</a:t>
            </a:r>
          </a:p>
        </p:txBody>
      </p:sp>
      <p:sp>
        <p:nvSpPr>
          <p:cNvPr id="81929" name="Rectangle 3">
            <a:extLst>
              <a:ext uri="{FF2B5EF4-FFF2-40B4-BE49-F238E27FC236}">
                <a16:creationId xmlns:a16="http://schemas.microsoft.com/office/drawing/2014/main" id="{A45B71C8-F003-55B6-6D02-CD41AC0502A0}"/>
              </a:ext>
            </a:extLst>
          </p:cNvPr>
          <p:cNvSpPr txBox="1">
            <a:spLocks noChangeArrowheads="1"/>
          </p:cNvSpPr>
          <p:nvPr/>
        </p:nvSpPr>
        <p:spPr bwMode="auto">
          <a:xfrm>
            <a:off x="547688" y="4941888"/>
            <a:ext cx="8280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r>
              <a:rPr lang="en-US" altLang="en-US" sz="2400"/>
              <a:t>To drop a DEFAULT constraint</a:t>
            </a: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21C23808-1E53-AF37-B93D-E9CB819BFAA3}"/>
              </a:ext>
            </a:extLst>
          </p:cNvPr>
          <p:cNvSpPr>
            <a:spLocks noGrp="1" noChangeArrowheads="1"/>
          </p:cNvSpPr>
          <p:nvPr>
            <p:ph type="title"/>
          </p:nvPr>
        </p:nvSpPr>
        <p:spPr>
          <a:xfrm>
            <a:off x="323850" y="620713"/>
            <a:ext cx="3562350" cy="536575"/>
          </a:xfrm>
          <a:noFill/>
        </p:spPr>
        <p:txBody>
          <a:bodyPr lIns="92075" tIns="46038" rIns="92075" bIns="46038" anchor="t"/>
          <a:lstStyle/>
          <a:p>
            <a:r>
              <a:rPr lang="en-US" altLang="en-US" sz="2800">
                <a:solidFill>
                  <a:srgbClr val="800000"/>
                </a:solidFill>
              </a:rPr>
              <a:t>Disabling Constraints</a:t>
            </a:r>
          </a:p>
        </p:txBody>
      </p:sp>
      <p:sp>
        <p:nvSpPr>
          <p:cNvPr id="83971" name="Rectangle 3">
            <a:extLst>
              <a:ext uri="{FF2B5EF4-FFF2-40B4-BE49-F238E27FC236}">
                <a16:creationId xmlns:a16="http://schemas.microsoft.com/office/drawing/2014/main" id="{5AF2BCC6-4284-45CB-10DC-E226C730310F}"/>
              </a:ext>
            </a:extLst>
          </p:cNvPr>
          <p:cNvSpPr>
            <a:spLocks noGrp="1" noChangeArrowheads="1"/>
          </p:cNvSpPr>
          <p:nvPr>
            <p:ph type="body" idx="1"/>
          </p:nvPr>
        </p:nvSpPr>
        <p:spPr>
          <a:xfrm>
            <a:off x="860425" y="1428750"/>
            <a:ext cx="7385050" cy="1990725"/>
          </a:xfrm>
          <a:noFill/>
        </p:spPr>
        <p:txBody>
          <a:bodyPr lIns="92075" tIns="46038" rIns="92075" bIns="46038">
            <a:spAutoFit/>
          </a:bodyPr>
          <a:lstStyle/>
          <a:p>
            <a:pPr lvl="1"/>
            <a:r>
              <a:rPr lang="en-US" altLang="en-US"/>
              <a:t>Execute the DISABLE clause of the ALTER TABLE statement to deactivate an integrity constraint.</a:t>
            </a:r>
          </a:p>
          <a:p>
            <a:pPr lvl="1"/>
            <a:r>
              <a:rPr lang="en-US" altLang="en-US"/>
              <a:t>Apply the CASCADE option to disable dependent integrity constraints.</a:t>
            </a:r>
          </a:p>
        </p:txBody>
      </p:sp>
      <p:sp>
        <p:nvSpPr>
          <p:cNvPr id="434180" name="Rectangle 4">
            <a:extLst>
              <a:ext uri="{FF2B5EF4-FFF2-40B4-BE49-F238E27FC236}">
                <a16:creationId xmlns:a16="http://schemas.microsoft.com/office/drawing/2014/main" id="{21FA27D4-EB17-39AC-E2D1-FC38541095DF}"/>
              </a:ext>
            </a:extLst>
          </p:cNvPr>
          <p:cNvSpPr>
            <a:spLocks noChangeArrowheads="1"/>
          </p:cNvSpPr>
          <p:nvPr/>
        </p:nvSpPr>
        <p:spPr bwMode="blackWhite">
          <a:xfrm>
            <a:off x="931863" y="3844925"/>
            <a:ext cx="7493000" cy="11334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ALTER TABLE		emp</a:t>
            </a:r>
          </a:p>
          <a:p>
            <a:pPr>
              <a:tabLst>
                <a:tab pos="1200150" algn="l"/>
              </a:tabLst>
              <a:defRPr/>
            </a:pPr>
            <a:r>
              <a:rPr lang="en-US" sz="1800" b="1">
                <a:solidFill>
                  <a:srgbClr val="000000"/>
                </a:solidFill>
                <a:latin typeface="Courier New" pitchFamily="49" charset="0"/>
              </a:rPr>
              <a:t>  2  DISABLE CONSTRAINT	emp_empno_pk CASCADE;</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Table altered.</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CEDA8BAB-F9EF-70EF-CAC4-947145FCF895}"/>
              </a:ext>
            </a:extLst>
          </p:cNvPr>
          <p:cNvSpPr>
            <a:spLocks noGrp="1" noChangeArrowheads="1"/>
          </p:cNvSpPr>
          <p:nvPr>
            <p:ph type="title"/>
          </p:nvPr>
        </p:nvSpPr>
        <p:spPr>
          <a:xfrm>
            <a:off x="323850" y="620713"/>
            <a:ext cx="3562350" cy="463550"/>
          </a:xfrm>
          <a:noFill/>
        </p:spPr>
        <p:txBody>
          <a:bodyPr lIns="92075" tIns="46038" rIns="92075" bIns="46038" anchor="t"/>
          <a:lstStyle/>
          <a:p>
            <a:r>
              <a:rPr lang="en-US" altLang="en-US" sz="2800">
                <a:solidFill>
                  <a:srgbClr val="800000"/>
                </a:solidFill>
              </a:rPr>
              <a:t>Enabling Constraints</a:t>
            </a:r>
          </a:p>
        </p:txBody>
      </p:sp>
      <p:sp>
        <p:nvSpPr>
          <p:cNvPr id="86019" name="Rectangle 3">
            <a:extLst>
              <a:ext uri="{FF2B5EF4-FFF2-40B4-BE49-F238E27FC236}">
                <a16:creationId xmlns:a16="http://schemas.microsoft.com/office/drawing/2014/main" id="{F69401BE-6D28-1283-9A96-7D598554D8A6}"/>
              </a:ext>
            </a:extLst>
          </p:cNvPr>
          <p:cNvSpPr>
            <a:spLocks noGrp="1" noChangeArrowheads="1"/>
          </p:cNvSpPr>
          <p:nvPr>
            <p:ph type="body" idx="1"/>
          </p:nvPr>
        </p:nvSpPr>
        <p:spPr>
          <a:xfrm>
            <a:off x="860425" y="1446213"/>
            <a:ext cx="7385050" cy="3889375"/>
          </a:xfrm>
          <a:noFill/>
        </p:spPr>
        <p:txBody>
          <a:bodyPr lIns="92075" tIns="46038" rIns="92075" bIns="46038">
            <a:spAutoFit/>
          </a:bodyPr>
          <a:lstStyle/>
          <a:p>
            <a:pPr lvl="1"/>
            <a:r>
              <a:rPr lang="en-US" altLang="en-US"/>
              <a:t>Activate an integrity constraint currently disabled in the table definition by using the ENABLE clause. </a:t>
            </a:r>
            <a:br>
              <a:rPr lang="en-US" altLang="en-US"/>
            </a:br>
            <a:endParaRPr lang="en-US" altLang="en-US"/>
          </a:p>
          <a:p>
            <a:pPr lvl="1"/>
            <a:br>
              <a:rPr lang="en-US" altLang="en-US"/>
            </a:br>
            <a:br>
              <a:rPr lang="en-US" altLang="en-US"/>
            </a:br>
            <a:endParaRPr lang="en-US" altLang="en-US"/>
          </a:p>
          <a:p>
            <a:pPr lvl="1"/>
            <a:r>
              <a:rPr lang="en-US" altLang="en-US"/>
              <a:t>A UNIQUE or PRIMARY KEY index is automatically created if you enable a UNIQUE key or PRIMARY KEY constraint.</a:t>
            </a:r>
          </a:p>
        </p:txBody>
      </p:sp>
      <p:sp>
        <p:nvSpPr>
          <p:cNvPr id="436228" name="Rectangle 4">
            <a:extLst>
              <a:ext uri="{FF2B5EF4-FFF2-40B4-BE49-F238E27FC236}">
                <a16:creationId xmlns:a16="http://schemas.microsoft.com/office/drawing/2014/main" id="{5796E594-5CB8-5FE8-3DE9-3AAD02C52583}"/>
              </a:ext>
            </a:extLst>
          </p:cNvPr>
          <p:cNvSpPr>
            <a:spLocks noChangeArrowheads="1"/>
          </p:cNvSpPr>
          <p:nvPr/>
        </p:nvSpPr>
        <p:spPr bwMode="blackWhite">
          <a:xfrm>
            <a:off x="931863" y="2860675"/>
            <a:ext cx="7483475" cy="9159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ALTER TABLE		emp</a:t>
            </a:r>
          </a:p>
          <a:p>
            <a:pPr>
              <a:tabLst>
                <a:tab pos="1200150" algn="l"/>
              </a:tabLst>
              <a:defRPr/>
            </a:pPr>
            <a:r>
              <a:rPr lang="en-US" sz="1800" b="1">
                <a:solidFill>
                  <a:srgbClr val="000000"/>
                </a:solidFill>
                <a:latin typeface="Courier New" pitchFamily="49" charset="0"/>
              </a:rPr>
              <a:t>  2  ENABLE CONSTRAINT	emp_empno_pk;</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Table altered.</a:t>
            </a: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8048EA45-CFA1-9663-42A3-57879B165D60}"/>
              </a:ext>
            </a:extLst>
          </p:cNvPr>
          <p:cNvSpPr>
            <a:spLocks noGrp="1" noChangeArrowheads="1"/>
          </p:cNvSpPr>
          <p:nvPr>
            <p:ph type="title"/>
          </p:nvPr>
        </p:nvSpPr>
        <p:spPr>
          <a:xfrm>
            <a:off x="323850" y="661988"/>
            <a:ext cx="5578475" cy="463550"/>
          </a:xfrm>
          <a:noFill/>
        </p:spPr>
        <p:txBody>
          <a:bodyPr lIns="92075" tIns="46038" rIns="92075" bIns="46038" anchor="t"/>
          <a:lstStyle/>
          <a:p>
            <a:r>
              <a:rPr lang="en-US" altLang="en-US" sz="2800">
                <a:solidFill>
                  <a:srgbClr val="800000"/>
                </a:solidFill>
              </a:rPr>
              <a:t>Changing the Name of an Object</a:t>
            </a:r>
          </a:p>
        </p:txBody>
      </p:sp>
      <p:sp>
        <p:nvSpPr>
          <p:cNvPr id="88067" name="Rectangle 3">
            <a:extLst>
              <a:ext uri="{FF2B5EF4-FFF2-40B4-BE49-F238E27FC236}">
                <a16:creationId xmlns:a16="http://schemas.microsoft.com/office/drawing/2014/main" id="{37762B1A-4862-59CA-B15A-E2E9AEACE62D}"/>
              </a:ext>
            </a:extLst>
          </p:cNvPr>
          <p:cNvSpPr>
            <a:spLocks noGrp="1" noChangeArrowheads="1"/>
          </p:cNvSpPr>
          <p:nvPr>
            <p:ph type="body" idx="1"/>
          </p:nvPr>
        </p:nvSpPr>
        <p:spPr>
          <a:xfrm>
            <a:off x="339725" y="1412875"/>
            <a:ext cx="8070850" cy="831850"/>
          </a:xfrm>
          <a:noFill/>
        </p:spPr>
        <p:txBody>
          <a:bodyPr lIns="92075" tIns="46038" rIns="92075" bIns="46038">
            <a:spAutoFit/>
          </a:bodyPr>
          <a:lstStyle/>
          <a:p>
            <a:pPr lvl="1"/>
            <a:r>
              <a:rPr lang="en-US" altLang="en-US"/>
              <a:t>To change the name of a table, view, sequence, or synonym, you execute the RENAME statement.</a:t>
            </a:r>
          </a:p>
        </p:txBody>
      </p:sp>
      <p:sp>
        <p:nvSpPr>
          <p:cNvPr id="88068" name="Rectangle 4">
            <a:extLst>
              <a:ext uri="{FF2B5EF4-FFF2-40B4-BE49-F238E27FC236}">
                <a16:creationId xmlns:a16="http://schemas.microsoft.com/office/drawing/2014/main" id="{69B1107D-D2E5-AF8D-3136-4EA9D3835F80}"/>
              </a:ext>
            </a:extLst>
          </p:cNvPr>
          <p:cNvSpPr>
            <a:spLocks noChangeArrowheads="1"/>
          </p:cNvSpPr>
          <p:nvPr/>
        </p:nvSpPr>
        <p:spPr bwMode="blackWhite">
          <a:xfrm>
            <a:off x="957263" y="2636838"/>
            <a:ext cx="7453312" cy="7048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150000"/>
              </a:lnSpc>
              <a:spcBef>
                <a:spcPct val="0"/>
              </a:spcBef>
              <a:buFontTx/>
              <a:buNone/>
            </a:pPr>
            <a:endParaRPr lang="en-US" altLang="en-US" sz="1800" b="1">
              <a:solidFill>
                <a:srgbClr val="000000"/>
              </a:solidFill>
              <a:latin typeface="Courier New" panose="02070309020205020404" pitchFamily="49" charset="0"/>
            </a:endParaRPr>
          </a:p>
          <a:p>
            <a:pPr>
              <a:lnSpc>
                <a:spcPct val="150000"/>
              </a:lnSpc>
              <a:spcBef>
                <a:spcPct val="0"/>
              </a:spcBef>
              <a:buFontTx/>
              <a:buNone/>
            </a:pPr>
            <a:endParaRPr lang="en-US" altLang="en-US" sz="1800" b="1">
              <a:solidFill>
                <a:srgbClr val="000000"/>
              </a:solidFill>
              <a:latin typeface="Courier New" panose="02070309020205020404" pitchFamily="49" charset="0"/>
            </a:endParaRPr>
          </a:p>
          <a:p>
            <a:pPr>
              <a:lnSpc>
                <a:spcPct val="150000"/>
              </a:lnSpc>
              <a:spcBef>
                <a:spcPct val="0"/>
              </a:spcBef>
              <a:buFontTx/>
              <a:buNone/>
            </a:pPr>
            <a:endParaRPr lang="en-US" altLang="en-US" sz="1800" b="1">
              <a:solidFill>
                <a:srgbClr val="000000"/>
              </a:solidFill>
              <a:latin typeface="Courier New" panose="02070309020205020404" pitchFamily="49" charset="0"/>
            </a:endParaRPr>
          </a:p>
        </p:txBody>
      </p:sp>
      <p:sp>
        <p:nvSpPr>
          <p:cNvPr id="423941" name="Rectangle 5">
            <a:extLst>
              <a:ext uri="{FF2B5EF4-FFF2-40B4-BE49-F238E27FC236}">
                <a16:creationId xmlns:a16="http://schemas.microsoft.com/office/drawing/2014/main" id="{9ABC17ED-F95B-5F5F-33CB-3763FE8C18E9}"/>
              </a:ext>
            </a:extLst>
          </p:cNvPr>
          <p:cNvSpPr>
            <a:spLocks noChangeArrowheads="1"/>
          </p:cNvSpPr>
          <p:nvPr/>
        </p:nvSpPr>
        <p:spPr bwMode="blackWhite">
          <a:xfrm>
            <a:off x="1131888" y="2559050"/>
            <a:ext cx="5422900" cy="842963"/>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RENAME dept TO department;</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Table renamed.</a:t>
            </a: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A0B187EB-5B72-6C61-A4C9-9275F531BABB}"/>
              </a:ext>
            </a:extLst>
          </p:cNvPr>
          <p:cNvSpPr>
            <a:spLocks noGrp="1" noChangeArrowheads="1"/>
          </p:cNvSpPr>
          <p:nvPr>
            <p:ph type="title"/>
          </p:nvPr>
        </p:nvSpPr>
        <p:spPr>
          <a:xfrm>
            <a:off x="323850" y="620713"/>
            <a:ext cx="3130550" cy="463550"/>
          </a:xfrm>
          <a:noFill/>
        </p:spPr>
        <p:txBody>
          <a:bodyPr lIns="92075" tIns="46038" rIns="92075" bIns="46038" anchor="t"/>
          <a:lstStyle/>
          <a:p>
            <a:r>
              <a:rPr lang="en-US" altLang="en-US" sz="2800">
                <a:solidFill>
                  <a:srgbClr val="800000"/>
                </a:solidFill>
              </a:rPr>
              <a:t>Dropping a Table</a:t>
            </a:r>
          </a:p>
        </p:txBody>
      </p:sp>
      <p:sp>
        <p:nvSpPr>
          <p:cNvPr id="39939" name="Rectangle 3">
            <a:extLst>
              <a:ext uri="{FF2B5EF4-FFF2-40B4-BE49-F238E27FC236}">
                <a16:creationId xmlns:a16="http://schemas.microsoft.com/office/drawing/2014/main" id="{EBE492C3-7193-D4B7-F6CA-6AEC9AD38E52}"/>
              </a:ext>
            </a:extLst>
          </p:cNvPr>
          <p:cNvSpPr>
            <a:spLocks noGrp="1" noChangeArrowheads="1"/>
          </p:cNvSpPr>
          <p:nvPr>
            <p:ph type="body" idx="1"/>
          </p:nvPr>
        </p:nvSpPr>
        <p:spPr>
          <a:xfrm>
            <a:off x="468313" y="1341438"/>
            <a:ext cx="7964487" cy="5189537"/>
          </a:xfrm>
        </p:spPr>
        <p:txBody>
          <a:bodyPr lIns="92075" tIns="46038" rIns="92075" bIns="46038">
            <a:spAutoFit/>
          </a:bodyPr>
          <a:lstStyle/>
          <a:p>
            <a:pPr lvl="1">
              <a:defRPr/>
            </a:pPr>
            <a:r>
              <a:rPr lang="en-US" dirty="0"/>
              <a:t>All data and structure in the table is deleted.</a:t>
            </a:r>
          </a:p>
          <a:p>
            <a:pPr lvl="1">
              <a:defRPr/>
            </a:pPr>
            <a:r>
              <a:rPr lang="en-US" dirty="0"/>
              <a:t>Any pending transactions are committed.</a:t>
            </a:r>
          </a:p>
          <a:p>
            <a:pPr lvl="1">
              <a:defRPr/>
            </a:pPr>
            <a:r>
              <a:rPr lang="en-US" dirty="0"/>
              <a:t>All indexes are dropped.</a:t>
            </a:r>
          </a:p>
          <a:p>
            <a:pPr lvl="1">
              <a:defRPr/>
            </a:pPr>
            <a:r>
              <a:rPr lang="en-US" dirty="0"/>
              <a:t>You </a:t>
            </a:r>
            <a:r>
              <a:rPr lang="en-US" i="1" dirty="0"/>
              <a:t>cannot</a:t>
            </a:r>
            <a:r>
              <a:rPr lang="en-US" dirty="0"/>
              <a:t> roll back this statement.</a:t>
            </a:r>
          </a:p>
          <a:p>
            <a:pPr lvl="1">
              <a:defRPr/>
            </a:pPr>
            <a:endParaRPr lang="en-US" dirty="0"/>
          </a:p>
          <a:p>
            <a:pPr lvl="1">
              <a:defRPr/>
            </a:pPr>
            <a:endParaRPr lang="en-US" dirty="0"/>
          </a:p>
          <a:p>
            <a:pPr lvl="1">
              <a:defRPr/>
            </a:pPr>
            <a:endParaRPr lang="en-US" dirty="0"/>
          </a:p>
          <a:p>
            <a:pPr lvl="1">
              <a:defRPr/>
            </a:pPr>
            <a:r>
              <a:rPr lang="en-US" dirty="0"/>
              <a:t>NOTE: if the table has a reference in another table, the above command may not work. To drop all the references as well, use the following:</a:t>
            </a:r>
          </a:p>
          <a:p>
            <a:pPr lvl="1">
              <a:defRPr/>
            </a:pPr>
            <a:endParaRPr lang="en-US" dirty="0"/>
          </a:p>
          <a:p>
            <a:pPr marL="457200" lvl="1" indent="0">
              <a:buFontTx/>
              <a:buNone/>
              <a:defRPr/>
            </a:pPr>
            <a:endParaRPr lang="en-US" dirty="0"/>
          </a:p>
        </p:txBody>
      </p:sp>
      <p:sp>
        <p:nvSpPr>
          <p:cNvPr id="90116" name="Rectangle 4">
            <a:extLst>
              <a:ext uri="{FF2B5EF4-FFF2-40B4-BE49-F238E27FC236}">
                <a16:creationId xmlns:a16="http://schemas.microsoft.com/office/drawing/2014/main" id="{3C14CD36-933B-95E5-93A7-492B220AC90B}"/>
              </a:ext>
            </a:extLst>
          </p:cNvPr>
          <p:cNvSpPr>
            <a:spLocks noChangeArrowheads="1"/>
          </p:cNvSpPr>
          <p:nvPr/>
        </p:nvSpPr>
        <p:spPr bwMode="blackWhite">
          <a:xfrm>
            <a:off x="903288" y="3429000"/>
            <a:ext cx="7124700" cy="7588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150000"/>
              </a:lnSpc>
              <a:spcBef>
                <a:spcPct val="0"/>
              </a:spcBef>
              <a:buFontTx/>
              <a:buNone/>
            </a:pPr>
            <a:endParaRPr lang="en-US" altLang="en-US" sz="1800" b="1">
              <a:solidFill>
                <a:srgbClr val="000000"/>
              </a:solidFill>
              <a:latin typeface="Courier New" panose="02070309020205020404" pitchFamily="49" charset="0"/>
            </a:endParaRPr>
          </a:p>
          <a:p>
            <a:pPr>
              <a:lnSpc>
                <a:spcPct val="150000"/>
              </a:lnSpc>
              <a:spcBef>
                <a:spcPct val="0"/>
              </a:spcBef>
              <a:buFontTx/>
              <a:buNone/>
            </a:pPr>
            <a:endParaRPr lang="en-US" altLang="en-US" sz="1800" b="1">
              <a:solidFill>
                <a:srgbClr val="000000"/>
              </a:solidFill>
              <a:latin typeface="Courier New" panose="02070309020205020404" pitchFamily="49" charset="0"/>
            </a:endParaRPr>
          </a:p>
          <a:p>
            <a:pPr>
              <a:lnSpc>
                <a:spcPct val="150000"/>
              </a:lnSpc>
              <a:spcBef>
                <a:spcPct val="0"/>
              </a:spcBef>
              <a:buFontTx/>
              <a:buNone/>
            </a:pPr>
            <a:endParaRPr lang="en-US" altLang="en-US" sz="1800" b="1">
              <a:solidFill>
                <a:srgbClr val="000000"/>
              </a:solidFill>
              <a:latin typeface="Courier New" panose="02070309020205020404" pitchFamily="49" charset="0"/>
            </a:endParaRPr>
          </a:p>
        </p:txBody>
      </p:sp>
      <p:sp>
        <p:nvSpPr>
          <p:cNvPr id="421893" name="Rectangle 5">
            <a:extLst>
              <a:ext uri="{FF2B5EF4-FFF2-40B4-BE49-F238E27FC236}">
                <a16:creationId xmlns:a16="http://schemas.microsoft.com/office/drawing/2014/main" id="{857ADB08-9BB6-5A66-99F5-3AC133982118}"/>
              </a:ext>
            </a:extLst>
          </p:cNvPr>
          <p:cNvSpPr>
            <a:spLocks noChangeArrowheads="1"/>
          </p:cNvSpPr>
          <p:nvPr/>
        </p:nvSpPr>
        <p:spPr bwMode="blackWhite">
          <a:xfrm>
            <a:off x="903288" y="3390900"/>
            <a:ext cx="6446837" cy="758825"/>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dirty="0">
                <a:solidFill>
                  <a:srgbClr val="000000"/>
                </a:solidFill>
                <a:latin typeface="Courier New" pitchFamily="49" charset="0"/>
              </a:rPr>
              <a:t>SQL&gt; DROP TABLE dept30;</a:t>
            </a:r>
          </a:p>
          <a:p>
            <a:pPr>
              <a:tabLst>
                <a:tab pos="1200150" algn="l"/>
              </a:tabLst>
              <a:defRPr/>
            </a:pPr>
            <a:r>
              <a:rPr lang="en-US" sz="1800" b="1" dirty="0">
                <a:solidFill>
                  <a:srgbClr val="FF3300"/>
                </a:solidFill>
                <a:effectLst>
                  <a:outerShdw blurRad="38100" dist="38100" dir="2700000" algn="tl">
                    <a:srgbClr val="000000"/>
                  </a:outerShdw>
                </a:effectLst>
                <a:latin typeface="Courier New" pitchFamily="49" charset="0"/>
              </a:rPr>
              <a:t>Table dropped.</a:t>
            </a:r>
          </a:p>
        </p:txBody>
      </p:sp>
      <p:sp>
        <p:nvSpPr>
          <p:cNvPr id="90118" name="Rectangle 4">
            <a:extLst>
              <a:ext uri="{FF2B5EF4-FFF2-40B4-BE49-F238E27FC236}">
                <a16:creationId xmlns:a16="http://schemas.microsoft.com/office/drawing/2014/main" id="{95EEE88D-98CD-7DBD-3604-825B7D7D9330}"/>
              </a:ext>
            </a:extLst>
          </p:cNvPr>
          <p:cNvSpPr>
            <a:spLocks noChangeArrowheads="1"/>
          </p:cNvSpPr>
          <p:nvPr/>
        </p:nvSpPr>
        <p:spPr bwMode="blackWhite">
          <a:xfrm>
            <a:off x="869950" y="5589588"/>
            <a:ext cx="7124700" cy="7588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150000"/>
              </a:lnSpc>
              <a:spcBef>
                <a:spcPct val="0"/>
              </a:spcBef>
              <a:buFontTx/>
              <a:buNone/>
            </a:pPr>
            <a:endParaRPr lang="en-US" altLang="en-US" sz="1800" b="1">
              <a:solidFill>
                <a:srgbClr val="000000"/>
              </a:solidFill>
              <a:latin typeface="Courier New" panose="02070309020205020404" pitchFamily="49" charset="0"/>
            </a:endParaRPr>
          </a:p>
          <a:p>
            <a:pPr>
              <a:lnSpc>
                <a:spcPct val="150000"/>
              </a:lnSpc>
              <a:spcBef>
                <a:spcPct val="0"/>
              </a:spcBef>
              <a:buFontTx/>
              <a:buNone/>
            </a:pPr>
            <a:endParaRPr lang="en-US" altLang="en-US" sz="1800" b="1">
              <a:solidFill>
                <a:srgbClr val="000000"/>
              </a:solidFill>
              <a:latin typeface="Courier New" panose="02070309020205020404" pitchFamily="49" charset="0"/>
            </a:endParaRPr>
          </a:p>
          <a:p>
            <a:pPr>
              <a:lnSpc>
                <a:spcPct val="150000"/>
              </a:lnSpc>
              <a:spcBef>
                <a:spcPct val="0"/>
              </a:spcBef>
              <a:buFontTx/>
              <a:buNone/>
            </a:pPr>
            <a:endParaRPr lang="en-US" altLang="en-US" sz="1800" b="1">
              <a:solidFill>
                <a:srgbClr val="000000"/>
              </a:solidFill>
              <a:latin typeface="Courier New" panose="02070309020205020404" pitchFamily="49" charset="0"/>
            </a:endParaRPr>
          </a:p>
        </p:txBody>
      </p:sp>
      <p:sp>
        <p:nvSpPr>
          <p:cNvPr id="7" name="Rectangle 5">
            <a:extLst>
              <a:ext uri="{FF2B5EF4-FFF2-40B4-BE49-F238E27FC236}">
                <a16:creationId xmlns:a16="http://schemas.microsoft.com/office/drawing/2014/main" id="{A0227F3A-BEB7-F89B-3968-AE17522B3A11}"/>
              </a:ext>
            </a:extLst>
          </p:cNvPr>
          <p:cNvSpPr>
            <a:spLocks noChangeArrowheads="1"/>
          </p:cNvSpPr>
          <p:nvPr/>
        </p:nvSpPr>
        <p:spPr bwMode="blackWhite">
          <a:xfrm>
            <a:off x="869950" y="5556250"/>
            <a:ext cx="6446838" cy="758825"/>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dirty="0">
                <a:solidFill>
                  <a:srgbClr val="000000"/>
                </a:solidFill>
                <a:latin typeface="Courier New" pitchFamily="49" charset="0"/>
              </a:rPr>
              <a:t>SQL&gt; DROP TABLE dept30 </a:t>
            </a:r>
            <a:r>
              <a:rPr lang="en-US" sz="1800" b="1" dirty="0">
                <a:solidFill>
                  <a:schemeClr val="accent2"/>
                </a:solidFill>
                <a:latin typeface="Courier New" pitchFamily="49" charset="0"/>
              </a:rPr>
              <a:t>CASCADE CONSTRAINTS</a:t>
            </a:r>
            <a:r>
              <a:rPr lang="en-US" sz="1800" b="1" dirty="0">
                <a:solidFill>
                  <a:srgbClr val="000000"/>
                </a:solidFill>
                <a:latin typeface="Courier New" pitchFamily="49" charset="0"/>
              </a:rPr>
              <a:t>;</a:t>
            </a:r>
          </a:p>
          <a:p>
            <a:pPr>
              <a:tabLst>
                <a:tab pos="1200150" algn="l"/>
              </a:tabLst>
              <a:defRPr/>
            </a:pPr>
            <a:r>
              <a:rPr lang="en-US" sz="1800" b="1" dirty="0">
                <a:solidFill>
                  <a:srgbClr val="FF3300"/>
                </a:solidFill>
                <a:effectLst>
                  <a:outerShdw blurRad="38100" dist="38100" dir="2700000" algn="tl">
                    <a:srgbClr val="000000"/>
                  </a:outerShdw>
                </a:effectLst>
                <a:latin typeface="Courier New" pitchFamily="49" charset="0"/>
              </a:rPr>
              <a:t>Table dropped.</a:t>
            </a: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3F131D2E-1643-2B0B-13E6-73A2652C4A13}"/>
              </a:ext>
            </a:extLst>
          </p:cNvPr>
          <p:cNvSpPr>
            <a:spLocks noGrp="1" noChangeArrowheads="1"/>
          </p:cNvSpPr>
          <p:nvPr>
            <p:ph type="title"/>
          </p:nvPr>
        </p:nvSpPr>
        <p:spPr>
          <a:xfrm>
            <a:off x="395288" y="1628775"/>
            <a:ext cx="8277225" cy="1219200"/>
          </a:xfrm>
        </p:spPr>
        <p:txBody>
          <a:bodyPr/>
          <a:lstStyle/>
          <a:p>
            <a:pPr algn="ctr" eaLnBrk="1" hangingPunct="1"/>
            <a:br>
              <a:rPr lang="de-AT" altLang="en-US" sz="3600">
                <a:latin typeface="Georgia" panose="02040502050405020303" pitchFamily="18" charset="0"/>
              </a:rPr>
            </a:br>
            <a:r>
              <a:rPr lang="de-AT" altLang="en-US" sz="3600">
                <a:latin typeface="Georgia" panose="02040502050405020303" pitchFamily="18" charset="0"/>
              </a:rPr>
              <a:t>Thank you for your attention.</a:t>
            </a:r>
          </a:p>
        </p:txBody>
      </p:sp>
      <p:sp>
        <p:nvSpPr>
          <p:cNvPr id="97283" name="Rectangle 8">
            <a:extLst>
              <a:ext uri="{FF2B5EF4-FFF2-40B4-BE49-F238E27FC236}">
                <a16:creationId xmlns:a16="http://schemas.microsoft.com/office/drawing/2014/main" id="{1D2A0AC3-EA23-63ED-82E3-AC533EA2B5C5}"/>
              </a:ext>
            </a:extLst>
          </p:cNvPr>
          <p:cNvSpPr>
            <a:spLocks noChangeArrowheads="1"/>
          </p:cNvSpPr>
          <p:nvPr/>
        </p:nvSpPr>
        <p:spPr bwMode="auto">
          <a:xfrm>
            <a:off x="2362200" y="3962400"/>
            <a:ext cx="4495800" cy="2130425"/>
          </a:xfrm>
          <a:prstGeom prst="rect">
            <a:avLst/>
          </a:prstGeom>
          <a:solidFill>
            <a:srgbClr val="FFFFCC"/>
          </a:solidFill>
          <a:ln w="38100">
            <a:solidFill>
              <a:srgbClr val="8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00"/>
              </a:solidFill>
            </a:endParaRPr>
          </a:p>
        </p:txBody>
      </p:sp>
      <p:sp>
        <p:nvSpPr>
          <p:cNvPr id="97284" name="Rectangle 9">
            <a:extLst>
              <a:ext uri="{FF2B5EF4-FFF2-40B4-BE49-F238E27FC236}">
                <a16:creationId xmlns:a16="http://schemas.microsoft.com/office/drawing/2014/main" id="{102F474F-E7C3-2B43-FC45-D92EEF1DA7C5}"/>
              </a:ext>
            </a:extLst>
          </p:cNvPr>
          <p:cNvSpPr>
            <a:spLocks noChangeArrowheads="1"/>
          </p:cNvSpPr>
          <p:nvPr/>
        </p:nvSpPr>
        <p:spPr bwMode="auto">
          <a:xfrm>
            <a:off x="539750" y="2276475"/>
            <a:ext cx="777240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en-US" altLang="en-US" sz="2400" dirty="0">
              <a:solidFill>
                <a:srgbClr val="000000"/>
              </a:solidFill>
            </a:endParaRPr>
          </a:p>
          <a:p>
            <a:pPr eaLnBrk="1" hangingPunct="1"/>
            <a:endParaRPr lang="en-US" altLang="en-US" sz="2400" dirty="0">
              <a:solidFill>
                <a:srgbClr val="000000"/>
              </a:solidFill>
            </a:endParaRPr>
          </a:p>
          <a:p>
            <a:pPr eaLnBrk="1" hangingPunct="1"/>
            <a:endParaRPr lang="en-US" altLang="en-US" sz="2400" dirty="0">
              <a:solidFill>
                <a:srgbClr val="000000"/>
              </a:solidFill>
            </a:endParaRPr>
          </a:p>
          <a:p>
            <a:pPr eaLnBrk="1" hangingPunct="1"/>
            <a:endParaRPr lang="en-US" altLang="en-US" sz="2400" dirty="0">
              <a:solidFill>
                <a:srgbClr val="000000"/>
              </a:solidFill>
            </a:endParaRPr>
          </a:p>
          <a:p>
            <a:pPr eaLnBrk="1" hangingPunct="1">
              <a:buFontTx/>
              <a:buNone/>
            </a:pPr>
            <a:r>
              <a:rPr lang="de-AT" altLang="en-US" sz="900" b="1" dirty="0">
                <a:solidFill>
                  <a:srgbClr val="000066"/>
                </a:solidFill>
              </a:rPr>
              <a:t>			</a:t>
            </a:r>
            <a:r>
              <a:rPr lang="de-AT" altLang="en-US" sz="2400" b="1" dirty="0">
                <a:solidFill>
                  <a:srgbClr val="3333CC"/>
                </a:solidFill>
                <a:latin typeface="Georgia" panose="02040502050405020303" pitchFamily="18" charset="0"/>
              </a:rPr>
              <a:t>Dr. Asif Sohail</a:t>
            </a:r>
            <a:endParaRPr lang="de-AT" altLang="en-US" sz="1200" b="1" dirty="0">
              <a:solidFill>
                <a:srgbClr val="3333CC"/>
              </a:solidFill>
              <a:latin typeface="Georgia" panose="02040502050405020303" pitchFamily="18" charset="0"/>
            </a:endParaRPr>
          </a:p>
          <a:p>
            <a:pPr eaLnBrk="1" hangingPunct="1">
              <a:buFontTx/>
              <a:buNone/>
            </a:pPr>
            <a:r>
              <a:rPr lang="de-AT" altLang="en-US" sz="1200" b="1" dirty="0">
                <a:solidFill>
                  <a:srgbClr val="0000FF"/>
                </a:solidFill>
                <a:latin typeface="Georgia" panose="02040502050405020303" pitchFamily="18" charset="0"/>
              </a:rPr>
              <a:t>			</a:t>
            </a:r>
          </a:p>
          <a:p>
            <a:pPr eaLnBrk="1" hangingPunct="1">
              <a:buFontTx/>
              <a:buNone/>
            </a:pPr>
            <a:r>
              <a:rPr lang="de-AT" altLang="en-US" sz="1200" b="1" dirty="0">
                <a:solidFill>
                  <a:srgbClr val="0000FF"/>
                </a:solidFill>
                <a:latin typeface="Georgia" panose="02040502050405020303" pitchFamily="18" charset="0"/>
              </a:rPr>
              <a:t>			</a:t>
            </a:r>
            <a:r>
              <a:rPr lang="de-AT" altLang="en-US" sz="1200" b="1" dirty="0">
                <a:solidFill>
                  <a:srgbClr val="800000"/>
                </a:solidFill>
                <a:latin typeface="Georgia" panose="02040502050405020303" pitchFamily="18" charset="0"/>
              </a:rPr>
              <a:t>Assistant Professor</a:t>
            </a:r>
            <a:endParaRPr lang="de-AT" altLang="en-US" sz="1200" dirty="0">
              <a:solidFill>
                <a:srgbClr val="800000"/>
              </a:solidFill>
              <a:latin typeface="Georgia" panose="02040502050405020303" pitchFamily="18" charset="0"/>
            </a:endParaRPr>
          </a:p>
          <a:p>
            <a:pPr eaLnBrk="1" hangingPunct="1">
              <a:buFontTx/>
              <a:buNone/>
            </a:pPr>
            <a:r>
              <a:rPr lang="de-AT" altLang="en-US" sz="1200" b="1" dirty="0">
                <a:solidFill>
                  <a:srgbClr val="0000FF"/>
                </a:solidFill>
                <a:latin typeface="Georgia" panose="02040502050405020303" pitchFamily="18" charset="0"/>
              </a:rPr>
              <a:t>			</a:t>
            </a:r>
            <a:r>
              <a:rPr lang="de-AT" altLang="en-US" sz="1200" dirty="0">
                <a:solidFill>
                  <a:srgbClr val="0000FF"/>
                </a:solidFill>
                <a:latin typeface="Georgia" panose="02040502050405020303" pitchFamily="18" charset="0"/>
              </a:rPr>
              <a:t>Department of Information Technology,</a:t>
            </a:r>
          </a:p>
          <a:p>
            <a:pPr eaLnBrk="1" hangingPunct="1">
              <a:buFontTx/>
              <a:buNone/>
            </a:pPr>
            <a:r>
              <a:rPr lang="de-AT" altLang="en-US" sz="1200" dirty="0">
                <a:solidFill>
                  <a:srgbClr val="0000FF"/>
                </a:solidFill>
                <a:latin typeface="Georgia" panose="02040502050405020303" pitchFamily="18" charset="0"/>
              </a:rPr>
              <a:t>			Faculty of Computing and Information Technology (FCIT)</a:t>
            </a:r>
          </a:p>
          <a:p>
            <a:pPr eaLnBrk="1" hangingPunct="1">
              <a:buFontTx/>
              <a:buNone/>
            </a:pPr>
            <a:r>
              <a:rPr lang="de-AT" altLang="en-US" sz="1200" dirty="0">
                <a:solidFill>
                  <a:srgbClr val="0000FF"/>
                </a:solidFill>
                <a:latin typeface="Georgia" panose="02040502050405020303" pitchFamily="18" charset="0"/>
              </a:rPr>
              <a:t>			University of the Punjab, Lahore, Pakistan</a:t>
            </a:r>
          </a:p>
          <a:p>
            <a:pPr eaLnBrk="1" hangingPunct="1">
              <a:buFontTx/>
              <a:buNone/>
            </a:pPr>
            <a:r>
              <a:rPr lang="de-AT" altLang="en-US" sz="1200" b="1" dirty="0">
                <a:solidFill>
                  <a:srgbClr val="0000FF"/>
                </a:solidFill>
                <a:latin typeface="Georgia" panose="02040502050405020303" pitchFamily="18" charset="0"/>
              </a:rPr>
              <a:t>	</a:t>
            </a:r>
            <a:r>
              <a:rPr lang="de-AT" altLang="en-US" sz="1200" dirty="0">
                <a:solidFill>
                  <a:srgbClr val="0000FF"/>
                </a:solidFill>
                <a:latin typeface="Georgia" panose="02040502050405020303" pitchFamily="18" charset="0"/>
              </a:rPr>
              <a:t>		Tel:                  +92-(0)42-111-923-923    Ext. </a:t>
            </a:r>
            <a:r>
              <a:rPr lang="de-AT" altLang="en-US" sz="1200" dirty="0">
                <a:solidFill>
                  <a:srgbClr val="0000FF"/>
                </a:solidFill>
                <a:latin typeface="Times New Roman" panose="02020603050405020304" pitchFamily="18" charset="0"/>
              </a:rPr>
              <a:t>154</a:t>
            </a:r>
          </a:p>
          <a:p>
            <a:pPr eaLnBrk="1" hangingPunct="1">
              <a:buFontTx/>
              <a:buNone/>
            </a:pPr>
            <a:r>
              <a:rPr lang="de-AT" altLang="en-US" sz="1200" dirty="0">
                <a:solidFill>
                  <a:srgbClr val="0000FF"/>
                </a:solidFill>
                <a:latin typeface="Georgia" panose="02040502050405020303" pitchFamily="18" charset="0"/>
              </a:rPr>
              <a:t>			E-mail:           asif@pucit.edu.pk</a:t>
            </a:r>
          </a:p>
          <a:p>
            <a:pPr eaLnBrk="1" hangingPunct="1"/>
            <a:endParaRPr lang="en-US" altLang="en-US" sz="1200" dirty="0">
              <a:solidFill>
                <a:srgbClr val="0000FF"/>
              </a:solidFill>
              <a:latin typeface="Georgia" panose="02040502050405020303" pitchFamily="18" charset="0"/>
            </a:endParaRPr>
          </a:p>
        </p:txBody>
      </p:sp>
      <p:pic>
        <p:nvPicPr>
          <p:cNvPr id="2" name="Picture 10">
            <a:extLst>
              <a:ext uri="{FF2B5EF4-FFF2-40B4-BE49-F238E27FC236}">
                <a16:creationId xmlns:a16="http://schemas.microsoft.com/office/drawing/2014/main" id="{C2E2F7CA-C894-0B39-5274-12A5FB95B8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2">
            <a:extLst>
              <a:ext uri="{FF2B5EF4-FFF2-40B4-BE49-F238E27FC236}">
                <a16:creationId xmlns:a16="http://schemas.microsoft.com/office/drawing/2014/main" id="{28D636A8-6BC8-F0E1-72F9-45439E09D8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038" y="0"/>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Standarddesign">
  <a:themeElements>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rd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tandard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tandard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3669</TotalTime>
  <Words>8631</Words>
  <Application>Microsoft Office PowerPoint</Application>
  <PresentationFormat>On-screen Show (4:3)</PresentationFormat>
  <Paragraphs>1020</Paragraphs>
  <Slides>45</Slides>
  <Notes>45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53" baseType="lpstr">
      <vt:lpstr>Arial</vt:lpstr>
      <vt:lpstr>Courier New</vt:lpstr>
      <vt:lpstr>Symbol</vt:lpstr>
      <vt:lpstr>Times New Roman</vt:lpstr>
      <vt:lpstr>Georgia</vt:lpstr>
      <vt:lpstr>Times</vt:lpstr>
      <vt:lpstr>Standarddesign</vt:lpstr>
      <vt:lpstr>Document</vt:lpstr>
      <vt:lpstr> (SQL)  Creating and Managing Tables</vt:lpstr>
      <vt:lpstr>Objectives</vt:lpstr>
      <vt:lpstr>Database Objects</vt:lpstr>
      <vt:lpstr>Naming Conventions</vt:lpstr>
      <vt:lpstr>The CREATE TABLE Statement</vt:lpstr>
      <vt:lpstr>Data Types</vt:lpstr>
      <vt:lpstr>Data Types</vt:lpstr>
      <vt:lpstr>Creating Tables</vt:lpstr>
      <vt:lpstr>Tables in the Oracle Database</vt:lpstr>
      <vt:lpstr>Querying the Data Dictionary</vt:lpstr>
      <vt:lpstr>Including Constraints</vt:lpstr>
      <vt:lpstr>Including Constraints</vt:lpstr>
      <vt:lpstr>Defining Constraints</vt:lpstr>
      <vt:lpstr>Defining Constraints</vt:lpstr>
      <vt:lpstr>The NOT NULL Constraint</vt:lpstr>
      <vt:lpstr>The NOT NULL Constraint</vt:lpstr>
      <vt:lpstr>The UNIQUE Key Constraint</vt:lpstr>
      <vt:lpstr>The UNIQUE Key Constraint</vt:lpstr>
      <vt:lpstr>The PRIMARY KEY Constraint</vt:lpstr>
      <vt:lpstr>The PRIMARY KEY Constraint</vt:lpstr>
      <vt:lpstr>The FOREIGN KEY Constraint</vt:lpstr>
      <vt:lpstr>The FOREIGN KEY Constraint</vt:lpstr>
      <vt:lpstr>FOREIGN KEY Constraint  Keywords</vt:lpstr>
      <vt:lpstr>The CHECK Constraint</vt:lpstr>
      <vt:lpstr>The DEFAULT Option</vt:lpstr>
      <vt:lpstr>Viewing Constraints</vt:lpstr>
      <vt:lpstr>Viewing the Columns Associated with Constraints</vt:lpstr>
      <vt:lpstr>Virtual Column</vt:lpstr>
      <vt:lpstr>Creating a Table  by Using a Subquery</vt:lpstr>
      <vt:lpstr>Creating a Table  by Using a Subquery</vt:lpstr>
      <vt:lpstr>Creating a Small Database (Exercise)</vt:lpstr>
      <vt:lpstr>The ALTER TABLE Statement</vt:lpstr>
      <vt:lpstr>Adding a Column</vt:lpstr>
      <vt:lpstr>Adding a Column</vt:lpstr>
      <vt:lpstr>Modifying a Column</vt:lpstr>
      <vt:lpstr>Modifying a Column</vt:lpstr>
      <vt:lpstr>Dropping and Renaming a Column</vt:lpstr>
      <vt:lpstr>Adding a Constraint</vt:lpstr>
      <vt:lpstr>Adding a Constraint</vt:lpstr>
      <vt:lpstr>Dropping a Constraint</vt:lpstr>
      <vt:lpstr>Disabling Constraints</vt:lpstr>
      <vt:lpstr>Enabling Constraints</vt:lpstr>
      <vt:lpstr>Changing the Name of an Object</vt:lpstr>
      <vt:lpstr>Dropping a Table</vt:lpstr>
      <vt:lpstr> Thank you for your attention.</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Asif Sohail</cp:lastModifiedBy>
  <cp:revision>855</cp:revision>
  <dcterms:created xsi:type="dcterms:W3CDTF">2006-05-17T12:38:56Z</dcterms:created>
  <dcterms:modified xsi:type="dcterms:W3CDTF">2024-11-19T03:36:39Z</dcterms:modified>
</cp:coreProperties>
</file>