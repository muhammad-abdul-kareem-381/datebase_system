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31"/>
  </p:notesMasterIdLst>
  <p:handoutMasterIdLst>
    <p:handoutMasterId r:id="rId32"/>
  </p:handoutMasterIdLst>
  <p:sldIdLst>
    <p:sldId id="256" r:id="rId2"/>
    <p:sldId id="535" r:id="rId3"/>
    <p:sldId id="536" r:id="rId4"/>
    <p:sldId id="537" r:id="rId5"/>
    <p:sldId id="538" r:id="rId6"/>
    <p:sldId id="539" r:id="rId7"/>
    <p:sldId id="540" r:id="rId8"/>
    <p:sldId id="541" r:id="rId9"/>
    <p:sldId id="542" r:id="rId10"/>
    <p:sldId id="545" r:id="rId11"/>
    <p:sldId id="645" r:id="rId12"/>
    <p:sldId id="546" r:id="rId13"/>
    <p:sldId id="547" r:id="rId14"/>
    <p:sldId id="548" r:id="rId15"/>
    <p:sldId id="549" r:id="rId16"/>
    <p:sldId id="550" r:id="rId17"/>
    <p:sldId id="551" r:id="rId18"/>
    <p:sldId id="557" r:id="rId19"/>
    <p:sldId id="552" r:id="rId20"/>
    <p:sldId id="553" r:id="rId21"/>
    <p:sldId id="554" r:id="rId22"/>
    <p:sldId id="555" r:id="rId23"/>
    <p:sldId id="556" r:id="rId24"/>
    <p:sldId id="534" r:id="rId25"/>
    <p:sldId id="617" r:id="rId26"/>
    <p:sldId id="643" r:id="rId27"/>
    <p:sldId id="644" r:id="rId28"/>
    <p:sldId id="639" r:id="rId29"/>
    <p:sldId id="341" r:id="rId30"/>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FFFF66"/>
    <a:srgbClr val="FF0000"/>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95" autoAdjust="0"/>
    <p:restoredTop sz="68777" autoAdjust="0"/>
  </p:normalViewPr>
  <p:slideViewPr>
    <p:cSldViewPr>
      <p:cViewPr varScale="1">
        <p:scale>
          <a:sx n="83" d="100"/>
          <a:sy n="83" d="100"/>
        </p:scale>
        <p:origin x="1061"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BFDD1DE7-9893-F947-6AA5-BCC7AB9D86C4}"/>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552F1114-F30D-2E7B-F921-1A005DCEF2AD}"/>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88E91423-AD03-9702-9134-5FD8C9FDFD8E}"/>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27DFD48-3759-8357-4AF6-4E555CC07595}"/>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C2FDF67D-A189-4ECC-9D8A-807893AAF16E}"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75D5274-8205-9689-1EA8-64296795C0D8}"/>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96DBEA9A-B5D7-6950-B06B-0225C52A5008}"/>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3014223F-1C88-1B1A-40DD-55F485E0BB18}"/>
              </a:ext>
            </a:extLst>
          </p:cNvPr>
          <p:cNvSpPr>
            <a:spLocks noGrp="1" noRo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6722324D-E7B1-1DD8-0351-D850DE532156}"/>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192ED4F3-4471-3FFC-BBDB-AE5028BE0CB4}"/>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E1E9B210-AC82-B995-C393-82A458A712CC}"/>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smtClean="0"/>
            </a:lvl1pPr>
          </a:lstStyle>
          <a:p>
            <a:pPr>
              <a:defRPr/>
            </a:pPr>
            <a:fld id="{411EFC24-545C-4F33-A562-F89AFFD89B30}"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image" Target="../media/image3.wmf"/></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509B310F-9C00-FB50-E0EB-441D7E40D6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30BE418-C02A-4EE7-A4AE-19BBA692D44C}" type="slidenum">
              <a:rPr lang="de-AT" altLang="en-US"/>
              <a:pPr>
                <a:spcBef>
                  <a:spcPct val="0"/>
                </a:spcBef>
              </a:pPr>
              <a:t>1</a:t>
            </a:fld>
            <a:endParaRPr lang="de-AT" altLang="en-US"/>
          </a:p>
        </p:txBody>
      </p:sp>
      <p:sp>
        <p:nvSpPr>
          <p:cNvPr id="5123" name="Rectangle 2">
            <a:extLst>
              <a:ext uri="{FF2B5EF4-FFF2-40B4-BE49-F238E27FC236}">
                <a16:creationId xmlns:a16="http://schemas.microsoft.com/office/drawing/2014/main" id="{BCD18E76-E32A-0BA4-93C6-C106A5943EDD}"/>
              </a:ext>
            </a:extLst>
          </p:cNvPr>
          <p:cNvSpPr>
            <a:spLocks noGrp="1" noRot="1" noChangeArrowheads="1" noTextEdit="1"/>
          </p:cNvSpPr>
          <p:nvPr>
            <p:ph type="sldImg"/>
          </p:nvPr>
        </p:nvSpPr>
        <p:spPr>
          <a:ln/>
        </p:spPr>
      </p:sp>
      <p:sp>
        <p:nvSpPr>
          <p:cNvPr id="5124" name="Rectangle 3">
            <a:extLst>
              <a:ext uri="{FF2B5EF4-FFF2-40B4-BE49-F238E27FC236}">
                <a16:creationId xmlns:a16="http://schemas.microsoft.com/office/drawing/2014/main" id="{9FD790DC-0165-CE76-CF34-1B2B6557C7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6709AC8-E7A6-1199-236E-0E96E6315FDA}"/>
              </a:ext>
            </a:extLst>
          </p:cNvPr>
          <p:cNvSpPr>
            <a:spLocks noChangeArrowheads="1"/>
          </p:cNvSpPr>
          <p:nvPr/>
        </p:nvSpPr>
        <p:spPr bwMode="auto">
          <a:xfrm>
            <a:off x="3884613" y="-1588"/>
            <a:ext cx="2973387"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171" name="Rectangle 3">
            <a:extLst>
              <a:ext uri="{FF2B5EF4-FFF2-40B4-BE49-F238E27FC236}">
                <a16:creationId xmlns:a16="http://schemas.microsoft.com/office/drawing/2014/main" id="{F921346C-6166-6780-BDA8-F8D9549B63A1}"/>
              </a:ext>
            </a:extLst>
          </p:cNvPr>
          <p:cNvSpPr>
            <a:spLocks noChangeArrowheads="1"/>
          </p:cNvSpPr>
          <p:nvPr/>
        </p:nvSpPr>
        <p:spPr bwMode="auto">
          <a:xfrm>
            <a:off x="-1588" y="-1588"/>
            <a:ext cx="2970213"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7172" name="Rectangle 4">
            <a:extLst>
              <a:ext uri="{FF2B5EF4-FFF2-40B4-BE49-F238E27FC236}">
                <a16:creationId xmlns:a16="http://schemas.microsoft.com/office/drawing/2014/main" id="{F8792C41-2DF8-C3B3-F7F0-4D206ADD8EDC}"/>
              </a:ext>
            </a:extLst>
          </p:cNvPr>
          <p:cNvSpPr>
            <a:spLocks noGrp="1" noChangeArrowheads="1"/>
          </p:cNvSpPr>
          <p:nvPr>
            <p:ph type="body" idx="1"/>
          </p:nvPr>
        </p:nvSpPr>
        <p:spPr>
          <a:xfrm>
            <a:off x="455613" y="4849813"/>
            <a:ext cx="534193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446088">
              <a:tabLst>
                <a:tab pos="439738" algn="l"/>
              </a:tabLst>
            </a:pPr>
            <a:r>
              <a:rPr lang="en-US" altLang="en-US">
                <a:latin typeface="Arial" panose="020B0604020202020204" pitchFamily="34" charset="0"/>
              </a:rPr>
              <a:t>Lesson Aim</a:t>
            </a:r>
          </a:p>
          <a:p>
            <a:pPr marL="114300" lvl="1" defTabSz="446088">
              <a:tabLst>
                <a:tab pos="439738" algn="l"/>
              </a:tabLst>
            </a:pPr>
            <a:r>
              <a:rPr lang="en-US" altLang="en-US">
                <a:latin typeface="Arial" panose="020B0604020202020204" pitchFamily="34" charset="0"/>
              </a:rPr>
              <a:t>In this lesson, you will learn how to insert rows into a table, update existing rows in a table, and delete existing rows from a table. You will also learn how to control transactions with the COMMIT, SAVEPOINT, and ROLLBACK statements.</a:t>
            </a:r>
          </a:p>
        </p:txBody>
      </p:sp>
      <p:sp>
        <p:nvSpPr>
          <p:cNvPr id="7173" name="Rectangle 5">
            <a:extLst>
              <a:ext uri="{FF2B5EF4-FFF2-40B4-BE49-F238E27FC236}">
                <a16:creationId xmlns:a16="http://schemas.microsoft.com/office/drawing/2014/main" id="{3627F3CE-77AC-7A07-2254-A06CC2050803}"/>
              </a:ext>
            </a:extLst>
          </p:cNvPr>
          <p:cNvSpPr>
            <a:spLocks noGrp="1" noRot="1" noChangeArrowheads="1" noTextEdit="1"/>
          </p:cNvSpPr>
          <p:nvPr>
            <p:ph type="sldImg"/>
          </p:nvPr>
        </p:nvSpPr>
        <p:spPr>
          <a:xfrm>
            <a:off x="407988" y="171450"/>
            <a:ext cx="6037262" cy="4527550"/>
          </a:xfrm>
          <a:ln w="12700" cap="flat">
            <a:solidFill>
              <a:schemeClr val="tx1"/>
            </a:solid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BB42C3B-62D6-C9D4-03D2-4154AF43911E}"/>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9219" name="Rectangle 3">
            <a:extLst>
              <a:ext uri="{FF2B5EF4-FFF2-40B4-BE49-F238E27FC236}">
                <a16:creationId xmlns:a16="http://schemas.microsoft.com/office/drawing/2014/main" id="{00AB6E9B-8E38-B2DC-283D-8E7C8D594C1A}"/>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20" name="Rectangle 4">
            <a:extLst>
              <a:ext uri="{FF2B5EF4-FFF2-40B4-BE49-F238E27FC236}">
                <a16:creationId xmlns:a16="http://schemas.microsoft.com/office/drawing/2014/main" id="{2E3FB7EF-7D4C-FBF5-3153-C9075E421ECD}"/>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9221" name="Rectangle 5">
            <a:extLst>
              <a:ext uri="{FF2B5EF4-FFF2-40B4-BE49-F238E27FC236}">
                <a16:creationId xmlns:a16="http://schemas.microsoft.com/office/drawing/2014/main" id="{C7BDC339-97C9-4F1C-0CEA-CA78A56E24FC}"/>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tabLst>
                <a:tab pos="446088" algn="l"/>
              </a:tabLst>
            </a:pPr>
            <a:r>
              <a:rPr lang="en-US" altLang="en-US">
                <a:latin typeface="Arial" panose="020B0604020202020204" pitchFamily="34" charset="0"/>
              </a:rPr>
              <a:t>Data Manipulation Language</a:t>
            </a:r>
          </a:p>
          <a:p>
            <a:pPr marL="114300" lvl="1" defTabSz="382588">
              <a:tabLst>
                <a:tab pos="446088" algn="l"/>
              </a:tabLst>
            </a:pPr>
            <a:r>
              <a:rPr lang="en-US" altLang="en-US">
                <a:solidFill>
                  <a:srgbClr val="FC0128"/>
                </a:solidFill>
                <a:latin typeface="Arial" panose="020B0604020202020204" pitchFamily="34" charset="0"/>
              </a:rPr>
              <a:t>Data manipulation language </a:t>
            </a:r>
            <a:r>
              <a:rPr lang="en-US" altLang="en-US">
                <a:latin typeface="Arial" panose="020B0604020202020204" pitchFamily="34" charset="0"/>
              </a:rPr>
              <a:t>(</a:t>
            </a:r>
            <a:r>
              <a:rPr lang="en-US" altLang="en-US">
                <a:solidFill>
                  <a:srgbClr val="FC0128"/>
                </a:solidFill>
                <a:latin typeface="Arial" panose="020B0604020202020204" pitchFamily="34" charset="0"/>
              </a:rPr>
              <a:t>DML)</a:t>
            </a:r>
            <a:r>
              <a:rPr lang="en-US" altLang="en-US">
                <a:latin typeface="Arial" panose="020B0604020202020204" pitchFamily="34" charset="0"/>
              </a:rPr>
              <a:t> is a core part of SQL. When you want to add, update, or delete data in the database, you execute a DML statement. A collection of DML statements that form a logical unit of work is called a </a:t>
            </a:r>
            <a:r>
              <a:rPr lang="en-US" altLang="en-US" i="1">
                <a:latin typeface="Arial" panose="020B0604020202020204" pitchFamily="34" charset="0"/>
              </a:rPr>
              <a:t>transaction</a:t>
            </a:r>
            <a:r>
              <a:rPr lang="en-US" altLang="en-US" b="1" i="1">
                <a:latin typeface="Arial" panose="020B0604020202020204" pitchFamily="34" charset="0"/>
              </a:rPr>
              <a:t>.</a:t>
            </a:r>
            <a:r>
              <a:rPr lang="en-US" altLang="en-US">
                <a:latin typeface="Arial" panose="020B0604020202020204" pitchFamily="34" charset="0"/>
              </a:rPr>
              <a:t> </a:t>
            </a:r>
          </a:p>
          <a:p>
            <a:pPr marL="114300" lvl="1" defTabSz="382588">
              <a:tabLst>
                <a:tab pos="446088" algn="l"/>
              </a:tabLst>
            </a:pPr>
            <a:r>
              <a:rPr lang="en-US" altLang="en-US">
                <a:latin typeface="Arial" panose="020B0604020202020204" pitchFamily="34" charset="0"/>
              </a:rPr>
              <a:t>Consider a banking database. When a bank customer transfers money from a savings account to a checking account, the transaction might consist of three separate operations: decrease the savings account, increase the checking account, and record the </a:t>
            </a:r>
            <a:r>
              <a:rPr lang="en-US" altLang="en-US">
                <a:solidFill>
                  <a:srgbClr val="FC0128"/>
                </a:solidFill>
                <a:latin typeface="Arial" panose="020B0604020202020204" pitchFamily="34" charset="0"/>
              </a:rPr>
              <a:t>transaction </a:t>
            </a:r>
            <a:r>
              <a:rPr lang="en-US" altLang="en-US">
                <a:latin typeface="Arial" panose="020B0604020202020204" pitchFamily="34" charset="0"/>
              </a:rPr>
              <a:t>in the transaction journal. The Oracle Server must guarantee that all three SQL statements are performed to maintain the accounts in proper balance. When something prevents one of the statements in the transaction from executing, the other statements of the transaction must be undone.</a:t>
            </a:r>
          </a:p>
          <a:p>
            <a:pPr marL="114300" lvl="1" defTabSz="382588">
              <a:tabLst>
                <a:tab pos="446088" algn="l"/>
              </a:tabLst>
            </a:pPr>
            <a:endParaRPr lang="en-US" altLang="en-US">
              <a:latin typeface="Arial" panose="020B0604020202020204" pitchFamily="34" charset="0"/>
            </a:endParaRPr>
          </a:p>
          <a:p>
            <a:pPr marL="114300" lvl="1" defTabSz="382588">
              <a:tabLst>
                <a:tab pos="446088" algn="l"/>
              </a:tabLst>
            </a:pPr>
            <a:endParaRPr lang="en-US" altLang="en-US">
              <a:latin typeface="Arial" panose="020B0604020202020204" pitchFamily="34" charset="0"/>
            </a:endParaRPr>
          </a:p>
          <a:p>
            <a:pPr defTabSz="382588">
              <a:tabLst>
                <a:tab pos="446088" algn="l"/>
              </a:tabLst>
            </a:pPr>
            <a:r>
              <a:rPr lang="en-US" altLang="en-US">
                <a:solidFill>
                  <a:schemeClr val="accent2"/>
                </a:solidFill>
                <a:latin typeface="Arial" panose="020B0604020202020204" pitchFamily="34" charset="0"/>
              </a:rPr>
              <a:t>Class Management Note</a:t>
            </a:r>
          </a:p>
          <a:p>
            <a:pPr marL="114300" lvl="1" defTabSz="382588">
              <a:tabLst>
                <a:tab pos="446088" algn="l"/>
              </a:tabLst>
            </a:pPr>
            <a:r>
              <a:rPr lang="en-US" altLang="en-US">
                <a:solidFill>
                  <a:schemeClr val="accent2"/>
                </a:solidFill>
                <a:latin typeface="Arial" panose="020B0604020202020204" pitchFamily="34" charset="0"/>
              </a:rPr>
              <a:t>DML statements can be issued directly in SQL*Plus, performed automatically by tools such as Oracle Developer or programmed with tools such as the 3GL precompilers. </a:t>
            </a:r>
          </a:p>
          <a:p>
            <a:pPr marL="114300" lvl="1" defTabSz="382588">
              <a:tabLst>
                <a:tab pos="446088" algn="l"/>
              </a:tabLst>
            </a:pPr>
            <a:r>
              <a:rPr lang="en-US" altLang="en-US">
                <a:solidFill>
                  <a:schemeClr val="accent2"/>
                </a:solidFill>
                <a:latin typeface="Arial" panose="020B0604020202020204" pitchFamily="34" charset="0"/>
              </a:rPr>
              <a:t>Every table has INSERT, UPDATE, and DELETE privileges associated with it. These privileges are automatically granted to the creator of the table, but in general they must be explicitly granted to other users.</a:t>
            </a:r>
          </a:p>
          <a:p>
            <a:pPr marL="114300" lvl="1" defTabSz="382588">
              <a:tabLst>
                <a:tab pos="446088" algn="l"/>
              </a:tabLst>
            </a:pPr>
            <a:r>
              <a:rPr lang="en-US" altLang="en-US">
                <a:solidFill>
                  <a:schemeClr val="accent2"/>
                </a:solidFill>
                <a:latin typeface="Arial" panose="020B0604020202020204" pitchFamily="34" charset="0"/>
              </a:rPr>
              <a:t>Starting with Oracle 7.2, you can place a subquery in the place of the table name in an UPDATE statement, essentially the same way a view is used.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1CA68B2-1BFB-BC08-8171-F8BED7F5B96E}"/>
              </a:ext>
            </a:extLst>
          </p:cNvPr>
          <p:cNvSpPr>
            <a:spLocks noChangeArrowheads="1"/>
          </p:cNvSpPr>
          <p:nvPr/>
        </p:nvSpPr>
        <p:spPr bwMode="auto">
          <a:xfrm>
            <a:off x="3884613" y="-1588"/>
            <a:ext cx="2973387"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1267" name="Rectangle 3">
            <a:extLst>
              <a:ext uri="{FF2B5EF4-FFF2-40B4-BE49-F238E27FC236}">
                <a16:creationId xmlns:a16="http://schemas.microsoft.com/office/drawing/2014/main" id="{991EB9EA-5A03-32DE-45E5-88963D975A39}"/>
              </a:ext>
            </a:extLst>
          </p:cNvPr>
          <p:cNvSpPr>
            <a:spLocks noChangeArrowheads="1"/>
          </p:cNvSpPr>
          <p:nvPr/>
        </p:nvSpPr>
        <p:spPr bwMode="auto">
          <a:xfrm>
            <a:off x="-1588" y="-1588"/>
            <a:ext cx="2970213"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1268" name="Rectangle 4">
            <a:extLst>
              <a:ext uri="{FF2B5EF4-FFF2-40B4-BE49-F238E27FC236}">
                <a16:creationId xmlns:a16="http://schemas.microsoft.com/office/drawing/2014/main" id="{AB83B8F6-126D-0C67-C968-A62ADF6EDFDE}"/>
              </a:ext>
            </a:extLst>
          </p:cNvPr>
          <p:cNvSpPr>
            <a:spLocks noGrp="1" noChangeArrowheads="1"/>
          </p:cNvSpPr>
          <p:nvPr>
            <p:ph type="body" idx="1"/>
          </p:nvPr>
        </p:nvSpPr>
        <p:spPr>
          <a:xfrm>
            <a:off x="455613" y="4849813"/>
            <a:ext cx="5910262"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446088">
              <a:tabLst>
                <a:tab pos="434975" algn="l"/>
              </a:tabLst>
            </a:pPr>
            <a:r>
              <a:rPr lang="en-US" altLang="en-US">
                <a:latin typeface="Arial" panose="020B0604020202020204" pitchFamily="34" charset="0"/>
              </a:rPr>
              <a:t>Adding a New Row to a Table</a:t>
            </a:r>
          </a:p>
          <a:p>
            <a:pPr marL="114300" lvl="1" defTabSz="446088">
              <a:tabLst>
                <a:tab pos="434975" algn="l"/>
              </a:tabLst>
            </a:pPr>
            <a:r>
              <a:rPr lang="en-US" altLang="en-US">
                <a:latin typeface="Arial" panose="020B0604020202020204" pitchFamily="34" charset="0"/>
              </a:rPr>
              <a:t>The slide graphic adds a new department to the DEPT table. </a:t>
            </a: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p:txBody>
      </p:sp>
      <p:sp>
        <p:nvSpPr>
          <p:cNvPr id="11269" name="Rectangle 5">
            <a:extLst>
              <a:ext uri="{FF2B5EF4-FFF2-40B4-BE49-F238E27FC236}">
                <a16:creationId xmlns:a16="http://schemas.microsoft.com/office/drawing/2014/main" id="{57FDF6C9-2970-D2C1-0113-835023EA1AD3}"/>
              </a:ext>
            </a:extLst>
          </p:cNvPr>
          <p:cNvSpPr>
            <a:spLocks noGrp="1" noRot="1" noChangeArrowheads="1" noTextEdit="1"/>
          </p:cNvSpPr>
          <p:nvPr>
            <p:ph type="sldImg"/>
          </p:nvPr>
        </p:nvSpPr>
        <p:spPr>
          <a:xfrm>
            <a:off x="411163" y="176213"/>
            <a:ext cx="6030912" cy="4522787"/>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A506CE9-6D96-EA33-9A5E-0C65C53DDF87}"/>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5" name="Rectangle 3">
            <a:extLst>
              <a:ext uri="{FF2B5EF4-FFF2-40B4-BE49-F238E27FC236}">
                <a16:creationId xmlns:a16="http://schemas.microsoft.com/office/drawing/2014/main" id="{3E53C071-A07A-D053-F64A-6869E2F1ED65}"/>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3316" name="Rectangle 4">
            <a:extLst>
              <a:ext uri="{FF2B5EF4-FFF2-40B4-BE49-F238E27FC236}">
                <a16:creationId xmlns:a16="http://schemas.microsoft.com/office/drawing/2014/main" id="{CC72F55A-1055-826E-73BB-F8B3C40F9552}"/>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New Row to a Table (continued)</a:t>
            </a:r>
          </a:p>
          <a:p>
            <a:pPr lvl="1"/>
            <a:r>
              <a:rPr lang="en-US" altLang="en-US">
                <a:latin typeface="Arial" panose="020B0604020202020204" pitchFamily="34" charset="0"/>
              </a:rPr>
              <a:t>You can add new rows to a table by issuing the </a:t>
            </a:r>
            <a:r>
              <a:rPr lang="en-US" altLang="en-US">
                <a:solidFill>
                  <a:srgbClr val="FC0128"/>
                </a:solidFill>
                <a:latin typeface="Arial" panose="020B0604020202020204" pitchFamily="34" charset="0"/>
              </a:rPr>
              <a:t>INSERT </a:t>
            </a:r>
            <a:r>
              <a:rPr lang="en-US" altLang="en-US">
                <a:latin typeface="Arial" panose="020B0604020202020204" pitchFamily="34" charset="0"/>
              </a:rPr>
              <a:t>statement. </a:t>
            </a:r>
          </a:p>
          <a:p>
            <a:pPr lvl="1"/>
            <a:r>
              <a:rPr lang="en-US" altLang="en-US">
                <a:latin typeface="Arial" panose="020B0604020202020204" pitchFamily="34" charset="0"/>
              </a:rPr>
              <a:t>In the syntax:</a:t>
            </a:r>
          </a:p>
          <a:p>
            <a:pPr lvl="1"/>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name of the table</a:t>
            </a:r>
          </a:p>
          <a:p>
            <a:pPr lvl="1"/>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lvl="1"/>
            <a:r>
              <a:rPr lang="en-US" altLang="en-US">
                <a:latin typeface="Arial" panose="020B0604020202020204" pitchFamily="34" charset="0"/>
              </a:rPr>
              <a:t>	</a:t>
            </a:r>
            <a:r>
              <a:rPr lang="en-US" altLang="en-US" i="1">
                <a:latin typeface="Arial" panose="020B0604020202020204" pitchFamily="34" charset="0"/>
              </a:rPr>
              <a:t>value			</a:t>
            </a:r>
            <a:r>
              <a:rPr lang="en-US" altLang="en-US">
                <a:latin typeface="Arial" panose="020B0604020202020204" pitchFamily="34" charset="0"/>
              </a:rPr>
              <a:t>is the corresponding value for the column</a:t>
            </a:r>
          </a:p>
          <a:p>
            <a:pPr lvl="1"/>
            <a:r>
              <a:rPr lang="en-US" altLang="en-US" b="1">
                <a:latin typeface="Arial" panose="020B0604020202020204" pitchFamily="34" charset="0"/>
              </a:rPr>
              <a:t>Note:</a:t>
            </a:r>
            <a:r>
              <a:rPr lang="en-US" altLang="en-US">
                <a:latin typeface="Arial" panose="020B0604020202020204" pitchFamily="34" charset="0"/>
              </a:rPr>
              <a:t> This statement with the VALUES clause adds only one row at a time to a table.</a:t>
            </a:r>
          </a:p>
          <a:p>
            <a:pPr lvl="1"/>
            <a:endParaRPr lang="en-US" altLang="en-US">
              <a:latin typeface="Arial" panose="020B0604020202020204" pitchFamily="34" charset="0"/>
            </a:endParaRPr>
          </a:p>
          <a:p>
            <a:endParaRPr lang="en-US" altLang="en-US" b="1">
              <a:latin typeface="Times New Roman" panose="02020603050405020304" pitchFamily="18" charset="0"/>
            </a:endParaRPr>
          </a:p>
        </p:txBody>
      </p:sp>
      <p:sp>
        <p:nvSpPr>
          <p:cNvPr id="13317" name="Rectangle 5">
            <a:extLst>
              <a:ext uri="{FF2B5EF4-FFF2-40B4-BE49-F238E27FC236}">
                <a16:creationId xmlns:a16="http://schemas.microsoft.com/office/drawing/2014/main" id="{59F5D320-8E8C-3FB6-4B7D-F50730BD169D}"/>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548C09F-615E-E35B-2A87-1BBA0D23D856}"/>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15363" name="Rectangle 3">
            <a:extLst>
              <a:ext uri="{FF2B5EF4-FFF2-40B4-BE49-F238E27FC236}">
                <a16:creationId xmlns:a16="http://schemas.microsoft.com/office/drawing/2014/main" id="{ADE6D815-923D-F822-69E6-820CD22E2F09}"/>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Adding a New Row to a Table (continued)</a:t>
            </a:r>
          </a:p>
          <a:p>
            <a:pPr lvl="1"/>
            <a:r>
              <a:rPr lang="en-US" altLang="en-US">
                <a:latin typeface="Arial" panose="020B0604020202020204" pitchFamily="34" charset="0"/>
              </a:rPr>
              <a:t>Because you can insert a new row that contains values for each column, the column list is not required in the INSERT clause. However, if you do not use the column list, the values must be listed according to the default order of the columns in the table. </a:t>
            </a:r>
          </a:p>
          <a:p>
            <a:pPr lvl="1">
              <a:spcBef>
                <a:spcPct val="65000"/>
              </a:spcBef>
            </a:pPr>
            <a:r>
              <a:rPr lang="en-US" altLang="en-US">
                <a:latin typeface="Arial" panose="020B0604020202020204" pitchFamily="34" charset="0"/>
              </a:rPr>
              <a:t>    </a:t>
            </a:r>
            <a:r>
              <a:rPr lang="en-US" altLang="en-US" b="1">
                <a:latin typeface="Courier New" panose="02070309020205020404" pitchFamily="49" charset="0"/>
              </a:rPr>
              <a:t>SQL&gt; DESCRIBE  dept</a:t>
            </a:r>
            <a:endParaRPr lang="en-US" altLang="en-US">
              <a:latin typeface="Arial" panose="020B0604020202020204" pitchFamily="34" charset="0"/>
            </a:endParaRPr>
          </a:p>
          <a:p>
            <a:pPr lvl="1"/>
            <a:endParaRPr lang="en-US" altLang="en-US">
              <a:latin typeface="Arial" panose="020B0604020202020204" pitchFamily="34" charset="0"/>
            </a:endParaRPr>
          </a:p>
          <a:p>
            <a:pPr lvl="1">
              <a:spcBef>
                <a:spcPct val="0"/>
              </a:spcBef>
            </a:pPr>
            <a:r>
              <a:rPr lang="en-US" altLang="en-US">
                <a:latin typeface="Arial" panose="020B0604020202020204" pitchFamily="34" charset="0"/>
              </a:rPr>
              <a:t>     </a:t>
            </a:r>
            <a:r>
              <a:rPr lang="en-US" altLang="en-US">
                <a:latin typeface="Courier New" panose="02070309020205020404" pitchFamily="49" charset="0"/>
              </a:rPr>
              <a:t>Name                            Null?    Type</a:t>
            </a:r>
          </a:p>
          <a:p>
            <a:pPr lvl="1">
              <a:spcBef>
                <a:spcPct val="0"/>
              </a:spcBef>
            </a:pPr>
            <a:r>
              <a:rPr lang="en-US" altLang="en-US">
                <a:latin typeface="Courier New" panose="02070309020205020404" pitchFamily="49" charset="0"/>
              </a:rPr>
              <a:t>  ------------------------------- -------- ------------</a:t>
            </a:r>
          </a:p>
          <a:p>
            <a:pPr lvl="1">
              <a:spcBef>
                <a:spcPct val="0"/>
              </a:spcBef>
            </a:pPr>
            <a:r>
              <a:rPr lang="en-US" altLang="en-US">
                <a:latin typeface="Courier New" panose="02070309020205020404" pitchFamily="49" charset="0"/>
              </a:rPr>
              <a:t>  DEPTNO                          NOT NULL NUMBER(2)</a:t>
            </a:r>
          </a:p>
          <a:p>
            <a:pPr lvl="1">
              <a:spcBef>
                <a:spcPct val="0"/>
              </a:spcBef>
            </a:pPr>
            <a:r>
              <a:rPr lang="en-US" altLang="en-US">
                <a:latin typeface="Courier New" panose="02070309020205020404" pitchFamily="49" charset="0"/>
              </a:rPr>
              <a:t>  DNAME                                    VARCHAR2(14)</a:t>
            </a:r>
          </a:p>
          <a:p>
            <a:pPr lvl="1">
              <a:spcBef>
                <a:spcPct val="0"/>
              </a:spcBef>
            </a:pPr>
            <a:r>
              <a:rPr lang="en-US" altLang="en-US">
                <a:latin typeface="Courier New" panose="02070309020205020404" pitchFamily="49" charset="0"/>
              </a:rPr>
              <a:t>  LOC                                      VARCHAR2(13)</a:t>
            </a:r>
          </a:p>
          <a:p>
            <a:pPr lvl="1"/>
            <a:endParaRPr lang="en-US" altLang="en-US" sz="400">
              <a:latin typeface="Arial" panose="020B0604020202020204" pitchFamily="34" charset="0"/>
            </a:endParaRPr>
          </a:p>
          <a:p>
            <a:pPr lvl="1"/>
            <a:r>
              <a:rPr lang="en-US" altLang="en-US">
                <a:latin typeface="Arial" panose="020B0604020202020204" pitchFamily="34" charset="0"/>
              </a:rPr>
              <a:t>For clarity, use the column list in the INSERT clause.</a:t>
            </a:r>
            <a:br>
              <a:rPr lang="en-US" altLang="en-US">
                <a:latin typeface="Arial" panose="020B0604020202020204" pitchFamily="34" charset="0"/>
              </a:rPr>
            </a:br>
            <a:r>
              <a:rPr lang="en-US" altLang="en-US">
                <a:latin typeface="Arial" panose="020B0604020202020204" pitchFamily="34" charset="0"/>
              </a:rPr>
              <a:t>Enclose character and date values within single quotation marks; do not enclose numeric values within single quotation marks.</a:t>
            </a:r>
          </a:p>
          <a:p>
            <a:endParaRPr lang="en-US" altLang="en-US" b="1">
              <a:latin typeface="Times New Roman" panose="02020603050405020304" pitchFamily="18" charset="0"/>
            </a:endParaRPr>
          </a:p>
        </p:txBody>
      </p:sp>
      <p:sp>
        <p:nvSpPr>
          <p:cNvPr id="15364" name="Rectangle 4">
            <a:extLst>
              <a:ext uri="{FF2B5EF4-FFF2-40B4-BE49-F238E27FC236}">
                <a16:creationId xmlns:a16="http://schemas.microsoft.com/office/drawing/2014/main" id="{7CE4C1B9-0443-CB93-B420-300E3745A709}"/>
              </a:ext>
            </a:extLst>
          </p:cNvPr>
          <p:cNvSpPr>
            <a:spLocks noChangeArrowheads="1"/>
          </p:cNvSpPr>
          <p:nvPr/>
        </p:nvSpPr>
        <p:spPr bwMode="auto">
          <a:xfrm>
            <a:off x="631825" y="5697538"/>
            <a:ext cx="5562600" cy="266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15365" name="Group 5">
            <a:extLst>
              <a:ext uri="{FF2B5EF4-FFF2-40B4-BE49-F238E27FC236}">
                <a16:creationId xmlns:a16="http://schemas.microsoft.com/office/drawing/2014/main" id="{38005213-1009-E9CB-2E14-C59509DDE535}"/>
              </a:ext>
            </a:extLst>
          </p:cNvPr>
          <p:cNvGrpSpPr>
            <a:grpSpLocks/>
          </p:cNvGrpSpPr>
          <p:nvPr/>
        </p:nvGrpSpPr>
        <p:grpSpPr bwMode="auto">
          <a:xfrm>
            <a:off x="195263" y="7158038"/>
            <a:ext cx="285750" cy="309562"/>
            <a:chOff x="122" y="4427"/>
            <a:chExt cx="179" cy="192"/>
          </a:xfrm>
        </p:grpSpPr>
        <p:sp>
          <p:nvSpPr>
            <p:cNvPr id="15367" name="Freeform 6">
              <a:extLst>
                <a:ext uri="{FF2B5EF4-FFF2-40B4-BE49-F238E27FC236}">
                  <a16:creationId xmlns:a16="http://schemas.microsoft.com/office/drawing/2014/main" id="{97AD0E01-658B-58C9-5AC3-CA299A1E97EE}"/>
                </a:ext>
              </a:extLst>
            </p:cNvPr>
            <p:cNvSpPr>
              <a:spLocks/>
            </p:cNvSpPr>
            <p:nvPr/>
          </p:nvSpPr>
          <p:spPr bwMode="auto">
            <a:xfrm>
              <a:off x="122" y="4427"/>
              <a:ext cx="179" cy="184"/>
            </a:xfrm>
            <a:custGeom>
              <a:avLst/>
              <a:gdLst>
                <a:gd name="T0" fmla="*/ 178 w 179"/>
                <a:gd name="T1" fmla="*/ 183 h 184"/>
                <a:gd name="T2" fmla="*/ 178 w 179"/>
                <a:gd name="T3" fmla="*/ 0 h 184"/>
                <a:gd name="T4" fmla="*/ 0 w 179"/>
                <a:gd name="T5" fmla="*/ 0 h 184"/>
                <a:gd name="T6" fmla="*/ 0 w 179"/>
                <a:gd name="T7" fmla="*/ 183 h 184"/>
                <a:gd name="T8" fmla="*/ 178 w 179"/>
                <a:gd name="T9" fmla="*/ 183 h 184"/>
                <a:gd name="T10" fmla="*/ 0 60000 65536"/>
                <a:gd name="T11" fmla="*/ 0 60000 65536"/>
                <a:gd name="T12" fmla="*/ 0 60000 65536"/>
                <a:gd name="T13" fmla="*/ 0 60000 65536"/>
                <a:gd name="T14" fmla="*/ 0 60000 65536"/>
                <a:gd name="T15" fmla="*/ 0 w 179"/>
                <a:gd name="T16" fmla="*/ 0 h 184"/>
                <a:gd name="T17" fmla="*/ 179 w 179"/>
                <a:gd name="T18" fmla="*/ 184 h 184"/>
              </a:gdLst>
              <a:ahLst/>
              <a:cxnLst>
                <a:cxn ang="T10">
                  <a:pos x="T0" y="T1"/>
                </a:cxn>
                <a:cxn ang="T11">
                  <a:pos x="T2" y="T3"/>
                </a:cxn>
                <a:cxn ang="T12">
                  <a:pos x="T4" y="T5"/>
                </a:cxn>
                <a:cxn ang="T13">
                  <a:pos x="T6" y="T7"/>
                </a:cxn>
                <a:cxn ang="T14">
                  <a:pos x="T8" y="T9"/>
                </a:cxn>
              </a:cxnLst>
              <a:rect l="T15" t="T16" r="T17" b="T18"/>
              <a:pathLst>
                <a:path w="179" h="184">
                  <a:moveTo>
                    <a:pt x="178" y="183"/>
                  </a:moveTo>
                  <a:lnTo>
                    <a:pt x="178" y="0"/>
                  </a:lnTo>
                  <a:lnTo>
                    <a:pt x="0" y="0"/>
                  </a:lnTo>
                  <a:lnTo>
                    <a:pt x="0" y="183"/>
                  </a:lnTo>
                  <a:lnTo>
                    <a:pt x="178"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68" name="Freeform 7">
              <a:extLst>
                <a:ext uri="{FF2B5EF4-FFF2-40B4-BE49-F238E27FC236}">
                  <a16:creationId xmlns:a16="http://schemas.microsoft.com/office/drawing/2014/main" id="{744E4642-AC56-C162-4174-37C97D424C17}"/>
                </a:ext>
              </a:extLst>
            </p:cNvPr>
            <p:cNvSpPr>
              <a:spLocks/>
            </p:cNvSpPr>
            <p:nvPr/>
          </p:nvSpPr>
          <p:spPr bwMode="auto">
            <a:xfrm>
              <a:off x="203" y="4601"/>
              <a:ext cx="26" cy="18"/>
            </a:xfrm>
            <a:custGeom>
              <a:avLst/>
              <a:gdLst>
                <a:gd name="T0" fmla="*/ 25 w 26"/>
                <a:gd name="T1" fmla="*/ 17 h 18"/>
                <a:gd name="T2" fmla="*/ 25 w 26"/>
                <a:gd name="T3" fmla="*/ 0 h 18"/>
                <a:gd name="T4" fmla="*/ 0 w 26"/>
                <a:gd name="T5" fmla="*/ 0 h 18"/>
                <a:gd name="T6" fmla="*/ 0 w 26"/>
                <a:gd name="T7" fmla="*/ 17 h 18"/>
                <a:gd name="T8" fmla="*/ 25 w 26"/>
                <a:gd name="T9" fmla="*/ 17 h 18"/>
                <a:gd name="T10" fmla="*/ 0 60000 65536"/>
                <a:gd name="T11" fmla="*/ 0 60000 65536"/>
                <a:gd name="T12" fmla="*/ 0 60000 65536"/>
                <a:gd name="T13" fmla="*/ 0 60000 65536"/>
                <a:gd name="T14" fmla="*/ 0 60000 65536"/>
                <a:gd name="T15" fmla="*/ 0 w 26"/>
                <a:gd name="T16" fmla="*/ 0 h 18"/>
                <a:gd name="T17" fmla="*/ 26 w 26"/>
                <a:gd name="T18" fmla="*/ 18 h 18"/>
              </a:gdLst>
              <a:ahLst/>
              <a:cxnLst>
                <a:cxn ang="T10">
                  <a:pos x="T0" y="T1"/>
                </a:cxn>
                <a:cxn ang="T11">
                  <a:pos x="T2" y="T3"/>
                </a:cxn>
                <a:cxn ang="T12">
                  <a:pos x="T4" y="T5"/>
                </a:cxn>
                <a:cxn ang="T13">
                  <a:pos x="T6" y="T7"/>
                </a:cxn>
                <a:cxn ang="T14">
                  <a:pos x="T8" y="T9"/>
                </a:cxn>
              </a:cxnLst>
              <a:rect l="T15" t="T16" r="T17" b="T18"/>
              <a:pathLst>
                <a:path w="26" h="18">
                  <a:moveTo>
                    <a:pt x="25" y="17"/>
                  </a:moveTo>
                  <a:lnTo>
                    <a:pt x="25" y="0"/>
                  </a:lnTo>
                  <a:lnTo>
                    <a:pt x="0" y="0"/>
                  </a:lnTo>
                  <a:lnTo>
                    <a:pt x="0" y="17"/>
                  </a:lnTo>
                  <a:lnTo>
                    <a:pt x="25"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69" name="Freeform 8">
              <a:extLst>
                <a:ext uri="{FF2B5EF4-FFF2-40B4-BE49-F238E27FC236}">
                  <a16:creationId xmlns:a16="http://schemas.microsoft.com/office/drawing/2014/main" id="{9E6C8939-7C64-33AA-827D-7CF86518E24C}"/>
                </a:ext>
              </a:extLst>
            </p:cNvPr>
            <p:cNvSpPr>
              <a:spLocks/>
            </p:cNvSpPr>
            <p:nvPr/>
          </p:nvSpPr>
          <p:spPr bwMode="auto">
            <a:xfrm>
              <a:off x="145" y="4480"/>
              <a:ext cx="31" cy="21"/>
            </a:xfrm>
            <a:custGeom>
              <a:avLst/>
              <a:gdLst>
                <a:gd name="T0" fmla="*/ 0 w 31"/>
                <a:gd name="T1" fmla="*/ 0 h 21"/>
                <a:gd name="T2" fmla="*/ 24 w 31"/>
                <a:gd name="T3" fmla="*/ 20 h 21"/>
                <a:gd name="T4" fmla="*/ 30 w 31"/>
                <a:gd name="T5" fmla="*/ 9 h 21"/>
                <a:gd name="T6" fmla="*/ 0 w 31"/>
                <a:gd name="T7" fmla="*/ 0 h 21"/>
                <a:gd name="T8" fmla="*/ 0 60000 65536"/>
                <a:gd name="T9" fmla="*/ 0 60000 65536"/>
                <a:gd name="T10" fmla="*/ 0 60000 65536"/>
                <a:gd name="T11" fmla="*/ 0 60000 65536"/>
                <a:gd name="T12" fmla="*/ 0 w 31"/>
                <a:gd name="T13" fmla="*/ 0 h 21"/>
                <a:gd name="T14" fmla="*/ 31 w 31"/>
                <a:gd name="T15" fmla="*/ 21 h 21"/>
              </a:gdLst>
              <a:ahLst/>
              <a:cxnLst>
                <a:cxn ang="T8">
                  <a:pos x="T0" y="T1"/>
                </a:cxn>
                <a:cxn ang="T9">
                  <a:pos x="T2" y="T3"/>
                </a:cxn>
                <a:cxn ang="T10">
                  <a:pos x="T4" y="T5"/>
                </a:cxn>
                <a:cxn ang="T11">
                  <a:pos x="T6" y="T7"/>
                </a:cxn>
              </a:cxnLst>
              <a:rect l="T12" t="T13" r="T14" b="T15"/>
              <a:pathLst>
                <a:path w="31" h="21">
                  <a:moveTo>
                    <a:pt x="0" y="0"/>
                  </a:moveTo>
                  <a:lnTo>
                    <a:pt x="24" y="20"/>
                  </a:lnTo>
                  <a:lnTo>
                    <a:pt x="30" y="9"/>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70" name="Freeform 9">
              <a:extLst>
                <a:ext uri="{FF2B5EF4-FFF2-40B4-BE49-F238E27FC236}">
                  <a16:creationId xmlns:a16="http://schemas.microsoft.com/office/drawing/2014/main" id="{8A21E09C-47C9-10C5-D809-65E36C74935E}"/>
                </a:ext>
              </a:extLst>
            </p:cNvPr>
            <p:cNvSpPr>
              <a:spLocks/>
            </p:cNvSpPr>
            <p:nvPr/>
          </p:nvSpPr>
          <p:spPr bwMode="auto">
            <a:xfrm>
              <a:off x="254" y="4480"/>
              <a:ext cx="33" cy="21"/>
            </a:xfrm>
            <a:custGeom>
              <a:avLst/>
              <a:gdLst>
                <a:gd name="T0" fmla="*/ 32 w 33"/>
                <a:gd name="T1" fmla="*/ 0 h 21"/>
                <a:gd name="T2" fmla="*/ 5 w 33"/>
                <a:gd name="T3" fmla="*/ 20 h 21"/>
                <a:gd name="T4" fmla="*/ 0 w 33"/>
                <a:gd name="T5" fmla="*/ 9 h 21"/>
                <a:gd name="T6" fmla="*/ 32 w 33"/>
                <a:gd name="T7" fmla="*/ 0 h 21"/>
                <a:gd name="T8" fmla="*/ 0 60000 65536"/>
                <a:gd name="T9" fmla="*/ 0 60000 65536"/>
                <a:gd name="T10" fmla="*/ 0 60000 65536"/>
                <a:gd name="T11" fmla="*/ 0 60000 65536"/>
                <a:gd name="T12" fmla="*/ 0 w 33"/>
                <a:gd name="T13" fmla="*/ 0 h 21"/>
                <a:gd name="T14" fmla="*/ 33 w 33"/>
                <a:gd name="T15" fmla="*/ 21 h 21"/>
              </a:gdLst>
              <a:ahLst/>
              <a:cxnLst>
                <a:cxn ang="T8">
                  <a:pos x="T0" y="T1"/>
                </a:cxn>
                <a:cxn ang="T9">
                  <a:pos x="T2" y="T3"/>
                </a:cxn>
                <a:cxn ang="T10">
                  <a:pos x="T4" y="T5"/>
                </a:cxn>
                <a:cxn ang="T11">
                  <a:pos x="T6" y="T7"/>
                </a:cxn>
              </a:cxnLst>
              <a:rect l="T12" t="T13" r="T14" b="T15"/>
              <a:pathLst>
                <a:path w="33" h="21">
                  <a:moveTo>
                    <a:pt x="32" y="0"/>
                  </a:moveTo>
                  <a:lnTo>
                    <a:pt x="5" y="20"/>
                  </a:lnTo>
                  <a:lnTo>
                    <a:pt x="0" y="9"/>
                  </a:lnTo>
                  <a:lnTo>
                    <a:pt x="32"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71" name="Freeform 10">
              <a:extLst>
                <a:ext uri="{FF2B5EF4-FFF2-40B4-BE49-F238E27FC236}">
                  <a16:creationId xmlns:a16="http://schemas.microsoft.com/office/drawing/2014/main" id="{84F0B9BA-AB51-1E82-F6FB-304105A4202E}"/>
                </a:ext>
              </a:extLst>
            </p:cNvPr>
            <p:cNvSpPr>
              <a:spLocks/>
            </p:cNvSpPr>
            <p:nvPr/>
          </p:nvSpPr>
          <p:spPr bwMode="auto">
            <a:xfrm>
              <a:off x="141" y="4517"/>
              <a:ext cx="33" cy="20"/>
            </a:xfrm>
            <a:custGeom>
              <a:avLst/>
              <a:gdLst>
                <a:gd name="T0" fmla="*/ 0 w 33"/>
                <a:gd name="T1" fmla="*/ 19 h 20"/>
                <a:gd name="T2" fmla="*/ 32 w 33"/>
                <a:gd name="T3" fmla="*/ 15 h 20"/>
                <a:gd name="T4" fmla="*/ 30 w 33"/>
                <a:gd name="T5" fmla="*/ 0 h 20"/>
                <a:gd name="T6" fmla="*/ 0 w 33"/>
                <a:gd name="T7" fmla="*/ 19 h 20"/>
                <a:gd name="T8" fmla="*/ 0 60000 65536"/>
                <a:gd name="T9" fmla="*/ 0 60000 65536"/>
                <a:gd name="T10" fmla="*/ 0 60000 65536"/>
                <a:gd name="T11" fmla="*/ 0 60000 65536"/>
                <a:gd name="T12" fmla="*/ 0 w 33"/>
                <a:gd name="T13" fmla="*/ 0 h 20"/>
                <a:gd name="T14" fmla="*/ 33 w 33"/>
                <a:gd name="T15" fmla="*/ 20 h 20"/>
              </a:gdLst>
              <a:ahLst/>
              <a:cxnLst>
                <a:cxn ang="T8">
                  <a:pos x="T0" y="T1"/>
                </a:cxn>
                <a:cxn ang="T9">
                  <a:pos x="T2" y="T3"/>
                </a:cxn>
                <a:cxn ang="T10">
                  <a:pos x="T4" y="T5"/>
                </a:cxn>
                <a:cxn ang="T11">
                  <a:pos x="T6" y="T7"/>
                </a:cxn>
              </a:cxnLst>
              <a:rect l="T12" t="T13" r="T14" b="T15"/>
              <a:pathLst>
                <a:path w="33" h="20">
                  <a:moveTo>
                    <a:pt x="0" y="19"/>
                  </a:moveTo>
                  <a:lnTo>
                    <a:pt x="32" y="15"/>
                  </a:lnTo>
                  <a:lnTo>
                    <a:pt x="30" y="0"/>
                  </a:lnTo>
                  <a:lnTo>
                    <a:pt x="0" y="19"/>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72" name="Freeform 11">
              <a:extLst>
                <a:ext uri="{FF2B5EF4-FFF2-40B4-BE49-F238E27FC236}">
                  <a16:creationId xmlns:a16="http://schemas.microsoft.com/office/drawing/2014/main" id="{C0DA2573-86FF-9FA0-6986-9076202A3104}"/>
                </a:ext>
              </a:extLst>
            </p:cNvPr>
            <p:cNvSpPr>
              <a:spLocks/>
            </p:cNvSpPr>
            <p:nvPr/>
          </p:nvSpPr>
          <p:spPr bwMode="auto">
            <a:xfrm>
              <a:off x="257" y="4518"/>
              <a:ext cx="34" cy="20"/>
            </a:xfrm>
            <a:custGeom>
              <a:avLst/>
              <a:gdLst>
                <a:gd name="T0" fmla="*/ 33 w 34"/>
                <a:gd name="T1" fmla="*/ 19 h 20"/>
                <a:gd name="T2" fmla="*/ 0 w 34"/>
                <a:gd name="T3" fmla="*/ 16 h 20"/>
                <a:gd name="T4" fmla="*/ 2 w 34"/>
                <a:gd name="T5" fmla="*/ 0 h 20"/>
                <a:gd name="T6" fmla="*/ 33 w 34"/>
                <a:gd name="T7" fmla="*/ 19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19"/>
                  </a:moveTo>
                  <a:lnTo>
                    <a:pt x="0" y="16"/>
                  </a:lnTo>
                  <a:lnTo>
                    <a:pt x="2" y="0"/>
                  </a:lnTo>
                  <a:lnTo>
                    <a:pt x="33" y="19"/>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73" name="Freeform 12">
              <a:extLst>
                <a:ext uri="{FF2B5EF4-FFF2-40B4-BE49-F238E27FC236}">
                  <a16:creationId xmlns:a16="http://schemas.microsoft.com/office/drawing/2014/main" id="{5787C1E8-29C3-3541-1138-5F9ED82B2428}"/>
                </a:ext>
              </a:extLst>
            </p:cNvPr>
            <p:cNvSpPr>
              <a:spLocks/>
            </p:cNvSpPr>
            <p:nvPr/>
          </p:nvSpPr>
          <p:spPr bwMode="auto">
            <a:xfrm>
              <a:off x="165" y="4442"/>
              <a:ext cx="27" cy="29"/>
            </a:xfrm>
            <a:custGeom>
              <a:avLst/>
              <a:gdLst>
                <a:gd name="T0" fmla="*/ 0 w 27"/>
                <a:gd name="T1" fmla="*/ 0 h 29"/>
                <a:gd name="T2" fmla="*/ 15 w 27"/>
                <a:gd name="T3" fmla="*/ 28 h 29"/>
                <a:gd name="T4" fmla="*/ 26 w 27"/>
                <a:gd name="T5" fmla="*/ 21 h 29"/>
                <a:gd name="T6" fmla="*/ 0 w 27"/>
                <a:gd name="T7" fmla="*/ 0 h 29"/>
                <a:gd name="T8" fmla="*/ 0 60000 65536"/>
                <a:gd name="T9" fmla="*/ 0 60000 65536"/>
                <a:gd name="T10" fmla="*/ 0 60000 65536"/>
                <a:gd name="T11" fmla="*/ 0 60000 65536"/>
                <a:gd name="T12" fmla="*/ 0 w 27"/>
                <a:gd name="T13" fmla="*/ 0 h 29"/>
                <a:gd name="T14" fmla="*/ 27 w 27"/>
                <a:gd name="T15" fmla="*/ 29 h 29"/>
              </a:gdLst>
              <a:ahLst/>
              <a:cxnLst>
                <a:cxn ang="T8">
                  <a:pos x="T0" y="T1"/>
                </a:cxn>
                <a:cxn ang="T9">
                  <a:pos x="T2" y="T3"/>
                </a:cxn>
                <a:cxn ang="T10">
                  <a:pos x="T4" y="T5"/>
                </a:cxn>
                <a:cxn ang="T11">
                  <a:pos x="T6" y="T7"/>
                </a:cxn>
              </a:cxnLst>
              <a:rect l="T12" t="T13" r="T14" b="T15"/>
              <a:pathLst>
                <a:path w="27" h="29">
                  <a:moveTo>
                    <a:pt x="0" y="0"/>
                  </a:moveTo>
                  <a:lnTo>
                    <a:pt x="15" y="28"/>
                  </a:lnTo>
                  <a:lnTo>
                    <a:pt x="26" y="21"/>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74" name="Freeform 13">
              <a:extLst>
                <a:ext uri="{FF2B5EF4-FFF2-40B4-BE49-F238E27FC236}">
                  <a16:creationId xmlns:a16="http://schemas.microsoft.com/office/drawing/2014/main" id="{37E8E2B9-4C68-C83E-1704-6561BF3B3961}"/>
                </a:ext>
              </a:extLst>
            </p:cNvPr>
            <p:cNvSpPr>
              <a:spLocks/>
            </p:cNvSpPr>
            <p:nvPr/>
          </p:nvSpPr>
          <p:spPr bwMode="auto">
            <a:xfrm>
              <a:off x="231" y="4444"/>
              <a:ext cx="29" cy="31"/>
            </a:xfrm>
            <a:custGeom>
              <a:avLst/>
              <a:gdLst>
                <a:gd name="T0" fmla="*/ 28 w 29"/>
                <a:gd name="T1" fmla="*/ 0 h 31"/>
                <a:gd name="T2" fmla="*/ 11 w 29"/>
                <a:gd name="T3" fmla="*/ 30 h 31"/>
                <a:gd name="T4" fmla="*/ 0 w 29"/>
                <a:gd name="T5" fmla="*/ 22 h 31"/>
                <a:gd name="T6" fmla="*/ 28 w 29"/>
                <a:gd name="T7" fmla="*/ 0 h 31"/>
                <a:gd name="T8" fmla="*/ 0 60000 65536"/>
                <a:gd name="T9" fmla="*/ 0 60000 65536"/>
                <a:gd name="T10" fmla="*/ 0 60000 65536"/>
                <a:gd name="T11" fmla="*/ 0 60000 65536"/>
                <a:gd name="T12" fmla="*/ 0 w 29"/>
                <a:gd name="T13" fmla="*/ 0 h 31"/>
                <a:gd name="T14" fmla="*/ 29 w 29"/>
                <a:gd name="T15" fmla="*/ 31 h 31"/>
              </a:gdLst>
              <a:ahLst/>
              <a:cxnLst>
                <a:cxn ang="T8">
                  <a:pos x="T0" y="T1"/>
                </a:cxn>
                <a:cxn ang="T9">
                  <a:pos x="T2" y="T3"/>
                </a:cxn>
                <a:cxn ang="T10">
                  <a:pos x="T4" y="T5"/>
                </a:cxn>
                <a:cxn ang="T11">
                  <a:pos x="T6" y="T7"/>
                </a:cxn>
              </a:cxnLst>
              <a:rect l="T12" t="T13" r="T14" b="T15"/>
              <a:pathLst>
                <a:path w="29" h="31">
                  <a:moveTo>
                    <a:pt x="28" y="0"/>
                  </a:moveTo>
                  <a:lnTo>
                    <a:pt x="11" y="30"/>
                  </a:lnTo>
                  <a:lnTo>
                    <a:pt x="0" y="22"/>
                  </a:lnTo>
                  <a:lnTo>
                    <a:pt x="2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75" name="Freeform 14">
              <a:extLst>
                <a:ext uri="{FF2B5EF4-FFF2-40B4-BE49-F238E27FC236}">
                  <a16:creationId xmlns:a16="http://schemas.microsoft.com/office/drawing/2014/main" id="{3F49BEAD-D39B-9ED6-3ACE-D666A960A8E2}"/>
                </a:ext>
              </a:extLst>
            </p:cNvPr>
            <p:cNvSpPr>
              <a:spLocks/>
            </p:cNvSpPr>
            <p:nvPr/>
          </p:nvSpPr>
          <p:spPr bwMode="auto">
            <a:xfrm>
              <a:off x="205" y="4434"/>
              <a:ext cx="19" cy="28"/>
            </a:xfrm>
            <a:custGeom>
              <a:avLst/>
              <a:gdLst>
                <a:gd name="T0" fmla="*/ 8 w 19"/>
                <a:gd name="T1" fmla="*/ 0 h 28"/>
                <a:gd name="T2" fmla="*/ 0 w 19"/>
                <a:gd name="T3" fmla="*/ 27 h 28"/>
                <a:gd name="T4" fmla="*/ 18 w 19"/>
                <a:gd name="T5" fmla="*/ 26 h 28"/>
                <a:gd name="T6" fmla="*/ 8 w 19"/>
                <a:gd name="T7" fmla="*/ 0 h 28"/>
                <a:gd name="T8" fmla="*/ 0 60000 65536"/>
                <a:gd name="T9" fmla="*/ 0 60000 65536"/>
                <a:gd name="T10" fmla="*/ 0 60000 65536"/>
                <a:gd name="T11" fmla="*/ 0 60000 65536"/>
                <a:gd name="T12" fmla="*/ 0 w 19"/>
                <a:gd name="T13" fmla="*/ 0 h 28"/>
                <a:gd name="T14" fmla="*/ 19 w 19"/>
                <a:gd name="T15" fmla="*/ 28 h 28"/>
              </a:gdLst>
              <a:ahLst/>
              <a:cxnLst>
                <a:cxn ang="T8">
                  <a:pos x="T0" y="T1"/>
                </a:cxn>
                <a:cxn ang="T9">
                  <a:pos x="T2" y="T3"/>
                </a:cxn>
                <a:cxn ang="T10">
                  <a:pos x="T4" y="T5"/>
                </a:cxn>
                <a:cxn ang="T11">
                  <a:pos x="T6" y="T7"/>
                </a:cxn>
              </a:cxnLst>
              <a:rect l="T12" t="T13" r="T14" b="T15"/>
              <a:pathLst>
                <a:path w="19" h="28">
                  <a:moveTo>
                    <a:pt x="8" y="0"/>
                  </a:moveTo>
                  <a:lnTo>
                    <a:pt x="0" y="27"/>
                  </a:lnTo>
                  <a:lnTo>
                    <a:pt x="18" y="26"/>
                  </a:lnTo>
                  <a:lnTo>
                    <a:pt x="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76" name="Freeform 15">
              <a:extLst>
                <a:ext uri="{FF2B5EF4-FFF2-40B4-BE49-F238E27FC236}">
                  <a16:creationId xmlns:a16="http://schemas.microsoft.com/office/drawing/2014/main" id="{11249281-F09A-5649-D07D-D0C6DDDBD037}"/>
                </a:ext>
              </a:extLst>
            </p:cNvPr>
            <p:cNvSpPr>
              <a:spLocks/>
            </p:cNvSpPr>
            <p:nvPr/>
          </p:nvSpPr>
          <p:spPr bwMode="auto">
            <a:xfrm>
              <a:off x="181" y="4479"/>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5"/>
                <a:gd name="T65" fmla="*/ 67 w 67"/>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15377" name="Freeform 16">
              <a:extLst>
                <a:ext uri="{FF2B5EF4-FFF2-40B4-BE49-F238E27FC236}">
                  <a16:creationId xmlns:a16="http://schemas.microsoft.com/office/drawing/2014/main" id="{0C0BC678-31B4-5F84-EBF2-8F84A5F321A0}"/>
                </a:ext>
              </a:extLst>
            </p:cNvPr>
            <p:cNvSpPr>
              <a:spLocks/>
            </p:cNvSpPr>
            <p:nvPr/>
          </p:nvSpPr>
          <p:spPr bwMode="auto">
            <a:xfrm>
              <a:off x="207" y="4501"/>
              <a:ext cx="18" cy="85"/>
            </a:xfrm>
            <a:custGeom>
              <a:avLst/>
              <a:gdLst>
                <a:gd name="T0" fmla="*/ 4 w 18"/>
                <a:gd name="T1" fmla="*/ 0 h 85"/>
                <a:gd name="T2" fmla="*/ 7 w 18"/>
                <a:gd name="T3" fmla="*/ 5 h 85"/>
                <a:gd name="T4" fmla="*/ 2 w 18"/>
                <a:gd name="T5" fmla="*/ 6 h 85"/>
                <a:gd name="T6" fmla="*/ 2 w 18"/>
                <a:gd name="T7" fmla="*/ 76 h 85"/>
                <a:gd name="T8" fmla="*/ 0 w 18"/>
                <a:gd name="T9" fmla="*/ 77 h 85"/>
                <a:gd name="T10" fmla="*/ 0 w 18"/>
                <a:gd name="T11" fmla="*/ 84 h 85"/>
                <a:gd name="T12" fmla="*/ 2 w 18"/>
                <a:gd name="T13" fmla="*/ 84 h 85"/>
                <a:gd name="T14" fmla="*/ 4 w 18"/>
                <a:gd name="T15" fmla="*/ 84 h 85"/>
                <a:gd name="T16" fmla="*/ 7 w 18"/>
                <a:gd name="T17" fmla="*/ 84 h 85"/>
                <a:gd name="T18" fmla="*/ 9 w 18"/>
                <a:gd name="T19" fmla="*/ 83 h 85"/>
                <a:gd name="T20" fmla="*/ 14 w 18"/>
                <a:gd name="T21" fmla="*/ 83 h 85"/>
                <a:gd name="T22" fmla="*/ 17 w 18"/>
                <a:gd name="T23" fmla="*/ 82 h 85"/>
                <a:gd name="T24" fmla="*/ 17 w 18"/>
                <a:gd name="T25" fmla="*/ 80 h 85"/>
                <a:gd name="T26" fmla="*/ 17 w 18"/>
                <a:gd name="T27" fmla="*/ 77 h 85"/>
                <a:gd name="T28" fmla="*/ 17 w 18"/>
                <a:gd name="T29" fmla="*/ 46 h 85"/>
                <a:gd name="T30" fmla="*/ 14 w 18"/>
                <a:gd name="T31" fmla="*/ 45 h 85"/>
                <a:gd name="T32" fmla="*/ 14 w 18"/>
                <a:gd name="T33" fmla="*/ 38 h 85"/>
                <a:gd name="T34" fmla="*/ 14 w 18"/>
                <a:gd name="T35" fmla="*/ 4 h 85"/>
                <a:gd name="T36" fmla="*/ 4 w 18"/>
                <a:gd name="T37" fmla="*/ 0 h 8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85"/>
                <a:gd name="T59" fmla="*/ 18 w 18"/>
                <a:gd name="T60" fmla="*/ 85 h 8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85">
                  <a:moveTo>
                    <a:pt x="4" y="0"/>
                  </a:moveTo>
                  <a:lnTo>
                    <a:pt x="7" y="5"/>
                  </a:lnTo>
                  <a:lnTo>
                    <a:pt x="2" y="6"/>
                  </a:lnTo>
                  <a:lnTo>
                    <a:pt x="2" y="76"/>
                  </a:lnTo>
                  <a:lnTo>
                    <a:pt x="0" y="77"/>
                  </a:lnTo>
                  <a:lnTo>
                    <a:pt x="0" y="84"/>
                  </a:lnTo>
                  <a:lnTo>
                    <a:pt x="2" y="84"/>
                  </a:lnTo>
                  <a:lnTo>
                    <a:pt x="4" y="84"/>
                  </a:lnTo>
                  <a:lnTo>
                    <a:pt x="7" y="84"/>
                  </a:lnTo>
                  <a:lnTo>
                    <a:pt x="9" y="83"/>
                  </a:lnTo>
                  <a:lnTo>
                    <a:pt x="14" y="83"/>
                  </a:lnTo>
                  <a:lnTo>
                    <a:pt x="17" y="82"/>
                  </a:lnTo>
                  <a:lnTo>
                    <a:pt x="17" y="80"/>
                  </a:lnTo>
                  <a:lnTo>
                    <a:pt x="17" y="77"/>
                  </a:lnTo>
                  <a:lnTo>
                    <a:pt x="17" y="46"/>
                  </a:lnTo>
                  <a:lnTo>
                    <a:pt x="14" y="45"/>
                  </a:lnTo>
                  <a:lnTo>
                    <a:pt x="14" y="38"/>
                  </a:lnTo>
                  <a:lnTo>
                    <a:pt x="14" y="4"/>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
        <p:nvSpPr>
          <p:cNvPr id="15366" name="Rectangle 17">
            <a:extLst>
              <a:ext uri="{FF2B5EF4-FFF2-40B4-BE49-F238E27FC236}">
                <a16:creationId xmlns:a16="http://schemas.microsoft.com/office/drawing/2014/main" id="{5C08B61A-4ED5-B37D-FE76-E0F0BE47989C}"/>
              </a:ext>
            </a:extLst>
          </p:cNvPr>
          <p:cNvSpPr>
            <a:spLocks noChangeArrowheads="1"/>
          </p:cNvSpPr>
          <p:nvPr/>
        </p:nvSpPr>
        <p:spPr bwMode="auto">
          <a:xfrm>
            <a:off x="631825" y="6065838"/>
            <a:ext cx="5562600" cy="9540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B16CE74-FECB-6E9F-F838-72FD16637560}"/>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17411" name="Rectangle 3">
            <a:extLst>
              <a:ext uri="{FF2B5EF4-FFF2-40B4-BE49-F238E27FC236}">
                <a16:creationId xmlns:a16="http://schemas.microsoft.com/office/drawing/2014/main" id="{81AD6805-77FD-A999-2640-9D7FE0D08DF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endParaRPr lang="en-US" altLang="en-US">
              <a:latin typeface="Arial" panose="020B0604020202020204" pitchFamily="34" charset="0"/>
            </a:endParaRPr>
          </a:p>
          <a:p>
            <a:endParaRPr lang="en-US" altLang="en-US">
              <a:latin typeface="Arial" panose="020B0604020202020204" pitchFamily="34" charset="0"/>
            </a:endParaRPr>
          </a:p>
          <a:p>
            <a:r>
              <a:rPr lang="en-US" altLang="en-US">
                <a:latin typeface="Arial" panose="020B0604020202020204" pitchFamily="34" charset="0"/>
              </a:rPr>
              <a:t>Methods for Inserting Null Values</a:t>
            </a: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pPr lvl="1"/>
            <a:r>
              <a:rPr lang="en-US" altLang="en-US">
                <a:latin typeface="Arial" panose="020B0604020202020204" pitchFamily="34" charset="0"/>
              </a:rPr>
              <a:t>Be sure that the targeted column allows null values by verifying the Null? status from the SQL*Plus DESCRIBE command.</a:t>
            </a:r>
            <a:endParaRPr lang="en-US" altLang="en-US" b="1">
              <a:latin typeface="Arial" panose="020B0604020202020204" pitchFamily="34" charset="0"/>
            </a:endParaRPr>
          </a:p>
          <a:p>
            <a:pPr lvl="1"/>
            <a:r>
              <a:rPr lang="en-US" altLang="en-US">
                <a:latin typeface="Arial" panose="020B0604020202020204" pitchFamily="34" charset="0"/>
              </a:rPr>
              <a:t>The Oracle Server automatically enforces all datatypes, data ranges, and data integrity constraints. Any column that is not listed explicitly obtains a null value in the new row.</a:t>
            </a:r>
          </a:p>
          <a:p>
            <a:endParaRPr lang="en-US" altLang="en-US">
              <a:solidFill>
                <a:schemeClr val="accent2"/>
              </a:solidFill>
              <a:latin typeface="Arial" panose="020B0604020202020204" pitchFamily="34" charset="0"/>
            </a:endParaRPr>
          </a:p>
          <a:p>
            <a:r>
              <a:rPr lang="en-US" altLang="en-US">
                <a:solidFill>
                  <a:schemeClr val="accent2"/>
                </a:solidFill>
                <a:latin typeface="Arial" panose="020B0604020202020204" pitchFamily="34" charset="0"/>
              </a:rPr>
              <a:t>Class Management Note</a:t>
            </a:r>
          </a:p>
          <a:p>
            <a:pPr lvl="1"/>
            <a:r>
              <a:rPr lang="en-US" altLang="en-US">
                <a:solidFill>
                  <a:schemeClr val="accent2"/>
                </a:solidFill>
                <a:latin typeface="Arial" panose="020B0604020202020204" pitchFamily="34" charset="0"/>
              </a:rPr>
              <a:t>Common errors that can occur during user input: </a:t>
            </a:r>
          </a:p>
          <a:p>
            <a:pPr lvl="2"/>
            <a:r>
              <a:rPr lang="en-US" altLang="en-US">
                <a:solidFill>
                  <a:schemeClr val="accent2"/>
                </a:solidFill>
                <a:latin typeface="Arial" panose="020B0604020202020204" pitchFamily="34" charset="0"/>
              </a:rPr>
              <a:t>Mandatory value missing for a NOT NULL column</a:t>
            </a:r>
          </a:p>
          <a:p>
            <a:pPr lvl="2"/>
            <a:r>
              <a:rPr lang="en-US" altLang="en-US">
                <a:solidFill>
                  <a:schemeClr val="accent2"/>
                </a:solidFill>
                <a:latin typeface="Arial" panose="020B0604020202020204" pitchFamily="34" charset="0"/>
              </a:rPr>
              <a:t>Duplicate value violates uniqueness constraint</a:t>
            </a:r>
          </a:p>
          <a:p>
            <a:pPr lvl="2"/>
            <a:r>
              <a:rPr lang="en-US" altLang="en-US">
                <a:solidFill>
                  <a:schemeClr val="accent2"/>
                </a:solidFill>
                <a:latin typeface="Arial" panose="020B0604020202020204" pitchFamily="34" charset="0"/>
              </a:rPr>
              <a:t>Foreign key constraint violated</a:t>
            </a:r>
          </a:p>
          <a:p>
            <a:pPr lvl="2"/>
            <a:r>
              <a:rPr lang="en-US" altLang="en-US">
                <a:solidFill>
                  <a:schemeClr val="accent2"/>
                </a:solidFill>
                <a:latin typeface="Arial" panose="020B0604020202020204" pitchFamily="34" charset="0"/>
              </a:rPr>
              <a:t>CHECK constraint violated</a:t>
            </a:r>
          </a:p>
          <a:p>
            <a:pPr lvl="2"/>
            <a:r>
              <a:rPr lang="en-US" altLang="en-US">
                <a:solidFill>
                  <a:schemeClr val="accent2"/>
                </a:solidFill>
                <a:latin typeface="Arial" panose="020B0604020202020204" pitchFamily="34" charset="0"/>
              </a:rPr>
              <a:t>Datatype mismatch</a:t>
            </a:r>
          </a:p>
          <a:p>
            <a:pPr lvl="2"/>
            <a:r>
              <a:rPr lang="en-US" altLang="en-US">
                <a:solidFill>
                  <a:schemeClr val="accent2"/>
                </a:solidFill>
                <a:latin typeface="Arial" panose="020B0604020202020204" pitchFamily="34" charset="0"/>
              </a:rPr>
              <a:t>Value too wide to fit in column</a:t>
            </a:r>
          </a:p>
        </p:txBody>
      </p:sp>
      <p:graphicFrame>
        <p:nvGraphicFramePr>
          <p:cNvPr id="17412" name="Object 4">
            <a:extLst>
              <a:ext uri="{FF2B5EF4-FFF2-40B4-BE49-F238E27FC236}">
                <a16:creationId xmlns:a16="http://schemas.microsoft.com/office/drawing/2014/main" id="{4D450721-13C6-3206-AD9E-9B79DCBC6B54}"/>
              </a:ext>
            </a:extLst>
          </p:cNvPr>
          <p:cNvGraphicFramePr>
            <a:graphicFrameLocks/>
          </p:cNvGraphicFramePr>
          <p:nvPr/>
        </p:nvGraphicFramePr>
        <p:xfrm>
          <a:off x="598488" y="5089525"/>
          <a:ext cx="5786437" cy="1241425"/>
        </p:xfrm>
        <a:graphic>
          <a:graphicData uri="http://schemas.openxmlformats.org/presentationml/2006/ole">
            <mc:AlternateContent xmlns:mc="http://schemas.openxmlformats.org/markup-compatibility/2006">
              <mc:Choice xmlns:v="urn:schemas-microsoft-com:vml" Requires="v">
                <p:oleObj name="Document" r:id="rId3" imgW="5753100" imgH="1219200" progId="Word.Document.6">
                  <p:embed/>
                </p:oleObj>
              </mc:Choice>
              <mc:Fallback>
                <p:oleObj name="Document" r:id="rId3" imgW="5753100" imgH="1219200" progId="Word.Document.6">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5089525"/>
                        <a:ext cx="5786437" cy="124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BF47816-B0CB-1251-C541-F6B1C48E11A7}"/>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19459" name="Rectangle 3">
            <a:extLst>
              <a:ext uri="{FF2B5EF4-FFF2-40B4-BE49-F238E27FC236}">
                <a16:creationId xmlns:a16="http://schemas.microsoft.com/office/drawing/2014/main" id="{FB35C1C5-C9AC-EDDA-3777-C0D4D9A087D1}"/>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tabLst>
                <a:tab pos="1257300" algn="l"/>
              </a:tabLst>
            </a:pPr>
            <a:r>
              <a:rPr lang="en-US" altLang="en-US">
                <a:latin typeface="Arial" panose="020B0604020202020204" pitchFamily="34" charset="0"/>
              </a:rPr>
              <a:t>Inserting Special Values by Using SQL Functions</a:t>
            </a:r>
          </a:p>
          <a:p>
            <a:pPr marL="114300" lvl="1" defTabSz="382588">
              <a:tabLst>
                <a:tab pos="1257300" algn="l"/>
              </a:tabLst>
            </a:pPr>
            <a:r>
              <a:rPr lang="en-US" altLang="en-US">
                <a:latin typeface="Arial" panose="020B0604020202020204" pitchFamily="34" charset="0"/>
              </a:rPr>
              <a:t>You can use pseudocolumns to enter special values in your table. </a:t>
            </a:r>
          </a:p>
          <a:p>
            <a:pPr marL="114300" lvl="1" defTabSz="382588">
              <a:tabLst>
                <a:tab pos="1257300" algn="l"/>
              </a:tabLst>
            </a:pPr>
            <a:r>
              <a:rPr lang="en-US" altLang="en-US">
                <a:latin typeface="Arial" panose="020B0604020202020204" pitchFamily="34" charset="0"/>
              </a:rPr>
              <a:t>The slide example records information for employee Green in the EMP table. It supplies the current date and time in the HIREDATE column. It uses the SYSDATE function for current date and time. </a:t>
            </a:r>
          </a:p>
          <a:p>
            <a:pPr marL="114300" lvl="1" defTabSz="382588">
              <a:tabLst>
                <a:tab pos="1257300" algn="l"/>
              </a:tabLst>
            </a:pPr>
            <a:r>
              <a:rPr lang="en-US" altLang="en-US">
                <a:latin typeface="Arial" panose="020B0604020202020204" pitchFamily="34" charset="0"/>
              </a:rPr>
              <a:t>You can also use the USER function when inserting rows in a table. The USER function records the current username.</a:t>
            </a:r>
          </a:p>
          <a:p>
            <a:pPr defTabSz="382588">
              <a:tabLst>
                <a:tab pos="1257300" algn="l"/>
              </a:tabLst>
            </a:pPr>
            <a:r>
              <a:rPr lang="en-US" altLang="en-US">
                <a:latin typeface="Arial" panose="020B0604020202020204" pitchFamily="34" charset="0"/>
              </a:rPr>
              <a:t>Confirming Additions to the Table</a:t>
            </a:r>
          </a:p>
          <a:p>
            <a:pPr defTabSz="382588">
              <a:spcBef>
                <a:spcPct val="65000"/>
              </a:spcBef>
              <a:tabLst>
                <a:tab pos="1257300" algn="l"/>
              </a:tabLst>
            </a:pPr>
            <a:r>
              <a:rPr lang="en-US" altLang="en-US">
                <a:latin typeface="Arial" panose="020B0604020202020204" pitchFamily="34" charset="0"/>
              </a:rPr>
              <a:t>      </a:t>
            </a:r>
            <a:r>
              <a:rPr lang="en-US" altLang="en-US">
                <a:latin typeface="Courier New" panose="02070309020205020404" pitchFamily="49" charset="0"/>
              </a:rPr>
              <a:t>SQL&gt; SELECT  empno, ename, job, hiredate, comm</a:t>
            </a:r>
          </a:p>
          <a:p>
            <a:pPr defTabSz="382588">
              <a:spcBef>
                <a:spcPct val="0"/>
              </a:spcBef>
              <a:tabLst>
                <a:tab pos="1257300" algn="l"/>
              </a:tabLst>
            </a:pPr>
            <a:r>
              <a:rPr lang="en-US" altLang="en-US">
                <a:latin typeface="Courier New" panose="02070309020205020404" pitchFamily="49" charset="0"/>
              </a:rPr>
              <a:t>     2  FROM   	emp</a:t>
            </a:r>
          </a:p>
          <a:p>
            <a:pPr defTabSz="382588">
              <a:spcBef>
                <a:spcPct val="0"/>
              </a:spcBef>
              <a:tabLst>
                <a:tab pos="1257300" algn="l"/>
              </a:tabLst>
            </a:pPr>
            <a:r>
              <a:rPr lang="en-US" altLang="en-US">
                <a:latin typeface="Courier New" panose="02070309020205020404" pitchFamily="49" charset="0"/>
              </a:rPr>
              <a:t>     3  WHERE  	empno = 7196;</a:t>
            </a:r>
          </a:p>
        </p:txBody>
      </p:sp>
      <p:sp>
        <p:nvSpPr>
          <p:cNvPr id="19460" name="Rectangle 4">
            <a:extLst>
              <a:ext uri="{FF2B5EF4-FFF2-40B4-BE49-F238E27FC236}">
                <a16:creationId xmlns:a16="http://schemas.microsoft.com/office/drawing/2014/main" id="{9060E9A7-C6C3-C83D-8E2A-2ED87C0A8073}"/>
              </a:ext>
            </a:extLst>
          </p:cNvPr>
          <p:cNvSpPr>
            <a:spLocks noChangeArrowheads="1"/>
          </p:cNvSpPr>
          <p:nvPr/>
        </p:nvSpPr>
        <p:spPr bwMode="auto">
          <a:xfrm>
            <a:off x="622300" y="6362700"/>
            <a:ext cx="5572125" cy="6064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61" name="Rectangle 5">
            <a:extLst>
              <a:ext uri="{FF2B5EF4-FFF2-40B4-BE49-F238E27FC236}">
                <a16:creationId xmlns:a16="http://schemas.microsoft.com/office/drawing/2014/main" id="{481B8CC7-C90B-0518-7F2F-7D19FD7F4D6E}"/>
              </a:ext>
            </a:extLst>
          </p:cNvPr>
          <p:cNvSpPr>
            <a:spLocks noChangeArrowheads="1"/>
          </p:cNvSpPr>
          <p:nvPr/>
        </p:nvSpPr>
        <p:spPr bwMode="auto">
          <a:xfrm>
            <a:off x="622300" y="7075488"/>
            <a:ext cx="5570538" cy="8239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62" name="Rectangle 6">
            <a:extLst>
              <a:ext uri="{FF2B5EF4-FFF2-40B4-BE49-F238E27FC236}">
                <a16:creationId xmlns:a16="http://schemas.microsoft.com/office/drawing/2014/main" id="{FF37AF0A-20F3-E855-C5E5-B2F2CC84D19C}"/>
              </a:ext>
            </a:extLst>
          </p:cNvPr>
          <p:cNvSpPr>
            <a:spLocks noChangeArrowheads="1"/>
          </p:cNvSpPr>
          <p:nvPr/>
        </p:nvSpPr>
        <p:spPr bwMode="auto">
          <a:xfrm>
            <a:off x="600075" y="6938963"/>
            <a:ext cx="43942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2600" b="1">
                <a:solidFill>
                  <a:schemeClr val="bg2"/>
                </a:solidFill>
                <a:latin typeface="Arial Narrow" panose="020B0606020202030204" pitchFamily="34" charset="0"/>
              </a:rPr>
              <a:t>    </a:t>
            </a:r>
            <a:r>
              <a:rPr lang="en-US" altLang="en-US" sz="1100">
                <a:latin typeface="Courier New" panose="02070309020205020404" pitchFamily="49" charset="0"/>
              </a:rPr>
              <a:t>EMPNO ENAME      JOB       HIREDATE       COMM</a:t>
            </a:r>
          </a:p>
          <a:p>
            <a:pPr>
              <a:spcBef>
                <a:spcPct val="0"/>
              </a:spcBef>
            </a:pPr>
            <a:r>
              <a:rPr lang="en-US" altLang="en-US" sz="1100">
                <a:latin typeface="Courier New" panose="02070309020205020404" pitchFamily="49" charset="0"/>
              </a:rPr>
              <a:t>--------- ---------- --------- --------- ---------</a:t>
            </a:r>
          </a:p>
          <a:p>
            <a:pPr>
              <a:spcBef>
                <a:spcPct val="0"/>
              </a:spcBef>
            </a:pPr>
            <a:r>
              <a:rPr lang="en-US" altLang="en-US" sz="1100">
                <a:latin typeface="Courier New" panose="02070309020205020404" pitchFamily="49" charset="0"/>
              </a:rPr>
              <a:t>     7196 GREEN      SALESMAN  01-DEC-97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0C7735F-6DFE-626F-C59B-949608B5A1AB}"/>
              </a:ext>
            </a:extLst>
          </p:cNvPr>
          <p:cNvSpPr>
            <a:spLocks noChangeArrowheads="1"/>
          </p:cNvSpPr>
          <p:nvPr/>
        </p:nvSpPr>
        <p:spPr bwMode="auto">
          <a:xfrm>
            <a:off x="3884613" y="-1588"/>
            <a:ext cx="2973387"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1507" name="Rectangle 3">
            <a:extLst>
              <a:ext uri="{FF2B5EF4-FFF2-40B4-BE49-F238E27FC236}">
                <a16:creationId xmlns:a16="http://schemas.microsoft.com/office/drawing/2014/main" id="{02A890F0-DCC1-37D0-7690-9A37021B59EF}"/>
              </a:ext>
            </a:extLst>
          </p:cNvPr>
          <p:cNvSpPr>
            <a:spLocks noChangeArrowheads="1"/>
          </p:cNvSpPr>
          <p:nvPr/>
        </p:nvSpPr>
        <p:spPr bwMode="auto">
          <a:xfrm>
            <a:off x="-1588" y="-1588"/>
            <a:ext cx="2970213"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1508" name="Rectangle 4">
            <a:extLst>
              <a:ext uri="{FF2B5EF4-FFF2-40B4-BE49-F238E27FC236}">
                <a16:creationId xmlns:a16="http://schemas.microsoft.com/office/drawing/2014/main" id="{B8166FD4-DA55-6014-0DC2-3932CF8759EE}"/>
              </a:ext>
            </a:extLst>
          </p:cNvPr>
          <p:cNvSpPr>
            <a:spLocks noGrp="1" noChangeArrowheads="1"/>
          </p:cNvSpPr>
          <p:nvPr>
            <p:ph type="body" idx="1"/>
          </p:nvPr>
        </p:nvSpPr>
        <p:spPr>
          <a:xfrm>
            <a:off x="455613" y="4849813"/>
            <a:ext cx="5848350"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2913" algn="l"/>
              </a:tabLst>
            </a:pPr>
            <a:r>
              <a:rPr lang="en-US" altLang="en-US">
                <a:latin typeface="Arial" panose="020B0604020202020204" pitchFamily="34" charset="0"/>
              </a:rPr>
              <a:t>Inserting Specific Date and Time Values</a:t>
            </a:r>
          </a:p>
          <a:p>
            <a:pPr marL="114300" lvl="1" defTabSz="377825">
              <a:tabLst>
                <a:tab pos="442913" algn="l"/>
              </a:tabLst>
            </a:pPr>
            <a:r>
              <a:rPr lang="en-US" altLang="en-US">
                <a:latin typeface="Arial" panose="020B0604020202020204" pitchFamily="34" charset="0"/>
              </a:rPr>
              <a:t>The format DD-MON-YY is usually used to insert a date value. With this format, recall that the century defaults to the current century. Because the date also contains time information, the default time is midnight (00:00:00).</a:t>
            </a:r>
          </a:p>
          <a:p>
            <a:pPr marL="114300" lvl="1" defTabSz="377825">
              <a:tabLst>
                <a:tab pos="442913" algn="l"/>
              </a:tabLst>
            </a:pPr>
            <a:r>
              <a:rPr lang="en-US" altLang="en-US">
                <a:latin typeface="Arial" panose="020B0604020202020204" pitchFamily="34" charset="0"/>
              </a:rPr>
              <a:t>If a date is required to be entered in a format other than the default (for example, another century) and/or a specific time is required, use the </a:t>
            </a:r>
            <a:r>
              <a:rPr lang="en-US" altLang="en-US">
                <a:solidFill>
                  <a:srgbClr val="FC0128"/>
                </a:solidFill>
                <a:latin typeface="Arial" panose="020B0604020202020204" pitchFamily="34" charset="0"/>
              </a:rPr>
              <a:t>TO_DATE function.</a:t>
            </a:r>
            <a:endParaRPr lang="en-US" altLang="en-US">
              <a:latin typeface="Arial" panose="020B0604020202020204" pitchFamily="34" charset="0"/>
            </a:endParaRPr>
          </a:p>
          <a:p>
            <a:pPr marL="114300" lvl="1" defTabSz="377825">
              <a:tabLst>
                <a:tab pos="442913" algn="l"/>
              </a:tabLst>
            </a:pPr>
            <a:r>
              <a:rPr lang="en-US" altLang="en-US">
                <a:latin typeface="Arial" panose="020B0604020202020204" pitchFamily="34" charset="0"/>
              </a:rPr>
              <a:t>The example on the slide records information for employee Aromano in the EMP table. It sets the HIREDATE column to be February 3, 1997.</a:t>
            </a:r>
          </a:p>
          <a:p>
            <a:pPr marL="114300" lvl="1" defTabSz="377825">
              <a:tabLst>
                <a:tab pos="442913" algn="l"/>
              </a:tabLst>
            </a:pPr>
            <a:r>
              <a:rPr lang="en-US" altLang="en-US">
                <a:latin typeface="Arial" panose="020B0604020202020204" pitchFamily="34" charset="0"/>
              </a:rPr>
              <a:t>If the RR format is set, the century may not be the current one.</a:t>
            </a:r>
          </a:p>
          <a:p>
            <a:pPr defTabSz="377825">
              <a:tabLst>
                <a:tab pos="442913" algn="l"/>
              </a:tabLst>
            </a:pPr>
            <a:endParaRPr lang="en-US" altLang="en-US" b="1">
              <a:latin typeface="Times New Roman" panose="02020603050405020304" pitchFamily="18" charset="0"/>
            </a:endParaRPr>
          </a:p>
        </p:txBody>
      </p:sp>
      <p:sp>
        <p:nvSpPr>
          <p:cNvPr id="21509" name="Rectangle 5">
            <a:extLst>
              <a:ext uri="{FF2B5EF4-FFF2-40B4-BE49-F238E27FC236}">
                <a16:creationId xmlns:a16="http://schemas.microsoft.com/office/drawing/2014/main" id="{56E83B38-DDFD-5351-BCC8-43B701A4B779}"/>
              </a:ext>
            </a:extLst>
          </p:cNvPr>
          <p:cNvSpPr>
            <a:spLocks noGrp="1" noRot="1" noChangeArrowheads="1" noTextEdit="1"/>
          </p:cNvSpPr>
          <p:nvPr>
            <p:ph type="sldImg"/>
          </p:nvPr>
        </p:nvSpPr>
        <p:spPr>
          <a:xfrm>
            <a:off x="407988" y="171450"/>
            <a:ext cx="6037262" cy="4527550"/>
          </a:xfrm>
          <a:ln w="12700" cap="flat">
            <a:solidFill>
              <a:schemeClr val="tx1"/>
            </a:solidFill>
          </a:ln>
        </p:spPr>
      </p:sp>
      <p:grpSp>
        <p:nvGrpSpPr>
          <p:cNvPr id="21510" name="Group 6">
            <a:extLst>
              <a:ext uri="{FF2B5EF4-FFF2-40B4-BE49-F238E27FC236}">
                <a16:creationId xmlns:a16="http://schemas.microsoft.com/office/drawing/2014/main" id="{6FFC8CD5-5BAA-C5CE-1F9E-9847D1832135}"/>
              </a:ext>
            </a:extLst>
          </p:cNvPr>
          <p:cNvGrpSpPr>
            <a:grpSpLocks/>
          </p:cNvGrpSpPr>
          <p:nvPr/>
        </p:nvGrpSpPr>
        <p:grpSpPr bwMode="auto">
          <a:xfrm>
            <a:off x="217488" y="6491288"/>
            <a:ext cx="288925" cy="311150"/>
            <a:chOff x="136" y="4015"/>
            <a:chExt cx="181" cy="192"/>
          </a:xfrm>
        </p:grpSpPr>
        <p:sp>
          <p:nvSpPr>
            <p:cNvPr id="21511" name="Freeform 7">
              <a:extLst>
                <a:ext uri="{FF2B5EF4-FFF2-40B4-BE49-F238E27FC236}">
                  <a16:creationId xmlns:a16="http://schemas.microsoft.com/office/drawing/2014/main" id="{2AE127D2-A258-01DD-F45F-5B43D4D9A804}"/>
                </a:ext>
              </a:extLst>
            </p:cNvPr>
            <p:cNvSpPr>
              <a:spLocks/>
            </p:cNvSpPr>
            <p:nvPr/>
          </p:nvSpPr>
          <p:spPr bwMode="auto">
            <a:xfrm>
              <a:off x="136" y="4015"/>
              <a:ext cx="181" cy="184"/>
            </a:xfrm>
            <a:custGeom>
              <a:avLst/>
              <a:gdLst>
                <a:gd name="T0" fmla="*/ 180 w 181"/>
                <a:gd name="T1" fmla="*/ 183 h 184"/>
                <a:gd name="T2" fmla="*/ 180 w 181"/>
                <a:gd name="T3" fmla="*/ 0 h 184"/>
                <a:gd name="T4" fmla="*/ 0 w 181"/>
                <a:gd name="T5" fmla="*/ 0 h 184"/>
                <a:gd name="T6" fmla="*/ 0 w 181"/>
                <a:gd name="T7" fmla="*/ 183 h 184"/>
                <a:gd name="T8" fmla="*/ 180 w 181"/>
                <a:gd name="T9" fmla="*/ 183 h 184"/>
                <a:gd name="T10" fmla="*/ 0 60000 65536"/>
                <a:gd name="T11" fmla="*/ 0 60000 65536"/>
                <a:gd name="T12" fmla="*/ 0 60000 65536"/>
                <a:gd name="T13" fmla="*/ 0 60000 65536"/>
                <a:gd name="T14" fmla="*/ 0 60000 65536"/>
                <a:gd name="T15" fmla="*/ 0 w 181"/>
                <a:gd name="T16" fmla="*/ 0 h 184"/>
                <a:gd name="T17" fmla="*/ 181 w 181"/>
                <a:gd name="T18" fmla="*/ 184 h 184"/>
              </a:gdLst>
              <a:ahLst/>
              <a:cxnLst>
                <a:cxn ang="T10">
                  <a:pos x="T0" y="T1"/>
                </a:cxn>
                <a:cxn ang="T11">
                  <a:pos x="T2" y="T3"/>
                </a:cxn>
                <a:cxn ang="T12">
                  <a:pos x="T4" y="T5"/>
                </a:cxn>
                <a:cxn ang="T13">
                  <a:pos x="T6" y="T7"/>
                </a:cxn>
                <a:cxn ang="T14">
                  <a:pos x="T8" y="T9"/>
                </a:cxn>
              </a:cxnLst>
              <a:rect l="T15" t="T16" r="T17" b="T18"/>
              <a:pathLst>
                <a:path w="181" h="184">
                  <a:moveTo>
                    <a:pt x="180" y="183"/>
                  </a:moveTo>
                  <a:lnTo>
                    <a:pt x="180" y="0"/>
                  </a:lnTo>
                  <a:lnTo>
                    <a:pt x="0" y="0"/>
                  </a:lnTo>
                  <a:lnTo>
                    <a:pt x="0" y="183"/>
                  </a:lnTo>
                  <a:lnTo>
                    <a:pt x="180"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12" name="Freeform 8">
              <a:extLst>
                <a:ext uri="{FF2B5EF4-FFF2-40B4-BE49-F238E27FC236}">
                  <a16:creationId xmlns:a16="http://schemas.microsoft.com/office/drawing/2014/main" id="{40DCE7E9-569B-5408-9946-343764C1F953}"/>
                </a:ext>
              </a:extLst>
            </p:cNvPr>
            <p:cNvSpPr>
              <a:spLocks/>
            </p:cNvSpPr>
            <p:nvPr/>
          </p:nvSpPr>
          <p:spPr bwMode="auto">
            <a:xfrm>
              <a:off x="217" y="4189"/>
              <a:ext cx="28" cy="18"/>
            </a:xfrm>
            <a:custGeom>
              <a:avLst/>
              <a:gdLst>
                <a:gd name="T0" fmla="*/ 27 w 28"/>
                <a:gd name="T1" fmla="*/ 17 h 18"/>
                <a:gd name="T2" fmla="*/ 27 w 28"/>
                <a:gd name="T3" fmla="*/ 0 h 18"/>
                <a:gd name="T4" fmla="*/ 0 w 28"/>
                <a:gd name="T5" fmla="*/ 0 h 18"/>
                <a:gd name="T6" fmla="*/ 0 w 28"/>
                <a:gd name="T7" fmla="*/ 17 h 18"/>
                <a:gd name="T8" fmla="*/ 27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7" y="17"/>
                  </a:moveTo>
                  <a:lnTo>
                    <a:pt x="27" y="0"/>
                  </a:lnTo>
                  <a:lnTo>
                    <a:pt x="0" y="0"/>
                  </a:lnTo>
                  <a:lnTo>
                    <a:pt x="0" y="17"/>
                  </a:lnTo>
                  <a:lnTo>
                    <a:pt x="27"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13" name="Freeform 9">
              <a:extLst>
                <a:ext uri="{FF2B5EF4-FFF2-40B4-BE49-F238E27FC236}">
                  <a16:creationId xmlns:a16="http://schemas.microsoft.com/office/drawing/2014/main" id="{95D0435C-586E-9FC0-1ECA-08698FF62F4F}"/>
                </a:ext>
              </a:extLst>
            </p:cNvPr>
            <p:cNvSpPr>
              <a:spLocks/>
            </p:cNvSpPr>
            <p:nvPr/>
          </p:nvSpPr>
          <p:spPr bwMode="auto">
            <a:xfrm>
              <a:off x="159" y="4068"/>
              <a:ext cx="32" cy="21"/>
            </a:xfrm>
            <a:custGeom>
              <a:avLst/>
              <a:gdLst>
                <a:gd name="T0" fmla="*/ 0 w 32"/>
                <a:gd name="T1" fmla="*/ 0 h 21"/>
                <a:gd name="T2" fmla="*/ 25 w 32"/>
                <a:gd name="T3" fmla="*/ 20 h 21"/>
                <a:gd name="T4" fmla="*/ 31 w 32"/>
                <a:gd name="T5" fmla="*/ 9 h 21"/>
                <a:gd name="T6" fmla="*/ 0 w 32"/>
                <a:gd name="T7" fmla="*/ 0 h 21"/>
                <a:gd name="T8" fmla="*/ 0 60000 65536"/>
                <a:gd name="T9" fmla="*/ 0 60000 65536"/>
                <a:gd name="T10" fmla="*/ 0 60000 65536"/>
                <a:gd name="T11" fmla="*/ 0 60000 65536"/>
                <a:gd name="T12" fmla="*/ 0 w 32"/>
                <a:gd name="T13" fmla="*/ 0 h 21"/>
                <a:gd name="T14" fmla="*/ 32 w 32"/>
                <a:gd name="T15" fmla="*/ 21 h 21"/>
              </a:gdLst>
              <a:ahLst/>
              <a:cxnLst>
                <a:cxn ang="T8">
                  <a:pos x="T0" y="T1"/>
                </a:cxn>
                <a:cxn ang="T9">
                  <a:pos x="T2" y="T3"/>
                </a:cxn>
                <a:cxn ang="T10">
                  <a:pos x="T4" y="T5"/>
                </a:cxn>
                <a:cxn ang="T11">
                  <a:pos x="T6" y="T7"/>
                </a:cxn>
              </a:cxnLst>
              <a:rect l="T12" t="T13" r="T14" b="T15"/>
              <a:pathLst>
                <a:path w="32" h="21">
                  <a:moveTo>
                    <a:pt x="0" y="0"/>
                  </a:moveTo>
                  <a:lnTo>
                    <a:pt x="25" y="20"/>
                  </a:lnTo>
                  <a:lnTo>
                    <a:pt x="31" y="9"/>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14" name="Freeform 10">
              <a:extLst>
                <a:ext uri="{FF2B5EF4-FFF2-40B4-BE49-F238E27FC236}">
                  <a16:creationId xmlns:a16="http://schemas.microsoft.com/office/drawing/2014/main" id="{3B433A4A-3322-DF9A-E847-8CC4BFEC0302}"/>
                </a:ext>
              </a:extLst>
            </p:cNvPr>
            <p:cNvSpPr>
              <a:spLocks/>
            </p:cNvSpPr>
            <p:nvPr/>
          </p:nvSpPr>
          <p:spPr bwMode="auto">
            <a:xfrm>
              <a:off x="269" y="4068"/>
              <a:ext cx="34" cy="21"/>
            </a:xfrm>
            <a:custGeom>
              <a:avLst/>
              <a:gdLst>
                <a:gd name="T0" fmla="*/ 33 w 34"/>
                <a:gd name="T1" fmla="*/ 0 h 21"/>
                <a:gd name="T2" fmla="*/ 6 w 34"/>
                <a:gd name="T3" fmla="*/ 20 h 21"/>
                <a:gd name="T4" fmla="*/ 0 w 34"/>
                <a:gd name="T5" fmla="*/ 9 h 21"/>
                <a:gd name="T6" fmla="*/ 33 w 34"/>
                <a:gd name="T7" fmla="*/ 0 h 21"/>
                <a:gd name="T8" fmla="*/ 0 60000 65536"/>
                <a:gd name="T9" fmla="*/ 0 60000 65536"/>
                <a:gd name="T10" fmla="*/ 0 60000 65536"/>
                <a:gd name="T11" fmla="*/ 0 60000 65536"/>
                <a:gd name="T12" fmla="*/ 0 w 34"/>
                <a:gd name="T13" fmla="*/ 0 h 21"/>
                <a:gd name="T14" fmla="*/ 34 w 34"/>
                <a:gd name="T15" fmla="*/ 21 h 21"/>
              </a:gdLst>
              <a:ahLst/>
              <a:cxnLst>
                <a:cxn ang="T8">
                  <a:pos x="T0" y="T1"/>
                </a:cxn>
                <a:cxn ang="T9">
                  <a:pos x="T2" y="T3"/>
                </a:cxn>
                <a:cxn ang="T10">
                  <a:pos x="T4" y="T5"/>
                </a:cxn>
                <a:cxn ang="T11">
                  <a:pos x="T6" y="T7"/>
                </a:cxn>
              </a:cxnLst>
              <a:rect l="T12" t="T13" r="T14" b="T15"/>
              <a:pathLst>
                <a:path w="34" h="21">
                  <a:moveTo>
                    <a:pt x="33" y="0"/>
                  </a:moveTo>
                  <a:lnTo>
                    <a:pt x="6" y="20"/>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15" name="Freeform 11">
              <a:extLst>
                <a:ext uri="{FF2B5EF4-FFF2-40B4-BE49-F238E27FC236}">
                  <a16:creationId xmlns:a16="http://schemas.microsoft.com/office/drawing/2014/main" id="{32247012-20E2-6ED7-1DE6-84EF44CCC555}"/>
                </a:ext>
              </a:extLst>
            </p:cNvPr>
            <p:cNvSpPr>
              <a:spLocks/>
            </p:cNvSpPr>
            <p:nvPr/>
          </p:nvSpPr>
          <p:spPr bwMode="auto">
            <a:xfrm>
              <a:off x="156" y="4107"/>
              <a:ext cx="33" cy="18"/>
            </a:xfrm>
            <a:custGeom>
              <a:avLst/>
              <a:gdLst>
                <a:gd name="T0" fmla="*/ 0 w 33"/>
                <a:gd name="T1" fmla="*/ 17 h 18"/>
                <a:gd name="T2" fmla="*/ 32 w 33"/>
                <a:gd name="T3" fmla="*/ 13 h 18"/>
                <a:gd name="T4" fmla="*/ 30 w 33"/>
                <a:gd name="T5" fmla="*/ 0 h 18"/>
                <a:gd name="T6" fmla="*/ 0 w 33"/>
                <a:gd name="T7" fmla="*/ 17 h 18"/>
                <a:gd name="T8" fmla="*/ 0 60000 65536"/>
                <a:gd name="T9" fmla="*/ 0 60000 65536"/>
                <a:gd name="T10" fmla="*/ 0 60000 65536"/>
                <a:gd name="T11" fmla="*/ 0 60000 65536"/>
                <a:gd name="T12" fmla="*/ 0 w 33"/>
                <a:gd name="T13" fmla="*/ 0 h 18"/>
                <a:gd name="T14" fmla="*/ 33 w 33"/>
                <a:gd name="T15" fmla="*/ 18 h 18"/>
              </a:gdLst>
              <a:ahLst/>
              <a:cxnLst>
                <a:cxn ang="T8">
                  <a:pos x="T0" y="T1"/>
                </a:cxn>
                <a:cxn ang="T9">
                  <a:pos x="T2" y="T3"/>
                </a:cxn>
                <a:cxn ang="T10">
                  <a:pos x="T4" y="T5"/>
                </a:cxn>
                <a:cxn ang="T11">
                  <a:pos x="T6" y="T7"/>
                </a:cxn>
              </a:cxnLst>
              <a:rect l="T12" t="T13" r="T14" b="T15"/>
              <a:pathLst>
                <a:path w="33" h="18">
                  <a:moveTo>
                    <a:pt x="0" y="17"/>
                  </a:moveTo>
                  <a:lnTo>
                    <a:pt x="32" y="13"/>
                  </a:lnTo>
                  <a:lnTo>
                    <a:pt x="30"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16" name="Freeform 12">
              <a:extLst>
                <a:ext uri="{FF2B5EF4-FFF2-40B4-BE49-F238E27FC236}">
                  <a16:creationId xmlns:a16="http://schemas.microsoft.com/office/drawing/2014/main" id="{64FCCC20-19A1-15F9-70B8-E8D332957CA8}"/>
                </a:ext>
              </a:extLst>
            </p:cNvPr>
            <p:cNvSpPr>
              <a:spLocks/>
            </p:cNvSpPr>
            <p:nvPr/>
          </p:nvSpPr>
          <p:spPr bwMode="auto">
            <a:xfrm>
              <a:off x="272" y="4108"/>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17" name="Freeform 13">
              <a:extLst>
                <a:ext uri="{FF2B5EF4-FFF2-40B4-BE49-F238E27FC236}">
                  <a16:creationId xmlns:a16="http://schemas.microsoft.com/office/drawing/2014/main" id="{9FDA9828-1115-2BAB-8292-80E596B8CAF5}"/>
                </a:ext>
              </a:extLst>
            </p:cNvPr>
            <p:cNvSpPr>
              <a:spLocks/>
            </p:cNvSpPr>
            <p:nvPr/>
          </p:nvSpPr>
          <p:spPr bwMode="auto">
            <a:xfrm>
              <a:off x="181" y="4031"/>
              <a:ext cx="25" cy="28"/>
            </a:xfrm>
            <a:custGeom>
              <a:avLst/>
              <a:gdLst>
                <a:gd name="T0" fmla="*/ 0 w 25"/>
                <a:gd name="T1" fmla="*/ 0 h 28"/>
                <a:gd name="T2" fmla="*/ 14 w 25"/>
                <a:gd name="T3" fmla="*/ 27 h 28"/>
                <a:gd name="T4" fmla="*/ 24 w 25"/>
                <a:gd name="T5" fmla="*/ 20 h 28"/>
                <a:gd name="T6" fmla="*/ 0 w 25"/>
                <a:gd name="T7" fmla="*/ 0 h 28"/>
                <a:gd name="T8" fmla="*/ 0 60000 65536"/>
                <a:gd name="T9" fmla="*/ 0 60000 65536"/>
                <a:gd name="T10" fmla="*/ 0 60000 65536"/>
                <a:gd name="T11" fmla="*/ 0 60000 65536"/>
                <a:gd name="T12" fmla="*/ 0 w 25"/>
                <a:gd name="T13" fmla="*/ 0 h 28"/>
                <a:gd name="T14" fmla="*/ 25 w 25"/>
                <a:gd name="T15" fmla="*/ 28 h 28"/>
              </a:gdLst>
              <a:ahLst/>
              <a:cxnLst>
                <a:cxn ang="T8">
                  <a:pos x="T0" y="T1"/>
                </a:cxn>
                <a:cxn ang="T9">
                  <a:pos x="T2" y="T3"/>
                </a:cxn>
                <a:cxn ang="T10">
                  <a:pos x="T4" y="T5"/>
                </a:cxn>
                <a:cxn ang="T11">
                  <a:pos x="T6" y="T7"/>
                </a:cxn>
              </a:cxnLst>
              <a:rect l="T12" t="T13" r="T14" b="T15"/>
              <a:pathLst>
                <a:path w="25" h="28">
                  <a:moveTo>
                    <a:pt x="0" y="0"/>
                  </a:moveTo>
                  <a:lnTo>
                    <a:pt x="14" y="27"/>
                  </a:lnTo>
                  <a:lnTo>
                    <a:pt x="24" y="20"/>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18" name="Freeform 14">
              <a:extLst>
                <a:ext uri="{FF2B5EF4-FFF2-40B4-BE49-F238E27FC236}">
                  <a16:creationId xmlns:a16="http://schemas.microsoft.com/office/drawing/2014/main" id="{80BA717A-1CB5-EE65-0CF5-362085417850}"/>
                </a:ext>
              </a:extLst>
            </p:cNvPr>
            <p:cNvSpPr>
              <a:spLocks/>
            </p:cNvSpPr>
            <p:nvPr/>
          </p:nvSpPr>
          <p:spPr bwMode="auto">
            <a:xfrm>
              <a:off x="246" y="4032"/>
              <a:ext cx="29" cy="31"/>
            </a:xfrm>
            <a:custGeom>
              <a:avLst/>
              <a:gdLst>
                <a:gd name="T0" fmla="*/ 28 w 29"/>
                <a:gd name="T1" fmla="*/ 0 h 31"/>
                <a:gd name="T2" fmla="*/ 11 w 29"/>
                <a:gd name="T3" fmla="*/ 30 h 31"/>
                <a:gd name="T4" fmla="*/ 0 w 29"/>
                <a:gd name="T5" fmla="*/ 22 h 31"/>
                <a:gd name="T6" fmla="*/ 28 w 29"/>
                <a:gd name="T7" fmla="*/ 0 h 31"/>
                <a:gd name="T8" fmla="*/ 0 60000 65536"/>
                <a:gd name="T9" fmla="*/ 0 60000 65536"/>
                <a:gd name="T10" fmla="*/ 0 60000 65536"/>
                <a:gd name="T11" fmla="*/ 0 60000 65536"/>
                <a:gd name="T12" fmla="*/ 0 w 29"/>
                <a:gd name="T13" fmla="*/ 0 h 31"/>
                <a:gd name="T14" fmla="*/ 29 w 29"/>
                <a:gd name="T15" fmla="*/ 31 h 31"/>
              </a:gdLst>
              <a:ahLst/>
              <a:cxnLst>
                <a:cxn ang="T8">
                  <a:pos x="T0" y="T1"/>
                </a:cxn>
                <a:cxn ang="T9">
                  <a:pos x="T2" y="T3"/>
                </a:cxn>
                <a:cxn ang="T10">
                  <a:pos x="T4" y="T5"/>
                </a:cxn>
                <a:cxn ang="T11">
                  <a:pos x="T6" y="T7"/>
                </a:cxn>
              </a:cxnLst>
              <a:rect l="T12" t="T13" r="T14" b="T15"/>
              <a:pathLst>
                <a:path w="29" h="31">
                  <a:moveTo>
                    <a:pt x="28" y="0"/>
                  </a:moveTo>
                  <a:lnTo>
                    <a:pt x="11" y="30"/>
                  </a:lnTo>
                  <a:lnTo>
                    <a:pt x="0" y="22"/>
                  </a:lnTo>
                  <a:lnTo>
                    <a:pt x="2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19" name="Freeform 15">
              <a:extLst>
                <a:ext uri="{FF2B5EF4-FFF2-40B4-BE49-F238E27FC236}">
                  <a16:creationId xmlns:a16="http://schemas.microsoft.com/office/drawing/2014/main" id="{2B098FEF-715E-9B63-3F4D-94172D53CA56}"/>
                </a:ext>
              </a:extLst>
            </p:cNvPr>
            <p:cNvSpPr>
              <a:spLocks/>
            </p:cNvSpPr>
            <p:nvPr/>
          </p:nvSpPr>
          <p:spPr bwMode="auto">
            <a:xfrm>
              <a:off x="221" y="4021"/>
              <a:ext cx="18" cy="30"/>
            </a:xfrm>
            <a:custGeom>
              <a:avLst/>
              <a:gdLst>
                <a:gd name="T0" fmla="*/ 7 w 18"/>
                <a:gd name="T1" fmla="*/ 0 h 30"/>
                <a:gd name="T2" fmla="*/ 0 w 18"/>
                <a:gd name="T3" fmla="*/ 29 h 30"/>
                <a:gd name="T4" fmla="*/ 17 w 18"/>
                <a:gd name="T5" fmla="*/ 28 h 30"/>
                <a:gd name="T6" fmla="*/ 7 w 18"/>
                <a:gd name="T7" fmla="*/ 0 h 30"/>
                <a:gd name="T8" fmla="*/ 0 60000 65536"/>
                <a:gd name="T9" fmla="*/ 0 60000 65536"/>
                <a:gd name="T10" fmla="*/ 0 60000 65536"/>
                <a:gd name="T11" fmla="*/ 0 60000 65536"/>
                <a:gd name="T12" fmla="*/ 0 w 18"/>
                <a:gd name="T13" fmla="*/ 0 h 30"/>
                <a:gd name="T14" fmla="*/ 18 w 18"/>
                <a:gd name="T15" fmla="*/ 30 h 30"/>
              </a:gdLst>
              <a:ahLst/>
              <a:cxnLst>
                <a:cxn ang="T8">
                  <a:pos x="T0" y="T1"/>
                </a:cxn>
                <a:cxn ang="T9">
                  <a:pos x="T2" y="T3"/>
                </a:cxn>
                <a:cxn ang="T10">
                  <a:pos x="T4" y="T5"/>
                </a:cxn>
                <a:cxn ang="T11">
                  <a:pos x="T6" y="T7"/>
                </a:cxn>
              </a:cxnLst>
              <a:rect l="T12" t="T13" r="T14" b="T15"/>
              <a:pathLst>
                <a:path w="18" h="30">
                  <a:moveTo>
                    <a:pt x="7" y="0"/>
                  </a:moveTo>
                  <a:lnTo>
                    <a:pt x="0" y="29"/>
                  </a:lnTo>
                  <a:lnTo>
                    <a:pt x="17" y="28"/>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20" name="Freeform 16">
              <a:extLst>
                <a:ext uri="{FF2B5EF4-FFF2-40B4-BE49-F238E27FC236}">
                  <a16:creationId xmlns:a16="http://schemas.microsoft.com/office/drawing/2014/main" id="{0218ACDE-F173-D19E-A2CE-6CD2BEB11A51}"/>
                </a:ext>
              </a:extLst>
            </p:cNvPr>
            <p:cNvSpPr>
              <a:spLocks/>
            </p:cNvSpPr>
            <p:nvPr/>
          </p:nvSpPr>
          <p:spPr bwMode="auto">
            <a:xfrm>
              <a:off x="197" y="4067"/>
              <a:ext cx="65" cy="115"/>
            </a:xfrm>
            <a:custGeom>
              <a:avLst/>
              <a:gdLst>
                <a:gd name="T0" fmla="*/ 21 w 65"/>
                <a:gd name="T1" fmla="*/ 114 h 115"/>
                <a:gd name="T2" fmla="*/ 21 w 65"/>
                <a:gd name="T3" fmla="*/ 94 h 115"/>
                <a:gd name="T4" fmla="*/ 20 w 65"/>
                <a:gd name="T5" fmla="*/ 91 h 115"/>
                <a:gd name="T6" fmla="*/ 14 w 65"/>
                <a:gd name="T7" fmla="*/ 83 h 115"/>
                <a:gd name="T8" fmla="*/ 8 w 65"/>
                <a:gd name="T9" fmla="*/ 72 h 115"/>
                <a:gd name="T10" fmla="*/ 3 w 65"/>
                <a:gd name="T11" fmla="*/ 58 h 115"/>
                <a:gd name="T12" fmla="*/ 0 w 65"/>
                <a:gd name="T13" fmla="*/ 42 h 115"/>
                <a:gd name="T14" fmla="*/ 0 w 65"/>
                <a:gd name="T15" fmla="*/ 27 h 115"/>
                <a:gd name="T16" fmla="*/ 7 w 65"/>
                <a:gd name="T17" fmla="*/ 12 h 115"/>
                <a:gd name="T18" fmla="*/ 21 w 65"/>
                <a:gd name="T19" fmla="*/ 0 h 115"/>
                <a:gd name="T20" fmla="*/ 41 w 65"/>
                <a:gd name="T21" fmla="*/ 0 h 115"/>
                <a:gd name="T22" fmla="*/ 43 w 65"/>
                <a:gd name="T23" fmla="*/ 1 h 115"/>
                <a:gd name="T24" fmla="*/ 48 w 65"/>
                <a:gd name="T25" fmla="*/ 5 h 115"/>
                <a:gd name="T26" fmla="*/ 54 w 65"/>
                <a:gd name="T27" fmla="*/ 11 h 115"/>
                <a:gd name="T28" fmla="*/ 60 w 65"/>
                <a:gd name="T29" fmla="*/ 20 h 115"/>
                <a:gd name="T30" fmla="*/ 64 w 65"/>
                <a:gd name="T31" fmla="*/ 32 h 115"/>
                <a:gd name="T32" fmla="*/ 63 w 65"/>
                <a:gd name="T33" fmla="*/ 48 h 115"/>
                <a:gd name="T34" fmla="*/ 56 w 65"/>
                <a:gd name="T35" fmla="*/ 68 h 115"/>
                <a:gd name="T36" fmla="*/ 41 w 65"/>
                <a:gd name="T37" fmla="*/ 91 h 115"/>
                <a:gd name="T38" fmla="*/ 41 w 65"/>
                <a:gd name="T39" fmla="*/ 114 h 115"/>
                <a:gd name="T40" fmla="*/ 21 w 65"/>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115"/>
                <a:gd name="T65" fmla="*/ 65 w 65"/>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115">
                  <a:moveTo>
                    <a:pt x="21" y="114"/>
                  </a:moveTo>
                  <a:lnTo>
                    <a:pt x="21" y="94"/>
                  </a:lnTo>
                  <a:lnTo>
                    <a:pt x="20" y="91"/>
                  </a:lnTo>
                  <a:lnTo>
                    <a:pt x="14" y="83"/>
                  </a:lnTo>
                  <a:lnTo>
                    <a:pt x="8" y="72"/>
                  </a:lnTo>
                  <a:lnTo>
                    <a:pt x="3" y="58"/>
                  </a:lnTo>
                  <a:lnTo>
                    <a:pt x="0" y="42"/>
                  </a:lnTo>
                  <a:lnTo>
                    <a:pt x="0" y="27"/>
                  </a:lnTo>
                  <a:lnTo>
                    <a:pt x="7" y="12"/>
                  </a:lnTo>
                  <a:lnTo>
                    <a:pt x="21" y="0"/>
                  </a:lnTo>
                  <a:lnTo>
                    <a:pt x="41" y="0"/>
                  </a:lnTo>
                  <a:lnTo>
                    <a:pt x="43" y="1"/>
                  </a:lnTo>
                  <a:lnTo>
                    <a:pt x="48" y="5"/>
                  </a:lnTo>
                  <a:lnTo>
                    <a:pt x="54" y="11"/>
                  </a:lnTo>
                  <a:lnTo>
                    <a:pt x="60" y="20"/>
                  </a:lnTo>
                  <a:lnTo>
                    <a:pt x="64" y="32"/>
                  </a:lnTo>
                  <a:lnTo>
                    <a:pt x="63" y="48"/>
                  </a:lnTo>
                  <a:lnTo>
                    <a:pt x="56" y="68"/>
                  </a:lnTo>
                  <a:lnTo>
                    <a:pt x="41" y="91"/>
                  </a:lnTo>
                  <a:lnTo>
                    <a:pt x="41" y="114"/>
                  </a:lnTo>
                  <a:lnTo>
                    <a:pt x="2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1521" name="Freeform 17">
              <a:extLst>
                <a:ext uri="{FF2B5EF4-FFF2-40B4-BE49-F238E27FC236}">
                  <a16:creationId xmlns:a16="http://schemas.microsoft.com/office/drawing/2014/main" id="{F8574282-018B-31B8-BA4A-497929A99763}"/>
                </a:ext>
              </a:extLst>
            </p:cNvPr>
            <p:cNvSpPr>
              <a:spLocks/>
            </p:cNvSpPr>
            <p:nvPr/>
          </p:nvSpPr>
          <p:spPr bwMode="auto">
            <a:xfrm>
              <a:off x="223" y="4089"/>
              <a:ext cx="17" cy="86"/>
            </a:xfrm>
            <a:custGeom>
              <a:avLst/>
              <a:gdLst>
                <a:gd name="T0" fmla="*/ 4 w 17"/>
                <a:gd name="T1" fmla="*/ 0 h 86"/>
                <a:gd name="T2" fmla="*/ 6 w 17"/>
                <a:gd name="T3" fmla="*/ 5 h 86"/>
                <a:gd name="T4" fmla="*/ 2 w 17"/>
                <a:gd name="T5" fmla="*/ 6 h 86"/>
                <a:gd name="T6" fmla="*/ 2 w 17"/>
                <a:gd name="T7" fmla="*/ 77 h 86"/>
                <a:gd name="T8" fmla="*/ 0 w 17"/>
                <a:gd name="T9" fmla="*/ 78 h 86"/>
                <a:gd name="T10" fmla="*/ 0 w 17"/>
                <a:gd name="T11" fmla="*/ 85 h 86"/>
                <a:gd name="T12" fmla="*/ 2 w 17"/>
                <a:gd name="T13" fmla="*/ 85 h 86"/>
                <a:gd name="T14" fmla="*/ 4 w 17"/>
                <a:gd name="T15" fmla="*/ 85 h 86"/>
                <a:gd name="T16" fmla="*/ 6 w 17"/>
                <a:gd name="T17" fmla="*/ 85 h 86"/>
                <a:gd name="T18" fmla="*/ 9 w 17"/>
                <a:gd name="T19" fmla="*/ 84 h 86"/>
                <a:gd name="T20" fmla="*/ 13 w 17"/>
                <a:gd name="T21" fmla="*/ 84 h 86"/>
                <a:gd name="T22" fmla="*/ 16 w 17"/>
                <a:gd name="T23" fmla="*/ 83 h 86"/>
                <a:gd name="T24" fmla="*/ 16 w 17"/>
                <a:gd name="T25" fmla="*/ 81 h 86"/>
                <a:gd name="T26" fmla="*/ 16 w 17"/>
                <a:gd name="T27" fmla="*/ 78 h 86"/>
                <a:gd name="T28" fmla="*/ 16 w 17"/>
                <a:gd name="T29" fmla="*/ 47 h 86"/>
                <a:gd name="T30" fmla="*/ 13 w 17"/>
                <a:gd name="T31" fmla="*/ 46 h 86"/>
                <a:gd name="T32" fmla="*/ 13 w 17"/>
                <a:gd name="T33" fmla="*/ 38 h 86"/>
                <a:gd name="T34" fmla="*/ 13 w 17"/>
                <a:gd name="T35" fmla="*/ 4 h 86"/>
                <a:gd name="T36" fmla="*/ 4 w 17"/>
                <a:gd name="T37" fmla="*/ 0 h 8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6"/>
                <a:gd name="T59" fmla="*/ 17 w 17"/>
                <a:gd name="T60" fmla="*/ 86 h 8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6">
                  <a:moveTo>
                    <a:pt x="4" y="0"/>
                  </a:moveTo>
                  <a:lnTo>
                    <a:pt x="6" y="5"/>
                  </a:lnTo>
                  <a:lnTo>
                    <a:pt x="2" y="6"/>
                  </a:lnTo>
                  <a:lnTo>
                    <a:pt x="2" y="77"/>
                  </a:lnTo>
                  <a:lnTo>
                    <a:pt x="0" y="78"/>
                  </a:lnTo>
                  <a:lnTo>
                    <a:pt x="0" y="85"/>
                  </a:lnTo>
                  <a:lnTo>
                    <a:pt x="2" y="85"/>
                  </a:lnTo>
                  <a:lnTo>
                    <a:pt x="4" y="85"/>
                  </a:lnTo>
                  <a:lnTo>
                    <a:pt x="6" y="85"/>
                  </a:lnTo>
                  <a:lnTo>
                    <a:pt x="9" y="84"/>
                  </a:lnTo>
                  <a:lnTo>
                    <a:pt x="13" y="84"/>
                  </a:lnTo>
                  <a:lnTo>
                    <a:pt x="16" y="83"/>
                  </a:lnTo>
                  <a:lnTo>
                    <a:pt x="16" y="81"/>
                  </a:lnTo>
                  <a:lnTo>
                    <a:pt x="16" y="78"/>
                  </a:lnTo>
                  <a:lnTo>
                    <a:pt x="16" y="47"/>
                  </a:lnTo>
                  <a:lnTo>
                    <a:pt x="13" y="46"/>
                  </a:lnTo>
                  <a:lnTo>
                    <a:pt x="13" y="38"/>
                  </a:lnTo>
                  <a:lnTo>
                    <a:pt x="13" y="4"/>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595E999-B0F2-6976-7EB2-9AF015A29104}"/>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27651" name="Rectangle 3">
            <a:extLst>
              <a:ext uri="{FF2B5EF4-FFF2-40B4-BE49-F238E27FC236}">
                <a16:creationId xmlns:a16="http://schemas.microsoft.com/office/drawing/2014/main" id="{22FA1E45-9E4D-15E1-AC81-94BB49E8F0F1}"/>
              </a:ext>
            </a:extLst>
          </p:cNvPr>
          <p:cNvSpPr>
            <a:spLocks noGrp="1" noChangeArrowheads="1"/>
          </p:cNvSpPr>
          <p:nvPr>
            <p:ph type="body" idx="1"/>
          </p:nvPr>
        </p:nvSpPr>
        <p:spPr>
          <a:xfrm>
            <a:off x="412750" y="4852988"/>
            <a:ext cx="6191250"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Copying Rows from Another Table </a:t>
            </a:r>
          </a:p>
          <a:p>
            <a:pPr marL="114300" lvl="1" defTabSz="382588"/>
            <a:r>
              <a:rPr lang="en-US" altLang="en-US">
                <a:latin typeface="Arial" panose="020B0604020202020204" pitchFamily="34" charset="0"/>
              </a:rPr>
              <a:t>You can use the INSERT statement to add rows to a table where the values are derived from existing tables. In place of the VALUES clause, you use a subquery. </a:t>
            </a:r>
          </a:p>
          <a:p>
            <a:pPr marL="114300" lvl="1" defTabSz="382588"/>
            <a:r>
              <a:rPr lang="en-US" altLang="en-US" b="1">
                <a:latin typeface="Arial" panose="020B0604020202020204" pitchFamily="34" charset="0"/>
              </a:rPr>
              <a:t>Syntax</a:t>
            </a:r>
            <a:endParaRPr lang="en-US" altLang="en-US">
              <a:latin typeface="Arial" panose="020B0604020202020204" pitchFamily="34" charset="0"/>
            </a:endParaRPr>
          </a:p>
          <a:p>
            <a:pPr algn="just" defTabSz="382588">
              <a:lnSpc>
                <a:spcPct val="70000"/>
              </a:lnSpc>
              <a:spcBef>
                <a:spcPct val="0"/>
              </a:spcBef>
            </a:pPr>
            <a:r>
              <a:rPr lang="en-US" altLang="en-US" b="1">
                <a:latin typeface="Times" panose="02020603050405020304" pitchFamily="18" charset="0"/>
              </a:rPr>
              <a:t>     </a:t>
            </a:r>
          </a:p>
          <a:p>
            <a:pPr algn="just" defTabSz="382588">
              <a:spcBef>
                <a:spcPct val="0"/>
              </a:spcBef>
            </a:pPr>
            <a:r>
              <a:rPr lang="en-US" altLang="en-US" b="1">
                <a:latin typeface="Courier New" panose="02070309020205020404" pitchFamily="49" charset="0"/>
              </a:rPr>
              <a:t>   INSERT INTO </a:t>
            </a:r>
            <a:r>
              <a:rPr lang="en-US" altLang="en-US" b="1" i="1">
                <a:latin typeface="Courier New" panose="02070309020205020404" pitchFamily="49" charset="0"/>
              </a:rPr>
              <a:t>table</a:t>
            </a:r>
            <a:r>
              <a:rPr lang="en-US" altLang="en-US" b="1">
                <a:latin typeface="Courier New" panose="02070309020205020404" pitchFamily="49" charset="0"/>
              </a:rPr>
              <a:t> [ </a:t>
            </a:r>
            <a:r>
              <a:rPr lang="en-US" altLang="en-US" b="1" i="1">
                <a:latin typeface="Courier New" panose="02070309020205020404" pitchFamily="49" charset="0"/>
              </a:rPr>
              <a:t>column</a:t>
            </a:r>
            <a:r>
              <a:rPr lang="en-US" altLang="en-US" b="1">
                <a:latin typeface="Courier New" panose="02070309020205020404" pitchFamily="49" charset="0"/>
              </a:rPr>
              <a:t> (, </a:t>
            </a:r>
            <a:r>
              <a:rPr lang="en-US" altLang="en-US" b="1" i="1">
                <a:latin typeface="Courier New" panose="02070309020205020404" pitchFamily="49" charset="0"/>
              </a:rPr>
              <a:t>column</a:t>
            </a:r>
            <a:r>
              <a:rPr lang="en-US" altLang="en-US" b="1">
                <a:latin typeface="Courier New" panose="02070309020205020404" pitchFamily="49" charset="0"/>
              </a:rPr>
              <a:t>) ]</a:t>
            </a:r>
          </a:p>
          <a:p>
            <a:pPr algn="just" defTabSz="382588">
              <a:spcBef>
                <a:spcPct val="0"/>
              </a:spcBef>
            </a:pPr>
            <a:r>
              <a:rPr lang="en-US" altLang="en-US" b="1">
                <a:latin typeface="Courier New" panose="02070309020205020404" pitchFamily="49" charset="0"/>
              </a:rPr>
              <a:t>   			</a:t>
            </a:r>
            <a:r>
              <a:rPr lang="en-US" altLang="en-US" b="1" i="1">
                <a:latin typeface="Courier New" panose="02070309020205020404" pitchFamily="49" charset="0"/>
              </a:rPr>
              <a:t>subquery</a:t>
            </a:r>
            <a:r>
              <a:rPr lang="en-US" altLang="en-US" b="1">
                <a:latin typeface="Courier New" panose="02070309020205020404" pitchFamily="49" charset="0"/>
              </a:rPr>
              <a:t>;</a:t>
            </a:r>
          </a:p>
          <a:p>
            <a:pPr algn="just" defTabSz="382588">
              <a:lnSpc>
                <a:spcPct val="112000"/>
              </a:lnSpc>
              <a:spcBef>
                <a:spcPct val="0"/>
              </a:spcBef>
            </a:pPr>
            <a:endParaRPr lang="en-US" altLang="en-US" b="1">
              <a:latin typeface="Times" panose="02020603050405020304" pitchFamily="18" charset="0"/>
            </a:endParaRPr>
          </a:p>
          <a:p>
            <a:pPr marL="114300" lvl="1" defTabSz="38258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	is the table name</a:t>
            </a:r>
          </a:p>
          <a:p>
            <a:pPr marL="114300" lvl="1" defTabSz="382588"/>
            <a:r>
              <a:rPr lang="en-US" altLang="en-US">
                <a:latin typeface="Arial" panose="020B0604020202020204" pitchFamily="34" charset="0"/>
              </a:rPr>
              <a:t>		</a:t>
            </a:r>
            <a:r>
              <a:rPr lang="en-US" altLang="en-US" i="1">
                <a:latin typeface="Arial" panose="020B0604020202020204" pitchFamily="34" charset="0"/>
              </a:rPr>
              <a:t>column		</a:t>
            </a:r>
            <a:r>
              <a:rPr lang="en-US" altLang="en-US">
                <a:latin typeface="Arial" panose="020B0604020202020204" pitchFamily="34" charset="0"/>
              </a:rPr>
              <a:t>is the name of the column in the table to populate</a:t>
            </a:r>
          </a:p>
          <a:p>
            <a:pPr marL="114300" lvl="1" defTabSz="382588"/>
            <a:r>
              <a:rPr lang="en-US" altLang="en-US">
                <a:latin typeface="Arial" panose="020B0604020202020204" pitchFamily="34" charset="0"/>
              </a:rPr>
              <a:t>		</a:t>
            </a:r>
            <a:r>
              <a:rPr lang="en-US" altLang="en-US" i="1">
                <a:latin typeface="Arial" panose="020B0604020202020204" pitchFamily="34" charset="0"/>
              </a:rPr>
              <a:t>subquery</a:t>
            </a:r>
            <a:r>
              <a:rPr lang="en-US" altLang="en-US">
                <a:latin typeface="Arial" panose="020B0604020202020204" pitchFamily="34" charset="0"/>
              </a:rPr>
              <a:t>		is the subquery that returns rows into the table</a:t>
            </a:r>
          </a:p>
          <a:p>
            <a:pPr marL="114300" lvl="1" defTabSz="38258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“SELECT,” Subqueries section.</a:t>
            </a:r>
          </a:p>
          <a:p>
            <a:pPr marL="114300" lvl="1" defTabSz="382588">
              <a:spcBef>
                <a:spcPct val="65000"/>
              </a:spcBef>
            </a:pPr>
            <a:r>
              <a:rPr lang="en-US" altLang="en-US">
                <a:latin typeface="Arial" panose="020B0604020202020204" pitchFamily="34" charset="0"/>
              </a:rPr>
              <a:t>The number of columns and their datatypes in the column list of the INSERT clause must match the number of values and their datatypes in the subquery.</a:t>
            </a:r>
          </a:p>
          <a:p>
            <a:pPr marL="114300" lvl="1" defTabSz="382588"/>
            <a:endParaRPr lang="en-US" altLang="en-US">
              <a:latin typeface="Arial" panose="020B0604020202020204" pitchFamily="34" charset="0"/>
            </a:endParaRPr>
          </a:p>
          <a:p>
            <a:pPr defTabSz="382588"/>
            <a:r>
              <a:rPr lang="en-US" altLang="en-US">
                <a:solidFill>
                  <a:schemeClr val="accent2"/>
                </a:solidFill>
                <a:latin typeface="Arial" panose="020B0604020202020204" pitchFamily="34" charset="0"/>
              </a:rPr>
              <a:t>Class Management Note</a:t>
            </a:r>
          </a:p>
          <a:p>
            <a:pPr marL="114300" lvl="1" defTabSz="382588"/>
            <a:r>
              <a:rPr lang="en-US" altLang="en-US">
                <a:solidFill>
                  <a:schemeClr val="accent2"/>
                </a:solidFill>
                <a:latin typeface="Arial" panose="020B0604020202020204" pitchFamily="34" charset="0"/>
              </a:rPr>
              <a:t>Do not get into too many details on copying rows from another table.</a:t>
            </a:r>
          </a:p>
        </p:txBody>
      </p:sp>
      <p:sp>
        <p:nvSpPr>
          <p:cNvPr id="27652" name="Rectangle 4">
            <a:extLst>
              <a:ext uri="{FF2B5EF4-FFF2-40B4-BE49-F238E27FC236}">
                <a16:creationId xmlns:a16="http://schemas.microsoft.com/office/drawing/2014/main" id="{ADB94C38-1D46-76DF-FEBE-9D6A9BFD4FCF}"/>
              </a:ext>
            </a:extLst>
          </p:cNvPr>
          <p:cNvSpPr>
            <a:spLocks noChangeArrowheads="1"/>
          </p:cNvSpPr>
          <p:nvPr/>
        </p:nvSpPr>
        <p:spPr bwMode="auto">
          <a:xfrm>
            <a:off x="623888" y="5727700"/>
            <a:ext cx="5568950" cy="5016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27653" name="Group 5">
            <a:extLst>
              <a:ext uri="{FF2B5EF4-FFF2-40B4-BE49-F238E27FC236}">
                <a16:creationId xmlns:a16="http://schemas.microsoft.com/office/drawing/2014/main" id="{C6BC705C-45D3-CD42-82D4-03EE78F8F4CE}"/>
              </a:ext>
            </a:extLst>
          </p:cNvPr>
          <p:cNvGrpSpPr>
            <a:grpSpLocks/>
          </p:cNvGrpSpPr>
          <p:nvPr/>
        </p:nvGrpSpPr>
        <p:grpSpPr bwMode="auto">
          <a:xfrm>
            <a:off x="182563" y="7524750"/>
            <a:ext cx="285750" cy="309563"/>
            <a:chOff x="114" y="4654"/>
            <a:chExt cx="179" cy="192"/>
          </a:xfrm>
        </p:grpSpPr>
        <p:sp>
          <p:nvSpPr>
            <p:cNvPr id="27668" name="Freeform 6">
              <a:extLst>
                <a:ext uri="{FF2B5EF4-FFF2-40B4-BE49-F238E27FC236}">
                  <a16:creationId xmlns:a16="http://schemas.microsoft.com/office/drawing/2014/main" id="{66369506-81B7-A4E1-8DB6-46B452A4D1BA}"/>
                </a:ext>
              </a:extLst>
            </p:cNvPr>
            <p:cNvSpPr>
              <a:spLocks/>
            </p:cNvSpPr>
            <p:nvPr/>
          </p:nvSpPr>
          <p:spPr bwMode="auto">
            <a:xfrm>
              <a:off x="114" y="4654"/>
              <a:ext cx="179" cy="185"/>
            </a:xfrm>
            <a:custGeom>
              <a:avLst/>
              <a:gdLst>
                <a:gd name="T0" fmla="*/ 178 w 179"/>
                <a:gd name="T1" fmla="*/ 184 h 185"/>
                <a:gd name="T2" fmla="*/ 178 w 179"/>
                <a:gd name="T3" fmla="*/ 0 h 185"/>
                <a:gd name="T4" fmla="*/ 0 w 179"/>
                <a:gd name="T5" fmla="*/ 0 h 185"/>
                <a:gd name="T6" fmla="*/ 0 w 179"/>
                <a:gd name="T7" fmla="*/ 184 h 185"/>
                <a:gd name="T8" fmla="*/ 178 w 179"/>
                <a:gd name="T9" fmla="*/ 184 h 185"/>
                <a:gd name="T10" fmla="*/ 0 60000 65536"/>
                <a:gd name="T11" fmla="*/ 0 60000 65536"/>
                <a:gd name="T12" fmla="*/ 0 60000 65536"/>
                <a:gd name="T13" fmla="*/ 0 60000 65536"/>
                <a:gd name="T14" fmla="*/ 0 60000 65536"/>
                <a:gd name="T15" fmla="*/ 0 w 179"/>
                <a:gd name="T16" fmla="*/ 0 h 185"/>
                <a:gd name="T17" fmla="*/ 179 w 179"/>
                <a:gd name="T18" fmla="*/ 185 h 185"/>
              </a:gdLst>
              <a:ahLst/>
              <a:cxnLst>
                <a:cxn ang="T10">
                  <a:pos x="T0" y="T1"/>
                </a:cxn>
                <a:cxn ang="T11">
                  <a:pos x="T2" y="T3"/>
                </a:cxn>
                <a:cxn ang="T12">
                  <a:pos x="T4" y="T5"/>
                </a:cxn>
                <a:cxn ang="T13">
                  <a:pos x="T6" y="T7"/>
                </a:cxn>
                <a:cxn ang="T14">
                  <a:pos x="T8" y="T9"/>
                </a:cxn>
              </a:cxnLst>
              <a:rect l="T15" t="T16" r="T17" b="T18"/>
              <a:pathLst>
                <a:path w="179" h="185">
                  <a:moveTo>
                    <a:pt x="178" y="184"/>
                  </a:moveTo>
                  <a:lnTo>
                    <a:pt x="178" y="0"/>
                  </a:lnTo>
                  <a:lnTo>
                    <a:pt x="0" y="0"/>
                  </a:lnTo>
                  <a:lnTo>
                    <a:pt x="0" y="184"/>
                  </a:lnTo>
                  <a:lnTo>
                    <a:pt x="178" y="184"/>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9" name="Freeform 7">
              <a:extLst>
                <a:ext uri="{FF2B5EF4-FFF2-40B4-BE49-F238E27FC236}">
                  <a16:creationId xmlns:a16="http://schemas.microsoft.com/office/drawing/2014/main" id="{D499F20B-5893-6179-1FF2-03FC0870DE8A}"/>
                </a:ext>
              </a:extLst>
            </p:cNvPr>
            <p:cNvSpPr>
              <a:spLocks/>
            </p:cNvSpPr>
            <p:nvPr/>
          </p:nvSpPr>
          <p:spPr bwMode="auto">
            <a:xfrm>
              <a:off x="196" y="4828"/>
              <a:ext cx="25" cy="18"/>
            </a:xfrm>
            <a:custGeom>
              <a:avLst/>
              <a:gdLst>
                <a:gd name="T0" fmla="*/ 24 w 25"/>
                <a:gd name="T1" fmla="*/ 17 h 18"/>
                <a:gd name="T2" fmla="*/ 24 w 25"/>
                <a:gd name="T3" fmla="*/ 0 h 18"/>
                <a:gd name="T4" fmla="*/ 0 w 25"/>
                <a:gd name="T5" fmla="*/ 0 h 18"/>
                <a:gd name="T6" fmla="*/ 0 w 25"/>
                <a:gd name="T7" fmla="*/ 17 h 18"/>
                <a:gd name="T8" fmla="*/ 24 w 25"/>
                <a:gd name="T9" fmla="*/ 17 h 18"/>
                <a:gd name="T10" fmla="*/ 0 60000 65536"/>
                <a:gd name="T11" fmla="*/ 0 60000 65536"/>
                <a:gd name="T12" fmla="*/ 0 60000 65536"/>
                <a:gd name="T13" fmla="*/ 0 60000 65536"/>
                <a:gd name="T14" fmla="*/ 0 60000 65536"/>
                <a:gd name="T15" fmla="*/ 0 w 25"/>
                <a:gd name="T16" fmla="*/ 0 h 18"/>
                <a:gd name="T17" fmla="*/ 25 w 25"/>
                <a:gd name="T18" fmla="*/ 18 h 18"/>
              </a:gdLst>
              <a:ahLst/>
              <a:cxnLst>
                <a:cxn ang="T10">
                  <a:pos x="T0" y="T1"/>
                </a:cxn>
                <a:cxn ang="T11">
                  <a:pos x="T2" y="T3"/>
                </a:cxn>
                <a:cxn ang="T12">
                  <a:pos x="T4" y="T5"/>
                </a:cxn>
                <a:cxn ang="T13">
                  <a:pos x="T6" y="T7"/>
                </a:cxn>
                <a:cxn ang="T14">
                  <a:pos x="T8" y="T9"/>
                </a:cxn>
              </a:cxnLst>
              <a:rect l="T15" t="T16" r="T17" b="T18"/>
              <a:pathLst>
                <a:path w="25" h="18">
                  <a:moveTo>
                    <a:pt x="24" y="17"/>
                  </a:moveTo>
                  <a:lnTo>
                    <a:pt x="24" y="0"/>
                  </a:lnTo>
                  <a:lnTo>
                    <a:pt x="0" y="0"/>
                  </a:lnTo>
                  <a:lnTo>
                    <a:pt x="0" y="17"/>
                  </a:lnTo>
                  <a:lnTo>
                    <a:pt x="24"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0" name="Freeform 8">
              <a:extLst>
                <a:ext uri="{FF2B5EF4-FFF2-40B4-BE49-F238E27FC236}">
                  <a16:creationId xmlns:a16="http://schemas.microsoft.com/office/drawing/2014/main" id="{7212FF07-3BA5-9593-380E-719EF0852498}"/>
                </a:ext>
              </a:extLst>
            </p:cNvPr>
            <p:cNvSpPr>
              <a:spLocks/>
            </p:cNvSpPr>
            <p:nvPr/>
          </p:nvSpPr>
          <p:spPr bwMode="auto">
            <a:xfrm>
              <a:off x="136" y="4707"/>
              <a:ext cx="31" cy="20"/>
            </a:xfrm>
            <a:custGeom>
              <a:avLst/>
              <a:gdLst>
                <a:gd name="T0" fmla="*/ 0 w 31"/>
                <a:gd name="T1" fmla="*/ 0 h 20"/>
                <a:gd name="T2" fmla="*/ 24 w 31"/>
                <a:gd name="T3" fmla="*/ 19 h 20"/>
                <a:gd name="T4" fmla="*/ 30 w 31"/>
                <a:gd name="T5" fmla="*/ 8 h 20"/>
                <a:gd name="T6" fmla="*/ 0 w 31"/>
                <a:gd name="T7" fmla="*/ 0 h 20"/>
                <a:gd name="T8" fmla="*/ 0 60000 65536"/>
                <a:gd name="T9" fmla="*/ 0 60000 65536"/>
                <a:gd name="T10" fmla="*/ 0 60000 65536"/>
                <a:gd name="T11" fmla="*/ 0 60000 65536"/>
                <a:gd name="T12" fmla="*/ 0 w 31"/>
                <a:gd name="T13" fmla="*/ 0 h 20"/>
                <a:gd name="T14" fmla="*/ 31 w 31"/>
                <a:gd name="T15" fmla="*/ 20 h 20"/>
              </a:gdLst>
              <a:ahLst/>
              <a:cxnLst>
                <a:cxn ang="T8">
                  <a:pos x="T0" y="T1"/>
                </a:cxn>
                <a:cxn ang="T9">
                  <a:pos x="T2" y="T3"/>
                </a:cxn>
                <a:cxn ang="T10">
                  <a:pos x="T4" y="T5"/>
                </a:cxn>
                <a:cxn ang="T11">
                  <a:pos x="T6" y="T7"/>
                </a:cxn>
              </a:cxnLst>
              <a:rect l="T12" t="T13" r="T14" b="T15"/>
              <a:pathLst>
                <a:path w="31" h="20">
                  <a:moveTo>
                    <a:pt x="0" y="0"/>
                  </a:moveTo>
                  <a:lnTo>
                    <a:pt x="24" y="19"/>
                  </a:lnTo>
                  <a:lnTo>
                    <a:pt x="30" y="8"/>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1" name="Freeform 9">
              <a:extLst>
                <a:ext uri="{FF2B5EF4-FFF2-40B4-BE49-F238E27FC236}">
                  <a16:creationId xmlns:a16="http://schemas.microsoft.com/office/drawing/2014/main" id="{27B4862D-7DC5-C41A-0BBD-8DFDA51B4776}"/>
                </a:ext>
              </a:extLst>
            </p:cNvPr>
            <p:cNvSpPr>
              <a:spLocks/>
            </p:cNvSpPr>
            <p:nvPr/>
          </p:nvSpPr>
          <p:spPr bwMode="auto">
            <a:xfrm>
              <a:off x="246" y="4707"/>
              <a:ext cx="34" cy="20"/>
            </a:xfrm>
            <a:custGeom>
              <a:avLst/>
              <a:gdLst>
                <a:gd name="T0" fmla="*/ 33 w 34"/>
                <a:gd name="T1" fmla="*/ 0 h 20"/>
                <a:gd name="T2" fmla="*/ 6 w 34"/>
                <a:gd name="T3" fmla="*/ 19 h 20"/>
                <a:gd name="T4" fmla="*/ 0 w 34"/>
                <a:gd name="T5" fmla="*/ 9 h 20"/>
                <a:gd name="T6" fmla="*/ 33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0"/>
                  </a:moveTo>
                  <a:lnTo>
                    <a:pt x="6" y="19"/>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2" name="Freeform 10">
              <a:extLst>
                <a:ext uri="{FF2B5EF4-FFF2-40B4-BE49-F238E27FC236}">
                  <a16:creationId xmlns:a16="http://schemas.microsoft.com/office/drawing/2014/main" id="{5070B1CB-BF07-1519-69AB-EB425B99C2C1}"/>
                </a:ext>
              </a:extLst>
            </p:cNvPr>
            <p:cNvSpPr>
              <a:spLocks/>
            </p:cNvSpPr>
            <p:nvPr/>
          </p:nvSpPr>
          <p:spPr bwMode="auto">
            <a:xfrm>
              <a:off x="133" y="4746"/>
              <a:ext cx="32" cy="18"/>
            </a:xfrm>
            <a:custGeom>
              <a:avLst/>
              <a:gdLst>
                <a:gd name="T0" fmla="*/ 0 w 32"/>
                <a:gd name="T1" fmla="*/ 17 h 18"/>
                <a:gd name="T2" fmla="*/ 31 w 32"/>
                <a:gd name="T3" fmla="*/ 13 h 18"/>
                <a:gd name="T4" fmla="*/ 29 w 32"/>
                <a:gd name="T5" fmla="*/ 0 h 18"/>
                <a:gd name="T6" fmla="*/ 0 w 32"/>
                <a:gd name="T7" fmla="*/ 17 h 18"/>
                <a:gd name="T8" fmla="*/ 0 60000 65536"/>
                <a:gd name="T9" fmla="*/ 0 60000 65536"/>
                <a:gd name="T10" fmla="*/ 0 60000 65536"/>
                <a:gd name="T11" fmla="*/ 0 60000 65536"/>
                <a:gd name="T12" fmla="*/ 0 w 32"/>
                <a:gd name="T13" fmla="*/ 0 h 18"/>
                <a:gd name="T14" fmla="*/ 32 w 32"/>
                <a:gd name="T15" fmla="*/ 18 h 18"/>
              </a:gdLst>
              <a:ahLst/>
              <a:cxnLst>
                <a:cxn ang="T8">
                  <a:pos x="T0" y="T1"/>
                </a:cxn>
                <a:cxn ang="T9">
                  <a:pos x="T2" y="T3"/>
                </a:cxn>
                <a:cxn ang="T10">
                  <a:pos x="T4" y="T5"/>
                </a:cxn>
                <a:cxn ang="T11">
                  <a:pos x="T6" y="T7"/>
                </a:cxn>
              </a:cxnLst>
              <a:rect l="T12" t="T13" r="T14" b="T15"/>
              <a:pathLst>
                <a:path w="32" h="18">
                  <a:moveTo>
                    <a:pt x="0" y="17"/>
                  </a:moveTo>
                  <a:lnTo>
                    <a:pt x="31" y="13"/>
                  </a:lnTo>
                  <a:lnTo>
                    <a:pt x="29" y="0"/>
                  </a:lnTo>
                  <a:lnTo>
                    <a:pt x="0"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3" name="Freeform 11">
              <a:extLst>
                <a:ext uri="{FF2B5EF4-FFF2-40B4-BE49-F238E27FC236}">
                  <a16:creationId xmlns:a16="http://schemas.microsoft.com/office/drawing/2014/main" id="{42817C9B-CF08-EFBF-DA64-5684CAA414E1}"/>
                </a:ext>
              </a:extLst>
            </p:cNvPr>
            <p:cNvSpPr>
              <a:spLocks/>
            </p:cNvSpPr>
            <p:nvPr/>
          </p:nvSpPr>
          <p:spPr bwMode="auto">
            <a:xfrm>
              <a:off x="249" y="4747"/>
              <a:ext cx="34" cy="18"/>
            </a:xfrm>
            <a:custGeom>
              <a:avLst/>
              <a:gdLst>
                <a:gd name="T0" fmla="*/ 33 w 34"/>
                <a:gd name="T1" fmla="*/ 17 h 18"/>
                <a:gd name="T2" fmla="*/ 0 w 34"/>
                <a:gd name="T3" fmla="*/ 14 h 18"/>
                <a:gd name="T4" fmla="*/ 2 w 34"/>
                <a:gd name="T5" fmla="*/ 0 h 18"/>
                <a:gd name="T6" fmla="*/ 33 w 34"/>
                <a:gd name="T7" fmla="*/ 17 h 18"/>
                <a:gd name="T8" fmla="*/ 0 60000 65536"/>
                <a:gd name="T9" fmla="*/ 0 60000 65536"/>
                <a:gd name="T10" fmla="*/ 0 60000 65536"/>
                <a:gd name="T11" fmla="*/ 0 60000 65536"/>
                <a:gd name="T12" fmla="*/ 0 w 34"/>
                <a:gd name="T13" fmla="*/ 0 h 18"/>
                <a:gd name="T14" fmla="*/ 34 w 34"/>
                <a:gd name="T15" fmla="*/ 18 h 18"/>
              </a:gdLst>
              <a:ahLst/>
              <a:cxnLst>
                <a:cxn ang="T8">
                  <a:pos x="T0" y="T1"/>
                </a:cxn>
                <a:cxn ang="T9">
                  <a:pos x="T2" y="T3"/>
                </a:cxn>
                <a:cxn ang="T10">
                  <a:pos x="T4" y="T5"/>
                </a:cxn>
                <a:cxn ang="T11">
                  <a:pos x="T6" y="T7"/>
                </a:cxn>
              </a:cxnLst>
              <a:rect l="T12" t="T13" r="T14" b="T15"/>
              <a:pathLst>
                <a:path w="34" h="18">
                  <a:moveTo>
                    <a:pt x="33" y="17"/>
                  </a:moveTo>
                  <a:lnTo>
                    <a:pt x="0" y="14"/>
                  </a:lnTo>
                  <a:lnTo>
                    <a:pt x="2" y="0"/>
                  </a:lnTo>
                  <a:lnTo>
                    <a:pt x="3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4" name="Freeform 12">
              <a:extLst>
                <a:ext uri="{FF2B5EF4-FFF2-40B4-BE49-F238E27FC236}">
                  <a16:creationId xmlns:a16="http://schemas.microsoft.com/office/drawing/2014/main" id="{E80181EB-465A-5822-3942-DB72B3B589C8}"/>
                </a:ext>
              </a:extLst>
            </p:cNvPr>
            <p:cNvSpPr>
              <a:spLocks/>
            </p:cNvSpPr>
            <p:nvPr/>
          </p:nvSpPr>
          <p:spPr bwMode="auto">
            <a:xfrm>
              <a:off x="158" y="4669"/>
              <a:ext cx="27" cy="30"/>
            </a:xfrm>
            <a:custGeom>
              <a:avLst/>
              <a:gdLst>
                <a:gd name="T0" fmla="*/ 0 w 27"/>
                <a:gd name="T1" fmla="*/ 0 h 30"/>
                <a:gd name="T2" fmla="*/ 15 w 27"/>
                <a:gd name="T3" fmla="*/ 29 h 30"/>
                <a:gd name="T4" fmla="*/ 26 w 27"/>
                <a:gd name="T5" fmla="*/ 22 h 30"/>
                <a:gd name="T6" fmla="*/ 0 w 27"/>
                <a:gd name="T7" fmla="*/ 0 h 30"/>
                <a:gd name="T8" fmla="*/ 0 60000 65536"/>
                <a:gd name="T9" fmla="*/ 0 60000 65536"/>
                <a:gd name="T10" fmla="*/ 0 60000 65536"/>
                <a:gd name="T11" fmla="*/ 0 60000 65536"/>
                <a:gd name="T12" fmla="*/ 0 w 27"/>
                <a:gd name="T13" fmla="*/ 0 h 30"/>
                <a:gd name="T14" fmla="*/ 27 w 27"/>
                <a:gd name="T15" fmla="*/ 30 h 30"/>
              </a:gdLst>
              <a:ahLst/>
              <a:cxnLst>
                <a:cxn ang="T8">
                  <a:pos x="T0" y="T1"/>
                </a:cxn>
                <a:cxn ang="T9">
                  <a:pos x="T2" y="T3"/>
                </a:cxn>
                <a:cxn ang="T10">
                  <a:pos x="T4" y="T5"/>
                </a:cxn>
                <a:cxn ang="T11">
                  <a:pos x="T6" y="T7"/>
                </a:cxn>
              </a:cxnLst>
              <a:rect l="T12" t="T13" r="T14" b="T15"/>
              <a:pathLst>
                <a:path w="27" h="30">
                  <a:moveTo>
                    <a:pt x="0" y="0"/>
                  </a:moveTo>
                  <a:lnTo>
                    <a:pt x="15" y="29"/>
                  </a:lnTo>
                  <a:lnTo>
                    <a:pt x="26" y="22"/>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5" name="Freeform 13">
              <a:extLst>
                <a:ext uri="{FF2B5EF4-FFF2-40B4-BE49-F238E27FC236}">
                  <a16:creationId xmlns:a16="http://schemas.microsoft.com/office/drawing/2014/main" id="{2F818364-61BD-8672-ECD0-E7AF46F99385}"/>
                </a:ext>
              </a:extLst>
            </p:cNvPr>
            <p:cNvSpPr>
              <a:spLocks/>
            </p:cNvSpPr>
            <p:nvPr/>
          </p:nvSpPr>
          <p:spPr bwMode="auto">
            <a:xfrm>
              <a:off x="224" y="4671"/>
              <a:ext cx="28" cy="31"/>
            </a:xfrm>
            <a:custGeom>
              <a:avLst/>
              <a:gdLst>
                <a:gd name="T0" fmla="*/ 27 w 28"/>
                <a:gd name="T1" fmla="*/ 0 h 31"/>
                <a:gd name="T2" fmla="*/ 11 w 28"/>
                <a:gd name="T3" fmla="*/ 30 h 31"/>
                <a:gd name="T4" fmla="*/ 0 w 28"/>
                <a:gd name="T5" fmla="*/ 22 h 31"/>
                <a:gd name="T6" fmla="*/ 27 w 28"/>
                <a:gd name="T7" fmla="*/ 0 h 31"/>
                <a:gd name="T8" fmla="*/ 0 60000 65536"/>
                <a:gd name="T9" fmla="*/ 0 60000 65536"/>
                <a:gd name="T10" fmla="*/ 0 60000 65536"/>
                <a:gd name="T11" fmla="*/ 0 60000 65536"/>
                <a:gd name="T12" fmla="*/ 0 w 28"/>
                <a:gd name="T13" fmla="*/ 0 h 31"/>
                <a:gd name="T14" fmla="*/ 28 w 28"/>
                <a:gd name="T15" fmla="*/ 31 h 31"/>
              </a:gdLst>
              <a:ahLst/>
              <a:cxnLst>
                <a:cxn ang="T8">
                  <a:pos x="T0" y="T1"/>
                </a:cxn>
                <a:cxn ang="T9">
                  <a:pos x="T2" y="T3"/>
                </a:cxn>
                <a:cxn ang="T10">
                  <a:pos x="T4" y="T5"/>
                </a:cxn>
                <a:cxn ang="T11">
                  <a:pos x="T6" y="T7"/>
                </a:cxn>
              </a:cxnLst>
              <a:rect l="T12" t="T13" r="T14" b="T15"/>
              <a:pathLst>
                <a:path w="28" h="31">
                  <a:moveTo>
                    <a:pt x="27" y="0"/>
                  </a:moveTo>
                  <a:lnTo>
                    <a:pt x="11" y="30"/>
                  </a:lnTo>
                  <a:lnTo>
                    <a:pt x="0" y="22"/>
                  </a:lnTo>
                  <a:lnTo>
                    <a:pt x="2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6" name="Freeform 14">
              <a:extLst>
                <a:ext uri="{FF2B5EF4-FFF2-40B4-BE49-F238E27FC236}">
                  <a16:creationId xmlns:a16="http://schemas.microsoft.com/office/drawing/2014/main" id="{E37F9702-B7C8-F5D9-7C60-368CC7E79FE0}"/>
                </a:ext>
              </a:extLst>
            </p:cNvPr>
            <p:cNvSpPr>
              <a:spLocks/>
            </p:cNvSpPr>
            <p:nvPr/>
          </p:nvSpPr>
          <p:spPr bwMode="auto">
            <a:xfrm>
              <a:off x="199" y="4660"/>
              <a:ext cx="17" cy="31"/>
            </a:xfrm>
            <a:custGeom>
              <a:avLst/>
              <a:gdLst>
                <a:gd name="T0" fmla="*/ 7 w 17"/>
                <a:gd name="T1" fmla="*/ 0 h 31"/>
                <a:gd name="T2" fmla="*/ 0 w 17"/>
                <a:gd name="T3" fmla="*/ 30 h 31"/>
                <a:gd name="T4" fmla="*/ 16 w 17"/>
                <a:gd name="T5" fmla="*/ 29 h 31"/>
                <a:gd name="T6" fmla="*/ 7 w 17"/>
                <a:gd name="T7" fmla="*/ 0 h 31"/>
                <a:gd name="T8" fmla="*/ 0 60000 65536"/>
                <a:gd name="T9" fmla="*/ 0 60000 65536"/>
                <a:gd name="T10" fmla="*/ 0 60000 65536"/>
                <a:gd name="T11" fmla="*/ 0 60000 65536"/>
                <a:gd name="T12" fmla="*/ 0 w 17"/>
                <a:gd name="T13" fmla="*/ 0 h 31"/>
                <a:gd name="T14" fmla="*/ 17 w 17"/>
                <a:gd name="T15" fmla="*/ 31 h 31"/>
              </a:gdLst>
              <a:ahLst/>
              <a:cxnLst>
                <a:cxn ang="T8">
                  <a:pos x="T0" y="T1"/>
                </a:cxn>
                <a:cxn ang="T9">
                  <a:pos x="T2" y="T3"/>
                </a:cxn>
                <a:cxn ang="T10">
                  <a:pos x="T4" y="T5"/>
                </a:cxn>
                <a:cxn ang="T11">
                  <a:pos x="T6" y="T7"/>
                </a:cxn>
              </a:cxnLst>
              <a:rect l="T12" t="T13" r="T14" b="T15"/>
              <a:pathLst>
                <a:path w="17" h="31">
                  <a:moveTo>
                    <a:pt x="7" y="0"/>
                  </a:moveTo>
                  <a:lnTo>
                    <a:pt x="0" y="30"/>
                  </a:lnTo>
                  <a:lnTo>
                    <a:pt x="16" y="29"/>
                  </a:lnTo>
                  <a:lnTo>
                    <a:pt x="7"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7" name="Freeform 15">
              <a:extLst>
                <a:ext uri="{FF2B5EF4-FFF2-40B4-BE49-F238E27FC236}">
                  <a16:creationId xmlns:a16="http://schemas.microsoft.com/office/drawing/2014/main" id="{F86C9556-3A4E-A4C0-7111-1F387C123AF9}"/>
                </a:ext>
              </a:extLst>
            </p:cNvPr>
            <p:cNvSpPr>
              <a:spLocks/>
            </p:cNvSpPr>
            <p:nvPr/>
          </p:nvSpPr>
          <p:spPr bwMode="auto">
            <a:xfrm>
              <a:off x="173" y="4706"/>
              <a:ext cx="67" cy="115"/>
            </a:xfrm>
            <a:custGeom>
              <a:avLst/>
              <a:gdLst>
                <a:gd name="T0" fmla="*/ 21 w 67"/>
                <a:gd name="T1" fmla="*/ 114 h 115"/>
                <a:gd name="T2" fmla="*/ 22 w 67"/>
                <a:gd name="T3" fmla="*/ 94 h 115"/>
                <a:gd name="T4" fmla="*/ 20 w 67"/>
                <a:gd name="T5" fmla="*/ 91 h 115"/>
                <a:gd name="T6" fmla="*/ 14 w 67"/>
                <a:gd name="T7" fmla="*/ 83 h 115"/>
                <a:gd name="T8" fmla="*/ 8 w 67"/>
                <a:gd name="T9" fmla="*/ 72 h 115"/>
                <a:gd name="T10" fmla="*/ 3 w 67"/>
                <a:gd name="T11" fmla="*/ 58 h 115"/>
                <a:gd name="T12" fmla="*/ 0 w 67"/>
                <a:gd name="T13" fmla="*/ 42 h 115"/>
                <a:gd name="T14" fmla="*/ 0 w 67"/>
                <a:gd name="T15" fmla="*/ 27 h 115"/>
                <a:gd name="T16" fmla="*/ 7 w 67"/>
                <a:gd name="T17" fmla="*/ 12 h 115"/>
                <a:gd name="T18" fmla="*/ 22 w 67"/>
                <a:gd name="T19" fmla="*/ 0 h 115"/>
                <a:gd name="T20" fmla="*/ 42 w 67"/>
                <a:gd name="T21" fmla="*/ 0 h 115"/>
                <a:gd name="T22" fmla="*/ 45 w 67"/>
                <a:gd name="T23" fmla="*/ 1 h 115"/>
                <a:gd name="T24" fmla="*/ 50 w 67"/>
                <a:gd name="T25" fmla="*/ 5 h 115"/>
                <a:gd name="T26" fmla="*/ 56 w 67"/>
                <a:gd name="T27" fmla="*/ 11 h 115"/>
                <a:gd name="T28" fmla="*/ 62 w 67"/>
                <a:gd name="T29" fmla="*/ 20 h 115"/>
                <a:gd name="T30" fmla="*/ 66 w 67"/>
                <a:gd name="T31" fmla="*/ 32 h 115"/>
                <a:gd name="T32" fmla="*/ 65 w 67"/>
                <a:gd name="T33" fmla="*/ 48 h 115"/>
                <a:gd name="T34" fmla="*/ 58 w 67"/>
                <a:gd name="T35" fmla="*/ 68 h 115"/>
                <a:gd name="T36" fmla="*/ 42 w 67"/>
                <a:gd name="T37" fmla="*/ 91 h 115"/>
                <a:gd name="T38" fmla="*/ 42 w 67"/>
                <a:gd name="T39" fmla="*/ 114 h 115"/>
                <a:gd name="T40" fmla="*/ 21 w 67"/>
                <a:gd name="T41" fmla="*/ 114 h 11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5"/>
                <a:gd name="T65" fmla="*/ 67 w 67"/>
                <a:gd name="T66" fmla="*/ 115 h 11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5">
                  <a:moveTo>
                    <a:pt x="21" y="114"/>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4"/>
                  </a:lnTo>
                  <a:lnTo>
                    <a:pt x="21"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78" name="Freeform 16">
              <a:extLst>
                <a:ext uri="{FF2B5EF4-FFF2-40B4-BE49-F238E27FC236}">
                  <a16:creationId xmlns:a16="http://schemas.microsoft.com/office/drawing/2014/main" id="{4CB2D87A-89FA-3DA1-832F-4639302A8D90}"/>
                </a:ext>
              </a:extLst>
            </p:cNvPr>
            <p:cNvSpPr>
              <a:spLocks/>
            </p:cNvSpPr>
            <p:nvPr/>
          </p:nvSpPr>
          <p:spPr bwMode="auto">
            <a:xfrm>
              <a:off x="201" y="4727"/>
              <a:ext cx="17" cy="88"/>
            </a:xfrm>
            <a:custGeom>
              <a:avLst/>
              <a:gdLst>
                <a:gd name="T0" fmla="*/ 4 w 17"/>
                <a:gd name="T1" fmla="*/ 0 h 88"/>
                <a:gd name="T2" fmla="*/ 6 w 17"/>
                <a:gd name="T3" fmla="*/ 6 h 88"/>
                <a:gd name="T4" fmla="*/ 2 w 17"/>
                <a:gd name="T5" fmla="*/ 7 h 88"/>
                <a:gd name="T6" fmla="*/ 2 w 17"/>
                <a:gd name="T7" fmla="*/ 78 h 88"/>
                <a:gd name="T8" fmla="*/ 0 w 17"/>
                <a:gd name="T9" fmla="*/ 79 h 88"/>
                <a:gd name="T10" fmla="*/ 0 w 17"/>
                <a:gd name="T11" fmla="*/ 87 h 88"/>
                <a:gd name="T12" fmla="*/ 2 w 17"/>
                <a:gd name="T13" fmla="*/ 87 h 88"/>
                <a:gd name="T14" fmla="*/ 4 w 17"/>
                <a:gd name="T15" fmla="*/ 87 h 88"/>
                <a:gd name="T16" fmla="*/ 6 w 17"/>
                <a:gd name="T17" fmla="*/ 87 h 88"/>
                <a:gd name="T18" fmla="*/ 9 w 17"/>
                <a:gd name="T19" fmla="*/ 85 h 88"/>
                <a:gd name="T20" fmla="*/ 13 w 17"/>
                <a:gd name="T21" fmla="*/ 85 h 88"/>
                <a:gd name="T22" fmla="*/ 16 w 17"/>
                <a:gd name="T23" fmla="*/ 84 h 88"/>
                <a:gd name="T24" fmla="*/ 16 w 17"/>
                <a:gd name="T25" fmla="*/ 82 h 88"/>
                <a:gd name="T26" fmla="*/ 16 w 17"/>
                <a:gd name="T27" fmla="*/ 79 h 88"/>
                <a:gd name="T28" fmla="*/ 16 w 17"/>
                <a:gd name="T29" fmla="*/ 48 h 88"/>
                <a:gd name="T30" fmla="*/ 13 w 17"/>
                <a:gd name="T31" fmla="*/ 47 h 88"/>
                <a:gd name="T32" fmla="*/ 13 w 17"/>
                <a:gd name="T33" fmla="*/ 39 h 88"/>
                <a:gd name="T34" fmla="*/ 13 w 17"/>
                <a:gd name="T35" fmla="*/ 5 h 88"/>
                <a:gd name="T36" fmla="*/ 4 w 17"/>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88"/>
                <a:gd name="T59" fmla="*/ 17 w 17"/>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88">
                  <a:moveTo>
                    <a:pt x="4" y="0"/>
                  </a:moveTo>
                  <a:lnTo>
                    <a:pt x="6" y="6"/>
                  </a:lnTo>
                  <a:lnTo>
                    <a:pt x="2" y="7"/>
                  </a:lnTo>
                  <a:lnTo>
                    <a:pt x="2" y="78"/>
                  </a:lnTo>
                  <a:lnTo>
                    <a:pt x="0" y="79"/>
                  </a:lnTo>
                  <a:lnTo>
                    <a:pt x="0" y="87"/>
                  </a:lnTo>
                  <a:lnTo>
                    <a:pt x="2" y="87"/>
                  </a:lnTo>
                  <a:lnTo>
                    <a:pt x="4" y="87"/>
                  </a:lnTo>
                  <a:lnTo>
                    <a:pt x="6" y="87"/>
                  </a:lnTo>
                  <a:lnTo>
                    <a:pt x="9" y="85"/>
                  </a:lnTo>
                  <a:lnTo>
                    <a:pt x="13" y="85"/>
                  </a:lnTo>
                  <a:lnTo>
                    <a:pt x="16" y="84"/>
                  </a:lnTo>
                  <a:lnTo>
                    <a:pt x="16" y="82"/>
                  </a:lnTo>
                  <a:lnTo>
                    <a:pt x="16" y="79"/>
                  </a:lnTo>
                  <a:lnTo>
                    <a:pt x="16" y="48"/>
                  </a:lnTo>
                  <a:lnTo>
                    <a:pt x="13" y="47"/>
                  </a:lnTo>
                  <a:lnTo>
                    <a:pt x="13" y="39"/>
                  </a:lnTo>
                  <a:lnTo>
                    <a:pt x="13"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grpSp>
        <p:nvGrpSpPr>
          <p:cNvPr id="27654" name="Group 17">
            <a:extLst>
              <a:ext uri="{FF2B5EF4-FFF2-40B4-BE49-F238E27FC236}">
                <a16:creationId xmlns:a16="http://schemas.microsoft.com/office/drawing/2014/main" id="{BEEC749F-0ADB-7F36-058E-2CC532FF1451}"/>
              </a:ext>
            </a:extLst>
          </p:cNvPr>
          <p:cNvGrpSpPr>
            <a:grpSpLocks/>
          </p:cNvGrpSpPr>
          <p:nvPr/>
        </p:nvGrpSpPr>
        <p:grpSpPr bwMode="auto">
          <a:xfrm>
            <a:off x="177800" y="7083425"/>
            <a:ext cx="296863" cy="296863"/>
            <a:chOff x="111" y="4381"/>
            <a:chExt cx="186" cy="184"/>
          </a:xfrm>
        </p:grpSpPr>
        <p:sp>
          <p:nvSpPr>
            <p:cNvPr id="27655" name="Freeform 18">
              <a:extLst>
                <a:ext uri="{FF2B5EF4-FFF2-40B4-BE49-F238E27FC236}">
                  <a16:creationId xmlns:a16="http://schemas.microsoft.com/office/drawing/2014/main" id="{6157C3FF-2C8E-9B55-84EE-388C57B5A7F9}"/>
                </a:ext>
              </a:extLst>
            </p:cNvPr>
            <p:cNvSpPr>
              <a:spLocks/>
            </p:cNvSpPr>
            <p:nvPr/>
          </p:nvSpPr>
          <p:spPr bwMode="auto">
            <a:xfrm>
              <a:off x="111" y="4381"/>
              <a:ext cx="176" cy="177"/>
            </a:xfrm>
            <a:custGeom>
              <a:avLst/>
              <a:gdLst>
                <a:gd name="T0" fmla="*/ 175 w 176"/>
                <a:gd name="T1" fmla="*/ 176 h 177"/>
                <a:gd name="T2" fmla="*/ 175 w 176"/>
                <a:gd name="T3" fmla="*/ 0 h 177"/>
                <a:gd name="T4" fmla="*/ 0 w 176"/>
                <a:gd name="T5" fmla="*/ 0 h 177"/>
                <a:gd name="T6" fmla="*/ 0 w 176"/>
                <a:gd name="T7" fmla="*/ 176 h 177"/>
                <a:gd name="T8" fmla="*/ 175 w 176"/>
                <a:gd name="T9" fmla="*/ 176 h 177"/>
                <a:gd name="T10" fmla="*/ 0 60000 65536"/>
                <a:gd name="T11" fmla="*/ 0 60000 65536"/>
                <a:gd name="T12" fmla="*/ 0 60000 65536"/>
                <a:gd name="T13" fmla="*/ 0 60000 65536"/>
                <a:gd name="T14" fmla="*/ 0 60000 65536"/>
                <a:gd name="T15" fmla="*/ 0 w 176"/>
                <a:gd name="T16" fmla="*/ 0 h 177"/>
                <a:gd name="T17" fmla="*/ 176 w 176"/>
                <a:gd name="T18" fmla="*/ 177 h 177"/>
              </a:gdLst>
              <a:ahLst/>
              <a:cxnLst>
                <a:cxn ang="T10">
                  <a:pos x="T0" y="T1"/>
                </a:cxn>
                <a:cxn ang="T11">
                  <a:pos x="T2" y="T3"/>
                </a:cxn>
                <a:cxn ang="T12">
                  <a:pos x="T4" y="T5"/>
                </a:cxn>
                <a:cxn ang="T13">
                  <a:pos x="T6" y="T7"/>
                </a:cxn>
                <a:cxn ang="T14">
                  <a:pos x="T8" y="T9"/>
                </a:cxn>
              </a:cxnLst>
              <a:rect l="T15" t="T16" r="T17" b="T18"/>
              <a:pathLst>
                <a:path w="176" h="177">
                  <a:moveTo>
                    <a:pt x="175" y="176"/>
                  </a:moveTo>
                  <a:lnTo>
                    <a:pt x="175" y="0"/>
                  </a:lnTo>
                  <a:lnTo>
                    <a:pt x="0" y="0"/>
                  </a:lnTo>
                  <a:lnTo>
                    <a:pt x="0" y="176"/>
                  </a:lnTo>
                  <a:lnTo>
                    <a:pt x="175" y="176"/>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6" name="Freeform 19">
              <a:extLst>
                <a:ext uri="{FF2B5EF4-FFF2-40B4-BE49-F238E27FC236}">
                  <a16:creationId xmlns:a16="http://schemas.microsoft.com/office/drawing/2014/main" id="{84C962A1-0DC8-8792-54F2-C58CCB46F87A}"/>
                </a:ext>
              </a:extLst>
            </p:cNvPr>
            <p:cNvSpPr>
              <a:spLocks/>
            </p:cNvSpPr>
            <p:nvPr/>
          </p:nvSpPr>
          <p:spPr bwMode="auto">
            <a:xfrm>
              <a:off x="172" y="4447"/>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7" name="Freeform 20">
              <a:extLst>
                <a:ext uri="{FF2B5EF4-FFF2-40B4-BE49-F238E27FC236}">
                  <a16:creationId xmlns:a16="http://schemas.microsoft.com/office/drawing/2014/main" id="{850648DA-54EE-4EE9-ED99-C5A5B6381839}"/>
                </a:ext>
              </a:extLst>
            </p:cNvPr>
            <p:cNvSpPr>
              <a:spLocks/>
            </p:cNvSpPr>
            <p:nvPr/>
          </p:nvSpPr>
          <p:spPr bwMode="auto">
            <a:xfrm>
              <a:off x="181" y="4463"/>
              <a:ext cx="68" cy="37"/>
            </a:xfrm>
            <a:custGeom>
              <a:avLst/>
              <a:gdLst>
                <a:gd name="T0" fmla="*/ 67 w 68"/>
                <a:gd name="T1" fmla="*/ 7 h 37"/>
                <a:gd name="T2" fmla="*/ 64 w 68"/>
                <a:gd name="T3" fmla="*/ 0 h 37"/>
                <a:gd name="T4" fmla="*/ 0 w 68"/>
                <a:gd name="T5" fmla="*/ 29 h 37"/>
                <a:gd name="T6" fmla="*/ 2 w 68"/>
                <a:gd name="T7" fmla="*/ 36 h 37"/>
                <a:gd name="T8" fmla="*/ 67 w 68"/>
                <a:gd name="T9" fmla="*/ 7 h 37"/>
                <a:gd name="T10" fmla="*/ 0 60000 65536"/>
                <a:gd name="T11" fmla="*/ 0 60000 65536"/>
                <a:gd name="T12" fmla="*/ 0 60000 65536"/>
                <a:gd name="T13" fmla="*/ 0 60000 65536"/>
                <a:gd name="T14" fmla="*/ 0 60000 65536"/>
                <a:gd name="T15" fmla="*/ 0 w 68"/>
                <a:gd name="T16" fmla="*/ 0 h 37"/>
                <a:gd name="T17" fmla="*/ 68 w 68"/>
                <a:gd name="T18" fmla="*/ 37 h 37"/>
              </a:gdLst>
              <a:ahLst/>
              <a:cxnLst>
                <a:cxn ang="T10">
                  <a:pos x="T0" y="T1"/>
                </a:cxn>
                <a:cxn ang="T11">
                  <a:pos x="T2" y="T3"/>
                </a:cxn>
                <a:cxn ang="T12">
                  <a:pos x="T4" y="T5"/>
                </a:cxn>
                <a:cxn ang="T13">
                  <a:pos x="T6" y="T7"/>
                </a:cxn>
                <a:cxn ang="T14">
                  <a:pos x="T8" y="T9"/>
                </a:cxn>
              </a:cxnLst>
              <a:rect l="T15" t="T16" r="T17" b="T18"/>
              <a:pathLst>
                <a:path w="68" h="37">
                  <a:moveTo>
                    <a:pt x="67" y="7"/>
                  </a:moveTo>
                  <a:lnTo>
                    <a:pt x="64" y="0"/>
                  </a:lnTo>
                  <a:lnTo>
                    <a:pt x="0" y="29"/>
                  </a:lnTo>
                  <a:lnTo>
                    <a:pt x="2" y="36"/>
                  </a:lnTo>
                  <a:lnTo>
                    <a:pt x="67"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8" name="Freeform 21">
              <a:extLst>
                <a:ext uri="{FF2B5EF4-FFF2-40B4-BE49-F238E27FC236}">
                  <a16:creationId xmlns:a16="http://schemas.microsoft.com/office/drawing/2014/main" id="{EEBE59CC-7F90-19C8-AE46-989006EDA6B5}"/>
                </a:ext>
              </a:extLst>
            </p:cNvPr>
            <p:cNvSpPr>
              <a:spLocks/>
            </p:cNvSpPr>
            <p:nvPr/>
          </p:nvSpPr>
          <p:spPr bwMode="auto">
            <a:xfrm>
              <a:off x="187" y="4479"/>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 name="T10" fmla="*/ 0 60000 65536"/>
                <a:gd name="T11" fmla="*/ 0 60000 65536"/>
                <a:gd name="T12" fmla="*/ 0 60000 65536"/>
                <a:gd name="T13" fmla="*/ 0 60000 65536"/>
                <a:gd name="T14" fmla="*/ 0 60000 65536"/>
                <a:gd name="T15" fmla="*/ 0 w 68"/>
                <a:gd name="T16" fmla="*/ 0 h 35"/>
                <a:gd name="T17" fmla="*/ 68 w 68"/>
                <a:gd name="T18" fmla="*/ 35 h 35"/>
              </a:gdLst>
              <a:ahLst/>
              <a:cxnLst>
                <a:cxn ang="T10">
                  <a:pos x="T0" y="T1"/>
                </a:cxn>
                <a:cxn ang="T11">
                  <a:pos x="T2" y="T3"/>
                </a:cxn>
                <a:cxn ang="T12">
                  <a:pos x="T4" y="T5"/>
                </a:cxn>
                <a:cxn ang="T13">
                  <a:pos x="T6" y="T7"/>
                </a:cxn>
                <a:cxn ang="T14">
                  <a:pos x="T8" y="T9"/>
                </a:cxn>
              </a:cxnLst>
              <a:rect l="T15" t="T16" r="T17" b="T18"/>
              <a:pathLst>
                <a:path w="68" h="35">
                  <a:moveTo>
                    <a:pt x="67" y="6"/>
                  </a:moveTo>
                  <a:lnTo>
                    <a:pt x="64" y="0"/>
                  </a:lnTo>
                  <a:lnTo>
                    <a:pt x="0" y="27"/>
                  </a:lnTo>
                  <a:lnTo>
                    <a:pt x="2" y="34"/>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59" name="Freeform 22">
              <a:extLst>
                <a:ext uri="{FF2B5EF4-FFF2-40B4-BE49-F238E27FC236}">
                  <a16:creationId xmlns:a16="http://schemas.microsoft.com/office/drawing/2014/main" id="{D80CA094-EABB-D31C-BE64-486D211D03D9}"/>
                </a:ext>
              </a:extLst>
            </p:cNvPr>
            <p:cNvSpPr>
              <a:spLocks/>
            </p:cNvSpPr>
            <p:nvPr/>
          </p:nvSpPr>
          <p:spPr bwMode="auto">
            <a:xfrm>
              <a:off x="196" y="4496"/>
              <a:ext cx="69" cy="35"/>
            </a:xfrm>
            <a:custGeom>
              <a:avLst/>
              <a:gdLst>
                <a:gd name="T0" fmla="*/ 68 w 69"/>
                <a:gd name="T1" fmla="*/ 6 h 35"/>
                <a:gd name="T2" fmla="*/ 65 w 69"/>
                <a:gd name="T3" fmla="*/ 0 h 35"/>
                <a:gd name="T4" fmla="*/ 0 w 69"/>
                <a:gd name="T5" fmla="*/ 27 h 35"/>
                <a:gd name="T6" fmla="*/ 3 w 69"/>
                <a:gd name="T7" fmla="*/ 34 h 35"/>
                <a:gd name="T8" fmla="*/ 68 w 69"/>
                <a:gd name="T9" fmla="*/ 6 h 35"/>
                <a:gd name="T10" fmla="*/ 0 60000 65536"/>
                <a:gd name="T11" fmla="*/ 0 60000 65536"/>
                <a:gd name="T12" fmla="*/ 0 60000 65536"/>
                <a:gd name="T13" fmla="*/ 0 60000 65536"/>
                <a:gd name="T14" fmla="*/ 0 60000 65536"/>
                <a:gd name="T15" fmla="*/ 0 w 69"/>
                <a:gd name="T16" fmla="*/ 0 h 35"/>
                <a:gd name="T17" fmla="*/ 69 w 69"/>
                <a:gd name="T18" fmla="*/ 35 h 35"/>
              </a:gdLst>
              <a:ahLst/>
              <a:cxnLst>
                <a:cxn ang="T10">
                  <a:pos x="T0" y="T1"/>
                </a:cxn>
                <a:cxn ang="T11">
                  <a:pos x="T2" y="T3"/>
                </a:cxn>
                <a:cxn ang="T12">
                  <a:pos x="T4" y="T5"/>
                </a:cxn>
                <a:cxn ang="T13">
                  <a:pos x="T6" y="T7"/>
                </a:cxn>
                <a:cxn ang="T14">
                  <a:pos x="T8" y="T9"/>
                </a:cxn>
              </a:cxnLst>
              <a:rect l="T15" t="T16" r="T17" b="T18"/>
              <a:pathLst>
                <a:path w="69" h="35">
                  <a:moveTo>
                    <a:pt x="68" y="6"/>
                  </a:moveTo>
                  <a:lnTo>
                    <a:pt x="65" y="0"/>
                  </a:lnTo>
                  <a:lnTo>
                    <a:pt x="0" y="27"/>
                  </a:lnTo>
                  <a:lnTo>
                    <a:pt x="3" y="34"/>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0" name="Freeform 23">
              <a:extLst>
                <a:ext uri="{FF2B5EF4-FFF2-40B4-BE49-F238E27FC236}">
                  <a16:creationId xmlns:a16="http://schemas.microsoft.com/office/drawing/2014/main" id="{3B45B735-2097-600B-F93F-795E106B362F}"/>
                </a:ext>
              </a:extLst>
            </p:cNvPr>
            <p:cNvSpPr>
              <a:spLocks/>
            </p:cNvSpPr>
            <p:nvPr/>
          </p:nvSpPr>
          <p:spPr bwMode="auto">
            <a:xfrm>
              <a:off x="203" y="4511"/>
              <a:ext cx="69" cy="39"/>
            </a:xfrm>
            <a:custGeom>
              <a:avLst/>
              <a:gdLst>
                <a:gd name="T0" fmla="*/ 68 w 69"/>
                <a:gd name="T1" fmla="*/ 7 h 39"/>
                <a:gd name="T2" fmla="*/ 65 w 69"/>
                <a:gd name="T3" fmla="*/ 0 h 39"/>
                <a:gd name="T4" fmla="*/ 0 w 69"/>
                <a:gd name="T5" fmla="*/ 30 h 39"/>
                <a:gd name="T6" fmla="*/ 3 w 69"/>
                <a:gd name="T7" fmla="*/ 38 h 39"/>
                <a:gd name="T8" fmla="*/ 68 w 69"/>
                <a:gd name="T9" fmla="*/ 7 h 39"/>
                <a:gd name="T10" fmla="*/ 0 60000 65536"/>
                <a:gd name="T11" fmla="*/ 0 60000 65536"/>
                <a:gd name="T12" fmla="*/ 0 60000 65536"/>
                <a:gd name="T13" fmla="*/ 0 60000 65536"/>
                <a:gd name="T14" fmla="*/ 0 60000 65536"/>
                <a:gd name="T15" fmla="*/ 0 w 69"/>
                <a:gd name="T16" fmla="*/ 0 h 39"/>
                <a:gd name="T17" fmla="*/ 69 w 69"/>
                <a:gd name="T18" fmla="*/ 39 h 39"/>
              </a:gdLst>
              <a:ahLst/>
              <a:cxnLst>
                <a:cxn ang="T10">
                  <a:pos x="T0" y="T1"/>
                </a:cxn>
                <a:cxn ang="T11">
                  <a:pos x="T2" y="T3"/>
                </a:cxn>
                <a:cxn ang="T12">
                  <a:pos x="T4" y="T5"/>
                </a:cxn>
                <a:cxn ang="T13">
                  <a:pos x="T6" y="T7"/>
                </a:cxn>
                <a:cxn ang="T14">
                  <a:pos x="T8" y="T9"/>
                </a:cxn>
              </a:cxnLst>
              <a:rect l="T15" t="T16" r="T17" b="T18"/>
              <a:pathLst>
                <a:path w="69" h="39">
                  <a:moveTo>
                    <a:pt x="68" y="7"/>
                  </a:moveTo>
                  <a:lnTo>
                    <a:pt x="65" y="0"/>
                  </a:lnTo>
                  <a:lnTo>
                    <a:pt x="0" y="30"/>
                  </a:lnTo>
                  <a:lnTo>
                    <a:pt x="3" y="38"/>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1" name="Freeform 24">
              <a:extLst>
                <a:ext uri="{FF2B5EF4-FFF2-40B4-BE49-F238E27FC236}">
                  <a16:creationId xmlns:a16="http://schemas.microsoft.com/office/drawing/2014/main" id="{E04B3E6A-526D-D977-8759-16D370CC6F27}"/>
                </a:ext>
              </a:extLst>
            </p:cNvPr>
            <p:cNvSpPr>
              <a:spLocks/>
            </p:cNvSpPr>
            <p:nvPr/>
          </p:nvSpPr>
          <p:spPr bwMode="auto">
            <a:xfrm>
              <a:off x="132" y="4410"/>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 name="T10" fmla="*/ 0 60000 65536"/>
                <a:gd name="T11" fmla="*/ 0 60000 65536"/>
                <a:gd name="T12" fmla="*/ 0 60000 65536"/>
                <a:gd name="T13" fmla="*/ 0 60000 65536"/>
                <a:gd name="T14" fmla="*/ 0 60000 65536"/>
                <a:gd name="T15" fmla="*/ 0 w 121"/>
                <a:gd name="T16" fmla="*/ 0 h 58"/>
                <a:gd name="T17" fmla="*/ 121 w 121"/>
                <a:gd name="T18" fmla="*/ 58 h 58"/>
              </a:gdLst>
              <a:ahLst/>
              <a:cxnLst>
                <a:cxn ang="T10">
                  <a:pos x="T0" y="T1"/>
                </a:cxn>
                <a:cxn ang="T11">
                  <a:pos x="T2" y="T3"/>
                </a:cxn>
                <a:cxn ang="T12">
                  <a:pos x="T4" y="T5"/>
                </a:cxn>
                <a:cxn ang="T13">
                  <a:pos x="T6" y="T7"/>
                </a:cxn>
                <a:cxn ang="T14">
                  <a:pos x="T8" y="T9"/>
                </a:cxn>
              </a:cxnLst>
              <a:rect l="T15" t="T16" r="T17" b="T18"/>
              <a:pathLst>
                <a:path w="121" h="58">
                  <a:moveTo>
                    <a:pt x="120" y="7"/>
                  </a:moveTo>
                  <a:lnTo>
                    <a:pt x="118" y="0"/>
                  </a:lnTo>
                  <a:lnTo>
                    <a:pt x="0" y="50"/>
                  </a:lnTo>
                  <a:lnTo>
                    <a:pt x="2" y="57"/>
                  </a:lnTo>
                  <a:lnTo>
                    <a:pt x="12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2" name="Freeform 25">
              <a:extLst>
                <a:ext uri="{FF2B5EF4-FFF2-40B4-BE49-F238E27FC236}">
                  <a16:creationId xmlns:a16="http://schemas.microsoft.com/office/drawing/2014/main" id="{774453C4-D437-631D-793B-908EB853C92C}"/>
                </a:ext>
              </a:extLst>
            </p:cNvPr>
            <p:cNvSpPr>
              <a:spLocks/>
            </p:cNvSpPr>
            <p:nvPr/>
          </p:nvSpPr>
          <p:spPr bwMode="auto">
            <a:xfrm>
              <a:off x="115" y="4399"/>
              <a:ext cx="122" cy="59"/>
            </a:xfrm>
            <a:custGeom>
              <a:avLst/>
              <a:gdLst>
                <a:gd name="T0" fmla="*/ 121 w 122"/>
                <a:gd name="T1" fmla="*/ 7 h 59"/>
                <a:gd name="T2" fmla="*/ 118 w 122"/>
                <a:gd name="T3" fmla="*/ 0 h 59"/>
                <a:gd name="T4" fmla="*/ 0 w 122"/>
                <a:gd name="T5" fmla="*/ 51 h 59"/>
                <a:gd name="T6" fmla="*/ 1 w 122"/>
                <a:gd name="T7" fmla="*/ 58 h 59"/>
                <a:gd name="T8" fmla="*/ 121 w 122"/>
                <a:gd name="T9" fmla="*/ 7 h 59"/>
                <a:gd name="T10" fmla="*/ 0 60000 65536"/>
                <a:gd name="T11" fmla="*/ 0 60000 65536"/>
                <a:gd name="T12" fmla="*/ 0 60000 65536"/>
                <a:gd name="T13" fmla="*/ 0 60000 65536"/>
                <a:gd name="T14" fmla="*/ 0 60000 65536"/>
                <a:gd name="T15" fmla="*/ 0 w 122"/>
                <a:gd name="T16" fmla="*/ 0 h 59"/>
                <a:gd name="T17" fmla="*/ 122 w 122"/>
                <a:gd name="T18" fmla="*/ 59 h 59"/>
              </a:gdLst>
              <a:ahLst/>
              <a:cxnLst>
                <a:cxn ang="T10">
                  <a:pos x="T0" y="T1"/>
                </a:cxn>
                <a:cxn ang="T11">
                  <a:pos x="T2" y="T3"/>
                </a:cxn>
                <a:cxn ang="T12">
                  <a:pos x="T4" y="T5"/>
                </a:cxn>
                <a:cxn ang="T13">
                  <a:pos x="T6" y="T7"/>
                </a:cxn>
                <a:cxn ang="T14">
                  <a:pos x="T8" y="T9"/>
                </a:cxn>
              </a:cxnLst>
              <a:rect l="T15" t="T16" r="T17" b="T18"/>
              <a:pathLst>
                <a:path w="122" h="59">
                  <a:moveTo>
                    <a:pt x="121" y="7"/>
                  </a:moveTo>
                  <a:lnTo>
                    <a:pt x="118" y="0"/>
                  </a:lnTo>
                  <a:lnTo>
                    <a:pt x="0" y="51"/>
                  </a:lnTo>
                  <a:lnTo>
                    <a:pt x="1" y="58"/>
                  </a:lnTo>
                  <a:lnTo>
                    <a:pt x="121"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3" name="Freeform 26">
              <a:extLst>
                <a:ext uri="{FF2B5EF4-FFF2-40B4-BE49-F238E27FC236}">
                  <a16:creationId xmlns:a16="http://schemas.microsoft.com/office/drawing/2014/main" id="{47B3F4A5-3C60-79EE-D7AC-EE005BED11F7}"/>
                </a:ext>
              </a:extLst>
            </p:cNvPr>
            <p:cNvSpPr>
              <a:spLocks/>
            </p:cNvSpPr>
            <p:nvPr/>
          </p:nvSpPr>
          <p:spPr bwMode="auto">
            <a:xfrm>
              <a:off x="242" y="4412"/>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4" name="Freeform 27">
              <a:extLst>
                <a:ext uri="{FF2B5EF4-FFF2-40B4-BE49-F238E27FC236}">
                  <a16:creationId xmlns:a16="http://schemas.microsoft.com/office/drawing/2014/main" id="{4935986B-0911-B0D5-5835-0F6700661D98}"/>
                </a:ext>
              </a:extLst>
            </p:cNvPr>
            <p:cNvSpPr>
              <a:spLocks/>
            </p:cNvSpPr>
            <p:nvPr/>
          </p:nvSpPr>
          <p:spPr bwMode="auto">
            <a:xfrm>
              <a:off x="132" y="4458"/>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5" name="Freeform 28">
              <a:extLst>
                <a:ext uri="{FF2B5EF4-FFF2-40B4-BE49-F238E27FC236}">
                  <a16:creationId xmlns:a16="http://schemas.microsoft.com/office/drawing/2014/main" id="{411C2CDE-98CE-5730-F7C7-0CB93C1AC93D}"/>
                </a:ext>
              </a:extLst>
            </p:cNvPr>
            <p:cNvSpPr>
              <a:spLocks/>
            </p:cNvSpPr>
            <p:nvPr/>
          </p:nvSpPr>
          <p:spPr bwMode="auto">
            <a:xfrm>
              <a:off x="111" y="4449"/>
              <a:ext cx="58" cy="116"/>
            </a:xfrm>
            <a:custGeom>
              <a:avLst/>
              <a:gdLst>
                <a:gd name="T0" fmla="*/ 50 w 58"/>
                <a:gd name="T1" fmla="*/ 115 h 116"/>
                <a:gd name="T2" fmla="*/ 57 w 58"/>
                <a:gd name="T3" fmla="*/ 112 h 116"/>
                <a:gd name="T4" fmla="*/ 5 w 58"/>
                <a:gd name="T5" fmla="*/ 0 h 116"/>
                <a:gd name="T6" fmla="*/ 0 w 58"/>
                <a:gd name="T7" fmla="*/ 2 h 116"/>
                <a:gd name="T8" fmla="*/ 50 w 58"/>
                <a:gd name="T9" fmla="*/ 115 h 116"/>
                <a:gd name="T10" fmla="*/ 0 60000 65536"/>
                <a:gd name="T11" fmla="*/ 0 60000 65536"/>
                <a:gd name="T12" fmla="*/ 0 60000 65536"/>
                <a:gd name="T13" fmla="*/ 0 60000 65536"/>
                <a:gd name="T14" fmla="*/ 0 60000 65536"/>
                <a:gd name="T15" fmla="*/ 0 w 58"/>
                <a:gd name="T16" fmla="*/ 0 h 116"/>
                <a:gd name="T17" fmla="*/ 58 w 58"/>
                <a:gd name="T18" fmla="*/ 116 h 116"/>
              </a:gdLst>
              <a:ahLst/>
              <a:cxnLst>
                <a:cxn ang="T10">
                  <a:pos x="T0" y="T1"/>
                </a:cxn>
                <a:cxn ang="T11">
                  <a:pos x="T2" y="T3"/>
                </a:cxn>
                <a:cxn ang="T12">
                  <a:pos x="T4" y="T5"/>
                </a:cxn>
                <a:cxn ang="T13">
                  <a:pos x="T6" y="T7"/>
                </a:cxn>
                <a:cxn ang="T14">
                  <a:pos x="T8" y="T9"/>
                </a:cxn>
              </a:cxnLst>
              <a:rect l="T15" t="T16" r="T17" b="T18"/>
              <a:pathLst>
                <a:path w="58" h="116">
                  <a:moveTo>
                    <a:pt x="50" y="115"/>
                  </a:moveTo>
                  <a:lnTo>
                    <a:pt x="57" y="112"/>
                  </a:lnTo>
                  <a:lnTo>
                    <a:pt x="5" y="0"/>
                  </a:lnTo>
                  <a:lnTo>
                    <a:pt x="0" y="2"/>
                  </a:lnTo>
                  <a:lnTo>
                    <a:pt x="50" y="11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6" name="Freeform 29">
              <a:extLst>
                <a:ext uri="{FF2B5EF4-FFF2-40B4-BE49-F238E27FC236}">
                  <a16:creationId xmlns:a16="http://schemas.microsoft.com/office/drawing/2014/main" id="{8F0547A5-F497-715E-B604-D043B63F94E7}"/>
                </a:ext>
              </a:extLst>
            </p:cNvPr>
            <p:cNvSpPr>
              <a:spLocks/>
            </p:cNvSpPr>
            <p:nvPr/>
          </p:nvSpPr>
          <p:spPr bwMode="auto">
            <a:xfrm>
              <a:off x="114" y="4449"/>
              <a:ext cx="28" cy="18"/>
            </a:xfrm>
            <a:custGeom>
              <a:avLst/>
              <a:gdLst>
                <a:gd name="T0" fmla="*/ 23 w 28"/>
                <a:gd name="T1" fmla="*/ 17 h 18"/>
                <a:gd name="T2" fmla="*/ 27 w 28"/>
                <a:gd name="T3" fmla="*/ 10 h 18"/>
                <a:gd name="T4" fmla="*/ 4 w 28"/>
                <a:gd name="T5" fmla="*/ 0 h 18"/>
                <a:gd name="T6" fmla="*/ 0 w 28"/>
                <a:gd name="T7" fmla="*/ 6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6"/>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27667" name="Freeform 30">
              <a:extLst>
                <a:ext uri="{FF2B5EF4-FFF2-40B4-BE49-F238E27FC236}">
                  <a16:creationId xmlns:a16="http://schemas.microsoft.com/office/drawing/2014/main" id="{FCF5A8D3-3BC9-383D-AA0D-0C5562BDAA74}"/>
                </a:ext>
              </a:extLst>
            </p:cNvPr>
            <p:cNvSpPr>
              <a:spLocks/>
            </p:cNvSpPr>
            <p:nvPr/>
          </p:nvSpPr>
          <p:spPr bwMode="auto">
            <a:xfrm>
              <a:off x="221" y="4405"/>
              <a:ext cx="28" cy="18"/>
            </a:xfrm>
            <a:custGeom>
              <a:avLst/>
              <a:gdLst>
                <a:gd name="T0" fmla="*/ 23 w 28"/>
                <a:gd name="T1" fmla="*/ 17 h 18"/>
                <a:gd name="T2" fmla="*/ 27 w 28"/>
                <a:gd name="T3" fmla="*/ 10 h 18"/>
                <a:gd name="T4" fmla="*/ 4 w 28"/>
                <a:gd name="T5" fmla="*/ 0 h 18"/>
                <a:gd name="T6" fmla="*/ 0 w 28"/>
                <a:gd name="T7" fmla="*/ 5 h 18"/>
                <a:gd name="T8" fmla="*/ 23 w 28"/>
                <a:gd name="T9" fmla="*/ 17 h 18"/>
                <a:gd name="T10" fmla="*/ 0 60000 65536"/>
                <a:gd name="T11" fmla="*/ 0 60000 65536"/>
                <a:gd name="T12" fmla="*/ 0 60000 65536"/>
                <a:gd name="T13" fmla="*/ 0 60000 65536"/>
                <a:gd name="T14" fmla="*/ 0 60000 65536"/>
                <a:gd name="T15" fmla="*/ 0 w 28"/>
                <a:gd name="T16" fmla="*/ 0 h 18"/>
                <a:gd name="T17" fmla="*/ 28 w 28"/>
                <a:gd name="T18" fmla="*/ 18 h 18"/>
              </a:gdLst>
              <a:ahLst/>
              <a:cxnLst>
                <a:cxn ang="T10">
                  <a:pos x="T0" y="T1"/>
                </a:cxn>
                <a:cxn ang="T11">
                  <a:pos x="T2" y="T3"/>
                </a:cxn>
                <a:cxn ang="T12">
                  <a:pos x="T4" y="T5"/>
                </a:cxn>
                <a:cxn ang="T13">
                  <a:pos x="T6" y="T7"/>
                </a:cxn>
                <a:cxn ang="T14">
                  <a:pos x="T8" y="T9"/>
                </a:cxn>
              </a:cxnLst>
              <a:rect l="T15" t="T16" r="T17" b="T18"/>
              <a:pathLst>
                <a:path w="28" h="18">
                  <a:moveTo>
                    <a:pt x="23" y="17"/>
                  </a:moveTo>
                  <a:lnTo>
                    <a:pt x="27" y="10"/>
                  </a:lnTo>
                  <a:lnTo>
                    <a:pt x="4" y="0"/>
                  </a:lnTo>
                  <a:lnTo>
                    <a:pt x="0" y="5"/>
                  </a:lnTo>
                  <a:lnTo>
                    <a:pt x="23" y="1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D6052-E23D-A42A-2877-D5E5FC05AC21}"/>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C65E0C52-FFD6-4DA9-F88A-45BF631E6AE3}"/>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19459" name="Rectangle 3">
            <a:extLst>
              <a:ext uri="{FF2B5EF4-FFF2-40B4-BE49-F238E27FC236}">
                <a16:creationId xmlns:a16="http://schemas.microsoft.com/office/drawing/2014/main" id="{2088D7DF-F854-CE84-4DC0-B1C15B533204}"/>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tabLst>
                <a:tab pos="1257300" algn="l"/>
              </a:tabLst>
            </a:pPr>
            <a:r>
              <a:rPr lang="en-US" altLang="en-US">
                <a:latin typeface="Arial" panose="020B0604020202020204" pitchFamily="34" charset="0"/>
              </a:rPr>
              <a:t>Inserting Special Values by Using SQL Functions</a:t>
            </a:r>
          </a:p>
          <a:p>
            <a:pPr marL="114300" lvl="1" defTabSz="382588">
              <a:tabLst>
                <a:tab pos="1257300" algn="l"/>
              </a:tabLst>
            </a:pPr>
            <a:r>
              <a:rPr lang="en-US" altLang="en-US">
                <a:latin typeface="Arial" panose="020B0604020202020204" pitchFamily="34" charset="0"/>
              </a:rPr>
              <a:t>You can use pseudocolumns to enter special values in your table. </a:t>
            </a:r>
          </a:p>
          <a:p>
            <a:pPr marL="114300" lvl="1" defTabSz="382588">
              <a:tabLst>
                <a:tab pos="1257300" algn="l"/>
              </a:tabLst>
            </a:pPr>
            <a:r>
              <a:rPr lang="en-US" altLang="en-US">
                <a:latin typeface="Arial" panose="020B0604020202020204" pitchFamily="34" charset="0"/>
              </a:rPr>
              <a:t>The slide example records information for employee Green in the EMP table. It supplies the current date and time in the HIREDATE column. It uses the SYSDATE function for current date and time. </a:t>
            </a:r>
          </a:p>
          <a:p>
            <a:pPr marL="114300" lvl="1" defTabSz="382588">
              <a:tabLst>
                <a:tab pos="1257300" algn="l"/>
              </a:tabLst>
            </a:pPr>
            <a:r>
              <a:rPr lang="en-US" altLang="en-US">
                <a:latin typeface="Arial" panose="020B0604020202020204" pitchFamily="34" charset="0"/>
              </a:rPr>
              <a:t>You can also use the USER function when inserting rows in a table. The USER function records the current username.</a:t>
            </a:r>
          </a:p>
          <a:p>
            <a:pPr defTabSz="382588">
              <a:tabLst>
                <a:tab pos="1257300" algn="l"/>
              </a:tabLst>
            </a:pPr>
            <a:r>
              <a:rPr lang="en-US" altLang="en-US">
                <a:latin typeface="Arial" panose="020B0604020202020204" pitchFamily="34" charset="0"/>
              </a:rPr>
              <a:t>Confirming Additions to the Table</a:t>
            </a:r>
          </a:p>
          <a:p>
            <a:pPr defTabSz="382588">
              <a:spcBef>
                <a:spcPct val="65000"/>
              </a:spcBef>
              <a:tabLst>
                <a:tab pos="1257300" algn="l"/>
              </a:tabLst>
            </a:pPr>
            <a:r>
              <a:rPr lang="en-US" altLang="en-US">
                <a:latin typeface="Arial" panose="020B0604020202020204" pitchFamily="34" charset="0"/>
              </a:rPr>
              <a:t>      </a:t>
            </a:r>
            <a:r>
              <a:rPr lang="en-US" altLang="en-US">
                <a:latin typeface="Courier New" panose="02070309020205020404" pitchFamily="49" charset="0"/>
              </a:rPr>
              <a:t>SQL&gt; SELECT  empno, ename, job, hiredate, comm</a:t>
            </a:r>
          </a:p>
          <a:p>
            <a:pPr defTabSz="382588">
              <a:spcBef>
                <a:spcPct val="0"/>
              </a:spcBef>
              <a:tabLst>
                <a:tab pos="1257300" algn="l"/>
              </a:tabLst>
            </a:pPr>
            <a:r>
              <a:rPr lang="en-US" altLang="en-US">
                <a:latin typeface="Courier New" panose="02070309020205020404" pitchFamily="49" charset="0"/>
              </a:rPr>
              <a:t>     2  FROM   	emp</a:t>
            </a:r>
          </a:p>
          <a:p>
            <a:pPr defTabSz="382588">
              <a:spcBef>
                <a:spcPct val="0"/>
              </a:spcBef>
              <a:tabLst>
                <a:tab pos="1257300" algn="l"/>
              </a:tabLst>
            </a:pPr>
            <a:r>
              <a:rPr lang="en-US" altLang="en-US">
                <a:latin typeface="Courier New" panose="02070309020205020404" pitchFamily="49" charset="0"/>
              </a:rPr>
              <a:t>     3  WHERE  	empno = 7196;</a:t>
            </a:r>
          </a:p>
        </p:txBody>
      </p:sp>
      <p:sp>
        <p:nvSpPr>
          <p:cNvPr id="19460" name="Rectangle 4">
            <a:extLst>
              <a:ext uri="{FF2B5EF4-FFF2-40B4-BE49-F238E27FC236}">
                <a16:creationId xmlns:a16="http://schemas.microsoft.com/office/drawing/2014/main" id="{FA6114B6-470E-42B6-8D81-2F5F805D36C4}"/>
              </a:ext>
            </a:extLst>
          </p:cNvPr>
          <p:cNvSpPr>
            <a:spLocks noChangeArrowheads="1"/>
          </p:cNvSpPr>
          <p:nvPr/>
        </p:nvSpPr>
        <p:spPr bwMode="auto">
          <a:xfrm>
            <a:off x="622300" y="6362700"/>
            <a:ext cx="5572125" cy="6064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61" name="Rectangle 5">
            <a:extLst>
              <a:ext uri="{FF2B5EF4-FFF2-40B4-BE49-F238E27FC236}">
                <a16:creationId xmlns:a16="http://schemas.microsoft.com/office/drawing/2014/main" id="{2A242585-F9B0-F1B6-E814-1A800478BC45}"/>
              </a:ext>
            </a:extLst>
          </p:cNvPr>
          <p:cNvSpPr>
            <a:spLocks noChangeArrowheads="1"/>
          </p:cNvSpPr>
          <p:nvPr/>
        </p:nvSpPr>
        <p:spPr bwMode="auto">
          <a:xfrm>
            <a:off x="622300" y="7075488"/>
            <a:ext cx="5570538" cy="8239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19462" name="Rectangle 6">
            <a:extLst>
              <a:ext uri="{FF2B5EF4-FFF2-40B4-BE49-F238E27FC236}">
                <a16:creationId xmlns:a16="http://schemas.microsoft.com/office/drawing/2014/main" id="{E58832C2-364E-F308-F97D-19ED6DA2B1C5}"/>
              </a:ext>
            </a:extLst>
          </p:cNvPr>
          <p:cNvSpPr>
            <a:spLocks noChangeArrowheads="1"/>
          </p:cNvSpPr>
          <p:nvPr/>
        </p:nvSpPr>
        <p:spPr bwMode="auto">
          <a:xfrm>
            <a:off x="600075" y="6938963"/>
            <a:ext cx="43942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2600" b="1">
                <a:solidFill>
                  <a:schemeClr val="bg2"/>
                </a:solidFill>
                <a:latin typeface="Arial Narrow" panose="020B0606020202030204" pitchFamily="34" charset="0"/>
              </a:rPr>
              <a:t>    </a:t>
            </a:r>
            <a:r>
              <a:rPr lang="en-US" altLang="en-US" sz="1100">
                <a:latin typeface="Courier New" panose="02070309020205020404" pitchFamily="49" charset="0"/>
              </a:rPr>
              <a:t>EMPNO ENAME      JOB       HIREDATE       COMM</a:t>
            </a:r>
          </a:p>
          <a:p>
            <a:pPr>
              <a:spcBef>
                <a:spcPct val="0"/>
              </a:spcBef>
            </a:pPr>
            <a:r>
              <a:rPr lang="en-US" altLang="en-US" sz="1100">
                <a:latin typeface="Courier New" panose="02070309020205020404" pitchFamily="49" charset="0"/>
              </a:rPr>
              <a:t>--------- ---------- --------- --------- ---------</a:t>
            </a:r>
          </a:p>
          <a:p>
            <a:pPr>
              <a:spcBef>
                <a:spcPct val="0"/>
              </a:spcBef>
            </a:pPr>
            <a:r>
              <a:rPr lang="en-US" altLang="en-US" sz="1100">
                <a:latin typeface="Courier New" panose="02070309020205020404" pitchFamily="49" charset="0"/>
              </a:rPr>
              <a:t>     7196 GREEN      SALESMAN  01-DEC-97</a:t>
            </a:r>
          </a:p>
        </p:txBody>
      </p:sp>
    </p:spTree>
    <p:extLst>
      <p:ext uri="{BB962C8B-B14F-4D97-AF65-F5344CB8AC3E}">
        <p14:creationId xmlns:p14="http://schemas.microsoft.com/office/powerpoint/2010/main" val="1254732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0BF4C75-D317-61E5-8D80-956E795AD35D}"/>
              </a:ext>
            </a:extLst>
          </p:cNvPr>
          <p:cNvSpPr>
            <a:spLocks noChangeArrowheads="1"/>
          </p:cNvSpPr>
          <p:nvPr/>
        </p:nvSpPr>
        <p:spPr bwMode="auto">
          <a:xfrm>
            <a:off x="3884613" y="-1588"/>
            <a:ext cx="2973387"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9699" name="Rectangle 3">
            <a:extLst>
              <a:ext uri="{FF2B5EF4-FFF2-40B4-BE49-F238E27FC236}">
                <a16:creationId xmlns:a16="http://schemas.microsoft.com/office/drawing/2014/main" id="{C56C98D7-8D0F-7D31-AA17-85C6C8B99818}"/>
              </a:ext>
            </a:extLst>
          </p:cNvPr>
          <p:cNvSpPr>
            <a:spLocks noChangeArrowheads="1"/>
          </p:cNvSpPr>
          <p:nvPr/>
        </p:nvSpPr>
        <p:spPr bwMode="auto">
          <a:xfrm>
            <a:off x="-1588" y="-1588"/>
            <a:ext cx="2970213"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29700" name="Rectangle 4">
            <a:extLst>
              <a:ext uri="{FF2B5EF4-FFF2-40B4-BE49-F238E27FC236}">
                <a16:creationId xmlns:a16="http://schemas.microsoft.com/office/drawing/2014/main" id="{E64032FC-D1D0-0D08-A82C-90E4EDE1E90D}"/>
              </a:ext>
            </a:extLst>
          </p:cNvPr>
          <p:cNvSpPr>
            <a:spLocks noGrp="1" noChangeArrowheads="1"/>
          </p:cNvSpPr>
          <p:nvPr>
            <p:ph type="body" idx="1"/>
          </p:nvPr>
        </p:nvSpPr>
        <p:spPr>
          <a:xfrm>
            <a:off x="430213" y="4849813"/>
            <a:ext cx="5935662"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446088">
              <a:tabLst>
                <a:tab pos="434975" algn="l"/>
              </a:tabLst>
            </a:pPr>
            <a:r>
              <a:rPr lang="en-US" altLang="en-US">
                <a:latin typeface="Arial" panose="020B0604020202020204" pitchFamily="34" charset="0"/>
              </a:rPr>
              <a:t>Changing Data in a Table</a:t>
            </a:r>
          </a:p>
          <a:p>
            <a:pPr marL="114300" lvl="1" defTabSz="446088">
              <a:tabLst>
                <a:tab pos="434975" algn="l"/>
              </a:tabLst>
            </a:pPr>
            <a:r>
              <a:rPr lang="en-US" altLang="en-US">
                <a:latin typeface="Arial" panose="020B0604020202020204" pitchFamily="34" charset="0"/>
              </a:rPr>
              <a:t>The slide graphic changes the department number for Clark from 10 to 20.</a:t>
            </a: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a:p>
            <a:pPr defTabSz="446088">
              <a:tabLst>
                <a:tab pos="434975" algn="l"/>
              </a:tabLst>
            </a:pPr>
            <a:endParaRPr lang="en-US" altLang="en-US">
              <a:solidFill>
                <a:schemeClr val="accent1"/>
              </a:solidFill>
              <a:latin typeface="Arial" panose="020B0604020202020204" pitchFamily="34" charset="0"/>
            </a:endParaRPr>
          </a:p>
        </p:txBody>
      </p:sp>
      <p:sp>
        <p:nvSpPr>
          <p:cNvPr id="29701" name="Rectangle 5">
            <a:extLst>
              <a:ext uri="{FF2B5EF4-FFF2-40B4-BE49-F238E27FC236}">
                <a16:creationId xmlns:a16="http://schemas.microsoft.com/office/drawing/2014/main" id="{6C162385-4AB0-927B-E8FD-54B7F230ADF5}"/>
              </a:ext>
            </a:extLst>
          </p:cNvPr>
          <p:cNvSpPr>
            <a:spLocks noGrp="1" noRot="1" noChangeArrowheads="1" noTextEdit="1"/>
          </p:cNvSpPr>
          <p:nvPr>
            <p:ph type="sldImg"/>
          </p:nvPr>
        </p:nvSpPr>
        <p:spPr>
          <a:xfrm>
            <a:off x="411163" y="176213"/>
            <a:ext cx="6030912" cy="4522787"/>
          </a:xfrm>
          <a:ln w="12700" cap="flat">
            <a:solidFill>
              <a:schemeClr val="tx1"/>
            </a:solid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1BD612D9-64E3-EDF4-564E-0C078DD8CF9B}"/>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Updating Rows</a:t>
            </a:r>
          </a:p>
          <a:p>
            <a:pPr marL="114300" lvl="1" defTabSz="382588"/>
            <a:r>
              <a:rPr lang="en-US" altLang="en-US">
                <a:latin typeface="Arial" panose="020B0604020202020204" pitchFamily="34" charset="0"/>
              </a:rPr>
              <a:t>You can modify existing rows by using the </a:t>
            </a:r>
            <a:r>
              <a:rPr lang="en-US" altLang="en-US">
                <a:solidFill>
                  <a:srgbClr val="FC0128"/>
                </a:solidFill>
                <a:latin typeface="Arial" panose="020B0604020202020204" pitchFamily="34" charset="0"/>
              </a:rPr>
              <a:t>UPDATE </a:t>
            </a:r>
            <a:r>
              <a:rPr lang="en-US" altLang="en-US">
                <a:latin typeface="Arial" panose="020B0604020202020204" pitchFamily="34" charset="0"/>
              </a:rPr>
              <a:t>statement.</a:t>
            </a:r>
          </a:p>
          <a:p>
            <a:pPr marL="114300" lvl="1" defTabSz="382588"/>
            <a:r>
              <a:rPr lang="en-US" altLang="en-US">
                <a:latin typeface="Arial" panose="020B0604020202020204" pitchFamily="34" charset="0"/>
              </a:rPr>
              <a:t>In the above syntax:</a:t>
            </a:r>
          </a:p>
          <a:p>
            <a:pPr marL="114300" lvl="1" defTabSz="382588"/>
            <a:r>
              <a:rPr lang="en-US" altLang="en-US">
                <a:latin typeface="Arial" panose="020B0604020202020204" pitchFamily="34" charset="0"/>
              </a:rPr>
              <a:t>	</a:t>
            </a:r>
            <a:r>
              <a:rPr lang="en-US" altLang="en-US" i="1">
                <a:latin typeface="Arial" panose="020B0604020202020204" pitchFamily="34" charset="0"/>
              </a:rPr>
              <a:t>table</a:t>
            </a:r>
            <a:r>
              <a:rPr lang="en-US" altLang="en-US">
                <a:latin typeface="Arial" panose="020B0604020202020204" pitchFamily="34" charset="0"/>
              </a:rPr>
              <a:t>			is the name of the table</a:t>
            </a:r>
          </a:p>
          <a:p>
            <a:pPr marL="114300" lvl="1" defTabSz="382588"/>
            <a:r>
              <a:rPr lang="en-US" altLang="en-US">
                <a:latin typeface="Arial" panose="020B0604020202020204" pitchFamily="34" charset="0"/>
              </a:rPr>
              <a:t>	</a:t>
            </a:r>
            <a:r>
              <a:rPr lang="en-US" altLang="en-US" i="1">
                <a:latin typeface="Arial" panose="020B0604020202020204" pitchFamily="34" charset="0"/>
              </a:rPr>
              <a:t>column</a:t>
            </a:r>
            <a:r>
              <a:rPr lang="en-US" altLang="en-US">
                <a:latin typeface="Arial" panose="020B0604020202020204" pitchFamily="34" charset="0"/>
              </a:rPr>
              <a:t>		is the name of the column in the table to populate</a:t>
            </a:r>
          </a:p>
          <a:p>
            <a:pPr marL="114300" lvl="1" defTabSz="382588"/>
            <a:r>
              <a:rPr lang="en-US" altLang="en-US">
                <a:latin typeface="Arial" panose="020B0604020202020204" pitchFamily="34" charset="0"/>
              </a:rPr>
              <a:t>	</a:t>
            </a:r>
            <a:r>
              <a:rPr lang="en-US" altLang="en-US" i="1">
                <a:latin typeface="Arial" panose="020B0604020202020204" pitchFamily="34" charset="0"/>
              </a:rPr>
              <a:t>value</a:t>
            </a:r>
            <a:r>
              <a:rPr lang="en-US" altLang="en-US">
                <a:latin typeface="Arial" panose="020B0604020202020204" pitchFamily="34" charset="0"/>
              </a:rPr>
              <a:t>			is the corresponding value or subquery for the column</a:t>
            </a:r>
          </a:p>
          <a:p>
            <a:pPr marL="114300" lvl="1" defTabSz="382588"/>
            <a:r>
              <a:rPr lang="en-US" altLang="en-US">
                <a:latin typeface="Arial" panose="020B0604020202020204" pitchFamily="34" charset="0"/>
              </a:rPr>
              <a:t>	</a:t>
            </a:r>
            <a:r>
              <a:rPr lang="en-US" altLang="en-US" i="1">
                <a:latin typeface="Arial" panose="020B0604020202020204" pitchFamily="34" charset="0"/>
              </a:rPr>
              <a:t>condition</a:t>
            </a:r>
            <a:r>
              <a:rPr lang="en-US" altLang="en-US">
                <a:latin typeface="Arial" panose="020B0604020202020204" pitchFamily="34" charset="0"/>
              </a:rPr>
              <a:t>		identifies the rows to be updated and is composed of column names 						expressions, constants, subqueries, and comparison operators</a:t>
            </a:r>
          </a:p>
          <a:p>
            <a:pPr marL="114300" lvl="1" defTabSz="382588"/>
            <a:r>
              <a:rPr lang="en-US" altLang="en-US">
                <a:latin typeface="Arial" panose="020B0604020202020204" pitchFamily="34" charset="0"/>
              </a:rPr>
              <a:t>Confirm the update operation by querying the table to display the updated rows.</a:t>
            </a:r>
            <a:endParaRPr lang="en-US" altLang="en-US" i="1">
              <a:latin typeface="Arial" panose="020B0604020202020204" pitchFamily="34" charset="0"/>
            </a:endParaRPr>
          </a:p>
          <a:p>
            <a:pPr marL="114300" lvl="1" defTabSz="38258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 “UPDATE.”</a:t>
            </a:r>
          </a:p>
          <a:p>
            <a:pPr marL="114300" lvl="1" defTabSz="382588"/>
            <a:r>
              <a:rPr lang="en-US" altLang="en-US" b="1">
                <a:latin typeface="Arial" panose="020B0604020202020204" pitchFamily="34" charset="0"/>
              </a:rPr>
              <a:t>Note:</a:t>
            </a:r>
            <a:r>
              <a:rPr lang="en-US" altLang="en-US">
                <a:latin typeface="Arial" panose="020B0604020202020204" pitchFamily="34" charset="0"/>
              </a:rPr>
              <a:t> In general, use the primary key to identify a single row. Using other columns may unexpectedly cause several rows to be updated. For example, identifying a single row in the EMP table by name is dangerous because more than one employee may have the same name.</a:t>
            </a:r>
          </a:p>
          <a:p>
            <a:pPr marL="114300" lvl="1" defTabSz="382588"/>
            <a:endParaRPr lang="en-US" altLang="en-US">
              <a:latin typeface="Arial" panose="020B0604020202020204" pitchFamily="34" charset="0"/>
            </a:endParaRPr>
          </a:p>
          <a:p>
            <a:pPr defTabSz="382588"/>
            <a:r>
              <a:rPr lang="en-US" altLang="en-US">
                <a:solidFill>
                  <a:schemeClr val="accent2"/>
                </a:solidFill>
                <a:latin typeface="Arial" panose="020B0604020202020204" pitchFamily="34" charset="0"/>
              </a:rPr>
              <a:t>Class Management Note</a:t>
            </a:r>
          </a:p>
          <a:p>
            <a:pPr marL="114300" lvl="1" defTabSz="382588"/>
            <a:r>
              <a:rPr lang="en-US" altLang="en-US">
                <a:solidFill>
                  <a:schemeClr val="accent2"/>
                </a:solidFill>
                <a:latin typeface="Arial" panose="020B0604020202020204" pitchFamily="34" charset="0"/>
              </a:rPr>
              <a:t>Demo: </a:t>
            </a:r>
            <a:r>
              <a:rPr lang="en-US" altLang="en-US" i="1">
                <a:solidFill>
                  <a:schemeClr val="accent2"/>
                </a:solidFill>
                <a:latin typeface="Arial" panose="020B0604020202020204" pitchFamily="34" charset="0"/>
              </a:rPr>
              <a:t>l9sel.sql, l9upd.sql</a:t>
            </a:r>
          </a:p>
          <a:p>
            <a:pPr marL="114300" lvl="1" defTabSz="382588"/>
            <a:r>
              <a:rPr lang="en-US" altLang="en-US">
                <a:solidFill>
                  <a:schemeClr val="accent2"/>
                </a:solidFill>
                <a:latin typeface="Arial" panose="020B0604020202020204" pitchFamily="34" charset="0"/>
              </a:rPr>
              <a:t>Purpose: To illustrate displaying the initial state of data, performing updates, and viewing results.</a:t>
            </a:r>
          </a:p>
        </p:txBody>
      </p:sp>
      <p:sp>
        <p:nvSpPr>
          <p:cNvPr id="31747" name="Rectangle 3">
            <a:extLst>
              <a:ext uri="{FF2B5EF4-FFF2-40B4-BE49-F238E27FC236}">
                <a16:creationId xmlns:a16="http://schemas.microsoft.com/office/drawing/2014/main" id="{E7E44CC7-8D9C-8784-D908-6EED45C4458B}"/>
              </a:ext>
            </a:extLst>
          </p:cNvPr>
          <p:cNvSpPr>
            <a:spLocks noGrp="1" noRot="1" noChangeArrowheads="1" noTextEdit="1"/>
          </p:cNvSpPr>
          <p:nvPr>
            <p:ph type="sldImg"/>
          </p:nvPr>
        </p:nvSpPr>
        <p:spPr>
          <a:xfrm>
            <a:off x="441325" y="165100"/>
            <a:ext cx="5970588" cy="4478338"/>
          </a:xfrm>
          <a:ln w="12700" cap="flat">
            <a:solidFill>
              <a:schemeClr val="tx1"/>
            </a:solidFill>
          </a:ln>
        </p:spPr>
      </p:sp>
      <p:grpSp>
        <p:nvGrpSpPr>
          <p:cNvPr id="31748" name="Group 4">
            <a:extLst>
              <a:ext uri="{FF2B5EF4-FFF2-40B4-BE49-F238E27FC236}">
                <a16:creationId xmlns:a16="http://schemas.microsoft.com/office/drawing/2014/main" id="{52E36DF2-9903-9362-4E24-449B455A8271}"/>
              </a:ext>
            </a:extLst>
          </p:cNvPr>
          <p:cNvGrpSpPr>
            <a:grpSpLocks/>
          </p:cNvGrpSpPr>
          <p:nvPr/>
        </p:nvGrpSpPr>
        <p:grpSpPr bwMode="auto">
          <a:xfrm>
            <a:off x="150813" y="6870700"/>
            <a:ext cx="298450" cy="298450"/>
            <a:chOff x="94" y="4250"/>
            <a:chExt cx="187" cy="184"/>
          </a:xfrm>
        </p:grpSpPr>
        <p:sp>
          <p:nvSpPr>
            <p:cNvPr id="31749" name="Freeform 5">
              <a:extLst>
                <a:ext uri="{FF2B5EF4-FFF2-40B4-BE49-F238E27FC236}">
                  <a16:creationId xmlns:a16="http://schemas.microsoft.com/office/drawing/2014/main" id="{A5F9B652-0BD8-35E0-B404-8628594449FC}"/>
                </a:ext>
              </a:extLst>
            </p:cNvPr>
            <p:cNvSpPr>
              <a:spLocks/>
            </p:cNvSpPr>
            <p:nvPr/>
          </p:nvSpPr>
          <p:spPr bwMode="auto">
            <a:xfrm>
              <a:off x="94" y="4250"/>
              <a:ext cx="179" cy="176"/>
            </a:xfrm>
            <a:custGeom>
              <a:avLst/>
              <a:gdLst>
                <a:gd name="T0" fmla="*/ 178 w 179"/>
                <a:gd name="T1" fmla="*/ 175 h 176"/>
                <a:gd name="T2" fmla="*/ 178 w 179"/>
                <a:gd name="T3" fmla="*/ 0 h 176"/>
                <a:gd name="T4" fmla="*/ 0 w 179"/>
                <a:gd name="T5" fmla="*/ 0 h 176"/>
                <a:gd name="T6" fmla="*/ 0 w 179"/>
                <a:gd name="T7" fmla="*/ 175 h 176"/>
                <a:gd name="T8" fmla="*/ 178 w 179"/>
                <a:gd name="T9" fmla="*/ 175 h 176"/>
                <a:gd name="T10" fmla="*/ 0 60000 65536"/>
                <a:gd name="T11" fmla="*/ 0 60000 65536"/>
                <a:gd name="T12" fmla="*/ 0 60000 65536"/>
                <a:gd name="T13" fmla="*/ 0 60000 65536"/>
                <a:gd name="T14" fmla="*/ 0 60000 65536"/>
                <a:gd name="T15" fmla="*/ 0 w 179"/>
                <a:gd name="T16" fmla="*/ 0 h 176"/>
                <a:gd name="T17" fmla="*/ 179 w 179"/>
                <a:gd name="T18" fmla="*/ 176 h 176"/>
              </a:gdLst>
              <a:ahLst/>
              <a:cxnLst>
                <a:cxn ang="T10">
                  <a:pos x="T0" y="T1"/>
                </a:cxn>
                <a:cxn ang="T11">
                  <a:pos x="T2" y="T3"/>
                </a:cxn>
                <a:cxn ang="T12">
                  <a:pos x="T4" y="T5"/>
                </a:cxn>
                <a:cxn ang="T13">
                  <a:pos x="T6" y="T7"/>
                </a:cxn>
                <a:cxn ang="T14">
                  <a:pos x="T8" y="T9"/>
                </a:cxn>
              </a:cxnLst>
              <a:rect l="T15" t="T16" r="T17" b="T18"/>
              <a:pathLst>
                <a:path w="179" h="176">
                  <a:moveTo>
                    <a:pt x="178" y="175"/>
                  </a:moveTo>
                  <a:lnTo>
                    <a:pt x="178" y="0"/>
                  </a:lnTo>
                  <a:lnTo>
                    <a:pt x="0" y="0"/>
                  </a:lnTo>
                  <a:lnTo>
                    <a:pt x="0" y="175"/>
                  </a:lnTo>
                  <a:lnTo>
                    <a:pt x="178"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0" name="Freeform 6">
              <a:extLst>
                <a:ext uri="{FF2B5EF4-FFF2-40B4-BE49-F238E27FC236}">
                  <a16:creationId xmlns:a16="http://schemas.microsoft.com/office/drawing/2014/main" id="{A61BC2BF-20B9-0BE8-DCAB-151EBEB32E53}"/>
                </a:ext>
              </a:extLst>
            </p:cNvPr>
            <p:cNvSpPr>
              <a:spLocks/>
            </p:cNvSpPr>
            <p:nvPr/>
          </p:nvSpPr>
          <p:spPr bwMode="auto">
            <a:xfrm>
              <a:off x="157" y="4316"/>
              <a:ext cx="69" cy="36"/>
            </a:xfrm>
            <a:custGeom>
              <a:avLst/>
              <a:gdLst>
                <a:gd name="T0" fmla="*/ 68 w 69"/>
                <a:gd name="T1" fmla="*/ 6 h 36"/>
                <a:gd name="T2" fmla="*/ 65 w 69"/>
                <a:gd name="T3" fmla="*/ 0 h 36"/>
                <a:gd name="T4" fmla="*/ 0 w 69"/>
                <a:gd name="T5" fmla="*/ 28 h 36"/>
                <a:gd name="T6" fmla="*/ 3 w 69"/>
                <a:gd name="T7" fmla="*/ 35 h 36"/>
                <a:gd name="T8" fmla="*/ 68 w 69"/>
                <a:gd name="T9" fmla="*/ 6 h 36"/>
                <a:gd name="T10" fmla="*/ 0 60000 65536"/>
                <a:gd name="T11" fmla="*/ 0 60000 65536"/>
                <a:gd name="T12" fmla="*/ 0 60000 65536"/>
                <a:gd name="T13" fmla="*/ 0 60000 65536"/>
                <a:gd name="T14" fmla="*/ 0 60000 65536"/>
                <a:gd name="T15" fmla="*/ 0 w 69"/>
                <a:gd name="T16" fmla="*/ 0 h 36"/>
                <a:gd name="T17" fmla="*/ 69 w 69"/>
                <a:gd name="T18" fmla="*/ 36 h 36"/>
              </a:gdLst>
              <a:ahLst/>
              <a:cxnLst>
                <a:cxn ang="T10">
                  <a:pos x="T0" y="T1"/>
                </a:cxn>
                <a:cxn ang="T11">
                  <a:pos x="T2" y="T3"/>
                </a:cxn>
                <a:cxn ang="T12">
                  <a:pos x="T4" y="T5"/>
                </a:cxn>
                <a:cxn ang="T13">
                  <a:pos x="T6" y="T7"/>
                </a:cxn>
                <a:cxn ang="T14">
                  <a:pos x="T8" y="T9"/>
                </a:cxn>
              </a:cxnLst>
              <a:rect l="T15" t="T16" r="T17" b="T18"/>
              <a:pathLst>
                <a:path w="69" h="36">
                  <a:moveTo>
                    <a:pt x="68" y="6"/>
                  </a:moveTo>
                  <a:lnTo>
                    <a:pt x="65" y="0"/>
                  </a:lnTo>
                  <a:lnTo>
                    <a:pt x="0" y="28"/>
                  </a:lnTo>
                  <a:lnTo>
                    <a:pt x="3" y="35"/>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1" name="Freeform 7">
              <a:extLst>
                <a:ext uri="{FF2B5EF4-FFF2-40B4-BE49-F238E27FC236}">
                  <a16:creationId xmlns:a16="http://schemas.microsoft.com/office/drawing/2014/main" id="{DC7BCF1D-15B7-C1A0-2E0D-8D233235868A}"/>
                </a:ext>
              </a:extLst>
            </p:cNvPr>
            <p:cNvSpPr>
              <a:spLocks/>
            </p:cNvSpPr>
            <p:nvPr/>
          </p:nvSpPr>
          <p:spPr bwMode="auto">
            <a:xfrm>
              <a:off x="164" y="4331"/>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 name="T10" fmla="*/ 0 60000 65536"/>
                <a:gd name="T11" fmla="*/ 0 60000 65536"/>
                <a:gd name="T12" fmla="*/ 0 60000 65536"/>
                <a:gd name="T13" fmla="*/ 0 60000 65536"/>
                <a:gd name="T14" fmla="*/ 0 60000 65536"/>
                <a:gd name="T15" fmla="*/ 0 w 70"/>
                <a:gd name="T16" fmla="*/ 0 h 37"/>
                <a:gd name="T17" fmla="*/ 70 w 70"/>
                <a:gd name="T18" fmla="*/ 37 h 37"/>
              </a:gdLst>
              <a:ahLst/>
              <a:cxnLst>
                <a:cxn ang="T10">
                  <a:pos x="T0" y="T1"/>
                </a:cxn>
                <a:cxn ang="T11">
                  <a:pos x="T2" y="T3"/>
                </a:cxn>
                <a:cxn ang="T12">
                  <a:pos x="T4" y="T5"/>
                </a:cxn>
                <a:cxn ang="T13">
                  <a:pos x="T6" y="T7"/>
                </a:cxn>
                <a:cxn ang="T14">
                  <a:pos x="T8" y="T9"/>
                </a:cxn>
              </a:cxnLst>
              <a:rect l="T15" t="T16" r="T17" b="T18"/>
              <a:pathLst>
                <a:path w="70" h="37">
                  <a:moveTo>
                    <a:pt x="69" y="7"/>
                  </a:moveTo>
                  <a:lnTo>
                    <a:pt x="65" y="0"/>
                  </a:lnTo>
                  <a:lnTo>
                    <a:pt x="0" y="29"/>
                  </a:lnTo>
                  <a:lnTo>
                    <a:pt x="3" y="36"/>
                  </a:lnTo>
                  <a:lnTo>
                    <a:pt x="69"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2" name="Freeform 8">
              <a:extLst>
                <a:ext uri="{FF2B5EF4-FFF2-40B4-BE49-F238E27FC236}">
                  <a16:creationId xmlns:a16="http://schemas.microsoft.com/office/drawing/2014/main" id="{9FA29133-D09A-4D7C-12FD-37A498A84BF7}"/>
                </a:ext>
              </a:extLst>
            </p:cNvPr>
            <p:cNvSpPr>
              <a:spLocks/>
            </p:cNvSpPr>
            <p:nvPr/>
          </p:nvSpPr>
          <p:spPr bwMode="auto">
            <a:xfrm>
              <a:off x="171" y="4347"/>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3" name="Freeform 9">
              <a:extLst>
                <a:ext uri="{FF2B5EF4-FFF2-40B4-BE49-F238E27FC236}">
                  <a16:creationId xmlns:a16="http://schemas.microsoft.com/office/drawing/2014/main" id="{230A8B49-F672-EB33-F667-DDC8CBF56DF5}"/>
                </a:ext>
              </a:extLst>
            </p:cNvPr>
            <p:cNvSpPr>
              <a:spLocks/>
            </p:cNvSpPr>
            <p:nvPr/>
          </p:nvSpPr>
          <p:spPr bwMode="auto">
            <a:xfrm>
              <a:off x="179" y="4364"/>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 name="T10" fmla="*/ 0 60000 65536"/>
                <a:gd name="T11" fmla="*/ 0 60000 65536"/>
                <a:gd name="T12" fmla="*/ 0 60000 65536"/>
                <a:gd name="T13" fmla="*/ 0 60000 65536"/>
                <a:gd name="T14" fmla="*/ 0 60000 65536"/>
                <a:gd name="T15" fmla="*/ 0 w 70"/>
                <a:gd name="T16" fmla="*/ 0 h 35"/>
                <a:gd name="T17" fmla="*/ 70 w 70"/>
                <a:gd name="T18" fmla="*/ 35 h 35"/>
              </a:gdLst>
              <a:ahLst/>
              <a:cxnLst>
                <a:cxn ang="T10">
                  <a:pos x="T0" y="T1"/>
                </a:cxn>
                <a:cxn ang="T11">
                  <a:pos x="T2" y="T3"/>
                </a:cxn>
                <a:cxn ang="T12">
                  <a:pos x="T4" y="T5"/>
                </a:cxn>
                <a:cxn ang="T13">
                  <a:pos x="T6" y="T7"/>
                </a:cxn>
                <a:cxn ang="T14">
                  <a:pos x="T8" y="T9"/>
                </a:cxn>
              </a:cxnLst>
              <a:rect l="T15" t="T16" r="T17" b="T18"/>
              <a:pathLst>
                <a:path w="70" h="35">
                  <a:moveTo>
                    <a:pt x="69" y="6"/>
                  </a:moveTo>
                  <a:lnTo>
                    <a:pt x="65" y="0"/>
                  </a:lnTo>
                  <a:lnTo>
                    <a:pt x="0" y="27"/>
                  </a:lnTo>
                  <a:lnTo>
                    <a:pt x="3" y="34"/>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4" name="Freeform 10">
              <a:extLst>
                <a:ext uri="{FF2B5EF4-FFF2-40B4-BE49-F238E27FC236}">
                  <a16:creationId xmlns:a16="http://schemas.microsoft.com/office/drawing/2014/main" id="{32E8FD11-5E63-F970-0D77-9F627F538667}"/>
                </a:ext>
              </a:extLst>
            </p:cNvPr>
            <p:cNvSpPr>
              <a:spLocks/>
            </p:cNvSpPr>
            <p:nvPr/>
          </p:nvSpPr>
          <p:spPr bwMode="auto">
            <a:xfrm>
              <a:off x="187" y="4380"/>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5" name="Freeform 11">
              <a:extLst>
                <a:ext uri="{FF2B5EF4-FFF2-40B4-BE49-F238E27FC236}">
                  <a16:creationId xmlns:a16="http://schemas.microsoft.com/office/drawing/2014/main" id="{CD95AB9C-13EF-8379-0647-CDE40D35C1E9}"/>
                </a:ext>
              </a:extLst>
            </p:cNvPr>
            <p:cNvSpPr>
              <a:spLocks/>
            </p:cNvSpPr>
            <p:nvPr/>
          </p:nvSpPr>
          <p:spPr bwMode="auto">
            <a:xfrm>
              <a:off x="117" y="4279"/>
              <a:ext cx="120" cy="57"/>
            </a:xfrm>
            <a:custGeom>
              <a:avLst/>
              <a:gdLst>
                <a:gd name="T0" fmla="*/ 119 w 120"/>
                <a:gd name="T1" fmla="*/ 6 h 57"/>
                <a:gd name="T2" fmla="*/ 117 w 120"/>
                <a:gd name="T3" fmla="*/ 0 h 57"/>
                <a:gd name="T4" fmla="*/ 0 w 120"/>
                <a:gd name="T5" fmla="*/ 49 h 57"/>
                <a:gd name="T6" fmla="*/ 2 w 120"/>
                <a:gd name="T7" fmla="*/ 56 h 57"/>
                <a:gd name="T8" fmla="*/ 119 w 120"/>
                <a:gd name="T9" fmla="*/ 6 h 57"/>
                <a:gd name="T10" fmla="*/ 0 60000 65536"/>
                <a:gd name="T11" fmla="*/ 0 60000 65536"/>
                <a:gd name="T12" fmla="*/ 0 60000 65536"/>
                <a:gd name="T13" fmla="*/ 0 60000 65536"/>
                <a:gd name="T14" fmla="*/ 0 60000 65536"/>
                <a:gd name="T15" fmla="*/ 0 w 120"/>
                <a:gd name="T16" fmla="*/ 0 h 57"/>
                <a:gd name="T17" fmla="*/ 120 w 120"/>
                <a:gd name="T18" fmla="*/ 57 h 57"/>
              </a:gdLst>
              <a:ahLst/>
              <a:cxnLst>
                <a:cxn ang="T10">
                  <a:pos x="T0" y="T1"/>
                </a:cxn>
                <a:cxn ang="T11">
                  <a:pos x="T2" y="T3"/>
                </a:cxn>
                <a:cxn ang="T12">
                  <a:pos x="T4" y="T5"/>
                </a:cxn>
                <a:cxn ang="T13">
                  <a:pos x="T6" y="T7"/>
                </a:cxn>
                <a:cxn ang="T14">
                  <a:pos x="T8" y="T9"/>
                </a:cxn>
              </a:cxnLst>
              <a:rect l="T15" t="T16" r="T17" b="T18"/>
              <a:pathLst>
                <a:path w="120" h="57">
                  <a:moveTo>
                    <a:pt x="119" y="6"/>
                  </a:moveTo>
                  <a:lnTo>
                    <a:pt x="117" y="0"/>
                  </a:lnTo>
                  <a:lnTo>
                    <a:pt x="0" y="49"/>
                  </a:lnTo>
                  <a:lnTo>
                    <a:pt x="2" y="56"/>
                  </a:lnTo>
                  <a:lnTo>
                    <a:pt x="11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6" name="Freeform 12">
              <a:extLst>
                <a:ext uri="{FF2B5EF4-FFF2-40B4-BE49-F238E27FC236}">
                  <a16:creationId xmlns:a16="http://schemas.microsoft.com/office/drawing/2014/main" id="{F3B9182C-4702-310A-360C-F61C308CB610}"/>
                </a:ext>
              </a:extLst>
            </p:cNvPr>
            <p:cNvSpPr>
              <a:spLocks/>
            </p:cNvSpPr>
            <p:nvPr/>
          </p:nvSpPr>
          <p:spPr bwMode="auto">
            <a:xfrm>
              <a:off x="99" y="4267"/>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 name="T10" fmla="*/ 0 60000 65536"/>
                <a:gd name="T11" fmla="*/ 0 60000 65536"/>
                <a:gd name="T12" fmla="*/ 0 60000 65536"/>
                <a:gd name="T13" fmla="*/ 0 60000 65536"/>
                <a:gd name="T14" fmla="*/ 0 60000 65536"/>
                <a:gd name="T15" fmla="*/ 0 w 123"/>
                <a:gd name="T16" fmla="*/ 0 h 59"/>
                <a:gd name="T17" fmla="*/ 123 w 123"/>
                <a:gd name="T18" fmla="*/ 59 h 59"/>
              </a:gdLst>
              <a:ahLst/>
              <a:cxnLst>
                <a:cxn ang="T10">
                  <a:pos x="T0" y="T1"/>
                </a:cxn>
                <a:cxn ang="T11">
                  <a:pos x="T2" y="T3"/>
                </a:cxn>
                <a:cxn ang="T12">
                  <a:pos x="T4" y="T5"/>
                </a:cxn>
                <a:cxn ang="T13">
                  <a:pos x="T6" y="T7"/>
                </a:cxn>
                <a:cxn ang="T14">
                  <a:pos x="T8" y="T9"/>
                </a:cxn>
              </a:cxnLst>
              <a:rect l="T15" t="T16" r="T17" b="T18"/>
              <a:pathLst>
                <a:path w="123" h="59">
                  <a:moveTo>
                    <a:pt x="122" y="7"/>
                  </a:moveTo>
                  <a:lnTo>
                    <a:pt x="119" y="0"/>
                  </a:lnTo>
                  <a:lnTo>
                    <a:pt x="0" y="51"/>
                  </a:lnTo>
                  <a:lnTo>
                    <a:pt x="2" y="58"/>
                  </a:lnTo>
                  <a:lnTo>
                    <a:pt x="122"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7" name="Freeform 13">
              <a:extLst>
                <a:ext uri="{FF2B5EF4-FFF2-40B4-BE49-F238E27FC236}">
                  <a16:creationId xmlns:a16="http://schemas.microsoft.com/office/drawing/2014/main" id="{F3253158-7C47-D85F-4109-7F7DCA638206}"/>
                </a:ext>
              </a:extLst>
            </p:cNvPr>
            <p:cNvSpPr>
              <a:spLocks/>
            </p:cNvSpPr>
            <p:nvPr/>
          </p:nvSpPr>
          <p:spPr bwMode="auto">
            <a:xfrm>
              <a:off x="226" y="4281"/>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8" name="Freeform 14">
              <a:extLst>
                <a:ext uri="{FF2B5EF4-FFF2-40B4-BE49-F238E27FC236}">
                  <a16:creationId xmlns:a16="http://schemas.microsoft.com/office/drawing/2014/main" id="{78DF100F-7BF5-70F0-A5BD-F9F35AC06A49}"/>
                </a:ext>
              </a:extLst>
            </p:cNvPr>
            <p:cNvSpPr>
              <a:spLocks/>
            </p:cNvSpPr>
            <p:nvPr/>
          </p:nvSpPr>
          <p:spPr bwMode="auto">
            <a:xfrm>
              <a:off x="117" y="4326"/>
              <a:ext cx="52" cy="108"/>
            </a:xfrm>
            <a:custGeom>
              <a:avLst/>
              <a:gdLst>
                <a:gd name="T0" fmla="*/ 44 w 52"/>
                <a:gd name="T1" fmla="*/ 107 h 108"/>
                <a:gd name="T2" fmla="*/ 51 w 52"/>
                <a:gd name="T3" fmla="*/ 102 h 108"/>
                <a:gd name="T4" fmla="*/ 6 w 52"/>
                <a:gd name="T5" fmla="*/ 0 h 108"/>
                <a:gd name="T6" fmla="*/ 0 w 52"/>
                <a:gd name="T7" fmla="*/ 4 h 108"/>
                <a:gd name="T8" fmla="*/ 44 w 52"/>
                <a:gd name="T9" fmla="*/ 107 h 108"/>
                <a:gd name="T10" fmla="*/ 0 60000 65536"/>
                <a:gd name="T11" fmla="*/ 0 60000 65536"/>
                <a:gd name="T12" fmla="*/ 0 60000 65536"/>
                <a:gd name="T13" fmla="*/ 0 60000 65536"/>
                <a:gd name="T14" fmla="*/ 0 60000 65536"/>
                <a:gd name="T15" fmla="*/ 0 w 52"/>
                <a:gd name="T16" fmla="*/ 0 h 108"/>
                <a:gd name="T17" fmla="*/ 52 w 52"/>
                <a:gd name="T18" fmla="*/ 108 h 108"/>
              </a:gdLst>
              <a:ahLst/>
              <a:cxnLst>
                <a:cxn ang="T10">
                  <a:pos x="T0" y="T1"/>
                </a:cxn>
                <a:cxn ang="T11">
                  <a:pos x="T2" y="T3"/>
                </a:cxn>
                <a:cxn ang="T12">
                  <a:pos x="T4" y="T5"/>
                </a:cxn>
                <a:cxn ang="T13">
                  <a:pos x="T6" y="T7"/>
                </a:cxn>
                <a:cxn ang="T14">
                  <a:pos x="T8" y="T9"/>
                </a:cxn>
              </a:cxnLst>
              <a:rect l="T15" t="T16" r="T17" b="T18"/>
              <a:pathLst>
                <a:path w="52" h="108">
                  <a:moveTo>
                    <a:pt x="44" y="107"/>
                  </a:moveTo>
                  <a:lnTo>
                    <a:pt x="51" y="102"/>
                  </a:lnTo>
                  <a:lnTo>
                    <a:pt x="6" y="0"/>
                  </a:lnTo>
                  <a:lnTo>
                    <a:pt x="0" y="4"/>
                  </a:lnTo>
                  <a:lnTo>
                    <a:pt x="44" y="10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59" name="Freeform 15">
              <a:extLst>
                <a:ext uri="{FF2B5EF4-FFF2-40B4-BE49-F238E27FC236}">
                  <a16:creationId xmlns:a16="http://schemas.microsoft.com/office/drawing/2014/main" id="{1B5BCFFA-ABBC-7F71-F8C3-6D0F47652DDF}"/>
                </a:ext>
              </a:extLst>
            </p:cNvPr>
            <p:cNvSpPr>
              <a:spLocks/>
            </p:cNvSpPr>
            <p:nvPr/>
          </p:nvSpPr>
          <p:spPr bwMode="auto">
            <a:xfrm>
              <a:off x="94" y="4318"/>
              <a:ext cx="60" cy="116"/>
            </a:xfrm>
            <a:custGeom>
              <a:avLst/>
              <a:gdLst>
                <a:gd name="T0" fmla="*/ 51 w 60"/>
                <a:gd name="T1" fmla="*/ 115 h 116"/>
                <a:gd name="T2" fmla="*/ 59 w 60"/>
                <a:gd name="T3" fmla="*/ 112 h 116"/>
                <a:gd name="T4" fmla="*/ 6 w 60"/>
                <a:gd name="T5" fmla="*/ 0 h 116"/>
                <a:gd name="T6" fmla="*/ 0 w 60"/>
                <a:gd name="T7" fmla="*/ 2 h 116"/>
                <a:gd name="T8" fmla="*/ 51 w 60"/>
                <a:gd name="T9" fmla="*/ 115 h 116"/>
                <a:gd name="T10" fmla="*/ 0 60000 65536"/>
                <a:gd name="T11" fmla="*/ 0 60000 65536"/>
                <a:gd name="T12" fmla="*/ 0 60000 65536"/>
                <a:gd name="T13" fmla="*/ 0 60000 65536"/>
                <a:gd name="T14" fmla="*/ 0 60000 65536"/>
                <a:gd name="T15" fmla="*/ 0 w 60"/>
                <a:gd name="T16" fmla="*/ 0 h 116"/>
                <a:gd name="T17" fmla="*/ 60 w 60"/>
                <a:gd name="T18" fmla="*/ 116 h 116"/>
              </a:gdLst>
              <a:ahLst/>
              <a:cxnLst>
                <a:cxn ang="T10">
                  <a:pos x="T0" y="T1"/>
                </a:cxn>
                <a:cxn ang="T11">
                  <a:pos x="T2" y="T3"/>
                </a:cxn>
                <a:cxn ang="T12">
                  <a:pos x="T4" y="T5"/>
                </a:cxn>
                <a:cxn ang="T13">
                  <a:pos x="T6" y="T7"/>
                </a:cxn>
                <a:cxn ang="T14">
                  <a:pos x="T8" y="T9"/>
                </a:cxn>
              </a:cxnLst>
              <a:rect l="T15" t="T16" r="T17" b="T18"/>
              <a:pathLst>
                <a:path w="60" h="116">
                  <a:moveTo>
                    <a:pt x="51" y="115"/>
                  </a:moveTo>
                  <a:lnTo>
                    <a:pt x="59" y="112"/>
                  </a:lnTo>
                  <a:lnTo>
                    <a:pt x="6" y="0"/>
                  </a:lnTo>
                  <a:lnTo>
                    <a:pt x="0" y="2"/>
                  </a:lnTo>
                  <a:lnTo>
                    <a:pt x="51" y="11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60" name="Freeform 16">
              <a:extLst>
                <a:ext uri="{FF2B5EF4-FFF2-40B4-BE49-F238E27FC236}">
                  <a16:creationId xmlns:a16="http://schemas.microsoft.com/office/drawing/2014/main" id="{850974B9-DD02-B687-5DAA-9F4231FE6F37}"/>
                </a:ext>
              </a:extLst>
            </p:cNvPr>
            <p:cNvSpPr>
              <a:spLocks/>
            </p:cNvSpPr>
            <p:nvPr/>
          </p:nvSpPr>
          <p:spPr bwMode="auto">
            <a:xfrm>
              <a:off x="98" y="4318"/>
              <a:ext cx="28" cy="17"/>
            </a:xfrm>
            <a:custGeom>
              <a:avLst/>
              <a:gdLst>
                <a:gd name="T0" fmla="*/ 23 w 28"/>
                <a:gd name="T1" fmla="*/ 16 h 17"/>
                <a:gd name="T2" fmla="*/ 27 w 28"/>
                <a:gd name="T3" fmla="*/ 9 h 17"/>
                <a:gd name="T4" fmla="*/ 4 w 28"/>
                <a:gd name="T5" fmla="*/ 0 h 17"/>
                <a:gd name="T6" fmla="*/ 0 w 28"/>
                <a:gd name="T7" fmla="*/ 6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6"/>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31761" name="Freeform 17">
              <a:extLst>
                <a:ext uri="{FF2B5EF4-FFF2-40B4-BE49-F238E27FC236}">
                  <a16:creationId xmlns:a16="http://schemas.microsoft.com/office/drawing/2014/main" id="{67B2E797-3EB8-27F0-5062-8F60E210CB74}"/>
                </a:ext>
              </a:extLst>
            </p:cNvPr>
            <p:cNvSpPr>
              <a:spLocks/>
            </p:cNvSpPr>
            <p:nvPr/>
          </p:nvSpPr>
          <p:spPr bwMode="auto">
            <a:xfrm>
              <a:off x="204" y="4274"/>
              <a:ext cx="30" cy="17"/>
            </a:xfrm>
            <a:custGeom>
              <a:avLst/>
              <a:gdLst>
                <a:gd name="T0" fmla="*/ 25 w 30"/>
                <a:gd name="T1" fmla="*/ 16 h 17"/>
                <a:gd name="T2" fmla="*/ 29 w 30"/>
                <a:gd name="T3" fmla="*/ 9 h 17"/>
                <a:gd name="T4" fmla="*/ 4 w 30"/>
                <a:gd name="T5" fmla="*/ 0 h 17"/>
                <a:gd name="T6" fmla="*/ 0 w 30"/>
                <a:gd name="T7" fmla="*/ 5 h 17"/>
                <a:gd name="T8" fmla="*/ 25 w 30"/>
                <a:gd name="T9" fmla="*/ 16 h 17"/>
                <a:gd name="T10" fmla="*/ 0 60000 65536"/>
                <a:gd name="T11" fmla="*/ 0 60000 65536"/>
                <a:gd name="T12" fmla="*/ 0 60000 65536"/>
                <a:gd name="T13" fmla="*/ 0 60000 65536"/>
                <a:gd name="T14" fmla="*/ 0 60000 65536"/>
                <a:gd name="T15" fmla="*/ 0 w 30"/>
                <a:gd name="T16" fmla="*/ 0 h 17"/>
                <a:gd name="T17" fmla="*/ 30 w 30"/>
                <a:gd name="T18" fmla="*/ 17 h 17"/>
              </a:gdLst>
              <a:ahLst/>
              <a:cxnLst>
                <a:cxn ang="T10">
                  <a:pos x="T0" y="T1"/>
                </a:cxn>
                <a:cxn ang="T11">
                  <a:pos x="T2" y="T3"/>
                </a:cxn>
                <a:cxn ang="T12">
                  <a:pos x="T4" y="T5"/>
                </a:cxn>
                <a:cxn ang="T13">
                  <a:pos x="T6" y="T7"/>
                </a:cxn>
                <a:cxn ang="T14">
                  <a:pos x="T8" y="T9"/>
                </a:cxn>
              </a:cxnLst>
              <a:rect l="T15" t="T16" r="T17" b="T18"/>
              <a:pathLst>
                <a:path w="30" h="17">
                  <a:moveTo>
                    <a:pt x="25" y="16"/>
                  </a:moveTo>
                  <a:lnTo>
                    <a:pt x="29" y="9"/>
                  </a:lnTo>
                  <a:lnTo>
                    <a:pt x="4" y="0"/>
                  </a:lnTo>
                  <a:lnTo>
                    <a:pt x="0" y="5"/>
                  </a:lnTo>
                  <a:lnTo>
                    <a:pt x="25"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5A83560-9FF9-D17A-0C8B-008F0E9A16E9}"/>
              </a:ext>
            </a:extLst>
          </p:cNvPr>
          <p:cNvSpPr>
            <a:spLocks noGrp="1" noRot="1" noChangeArrowheads="1" noTextEdit="1"/>
          </p:cNvSpPr>
          <p:nvPr>
            <p:ph type="sldImg"/>
          </p:nvPr>
        </p:nvSpPr>
        <p:spPr>
          <a:xfrm>
            <a:off x="407988" y="171450"/>
            <a:ext cx="6037262" cy="4527550"/>
          </a:xfrm>
          <a:ln w="12700" cap="flat">
            <a:solidFill>
              <a:schemeClr val="tx1"/>
            </a:solidFill>
          </a:ln>
        </p:spPr>
      </p:sp>
      <p:sp>
        <p:nvSpPr>
          <p:cNvPr id="33795" name="Rectangle 3">
            <a:extLst>
              <a:ext uri="{FF2B5EF4-FFF2-40B4-BE49-F238E27FC236}">
                <a16:creationId xmlns:a16="http://schemas.microsoft.com/office/drawing/2014/main" id="{A9EA664F-81AA-D01C-14F3-3D17857ADBFE}"/>
              </a:ext>
            </a:extLst>
          </p:cNvPr>
          <p:cNvSpPr>
            <a:spLocks noGrp="1" noChangeArrowheads="1"/>
          </p:cNvSpPr>
          <p:nvPr>
            <p:ph type="body" idx="1"/>
          </p:nvPr>
        </p:nvSpPr>
        <p:spPr>
          <a:xfrm>
            <a:off x="417513" y="4849813"/>
            <a:ext cx="5945187"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2913" algn="l"/>
              </a:tabLst>
            </a:pPr>
            <a:r>
              <a:rPr lang="en-US" altLang="en-US">
                <a:latin typeface="Arial" panose="020B0604020202020204" pitchFamily="34" charset="0"/>
              </a:rPr>
              <a:t>Updating Rows (continued)</a:t>
            </a:r>
          </a:p>
          <a:p>
            <a:pPr marL="114300" lvl="1" defTabSz="377825">
              <a:tabLst>
                <a:tab pos="442913" algn="l"/>
              </a:tabLst>
            </a:pPr>
            <a:r>
              <a:rPr lang="en-US" altLang="en-US">
                <a:latin typeface="Arial" panose="020B0604020202020204" pitchFamily="34" charset="0"/>
              </a:rPr>
              <a:t>The UPDATE statement modifies specific rows, if the WHERE clause is specified. The slide example transfers employee 7782 (Clark) to department 20.  </a:t>
            </a:r>
          </a:p>
          <a:p>
            <a:pPr marL="114300" lvl="1" defTabSz="377825">
              <a:tabLst>
                <a:tab pos="442913" algn="l"/>
              </a:tabLst>
            </a:pPr>
            <a:r>
              <a:rPr lang="en-US" altLang="en-US">
                <a:latin typeface="Arial" panose="020B0604020202020204" pitchFamily="34" charset="0"/>
              </a:rPr>
              <a:t>If you omit the WHERE clause, all the rows in the table are modified.</a:t>
            </a: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spcBef>
                <a:spcPct val="0"/>
              </a:spcBef>
              <a:tabLst>
                <a:tab pos="442913" algn="l"/>
              </a:tabLst>
            </a:pPr>
            <a:r>
              <a:rPr lang="en-US" altLang="en-US" b="1">
                <a:latin typeface="Arial" panose="020B0604020202020204" pitchFamily="34" charset="0"/>
              </a:rPr>
              <a:t>Note:</a:t>
            </a:r>
            <a:r>
              <a:rPr lang="en-US" altLang="en-US">
                <a:latin typeface="Arial" panose="020B0604020202020204" pitchFamily="34" charset="0"/>
              </a:rPr>
              <a:t> The EMPLOYEE table has the same data as the EMP table. </a:t>
            </a:r>
          </a:p>
          <a:p>
            <a:pPr defTabSz="377825">
              <a:tabLst>
                <a:tab pos="442913" algn="l"/>
              </a:tabLst>
            </a:pPr>
            <a:endParaRPr lang="en-US" altLang="en-US" b="1">
              <a:latin typeface="Times New Roman" panose="02020603050405020304" pitchFamily="18" charset="0"/>
            </a:endParaRPr>
          </a:p>
        </p:txBody>
      </p:sp>
      <p:sp>
        <p:nvSpPr>
          <p:cNvPr id="33796" name="Rectangle 4">
            <a:extLst>
              <a:ext uri="{FF2B5EF4-FFF2-40B4-BE49-F238E27FC236}">
                <a16:creationId xmlns:a16="http://schemas.microsoft.com/office/drawing/2014/main" id="{6A4C9699-1388-1E8B-48F6-CE11F53FD0A5}"/>
              </a:ext>
            </a:extLst>
          </p:cNvPr>
          <p:cNvSpPr>
            <a:spLocks noChangeArrowheads="1"/>
          </p:cNvSpPr>
          <p:nvPr/>
        </p:nvSpPr>
        <p:spPr bwMode="auto">
          <a:xfrm>
            <a:off x="608013" y="5799138"/>
            <a:ext cx="5584825" cy="457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3797" name="Rectangle 5">
            <a:extLst>
              <a:ext uri="{FF2B5EF4-FFF2-40B4-BE49-F238E27FC236}">
                <a16:creationId xmlns:a16="http://schemas.microsoft.com/office/drawing/2014/main" id="{16FB6624-EABA-1120-7856-55344F90221A}"/>
              </a:ext>
            </a:extLst>
          </p:cNvPr>
          <p:cNvSpPr>
            <a:spLocks noChangeArrowheads="1"/>
          </p:cNvSpPr>
          <p:nvPr/>
        </p:nvSpPr>
        <p:spPr bwMode="auto">
          <a:xfrm>
            <a:off x="676275" y="5808663"/>
            <a:ext cx="23717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ename, deptno</a:t>
            </a:r>
          </a:p>
          <a:p>
            <a:pPr>
              <a:spcBef>
                <a:spcPct val="0"/>
              </a:spcBef>
            </a:pPr>
            <a:r>
              <a:rPr lang="en-US" altLang="en-US" sz="1100" b="1">
                <a:latin typeface="Courier New" panose="02070309020205020404" pitchFamily="49" charset="0"/>
              </a:rPr>
              <a:t>  2  FROM    employee;</a:t>
            </a:r>
          </a:p>
        </p:txBody>
      </p:sp>
      <p:sp>
        <p:nvSpPr>
          <p:cNvPr id="33798" name="Rectangle 6">
            <a:extLst>
              <a:ext uri="{FF2B5EF4-FFF2-40B4-BE49-F238E27FC236}">
                <a16:creationId xmlns:a16="http://schemas.microsoft.com/office/drawing/2014/main" id="{F60569E7-F5B4-9EFD-C16A-E15EDE66B725}"/>
              </a:ext>
            </a:extLst>
          </p:cNvPr>
          <p:cNvSpPr>
            <a:spLocks noChangeArrowheads="1"/>
          </p:cNvSpPr>
          <p:nvPr/>
        </p:nvSpPr>
        <p:spPr bwMode="auto">
          <a:xfrm>
            <a:off x="622300" y="6384925"/>
            <a:ext cx="5570538" cy="2098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3799" name="Rectangle 7">
            <a:extLst>
              <a:ext uri="{FF2B5EF4-FFF2-40B4-BE49-F238E27FC236}">
                <a16:creationId xmlns:a16="http://schemas.microsoft.com/office/drawing/2014/main" id="{D6EA8D9E-9B66-E2EE-4FC8-9BCECCB06143}"/>
              </a:ext>
            </a:extLst>
          </p:cNvPr>
          <p:cNvSpPr>
            <a:spLocks noChangeArrowheads="1"/>
          </p:cNvSpPr>
          <p:nvPr/>
        </p:nvSpPr>
        <p:spPr bwMode="auto">
          <a:xfrm>
            <a:off x="714375" y="6408738"/>
            <a:ext cx="5202238" cy="197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latin typeface="Courier New" panose="02070309020205020404" pitchFamily="49" charset="0"/>
              </a:rPr>
              <a:t>ENAME         DEPTNO</a:t>
            </a:r>
          </a:p>
          <a:p>
            <a:pPr>
              <a:spcBef>
                <a:spcPct val="0"/>
              </a:spcBef>
            </a:pP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KING              20</a:t>
            </a:r>
          </a:p>
          <a:p>
            <a:pPr>
              <a:spcBef>
                <a:spcPct val="0"/>
              </a:spcBef>
            </a:pPr>
            <a:r>
              <a:rPr lang="en-US" altLang="en-US" sz="1100">
                <a:latin typeface="Courier New" panose="02070309020205020404" pitchFamily="49" charset="0"/>
              </a:rPr>
              <a:t>BLAKE             20</a:t>
            </a:r>
          </a:p>
          <a:p>
            <a:pPr>
              <a:spcBef>
                <a:spcPct val="0"/>
              </a:spcBef>
            </a:pPr>
            <a:r>
              <a:rPr lang="en-US" altLang="en-US" sz="1100">
                <a:latin typeface="Courier New" panose="02070309020205020404" pitchFamily="49" charset="0"/>
              </a:rPr>
              <a:t>CLARK             20</a:t>
            </a:r>
          </a:p>
          <a:p>
            <a:pPr>
              <a:spcBef>
                <a:spcPct val="0"/>
              </a:spcBef>
            </a:pPr>
            <a:r>
              <a:rPr lang="en-US" altLang="en-US" sz="1100">
                <a:latin typeface="Courier New" panose="02070309020205020404" pitchFamily="49" charset="0"/>
              </a:rPr>
              <a:t>JONES             20</a:t>
            </a:r>
          </a:p>
          <a:p>
            <a:pPr>
              <a:spcBef>
                <a:spcPct val="0"/>
              </a:spcBef>
            </a:pPr>
            <a:r>
              <a:rPr lang="en-US" altLang="en-US" sz="1100">
                <a:latin typeface="Courier New" panose="02070309020205020404" pitchFamily="49" charset="0"/>
              </a:rPr>
              <a:t>MARTIN            20</a:t>
            </a:r>
          </a:p>
          <a:p>
            <a:pPr>
              <a:spcBef>
                <a:spcPct val="0"/>
              </a:spcBef>
            </a:pPr>
            <a:r>
              <a:rPr lang="en-US" altLang="en-US" sz="1100">
                <a:latin typeface="Courier New" panose="02070309020205020404" pitchFamily="49" charset="0"/>
              </a:rPr>
              <a:t>ALLEN             20</a:t>
            </a:r>
          </a:p>
          <a:p>
            <a:pPr>
              <a:spcBef>
                <a:spcPct val="0"/>
              </a:spcBef>
            </a:pPr>
            <a:r>
              <a:rPr lang="en-US" altLang="en-US" sz="1100">
                <a:latin typeface="Courier New" panose="02070309020205020404" pitchFamily="49" charset="0"/>
              </a:rPr>
              <a:t>TURNER            20</a:t>
            </a:r>
          </a:p>
          <a:p>
            <a:pPr>
              <a:spcBef>
                <a:spcPct val="0"/>
              </a:spcBef>
            </a:pPr>
            <a:r>
              <a:rPr lang="en-US" altLang="en-US" sz="1100">
                <a:latin typeface="Courier New" panose="02070309020205020404" pitchFamily="49" charset="0"/>
              </a:rPr>
              <a:t>...</a:t>
            </a:r>
          </a:p>
          <a:p>
            <a:pPr>
              <a:spcBef>
                <a:spcPct val="0"/>
              </a:spcBef>
            </a:pPr>
            <a:r>
              <a:rPr lang="en-US" altLang="en-US" sz="1100">
                <a:latin typeface="Courier New" panose="02070309020205020404" pitchFamily="49" charset="0"/>
              </a:rPr>
              <a:t>14 rows selected.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E100053-0D34-F0AF-A472-7FF9CF523AEE}"/>
              </a:ext>
            </a:extLst>
          </p:cNvPr>
          <p:cNvSpPr>
            <a:spLocks noGrp="1" noRot="1" noChangeArrowheads="1" noTextEdit="1"/>
          </p:cNvSpPr>
          <p:nvPr>
            <p:ph type="sldImg"/>
          </p:nvPr>
        </p:nvSpPr>
        <p:spPr>
          <a:xfrm>
            <a:off x="406400" y="171450"/>
            <a:ext cx="6037263" cy="4527550"/>
          </a:xfrm>
          <a:ln w="12700" cap="flat">
            <a:solidFill>
              <a:schemeClr val="tx1"/>
            </a:solidFill>
          </a:ln>
        </p:spPr>
      </p:sp>
      <p:sp>
        <p:nvSpPr>
          <p:cNvPr id="35843" name="Rectangle 3">
            <a:extLst>
              <a:ext uri="{FF2B5EF4-FFF2-40B4-BE49-F238E27FC236}">
                <a16:creationId xmlns:a16="http://schemas.microsoft.com/office/drawing/2014/main" id="{8C19217F-AE0C-2C9C-6259-B592C26B3984}"/>
              </a:ext>
            </a:extLst>
          </p:cNvPr>
          <p:cNvSpPr>
            <a:spLocks noGrp="1" noChangeArrowheads="1"/>
          </p:cNvSpPr>
          <p:nvPr>
            <p:ph type="body" idx="1"/>
          </p:nvPr>
        </p:nvSpPr>
        <p:spPr>
          <a:xfrm>
            <a:off x="457200" y="4849813"/>
            <a:ext cx="5773738"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46088">
              <a:tabLst>
                <a:tab pos="434975" algn="l"/>
              </a:tabLst>
            </a:pPr>
            <a:r>
              <a:rPr lang="en-US" altLang="en-US">
                <a:latin typeface="Arial" panose="020B0604020202020204" pitchFamily="34" charset="0"/>
              </a:rPr>
              <a:t>Updating Rows with a Multiple-Column Subquery</a:t>
            </a:r>
          </a:p>
          <a:p>
            <a:pPr marL="114300" lvl="1" defTabSz="446088">
              <a:tabLst>
                <a:tab pos="434975" algn="l"/>
              </a:tabLst>
            </a:pPr>
            <a:r>
              <a:rPr lang="en-US" altLang="en-US">
                <a:latin typeface="Arial" panose="020B0604020202020204" pitchFamily="34" charset="0"/>
              </a:rPr>
              <a:t>Multiple-column subqueries can be implemented in the SET clause of an UPDATE statement.</a:t>
            </a:r>
          </a:p>
          <a:p>
            <a:pPr marL="114300" lvl="1" defTabSz="446088">
              <a:tabLst>
                <a:tab pos="434975" algn="l"/>
              </a:tabLst>
            </a:pPr>
            <a:r>
              <a:rPr lang="en-US" altLang="en-US" b="1">
                <a:latin typeface="Arial" panose="020B0604020202020204" pitchFamily="34" charset="0"/>
              </a:rPr>
              <a:t>Syntax</a:t>
            </a: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tabLst>
                <a:tab pos="434975" algn="l"/>
              </a:tabLst>
            </a:pPr>
            <a:endParaRPr lang="en-US" altLang="en-US">
              <a:latin typeface="Arial" panose="020B0604020202020204" pitchFamily="34" charset="0"/>
            </a:endParaRPr>
          </a:p>
          <a:p>
            <a:pPr defTabSz="446088">
              <a:spcBef>
                <a:spcPct val="65000"/>
              </a:spcBef>
              <a:tabLst>
                <a:tab pos="434975" algn="l"/>
              </a:tabLst>
            </a:pPr>
            <a:r>
              <a:rPr lang="en-US" altLang="en-US">
                <a:solidFill>
                  <a:schemeClr val="accent2"/>
                </a:solidFill>
                <a:latin typeface="Arial" panose="020B0604020202020204" pitchFamily="34" charset="0"/>
              </a:rPr>
              <a:t>Class Management Note</a:t>
            </a:r>
          </a:p>
          <a:p>
            <a:pPr marL="114300" lvl="1" defTabSz="446088">
              <a:tabLst>
                <a:tab pos="434975" algn="l"/>
              </a:tabLst>
            </a:pPr>
            <a:r>
              <a:rPr lang="en-US" altLang="en-US">
                <a:solidFill>
                  <a:schemeClr val="accent2"/>
                </a:solidFill>
                <a:latin typeface="Arial" panose="020B0604020202020204" pitchFamily="34" charset="0"/>
              </a:rPr>
              <a:t>It may be worth showing participants that the results would be the same for the example on the slide if two different subqueries were used in the SET clause as illustrated below:</a:t>
            </a:r>
          </a:p>
          <a:p>
            <a:pPr marL="114300" lvl="1" defTabSz="446088">
              <a:spcBef>
                <a:spcPct val="65000"/>
              </a:spcBef>
              <a:tabLst>
                <a:tab pos="434975" algn="l"/>
              </a:tabLst>
            </a:pPr>
            <a:r>
              <a:rPr lang="en-US" altLang="en-US" b="1">
                <a:solidFill>
                  <a:schemeClr val="accent2"/>
                </a:solidFill>
                <a:latin typeface="Courier New" panose="02070309020205020404" pitchFamily="49" charset="0"/>
              </a:rPr>
              <a:t>  SQL&gt; UPDATE       emp</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2  SET		job =    (SELECT  job FROM emp</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3				   WHERE   empno = 7499),</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4			deptno = (SELECT deptno FROM dept</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5				   WHERE  dname = 'SALES</a:t>
            </a:r>
            <a:r>
              <a:rPr lang="en-US" altLang="en-US">
                <a:solidFill>
                  <a:schemeClr val="accent2"/>
                </a:solidFill>
                <a:latin typeface="Courier New" panose="02070309020205020404" pitchFamily="49" charset="0"/>
              </a:rPr>
              <a:t>'</a:t>
            </a:r>
            <a:r>
              <a:rPr lang="en-US" altLang="en-US" b="1">
                <a:solidFill>
                  <a:schemeClr val="accent2"/>
                </a:solidFill>
                <a:latin typeface="Courier New" panose="02070309020205020404" pitchFamily="49" charset="0"/>
              </a:rPr>
              <a:t>)</a:t>
            </a:r>
          </a:p>
          <a:p>
            <a:pPr marL="114300" lvl="1" defTabSz="446088">
              <a:spcBef>
                <a:spcPct val="0"/>
              </a:spcBef>
              <a:tabLst>
                <a:tab pos="434975" algn="l"/>
              </a:tabLst>
            </a:pPr>
            <a:r>
              <a:rPr lang="en-US" altLang="en-US" b="1">
                <a:solidFill>
                  <a:schemeClr val="accent2"/>
                </a:solidFill>
                <a:latin typeface="Courier New" panose="02070309020205020404" pitchFamily="49" charset="0"/>
              </a:rPr>
              <a:t>    6  WHERE   empno = 7698;</a:t>
            </a:r>
          </a:p>
        </p:txBody>
      </p:sp>
      <p:sp>
        <p:nvSpPr>
          <p:cNvPr id="35844" name="Rectangle 4">
            <a:extLst>
              <a:ext uri="{FF2B5EF4-FFF2-40B4-BE49-F238E27FC236}">
                <a16:creationId xmlns:a16="http://schemas.microsoft.com/office/drawing/2014/main" id="{0F815700-9EF1-CA20-FB46-DF549F3931CD}"/>
              </a:ext>
            </a:extLst>
          </p:cNvPr>
          <p:cNvSpPr>
            <a:spLocks noChangeArrowheads="1"/>
          </p:cNvSpPr>
          <p:nvPr/>
        </p:nvSpPr>
        <p:spPr bwMode="auto">
          <a:xfrm>
            <a:off x="571500" y="5548313"/>
            <a:ext cx="5621338" cy="12192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35845" name="Rectangle 5">
            <a:extLst>
              <a:ext uri="{FF2B5EF4-FFF2-40B4-BE49-F238E27FC236}">
                <a16:creationId xmlns:a16="http://schemas.microsoft.com/office/drawing/2014/main" id="{58C8F1CB-51A1-C6E6-6CBA-A075A8868986}"/>
              </a:ext>
            </a:extLst>
          </p:cNvPr>
          <p:cNvSpPr>
            <a:spLocks noChangeArrowheads="1"/>
          </p:cNvSpPr>
          <p:nvPr/>
        </p:nvSpPr>
        <p:spPr bwMode="auto">
          <a:xfrm>
            <a:off x="465138" y="5634038"/>
            <a:ext cx="572135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a:latin typeface="Courier New" panose="02070309020205020404" pitchFamily="49" charset="0"/>
              </a:rPr>
              <a:t>  UPDATE	</a:t>
            </a:r>
            <a:r>
              <a:rPr lang="en-US" altLang="en-US" sz="1100" i="1">
                <a:latin typeface="Courier New" panose="02070309020205020404" pitchFamily="49" charset="0"/>
              </a:rPr>
              <a:t>table</a:t>
            </a:r>
          </a:p>
          <a:p>
            <a:pPr>
              <a:spcBef>
                <a:spcPct val="0"/>
              </a:spcBef>
            </a:pPr>
            <a:r>
              <a:rPr lang="en-US" altLang="en-US" sz="1100">
                <a:latin typeface="Courier New" panose="02070309020205020404" pitchFamily="49" charset="0"/>
              </a:rPr>
              <a:t>  SET	(</a:t>
            </a:r>
            <a:r>
              <a:rPr lang="en-US" altLang="en-US" sz="1100" i="1">
                <a:latin typeface="Courier New" panose="02070309020205020404" pitchFamily="49" charset="0"/>
              </a:rPr>
              <a:t>column, column</a:t>
            </a:r>
            <a:r>
              <a:rPr lang="en-US" altLang="en-US" sz="1100">
                <a:latin typeface="Courier New" panose="02070309020205020404" pitchFamily="49" charset="0"/>
              </a:rPr>
              <a:t>, ...) = </a:t>
            </a:r>
          </a:p>
          <a:p>
            <a:pPr>
              <a:spcBef>
                <a:spcPct val="0"/>
              </a:spcBef>
            </a:pPr>
            <a:r>
              <a:rPr lang="en-US" altLang="en-US" sz="1100">
                <a:latin typeface="Courier New" panose="02070309020205020404" pitchFamily="49" charset="0"/>
              </a:rPr>
              <a:t>		(SELECT	</a:t>
            </a:r>
            <a:r>
              <a:rPr lang="en-US" altLang="en-US" sz="1100" i="1">
                <a:latin typeface="Courier New" panose="02070309020205020404" pitchFamily="49" charset="0"/>
              </a:rPr>
              <a:t>column, column</a:t>
            </a:r>
            <a:r>
              <a:rPr lang="en-US" altLang="en-US" sz="1100">
                <a:latin typeface="Courier New" panose="02070309020205020404" pitchFamily="49" charset="0"/>
              </a:rPr>
              <a:t>, ...</a:t>
            </a:r>
          </a:p>
          <a:p>
            <a:pPr>
              <a:spcBef>
                <a:spcPct val="0"/>
              </a:spcBef>
            </a:pPr>
            <a:r>
              <a:rPr lang="en-US" altLang="en-US" sz="1100">
                <a:latin typeface="Courier New" panose="02070309020205020404" pitchFamily="49" charset="0"/>
              </a:rPr>
              <a:t>		 FROM	</a:t>
            </a:r>
            <a:r>
              <a:rPr lang="en-US" altLang="en-US" sz="1100" i="1">
                <a:latin typeface="Courier New" panose="02070309020205020404" pitchFamily="49" charset="0"/>
              </a:rPr>
              <a:t>table</a:t>
            </a:r>
            <a:endParaRPr lang="en-US" altLang="en-US" sz="1100">
              <a:latin typeface="Courier New" panose="02070309020205020404" pitchFamily="49" charset="0"/>
            </a:endParaRPr>
          </a:p>
          <a:p>
            <a:pPr>
              <a:spcBef>
                <a:spcPct val="0"/>
              </a:spcBef>
            </a:pPr>
            <a:r>
              <a:rPr lang="en-US" altLang="en-US" sz="1100">
                <a:latin typeface="Courier New" panose="02070309020205020404" pitchFamily="49" charset="0"/>
              </a:rPr>
              <a:t>		 WHERE	</a:t>
            </a:r>
            <a:r>
              <a:rPr lang="en-US" altLang="en-US" sz="1100" i="1">
                <a:latin typeface="Courier New" panose="02070309020205020404" pitchFamily="49" charset="0"/>
              </a:rPr>
              <a:t>condition</a:t>
            </a:r>
            <a:r>
              <a:rPr lang="en-US" altLang="en-US" sz="1100">
                <a:latin typeface="Courier New" panose="02070309020205020404" pitchFamily="49" charset="0"/>
              </a:rPr>
              <a:t>)</a:t>
            </a:r>
          </a:p>
          <a:p>
            <a:pPr>
              <a:spcBef>
                <a:spcPct val="0"/>
              </a:spcBef>
            </a:pPr>
            <a:r>
              <a:rPr lang="en-US" altLang="en-US" sz="1100">
                <a:latin typeface="Courier New" panose="02070309020205020404" pitchFamily="49" charset="0"/>
              </a:rPr>
              <a:t>  WHERE	</a:t>
            </a:r>
            <a:r>
              <a:rPr lang="en-US" altLang="en-US" sz="1100" i="1">
                <a:latin typeface="Courier New" panose="02070309020205020404" pitchFamily="49" charset="0"/>
              </a:rPr>
              <a:t>condition</a:t>
            </a:r>
            <a:r>
              <a:rPr lang="en-US" altLang="en-US" sz="1100">
                <a:latin typeface="Courier New" panose="02070309020205020404" pitchFamily="49" charset="0"/>
              </a:rPr>
              <a:t>;	</a:t>
            </a:r>
          </a:p>
        </p:txBody>
      </p:sp>
      <p:sp>
        <p:nvSpPr>
          <p:cNvPr id="35846" name="Rectangle 6">
            <a:extLst>
              <a:ext uri="{FF2B5EF4-FFF2-40B4-BE49-F238E27FC236}">
                <a16:creationId xmlns:a16="http://schemas.microsoft.com/office/drawing/2014/main" id="{6301AD0D-9D53-3D80-630D-4FFABE89FE14}"/>
              </a:ext>
            </a:extLst>
          </p:cNvPr>
          <p:cNvSpPr>
            <a:spLocks noChangeArrowheads="1"/>
          </p:cNvSpPr>
          <p:nvPr/>
        </p:nvSpPr>
        <p:spPr bwMode="auto">
          <a:xfrm>
            <a:off x="571500" y="7505700"/>
            <a:ext cx="5621338" cy="1117600"/>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87DCF8D-F8F0-8B19-2CAD-E350E4AEDA72}"/>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37891" name="Rectangle 3">
            <a:extLst>
              <a:ext uri="{FF2B5EF4-FFF2-40B4-BE49-F238E27FC236}">
                <a16:creationId xmlns:a16="http://schemas.microsoft.com/office/drawing/2014/main" id="{8D6D0D53-BB94-6426-DD5F-38BEEA9A5EA3}"/>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Updating Rows Based on Another Table</a:t>
            </a:r>
          </a:p>
          <a:p>
            <a:pPr lvl="1"/>
            <a:r>
              <a:rPr lang="en-US" altLang="en-US">
                <a:latin typeface="Arial" panose="020B0604020202020204" pitchFamily="34" charset="0"/>
              </a:rPr>
              <a:t>You can use subqueries in UPDATE statements to update rows in a table. The example on the slide updates the EMPLOYEE table based on the values from the EMP table. It changes the department number of all employees with employee 7788’s job title to employee 7788’s current department number.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2F964A-170C-09BE-D1F9-99F911B65800}"/>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Integrity Constraint Error</a:t>
            </a:r>
          </a:p>
          <a:p>
            <a:pPr marL="114300" lvl="1" defTabSz="382588"/>
            <a:r>
              <a:rPr lang="en-US" altLang="en-US">
                <a:latin typeface="Arial" panose="020B0604020202020204" pitchFamily="34" charset="0"/>
              </a:rPr>
              <a:t>If you attempt to update a record with a value that is tied to an integrity constraint, you will experience an error. </a:t>
            </a:r>
          </a:p>
          <a:p>
            <a:pPr marL="114300" lvl="1" defTabSz="382588"/>
            <a:r>
              <a:rPr lang="en-US" altLang="en-US">
                <a:latin typeface="Times" panose="02020603050405020304" pitchFamily="18" charset="0"/>
              </a:rPr>
              <a:t>In the example on the slide, department number 55 does not exist in the parent table, DEPT, and so you receive the </a:t>
            </a:r>
            <a:r>
              <a:rPr lang="en-US" altLang="en-US" i="1">
                <a:latin typeface="Times" panose="02020603050405020304" pitchFamily="18" charset="0"/>
              </a:rPr>
              <a:t>parent key</a:t>
            </a:r>
            <a:r>
              <a:rPr lang="en-US" altLang="en-US">
                <a:latin typeface="Times" panose="02020603050405020304" pitchFamily="18" charset="0"/>
              </a:rPr>
              <a:t> violation ORA-02291.</a:t>
            </a:r>
          </a:p>
          <a:p>
            <a:pPr marL="114300" lvl="1" defTabSz="382588"/>
            <a:r>
              <a:rPr lang="en-US" altLang="en-US" b="1">
                <a:latin typeface="Arial" panose="020B0604020202020204" pitchFamily="34" charset="0"/>
              </a:rPr>
              <a:t>Note:</a:t>
            </a:r>
            <a:r>
              <a:rPr lang="en-US" altLang="en-US">
                <a:latin typeface="Arial" panose="020B0604020202020204" pitchFamily="34" charset="0"/>
              </a:rPr>
              <a:t> Integrity constraints ensure that the data adheres to a predefined set of rules. A subsequent lesson  will cover integrity constraints in greater depth.</a:t>
            </a: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defTabSz="382588">
              <a:spcBef>
                <a:spcPct val="65000"/>
              </a:spcBef>
            </a:pPr>
            <a:r>
              <a:rPr lang="en-US" altLang="en-US">
                <a:solidFill>
                  <a:schemeClr val="accent2"/>
                </a:solidFill>
                <a:latin typeface="Arial" panose="020B0604020202020204" pitchFamily="34" charset="0"/>
              </a:rPr>
              <a:t>Class Management Note</a:t>
            </a:r>
          </a:p>
          <a:p>
            <a:pPr marL="114300" lvl="1" defTabSz="382588"/>
            <a:r>
              <a:rPr lang="en-US" altLang="en-US">
                <a:solidFill>
                  <a:schemeClr val="accent2"/>
                </a:solidFill>
                <a:latin typeface="Arial" panose="020B0604020202020204" pitchFamily="34" charset="0"/>
              </a:rPr>
              <a:t>Explain integrity constraints and review the concept of primary key and foreign key.</a:t>
            </a:r>
          </a:p>
        </p:txBody>
      </p:sp>
      <p:sp>
        <p:nvSpPr>
          <p:cNvPr id="39939" name="Rectangle 3">
            <a:extLst>
              <a:ext uri="{FF2B5EF4-FFF2-40B4-BE49-F238E27FC236}">
                <a16:creationId xmlns:a16="http://schemas.microsoft.com/office/drawing/2014/main" id="{ED6599E4-640F-521B-9B2D-333E5D64441A}"/>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B7BAAF3-6FEB-7924-D07A-2A90FF44A81C}"/>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41987" name="Rectangle 3">
            <a:extLst>
              <a:ext uri="{FF2B5EF4-FFF2-40B4-BE49-F238E27FC236}">
                <a16:creationId xmlns:a16="http://schemas.microsoft.com/office/drawing/2014/main" id="{2F9FB6C6-E8AF-CA57-A60C-B53028C76538}"/>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Updating Rows Based on Another Table</a:t>
            </a:r>
          </a:p>
          <a:p>
            <a:pPr lvl="1"/>
            <a:r>
              <a:rPr lang="en-US" altLang="en-US">
                <a:latin typeface="Arial" panose="020B0604020202020204" pitchFamily="34" charset="0"/>
              </a:rPr>
              <a:t>You can use subqueries in UPDATE statements to update rows in a table. The example on the slide updates the EMPLOYEE table based on the values from the EMP table. It changes the department number of all employees with employee 7788’s job title to employee 7788’s current department number.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30AF4382-6716-2026-EF84-17850A876A4A}"/>
              </a:ext>
            </a:extLst>
          </p:cNvPr>
          <p:cNvSpPr>
            <a:spLocks noChangeArrowheads="1"/>
          </p:cNvSpPr>
          <p:nvPr/>
        </p:nvSpPr>
        <p:spPr bwMode="auto">
          <a:xfrm>
            <a:off x="3884613" y="-1588"/>
            <a:ext cx="2973387"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4035" name="Rectangle 3">
            <a:extLst>
              <a:ext uri="{FF2B5EF4-FFF2-40B4-BE49-F238E27FC236}">
                <a16:creationId xmlns:a16="http://schemas.microsoft.com/office/drawing/2014/main" id="{5C87A7BB-BD40-5D24-D513-4E079D5AE5B3}"/>
              </a:ext>
            </a:extLst>
          </p:cNvPr>
          <p:cNvSpPr>
            <a:spLocks noChangeArrowheads="1"/>
          </p:cNvSpPr>
          <p:nvPr/>
        </p:nvSpPr>
        <p:spPr bwMode="auto">
          <a:xfrm>
            <a:off x="-1588" y="-1588"/>
            <a:ext cx="2970213" cy="46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4036" name="Rectangle 4">
            <a:extLst>
              <a:ext uri="{FF2B5EF4-FFF2-40B4-BE49-F238E27FC236}">
                <a16:creationId xmlns:a16="http://schemas.microsoft.com/office/drawing/2014/main" id="{AD596060-DF6A-A0F7-EA51-816A4227A646}"/>
              </a:ext>
            </a:extLst>
          </p:cNvPr>
          <p:cNvSpPr>
            <a:spLocks noGrp="1" noChangeArrowheads="1"/>
          </p:cNvSpPr>
          <p:nvPr>
            <p:ph type="body" idx="1"/>
          </p:nvPr>
        </p:nvSpPr>
        <p:spPr>
          <a:xfrm>
            <a:off x="377825" y="4849813"/>
            <a:ext cx="5937250" cy="38655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77825">
              <a:tabLst>
                <a:tab pos="442913" algn="l"/>
              </a:tabLst>
            </a:pPr>
            <a:r>
              <a:rPr lang="en-US" altLang="en-US">
                <a:latin typeface="Arial" panose="020B0604020202020204" pitchFamily="34" charset="0"/>
              </a:rPr>
              <a:t>Removing a Row from a Table</a:t>
            </a:r>
          </a:p>
          <a:p>
            <a:pPr marL="114300" lvl="1" defTabSz="377825">
              <a:tabLst>
                <a:tab pos="442913" algn="l"/>
              </a:tabLst>
            </a:pPr>
            <a:r>
              <a:rPr lang="en-US" altLang="en-US">
                <a:latin typeface="Arial" panose="020B0604020202020204" pitchFamily="34" charset="0"/>
              </a:rPr>
              <a:t>The slide graphic removes the DEVELOPMENT department from the DEPT table (assuming that there are no constraints defined on the DEPT table).</a:t>
            </a: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marL="114300" lvl="1" defTabSz="377825">
              <a:tabLst>
                <a:tab pos="442913" algn="l"/>
              </a:tabLst>
            </a:pPr>
            <a:endParaRPr lang="en-US" altLang="en-US">
              <a:latin typeface="Arial" panose="020B0604020202020204" pitchFamily="34" charset="0"/>
            </a:endParaRPr>
          </a:p>
          <a:p>
            <a:pPr defTabSz="377825">
              <a:tabLst>
                <a:tab pos="442913" algn="l"/>
              </a:tabLst>
            </a:pPr>
            <a:r>
              <a:rPr lang="en-US" altLang="en-US">
                <a:solidFill>
                  <a:schemeClr val="accent2"/>
                </a:solidFill>
                <a:latin typeface="Arial" panose="020B0604020202020204" pitchFamily="34" charset="0"/>
              </a:rPr>
              <a:t>Class Management Note</a:t>
            </a:r>
          </a:p>
          <a:p>
            <a:pPr marL="114300" lvl="1" defTabSz="377825">
              <a:tabLst>
                <a:tab pos="442913" algn="l"/>
              </a:tabLst>
            </a:pPr>
            <a:r>
              <a:rPr lang="en-US" altLang="en-US">
                <a:solidFill>
                  <a:schemeClr val="accent2"/>
                </a:solidFill>
                <a:latin typeface="Arial" panose="020B0604020202020204" pitchFamily="34" charset="0"/>
              </a:rPr>
              <a:t>After all the rows have been eliminated with the DELETE statement, only the data structure of the table remains. A more efficient method of emptying a table is with the TRUNCATE statement.</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You can use the TRUNCATE statement to quickly remove all rows from a table or cluster. Removing rows with the TRUNCATE statement is faster than removing them with the DELETE statement for the following reasons:</a:t>
            </a:r>
          </a:p>
          <a:p>
            <a:pPr marL="436563" lvl="2" indent="-207963" defTabSz="377825">
              <a:tabLst>
                <a:tab pos="442913" algn="l"/>
              </a:tabLst>
            </a:pPr>
            <a:r>
              <a:rPr lang="en-US" altLang="en-US">
                <a:solidFill>
                  <a:schemeClr val="accent2"/>
                </a:solidFill>
                <a:latin typeface="Arial" panose="020B0604020202020204" pitchFamily="34" charset="0"/>
              </a:rPr>
              <a:t>The TRUNCATE statement is a data definition language (DDL) statement and generates no rollback information. It will be covered in a subsequent lesson.</a:t>
            </a:r>
          </a:p>
          <a:p>
            <a:pPr marL="436563" lvl="2" indent="-207963" defTabSz="377825">
              <a:tabLst>
                <a:tab pos="442913" algn="l"/>
              </a:tabLst>
            </a:pPr>
            <a:r>
              <a:rPr lang="en-US" altLang="en-US">
                <a:solidFill>
                  <a:schemeClr val="accent2"/>
                </a:solidFill>
                <a:latin typeface="Arial" panose="020B0604020202020204" pitchFamily="34" charset="0"/>
              </a:rPr>
              <a:t>Truncating a table does not fire the DELETE triggers of the table. </a:t>
            </a:r>
          </a:p>
          <a:p>
            <a:pPr marL="436563" lvl="2" indent="-207963" defTabSz="377825">
              <a:tabLst>
                <a:tab pos="442913" algn="l"/>
              </a:tabLst>
            </a:pPr>
            <a:r>
              <a:rPr lang="en-US" altLang="en-US">
                <a:solidFill>
                  <a:schemeClr val="accent2"/>
                </a:solidFill>
                <a:latin typeface="Arial" panose="020B0604020202020204" pitchFamily="34" charset="0"/>
              </a:rPr>
              <a:t>If the table is the parent of a referential integrity constraint, you cannot truncate the table. Disable the constraint before issuing the TRUNCATE statement.</a:t>
            </a:r>
          </a:p>
        </p:txBody>
      </p:sp>
      <p:sp>
        <p:nvSpPr>
          <p:cNvPr id="44037" name="Rectangle 5">
            <a:extLst>
              <a:ext uri="{FF2B5EF4-FFF2-40B4-BE49-F238E27FC236}">
                <a16:creationId xmlns:a16="http://schemas.microsoft.com/office/drawing/2014/main" id="{B783E47B-9A49-FE44-8790-ADE7D561A937}"/>
              </a:ext>
            </a:extLst>
          </p:cNvPr>
          <p:cNvSpPr>
            <a:spLocks noGrp="1" noRot="1" noChangeArrowheads="1" noTextEdit="1"/>
          </p:cNvSpPr>
          <p:nvPr>
            <p:ph type="sldImg"/>
          </p:nvPr>
        </p:nvSpPr>
        <p:spPr>
          <a:xfrm>
            <a:off x="407988" y="171450"/>
            <a:ext cx="6037262" cy="4527550"/>
          </a:xfrm>
          <a:ln w="12700" cap="flat">
            <a:solidFill>
              <a:schemeClr val="tx1"/>
            </a:solid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7A7CAB7-DB5A-D4DE-6022-C015AB7F8722}"/>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6083" name="Rectangle 3">
            <a:extLst>
              <a:ext uri="{FF2B5EF4-FFF2-40B4-BE49-F238E27FC236}">
                <a16:creationId xmlns:a16="http://schemas.microsoft.com/office/drawing/2014/main" id="{098A6F5F-BA7F-F8B0-E940-9BFC8C47B496}"/>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6084" name="Rectangle 4">
            <a:extLst>
              <a:ext uri="{FF2B5EF4-FFF2-40B4-BE49-F238E27FC236}">
                <a16:creationId xmlns:a16="http://schemas.microsoft.com/office/drawing/2014/main" id="{441949DC-FD59-6147-B056-5A6A736A0FC1}"/>
              </a:ext>
            </a:extLst>
          </p:cNvPr>
          <p:cNvSpPr>
            <a:spLocks noGrp="1" noChangeArrowheads="1"/>
          </p:cNvSpPr>
          <p:nvPr>
            <p:ph type="body" idx="1"/>
          </p:nvPr>
        </p:nvSpPr>
        <p:spPr>
          <a:xfrm>
            <a:off x="3873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Deleting Rows</a:t>
            </a:r>
          </a:p>
          <a:p>
            <a:pPr marL="114300" lvl="1" defTabSz="382588"/>
            <a:r>
              <a:rPr lang="en-US" altLang="en-US">
                <a:latin typeface="Arial" panose="020B0604020202020204" pitchFamily="34" charset="0"/>
              </a:rPr>
              <a:t>You can remove existing rows by using the </a:t>
            </a:r>
            <a:r>
              <a:rPr lang="en-US" altLang="en-US">
                <a:solidFill>
                  <a:srgbClr val="FC0128"/>
                </a:solidFill>
                <a:latin typeface="Arial" panose="020B0604020202020204" pitchFamily="34" charset="0"/>
              </a:rPr>
              <a:t>DELETE </a:t>
            </a:r>
            <a:r>
              <a:rPr lang="en-US" altLang="en-US">
                <a:latin typeface="Arial" panose="020B0604020202020204" pitchFamily="34" charset="0"/>
              </a:rPr>
              <a:t>statement.</a:t>
            </a:r>
          </a:p>
          <a:p>
            <a:pPr marL="114300" lvl="1" defTabSz="382588"/>
            <a:r>
              <a:rPr lang="en-US" altLang="en-US">
                <a:latin typeface="Arial" panose="020B0604020202020204" pitchFamily="34" charset="0"/>
              </a:rPr>
              <a:t>In the syntax:</a:t>
            </a:r>
          </a:p>
          <a:p>
            <a:pPr marL="114300" lvl="1" defTabSz="382588"/>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table name</a:t>
            </a:r>
            <a:br>
              <a:rPr lang="en-US" altLang="en-US">
                <a:latin typeface="Arial" panose="020B0604020202020204" pitchFamily="34" charset="0"/>
              </a:rPr>
            </a:br>
            <a:r>
              <a:rPr lang="en-US" altLang="en-US">
                <a:latin typeface="Arial" panose="020B0604020202020204" pitchFamily="34" charset="0"/>
              </a:rPr>
              <a:t>	</a:t>
            </a:r>
            <a:r>
              <a:rPr lang="en-US" altLang="en-US" i="1">
                <a:latin typeface="Arial" panose="020B0604020202020204" pitchFamily="34" charset="0"/>
              </a:rPr>
              <a:t>condition</a:t>
            </a:r>
            <a:r>
              <a:rPr lang="en-US" altLang="en-US">
                <a:latin typeface="Arial" panose="020B0604020202020204" pitchFamily="34" charset="0"/>
              </a:rPr>
              <a:t>		identifies the rows to be deleted and is composed of column names, 						expressions, constants, subqueries, and comparison operators</a:t>
            </a:r>
          </a:p>
          <a:p>
            <a:pPr marL="114300" lvl="1" defTabSz="382588"/>
            <a:r>
              <a:rPr lang="en-US" altLang="en-US">
                <a:latin typeface="Arial" panose="020B0604020202020204" pitchFamily="34" charset="0"/>
              </a:rPr>
              <a:t>For more information, see</a:t>
            </a:r>
            <a:br>
              <a:rPr lang="en-US" altLang="en-US">
                <a:latin typeface="Arial" panose="020B0604020202020204" pitchFamily="34" charset="0"/>
              </a:rPr>
            </a:br>
            <a:r>
              <a:rPr lang="en-US" altLang="en-US" i="1">
                <a:latin typeface="Arial" panose="020B0604020202020204" pitchFamily="34" charset="0"/>
              </a:rPr>
              <a:t>Oracle Server SQL Reference, </a:t>
            </a:r>
            <a:r>
              <a:rPr lang="en-US" altLang="en-US">
                <a:latin typeface="Arial" panose="020B0604020202020204" pitchFamily="34" charset="0"/>
              </a:rPr>
              <a:t>Release 8,</a:t>
            </a:r>
            <a:r>
              <a:rPr lang="en-US" altLang="en-US" b="1">
                <a:latin typeface="Arial" panose="020B0604020202020204" pitchFamily="34" charset="0"/>
              </a:rPr>
              <a:t> </a:t>
            </a:r>
            <a:r>
              <a:rPr lang="en-US" altLang="en-US">
                <a:latin typeface="Arial" panose="020B0604020202020204" pitchFamily="34" charset="0"/>
              </a:rPr>
              <a:t>“DELETE.”</a:t>
            </a: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defTabSz="382588"/>
            <a:r>
              <a:rPr lang="en-US" altLang="en-US">
                <a:solidFill>
                  <a:schemeClr val="accent2"/>
                </a:solidFill>
                <a:latin typeface="Arial" panose="020B0604020202020204" pitchFamily="34" charset="0"/>
              </a:rPr>
              <a:t>Class Management Note</a:t>
            </a:r>
          </a:p>
          <a:p>
            <a:pPr marL="114300" lvl="1" defTabSz="382588"/>
            <a:r>
              <a:rPr lang="en-US" altLang="en-US">
                <a:solidFill>
                  <a:schemeClr val="accent2"/>
                </a:solidFill>
                <a:latin typeface="Arial" panose="020B0604020202020204" pitchFamily="34" charset="0"/>
              </a:rPr>
              <a:t>The DELETE statement does not ask for confirmation. However, the delete operation is not made permanent until the data transaction is committed. Therefore, you can undo the operation with the ROLLBACK statement if you make a mistake.</a:t>
            </a:r>
          </a:p>
        </p:txBody>
      </p:sp>
      <p:sp>
        <p:nvSpPr>
          <p:cNvPr id="46085" name="Rectangle 5">
            <a:extLst>
              <a:ext uri="{FF2B5EF4-FFF2-40B4-BE49-F238E27FC236}">
                <a16:creationId xmlns:a16="http://schemas.microsoft.com/office/drawing/2014/main" id="{E76B1C99-EE17-9587-C9AB-7F8E51C15151}"/>
              </a:ext>
            </a:extLst>
          </p:cNvPr>
          <p:cNvSpPr>
            <a:spLocks noGrp="1" noRot="1" noChangeArrowheads="1" noTextEdit="1"/>
          </p:cNvSpPr>
          <p:nvPr>
            <p:ph type="sldImg"/>
          </p:nvPr>
        </p:nvSpPr>
        <p:spPr>
          <a:xfrm>
            <a:off x="441325" y="165100"/>
            <a:ext cx="5970588" cy="4478338"/>
          </a:xfrm>
          <a:ln w="12700" cap="flat">
            <a:solidFill>
              <a:schemeClr val="tx1"/>
            </a:solidFill>
          </a:ln>
        </p:spPr>
      </p:sp>
      <p:grpSp>
        <p:nvGrpSpPr>
          <p:cNvPr id="46086" name="Group 6">
            <a:extLst>
              <a:ext uri="{FF2B5EF4-FFF2-40B4-BE49-F238E27FC236}">
                <a16:creationId xmlns:a16="http://schemas.microsoft.com/office/drawing/2014/main" id="{177EE634-A85F-B7BC-4148-0B2106D9A19E}"/>
              </a:ext>
            </a:extLst>
          </p:cNvPr>
          <p:cNvGrpSpPr>
            <a:grpSpLocks/>
          </p:cNvGrpSpPr>
          <p:nvPr/>
        </p:nvGrpSpPr>
        <p:grpSpPr bwMode="auto">
          <a:xfrm>
            <a:off x="177800" y="6172200"/>
            <a:ext cx="296863" cy="295275"/>
            <a:chOff x="111" y="3818"/>
            <a:chExt cx="186" cy="182"/>
          </a:xfrm>
        </p:grpSpPr>
        <p:sp>
          <p:nvSpPr>
            <p:cNvPr id="46087" name="Freeform 7">
              <a:extLst>
                <a:ext uri="{FF2B5EF4-FFF2-40B4-BE49-F238E27FC236}">
                  <a16:creationId xmlns:a16="http://schemas.microsoft.com/office/drawing/2014/main" id="{8498A855-82B7-C7D7-BF9C-3CC600F74742}"/>
                </a:ext>
              </a:extLst>
            </p:cNvPr>
            <p:cNvSpPr>
              <a:spLocks/>
            </p:cNvSpPr>
            <p:nvPr/>
          </p:nvSpPr>
          <p:spPr bwMode="auto">
            <a:xfrm>
              <a:off x="111" y="3818"/>
              <a:ext cx="176" cy="176"/>
            </a:xfrm>
            <a:custGeom>
              <a:avLst/>
              <a:gdLst>
                <a:gd name="T0" fmla="*/ 175 w 176"/>
                <a:gd name="T1" fmla="*/ 175 h 176"/>
                <a:gd name="T2" fmla="*/ 175 w 176"/>
                <a:gd name="T3" fmla="*/ 0 h 176"/>
                <a:gd name="T4" fmla="*/ 0 w 176"/>
                <a:gd name="T5" fmla="*/ 0 h 176"/>
                <a:gd name="T6" fmla="*/ 0 w 176"/>
                <a:gd name="T7" fmla="*/ 175 h 176"/>
                <a:gd name="T8" fmla="*/ 175 w 176"/>
                <a:gd name="T9" fmla="*/ 175 h 176"/>
                <a:gd name="T10" fmla="*/ 0 60000 65536"/>
                <a:gd name="T11" fmla="*/ 0 60000 65536"/>
                <a:gd name="T12" fmla="*/ 0 60000 65536"/>
                <a:gd name="T13" fmla="*/ 0 60000 65536"/>
                <a:gd name="T14" fmla="*/ 0 60000 65536"/>
                <a:gd name="T15" fmla="*/ 0 w 176"/>
                <a:gd name="T16" fmla="*/ 0 h 176"/>
                <a:gd name="T17" fmla="*/ 176 w 176"/>
                <a:gd name="T18" fmla="*/ 176 h 176"/>
              </a:gdLst>
              <a:ahLst/>
              <a:cxnLst>
                <a:cxn ang="T10">
                  <a:pos x="T0" y="T1"/>
                </a:cxn>
                <a:cxn ang="T11">
                  <a:pos x="T2" y="T3"/>
                </a:cxn>
                <a:cxn ang="T12">
                  <a:pos x="T4" y="T5"/>
                </a:cxn>
                <a:cxn ang="T13">
                  <a:pos x="T6" y="T7"/>
                </a:cxn>
                <a:cxn ang="T14">
                  <a:pos x="T8" y="T9"/>
                </a:cxn>
              </a:cxnLst>
              <a:rect l="T15" t="T16" r="T17" b="T18"/>
              <a:pathLst>
                <a:path w="176" h="176">
                  <a:moveTo>
                    <a:pt x="175" y="175"/>
                  </a:moveTo>
                  <a:lnTo>
                    <a:pt x="175" y="0"/>
                  </a:lnTo>
                  <a:lnTo>
                    <a:pt x="0" y="0"/>
                  </a:lnTo>
                  <a:lnTo>
                    <a:pt x="0" y="175"/>
                  </a:lnTo>
                  <a:lnTo>
                    <a:pt x="175" y="175"/>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88" name="Freeform 8">
              <a:extLst>
                <a:ext uri="{FF2B5EF4-FFF2-40B4-BE49-F238E27FC236}">
                  <a16:creationId xmlns:a16="http://schemas.microsoft.com/office/drawing/2014/main" id="{8A4DFDE8-6903-36E9-5698-9E5C53D7A510}"/>
                </a:ext>
              </a:extLst>
            </p:cNvPr>
            <p:cNvSpPr>
              <a:spLocks/>
            </p:cNvSpPr>
            <p:nvPr/>
          </p:nvSpPr>
          <p:spPr bwMode="auto">
            <a:xfrm>
              <a:off x="172" y="3883"/>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 name="T10" fmla="*/ 0 60000 65536"/>
                <a:gd name="T11" fmla="*/ 0 60000 65536"/>
                <a:gd name="T12" fmla="*/ 0 60000 65536"/>
                <a:gd name="T13" fmla="*/ 0 60000 65536"/>
                <a:gd name="T14" fmla="*/ 0 60000 65536"/>
                <a:gd name="T15" fmla="*/ 0 w 70"/>
                <a:gd name="T16" fmla="*/ 0 h 36"/>
                <a:gd name="T17" fmla="*/ 70 w 70"/>
                <a:gd name="T18" fmla="*/ 36 h 36"/>
              </a:gdLst>
              <a:ahLst/>
              <a:cxnLst>
                <a:cxn ang="T10">
                  <a:pos x="T0" y="T1"/>
                </a:cxn>
                <a:cxn ang="T11">
                  <a:pos x="T2" y="T3"/>
                </a:cxn>
                <a:cxn ang="T12">
                  <a:pos x="T4" y="T5"/>
                </a:cxn>
                <a:cxn ang="T13">
                  <a:pos x="T6" y="T7"/>
                </a:cxn>
                <a:cxn ang="T14">
                  <a:pos x="T8" y="T9"/>
                </a:cxn>
              </a:cxnLst>
              <a:rect l="T15" t="T16" r="T17" b="T18"/>
              <a:pathLst>
                <a:path w="70" h="36">
                  <a:moveTo>
                    <a:pt x="69" y="6"/>
                  </a:moveTo>
                  <a:lnTo>
                    <a:pt x="65" y="0"/>
                  </a:lnTo>
                  <a:lnTo>
                    <a:pt x="0" y="28"/>
                  </a:lnTo>
                  <a:lnTo>
                    <a:pt x="3" y="35"/>
                  </a:lnTo>
                  <a:lnTo>
                    <a:pt x="69"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89" name="Freeform 9">
              <a:extLst>
                <a:ext uri="{FF2B5EF4-FFF2-40B4-BE49-F238E27FC236}">
                  <a16:creationId xmlns:a16="http://schemas.microsoft.com/office/drawing/2014/main" id="{C45AC0E2-5E9C-372B-FB0E-E036A1A46FAB}"/>
                </a:ext>
              </a:extLst>
            </p:cNvPr>
            <p:cNvSpPr>
              <a:spLocks/>
            </p:cNvSpPr>
            <p:nvPr/>
          </p:nvSpPr>
          <p:spPr bwMode="auto">
            <a:xfrm>
              <a:off x="181" y="3900"/>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0" name="Freeform 10">
              <a:extLst>
                <a:ext uri="{FF2B5EF4-FFF2-40B4-BE49-F238E27FC236}">
                  <a16:creationId xmlns:a16="http://schemas.microsoft.com/office/drawing/2014/main" id="{01344DAD-F9AC-76E8-69D2-1BED9D701033}"/>
                </a:ext>
              </a:extLst>
            </p:cNvPr>
            <p:cNvSpPr>
              <a:spLocks/>
            </p:cNvSpPr>
            <p:nvPr/>
          </p:nvSpPr>
          <p:spPr bwMode="auto">
            <a:xfrm>
              <a:off x="187" y="3914"/>
              <a:ext cx="68" cy="36"/>
            </a:xfrm>
            <a:custGeom>
              <a:avLst/>
              <a:gdLst>
                <a:gd name="T0" fmla="*/ 67 w 68"/>
                <a:gd name="T1" fmla="*/ 6 h 36"/>
                <a:gd name="T2" fmla="*/ 64 w 68"/>
                <a:gd name="T3" fmla="*/ 0 h 36"/>
                <a:gd name="T4" fmla="*/ 0 w 68"/>
                <a:gd name="T5" fmla="*/ 28 h 36"/>
                <a:gd name="T6" fmla="*/ 2 w 68"/>
                <a:gd name="T7" fmla="*/ 35 h 36"/>
                <a:gd name="T8" fmla="*/ 67 w 68"/>
                <a:gd name="T9" fmla="*/ 6 h 36"/>
                <a:gd name="T10" fmla="*/ 0 60000 65536"/>
                <a:gd name="T11" fmla="*/ 0 60000 65536"/>
                <a:gd name="T12" fmla="*/ 0 60000 65536"/>
                <a:gd name="T13" fmla="*/ 0 60000 65536"/>
                <a:gd name="T14" fmla="*/ 0 60000 65536"/>
                <a:gd name="T15" fmla="*/ 0 w 68"/>
                <a:gd name="T16" fmla="*/ 0 h 36"/>
                <a:gd name="T17" fmla="*/ 68 w 68"/>
                <a:gd name="T18" fmla="*/ 36 h 36"/>
              </a:gdLst>
              <a:ahLst/>
              <a:cxnLst>
                <a:cxn ang="T10">
                  <a:pos x="T0" y="T1"/>
                </a:cxn>
                <a:cxn ang="T11">
                  <a:pos x="T2" y="T3"/>
                </a:cxn>
                <a:cxn ang="T12">
                  <a:pos x="T4" y="T5"/>
                </a:cxn>
                <a:cxn ang="T13">
                  <a:pos x="T6" y="T7"/>
                </a:cxn>
                <a:cxn ang="T14">
                  <a:pos x="T8" y="T9"/>
                </a:cxn>
              </a:cxnLst>
              <a:rect l="T15" t="T16" r="T17" b="T18"/>
              <a:pathLst>
                <a:path w="68" h="36">
                  <a:moveTo>
                    <a:pt x="67" y="6"/>
                  </a:moveTo>
                  <a:lnTo>
                    <a:pt x="64" y="0"/>
                  </a:lnTo>
                  <a:lnTo>
                    <a:pt x="0" y="28"/>
                  </a:lnTo>
                  <a:lnTo>
                    <a:pt x="2" y="35"/>
                  </a:lnTo>
                  <a:lnTo>
                    <a:pt x="67"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1" name="Freeform 11">
              <a:extLst>
                <a:ext uri="{FF2B5EF4-FFF2-40B4-BE49-F238E27FC236}">
                  <a16:creationId xmlns:a16="http://schemas.microsoft.com/office/drawing/2014/main" id="{B75276FA-E681-72BB-ED60-D8DDB727D64E}"/>
                </a:ext>
              </a:extLst>
            </p:cNvPr>
            <p:cNvSpPr>
              <a:spLocks/>
            </p:cNvSpPr>
            <p:nvPr/>
          </p:nvSpPr>
          <p:spPr bwMode="auto">
            <a:xfrm>
              <a:off x="196" y="3932"/>
              <a:ext cx="69" cy="36"/>
            </a:xfrm>
            <a:custGeom>
              <a:avLst/>
              <a:gdLst>
                <a:gd name="T0" fmla="*/ 68 w 69"/>
                <a:gd name="T1" fmla="*/ 6 h 36"/>
                <a:gd name="T2" fmla="*/ 65 w 69"/>
                <a:gd name="T3" fmla="*/ 0 h 36"/>
                <a:gd name="T4" fmla="*/ 0 w 69"/>
                <a:gd name="T5" fmla="*/ 28 h 36"/>
                <a:gd name="T6" fmla="*/ 3 w 69"/>
                <a:gd name="T7" fmla="*/ 35 h 36"/>
                <a:gd name="T8" fmla="*/ 68 w 69"/>
                <a:gd name="T9" fmla="*/ 6 h 36"/>
                <a:gd name="T10" fmla="*/ 0 60000 65536"/>
                <a:gd name="T11" fmla="*/ 0 60000 65536"/>
                <a:gd name="T12" fmla="*/ 0 60000 65536"/>
                <a:gd name="T13" fmla="*/ 0 60000 65536"/>
                <a:gd name="T14" fmla="*/ 0 60000 65536"/>
                <a:gd name="T15" fmla="*/ 0 w 69"/>
                <a:gd name="T16" fmla="*/ 0 h 36"/>
                <a:gd name="T17" fmla="*/ 69 w 69"/>
                <a:gd name="T18" fmla="*/ 36 h 36"/>
              </a:gdLst>
              <a:ahLst/>
              <a:cxnLst>
                <a:cxn ang="T10">
                  <a:pos x="T0" y="T1"/>
                </a:cxn>
                <a:cxn ang="T11">
                  <a:pos x="T2" y="T3"/>
                </a:cxn>
                <a:cxn ang="T12">
                  <a:pos x="T4" y="T5"/>
                </a:cxn>
                <a:cxn ang="T13">
                  <a:pos x="T6" y="T7"/>
                </a:cxn>
                <a:cxn ang="T14">
                  <a:pos x="T8" y="T9"/>
                </a:cxn>
              </a:cxnLst>
              <a:rect l="T15" t="T16" r="T17" b="T18"/>
              <a:pathLst>
                <a:path w="69" h="36">
                  <a:moveTo>
                    <a:pt x="68" y="6"/>
                  </a:moveTo>
                  <a:lnTo>
                    <a:pt x="65" y="0"/>
                  </a:lnTo>
                  <a:lnTo>
                    <a:pt x="0" y="28"/>
                  </a:lnTo>
                  <a:lnTo>
                    <a:pt x="3" y="35"/>
                  </a:lnTo>
                  <a:lnTo>
                    <a:pt x="68"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2" name="Freeform 12">
              <a:extLst>
                <a:ext uri="{FF2B5EF4-FFF2-40B4-BE49-F238E27FC236}">
                  <a16:creationId xmlns:a16="http://schemas.microsoft.com/office/drawing/2014/main" id="{789D080B-0C44-8C54-5E9C-9DFCA148C366}"/>
                </a:ext>
              </a:extLst>
            </p:cNvPr>
            <p:cNvSpPr>
              <a:spLocks/>
            </p:cNvSpPr>
            <p:nvPr/>
          </p:nvSpPr>
          <p:spPr bwMode="auto">
            <a:xfrm>
              <a:off x="203" y="3947"/>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 name="T10" fmla="*/ 0 60000 65536"/>
                <a:gd name="T11" fmla="*/ 0 60000 65536"/>
                <a:gd name="T12" fmla="*/ 0 60000 65536"/>
                <a:gd name="T13" fmla="*/ 0 60000 65536"/>
                <a:gd name="T14" fmla="*/ 0 60000 65536"/>
                <a:gd name="T15" fmla="*/ 0 w 69"/>
                <a:gd name="T16" fmla="*/ 0 h 37"/>
                <a:gd name="T17" fmla="*/ 69 w 69"/>
                <a:gd name="T18" fmla="*/ 37 h 37"/>
              </a:gdLst>
              <a:ahLst/>
              <a:cxnLst>
                <a:cxn ang="T10">
                  <a:pos x="T0" y="T1"/>
                </a:cxn>
                <a:cxn ang="T11">
                  <a:pos x="T2" y="T3"/>
                </a:cxn>
                <a:cxn ang="T12">
                  <a:pos x="T4" y="T5"/>
                </a:cxn>
                <a:cxn ang="T13">
                  <a:pos x="T6" y="T7"/>
                </a:cxn>
                <a:cxn ang="T14">
                  <a:pos x="T8" y="T9"/>
                </a:cxn>
              </a:cxnLst>
              <a:rect l="T15" t="T16" r="T17" b="T18"/>
              <a:pathLst>
                <a:path w="69" h="37">
                  <a:moveTo>
                    <a:pt x="68" y="7"/>
                  </a:moveTo>
                  <a:lnTo>
                    <a:pt x="65" y="0"/>
                  </a:lnTo>
                  <a:lnTo>
                    <a:pt x="0" y="29"/>
                  </a:lnTo>
                  <a:lnTo>
                    <a:pt x="3" y="36"/>
                  </a:lnTo>
                  <a:lnTo>
                    <a:pt x="68"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3" name="Freeform 13">
              <a:extLst>
                <a:ext uri="{FF2B5EF4-FFF2-40B4-BE49-F238E27FC236}">
                  <a16:creationId xmlns:a16="http://schemas.microsoft.com/office/drawing/2014/main" id="{C231E1C4-5FA1-D7A9-0ED7-1B314381D392}"/>
                </a:ext>
              </a:extLst>
            </p:cNvPr>
            <p:cNvSpPr>
              <a:spLocks/>
            </p:cNvSpPr>
            <p:nvPr/>
          </p:nvSpPr>
          <p:spPr bwMode="auto">
            <a:xfrm>
              <a:off x="132" y="3846"/>
              <a:ext cx="121" cy="59"/>
            </a:xfrm>
            <a:custGeom>
              <a:avLst/>
              <a:gdLst>
                <a:gd name="T0" fmla="*/ 120 w 121"/>
                <a:gd name="T1" fmla="*/ 7 h 59"/>
                <a:gd name="T2" fmla="*/ 118 w 121"/>
                <a:gd name="T3" fmla="*/ 0 h 59"/>
                <a:gd name="T4" fmla="*/ 0 w 121"/>
                <a:gd name="T5" fmla="*/ 50 h 59"/>
                <a:gd name="T6" fmla="*/ 2 w 121"/>
                <a:gd name="T7" fmla="*/ 58 h 59"/>
                <a:gd name="T8" fmla="*/ 120 w 121"/>
                <a:gd name="T9" fmla="*/ 7 h 59"/>
                <a:gd name="T10" fmla="*/ 0 60000 65536"/>
                <a:gd name="T11" fmla="*/ 0 60000 65536"/>
                <a:gd name="T12" fmla="*/ 0 60000 65536"/>
                <a:gd name="T13" fmla="*/ 0 60000 65536"/>
                <a:gd name="T14" fmla="*/ 0 60000 65536"/>
                <a:gd name="T15" fmla="*/ 0 w 121"/>
                <a:gd name="T16" fmla="*/ 0 h 59"/>
                <a:gd name="T17" fmla="*/ 121 w 121"/>
                <a:gd name="T18" fmla="*/ 59 h 59"/>
              </a:gdLst>
              <a:ahLst/>
              <a:cxnLst>
                <a:cxn ang="T10">
                  <a:pos x="T0" y="T1"/>
                </a:cxn>
                <a:cxn ang="T11">
                  <a:pos x="T2" y="T3"/>
                </a:cxn>
                <a:cxn ang="T12">
                  <a:pos x="T4" y="T5"/>
                </a:cxn>
                <a:cxn ang="T13">
                  <a:pos x="T6" y="T7"/>
                </a:cxn>
                <a:cxn ang="T14">
                  <a:pos x="T8" y="T9"/>
                </a:cxn>
              </a:cxnLst>
              <a:rect l="T15" t="T16" r="T17" b="T18"/>
              <a:pathLst>
                <a:path w="121" h="59">
                  <a:moveTo>
                    <a:pt x="120" y="7"/>
                  </a:moveTo>
                  <a:lnTo>
                    <a:pt x="118" y="0"/>
                  </a:lnTo>
                  <a:lnTo>
                    <a:pt x="0" y="50"/>
                  </a:lnTo>
                  <a:lnTo>
                    <a:pt x="2" y="58"/>
                  </a:lnTo>
                  <a:lnTo>
                    <a:pt x="120" y="7"/>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4" name="Freeform 14">
              <a:extLst>
                <a:ext uri="{FF2B5EF4-FFF2-40B4-BE49-F238E27FC236}">
                  <a16:creationId xmlns:a16="http://schemas.microsoft.com/office/drawing/2014/main" id="{2676B66C-E59B-EEDB-ECD2-2F66AB5D40AE}"/>
                </a:ext>
              </a:extLst>
            </p:cNvPr>
            <p:cNvSpPr>
              <a:spLocks/>
            </p:cNvSpPr>
            <p:nvPr/>
          </p:nvSpPr>
          <p:spPr bwMode="auto">
            <a:xfrm>
              <a:off x="115" y="3835"/>
              <a:ext cx="122" cy="58"/>
            </a:xfrm>
            <a:custGeom>
              <a:avLst/>
              <a:gdLst>
                <a:gd name="T0" fmla="*/ 121 w 122"/>
                <a:gd name="T1" fmla="*/ 6 h 58"/>
                <a:gd name="T2" fmla="*/ 118 w 122"/>
                <a:gd name="T3" fmla="*/ 0 h 58"/>
                <a:gd name="T4" fmla="*/ 0 w 122"/>
                <a:gd name="T5" fmla="*/ 50 h 58"/>
                <a:gd name="T6" fmla="*/ 1 w 122"/>
                <a:gd name="T7" fmla="*/ 57 h 58"/>
                <a:gd name="T8" fmla="*/ 121 w 122"/>
                <a:gd name="T9" fmla="*/ 6 h 58"/>
                <a:gd name="T10" fmla="*/ 0 60000 65536"/>
                <a:gd name="T11" fmla="*/ 0 60000 65536"/>
                <a:gd name="T12" fmla="*/ 0 60000 65536"/>
                <a:gd name="T13" fmla="*/ 0 60000 65536"/>
                <a:gd name="T14" fmla="*/ 0 60000 65536"/>
                <a:gd name="T15" fmla="*/ 0 w 122"/>
                <a:gd name="T16" fmla="*/ 0 h 58"/>
                <a:gd name="T17" fmla="*/ 122 w 122"/>
                <a:gd name="T18" fmla="*/ 58 h 58"/>
              </a:gdLst>
              <a:ahLst/>
              <a:cxnLst>
                <a:cxn ang="T10">
                  <a:pos x="T0" y="T1"/>
                </a:cxn>
                <a:cxn ang="T11">
                  <a:pos x="T2" y="T3"/>
                </a:cxn>
                <a:cxn ang="T12">
                  <a:pos x="T4" y="T5"/>
                </a:cxn>
                <a:cxn ang="T13">
                  <a:pos x="T6" y="T7"/>
                </a:cxn>
                <a:cxn ang="T14">
                  <a:pos x="T8" y="T9"/>
                </a:cxn>
              </a:cxnLst>
              <a:rect l="T15" t="T16" r="T17" b="T18"/>
              <a:pathLst>
                <a:path w="122" h="58">
                  <a:moveTo>
                    <a:pt x="121" y="6"/>
                  </a:moveTo>
                  <a:lnTo>
                    <a:pt x="118" y="0"/>
                  </a:lnTo>
                  <a:lnTo>
                    <a:pt x="0" y="50"/>
                  </a:lnTo>
                  <a:lnTo>
                    <a:pt x="1" y="57"/>
                  </a:lnTo>
                  <a:lnTo>
                    <a:pt x="121" y="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5" name="Freeform 15">
              <a:extLst>
                <a:ext uri="{FF2B5EF4-FFF2-40B4-BE49-F238E27FC236}">
                  <a16:creationId xmlns:a16="http://schemas.microsoft.com/office/drawing/2014/main" id="{C9E1B05A-1065-1476-E801-D3D63230558C}"/>
                </a:ext>
              </a:extLst>
            </p:cNvPr>
            <p:cNvSpPr>
              <a:spLocks/>
            </p:cNvSpPr>
            <p:nvPr/>
          </p:nvSpPr>
          <p:spPr bwMode="auto">
            <a:xfrm>
              <a:off x="242" y="3848"/>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 name="T10" fmla="*/ 0 60000 65536"/>
                <a:gd name="T11" fmla="*/ 0 60000 65536"/>
                <a:gd name="T12" fmla="*/ 0 60000 65536"/>
                <a:gd name="T13" fmla="*/ 0 60000 65536"/>
                <a:gd name="T14" fmla="*/ 0 60000 65536"/>
                <a:gd name="T15" fmla="*/ 0 w 55"/>
                <a:gd name="T16" fmla="*/ 0 h 104"/>
                <a:gd name="T17" fmla="*/ 55 w 55"/>
                <a:gd name="T18" fmla="*/ 104 h 104"/>
              </a:gdLst>
              <a:ahLst/>
              <a:cxnLst>
                <a:cxn ang="T10">
                  <a:pos x="T0" y="T1"/>
                </a:cxn>
                <a:cxn ang="T11">
                  <a:pos x="T2" y="T3"/>
                </a:cxn>
                <a:cxn ang="T12">
                  <a:pos x="T4" y="T5"/>
                </a:cxn>
                <a:cxn ang="T13">
                  <a:pos x="T6" y="T7"/>
                </a:cxn>
                <a:cxn ang="T14">
                  <a:pos x="T8" y="T9"/>
                </a:cxn>
              </a:cxnLst>
              <a:rect l="T15" t="T16" r="T17" b="T18"/>
              <a:pathLst>
                <a:path w="55" h="104">
                  <a:moveTo>
                    <a:pt x="46" y="103"/>
                  </a:moveTo>
                  <a:lnTo>
                    <a:pt x="54" y="100"/>
                  </a:lnTo>
                  <a:lnTo>
                    <a:pt x="7" y="0"/>
                  </a:lnTo>
                  <a:lnTo>
                    <a:pt x="0" y="2"/>
                  </a:lnTo>
                  <a:lnTo>
                    <a:pt x="46" y="103"/>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6" name="Freeform 16">
              <a:extLst>
                <a:ext uri="{FF2B5EF4-FFF2-40B4-BE49-F238E27FC236}">
                  <a16:creationId xmlns:a16="http://schemas.microsoft.com/office/drawing/2014/main" id="{F44DA2A3-F25E-BC56-FC89-F00FA86ECA18}"/>
                </a:ext>
              </a:extLst>
            </p:cNvPr>
            <p:cNvSpPr>
              <a:spLocks/>
            </p:cNvSpPr>
            <p:nvPr/>
          </p:nvSpPr>
          <p:spPr bwMode="auto">
            <a:xfrm>
              <a:off x="132" y="3893"/>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45" y="106"/>
                  </a:moveTo>
                  <a:lnTo>
                    <a:pt x="52" y="102"/>
                  </a:lnTo>
                  <a:lnTo>
                    <a:pt x="6" y="0"/>
                  </a:lnTo>
                  <a:lnTo>
                    <a:pt x="0" y="4"/>
                  </a:lnTo>
                  <a:lnTo>
                    <a:pt x="45" y="10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7" name="Freeform 17">
              <a:extLst>
                <a:ext uri="{FF2B5EF4-FFF2-40B4-BE49-F238E27FC236}">
                  <a16:creationId xmlns:a16="http://schemas.microsoft.com/office/drawing/2014/main" id="{78C46CBD-9E9E-A22D-3183-BA707F6ADD29}"/>
                </a:ext>
              </a:extLst>
            </p:cNvPr>
            <p:cNvSpPr>
              <a:spLocks/>
            </p:cNvSpPr>
            <p:nvPr/>
          </p:nvSpPr>
          <p:spPr bwMode="auto">
            <a:xfrm>
              <a:off x="111" y="3885"/>
              <a:ext cx="58" cy="115"/>
            </a:xfrm>
            <a:custGeom>
              <a:avLst/>
              <a:gdLst>
                <a:gd name="T0" fmla="*/ 50 w 58"/>
                <a:gd name="T1" fmla="*/ 114 h 115"/>
                <a:gd name="T2" fmla="*/ 57 w 58"/>
                <a:gd name="T3" fmla="*/ 111 h 115"/>
                <a:gd name="T4" fmla="*/ 5 w 58"/>
                <a:gd name="T5" fmla="*/ 0 h 115"/>
                <a:gd name="T6" fmla="*/ 0 w 58"/>
                <a:gd name="T7" fmla="*/ 2 h 115"/>
                <a:gd name="T8" fmla="*/ 50 w 58"/>
                <a:gd name="T9" fmla="*/ 114 h 115"/>
                <a:gd name="T10" fmla="*/ 0 60000 65536"/>
                <a:gd name="T11" fmla="*/ 0 60000 65536"/>
                <a:gd name="T12" fmla="*/ 0 60000 65536"/>
                <a:gd name="T13" fmla="*/ 0 60000 65536"/>
                <a:gd name="T14" fmla="*/ 0 60000 65536"/>
                <a:gd name="T15" fmla="*/ 0 w 58"/>
                <a:gd name="T16" fmla="*/ 0 h 115"/>
                <a:gd name="T17" fmla="*/ 58 w 58"/>
                <a:gd name="T18" fmla="*/ 115 h 115"/>
              </a:gdLst>
              <a:ahLst/>
              <a:cxnLst>
                <a:cxn ang="T10">
                  <a:pos x="T0" y="T1"/>
                </a:cxn>
                <a:cxn ang="T11">
                  <a:pos x="T2" y="T3"/>
                </a:cxn>
                <a:cxn ang="T12">
                  <a:pos x="T4" y="T5"/>
                </a:cxn>
                <a:cxn ang="T13">
                  <a:pos x="T6" y="T7"/>
                </a:cxn>
                <a:cxn ang="T14">
                  <a:pos x="T8" y="T9"/>
                </a:cxn>
              </a:cxnLst>
              <a:rect l="T15" t="T16" r="T17" b="T18"/>
              <a:pathLst>
                <a:path w="58" h="115">
                  <a:moveTo>
                    <a:pt x="50" y="114"/>
                  </a:moveTo>
                  <a:lnTo>
                    <a:pt x="57" y="111"/>
                  </a:lnTo>
                  <a:lnTo>
                    <a:pt x="5" y="0"/>
                  </a:lnTo>
                  <a:lnTo>
                    <a:pt x="0" y="2"/>
                  </a:lnTo>
                  <a:lnTo>
                    <a:pt x="50" y="114"/>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8" name="Freeform 18">
              <a:extLst>
                <a:ext uri="{FF2B5EF4-FFF2-40B4-BE49-F238E27FC236}">
                  <a16:creationId xmlns:a16="http://schemas.microsoft.com/office/drawing/2014/main" id="{FF984C46-75A4-2D31-0375-CA38248C60B3}"/>
                </a:ext>
              </a:extLst>
            </p:cNvPr>
            <p:cNvSpPr>
              <a:spLocks/>
            </p:cNvSpPr>
            <p:nvPr/>
          </p:nvSpPr>
          <p:spPr bwMode="auto">
            <a:xfrm>
              <a:off x="114" y="3885"/>
              <a:ext cx="28" cy="19"/>
            </a:xfrm>
            <a:custGeom>
              <a:avLst/>
              <a:gdLst>
                <a:gd name="T0" fmla="*/ 23 w 28"/>
                <a:gd name="T1" fmla="*/ 18 h 19"/>
                <a:gd name="T2" fmla="*/ 27 w 28"/>
                <a:gd name="T3" fmla="*/ 11 h 19"/>
                <a:gd name="T4" fmla="*/ 4 w 28"/>
                <a:gd name="T5" fmla="*/ 0 h 19"/>
                <a:gd name="T6" fmla="*/ 0 w 28"/>
                <a:gd name="T7" fmla="*/ 7 h 19"/>
                <a:gd name="T8" fmla="*/ 23 w 28"/>
                <a:gd name="T9" fmla="*/ 18 h 19"/>
                <a:gd name="T10" fmla="*/ 0 60000 65536"/>
                <a:gd name="T11" fmla="*/ 0 60000 65536"/>
                <a:gd name="T12" fmla="*/ 0 60000 65536"/>
                <a:gd name="T13" fmla="*/ 0 60000 65536"/>
                <a:gd name="T14" fmla="*/ 0 60000 65536"/>
                <a:gd name="T15" fmla="*/ 0 w 28"/>
                <a:gd name="T16" fmla="*/ 0 h 19"/>
                <a:gd name="T17" fmla="*/ 28 w 28"/>
                <a:gd name="T18" fmla="*/ 19 h 19"/>
              </a:gdLst>
              <a:ahLst/>
              <a:cxnLst>
                <a:cxn ang="T10">
                  <a:pos x="T0" y="T1"/>
                </a:cxn>
                <a:cxn ang="T11">
                  <a:pos x="T2" y="T3"/>
                </a:cxn>
                <a:cxn ang="T12">
                  <a:pos x="T4" y="T5"/>
                </a:cxn>
                <a:cxn ang="T13">
                  <a:pos x="T6" y="T7"/>
                </a:cxn>
                <a:cxn ang="T14">
                  <a:pos x="T8" y="T9"/>
                </a:cxn>
              </a:cxnLst>
              <a:rect l="T15" t="T16" r="T17" b="T18"/>
              <a:pathLst>
                <a:path w="28" h="19">
                  <a:moveTo>
                    <a:pt x="23" y="18"/>
                  </a:moveTo>
                  <a:lnTo>
                    <a:pt x="27" y="11"/>
                  </a:lnTo>
                  <a:lnTo>
                    <a:pt x="4" y="0"/>
                  </a:lnTo>
                  <a:lnTo>
                    <a:pt x="0" y="7"/>
                  </a:lnTo>
                  <a:lnTo>
                    <a:pt x="23"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46099" name="Freeform 19">
              <a:extLst>
                <a:ext uri="{FF2B5EF4-FFF2-40B4-BE49-F238E27FC236}">
                  <a16:creationId xmlns:a16="http://schemas.microsoft.com/office/drawing/2014/main" id="{2EB76FFD-2D0D-C655-5044-B4D1F83D0026}"/>
                </a:ext>
              </a:extLst>
            </p:cNvPr>
            <p:cNvSpPr>
              <a:spLocks/>
            </p:cNvSpPr>
            <p:nvPr/>
          </p:nvSpPr>
          <p:spPr bwMode="auto">
            <a:xfrm>
              <a:off x="221" y="3842"/>
              <a:ext cx="28" cy="17"/>
            </a:xfrm>
            <a:custGeom>
              <a:avLst/>
              <a:gdLst>
                <a:gd name="T0" fmla="*/ 23 w 28"/>
                <a:gd name="T1" fmla="*/ 16 h 17"/>
                <a:gd name="T2" fmla="*/ 27 w 28"/>
                <a:gd name="T3" fmla="*/ 9 h 17"/>
                <a:gd name="T4" fmla="*/ 4 w 28"/>
                <a:gd name="T5" fmla="*/ 0 h 17"/>
                <a:gd name="T6" fmla="*/ 0 w 28"/>
                <a:gd name="T7" fmla="*/ 5 h 17"/>
                <a:gd name="T8" fmla="*/ 23 w 28"/>
                <a:gd name="T9" fmla="*/ 16 h 17"/>
                <a:gd name="T10" fmla="*/ 0 60000 65536"/>
                <a:gd name="T11" fmla="*/ 0 60000 65536"/>
                <a:gd name="T12" fmla="*/ 0 60000 65536"/>
                <a:gd name="T13" fmla="*/ 0 60000 65536"/>
                <a:gd name="T14" fmla="*/ 0 60000 65536"/>
                <a:gd name="T15" fmla="*/ 0 w 28"/>
                <a:gd name="T16" fmla="*/ 0 h 17"/>
                <a:gd name="T17" fmla="*/ 28 w 28"/>
                <a:gd name="T18" fmla="*/ 17 h 17"/>
              </a:gdLst>
              <a:ahLst/>
              <a:cxnLst>
                <a:cxn ang="T10">
                  <a:pos x="T0" y="T1"/>
                </a:cxn>
                <a:cxn ang="T11">
                  <a:pos x="T2" y="T3"/>
                </a:cxn>
                <a:cxn ang="T12">
                  <a:pos x="T4" y="T5"/>
                </a:cxn>
                <a:cxn ang="T13">
                  <a:pos x="T6" y="T7"/>
                </a:cxn>
                <a:cxn ang="T14">
                  <a:pos x="T8" y="T9"/>
                </a:cxn>
              </a:cxnLst>
              <a:rect l="T15" t="T16" r="T17" b="T18"/>
              <a:pathLst>
                <a:path w="28" h="17">
                  <a:moveTo>
                    <a:pt x="23" y="16"/>
                  </a:moveTo>
                  <a:lnTo>
                    <a:pt x="27" y="9"/>
                  </a:lnTo>
                  <a:lnTo>
                    <a:pt x="4" y="0"/>
                  </a:lnTo>
                  <a:lnTo>
                    <a:pt x="0" y="5"/>
                  </a:lnTo>
                  <a:lnTo>
                    <a:pt x="23"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DAFE779-9FE5-C348-AABC-F0CDD8BC552B}"/>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48131" name="Rectangle 3">
            <a:extLst>
              <a:ext uri="{FF2B5EF4-FFF2-40B4-BE49-F238E27FC236}">
                <a16:creationId xmlns:a16="http://schemas.microsoft.com/office/drawing/2014/main" id="{0129C5D6-BD49-CEAF-1B93-7E5D32BFB58B}"/>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Deleting Rows (continued)</a:t>
            </a:r>
          </a:p>
          <a:p>
            <a:pPr lvl="1"/>
            <a:r>
              <a:rPr lang="en-US" altLang="en-US">
                <a:latin typeface="Arial" panose="020B0604020202020204" pitchFamily="34" charset="0"/>
              </a:rPr>
              <a:t>You can delete specific rows by specifying the WHERE clause in the DELETE statement. The slide example deletes the DEVELOPMENT department from the DEPARTMENT table. You can c</a:t>
            </a:r>
            <a:r>
              <a:rPr lang="en-US" altLang="en-US">
                <a:latin typeface="Times" panose="02020603050405020304" pitchFamily="18" charset="0"/>
              </a:rPr>
              <a:t>onfirm the delete operation by displaying the deleted rows using the SELECT statement. </a:t>
            </a: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a:latin typeface="Times" panose="02020603050405020304" pitchFamily="18" charset="0"/>
            </a:endParaRPr>
          </a:p>
          <a:p>
            <a:pPr lvl="1"/>
            <a:endParaRPr lang="en-US" altLang="en-US" sz="400">
              <a:latin typeface="Times" panose="02020603050405020304" pitchFamily="18" charset="0"/>
            </a:endParaRPr>
          </a:p>
          <a:p>
            <a:r>
              <a:rPr lang="en-US" altLang="en-US">
                <a:latin typeface="Arial" panose="020B0604020202020204" pitchFamily="34" charset="0"/>
              </a:rPr>
              <a:t>Example</a:t>
            </a:r>
          </a:p>
          <a:p>
            <a:pPr lvl="1"/>
            <a:r>
              <a:rPr lang="en-US" altLang="en-US">
                <a:latin typeface="Arial" panose="020B0604020202020204" pitchFamily="34" charset="0"/>
              </a:rPr>
              <a:t>Remove all employees who started after January 1, 1997.</a:t>
            </a: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endParaRPr lang="en-US" altLang="en-US">
              <a:latin typeface="Arial" panose="020B0604020202020204" pitchFamily="34" charset="0"/>
            </a:endParaRPr>
          </a:p>
          <a:p>
            <a:pPr lvl="1"/>
            <a:r>
              <a:rPr lang="en-US" altLang="en-US">
                <a:latin typeface="Times" panose="02020603050405020304" pitchFamily="18" charset="0"/>
              </a:rPr>
              <a:t>If you omit the WHERE clause, all rows in the table are deleted. The second example on the slide deletes all the rows from the DEPARTMENT table because no WHERE clause has been specified.</a:t>
            </a:r>
            <a:endParaRPr lang="en-US" altLang="en-US">
              <a:latin typeface="Arial" panose="020B0604020202020204" pitchFamily="34" charset="0"/>
            </a:endParaRPr>
          </a:p>
          <a:p>
            <a:pPr lvl="1"/>
            <a:r>
              <a:rPr lang="en-US" altLang="en-US" b="1">
                <a:latin typeface="Times" panose="02020603050405020304" pitchFamily="18" charset="0"/>
              </a:rPr>
              <a:t>Note:</a:t>
            </a:r>
            <a:r>
              <a:rPr lang="en-US" altLang="en-US">
                <a:latin typeface="Times" panose="02020603050405020304" pitchFamily="18" charset="0"/>
              </a:rPr>
              <a:t> The DEPARTMENT table has the same data as the DEPT table.</a:t>
            </a:r>
          </a:p>
        </p:txBody>
      </p:sp>
      <p:sp>
        <p:nvSpPr>
          <p:cNvPr id="48132" name="Rectangle 4">
            <a:extLst>
              <a:ext uri="{FF2B5EF4-FFF2-40B4-BE49-F238E27FC236}">
                <a16:creationId xmlns:a16="http://schemas.microsoft.com/office/drawing/2014/main" id="{33858188-82A8-6F72-978A-454B4C3E1A24}"/>
              </a:ext>
            </a:extLst>
          </p:cNvPr>
          <p:cNvSpPr>
            <a:spLocks noChangeArrowheads="1"/>
          </p:cNvSpPr>
          <p:nvPr/>
        </p:nvSpPr>
        <p:spPr bwMode="auto">
          <a:xfrm>
            <a:off x="571500" y="5761038"/>
            <a:ext cx="5621338" cy="8143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8133" name="Rectangle 5">
            <a:extLst>
              <a:ext uri="{FF2B5EF4-FFF2-40B4-BE49-F238E27FC236}">
                <a16:creationId xmlns:a16="http://schemas.microsoft.com/office/drawing/2014/main" id="{1E61F5D4-D6D7-278F-87C3-AEF0FEC123BC}"/>
              </a:ext>
            </a:extLst>
          </p:cNvPr>
          <p:cNvSpPr>
            <a:spLocks noChangeArrowheads="1"/>
          </p:cNvSpPr>
          <p:nvPr/>
        </p:nvSpPr>
        <p:spPr bwMode="auto">
          <a:xfrm>
            <a:off x="598488" y="5800725"/>
            <a:ext cx="3132137"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SELECT  *</a:t>
            </a:r>
          </a:p>
          <a:p>
            <a:pPr>
              <a:spcBef>
                <a:spcPct val="0"/>
              </a:spcBef>
            </a:pPr>
            <a:r>
              <a:rPr lang="en-US" altLang="en-US" sz="1100" b="1">
                <a:latin typeface="Courier New" panose="02070309020205020404" pitchFamily="49" charset="0"/>
              </a:rPr>
              <a:t>  2  FROM    department</a:t>
            </a:r>
          </a:p>
          <a:p>
            <a:pPr>
              <a:spcBef>
                <a:spcPct val="0"/>
              </a:spcBef>
            </a:pPr>
            <a:r>
              <a:rPr lang="en-US" altLang="en-US" sz="1100" b="1">
                <a:latin typeface="Courier New" panose="02070309020205020404" pitchFamily="49" charset="0"/>
              </a:rPr>
              <a:t>  3  WHERE   dname = </a:t>
            </a:r>
            <a:r>
              <a:rPr lang="en-US" altLang="en-US" sz="1100" b="1">
                <a:solidFill>
                  <a:srgbClr val="000000"/>
                </a:solidFill>
                <a:latin typeface="Courier New" panose="02070309020205020404" pitchFamily="49" charset="0"/>
              </a:rPr>
              <a:t>'</a:t>
            </a:r>
            <a:r>
              <a:rPr lang="en-US" altLang="en-US" sz="1100" b="1">
                <a:latin typeface="Courier New" panose="02070309020205020404" pitchFamily="49" charset="0"/>
              </a:rPr>
              <a:t>DEVELOPMENT</a:t>
            </a:r>
            <a:r>
              <a:rPr lang="en-US" altLang="en-US" sz="1100" b="1">
                <a:solidFill>
                  <a:srgbClr val="000000"/>
                </a:solidFill>
                <a:latin typeface="Courier New" panose="02070309020205020404" pitchFamily="49" charset="0"/>
              </a:rPr>
              <a:t>'</a:t>
            </a:r>
            <a:r>
              <a:rPr lang="en-US" altLang="en-US" sz="1100" b="1">
                <a:latin typeface="Courier New" panose="02070309020205020404" pitchFamily="49" charset="0"/>
              </a:rPr>
              <a:t>;</a:t>
            </a:r>
          </a:p>
          <a:p>
            <a:pPr>
              <a:spcBef>
                <a:spcPct val="0"/>
              </a:spcBef>
            </a:pPr>
            <a:r>
              <a:rPr lang="en-US" altLang="en-US" sz="1100">
                <a:latin typeface="Courier New" panose="02070309020205020404" pitchFamily="49" charset="0"/>
              </a:rPr>
              <a:t>no rows selected.</a:t>
            </a:r>
          </a:p>
        </p:txBody>
      </p:sp>
      <p:sp>
        <p:nvSpPr>
          <p:cNvPr id="48134" name="Rectangle 6">
            <a:extLst>
              <a:ext uri="{FF2B5EF4-FFF2-40B4-BE49-F238E27FC236}">
                <a16:creationId xmlns:a16="http://schemas.microsoft.com/office/drawing/2014/main" id="{45796AE6-C218-5DDB-D1FD-24777F75CC03}"/>
              </a:ext>
            </a:extLst>
          </p:cNvPr>
          <p:cNvSpPr>
            <a:spLocks noChangeArrowheads="1"/>
          </p:cNvSpPr>
          <p:nvPr/>
        </p:nvSpPr>
        <p:spPr bwMode="auto">
          <a:xfrm>
            <a:off x="571500" y="7094538"/>
            <a:ext cx="5621338" cy="5476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48135" name="Rectangle 7">
            <a:extLst>
              <a:ext uri="{FF2B5EF4-FFF2-40B4-BE49-F238E27FC236}">
                <a16:creationId xmlns:a16="http://schemas.microsoft.com/office/drawing/2014/main" id="{ACCD01E4-F9D6-C994-29B2-AA0834962116}"/>
              </a:ext>
            </a:extLst>
          </p:cNvPr>
          <p:cNvSpPr>
            <a:spLocks noChangeArrowheads="1"/>
          </p:cNvSpPr>
          <p:nvPr/>
        </p:nvSpPr>
        <p:spPr bwMode="auto">
          <a:xfrm>
            <a:off x="601663" y="7096125"/>
            <a:ext cx="5324475"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56" tIns="43420" rIns="90056" bIns="43420">
            <a:spAutoFit/>
          </a:bodyPr>
          <a:lstStyle>
            <a:lvl1pPr defTabSz="839788">
              <a:spcBef>
                <a:spcPct val="30000"/>
              </a:spcBef>
              <a:defRPr sz="1200">
                <a:solidFill>
                  <a:schemeClr val="tx1"/>
                </a:solidFill>
                <a:latin typeface="Arial" panose="020B0604020202020204" pitchFamily="34" charset="0"/>
              </a:defRPr>
            </a:lvl1pPr>
            <a:lvl2pPr marL="742950" indent="-285750" defTabSz="839788">
              <a:spcBef>
                <a:spcPct val="30000"/>
              </a:spcBef>
              <a:defRPr sz="1200">
                <a:solidFill>
                  <a:schemeClr val="tx1"/>
                </a:solidFill>
                <a:latin typeface="Arial" panose="020B0604020202020204" pitchFamily="34" charset="0"/>
              </a:defRPr>
            </a:lvl2pPr>
            <a:lvl3pPr marL="1143000" indent="-228600" defTabSz="839788">
              <a:spcBef>
                <a:spcPct val="30000"/>
              </a:spcBef>
              <a:defRPr sz="1200">
                <a:solidFill>
                  <a:schemeClr val="tx1"/>
                </a:solidFill>
                <a:latin typeface="Arial" panose="020B0604020202020204" pitchFamily="34" charset="0"/>
              </a:defRPr>
            </a:lvl3pPr>
            <a:lvl4pPr marL="1600200" indent="-228600" defTabSz="839788">
              <a:spcBef>
                <a:spcPct val="30000"/>
              </a:spcBef>
              <a:defRPr sz="1200">
                <a:solidFill>
                  <a:schemeClr val="tx1"/>
                </a:solidFill>
                <a:latin typeface="Arial" panose="020B0604020202020204" pitchFamily="34" charset="0"/>
              </a:defRPr>
            </a:lvl4pPr>
            <a:lvl5pPr marL="2057400" indent="-228600" defTabSz="839788">
              <a:spcBef>
                <a:spcPct val="30000"/>
              </a:spcBef>
              <a:defRPr sz="1200">
                <a:solidFill>
                  <a:schemeClr val="tx1"/>
                </a:solidFill>
                <a:latin typeface="Arial" panose="020B0604020202020204" pitchFamily="34" charset="0"/>
              </a:defRPr>
            </a:lvl5pPr>
            <a:lvl6pPr marL="2514600" indent="-228600" defTabSz="8397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397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397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397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n-US" altLang="en-US" sz="1100" b="1">
                <a:latin typeface="Courier New" panose="02070309020205020404" pitchFamily="49" charset="0"/>
              </a:rPr>
              <a:t>SQL&gt; DELETE FROM  emp</a:t>
            </a:r>
          </a:p>
          <a:p>
            <a:pPr>
              <a:spcBef>
                <a:spcPct val="0"/>
              </a:spcBef>
            </a:pPr>
            <a:r>
              <a:rPr lang="en-US" altLang="en-US" sz="1100" b="1">
                <a:latin typeface="Courier New" panose="02070309020205020404" pitchFamily="49" charset="0"/>
              </a:rPr>
              <a:t>  2  WHERE        hiredate &gt; TO_DATE(</a:t>
            </a:r>
            <a:r>
              <a:rPr lang="en-US" altLang="en-US" sz="1100" b="1">
                <a:solidFill>
                  <a:srgbClr val="000000"/>
                </a:solidFill>
                <a:latin typeface="Courier New" panose="02070309020205020404" pitchFamily="49" charset="0"/>
              </a:rPr>
              <a:t>'</a:t>
            </a:r>
            <a:r>
              <a:rPr lang="en-US" altLang="en-US" sz="1100" b="1">
                <a:latin typeface="Courier New" panose="02070309020205020404" pitchFamily="49" charset="0"/>
              </a:rPr>
              <a:t>01.01.97</a:t>
            </a:r>
            <a:r>
              <a:rPr lang="en-US" altLang="en-US" sz="1100" b="1">
                <a:solidFill>
                  <a:srgbClr val="000000"/>
                </a:solidFill>
                <a:latin typeface="Courier New" panose="02070309020205020404" pitchFamily="49" charset="0"/>
              </a:rPr>
              <a:t>'</a:t>
            </a:r>
            <a:r>
              <a:rPr lang="en-US" altLang="en-US" sz="1100" b="1">
                <a:latin typeface="Courier New" panose="02070309020205020404" pitchFamily="49" charset="0"/>
              </a:rPr>
              <a:t>, </a:t>
            </a:r>
            <a:r>
              <a:rPr lang="en-US" altLang="en-US" sz="1100" b="1">
                <a:solidFill>
                  <a:srgbClr val="000000"/>
                </a:solidFill>
                <a:latin typeface="Courier New" panose="02070309020205020404" pitchFamily="49" charset="0"/>
              </a:rPr>
              <a:t>'</a:t>
            </a:r>
            <a:r>
              <a:rPr lang="en-US" altLang="en-US" sz="1100" b="1">
                <a:latin typeface="Courier New" panose="02070309020205020404" pitchFamily="49" charset="0"/>
              </a:rPr>
              <a:t>DD.MM.YY</a:t>
            </a:r>
            <a:r>
              <a:rPr lang="en-US" altLang="en-US" sz="1100" b="1">
                <a:solidFill>
                  <a:srgbClr val="000000"/>
                </a:solidFill>
                <a:latin typeface="Courier New" panose="02070309020205020404" pitchFamily="49" charset="0"/>
              </a:rPr>
              <a:t>'</a:t>
            </a:r>
            <a:r>
              <a:rPr lang="en-US" altLang="en-US" sz="1100" b="1">
                <a:latin typeface="Courier New" panose="02070309020205020404" pitchFamily="49" charset="0"/>
              </a:rPr>
              <a:t>);</a:t>
            </a:r>
          </a:p>
          <a:p>
            <a:pPr>
              <a:spcBef>
                <a:spcPct val="0"/>
              </a:spcBef>
            </a:pPr>
            <a:r>
              <a:rPr lang="en-US" altLang="en-US" sz="1100">
                <a:latin typeface="Courier New" panose="02070309020205020404" pitchFamily="49" charset="0"/>
              </a:rPr>
              <a:t>1 row deleted.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E228D74-29CE-433D-E496-25B33672632E}"/>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50179" name="Rectangle 3">
            <a:extLst>
              <a:ext uri="{FF2B5EF4-FFF2-40B4-BE49-F238E27FC236}">
                <a16:creationId xmlns:a16="http://schemas.microsoft.com/office/drawing/2014/main" id="{1026693E-8B5E-243F-8F88-0C8A5A8D8FDB}"/>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r>
              <a:rPr lang="en-US" altLang="en-US">
                <a:latin typeface="Arial" panose="020B0604020202020204" pitchFamily="34" charset="0"/>
              </a:rPr>
              <a:t>Deleting Rows Based on Another Table</a:t>
            </a:r>
          </a:p>
          <a:p>
            <a:pPr lvl="1"/>
            <a:r>
              <a:rPr lang="en-US" altLang="en-US">
                <a:latin typeface="Arial" panose="020B0604020202020204" pitchFamily="34" charset="0"/>
              </a:rPr>
              <a:t>You can use subqueries to delete rows from a table based on values from another table. The example on the slide deletes all the employees who are in department 30. The subquery searches the DEPT table to find the department number for the SALES department. The subquery then feeds the department number to the main query, which deletes rows of data from the EMPLOYEE table based on this department number.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4659C4F-726E-ED3D-0794-C18381DB10EC}"/>
              </a:ext>
            </a:extLst>
          </p:cNvPr>
          <p:cNvSpPr>
            <a:spLocks noChangeArrowheads="1"/>
          </p:cNvSpPr>
          <p:nvPr/>
        </p:nvSpPr>
        <p:spPr bwMode="auto">
          <a:xfrm>
            <a:off x="3883025" y="0"/>
            <a:ext cx="2976563"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2227" name="Rectangle 3">
            <a:extLst>
              <a:ext uri="{FF2B5EF4-FFF2-40B4-BE49-F238E27FC236}">
                <a16:creationId xmlns:a16="http://schemas.microsoft.com/office/drawing/2014/main" id="{3746977A-AB01-F84C-50E3-7A38E38A2B8C}"/>
              </a:ext>
            </a:extLst>
          </p:cNvPr>
          <p:cNvSpPr>
            <a:spLocks noChangeArrowheads="1"/>
          </p:cNvSpPr>
          <p:nvPr/>
        </p:nvSpPr>
        <p:spPr bwMode="auto">
          <a:xfrm>
            <a:off x="-3175" y="0"/>
            <a:ext cx="2973388"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sp>
        <p:nvSpPr>
          <p:cNvPr id="52228" name="Rectangle 4">
            <a:extLst>
              <a:ext uri="{FF2B5EF4-FFF2-40B4-BE49-F238E27FC236}">
                <a16:creationId xmlns:a16="http://schemas.microsoft.com/office/drawing/2014/main" id="{ABB654CF-7281-E0B4-6935-19D0E6DAFDCE}"/>
              </a:ext>
            </a:extLst>
          </p:cNvPr>
          <p:cNvSpPr>
            <a:spLocks noGrp="1" noChangeArrowheads="1"/>
          </p:cNvSpPr>
          <p:nvPr>
            <p:ph type="body" idx="1"/>
          </p:nvPr>
        </p:nvSpPr>
        <p:spPr>
          <a:xfrm>
            <a:off x="373063" y="4852988"/>
            <a:ext cx="6030912"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Integrity Constraint Error</a:t>
            </a:r>
          </a:p>
          <a:p>
            <a:pPr marL="114300" lvl="1" defTabSz="382588"/>
            <a:r>
              <a:rPr lang="en-US" altLang="en-US">
                <a:latin typeface="Arial" panose="020B0604020202020204" pitchFamily="34" charset="0"/>
              </a:rPr>
              <a:t>If you attempt to delete a record with a value that is tied to an integrity constraint, you will experience an error.</a:t>
            </a:r>
          </a:p>
          <a:p>
            <a:pPr marL="114300" lvl="1" defTabSz="382588"/>
            <a:r>
              <a:rPr lang="en-US" altLang="en-US">
                <a:latin typeface="Arial" panose="020B0604020202020204" pitchFamily="34" charset="0"/>
              </a:rPr>
              <a:t>The example on the slide tries to delete department number 10 from the DEPT table, but it results in an error because department number is used as a foreign key in the EMP table. If the parent record that you attempt to delete has child records, then you receive the </a:t>
            </a:r>
            <a:r>
              <a:rPr lang="en-US" altLang="en-US" i="1">
                <a:latin typeface="Arial" panose="020B0604020202020204" pitchFamily="34" charset="0"/>
              </a:rPr>
              <a:t>child record found</a:t>
            </a:r>
            <a:r>
              <a:rPr lang="en-US" altLang="en-US">
                <a:latin typeface="Arial" panose="020B0604020202020204" pitchFamily="34" charset="0"/>
              </a:rPr>
              <a:t> violation ORA-02292.</a:t>
            </a: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endParaRPr lang="en-US" altLang="en-US" b="1">
              <a:latin typeface="Times" panose="02020603050405020304" pitchFamily="18" charset="0"/>
            </a:endParaRPr>
          </a:p>
          <a:p>
            <a:pPr algn="just" defTabSz="382588">
              <a:lnSpc>
                <a:spcPct val="112000"/>
              </a:lnSpc>
              <a:spcBef>
                <a:spcPct val="24000"/>
              </a:spcBef>
            </a:pPr>
            <a:r>
              <a:rPr lang="en-US" altLang="en-US">
                <a:solidFill>
                  <a:schemeClr val="accent2"/>
                </a:solidFill>
                <a:latin typeface="Arial" panose="020B0604020202020204" pitchFamily="34" charset="0"/>
              </a:rPr>
              <a:t>Class Management Note</a:t>
            </a:r>
            <a:endParaRPr lang="en-US" altLang="en-US" b="1">
              <a:solidFill>
                <a:schemeClr val="accent2"/>
              </a:solidFill>
              <a:latin typeface="Times" panose="02020603050405020304" pitchFamily="18" charset="0"/>
            </a:endParaRPr>
          </a:p>
          <a:p>
            <a:pPr marL="114300" lvl="1" defTabSz="382588"/>
            <a:r>
              <a:rPr lang="en-US" altLang="en-US">
                <a:solidFill>
                  <a:schemeClr val="accent2"/>
                </a:solidFill>
                <a:latin typeface="Arial" panose="020B0604020202020204" pitchFamily="34" charset="0"/>
              </a:rPr>
              <a:t>If referential integrity constraints are in use, you might receive an Oracle Server error message when you attempt to delete a row. However, if the referential integrity constraint contains the ON DELETE CASCADE option, then the selected row and its children are deleted from their respective tables.</a:t>
            </a:r>
          </a:p>
        </p:txBody>
      </p:sp>
      <p:sp>
        <p:nvSpPr>
          <p:cNvPr id="52229" name="Rectangle 5">
            <a:extLst>
              <a:ext uri="{FF2B5EF4-FFF2-40B4-BE49-F238E27FC236}">
                <a16:creationId xmlns:a16="http://schemas.microsoft.com/office/drawing/2014/main" id="{727C2DF9-E688-B6C7-B758-45D85B0967A1}"/>
              </a:ext>
            </a:extLst>
          </p:cNvPr>
          <p:cNvSpPr>
            <a:spLocks noGrp="1" noRot="1" noChangeArrowheads="1" noTextEdit="1"/>
          </p:cNvSpPr>
          <p:nvPr>
            <p:ph type="sldImg"/>
          </p:nvPr>
        </p:nvSpPr>
        <p:spPr>
          <a:xfrm>
            <a:off x="441325" y="165100"/>
            <a:ext cx="5970588" cy="4478338"/>
          </a:xfrm>
          <a:ln w="12700" cap="flat">
            <a:solidFill>
              <a:schemeClr val="tx1"/>
            </a:solid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797D226C-A3C0-5D0F-06C5-B2AA5ECA3F79}"/>
              </a:ext>
            </a:extLst>
          </p:cNvPr>
          <p:cNvSpPr>
            <a:spLocks noGrp="1" noRot="1" noChangeArrowheads="1" noTextEdit="1"/>
          </p:cNvSpPr>
          <p:nvPr>
            <p:ph type="sldImg"/>
          </p:nvPr>
        </p:nvSpPr>
        <p:spPr>
          <a:xfrm>
            <a:off x="441325" y="165100"/>
            <a:ext cx="5970588" cy="4478338"/>
          </a:xfrm>
          <a:ln w="12700" cap="flat">
            <a:solidFill>
              <a:schemeClr val="tx1"/>
            </a:solidFill>
          </a:ln>
        </p:spPr>
      </p:sp>
      <p:sp>
        <p:nvSpPr>
          <p:cNvPr id="54275" name="Rectangle 3">
            <a:extLst>
              <a:ext uri="{FF2B5EF4-FFF2-40B4-BE49-F238E27FC236}">
                <a16:creationId xmlns:a16="http://schemas.microsoft.com/office/drawing/2014/main" id="{6FB1ABB1-D16B-EC52-FAB9-97EE9F2371E0}"/>
              </a:ext>
            </a:extLst>
          </p:cNvPr>
          <p:cNvSpPr>
            <a:spLocks noGrp="1" noChangeArrowheads="1"/>
          </p:cNvSpPr>
          <p:nvPr>
            <p:ph type="body" idx="1"/>
          </p:nvPr>
        </p:nvSpPr>
        <p:spPr>
          <a:xfrm>
            <a:off x="412750" y="4852988"/>
            <a:ext cx="6029325" cy="3819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64" tIns="45028" rIns="91664" bIns="45028"/>
          <a:lstStyle/>
          <a:p>
            <a:pPr defTabSz="382588"/>
            <a:r>
              <a:rPr lang="en-US" altLang="en-US">
                <a:latin typeface="Arial" panose="020B0604020202020204" pitchFamily="34" charset="0"/>
              </a:rPr>
              <a:t>Truncating a Table</a:t>
            </a:r>
          </a:p>
          <a:p>
            <a:pPr marL="114300" lvl="1" defTabSz="382588"/>
            <a:r>
              <a:rPr lang="en-US" altLang="en-US">
                <a:latin typeface="Arial" panose="020B0604020202020204" pitchFamily="34" charset="0"/>
              </a:rPr>
              <a:t>Another DDL statement is the </a:t>
            </a:r>
            <a:r>
              <a:rPr lang="en-US" altLang="en-US">
                <a:solidFill>
                  <a:srgbClr val="FC0128"/>
                </a:solidFill>
                <a:latin typeface="Arial" panose="020B0604020202020204" pitchFamily="34" charset="0"/>
              </a:rPr>
              <a:t>TRUNCATE TABLE </a:t>
            </a:r>
            <a:r>
              <a:rPr lang="en-US" altLang="en-US">
                <a:latin typeface="Arial" panose="020B0604020202020204" pitchFamily="34" charset="0"/>
              </a:rPr>
              <a:t>statement, which is used to remove all rows from a table and to release the storage space used by that table. When using the TRUNCATE TABLE statement, you cannot rollback row removal.</a:t>
            </a:r>
          </a:p>
          <a:p>
            <a:pPr marL="114300" lvl="1" defTabSz="382588"/>
            <a:r>
              <a:rPr lang="en-US" altLang="en-US" b="1">
                <a:latin typeface="Arial" panose="020B0604020202020204" pitchFamily="34" charset="0"/>
              </a:rPr>
              <a:t>Syntax</a:t>
            </a:r>
            <a:endParaRPr lang="en-US" altLang="en-US">
              <a:latin typeface="Arial" panose="020B0604020202020204" pitchFamily="34" charset="0"/>
            </a:endParaRPr>
          </a:p>
          <a:p>
            <a:pPr marL="114300" lvl="1" defTabSz="382588"/>
            <a:r>
              <a:rPr lang="en-US" altLang="en-US">
                <a:latin typeface="Courier New" panose="02070309020205020404" pitchFamily="49" charset="0"/>
              </a:rPr>
              <a:t> TRUNCATE  TABLE   </a:t>
            </a:r>
            <a:r>
              <a:rPr lang="en-US" altLang="en-US" i="1">
                <a:latin typeface="Courier New" panose="02070309020205020404" pitchFamily="49" charset="0"/>
              </a:rPr>
              <a:t>table</a:t>
            </a:r>
            <a:r>
              <a:rPr lang="en-US" altLang="en-US">
                <a:latin typeface="Courier New" panose="02070309020205020404" pitchFamily="49" charset="0"/>
              </a:rPr>
              <a:t>;</a:t>
            </a:r>
            <a:endParaRPr lang="en-US" altLang="en-US">
              <a:latin typeface="Arial" panose="020B0604020202020204" pitchFamily="34" charset="0"/>
            </a:endParaRPr>
          </a:p>
          <a:p>
            <a:pPr marL="114300" lvl="1" defTabSz="382588"/>
            <a:r>
              <a:rPr lang="en-US" altLang="en-US" b="1">
                <a:latin typeface="Arial" panose="020B0604020202020204" pitchFamily="34" charset="0"/>
              </a:rPr>
              <a:t>where:</a:t>
            </a:r>
            <a:r>
              <a:rPr lang="en-US" altLang="en-US">
                <a:latin typeface="Arial" panose="020B0604020202020204" pitchFamily="34" charset="0"/>
              </a:rPr>
              <a:t>	</a:t>
            </a:r>
            <a:r>
              <a:rPr lang="en-US" altLang="en-US" i="1">
                <a:latin typeface="Arial" panose="020B0604020202020204" pitchFamily="34" charset="0"/>
              </a:rPr>
              <a:t>table			</a:t>
            </a:r>
            <a:r>
              <a:rPr lang="en-US" altLang="en-US">
                <a:latin typeface="Arial" panose="020B0604020202020204" pitchFamily="34" charset="0"/>
              </a:rPr>
              <a:t>is the name of the table</a:t>
            </a:r>
          </a:p>
          <a:p>
            <a:pPr marL="114300" lvl="1" defTabSz="382588"/>
            <a:r>
              <a:rPr lang="en-US" altLang="en-US">
                <a:latin typeface="Arial" panose="020B0604020202020204" pitchFamily="34" charset="0"/>
              </a:rPr>
              <a:t>You must be the owner of the table or have DELETE TABLE system privileges to truncate a table.</a:t>
            </a:r>
          </a:p>
          <a:p>
            <a:pPr marL="114300" lvl="1" defTabSz="382588"/>
            <a:endParaRPr lang="en-US" altLang="en-US">
              <a:latin typeface="Arial" panose="020B0604020202020204" pitchFamily="34" charset="0"/>
            </a:endParaRPr>
          </a:p>
          <a:p>
            <a:pPr marL="114300" lvl="1" defTabSz="382588"/>
            <a:r>
              <a:rPr lang="en-US" altLang="en-US">
                <a:latin typeface="Arial" panose="020B0604020202020204" pitchFamily="34" charset="0"/>
              </a:rPr>
              <a:t>The DELETE statement can also remove all rows from a table, but it does not release storage space.</a:t>
            </a:r>
          </a:p>
          <a:p>
            <a:pPr marL="114300" lvl="1" defTabSz="382588"/>
            <a:endParaRPr lang="en-US" altLang="en-US">
              <a:latin typeface="Arial" panose="020B0604020202020204" pitchFamily="34" charset="0"/>
            </a:endParaRPr>
          </a:p>
          <a:p>
            <a:pPr marL="114300" lvl="1" defTabSz="382588"/>
            <a:endParaRPr lang="en-US" altLang="en-US">
              <a:latin typeface="Arial" panose="020B0604020202020204" pitchFamily="34" charset="0"/>
            </a:endParaRPr>
          </a:p>
          <a:p>
            <a:pPr defTabSz="382588"/>
            <a:endParaRPr lang="en-US" altLang="en-US" b="1">
              <a:latin typeface="Times New Roman" panose="02020603050405020304" pitchFamily="18" charset="0"/>
            </a:endParaRPr>
          </a:p>
        </p:txBody>
      </p:sp>
      <p:sp>
        <p:nvSpPr>
          <p:cNvPr id="54276" name="Rectangle 4">
            <a:extLst>
              <a:ext uri="{FF2B5EF4-FFF2-40B4-BE49-F238E27FC236}">
                <a16:creationId xmlns:a16="http://schemas.microsoft.com/office/drawing/2014/main" id="{9BF08944-3DC2-9FA7-03BC-7131A36A970C}"/>
              </a:ext>
            </a:extLst>
          </p:cNvPr>
          <p:cNvSpPr>
            <a:spLocks noChangeArrowheads="1"/>
          </p:cNvSpPr>
          <p:nvPr/>
        </p:nvSpPr>
        <p:spPr bwMode="auto">
          <a:xfrm>
            <a:off x="633413" y="5873750"/>
            <a:ext cx="5557837" cy="2174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endParaRPr lang="en-US" altLang="en-US" sz="2400"/>
          </a:p>
        </p:txBody>
      </p:sp>
      <p:grpSp>
        <p:nvGrpSpPr>
          <p:cNvPr id="54277" name="Group 5">
            <a:extLst>
              <a:ext uri="{FF2B5EF4-FFF2-40B4-BE49-F238E27FC236}">
                <a16:creationId xmlns:a16="http://schemas.microsoft.com/office/drawing/2014/main" id="{6911ED54-D789-F6E7-7A90-DE58E4B45CBC}"/>
              </a:ext>
            </a:extLst>
          </p:cNvPr>
          <p:cNvGrpSpPr>
            <a:grpSpLocks/>
          </p:cNvGrpSpPr>
          <p:nvPr/>
        </p:nvGrpSpPr>
        <p:grpSpPr bwMode="auto">
          <a:xfrm>
            <a:off x="203200" y="6372225"/>
            <a:ext cx="285750" cy="296863"/>
            <a:chOff x="127" y="3941"/>
            <a:chExt cx="179" cy="184"/>
          </a:xfrm>
        </p:grpSpPr>
        <p:sp>
          <p:nvSpPr>
            <p:cNvPr id="54290" name="Freeform 6">
              <a:extLst>
                <a:ext uri="{FF2B5EF4-FFF2-40B4-BE49-F238E27FC236}">
                  <a16:creationId xmlns:a16="http://schemas.microsoft.com/office/drawing/2014/main" id="{AAD6B828-24E9-C2D1-9AA8-61C2B9F21162}"/>
                </a:ext>
              </a:extLst>
            </p:cNvPr>
            <p:cNvSpPr>
              <a:spLocks/>
            </p:cNvSpPr>
            <p:nvPr/>
          </p:nvSpPr>
          <p:spPr bwMode="auto">
            <a:xfrm>
              <a:off x="127" y="3941"/>
              <a:ext cx="179" cy="184"/>
            </a:xfrm>
            <a:custGeom>
              <a:avLst/>
              <a:gdLst>
                <a:gd name="T0" fmla="*/ 178 w 179"/>
                <a:gd name="T1" fmla="*/ 183 h 184"/>
                <a:gd name="T2" fmla="*/ 178 w 179"/>
                <a:gd name="T3" fmla="*/ 0 h 184"/>
                <a:gd name="T4" fmla="*/ 0 w 179"/>
                <a:gd name="T5" fmla="*/ 0 h 184"/>
                <a:gd name="T6" fmla="*/ 0 w 179"/>
                <a:gd name="T7" fmla="*/ 183 h 184"/>
                <a:gd name="T8" fmla="*/ 178 w 179"/>
                <a:gd name="T9" fmla="*/ 183 h 184"/>
                <a:gd name="T10" fmla="*/ 0 60000 65536"/>
                <a:gd name="T11" fmla="*/ 0 60000 65536"/>
                <a:gd name="T12" fmla="*/ 0 60000 65536"/>
                <a:gd name="T13" fmla="*/ 0 60000 65536"/>
                <a:gd name="T14" fmla="*/ 0 60000 65536"/>
                <a:gd name="T15" fmla="*/ 0 w 179"/>
                <a:gd name="T16" fmla="*/ 0 h 184"/>
                <a:gd name="T17" fmla="*/ 179 w 179"/>
                <a:gd name="T18" fmla="*/ 184 h 184"/>
              </a:gdLst>
              <a:ahLst/>
              <a:cxnLst>
                <a:cxn ang="T10">
                  <a:pos x="T0" y="T1"/>
                </a:cxn>
                <a:cxn ang="T11">
                  <a:pos x="T2" y="T3"/>
                </a:cxn>
                <a:cxn ang="T12">
                  <a:pos x="T4" y="T5"/>
                </a:cxn>
                <a:cxn ang="T13">
                  <a:pos x="T6" y="T7"/>
                </a:cxn>
                <a:cxn ang="T14">
                  <a:pos x="T8" y="T9"/>
                </a:cxn>
              </a:cxnLst>
              <a:rect l="T15" t="T16" r="T17" b="T18"/>
              <a:pathLst>
                <a:path w="179" h="184">
                  <a:moveTo>
                    <a:pt x="178" y="183"/>
                  </a:moveTo>
                  <a:lnTo>
                    <a:pt x="178" y="0"/>
                  </a:lnTo>
                  <a:lnTo>
                    <a:pt x="0" y="0"/>
                  </a:lnTo>
                  <a:lnTo>
                    <a:pt x="0" y="183"/>
                  </a:lnTo>
                  <a:lnTo>
                    <a:pt x="178"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91" name="Freeform 7">
              <a:extLst>
                <a:ext uri="{FF2B5EF4-FFF2-40B4-BE49-F238E27FC236}">
                  <a16:creationId xmlns:a16="http://schemas.microsoft.com/office/drawing/2014/main" id="{47782635-C588-56F1-8455-48E82C8FDA85}"/>
                </a:ext>
              </a:extLst>
            </p:cNvPr>
            <p:cNvSpPr>
              <a:spLocks/>
            </p:cNvSpPr>
            <p:nvPr/>
          </p:nvSpPr>
          <p:spPr bwMode="auto">
            <a:xfrm>
              <a:off x="137" y="3949"/>
              <a:ext cx="163" cy="163"/>
            </a:xfrm>
            <a:custGeom>
              <a:avLst/>
              <a:gdLst>
                <a:gd name="T0" fmla="*/ 83 w 163"/>
                <a:gd name="T1" fmla="*/ 0 h 163"/>
                <a:gd name="T2" fmla="*/ 0 w 163"/>
                <a:gd name="T3" fmla="*/ 162 h 163"/>
                <a:gd name="T4" fmla="*/ 162 w 163"/>
                <a:gd name="T5" fmla="*/ 162 h 163"/>
                <a:gd name="T6" fmla="*/ 83 w 163"/>
                <a:gd name="T7" fmla="*/ 0 h 163"/>
                <a:gd name="T8" fmla="*/ 0 60000 65536"/>
                <a:gd name="T9" fmla="*/ 0 60000 65536"/>
                <a:gd name="T10" fmla="*/ 0 60000 65536"/>
                <a:gd name="T11" fmla="*/ 0 60000 65536"/>
                <a:gd name="T12" fmla="*/ 0 w 163"/>
                <a:gd name="T13" fmla="*/ 0 h 163"/>
                <a:gd name="T14" fmla="*/ 163 w 163"/>
                <a:gd name="T15" fmla="*/ 163 h 163"/>
              </a:gdLst>
              <a:ahLst/>
              <a:cxnLst>
                <a:cxn ang="T8">
                  <a:pos x="T0" y="T1"/>
                </a:cxn>
                <a:cxn ang="T9">
                  <a:pos x="T2" y="T3"/>
                </a:cxn>
                <a:cxn ang="T10">
                  <a:pos x="T4" y="T5"/>
                </a:cxn>
                <a:cxn ang="T11">
                  <a:pos x="T6" y="T7"/>
                </a:cxn>
              </a:cxnLst>
              <a:rect l="T12" t="T13" r="T14" b="T15"/>
              <a:pathLst>
                <a:path w="163" h="163">
                  <a:moveTo>
                    <a:pt x="83" y="0"/>
                  </a:moveTo>
                  <a:lnTo>
                    <a:pt x="0" y="162"/>
                  </a:lnTo>
                  <a:lnTo>
                    <a:pt x="162" y="162"/>
                  </a:lnTo>
                  <a:lnTo>
                    <a:pt x="8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92" name="Freeform 8">
              <a:extLst>
                <a:ext uri="{FF2B5EF4-FFF2-40B4-BE49-F238E27FC236}">
                  <a16:creationId xmlns:a16="http://schemas.microsoft.com/office/drawing/2014/main" id="{73145147-F5EA-7BF8-A85D-776AE36DF6A6}"/>
                </a:ext>
              </a:extLst>
            </p:cNvPr>
            <p:cNvSpPr>
              <a:spLocks/>
            </p:cNvSpPr>
            <p:nvPr/>
          </p:nvSpPr>
          <p:spPr bwMode="auto">
            <a:xfrm>
              <a:off x="156" y="3969"/>
              <a:ext cx="131" cy="133"/>
            </a:xfrm>
            <a:custGeom>
              <a:avLst/>
              <a:gdLst>
                <a:gd name="T0" fmla="*/ 64 w 131"/>
                <a:gd name="T1" fmla="*/ 0 h 133"/>
                <a:gd name="T2" fmla="*/ 0 w 131"/>
                <a:gd name="T3" fmla="*/ 132 h 133"/>
                <a:gd name="T4" fmla="*/ 130 w 131"/>
                <a:gd name="T5" fmla="*/ 132 h 133"/>
                <a:gd name="T6" fmla="*/ 64 w 131"/>
                <a:gd name="T7" fmla="*/ 0 h 133"/>
                <a:gd name="T8" fmla="*/ 0 60000 65536"/>
                <a:gd name="T9" fmla="*/ 0 60000 65536"/>
                <a:gd name="T10" fmla="*/ 0 60000 65536"/>
                <a:gd name="T11" fmla="*/ 0 60000 65536"/>
                <a:gd name="T12" fmla="*/ 0 w 131"/>
                <a:gd name="T13" fmla="*/ 0 h 133"/>
                <a:gd name="T14" fmla="*/ 131 w 131"/>
                <a:gd name="T15" fmla="*/ 133 h 133"/>
              </a:gdLst>
              <a:ahLst/>
              <a:cxnLst>
                <a:cxn ang="T8">
                  <a:pos x="T0" y="T1"/>
                </a:cxn>
                <a:cxn ang="T9">
                  <a:pos x="T2" y="T3"/>
                </a:cxn>
                <a:cxn ang="T10">
                  <a:pos x="T4" y="T5"/>
                </a:cxn>
                <a:cxn ang="T11">
                  <a:pos x="T6" y="T7"/>
                </a:cxn>
              </a:cxnLst>
              <a:rect l="T12" t="T13" r="T14" b="T15"/>
              <a:pathLst>
                <a:path w="131" h="133">
                  <a:moveTo>
                    <a:pt x="64" y="0"/>
                  </a:moveTo>
                  <a:lnTo>
                    <a:pt x="0" y="132"/>
                  </a:lnTo>
                  <a:lnTo>
                    <a:pt x="130" y="132"/>
                  </a:lnTo>
                  <a:lnTo>
                    <a:pt x="6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93" name="Freeform 9">
              <a:extLst>
                <a:ext uri="{FF2B5EF4-FFF2-40B4-BE49-F238E27FC236}">
                  <a16:creationId xmlns:a16="http://schemas.microsoft.com/office/drawing/2014/main" id="{975C7A27-EA8B-3229-2636-D83543B5C3BD}"/>
                </a:ext>
              </a:extLst>
            </p:cNvPr>
            <p:cNvSpPr>
              <a:spLocks/>
            </p:cNvSpPr>
            <p:nvPr/>
          </p:nvSpPr>
          <p:spPr bwMode="auto">
            <a:xfrm>
              <a:off x="210" y="4079"/>
              <a:ext cx="21" cy="19"/>
            </a:xfrm>
            <a:custGeom>
              <a:avLst/>
              <a:gdLst>
                <a:gd name="T0" fmla="*/ 10 w 21"/>
                <a:gd name="T1" fmla="*/ 18 h 19"/>
                <a:gd name="T2" fmla="*/ 11 w 21"/>
                <a:gd name="T3" fmla="*/ 16 h 19"/>
                <a:gd name="T4" fmla="*/ 13 w 21"/>
                <a:gd name="T5" fmla="*/ 16 h 19"/>
                <a:gd name="T6" fmla="*/ 15 w 21"/>
                <a:gd name="T7" fmla="*/ 15 h 19"/>
                <a:gd name="T8" fmla="*/ 16 w 21"/>
                <a:gd name="T9" fmla="*/ 14 h 19"/>
                <a:gd name="T10" fmla="*/ 17 w 21"/>
                <a:gd name="T11" fmla="*/ 13 h 19"/>
                <a:gd name="T12" fmla="*/ 18 w 21"/>
                <a:gd name="T13" fmla="*/ 11 h 19"/>
                <a:gd name="T14" fmla="*/ 18 w 21"/>
                <a:gd name="T15" fmla="*/ 10 h 19"/>
                <a:gd name="T16" fmla="*/ 20 w 21"/>
                <a:gd name="T17" fmla="*/ 8 h 19"/>
                <a:gd name="T18" fmla="*/ 18 w 21"/>
                <a:gd name="T19" fmla="*/ 6 h 19"/>
                <a:gd name="T20" fmla="*/ 18 w 21"/>
                <a:gd name="T21" fmla="*/ 5 h 19"/>
                <a:gd name="T22" fmla="*/ 17 w 21"/>
                <a:gd name="T23" fmla="*/ 3 h 19"/>
                <a:gd name="T24" fmla="*/ 16 w 21"/>
                <a:gd name="T25" fmla="*/ 2 h 19"/>
                <a:gd name="T26" fmla="*/ 15 w 21"/>
                <a:gd name="T27" fmla="*/ 1 h 19"/>
                <a:gd name="T28" fmla="*/ 13 w 21"/>
                <a:gd name="T29" fmla="*/ 0 h 19"/>
                <a:gd name="T30" fmla="*/ 11 w 21"/>
                <a:gd name="T31" fmla="*/ 0 h 19"/>
                <a:gd name="T32" fmla="*/ 10 w 21"/>
                <a:gd name="T33" fmla="*/ 0 h 19"/>
                <a:gd name="T34" fmla="*/ 7 w 21"/>
                <a:gd name="T35" fmla="*/ 0 h 19"/>
                <a:gd name="T36" fmla="*/ 5 w 21"/>
                <a:gd name="T37" fmla="*/ 0 h 19"/>
                <a:gd name="T38" fmla="*/ 4 w 21"/>
                <a:gd name="T39" fmla="*/ 1 h 19"/>
                <a:gd name="T40" fmla="*/ 2 w 21"/>
                <a:gd name="T41" fmla="*/ 2 h 19"/>
                <a:gd name="T42" fmla="*/ 1 w 21"/>
                <a:gd name="T43" fmla="*/ 3 h 19"/>
                <a:gd name="T44" fmla="*/ 1 w 21"/>
                <a:gd name="T45" fmla="*/ 5 h 19"/>
                <a:gd name="T46" fmla="*/ 0 w 21"/>
                <a:gd name="T47" fmla="*/ 6 h 19"/>
                <a:gd name="T48" fmla="*/ 0 w 21"/>
                <a:gd name="T49" fmla="*/ 8 h 19"/>
                <a:gd name="T50" fmla="*/ 0 w 21"/>
                <a:gd name="T51" fmla="*/ 10 h 19"/>
                <a:gd name="T52" fmla="*/ 1 w 21"/>
                <a:gd name="T53" fmla="*/ 11 h 19"/>
                <a:gd name="T54" fmla="*/ 1 w 21"/>
                <a:gd name="T55" fmla="*/ 13 h 19"/>
                <a:gd name="T56" fmla="*/ 2 w 21"/>
                <a:gd name="T57" fmla="*/ 14 h 19"/>
                <a:gd name="T58" fmla="*/ 4 w 21"/>
                <a:gd name="T59" fmla="*/ 15 h 19"/>
                <a:gd name="T60" fmla="*/ 5 w 21"/>
                <a:gd name="T61" fmla="*/ 16 h 19"/>
                <a:gd name="T62" fmla="*/ 7 w 21"/>
                <a:gd name="T63" fmla="*/ 16 h 19"/>
                <a:gd name="T64" fmla="*/ 10 w 21"/>
                <a:gd name="T65" fmla="*/ 18 h 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
                <a:gd name="T100" fmla="*/ 0 h 19"/>
                <a:gd name="T101" fmla="*/ 21 w 21"/>
                <a:gd name="T102" fmla="*/ 19 h 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 h="19">
                  <a:moveTo>
                    <a:pt x="10" y="18"/>
                  </a:moveTo>
                  <a:lnTo>
                    <a:pt x="11" y="16"/>
                  </a:lnTo>
                  <a:lnTo>
                    <a:pt x="13" y="16"/>
                  </a:lnTo>
                  <a:lnTo>
                    <a:pt x="15" y="15"/>
                  </a:lnTo>
                  <a:lnTo>
                    <a:pt x="16" y="14"/>
                  </a:lnTo>
                  <a:lnTo>
                    <a:pt x="17" y="13"/>
                  </a:lnTo>
                  <a:lnTo>
                    <a:pt x="18" y="11"/>
                  </a:lnTo>
                  <a:lnTo>
                    <a:pt x="18" y="10"/>
                  </a:lnTo>
                  <a:lnTo>
                    <a:pt x="20" y="8"/>
                  </a:lnTo>
                  <a:lnTo>
                    <a:pt x="18" y="6"/>
                  </a:lnTo>
                  <a:lnTo>
                    <a:pt x="18" y="5"/>
                  </a:lnTo>
                  <a:lnTo>
                    <a:pt x="17" y="3"/>
                  </a:lnTo>
                  <a:lnTo>
                    <a:pt x="16" y="2"/>
                  </a:lnTo>
                  <a:lnTo>
                    <a:pt x="15" y="1"/>
                  </a:lnTo>
                  <a:lnTo>
                    <a:pt x="13" y="0"/>
                  </a:lnTo>
                  <a:lnTo>
                    <a:pt x="11" y="0"/>
                  </a:lnTo>
                  <a:lnTo>
                    <a:pt x="10" y="0"/>
                  </a:lnTo>
                  <a:lnTo>
                    <a:pt x="7" y="0"/>
                  </a:lnTo>
                  <a:lnTo>
                    <a:pt x="5" y="0"/>
                  </a:lnTo>
                  <a:lnTo>
                    <a:pt x="4" y="1"/>
                  </a:lnTo>
                  <a:lnTo>
                    <a:pt x="2" y="2"/>
                  </a:lnTo>
                  <a:lnTo>
                    <a:pt x="1" y="3"/>
                  </a:lnTo>
                  <a:lnTo>
                    <a:pt x="1" y="5"/>
                  </a:lnTo>
                  <a:lnTo>
                    <a:pt x="0" y="6"/>
                  </a:lnTo>
                  <a:lnTo>
                    <a:pt x="0" y="8"/>
                  </a:lnTo>
                  <a:lnTo>
                    <a:pt x="0" y="10"/>
                  </a:lnTo>
                  <a:lnTo>
                    <a:pt x="1" y="11"/>
                  </a:lnTo>
                  <a:lnTo>
                    <a:pt x="1" y="13"/>
                  </a:lnTo>
                  <a:lnTo>
                    <a:pt x="2" y="14"/>
                  </a:lnTo>
                  <a:lnTo>
                    <a:pt x="4" y="15"/>
                  </a:lnTo>
                  <a:lnTo>
                    <a:pt x="5" y="16"/>
                  </a:lnTo>
                  <a:lnTo>
                    <a:pt x="7" y="16"/>
                  </a:lnTo>
                  <a:lnTo>
                    <a:pt x="10"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94" name="Freeform 10">
              <a:extLst>
                <a:ext uri="{FF2B5EF4-FFF2-40B4-BE49-F238E27FC236}">
                  <a16:creationId xmlns:a16="http://schemas.microsoft.com/office/drawing/2014/main" id="{9AD625A5-ED89-1275-C3CD-1EEDC5F70CA2}"/>
                </a:ext>
              </a:extLst>
            </p:cNvPr>
            <p:cNvSpPr>
              <a:spLocks/>
            </p:cNvSpPr>
            <p:nvPr/>
          </p:nvSpPr>
          <p:spPr bwMode="auto">
            <a:xfrm>
              <a:off x="210" y="3996"/>
              <a:ext cx="20" cy="80"/>
            </a:xfrm>
            <a:custGeom>
              <a:avLst/>
              <a:gdLst>
                <a:gd name="T0" fmla="*/ 10 w 20"/>
                <a:gd name="T1" fmla="*/ 0 h 80"/>
                <a:gd name="T2" fmla="*/ 11 w 20"/>
                <a:gd name="T3" fmla="*/ 0 h 80"/>
                <a:gd name="T4" fmla="*/ 13 w 20"/>
                <a:gd name="T5" fmla="*/ 0 h 80"/>
                <a:gd name="T6" fmla="*/ 15 w 20"/>
                <a:gd name="T7" fmla="*/ 2 h 80"/>
                <a:gd name="T8" fmla="*/ 17 w 20"/>
                <a:gd name="T9" fmla="*/ 7 h 80"/>
                <a:gd name="T10" fmla="*/ 19 w 20"/>
                <a:gd name="T11" fmla="*/ 15 h 80"/>
                <a:gd name="T12" fmla="*/ 19 w 20"/>
                <a:gd name="T13" fmla="*/ 29 h 80"/>
                <a:gd name="T14" fmla="*/ 15 w 20"/>
                <a:gd name="T15" fmla="*/ 50 h 80"/>
                <a:gd name="T16" fmla="*/ 10 w 20"/>
                <a:gd name="T17" fmla="*/ 79 h 80"/>
                <a:gd name="T18" fmla="*/ 5 w 20"/>
                <a:gd name="T19" fmla="*/ 63 h 80"/>
                <a:gd name="T20" fmla="*/ 2 w 20"/>
                <a:gd name="T21" fmla="*/ 48 h 80"/>
                <a:gd name="T22" fmla="*/ 0 w 20"/>
                <a:gd name="T23" fmla="*/ 34 h 80"/>
                <a:gd name="T24" fmla="*/ 0 w 20"/>
                <a:gd name="T25" fmla="*/ 22 h 80"/>
                <a:gd name="T26" fmla="*/ 1 w 20"/>
                <a:gd name="T27" fmla="*/ 11 h 80"/>
                <a:gd name="T28" fmla="*/ 4 w 20"/>
                <a:gd name="T29" fmla="*/ 4 h 80"/>
                <a:gd name="T30" fmla="*/ 7 w 20"/>
                <a:gd name="T31" fmla="*/ 0 h 80"/>
                <a:gd name="T32" fmla="*/ 10 w 20"/>
                <a:gd name="T33" fmla="*/ 0 h 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80"/>
                <a:gd name="T53" fmla="*/ 20 w 20"/>
                <a:gd name="T54" fmla="*/ 80 h 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80">
                  <a:moveTo>
                    <a:pt x="10" y="0"/>
                  </a:moveTo>
                  <a:lnTo>
                    <a:pt x="11" y="0"/>
                  </a:lnTo>
                  <a:lnTo>
                    <a:pt x="13" y="0"/>
                  </a:lnTo>
                  <a:lnTo>
                    <a:pt x="15" y="2"/>
                  </a:lnTo>
                  <a:lnTo>
                    <a:pt x="17" y="7"/>
                  </a:lnTo>
                  <a:lnTo>
                    <a:pt x="19" y="15"/>
                  </a:lnTo>
                  <a:lnTo>
                    <a:pt x="19" y="29"/>
                  </a:lnTo>
                  <a:lnTo>
                    <a:pt x="15" y="50"/>
                  </a:lnTo>
                  <a:lnTo>
                    <a:pt x="10" y="79"/>
                  </a:lnTo>
                  <a:lnTo>
                    <a:pt x="5" y="63"/>
                  </a:lnTo>
                  <a:lnTo>
                    <a:pt x="2" y="48"/>
                  </a:lnTo>
                  <a:lnTo>
                    <a:pt x="0" y="34"/>
                  </a:lnTo>
                  <a:lnTo>
                    <a:pt x="0" y="22"/>
                  </a:lnTo>
                  <a:lnTo>
                    <a:pt x="1" y="11"/>
                  </a:lnTo>
                  <a:lnTo>
                    <a:pt x="4" y="4"/>
                  </a:lnTo>
                  <a:lnTo>
                    <a:pt x="7" y="0"/>
                  </a:lnTo>
                  <a:lnTo>
                    <a:pt x="1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grpSp>
        <p:nvGrpSpPr>
          <p:cNvPr id="54278" name="Group 11">
            <a:extLst>
              <a:ext uri="{FF2B5EF4-FFF2-40B4-BE49-F238E27FC236}">
                <a16:creationId xmlns:a16="http://schemas.microsoft.com/office/drawing/2014/main" id="{F91CFA15-E816-A0D2-DEB9-D89A889808A6}"/>
              </a:ext>
            </a:extLst>
          </p:cNvPr>
          <p:cNvGrpSpPr>
            <a:grpSpLocks/>
          </p:cNvGrpSpPr>
          <p:nvPr/>
        </p:nvGrpSpPr>
        <p:grpSpPr bwMode="auto">
          <a:xfrm>
            <a:off x="203200" y="6821488"/>
            <a:ext cx="287338" cy="309562"/>
            <a:chOff x="127" y="4219"/>
            <a:chExt cx="180" cy="192"/>
          </a:xfrm>
        </p:grpSpPr>
        <p:sp>
          <p:nvSpPr>
            <p:cNvPr id="54279" name="Freeform 12">
              <a:extLst>
                <a:ext uri="{FF2B5EF4-FFF2-40B4-BE49-F238E27FC236}">
                  <a16:creationId xmlns:a16="http://schemas.microsoft.com/office/drawing/2014/main" id="{1FF1879F-248A-B2F4-97F1-7DCF69979368}"/>
                </a:ext>
              </a:extLst>
            </p:cNvPr>
            <p:cNvSpPr>
              <a:spLocks/>
            </p:cNvSpPr>
            <p:nvPr/>
          </p:nvSpPr>
          <p:spPr bwMode="auto">
            <a:xfrm>
              <a:off x="127" y="4219"/>
              <a:ext cx="180" cy="184"/>
            </a:xfrm>
            <a:custGeom>
              <a:avLst/>
              <a:gdLst>
                <a:gd name="T0" fmla="*/ 179 w 180"/>
                <a:gd name="T1" fmla="*/ 183 h 184"/>
                <a:gd name="T2" fmla="*/ 179 w 180"/>
                <a:gd name="T3" fmla="*/ 0 h 184"/>
                <a:gd name="T4" fmla="*/ 0 w 180"/>
                <a:gd name="T5" fmla="*/ 0 h 184"/>
                <a:gd name="T6" fmla="*/ 0 w 180"/>
                <a:gd name="T7" fmla="*/ 183 h 184"/>
                <a:gd name="T8" fmla="*/ 179 w 180"/>
                <a:gd name="T9" fmla="*/ 183 h 184"/>
                <a:gd name="T10" fmla="*/ 0 60000 65536"/>
                <a:gd name="T11" fmla="*/ 0 60000 65536"/>
                <a:gd name="T12" fmla="*/ 0 60000 65536"/>
                <a:gd name="T13" fmla="*/ 0 60000 65536"/>
                <a:gd name="T14" fmla="*/ 0 60000 65536"/>
                <a:gd name="T15" fmla="*/ 0 w 180"/>
                <a:gd name="T16" fmla="*/ 0 h 184"/>
                <a:gd name="T17" fmla="*/ 180 w 180"/>
                <a:gd name="T18" fmla="*/ 184 h 184"/>
              </a:gdLst>
              <a:ahLst/>
              <a:cxnLst>
                <a:cxn ang="T10">
                  <a:pos x="T0" y="T1"/>
                </a:cxn>
                <a:cxn ang="T11">
                  <a:pos x="T2" y="T3"/>
                </a:cxn>
                <a:cxn ang="T12">
                  <a:pos x="T4" y="T5"/>
                </a:cxn>
                <a:cxn ang="T13">
                  <a:pos x="T6" y="T7"/>
                </a:cxn>
                <a:cxn ang="T14">
                  <a:pos x="T8" y="T9"/>
                </a:cxn>
              </a:cxnLst>
              <a:rect l="T15" t="T16" r="T17" b="T18"/>
              <a:pathLst>
                <a:path w="180" h="184">
                  <a:moveTo>
                    <a:pt x="179" y="183"/>
                  </a:moveTo>
                  <a:lnTo>
                    <a:pt x="179" y="0"/>
                  </a:lnTo>
                  <a:lnTo>
                    <a:pt x="0" y="0"/>
                  </a:lnTo>
                  <a:lnTo>
                    <a:pt x="0" y="183"/>
                  </a:lnTo>
                  <a:lnTo>
                    <a:pt x="179" y="183"/>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0" name="Freeform 13">
              <a:extLst>
                <a:ext uri="{FF2B5EF4-FFF2-40B4-BE49-F238E27FC236}">
                  <a16:creationId xmlns:a16="http://schemas.microsoft.com/office/drawing/2014/main" id="{51E57CC7-5F11-87AC-D89A-C5BDDE321554}"/>
                </a:ext>
              </a:extLst>
            </p:cNvPr>
            <p:cNvSpPr>
              <a:spLocks/>
            </p:cNvSpPr>
            <p:nvPr/>
          </p:nvSpPr>
          <p:spPr bwMode="auto">
            <a:xfrm>
              <a:off x="207" y="4392"/>
              <a:ext cx="28" cy="19"/>
            </a:xfrm>
            <a:custGeom>
              <a:avLst/>
              <a:gdLst>
                <a:gd name="T0" fmla="*/ 27 w 28"/>
                <a:gd name="T1" fmla="*/ 18 h 19"/>
                <a:gd name="T2" fmla="*/ 27 w 28"/>
                <a:gd name="T3" fmla="*/ 0 h 19"/>
                <a:gd name="T4" fmla="*/ 0 w 28"/>
                <a:gd name="T5" fmla="*/ 0 h 19"/>
                <a:gd name="T6" fmla="*/ 0 w 28"/>
                <a:gd name="T7" fmla="*/ 18 h 19"/>
                <a:gd name="T8" fmla="*/ 27 w 28"/>
                <a:gd name="T9" fmla="*/ 18 h 19"/>
                <a:gd name="T10" fmla="*/ 0 60000 65536"/>
                <a:gd name="T11" fmla="*/ 0 60000 65536"/>
                <a:gd name="T12" fmla="*/ 0 60000 65536"/>
                <a:gd name="T13" fmla="*/ 0 60000 65536"/>
                <a:gd name="T14" fmla="*/ 0 60000 65536"/>
                <a:gd name="T15" fmla="*/ 0 w 28"/>
                <a:gd name="T16" fmla="*/ 0 h 19"/>
                <a:gd name="T17" fmla="*/ 28 w 28"/>
                <a:gd name="T18" fmla="*/ 19 h 19"/>
              </a:gdLst>
              <a:ahLst/>
              <a:cxnLst>
                <a:cxn ang="T10">
                  <a:pos x="T0" y="T1"/>
                </a:cxn>
                <a:cxn ang="T11">
                  <a:pos x="T2" y="T3"/>
                </a:cxn>
                <a:cxn ang="T12">
                  <a:pos x="T4" y="T5"/>
                </a:cxn>
                <a:cxn ang="T13">
                  <a:pos x="T6" y="T7"/>
                </a:cxn>
                <a:cxn ang="T14">
                  <a:pos x="T8" y="T9"/>
                </a:cxn>
              </a:cxnLst>
              <a:rect l="T15" t="T16" r="T17" b="T18"/>
              <a:pathLst>
                <a:path w="28" h="19">
                  <a:moveTo>
                    <a:pt x="27" y="18"/>
                  </a:moveTo>
                  <a:lnTo>
                    <a:pt x="27" y="0"/>
                  </a:lnTo>
                  <a:lnTo>
                    <a:pt x="0" y="0"/>
                  </a:lnTo>
                  <a:lnTo>
                    <a:pt x="0" y="18"/>
                  </a:lnTo>
                  <a:lnTo>
                    <a:pt x="27" y="18"/>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1" name="Freeform 14">
              <a:extLst>
                <a:ext uri="{FF2B5EF4-FFF2-40B4-BE49-F238E27FC236}">
                  <a16:creationId xmlns:a16="http://schemas.microsoft.com/office/drawing/2014/main" id="{FB1A8609-DAB8-95D6-197E-A83AB82BBE6F}"/>
                </a:ext>
              </a:extLst>
            </p:cNvPr>
            <p:cNvSpPr>
              <a:spLocks/>
            </p:cNvSpPr>
            <p:nvPr/>
          </p:nvSpPr>
          <p:spPr bwMode="auto">
            <a:xfrm>
              <a:off x="150" y="4271"/>
              <a:ext cx="32" cy="21"/>
            </a:xfrm>
            <a:custGeom>
              <a:avLst/>
              <a:gdLst>
                <a:gd name="T0" fmla="*/ 0 w 32"/>
                <a:gd name="T1" fmla="*/ 0 h 21"/>
                <a:gd name="T2" fmla="*/ 25 w 32"/>
                <a:gd name="T3" fmla="*/ 20 h 21"/>
                <a:gd name="T4" fmla="*/ 31 w 32"/>
                <a:gd name="T5" fmla="*/ 9 h 21"/>
                <a:gd name="T6" fmla="*/ 0 w 32"/>
                <a:gd name="T7" fmla="*/ 0 h 21"/>
                <a:gd name="T8" fmla="*/ 0 60000 65536"/>
                <a:gd name="T9" fmla="*/ 0 60000 65536"/>
                <a:gd name="T10" fmla="*/ 0 60000 65536"/>
                <a:gd name="T11" fmla="*/ 0 60000 65536"/>
                <a:gd name="T12" fmla="*/ 0 w 32"/>
                <a:gd name="T13" fmla="*/ 0 h 21"/>
                <a:gd name="T14" fmla="*/ 32 w 32"/>
                <a:gd name="T15" fmla="*/ 21 h 21"/>
              </a:gdLst>
              <a:ahLst/>
              <a:cxnLst>
                <a:cxn ang="T8">
                  <a:pos x="T0" y="T1"/>
                </a:cxn>
                <a:cxn ang="T9">
                  <a:pos x="T2" y="T3"/>
                </a:cxn>
                <a:cxn ang="T10">
                  <a:pos x="T4" y="T5"/>
                </a:cxn>
                <a:cxn ang="T11">
                  <a:pos x="T6" y="T7"/>
                </a:cxn>
              </a:cxnLst>
              <a:rect l="T12" t="T13" r="T14" b="T15"/>
              <a:pathLst>
                <a:path w="32" h="21">
                  <a:moveTo>
                    <a:pt x="0" y="0"/>
                  </a:moveTo>
                  <a:lnTo>
                    <a:pt x="25" y="20"/>
                  </a:lnTo>
                  <a:lnTo>
                    <a:pt x="31" y="9"/>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2" name="Freeform 15">
              <a:extLst>
                <a:ext uri="{FF2B5EF4-FFF2-40B4-BE49-F238E27FC236}">
                  <a16:creationId xmlns:a16="http://schemas.microsoft.com/office/drawing/2014/main" id="{DB90799D-2375-919C-9F27-F858495C69FF}"/>
                </a:ext>
              </a:extLst>
            </p:cNvPr>
            <p:cNvSpPr>
              <a:spLocks/>
            </p:cNvSpPr>
            <p:nvPr/>
          </p:nvSpPr>
          <p:spPr bwMode="auto">
            <a:xfrm>
              <a:off x="260" y="4271"/>
              <a:ext cx="34" cy="21"/>
            </a:xfrm>
            <a:custGeom>
              <a:avLst/>
              <a:gdLst>
                <a:gd name="T0" fmla="*/ 33 w 34"/>
                <a:gd name="T1" fmla="*/ 0 h 21"/>
                <a:gd name="T2" fmla="*/ 6 w 34"/>
                <a:gd name="T3" fmla="*/ 20 h 21"/>
                <a:gd name="T4" fmla="*/ 0 w 34"/>
                <a:gd name="T5" fmla="*/ 9 h 21"/>
                <a:gd name="T6" fmla="*/ 33 w 34"/>
                <a:gd name="T7" fmla="*/ 0 h 21"/>
                <a:gd name="T8" fmla="*/ 0 60000 65536"/>
                <a:gd name="T9" fmla="*/ 0 60000 65536"/>
                <a:gd name="T10" fmla="*/ 0 60000 65536"/>
                <a:gd name="T11" fmla="*/ 0 60000 65536"/>
                <a:gd name="T12" fmla="*/ 0 w 34"/>
                <a:gd name="T13" fmla="*/ 0 h 21"/>
                <a:gd name="T14" fmla="*/ 34 w 34"/>
                <a:gd name="T15" fmla="*/ 21 h 21"/>
              </a:gdLst>
              <a:ahLst/>
              <a:cxnLst>
                <a:cxn ang="T8">
                  <a:pos x="T0" y="T1"/>
                </a:cxn>
                <a:cxn ang="T9">
                  <a:pos x="T2" y="T3"/>
                </a:cxn>
                <a:cxn ang="T10">
                  <a:pos x="T4" y="T5"/>
                </a:cxn>
                <a:cxn ang="T11">
                  <a:pos x="T6" y="T7"/>
                </a:cxn>
              </a:cxnLst>
              <a:rect l="T12" t="T13" r="T14" b="T15"/>
              <a:pathLst>
                <a:path w="34" h="21">
                  <a:moveTo>
                    <a:pt x="33" y="0"/>
                  </a:moveTo>
                  <a:lnTo>
                    <a:pt x="6" y="20"/>
                  </a:lnTo>
                  <a:lnTo>
                    <a:pt x="0" y="9"/>
                  </a:lnTo>
                  <a:lnTo>
                    <a:pt x="33"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3" name="Freeform 16">
              <a:extLst>
                <a:ext uri="{FF2B5EF4-FFF2-40B4-BE49-F238E27FC236}">
                  <a16:creationId xmlns:a16="http://schemas.microsoft.com/office/drawing/2014/main" id="{8B0C0AC2-9891-D469-E9EE-73F831443285}"/>
                </a:ext>
              </a:extLst>
            </p:cNvPr>
            <p:cNvSpPr>
              <a:spLocks/>
            </p:cNvSpPr>
            <p:nvPr/>
          </p:nvSpPr>
          <p:spPr bwMode="auto">
            <a:xfrm>
              <a:off x="147" y="4311"/>
              <a:ext cx="33" cy="17"/>
            </a:xfrm>
            <a:custGeom>
              <a:avLst/>
              <a:gdLst>
                <a:gd name="T0" fmla="*/ 0 w 33"/>
                <a:gd name="T1" fmla="*/ 16 h 17"/>
                <a:gd name="T2" fmla="*/ 32 w 33"/>
                <a:gd name="T3" fmla="*/ 12 h 17"/>
                <a:gd name="T4" fmla="*/ 30 w 33"/>
                <a:gd name="T5" fmla="*/ 0 h 17"/>
                <a:gd name="T6" fmla="*/ 0 w 33"/>
                <a:gd name="T7" fmla="*/ 16 h 17"/>
                <a:gd name="T8" fmla="*/ 0 60000 65536"/>
                <a:gd name="T9" fmla="*/ 0 60000 65536"/>
                <a:gd name="T10" fmla="*/ 0 60000 65536"/>
                <a:gd name="T11" fmla="*/ 0 60000 65536"/>
                <a:gd name="T12" fmla="*/ 0 w 33"/>
                <a:gd name="T13" fmla="*/ 0 h 17"/>
                <a:gd name="T14" fmla="*/ 33 w 33"/>
                <a:gd name="T15" fmla="*/ 17 h 17"/>
              </a:gdLst>
              <a:ahLst/>
              <a:cxnLst>
                <a:cxn ang="T8">
                  <a:pos x="T0" y="T1"/>
                </a:cxn>
                <a:cxn ang="T9">
                  <a:pos x="T2" y="T3"/>
                </a:cxn>
                <a:cxn ang="T10">
                  <a:pos x="T4" y="T5"/>
                </a:cxn>
                <a:cxn ang="T11">
                  <a:pos x="T6" y="T7"/>
                </a:cxn>
              </a:cxnLst>
              <a:rect l="T12" t="T13" r="T14" b="T15"/>
              <a:pathLst>
                <a:path w="33" h="17">
                  <a:moveTo>
                    <a:pt x="0" y="16"/>
                  </a:moveTo>
                  <a:lnTo>
                    <a:pt x="32" y="12"/>
                  </a:lnTo>
                  <a:lnTo>
                    <a:pt x="30" y="0"/>
                  </a:lnTo>
                  <a:lnTo>
                    <a:pt x="0"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4" name="Freeform 17">
              <a:extLst>
                <a:ext uri="{FF2B5EF4-FFF2-40B4-BE49-F238E27FC236}">
                  <a16:creationId xmlns:a16="http://schemas.microsoft.com/office/drawing/2014/main" id="{0D470E8A-4220-A815-C6A7-2538076D9F46}"/>
                </a:ext>
              </a:extLst>
            </p:cNvPr>
            <p:cNvSpPr>
              <a:spLocks/>
            </p:cNvSpPr>
            <p:nvPr/>
          </p:nvSpPr>
          <p:spPr bwMode="auto">
            <a:xfrm>
              <a:off x="262" y="4312"/>
              <a:ext cx="35" cy="17"/>
            </a:xfrm>
            <a:custGeom>
              <a:avLst/>
              <a:gdLst>
                <a:gd name="T0" fmla="*/ 34 w 35"/>
                <a:gd name="T1" fmla="*/ 16 h 17"/>
                <a:gd name="T2" fmla="*/ 0 w 35"/>
                <a:gd name="T3" fmla="*/ 13 h 17"/>
                <a:gd name="T4" fmla="*/ 2 w 35"/>
                <a:gd name="T5" fmla="*/ 0 h 17"/>
                <a:gd name="T6" fmla="*/ 34 w 35"/>
                <a:gd name="T7" fmla="*/ 16 h 17"/>
                <a:gd name="T8" fmla="*/ 0 60000 65536"/>
                <a:gd name="T9" fmla="*/ 0 60000 65536"/>
                <a:gd name="T10" fmla="*/ 0 60000 65536"/>
                <a:gd name="T11" fmla="*/ 0 60000 65536"/>
                <a:gd name="T12" fmla="*/ 0 w 35"/>
                <a:gd name="T13" fmla="*/ 0 h 17"/>
                <a:gd name="T14" fmla="*/ 35 w 35"/>
                <a:gd name="T15" fmla="*/ 17 h 17"/>
              </a:gdLst>
              <a:ahLst/>
              <a:cxnLst>
                <a:cxn ang="T8">
                  <a:pos x="T0" y="T1"/>
                </a:cxn>
                <a:cxn ang="T9">
                  <a:pos x="T2" y="T3"/>
                </a:cxn>
                <a:cxn ang="T10">
                  <a:pos x="T4" y="T5"/>
                </a:cxn>
                <a:cxn ang="T11">
                  <a:pos x="T6" y="T7"/>
                </a:cxn>
              </a:cxnLst>
              <a:rect l="T12" t="T13" r="T14" b="T15"/>
              <a:pathLst>
                <a:path w="35" h="17">
                  <a:moveTo>
                    <a:pt x="34" y="16"/>
                  </a:moveTo>
                  <a:lnTo>
                    <a:pt x="0" y="13"/>
                  </a:lnTo>
                  <a:lnTo>
                    <a:pt x="2" y="0"/>
                  </a:lnTo>
                  <a:lnTo>
                    <a:pt x="34" y="1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5" name="Freeform 18">
              <a:extLst>
                <a:ext uri="{FF2B5EF4-FFF2-40B4-BE49-F238E27FC236}">
                  <a16:creationId xmlns:a16="http://schemas.microsoft.com/office/drawing/2014/main" id="{C4E4400A-FE59-7E3F-23E4-0F6C582B8CD9}"/>
                </a:ext>
              </a:extLst>
            </p:cNvPr>
            <p:cNvSpPr>
              <a:spLocks/>
            </p:cNvSpPr>
            <p:nvPr/>
          </p:nvSpPr>
          <p:spPr bwMode="auto">
            <a:xfrm>
              <a:off x="172" y="4234"/>
              <a:ext cx="27" cy="29"/>
            </a:xfrm>
            <a:custGeom>
              <a:avLst/>
              <a:gdLst>
                <a:gd name="T0" fmla="*/ 0 w 27"/>
                <a:gd name="T1" fmla="*/ 0 h 29"/>
                <a:gd name="T2" fmla="*/ 15 w 27"/>
                <a:gd name="T3" fmla="*/ 28 h 29"/>
                <a:gd name="T4" fmla="*/ 26 w 27"/>
                <a:gd name="T5" fmla="*/ 21 h 29"/>
                <a:gd name="T6" fmla="*/ 0 w 27"/>
                <a:gd name="T7" fmla="*/ 0 h 29"/>
                <a:gd name="T8" fmla="*/ 0 60000 65536"/>
                <a:gd name="T9" fmla="*/ 0 60000 65536"/>
                <a:gd name="T10" fmla="*/ 0 60000 65536"/>
                <a:gd name="T11" fmla="*/ 0 60000 65536"/>
                <a:gd name="T12" fmla="*/ 0 w 27"/>
                <a:gd name="T13" fmla="*/ 0 h 29"/>
                <a:gd name="T14" fmla="*/ 27 w 27"/>
                <a:gd name="T15" fmla="*/ 29 h 29"/>
              </a:gdLst>
              <a:ahLst/>
              <a:cxnLst>
                <a:cxn ang="T8">
                  <a:pos x="T0" y="T1"/>
                </a:cxn>
                <a:cxn ang="T9">
                  <a:pos x="T2" y="T3"/>
                </a:cxn>
                <a:cxn ang="T10">
                  <a:pos x="T4" y="T5"/>
                </a:cxn>
                <a:cxn ang="T11">
                  <a:pos x="T6" y="T7"/>
                </a:cxn>
              </a:cxnLst>
              <a:rect l="T12" t="T13" r="T14" b="T15"/>
              <a:pathLst>
                <a:path w="27" h="29">
                  <a:moveTo>
                    <a:pt x="0" y="0"/>
                  </a:moveTo>
                  <a:lnTo>
                    <a:pt x="15" y="28"/>
                  </a:lnTo>
                  <a:lnTo>
                    <a:pt x="26" y="21"/>
                  </a:lnTo>
                  <a:lnTo>
                    <a:pt x="0"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6" name="Freeform 19">
              <a:extLst>
                <a:ext uri="{FF2B5EF4-FFF2-40B4-BE49-F238E27FC236}">
                  <a16:creationId xmlns:a16="http://schemas.microsoft.com/office/drawing/2014/main" id="{03D3679D-2C7E-682A-851A-408353B1EE0A}"/>
                </a:ext>
              </a:extLst>
            </p:cNvPr>
            <p:cNvSpPr>
              <a:spLocks/>
            </p:cNvSpPr>
            <p:nvPr/>
          </p:nvSpPr>
          <p:spPr bwMode="auto">
            <a:xfrm>
              <a:off x="237" y="4236"/>
              <a:ext cx="29" cy="31"/>
            </a:xfrm>
            <a:custGeom>
              <a:avLst/>
              <a:gdLst>
                <a:gd name="T0" fmla="*/ 28 w 29"/>
                <a:gd name="T1" fmla="*/ 0 h 31"/>
                <a:gd name="T2" fmla="*/ 11 w 29"/>
                <a:gd name="T3" fmla="*/ 30 h 31"/>
                <a:gd name="T4" fmla="*/ 0 w 29"/>
                <a:gd name="T5" fmla="*/ 22 h 31"/>
                <a:gd name="T6" fmla="*/ 28 w 29"/>
                <a:gd name="T7" fmla="*/ 0 h 31"/>
                <a:gd name="T8" fmla="*/ 0 60000 65536"/>
                <a:gd name="T9" fmla="*/ 0 60000 65536"/>
                <a:gd name="T10" fmla="*/ 0 60000 65536"/>
                <a:gd name="T11" fmla="*/ 0 60000 65536"/>
                <a:gd name="T12" fmla="*/ 0 w 29"/>
                <a:gd name="T13" fmla="*/ 0 h 31"/>
                <a:gd name="T14" fmla="*/ 29 w 29"/>
                <a:gd name="T15" fmla="*/ 31 h 31"/>
              </a:gdLst>
              <a:ahLst/>
              <a:cxnLst>
                <a:cxn ang="T8">
                  <a:pos x="T0" y="T1"/>
                </a:cxn>
                <a:cxn ang="T9">
                  <a:pos x="T2" y="T3"/>
                </a:cxn>
                <a:cxn ang="T10">
                  <a:pos x="T4" y="T5"/>
                </a:cxn>
                <a:cxn ang="T11">
                  <a:pos x="T6" y="T7"/>
                </a:cxn>
              </a:cxnLst>
              <a:rect l="T12" t="T13" r="T14" b="T15"/>
              <a:pathLst>
                <a:path w="29" h="31">
                  <a:moveTo>
                    <a:pt x="28" y="0"/>
                  </a:moveTo>
                  <a:lnTo>
                    <a:pt x="11" y="30"/>
                  </a:lnTo>
                  <a:lnTo>
                    <a:pt x="0" y="22"/>
                  </a:lnTo>
                  <a:lnTo>
                    <a:pt x="2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7" name="Freeform 20">
              <a:extLst>
                <a:ext uri="{FF2B5EF4-FFF2-40B4-BE49-F238E27FC236}">
                  <a16:creationId xmlns:a16="http://schemas.microsoft.com/office/drawing/2014/main" id="{C4CB702E-16DB-EC9B-270D-BF7AAB417FBC}"/>
                </a:ext>
              </a:extLst>
            </p:cNvPr>
            <p:cNvSpPr>
              <a:spLocks/>
            </p:cNvSpPr>
            <p:nvPr/>
          </p:nvSpPr>
          <p:spPr bwMode="auto">
            <a:xfrm>
              <a:off x="211" y="4225"/>
              <a:ext cx="19" cy="30"/>
            </a:xfrm>
            <a:custGeom>
              <a:avLst/>
              <a:gdLst>
                <a:gd name="T0" fmla="*/ 8 w 19"/>
                <a:gd name="T1" fmla="*/ 0 h 30"/>
                <a:gd name="T2" fmla="*/ 0 w 19"/>
                <a:gd name="T3" fmla="*/ 29 h 30"/>
                <a:gd name="T4" fmla="*/ 18 w 19"/>
                <a:gd name="T5" fmla="*/ 28 h 30"/>
                <a:gd name="T6" fmla="*/ 8 w 19"/>
                <a:gd name="T7" fmla="*/ 0 h 30"/>
                <a:gd name="T8" fmla="*/ 0 60000 65536"/>
                <a:gd name="T9" fmla="*/ 0 60000 65536"/>
                <a:gd name="T10" fmla="*/ 0 60000 65536"/>
                <a:gd name="T11" fmla="*/ 0 60000 65536"/>
                <a:gd name="T12" fmla="*/ 0 w 19"/>
                <a:gd name="T13" fmla="*/ 0 h 30"/>
                <a:gd name="T14" fmla="*/ 19 w 19"/>
                <a:gd name="T15" fmla="*/ 30 h 30"/>
              </a:gdLst>
              <a:ahLst/>
              <a:cxnLst>
                <a:cxn ang="T8">
                  <a:pos x="T0" y="T1"/>
                </a:cxn>
                <a:cxn ang="T9">
                  <a:pos x="T2" y="T3"/>
                </a:cxn>
                <a:cxn ang="T10">
                  <a:pos x="T4" y="T5"/>
                </a:cxn>
                <a:cxn ang="T11">
                  <a:pos x="T6" y="T7"/>
                </a:cxn>
              </a:cxnLst>
              <a:rect l="T12" t="T13" r="T14" b="T15"/>
              <a:pathLst>
                <a:path w="19" h="30">
                  <a:moveTo>
                    <a:pt x="8" y="0"/>
                  </a:moveTo>
                  <a:lnTo>
                    <a:pt x="0" y="29"/>
                  </a:lnTo>
                  <a:lnTo>
                    <a:pt x="18" y="28"/>
                  </a:lnTo>
                  <a:lnTo>
                    <a:pt x="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8" name="Freeform 21">
              <a:extLst>
                <a:ext uri="{FF2B5EF4-FFF2-40B4-BE49-F238E27FC236}">
                  <a16:creationId xmlns:a16="http://schemas.microsoft.com/office/drawing/2014/main" id="{4938A68B-1843-483E-D521-1996B05D5762}"/>
                </a:ext>
              </a:extLst>
            </p:cNvPr>
            <p:cNvSpPr>
              <a:spLocks/>
            </p:cNvSpPr>
            <p:nvPr/>
          </p:nvSpPr>
          <p:spPr bwMode="auto">
            <a:xfrm>
              <a:off x="187" y="4270"/>
              <a:ext cx="67" cy="116"/>
            </a:xfrm>
            <a:custGeom>
              <a:avLst/>
              <a:gdLst>
                <a:gd name="T0" fmla="*/ 21 w 67"/>
                <a:gd name="T1" fmla="*/ 115 h 116"/>
                <a:gd name="T2" fmla="*/ 22 w 67"/>
                <a:gd name="T3" fmla="*/ 94 h 116"/>
                <a:gd name="T4" fmla="*/ 20 w 67"/>
                <a:gd name="T5" fmla="*/ 91 h 116"/>
                <a:gd name="T6" fmla="*/ 14 w 67"/>
                <a:gd name="T7" fmla="*/ 83 h 116"/>
                <a:gd name="T8" fmla="*/ 8 w 67"/>
                <a:gd name="T9" fmla="*/ 72 h 116"/>
                <a:gd name="T10" fmla="*/ 3 w 67"/>
                <a:gd name="T11" fmla="*/ 58 h 116"/>
                <a:gd name="T12" fmla="*/ 0 w 67"/>
                <a:gd name="T13" fmla="*/ 42 h 116"/>
                <a:gd name="T14" fmla="*/ 0 w 67"/>
                <a:gd name="T15" fmla="*/ 27 h 116"/>
                <a:gd name="T16" fmla="*/ 7 w 67"/>
                <a:gd name="T17" fmla="*/ 12 h 116"/>
                <a:gd name="T18" fmla="*/ 22 w 67"/>
                <a:gd name="T19" fmla="*/ 0 h 116"/>
                <a:gd name="T20" fmla="*/ 42 w 67"/>
                <a:gd name="T21" fmla="*/ 0 h 116"/>
                <a:gd name="T22" fmla="*/ 45 w 67"/>
                <a:gd name="T23" fmla="*/ 1 h 116"/>
                <a:gd name="T24" fmla="*/ 50 w 67"/>
                <a:gd name="T25" fmla="*/ 5 h 116"/>
                <a:gd name="T26" fmla="*/ 56 w 67"/>
                <a:gd name="T27" fmla="*/ 11 h 116"/>
                <a:gd name="T28" fmla="*/ 62 w 67"/>
                <a:gd name="T29" fmla="*/ 20 h 116"/>
                <a:gd name="T30" fmla="*/ 66 w 67"/>
                <a:gd name="T31" fmla="*/ 32 h 116"/>
                <a:gd name="T32" fmla="*/ 65 w 67"/>
                <a:gd name="T33" fmla="*/ 48 h 116"/>
                <a:gd name="T34" fmla="*/ 58 w 67"/>
                <a:gd name="T35" fmla="*/ 68 h 116"/>
                <a:gd name="T36" fmla="*/ 42 w 67"/>
                <a:gd name="T37" fmla="*/ 91 h 116"/>
                <a:gd name="T38" fmla="*/ 42 w 67"/>
                <a:gd name="T39" fmla="*/ 115 h 116"/>
                <a:gd name="T40" fmla="*/ 21 w 67"/>
                <a:gd name="T41" fmla="*/ 115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116"/>
                <a:gd name="T65" fmla="*/ 67 w 67"/>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116">
                  <a:moveTo>
                    <a:pt x="21" y="115"/>
                  </a:moveTo>
                  <a:lnTo>
                    <a:pt x="22" y="94"/>
                  </a:lnTo>
                  <a:lnTo>
                    <a:pt x="20" y="91"/>
                  </a:lnTo>
                  <a:lnTo>
                    <a:pt x="14" y="83"/>
                  </a:lnTo>
                  <a:lnTo>
                    <a:pt x="8" y="72"/>
                  </a:lnTo>
                  <a:lnTo>
                    <a:pt x="3" y="58"/>
                  </a:lnTo>
                  <a:lnTo>
                    <a:pt x="0" y="42"/>
                  </a:lnTo>
                  <a:lnTo>
                    <a:pt x="0" y="27"/>
                  </a:lnTo>
                  <a:lnTo>
                    <a:pt x="7" y="12"/>
                  </a:lnTo>
                  <a:lnTo>
                    <a:pt x="22" y="0"/>
                  </a:lnTo>
                  <a:lnTo>
                    <a:pt x="42" y="0"/>
                  </a:lnTo>
                  <a:lnTo>
                    <a:pt x="45" y="1"/>
                  </a:lnTo>
                  <a:lnTo>
                    <a:pt x="50" y="5"/>
                  </a:lnTo>
                  <a:lnTo>
                    <a:pt x="56" y="11"/>
                  </a:lnTo>
                  <a:lnTo>
                    <a:pt x="62" y="20"/>
                  </a:lnTo>
                  <a:lnTo>
                    <a:pt x="66" y="32"/>
                  </a:lnTo>
                  <a:lnTo>
                    <a:pt x="65" y="48"/>
                  </a:lnTo>
                  <a:lnTo>
                    <a:pt x="58" y="68"/>
                  </a:lnTo>
                  <a:lnTo>
                    <a:pt x="42" y="91"/>
                  </a:lnTo>
                  <a:lnTo>
                    <a:pt x="42" y="115"/>
                  </a:lnTo>
                  <a:lnTo>
                    <a:pt x="21" y="115"/>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sp>
          <p:nvSpPr>
            <p:cNvPr id="54289" name="Freeform 22">
              <a:extLst>
                <a:ext uri="{FF2B5EF4-FFF2-40B4-BE49-F238E27FC236}">
                  <a16:creationId xmlns:a16="http://schemas.microsoft.com/office/drawing/2014/main" id="{5E991B42-66CC-DFE7-3F5E-C2D0F4F208D9}"/>
                </a:ext>
              </a:extLst>
            </p:cNvPr>
            <p:cNvSpPr>
              <a:spLocks/>
            </p:cNvSpPr>
            <p:nvPr/>
          </p:nvSpPr>
          <p:spPr bwMode="auto">
            <a:xfrm>
              <a:off x="213" y="4292"/>
              <a:ext cx="18" cy="88"/>
            </a:xfrm>
            <a:custGeom>
              <a:avLst/>
              <a:gdLst>
                <a:gd name="T0" fmla="*/ 4 w 18"/>
                <a:gd name="T1" fmla="*/ 0 h 88"/>
                <a:gd name="T2" fmla="*/ 7 w 18"/>
                <a:gd name="T3" fmla="*/ 6 h 88"/>
                <a:gd name="T4" fmla="*/ 2 w 18"/>
                <a:gd name="T5" fmla="*/ 7 h 88"/>
                <a:gd name="T6" fmla="*/ 2 w 18"/>
                <a:gd name="T7" fmla="*/ 78 h 88"/>
                <a:gd name="T8" fmla="*/ 0 w 18"/>
                <a:gd name="T9" fmla="*/ 79 h 88"/>
                <a:gd name="T10" fmla="*/ 0 w 18"/>
                <a:gd name="T11" fmla="*/ 87 h 88"/>
                <a:gd name="T12" fmla="*/ 2 w 18"/>
                <a:gd name="T13" fmla="*/ 87 h 88"/>
                <a:gd name="T14" fmla="*/ 4 w 18"/>
                <a:gd name="T15" fmla="*/ 87 h 88"/>
                <a:gd name="T16" fmla="*/ 7 w 18"/>
                <a:gd name="T17" fmla="*/ 87 h 88"/>
                <a:gd name="T18" fmla="*/ 9 w 18"/>
                <a:gd name="T19" fmla="*/ 85 h 88"/>
                <a:gd name="T20" fmla="*/ 14 w 18"/>
                <a:gd name="T21" fmla="*/ 85 h 88"/>
                <a:gd name="T22" fmla="*/ 17 w 18"/>
                <a:gd name="T23" fmla="*/ 84 h 88"/>
                <a:gd name="T24" fmla="*/ 17 w 18"/>
                <a:gd name="T25" fmla="*/ 82 h 88"/>
                <a:gd name="T26" fmla="*/ 17 w 18"/>
                <a:gd name="T27" fmla="*/ 79 h 88"/>
                <a:gd name="T28" fmla="*/ 17 w 18"/>
                <a:gd name="T29" fmla="*/ 48 h 88"/>
                <a:gd name="T30" fmla="*/ 14 w 18"/>
                <a:gd name="T31" fmla="*/ 47 h 88"/>
                <a:gd name="T32" fmla="*/ 14 w 18"/>
                <a:gd name="T33" fmla="*/ 39 h 88"/>
                <a:gd name="T34" fmla="*/ 14 w 18"/>
                <a:gd name="T35" fmla="*/ 5 h 88"/>
                <a:gd name="T36" fmla="*/ 4 w 18"/>
                <a:gd name="T37" fmla="*/ 0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88"/>
                <a:gd name="T59" fmla="*/ 18 w 18"/>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88">
                  <a:moveTo>
                    <a:pt x="4" y="0"/>
                  </a:moveTo>
                  <a:lnTo>
                    <a:pt x="7" y="6"/>
                  </a:lnTo>
                  <a:lnTo>
                    <a:pt x="2" y="7"/>
                  </a:lnTo>
                  <a:lnTo>
                    <a:pt x="2" y="78"/>
                  </a:lnTo>
                  <a:lnTo>
                    <a:pt x="0" y="79"/>
                  </a:lnTo>
                  <a:lnTo>
                    <a:pt x="0" y="87"/>
                  </a:lnTo>
                  <a:lnTo>
                    <a:pt x="2" y="87"/>
                  </a:lnTo>
                  <a:lnTo>
                    <a:pt x="4" y="87"/>
                  </a:lnTo>
                  <a:lnTo>
                    <a:pt x="7" y="87"/>
                  </a:lnTo>
                  <a:lnTo>
                    <a:pt x="9" y="85"/>
                  </a:lnTo>
                  <a:lnTo>
                    <a:pt x="14" y="85"/>
                  </a:lnTo>
                  <a:lnTo>
                    <a:pt x="17" y="84"/>
                  </a:lnTo>
                  <a:lnTo>
                    <a:pt x="17" y="82"/>
                  </a:lnTo>
                  <a:lnTo>
                    <a:pt x="17" y="79"/>
                  </a:lnTo>
                  <a:lnTo>
                    <a:pt x="17" y="48"/>
                  </a:lnTo>
                  <a:lnTo>
                    <a:pt x="14" y="47"/>
                  </a:lnTo>
                  <a:lnTo>
                    <a:pt x="14" y="39"/>
                  </a:lnTo>
                  <a:lnTo>
                    <a:pt x="14" y="5"/>
                  </a:lnTo>
                  <a:lnTo>
                    <a:pt x="4" y="0"/>
                  </a:lnTo>
                </a:path>
              </a:pathLst>
            </a:custGeom>
            <a:solidFill>
              <a:srgbClr val="000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US"/>
            </a:p>
          </p:txBody>
        </p:sp>
      </p:gr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2BBFB7D-482F-CD30-DAA4-58F97F91DE01}"/>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56323" name="Rectangle 3">
            <a:extLst>
              <a:ext uri="{FF2B5EF4-FFF2-40B4-BE49-F238E27FC236}">
                <a16:creationId xmlns:a16="http://schemas.microsoft.com/office/drawing/2014/main" id="{D077D605-D465-D0FC-18CA-F645DF7E759C}"/>
              </a:ext>
            </a:extLst>
          </p:cNvPr>
          <p:cNvSpPr>
            <a:spLocks noGrp="1" noChangeArrowheads="1"/>
          </p:cNvSpPr>
          <p:nvPr>
            <p:ph type="body" idx="1"/>
          </p:nvPr>
        </p:nvSpPr>
        <p:spPr>
          <a:xfrm>
            <a:off x="412750" y="4708525"/>
            <a:ext cx="6132513" cy="3817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Controlling Transactions</a:t>
            </a:r>
          </a:p>
          <a:p>
            <a:pPr lvl="1"/>
            <a:r>
              <a:rPr lang="en-US" altLang="en-US">
                <a:latin typeface="Arial" panose="020B0604020202020204" pitchFamily="34" charset="0"/>
              </a:rPr>
              <a:t>You control the logic of transactions with </a:t>
            </a:r>
            <a:r>
              <a:rPr lang="en-US" altLang="en-US">
                <a:solidFill>
                  <a:srgbClr val="FC0128"/>
                </a:solidFill>
                <a:latin typeface="Arial" panose="020B0604020202020204" pitchFamily="34" charset="0"/>
              </a:rPr>
              <a:t>COMMIT </a:t>
            </a:r>
            <a:r>
              <a:rPr lang="en-US" altLang="en-US">
                <a:latin typeface="Arial" panose="020B0604020202020204" pitchFamily="34" charset="0"/>
              </a:rPr>
              <a:t>and </a:t>
            </a:r>
            <a:r>
              <a:rPr lang="en-US" altLang="en-US">
                <a:solidFill>
                  <a:srgbClr val="FC0128"/>
                </a:solidFill>
                <a:latin typeface="Arial" panose="020B0604020202020204" pitchFamily="34" charset="0"/>
              </a:rPr>
              <a:t>ROLLBACK </a:t>
            </a:r>
            <a:r>
              <a:rPr lang="en-US" altLang="en-US">
                <a:latin typeface="Arial" panose="020B0604020202020204" pitchFamily="34" charset="0"/>
              </a:rPr>
              <a:t>SQL statements, rendering some groups of database changes permanent while discarding others. As with Oracle Server, DML transactions start at the first command to follow a COMMIT or ROLLBACK and end on the next successful COMMIT or ROLLBACK. These actions may occur within a PL/SQL block or as a result of events in the host environment (for example, ending a SQL*Plus session automatically commits the pending transaction). To mark an intermediate point in the transaction processing, use </a:t>
            </a:r>
            <a:r>
              <a:rPr lang="en-US" altLang="en-US">
                <a:solidFill>
                  <a:srgbClr val="FC0128"/>
                </a:solidFill>
                <a:latin typeface="Arial" panose="020B0604020202020204" pitchFamily="34" charset="0"/>
              </a:rPr>
              <a:t>SAVEPOINT.</a:t>
            </a:r>
            <a:endParaRPr lang="en-US" altLang="en-US">
              <a:latin typeface="Arial" panose="020B0604020202020204" pitchFamily="34" charset="0"/>
            </a:endParaRPr>
          </a:p>
          <a:p>
            <a:pPr lvl="1"/>
            <a:r>
              <a:rPr lang="en-US" altLang="en-US" b="1">
                <a:latin typeface="Arial" panose="020B0604020202020204" pitchFamily="34" charset="0"/>
              </a:rPr>
              <a:t>Syntax</a:t>
            </a:r>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r>
              <a:rPr lang="en-US" altLang="en-US" b="1">
                <a:latin typeface="Arial" panose="020B0604020202020204" pitchFamily="34" charset="0"/>
              </a:rPr>
              <a:t>where:		</a:t>
            </a:r>
            <a:r>
              <a:rPr lang="en-US" altLang="en-US">
                <a:latin typeface="Arial" panose="020B0604020202020204" pitchFamily="34" charset="0"/>
              </a:rPr>
              <a:t>WORK		is for compliance with ANSI standards</a:t>
            </a:r>
          </a:p>
          <a:p>
            <a:pPr lvl="1"/>
            <a:r>
              <a:rPr lang="en-US" altLang="en-US" b="1">
                <a:latin typeface="Arial" panose="020B0604020202020204" pitchFamily="34" charset="0"/>
              </a:rPr>
              <a:t>Note: </a:t>
            </a:r>
            <a:r>
              <a:rPr lang="en-US" altLang="en-US">
                <a:latin typeface="Arial" panose="020B0604020202020204" pitchFamily="34" charset="0"/>
              </a:rPr>
              <a:t>The transaction control commands are all valid within PL/SQL, although the host environment may place some restriction on their use. </a:t>
            </a:r>
          </a:p>
          <a:p>
            <a:pPr lvl="1"/>
            <a:r>
              <a:rPr lang="en-US" altLang="en-US">
                <a:latin typeface="Arial" panose="020B0604020202020204" pitchFamily="34" charset="0"/>
              </a:rPr>
              <a:t>You can also include explicit locking commands (such as LOCK TABLE and SELECT ... FOR UPDATE) in a block (a subsequent lesson will cover more information on the FOR UPDATE command). They stay in effect until the end of the transaction. Also, one PL/SQL block does not necessarily imply one transaction.</a:t>
            </a:r>
          </a:p>
        </p:txBody>
      </p:sp>
      <p:sp>
        <p:nvSpPr>
          <p:cNvPr id="56324" name="Rectangle 4">
            <a:extLst>
              <a:ext uri="{FF2B5EF4-FFF2-40B4-BE49-F238E27FC236}">
                <a16:creationId xmlns:a16="http://schemas.microsoft.com/office/drawing/2014/main" id="{7BAD41C2-3F8D-2C4D-FCA6-97FD15A59AFB}"/>
              </a:ext>
            </a:extLst>
          </p:cNvPr>
          <p:cNvSpPr>
            <a:spLocks noChangeArrowheads="1"/>
          </p:cNvSpPr>
          <p:nvPr/>
        </p:nvSpPr>
        <p:spPr bwMode="auto">
          <a:xfrm>
            <a:off x="619125" y="6227763"/>
            <a:ext cx="5576888" cy="2222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0000"/>
              </a:lnSpc>
              <a:spcBef>
                <a:spcPct val="0"/>
              </a:spcBef>
            </a:pPr>
            <a:r>
              <a:rPr lang="en-US" altLang="en-US" sz="1100">
                <a:latin typeface="Courier New" panose="02070309020205020404" pitchFamily="49" charset="0"/>
              </a:rPr>
              <a:t>COMMIT [WORK];</a:t>
            </a:r>
          </a:p>
        </p:txBody>
      </p:sp>
      <p:sp>
        <p:nvSpPr>
          <p:cNvPr id="56325" name="Rectangle 5">
            <a:extLst>
              <a:ext uri="{FF2B5EF4-FFF2-40B4-BE49-F238E27FC236}">
                <a16:creationId xmlns:a16="http://schemas.microsoft.com/office/drawing/2014/main" id="{DA25F603-DEC2-BC46-9802-16DA407B390B}"/>
              </a:ext>
            </a:extLst>
          </p:cNvPr>
          <p:cNvSpPr>
            <a:spLocks noChangeArrowheads="1"/>
          </p:cNvSpPr>
          <p:nvPr/>
        </p:nvSpPr>
        <p:spPr bwMode="auto">
          <a:xfrm>
            <a:off x="619125" y="6796088"/>
            <a:ext cx="5586413" cy="2143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ROLLBACK [WORK];</a:t>
            </a:r>
          </a:p>
        </p:txBody>
      </p:sp>
      <p:sp>
        <p:nvSpPr>
          <p:cNvPr id="56326" name="Rectangle 6">
            <a:extLst>
              <a:ext uri="{FF2B5EF4-FFF2-40B4-BE49-F238E27FC236}">
                <a16:creationId xmlns:a16="http://schemas.microsoft.com/office/drawing/2014/main" id="{C129E642-E1FF-A2EB-73F4-1BC12478FEFE}"/>
              </a:ext>
            </a:extLst>
          </p:cNvPr>
          <p:cNvSpPr>
            <a:spLocks noChangeArrowheads="1"/>
          </p:cNvSpPr>
          <p:nvPr/>
        </p:nvSpPr>
        <p:spPr bwMode="auto">
          <a:xfrm>
            <a:off x="619125" y="6521450"/>
            <a:ext cx="5586413" cy="2222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SAVEPOINT savepoint_name;</a:t>
            </a:r>
          </a:p>
        </p:txBody>
      </p:sp>
      <p:sp>
        <p:nvSpPr>
          <p:cNvPr id="56327" name="Rectangle 7">
            <a:extLst>
              <a:ext uri="{FF2B5EF4-FFF2-40B4-BE49-F238E27FC236}">
                <a16:creationId xmlns:a16="http://schemas.microsoft.com/office/drawing/2014/main" id="{B03FF0D1-8EEF-1C37-7E95-5DDAE8100467}"/>
              </a:ext>
            </a:extLst>
          </p:cNvPr>
          <p:cNvSpPr>
            <a:spLocks noChangeArrowheads="1"/>
          </p:cNvSpPr>
          <p:nvPr/>
        </p:nvSpPr>
        <p:spPr bwMode="auto">
          <a:xfrm>
            <a:off x="619125" y="7080250"/>
            <a:ext cx="5586413" cy="211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ROLLBACK [WORK] TO [SAVEPOINT] savepoint_name;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EBB9553-A93A-177D-EEB0-F52EC2570D0C}"/>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58371" name="Rectangle 3">
            <a:extLst>
              <a:ext uri="{FF2B5EF4-FFF2-40B4-BE49-F238E27FC236}">
                <a16:creationId xmlns:a16="http://schemas.microsoft.com/office/drawing/2014/main" id="{3FC91FD7-D44E-4345-7DDC-78F70DE7D94F}"/>
              </a:ext>
            </a:extLst>
          </p:cNvPr>
          <p:cNvSpPr>
            <a:spLocks noGrp="1" noChangeArrowheads="1"/>
          </p:cNvSpPr>
          <p:nvPr>
            <p:ph type="body" idx="1"/>
          </p:nvPr>
        </p:nvSpPr>
        <p:spPr>
          <a:xfrm>
            <a:off x="412750" y="4708525"/>
            <a:ext cx="6132513" cy="3817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Controlling Transactions</a:t>
            </a:r>
          </a:p>
          <a:p>
            <a:pPr lvl="1"/>
            <a:r>
              <a:rPr lang="en-US" altLang="en-US">
                <a:latin typeface="Arial" panose="020B0604020202020204" pitchFamily="34" charset="0"/>
              </a:rPr>
              <a:t>You control the logic of transactions with </a:t>
            </a:r>
            <a:r>
              <a:rPr lang="en-US" altLang="en-US">
                <a:solidFill>
                  <a:srgbClr val="FC0128"/>
                </a:solidFill>
                <a:latin typeface="Arial" panose="020B0604020202020204" pitchFamily="34" charset="0"/>
              </a:rPr>
              <a:t>COMMIT </a:t>
            </a:r>
            <a:r>
              <a:rPr lang="en-US" altLang="en-US">
                <a:latin typeface="Arial" panose="020B0604020202020204" pitchFamily="34" charset="0"/>
              </a:rPr>
              <a:t>and </a:t>
            </a:r>
            <a:r>
              <a:rPr lang="en-US" altLang="en-US">
                <a:solidFill>
                  <a:srgbClr val="FC0128"/>
                </a:solidFill>
                <a:latin typeface="Arial" panose="020B0604020202020204" pitchFamily="34" charset="0"/>
              </a:rPr>
              <a:t>ROLLBACK </a:t>
            </a:r>
            <a:r>
              <a:rPr lang="en-US" altLang="en-US">
                <a:latin typeface="Arial" panose="020B0604020202020204" pitchFamily="34" charset="0"/>
              </a:rPr>
              <a:t>SQL statements, rendering some groups of database changes permanent while discarding others. As with Oracle Server, DML transactions start at the first command to follow a COMMIT or ROLLBACK and end on the next successful COMMIT or ROLLBACK. These actions may occur within a PL/SQL block or as a result of events in the host environment (for example, ending a SQL*Plus session automatically commits the pending transaction). To mark an intermediate point in the transaction processing, use </a:t>
            </a:r>
            <a:r>
              <a:rPr lang="en-US" altLang="en-US">
                <a:solidFill>
                  <a:srgbClr val="FC0128"/>
                </a:solidFill>
                <a:latin typeface="Arial" panose="020B0604020202020204" pitchFamily="34" charset="0"/>
              </a:rPr>
              <a:t>SAVEPOINT.</a:t>
            </a:r>
            <a:endParaRPr lang="en-US" altLang="en-US">
              <a:latin typeface="Arial" panose="020B0604020202020204" pitchFamily="34" charset="0"/>
            </a:endParaRPr>
          </a:p>
          <a:p>
            <a:pPr lvl="1"/>
            <a:r>
              <a:rPr lang="en-US" altLang="en-US" b="1">
                <a:latin typeface="Arial" panose="020B0604020202020204" pitchFamily="34" charset="0"/>
              </a:rPr>
              <a:t>Syntax</a:t>
            </a:r>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r>
              <a:rPr lang="en-US" altLang="en-US" b="1">
                <a:latin typeface="Arial" panose="020B0604020202020204" pitchFamily="34" charset="0"/>
              </a:rPr>
              <a:t>where:		</a:t>
            </a:r>
            <a:r>
              <a:rPr lang="en-US" altLang="en-US">
                <a:latin typeface="Arial" panose="020B0604020202020204" pitchFamily="34" charset="0"/>
              </a:rPr>
              <a:t>WORK		is for compliance with ANSI standards</a:t>
            </a:r>
          </a:p>
          <a:p>
            <a:pPr lvl="1"/>
            <a:r>
              <a:rPr lang="en-US" altLang="en-US" b="1">
                <a:latin typeface="Arial" panose="020B0604020202020204" pitchFamily="34" charset="0"/>
              </a:rPr>
              <a:t>Note: </a:t>
            </a:r>
            <a:r>
              <a:rPr lang="en-US" altLang="en-US">
                <a:latin typeface="Arial" panose="020B0604020202020204" pitchFamily="34" charset="0"/>
              </a:rPr>
              <a:t>The transaction control commands are all valid within PL/SQL, although the host environment may place some restriction on their use. </a:t>
            </a:r>
          </a:p>
          <a:p>
            <a:pPr lvl="1"/>
            <a:r>
              <a:rPr lang="en-US" altLang="en-US">
                <a:latin typeface="Arial" panose="020B0604020202020204" pitchFamily="34" charset="0"/>
              </a:rPr>
              <a:t>You can also include explicit locking commands (such as LOCK TABLE and SELECT ... FOR UPDATE) in a block (a subsequent lesson will cover more information on the FOR UPDATE command). They stay in effect until the end of the transaction. Also, one PL/SQL block does not necessarily imply one transaction.</a:t>
            </a:r>
          </a:p>
        </p:txBody>
      </p:sp>
      <p:sp>
        <p:nvSpPr>
          <p:cNvPr id="58372" name="Rectangle 4">
            <a:extLst>
              <a:ext uri="{FF2B5EF4-FFF2-40B4-BE49-F238E27FC236}">
                <a16:creationId xmlns:a16="http://schemas.microsoft.com/office/drawing/2014/main" id="{0B0FA363-6783-9166-CFEA-3B8AE39FB723}"/>
              </a:ext>
            </a:extLst>
          </p:cNvPr>
          <p:cNvSpPr>
            <a:spLocks noChangeArrowheads="1"/>
          </p:cNvSpPr>
          <p:nvPr/>
        </p:nvSpPr>
        <p:spPr bwMode="auto">
          <a:xfrm>
            <a:off x="619125" y="6227763"/>
            <a:ext cx="5576888" cy="2222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0000"/>
              </a:lnSpc>
              <a:spcBef>
                <a:spcPct val="0"/>
              </a:spcBef>
            </a:pPr>
            <a:r>
              <a:rPr lang="en-US" altLang="en-US" sz="1100">
                <a:latin typeface="Courier New" panose="02070309020205020404" pitchFamily="49" charset="0"/>
              </a:rPr>
              <a:t>COMMIT [WORK];</a:t>
            </a:r>
          </a:p>
        </p:txBody>
      </p:sp>
      <p:sp>
        <p:nvSpPr>
          <p:cNvPr id="58373" name="Rectangle 5">
            <a:extLst>
              <a:ext uri="{FF2B5EF4-FFF2-40B4-BE49-F238E27FC236}">
                <a16:creationId xmlns:a16="http://schemas.microsoft.com/office/drawing/2014/main" id="{2E67DC44-AE1E-CBF2-6C33-A2834AE86B5C}"/>
              </a:ext>
            </a:extLst>
          </p:cNvPr>
          <p:cNvSpPr>
            <a:spLocks noChangeArrowheads="1"/>
          </p:cNvSpPr>
          <p:nvPr/>
        </p:nvSpPr>
        <p:spPr bwMode="auto">
          <a:xfrm>
            <a:off x="619125" y="6796088"/>
            <a:ext cx="5586413" cy="2143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ROLLBACK [WORK];</a:t>
            </a:r>
          </a:p>
        </p:txBody>
      </p:sp>
      <p:sp>
        <p:nvSpPr>
          <p:cNvPr id="58374" name="Rectangle 6">
            <a:extLst>
              <a:ext uri="{FF2B5EF4-FFF2-40B4-BE49-F238E27FC236}">
                <a16:creationId xmlns:a16="http://schemas.microsoft.com/office/drawing/2014/main" id="{6B65275E-3FF3-3CFF-9776-B2A3626F2D44}"/>
              </a:ext>
            </a:extLst>
          </p:cNvPr>
          <p:cNvSpPr>
            <a:spLocks noChangeArrowheads="1"/>
          </p:cNvSpPr>
          <p:nvPr/>
        </p:nvSpPr>
        <p:spPr bwMode="auto">
          <a:xfrm>
            <a:off x="619125" y="6521450"/>
            <a:ext cx="5586413" cy="2222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SAVEPOINT savepoint_name;</a:t>
            </a:r>
          </a:p>
        </p:txBody>
      </p:sp>
      <p:sp>
        <p:nvSpPr>
          <p:cNvPr id="58375" name="Rectangle 7">
            <a:extLst>
              <a:ext uri="{FF2B5EF4-FFF2-40B4-BE49-F238E27FC236}">
                <a16:creationId xmlns:a16="http://schemas.microsoft.com/office/drawing/2014/main" id="{F965CD86-C25F-EDCA-E883-61A74814C1DB}"/>
              </a:ext>
            </a:extLst>
          </p:cNvPr>
          <p:cNvSpPr>
            <a:spLocks noChangeArrowheads="1"/>
          </p:cNvSpPr>
          <p:nvPr/>
        </p:nvSpPr>
        <p:spPr bwMode="auto">
          <a:xfrm>
            <a:off x="619125" y="7080250"/>
            <a:ext cx="5586413" cy="211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ROLLBACK [WORK] TO [SAVEPOINT] savepoint_name;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350F70D-4C39-3AB2-70A3-5C1ADEDAFD1B}"/>
              </a:ext>
            </a:extLst>
          </p:cNvPr>
          <p:cNvSpPr>
            <a:spLocks noGrp="1" noRot="1" noChangeArrowheads="1" noTextEdit="1"/>
          </p:cNvSpPr>
          <p:nvPr>
            <p:ph type="sldImg"/>
          </p:nvPr>
        </p:nvSpPr>
        <p:spPr>
          <a:xfrm>
            <a:off x="438150" y="160338"/>
            <a:ext cx="5976938" cy="4483100"/>
          </a:xfrm>
          <a:ln w="12700" cap="flat">
            <a:solidFill>
              <a:schemeClr val="tx1"/>
            </a:solidFill>
          </a:ln>
        </p:spPr>
      </p:sp>
      <p:sp>
        <p:nvSpPr>
          <p:cNvPr id="60419" name="Rectangle 3">
            <a:extLst>
              <a:ext uri="{FF2B5EF4-FFF2-40B4-BE49-F238E27FC236}">
                <a16:creationId xmlns:a16="http://schemas.microsoft.com/office/drawing/2014/main" id="{759B2F3C-38BC-0C3A-C12D-9D732A5C6B3E}"/>
              </a:ext>
            </a:extLst>
          </p:cNvPr>
          <p:cNvSpPr>
            <a:spLocks noGrp="1" noChangeArrowheads="1"/>
          </p:cNvSpPr>
          <p:nvPr>
            <p:ph type="body" idx="1"/>
          </p:nvPr>
        </p:nvSpPr>
        <p:spPr>
          <a:xfrm>
            <a:off x="412750" y="4708525"/>
            <a:ext cx="6132513" cy="3817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r>
              <a:rPr lang="en-US" altLang="en-US">
                <a:latin typeface="Arial" panose="020B0604020202020204" pitchFamily="34" charset="0"/>
              </a:rPr>
              <a:t>Controlling Transactions</a:t>
            </a:r>
          </a:p>
          <a:p>
            <a:pPr lvl="1"/>
            <a:r>
              <a:rPr lang="en-US" altLang="en-US">
                <a:latin typeface="Arial" panose="020B0604020202020204" pitchFamily="34" charset="0"/>
              </a:rPr>
              <a:t>You control the logic of transactions with </a:t>
            </a:r>
            <a:r>
              <a:rPr lang="en-US" altLang="en-US">
                <a:solidFill>
                  <a:srgbClr val="FC0128"/>
                </a:solidFill>
                <a:latin typeface="Arial" panose="020B0604020202020204" pitchFamily="34" charset="0"/>
              </a:rPr>
              <a:t>COMMIT </a:t>
            </a:r>
            <a:r>
              <a:rPr lang="en-US" altLang="en-US">
                <a:latin typeface="Arial" panose="020B0604020202020204" pitchFamily="34" charset="0"/>
              </a:rPr>
              <a:t>and </a:t>
            </a:r>
            <a:r>
              <a:rPr lang="en-US" altLang="en-US">
                <a:solidFill>
                  <a:srgbClr val="FC0128"/>
                </a:solidFill>
                <a:latin typeface="Arial" panose="020B0604020202020204" pitchFamily="34" charset="0"/>
              </a:rPr>
              <a:t>ROLLBACK </a:t>
            </a:r>
            <a:r>
              <a:rPr lang="en-US" altLang="en-US">
                <a:latin typeface="Arial" panose="020B0604020202020204" pitchFamily="34" charset="0"/>
              </a:rPr>
              <a:t>SQL statements, rendering some groups of database changes permanent while discarding others. As with Oracle Server, DML transactions start at the first command to follow a COMMIT or ROLLBACK and end on the next successful COMMIT or ROLLBACK. These actions may occur within a PL/SQL block or as a result of events in the host environment (for example, ending a SQL*Plus session automatically commits the pending transaction). To mark an intermediate point in the transaction processing, use </a:t>
            </a:r>
            <a:r>
              <a:rPr lang="en-US" altLang="en-US">
                <a:solidFill>
                  <a:srgbClr val="FC0128"/>
                </a:solidFill>
                <a:latin typeface="Arial" panose="020B0604020202020204" pitchFamily="34" charset="0"/>
              </a:rPr>
              <a:t>SAVEPOINT.</a:t>
            </a:r>
            <a:endParaRPr lang="en-US" altLang="en-US">
              <a:latin typeface="Arial" panose="020B0604020202020204" pitchFamily="34" charset="0"/>
            </a:endParaRPr>
          </a:p>
          <a:p>
            <a:pPr lvl="1"/>
            <a:r>
              <a:rPr lang="en-US" altLang="en-US" b="1">
                <a:latin typeface="Arial" panose="020B0604020202020204" pitchFamily="34" charset="0"/>
              </a:rPr>
              <a:t>Syntax</a:t>
            </a:r>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pPr lvl="1"/>
            <a:endParaRPr lang="en-US" altLang="en-US" b="1">
              <a:latin typeface="Arial" panose="020B0604020202020204" pitchFamily="34" charset="0"/>
            </a:endParaRPr>
          </a:p>
          <a:p>
            <a:pPr lvl="1"/>
            <a:endParaRPr lang="en-US" altLang="en-US" b="1">
              <a:latin typeface="Arial" panose="020B0604020202020204" pitchFamily="34" charset="0"/>
            </a:endParaRPr>
          </a:p>
          <a:p>
            <a:pPr lvl="1"/>
            <a:r>
              <a:rPr lang="en-US" altLang="en-US" b="1">
                <a:latin typeface="Arial" panose="020B0604020202020204" pitchFamily="34" charset="0"/>
              </a:rPr>
              <a:t>where:		</a:t>
            </a:r>
            <a:r>
              <a:rPr lang="en-US" altLang="en-US">
                <a:latin typeface="Arial" panose="020B0604020202020204" pitchFamily="34" charset="0"/>
              </a:rPr>
              <a:t>WORK		is for compliance with ANSI standards</a:t>
            </a:r>
          </a:p>
          <a:p>
            <a:pPr lvl="1"/>
            <a:r>
              <a:rPr lang="en-US" altLang="en-US" b="1">
                <a:latin typeface="Arial" panose="020B0604020202020204" pitchFamily="34" charset="0"/>
              </a:rPr>
              <a:t>Note: </a:t>
            </a:r>
            <a:r>
              <a:rPr lang="en-US" altLang="en-US">
                <a:latin typeface="Arial" panose="020B0604020202020204" pitchFamily="34" charset="0"/>
              </a:rPr>
              <a:t>The transaction control commands are all valid within PL/SQL, although the host environment may place some restriction on their use. </a:t>
            </a:r>
          </a:p>
          <a:p>
            <a:pPr lvl="1"/>
            <a:r>
              <a:rPr lang="en-US" altLang="en-US">
                <a:latin typeface="Arial" panose="020B0604020202020204" pitchFamily="34" charset="0"/>
              </a:rPr>
              <a:t>You can also include explicit locking commands (such as LOCK TABLE and SELECT ... FOR UPDATE) in a block (a subsequent lesson will cover more information on the FOR UPDATE command). They stay in effect until the end of the transaction. Also, one PL/SQL block does not necessarily imply one transaction.</a:t>
            </a:r>
          </a:p>
        </p:txBody>
      </p:sp>
      <p:sp>
        <p:nvSpPr>
          <p:cNvPr id="60420" name="Rectangle 4">
            <a:extLst>
              <a:ext uri="{FF2B5EF4-FFF2-40B4-BE49-F238E27FC236}">
                <a16:creationId xmlns:a16="http://schemas.microsoft.com/office/drawing/2014/main" id="{CF7B5957-8939-1FB5-EA7C-BC2760F613F0}"/>
              </a:ext>
            </a:extLst>
          </p:cNvPr>
          <p:cNvSpPr>
            <a:spLocks noChangeArrowheads="1"/>
          </p:cNvSpPr>
          <p:nvPr/>
        </p:nvSpPr>
        <p:spPr bwMode="auto">
          <a:xfrm>
            <a:off x="619125" y="6227763"/>
            <a:ext cx="5576888" cy="2222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0000"/>
              </a:lnSpc>
              <a:spcBef>
                <a:spcPct val="0"/>
              </a:spcBef>
            </a:pPr>
            <a:r>
              <a:rPr lang="en-US" altLang="en-US" sz="1100">
                <a:latin typeface="Courier New" panose="02070309020205020404" pitchFamily="49" charset="0"/>
              </a:rPr>
              <a:t>COMMIT [WORK];</a:t>
            </a:r>
          </a:p>
        </p:txBody>
      </p:sp>
      <p:sp>
        <p:nvSpPr>
          <p:cNvPr id="60421" name="Rectangle 5">
            <a:extLst>
              <a:ext uri="{FF2B5EF4-FFF2-40B4-BE49-F238E27FC236}">
                <a16:creationId xmlns:a16="http://schemas.microsoft.com/office/drawing/2014/main" id="{118333BF-D017-A73F-8F7C-D8E4398C32F2}"/>
              </a:ext>
            </a:extLst>
          </p:cNvPr>
          <p:cNvSpPr>
            <a:spLocks noChangeArrowheads="1"/>
          </p:cNvSpPr>
          <p:nvPr/>
        </p:nvSpPr>
        <p:spPr bwMode="auto">
          <a:xfrm>
            <a:off x="619125" y="6796088"/>
            <a:ext cx="5586413" cy="21431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ROLLBACK [WORK];</a:t>
            </a:r>
          </a:p>
        </p:txBody>
      </p:sp>
      <p:sp>
        <p:nvSpPr>
          <p:cNvPr id="60422" name="Rectangle 6">
            <a:extLst>
              <a:ext uri="{FF2B5EF4-FFF2-40B4-BE49-F238E27FC236}">
                <a16:creationId xmlns:a16="http://schemas.microsoft.com/office/drawing/2014/main" id="{D66B59E6-6432-D039-EDDC-1017FC47ADF6}"/>
              </a:ext>
            </a:extLst>
          </p:cNvPr>
          <p:cNvSpPr>
            <a:spLocks noChangeArrowheads="1"/>
          </p:cNvSpPr>
          <p:nvPr/>
        </p:nvSpPr>
        <p:spPr bwMode="auto">
          <a:xfrm>
            <a:off x="619125" y="6521450"/>
            <a:ext cx="5586413" cy="2222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SAVEPOINT savepoint_name;</a:t>
            </a:r>
          </a:p>
        </p:txBody>
      </p:sp>
      <p:sp>
        <p:nvSpPr>
          <p:cNvPr id="60423" name="Rectangle 7">
            <a:extLst>
              <a:ext uri="{FF2B5EF4-FFF2-40B4-BE49-F238E27FC236}">
                <a16:creationId xmlns:a16="http://schemas.microsoft.com/office/drawing/2014/main" id="{A527EE89-0A19-C2A5-019E-51C81B144EEF}"/>
              </a:ext>
            </a:extLst>
          </p:cNvPr>
          <p:cNvSpPr>
            <a:spLocks noChangeArrowheads="1"/>
          </p:cNvSpPr>
          <p:nvPr/>
        </p:nvSpPr>
        <p:spPr bwMode="auto">
          <a:xfrm>
            <a:off x="619125" y="7080250"/>
            <a:ext cx="5586413" cy="2111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4881" tIns="49853" rIns="94881" bIns="49853"/>
          <a:lstStyle>
            <a:lvl1pPr defTabSz="1003300">
              <a:spcBef>
                <a:spcPct val="30000"/>
              </a:spcBef>
              <a:defRPr sz="1200">
                <a:solidFill>
                  <a:schemeClr val="tx1"/>
                </a:solidFill>
                <a:latin typeface="Arial" panose="020B0604020202020204" pitchFamily="34" charset="0"/>
              </a:defRPr>
            </a:lvl1pPr>
            <a:lvl2pPr marL="742950" indent="-285750" defTabSz="1003300">
              <a:spcBef>
                <a:spcPct val="30000"/>
              </a:spcBef>
              <a:defRPr sz="1200">
                <a:solidFill>
                  <a:schemeClr val="tx1"/>
                </a:solidFill>
                <a:latin typeface="Arial" panose="020B0604020202020204" pitchFamily="34" charset="0"/>
              </a:defRPr>
            </a:lvl2pPr>
            <a:lvl3pPr marL="1143000" indent="-228600" defTabSz="1003300">
              <a:spcBef>
                <a:spcPct val="30000"/>
              </a:spcBef>
              <a:defRPr sz="1200">
                <a:solidFill>
                  <a:schemeClr val="tx1"/>
                </a:solidFill>
                <a:latin typeface="Arial" panose="020B0604020202020204" pitchFamily="34" charset="0"/>
              </a:defRPr>
            </a:lvl3pPr>
            <a:lvl4pPr marL="1600200" indent="-228600" defTabSz="1003300">
              <a:spcBef>
                <a:spcPct val="30000"/>
              </a:spcBef>
              <a:defRPr sz="1200">
                <a:solidFill>
                  <a:schemeClr val="tx1"/>
                </a:solidFill>
                <a:latin typeface="Arial" panose="020B0604020202020204" pitchFamily="34" charset="0"/>
              </a:defRPr>
            </a:lvl4pPr>
            <a:lvl5pPr marL="2057400" indent="-228600" defTabSz="1003300">
              <a:spcBef>
                <a:spcPct val="30000"/>
              </a:spcBef>
              <a:defRPr sz="1200">
                <a:solidFill>
                  <a:schemeClr val="tx1"/>
                </a:solidFill>
                <a:latin typeface="Arial" panose="020B0604020202020204" pitchFamily="34" charset="0"/>
              </a:defRPr>
            </a:lvl5pPr>
            <a:lvl6pPr marL="2514600" indent="-228600" defTabSz="10033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10033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10033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1003300" eaLnBrk="0" fontAlgn="base" hangingPunct="0">
              <a:spcBef>
                <a:spcPct val="30000"/>
              </a:spcBef>
              <a:spcAft>
                <a:spcPct val="0"/>
              </a:spcAft>
              <a:defRPr sz="1200">
                <a:solidFill>
                  <a:schemeClr val="tx1"/>
                </a:solidFill>
                <a:latin typeface="Arial" panose="020B0604020202020204" pitchFamily="34" charset="0"/>
              </a:defRPr>
            </a:lvl9pPr>
          </a:lstStyle>
          <a:p>
            <a:pPr>
              <a:lnSpc>
                <a:spcPct val="85000"/>
              </a:lnSpc>
              <a:spcBef>
                <a:spcPct val="0"/>
              </a:spcBef>
            </a:pPr>
            <a:r>
              <a:rPr lang="en-US" altLang="en-US" sz="1100">
                <a:latin typeface="Courier New" panose="02070309020205020404" pitchFamily="49" charset="0"/>
              </a:rPr>
              <a:t>ROLLBACK [WORK] TO [SAVEPOINT] savepoint_name;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AA47D076-166E-64C5-42A5-B45EBB2D3A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094520F-E9BB-4C39-A773-7690D0F5D20B}" type="slidenum">
              <a:rPr lang="de-AT" altLang="en-US"/>
              <a:pPr>
                <a:spcBef>
                  <a:spcPct val="0"/>
                </a:spcBef>
              </a:pPr>
              <a:t>29</a:t>
            </a:fld>
            <a:endParaRPr lang="de-AT" altLang="en-US"/>
          </a:p>
        </p:txBody>
      </p:sp>
      <p:sp>
        <p:nvSpPr>
          <p:cNvPr id="63491" name="Rectangle 2">
            <a:extLst>
              <a:ext uri="{FF2B5EF4-FFF2-40B4-BE49-F238E27FC236}">
                <a16:creationId xmlns:a16="http://schemas.microsoft.com/office/drawing/2014/main" id="{1B180320-1350-6B2D-6BD8-CC8270CA057C}"/>
              </a:ext>
            </a:extLst>
          </p:cNvPr>
          <p:cNvSpPr>
            <a:spLocks noGrp="1" noRot="1" noChangeArrowheads="1" noTextEdit="1"/>
          </p:cNvSpPr>
          <p:nvPr>
            <p:ph type="sldImg"/>
          </p:nvPr>
        </p:nvSpPr>
        <p:spPr>
          <a:ln/>
        </p:spPr>
      </p:sp>
      <p:sp>
        <p:nvSpPr>
          <p:cNvPr id="63492" name="Rectangle 3">
            <a:extLst>
              <a:ext uri="{FF2B5EF4-FFF2-40B4-BE49-F238E27FC236}">
                <a16:creationId xmlns:a16="http://schemas.microsoft.com/office/drawing/2014/main" id="{CD2C39DF-E552-E64C-D584-300348F503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E37215F-92E2-BBC9-2FFD-A6F7623B4534}"/>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356592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06479F9-97F5-8FC0-0D11-98A6C9B12561}"/>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716641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2E812DB1-D098-D7E6-58B4-5760CCC79FD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982542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61178BF-0829-8882-4E55-651FDB60F7F1}"/>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15129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65E6BB3-3D9B-2B81-3EBC-DD41E02E9AA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89890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BE916EA-8CA7-A300-027A-45C48530727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914159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4E58F48-13D0-A1F5-9FED-B1B6976E1CBA}"/>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168025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0370A2C-0930-2405-C310-1186C3BA65C0}"/>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4497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C80CAEB-4495-873B-0F7B-2D9268275AC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663110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19C1065-8B4D-87C3-38C3-F91B388EE51B}"/>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710279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E06931F-BC3D-B10B-1752-F653C6655093}"/>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6895374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F60C899-AA0F-33DA-978E-01D9A1E68AC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479381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86A0BD8-1679-5C63-DFBC-FC3E389B4F97}"/>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B879A7AF-17D2-8C67-77E8-CB4CADE447D7}"/>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24D9BB1C-39EB-BD6A-EF90-067F8B29387D}"/>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478C3CBD-287A-B5CE-2E3E-BBA044912ACE}"/>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p>
        </p:txBody>
      </p:sp>
      <p:sp>
        <p:nvSpPr>
          <p:cNvPr id="1030" name="Rectangle 10">
            <a:extLst>
              <a:ext uri="{FF2B5EF4-FFF2-40B4-BE49-F238E27FC236}">
                <a16:creationId xmlns:a16="http://schemas.microsoft.com/office/drawing/2014/main" id="{A530EDF5-CD22-D12F-7877-3433AA7BAC79}"/>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p>
        </p:txBody>
      </p:sp>
      <p:sp>
        <p:nvSpPr>
          <p:cNvPr id="1031" name="Text Box 11">
            <a:extLst>
              <a:ext uri="{FF2B5EF4-FFF2-40B4-BE49-F238E27FC236}">
                <a16:creationId xmlns:a16="http://schemas.microsoft.com/office/drawing/2014/main" id="{9F782C69-ED86-67D2-3559-07CA810256EA}"/>
              </a:ext>
            </a:extLst>
          </p:cNvPr>
          <p:cNvSpPr txBox="1">
            <a:spLocks noChangeArrowheads="1"/>
          </p:cNvSpPr>
          <p:nvPr userDrawn="1"/>
        </p:nvSpPr>
        <p:spPr bwMode="auto">
          <a:xfrm>
            <a:off x="-36513" y="6583363"/>
            <a:ext cx="5905501"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DE" sz="1000">
                <a:solidFill>
                  <a:schemeClr val="bg1"/>
                </a:solidFill>
                <a:cs typeface="Arial" pitchFamily="34" charset="0"/>
              </a:rPr>
              <a:t>© 2009</a:t>
            </a:r>
            <a:r>
              <a:rPr lang="de-DE" sz="1000">
                <a:solidFill>
                  <a:srgbClr val="FFFF00"/>
                </a:solidFill>
                <a:cs typeface="Arial" pitchFamily="34" charset="0"/>
              </a:rPr>
              <a:t>   Punjab University College of Information Technology (PUCIT) </a:t>
            </a:r>
            <a:endParaRPr lang="de-DE" sz="1000">
              <a:solidFill>
                <a:srgbClr val="FFFF00"/>
              </a:solidFill>
            </a:endParaRPr>
          </a:p>
        </p:txBody>
      </p:sp>
      <p:sp>
        <p:nvSpPr>
          <p:cNvPr id="1032" name="Text Box 13">
            <a:extLst>
              <a:ext uri="{FF2B5EF4-FFF2-40B4-BE49-F238E27FC236}">
                <a16:creationId xmlns:a16="http://schemas.microsoft.com/office/drawing/2014/main" id="{8F9FCD8B-F6AA-C05F-CE87-3F2E2287AA53}"/>
              </a:ext>
            </a:extLst>
          </p:cNvPr>
          <p:cNvSpPr txBox="1">
            <a:spLocks noChangeArrowheads="1"/>
          </p:cNvSpPr>
          <p:nvPr userDrawn="1"/>
        </p:nvSpPr>
        <p:spPr bwMode="auto">
          <a:xfrm>
            <a:off x="3924300" y="6583363"/>
            <a:ext cx="1655763" cy="244475"/>
          </a:xfrm>
          <a:prstGeom prst="rect">
            <a:avLst/>
          </a:prstGeom>
          <a:noFill/>
          <a:ln>
            <a:noFill/>
          </a:ln>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AT" sz="1000">
                <a:solidFill>
                  <a:srgbClr val="0000CC"/>
                </a:solidFill>
              </a:rPr>
              <a:t>       </a:t>
            </a:r>
            <a:r>
              <a:rPr lang="de-AT" sz="1000"/>
              <a:t>September 8, 2009</a:t>
            </a:r>
          </a:p>
        </p:txBody>
      </p:sp>
      <p:sp>
        <p:nvSpPr>
          <p:cNvPr id="1033" name="Rectangle 12">
            <a:extLst>
              <a:ext uri="{FF2B5EF4-FFF2-40B4-BE49-F238E27FC236}">
                <a16:creationId xmlns:a16="http://schemas.microsoft.com/office/drawing/2014/main" id="{76507C4F-9C97-B993-C298-ACCEAB168D47}"/>
              </a:ext>
            </a:extLst>
          </p:cNvPr>
          <p:cNvSpPr>
            <a:spLocks noChangeArrowheads="1"/>
          </p:cNvSpPr>
          <p:nvPr userDrawn="1"/>
        </p:nvSpPr>
        <p:spPr bwMode="auto">
          <a:xfrm>
            <a:off x="7596188" y="6640513"/>
            <a:ext cx="1905000" cy="215900"/>
          </a:xfrm>
          <a:prstGeom prst="rect">
            <a:avLst/>
          </a:prstGeom>
          <a:noFill/>
          <a:ln>
            <a:noFill/>
          </a:ln>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r>
              <a:rPr lang="de-DE" altLang="en-US" sz="1000"/>
              <a:t>Slide </a:t>
            </a:r>
            <a:fld id="{5C0E8392-B1DD-4DF9-BED2-410EF9315D7C}" type="slidenum">
              <a:rPr lang="de-DE" altLang="en-US" sz="1000" smtClean="0"/>
              <a:pPr algn="ctr" eaLnBrk="1" hangingPunct="1">
                <a:defRPr/>
              </a:pPr>
              <a:t>‹#›</a:t>
            </a:fld>
            <a:endParaRPr lang="de-DE" altLang="en-US" sz="10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DBF69D26-AF00-596D-D8E8-1C0B26212677}"/>
              </a:ext>
            </a:extLst>
          </p:cNvPr>
          <p:cNvSpPr>
            <a:spLocks noGrp="1" noChangeArrowheads="1"/>
          </p:cNvSpPr>
          <p:nvPr>
            <p:ph type="ctrTitle"/>
          </p:nvPr>
        </p:nvSpPr>
        <p:spPr>
          <a:xfrm>
            <a:off x="790575" y="1557338"/>
            <a:ext cx="7669213" cy="2087562"/>
          </a:xfrm>
          <a:solidFill>
            <a:srgbClr val="FFFFCC">
              <a:alpha val="20000"/>
            </a:srgbClr>
          </a:solidFill>
          <a:ln w="38100">
            <a:solidFill>
              <a:srgbClr val="800000"/>
            </a:solidFill>
            <a:miter lim="800000"/>
            <a:headEnd/>
            <a:tailEnd/>
          </a:ln>
        </p:spPr>
        <p:txBody>
          <a:bodyPr/>
          <a:lstStyle/>
          <a:p>
            <a:pPr algn="ctr" eaLnBrk="1" hangingPunct="1"/>
            <a:r>
              <a:rPr lang="en-US" altLang="en-US" u="sng">
                <a:solidFill>
                  <a:srgbClr val="800000"/>
                </a:solidFill>
              </a:rPr>
              <a:t> (SQL) </a:t>
            </a:r>
            <a:br>
              <a:rPr lang="en-US" altLang="en-US" u="sng">
                <a:solidFill>
                  <a:srgbClr val="800000"/>
                </a:solidFill>
              </a:rPr>
            </a:br>
            <a:r>
              <a:rPr lang="en-US" altLang="en-US">
                <a:solidFill>
                  <a:schemeClr val="accent2"/>
                </a:solidFill>
              </a:rPr>
              <a:t>Manipulating Data</a:t>
            </a:r>
            <a:endParaRPr lang="de-AT" altLang="en-US">
              <a:solidFill>
                <a:schemeClr val="accent2"/>
              </a:solidFill>
            </a:endParaRPr>
          </a:p>
        </p:txBody>
      </p:sp>
      <p:pic>
        <p:nvPicPr>
          <p:cNvPr id="4100" name="Picture 9">
            <a:extLst>
              <a:ext uri="{FF2B5EF4-FFF2-40B4-BE49-F238E27FC236}">
                <a16:creationId xmlns:a16="http://schemas.microsoft.com/office/drawing/2014/main" id="{A863856D-ABB2-887C-4B16-45DF3F22F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1">
            <a:extLst>
              <a:ext uri="{FF2B5EF4-FFF2-40B4-BE49-F238E27FC236}">
                <a16:creationId xmlns:a16="http://schemas.microsoft.com/office/drawing/2014/main" id="{C4BD0648-1977-1F69-6E25-0067576B67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380D208A-E5AC-F7B9-C1F3-2C36F8500008}"/>
              </a:ext>
            </a:extLst>
          </p:cNvPr>
          <p:cNvSpPr txBox="1">
            <a:spLocks noChangeArrowheads="1"/>
          </p:cNvSpPr>
          <p:nvPr/>
        </p:nvSpPr>
        <p:spPr bwMode="auto">
          <a:xfrm>
            <a:off x="790575" y="3860899"/>
            <a:ext cx="7669213" cy="1584325"/>
          </a:xfrm>
          <a:prstGeom prst="rect">
            <a:avLst/>
          </a:prstGeom>
          <a:solidFill>
            <a:srgbClr val="FFFFCC">
              <a:alpha val="20000"/>
            </a:srgbClr>
          </a:solidFill>
          <a:ln w="38100" cap="flat" algn="ctr">
            <a:solidFill>
              <a:srgbClr val="800000"/>
            </a:solidFill>
            <a:miter lim="800000"/>
            <a:headEnd/>
            <a:tailEnd/>
          </a:ln>
        </p:spPr>
        <p:txBody>
          <a:bodyPr anchor="ctr"/>
          <a:lstStyle>
            <a:lvl1pPr marL="0" indent="0" algn="ctr" rtl="0" eaLnBrk="0" fontAlgn="base" hangingPunct="0">
              <a:spcBef>
                <a:spcPct val="20000"/>
              </a:spcBef>
              <a:spcAft>
                <a:spcPct val="0"/>
              </a:spcAft>
              <a:buNone/>
              <a:defRPr sz="2800">
                <a:solidFill>
                  <a:schemeClr val="tx1"/>
                </a:solidFill>
                <a:latin typeface="+mn-lt"/>
                <a:ea typeface="+mn-ea"/>
                <a:cs typeface="+mn-cs"/>
              </a:defRPr>
            </a:lvl1pPr>
            <a:lvl2pPr marL="457200" indent="0" algn="ctr" rtl="0" eaLnBrk="0" fontAlgn="base" hangingPunct="0">
              <a:spcBef>
                <a:spcPct val="20000"/>
              </a:spcBef>
              <a:spcAft>
                <a:spcPct val="0"/>
              </a:spcAft>
              <a:buNone/>
              <a:defRPr sz="2400">
                <a:solidFill>
                  <a:schemeClr val="tx1"/>
                </a:solidFill>
                <a:latin typeface="+mn-lt"/>
              </a:defRPr>
            </a:lvl2pPr>
            <a:lvl3pPr marL="914400" indent="0" algn="ctr" rtl="0" eaLnBrk="0" fontAlgn="base" hangingPunct="0">
              <a:spcBef>
                <a:spcPct val="20000"/>
              </a:spcBef>
              <a:spcAft>
                <a:spcPct val="0"/>
              </a:spcAft>
              <a:buNone/>
              <a:defRPr sz="20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a:solidFill>
                  <a:schemeClr val="tx1"/>
                </a:solidFill>
                <a:latin typeface="+mn-lt"/>
              </a:defRPr>
            </a:lvl6pPr>
            <a:lvl7pPr marL="2743200" indent="0" algn="ctr" rtl="0" fontAlgn="base">
              <a:spcBef>
                <a:spcPct val="20000"/>
              </a:spcBef>
              <a:spcAft>
                <a:spcPct val="0"/>
              </a:spcAft>
              <a:buNone/>
              <a:defRPr>
                <a:solidFill>
                  <a:schemeClr val="tx1"/>
                </a:solidFill>
                <a:latin typeface="+mn-lt"/>
              </a:defRPr>
            </a:lvl7pPr>
            <a:lvl8pPr marL="3200400" indent="0" algn="ctr" rtl="0" fontAlgn="base">
              <a:spcBef>
                <a:spcPct val="20000"/>
              </a:spcBef>
              <a:spcAft>
                <a:spcPct val="0"/>
              </a:spcAft>
              <a:buNone/>
              <a:defRPr>
                <a:solidFill>
                  <a:schemeClr val="tx1"/>
                </a:solidFill>
                <a:latin typeface="+mn-lt"/>
              </a:defRPr>
            </a:lvl8pPr>
            <a:lvl9pPr marL="3657600" indent="0" algn="ctr" rtl="0" fontAlgn="base">
              <a:spcBef>
                <a:spcPct val="20000"/>
              </a:spcBef>
              <a:spcAft>
                <a:spcPct val="0"/>
              </a:spcAft>
              <a:buNone/>
              <a:defRPr>
                <a:solidFill>
                  <a:schemeClr val="tx1"/>
                </a:solidFill>
                <a:latin typeface="+mn-lt"/>
              </a:defRPr>
            </a:lvl9pPr>
          </a:lstStyle>
          <a:p>
            <a:pPr eaLnBrk="1" hangingPunct="1">
              <a:lnSpc>
                <a:spcPct val="80000"/>
              </a:lnSpc>
              <a:spcBef>
                <a:spcPct val="0"/>
              </a:spcBef>
              <a:defRPr/>
            </a:pPr>
            <a:endParaRPr lang="en-US" altLang="en-US" sz="2400" b="1" kern="0" dirty="0">
              <a:solidFill>
                <a:schemeClr val="accent2"/>
              </a:solidFill>
            </a:endParaRPr>
          </a:p>
          <a:p>
            <a:pPr eaLnBrk="1" hangingPunct="1">
              <a:lnSpc>
                <a:spcPct val="80000"/>
              </a:lnSpc>
              <a:spcBef>
                <a:spcPct val="0"/>
              </a:spcBef>
              <a:defRPr/>
            </a:pPr>
            <a:r>
              <a:rPr lang="en-US" altLang="en-US" sz="3200" kern="0" dirty="0">
                <a:solidFill>
                  <a:srgbClr val="800000"/>
                </a:solidFill>
              </a:rPr>
              <a:t>Dr. Asif Sohail</a:t>
            </a:r>
            <a:r>
              <a:rPr lang="en-US" altLang="en-US" sz="3200" kern="0" dirty="0">
                <a:solidFill>
                  <a:schemeClr val="folHlink"/>
                </a:solidFill>
              </a:rPr>
              <a:t> </a:t>
            </a:r>
            <a:br>
              <a:rPr lang="en-US" altLang="en-US" sz="3200" b="1" kern="0" dirty="0">
                <a:solidFill>
                  <a:schemeClr val="folHlink"/>
                </a:solidFill>
              </a:rPr>
            </a:br>
            <a:br>
              <a:rPr lang="en-US" altLang="en-US" sz="3200" b="1" kern="0" dirty="0"/>
            </a:br>
            <a:r>
              <a:rPr lang="en-US" altLang="en-US" sz="1800" b="1" kern="0" dirty="0"/>
              <a:t>University of the Punjab</a:t>
            </a:r>
          </a:p>
          <a:p>
            <a:pPr eaLnBrk="1" hangingPunct="1">
              <a:lnSpc>
                <a:spcPct val="80000"/>
              </a:lnSpc>
              <a:spcBef>
                <a:spcPct val="0"/>
              </a:spcBef>
              <a:defRPr/>
            </a:pPr>
            <a:r>
              <a:rPr lang="en-US" altLang="en-US" sz="1800" b="1" kern="0" dirty="0">
                <a:solidFill>
                  <a:schemeClr val="accent2"/>
                </a:solidFill>
              </a:rPr>
              <a:t>Department of Information Technology, FCIT</a:t>
            </a:r>
            <a:endParaRPr lang="de-AT" altLang="en-US" sz="1800" b="1" kern="0"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845B389-6411-50B5-C667-D80B5236E620}"/>
              </a:ext>
            </a:extLst>
          </p:cNvPr>
          <p:cNvSpPr>
            <a:spLocks noGrp="1" noChangeArrowheads="1"/>
          </p:cNvSpPr>
          <p:nvPr>
            <p:ph type="title"/>
          </p:nvPr>
        </p:nvSpPr>
        <p:spPr>
          <a:xfrm>
            <a:off x="323850" y="620713"/>
            <a:ext cx="2051050" cy="536575"/>
          </a:xfrm>
          <a:noFill/>
        </p:spPr>
        <p:txBody>
          <a:bodyPr lIns="92075" tIns="46038" rIns="92075" bIns="46038" anchor="t"/>
          <a:lstStyle/>
          <a:p>
            <a:r>
              <a:rPr lang="en-US" altLang="en-US" sz="2800">
                <a:solidFill>
                  <a:srgbClr val="800000"/>
                </a:solidFill>
              </a:rPr>
              <a:t>Objectives</a:t>
            </a:r>
          </a:p>
        </p:txBody>
      </p:sp>
      <p:sp>
        <p:nvSpPr>
          <p:cNvPr id="6147" name="Rectangle 3">
            <a:extLst>
              <a:ext uri="{FF2B5EF4-FFF2-40B4-BE49-F238E27FC236}">
                <a16:creationId xmlns:a16="http://schemas.microsoft.com/office/drawing/2014/main" id="{F612104B-FB26-C93E-42A6-D6D26F2E65A1}"/>
              </a:ext>
            </a:extLst>
          </p:cNvPr>
          <p:cNvSpPr>
            <a:spLocks noGrp="1" noChangeArrowheads="1"/>
          </p:cNvSpPr>
          <p:nvPr>
            <p:ph type="body" idx="1"/>
          </p:nvPr>
        </p:nvSpPr>
        <p:spPr>
          <a:xfrm>
            <a:off x="860425" y="1795463"/>
            <a:ext cx="7385050" cy="3136900"/>
          </a:xfrm>
          <a:noFill/>
        </p:spPr>
        <p:txBody>
          <a:bodyPr lIns="92075" tIns="46038" rIns="92075" bIns="46038">
            <a:spAutoFit/>
          </a:bodyPr>
          <a:lstStyle/>
          <a:p>
            <a:r>
              <a:rPr lang="en-US" altLang="en-US"/>
              <a:t>After completing this lesson, you should be able to do the following:</a:t>
            </a:r>
          </a:p>
          <a:p>
            <a:pPr lvl="1"/>
            <a:r>
              <a:rPr lang="en-US" altLang="en-US"/>
              <a:t>Describe each DML statement</a:t>
            </a:r>
          </a:p>
          <a:p>
            <a:pPr lvl="1"/>
            <a:r>
              <a:rPr lang="en-US" altLang="en-US"/>
              <a:t>Insert rows into a table</a:t>
            </a:r>
          </a:p>
          <a:p>
            <a:pPr lvl="1"/>
            <a:r>
              <a:rPr lang="en-US" altLang="en-US"/>
              <a:t>Update rows in a table</a:t>
            </a:r>
          </a:p>
          <a:p>
            <a:pPr lvl="1"/>
            <a:r>
              <a:rPr lang="en-US" altLang="en-US"/>
              <a:t>Delete rows from a table</a:t>
            </a:r>
          </a:p>
          <a:p>
            <a:pPr lvl="1"/>
            <a:r>
              <a:rPr lang="en-US" altLang="en-US"/>
              <a:t>Control transactions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53F8D40-CD53-7FDB-7ABA-7D81669C4A9D}"/>
              </a:ext>
            </a:extLst>
          </p:cNvPr>
          <p:cNvSpPr>
            <a:spLocks noGrp="1" noChangeArrowheads="1"/>
          </p:cNvSpPr>
          <p:nvPr>
            <p:ph type="title"/>
          </p:nvPr>
        </p:nvSpPr>
        <p:spPr>
          <a:xfrm>
            <a:off x="323850" y="622300"/>
            <a:ext cx="4786313" cy="503238"/>
          </a:xfrm>
          <a:noFill/>
        </p:spPr>
        <p:txBody>
          <a:bodyPr lIns="92075" tIns="46038" rIns="92075" bIns="46038" anchor="t"/>
          <a:lstStyle/>
          <a:p>
            <a:r>
              <a:rPr lang="en-US" altLang="en-US" sz="2800">
                <a:solidFill>
                  <a:srgbClr val="800000"/>
                </a:solidFill>
              </a:rPr>
              <a:t>Data Manipulation Language</a:t>
            </a:r>
          </a:p>
        </p:txBody>
      </p:sp>
      <p:sp>
        <p:nvSpPr>
          <p:cNvPr id="8195" name="Arc 3">
            <a:extLst>
              <a:ext uri="{FF2B5EF4-FFF2-40B4-BE49-F238E27FC236}">
                <a16:creationId xmlns:a16="http://schemas.microsoft.com/office/drawing/2014/main" id="{02A50594-713E-0190-F7F1-B247D5A85E3E}"/>
              </a:ext>
            </a:extLst>
          </p:cNvPr>
          <p:cNvSpPr>
            <a:spLocks/>
          </p:cNvSpPr>
          <p:nvPr/>
        </p:nvSpPr>
        <p:spPr bwMode="ltGray">
          <a:xfrm>
            <a:off x="5378450" y="0"/>
            <a:ext cx="211138" cy="225425"/>
          </a:xfrm>
          <a:custGeom>
            <a:avLst/>
            <a:gdLst>
              <a:gd name="T0" fmla="*/ 1927600070 w 21600"/>
              <a:gd name="T1" fmla="*/ 2147483646 h 21600"/>
              <a:gd name="T2" fmla="*/ 0 w 21600"/>
              <a:gd name="T3" fmla="*/ 0 h 21600"/>
              <a:gd name="T4" fmla="*/ 192760007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8196" name="Rectangle 4">
            <a:extLst>
              <a:ext uri="{FF2B5EF4-FFF2-40B4-BE49-F238E27FC236}">
                <a16:creationId xmlns:a16="http://schemas.microsoft.com/office/drawing/2014/main" id="{651B5D58-CA5D-B63C-1D6A-E42822965D4C}"/>
              </a:ext>
            </a:extLst>
          </p:cNvPr>
          <p:cNvSpPr>
            <a:spLocks noGrp="1" noChangeArrowheads="1"/>
          </p:cNvSpPr>
          <p:nvPr>
            <p:ph type="body" idx="1"/>
          </p:nvPr>
        </p:nvSpPr>
        <p:spPr>
          <a:xfrm>
            <a:off x="860425" y="1585913"/>
            <a:ext cx="7385050" cy="2355850"/>
          </a:xfrm>
          <a:noFill/>
        </p:spPr>
        <p:txBody>
          <a:bodyPr lIns="92075" tIns="46038" rIns="92075" bIns="46038">
            <a:spAutoFit/>
          </a:bodyPr>
          <a:lstStyle/>
          <a:p>
            <a:pPr lvl="1"/>
            <a:r>
              <a:rPr lang="en-US" altLang="en-US"/>
              <a:t>A DML statement is executed when you:</a:t>
            </a:r>
          </a:p>
          <a:p>
            <a:pPr lvl="2"/>
            <a:r>
              <a:rPr lang="en-US" altLang="en-US"/>
              <a:t>Add new rows to a table</a:t>
            </a:r>
          </a:p>
          <a:p>
            <a:pPr lvl="2"/>
            <a:r>
              <a:rPr lang="en-US" altLang="en-US"/>
              <a:t>Modify existing rows in a table</a:t>
            </a:r>
          </a:p>
          <a:p>
            <a:pPr lvl="2"/>
            <a:r>
              <a:rPr lang="en-US" altLang="en-US"/>
              <a:t>Remove existing rows from a table</a:t>
            </a:r>
          </a:p>
          <a:p>
            <a:pPr lvl="1"/>
            <a:r>
              <a:rPr lang="en-US" altLang="en-US"/>
              <a:t>A </a:t>
            </a:r>
            <a:r>
              <a:rPr lang="en-US" altLang="en-US" i="1">
                <a:solidFill>
                  <a:srgbClr val="FF3300"/>
                </a:solidFill>
              </a:rPr>
              <a:t>transaction</a:t>
            </a:r>
            <a:r>
              <a:rPr lang="en-US" altLang="en-US"/>
              <a:t> consists of a collection of DML statements that form a logical unit of work.</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E27D90B-846A-1440-FB87-67EF32224780}"/>
              </a:ext>
            </a:extLst>
          </p:cNvPr>
          <p:cNvSpPr>
            <a:spLocks noGrp="1" noChangeArrowheads="1"/>
          </p:cNvSpPr>
          <p:nvPr>
            <p:ph type="title"/>
          </p:nvPr>
        </p:nvSpPr>
        <p:spPr>
          <a:xfrm>
            <a:off x="361950" y="588963"/>
            <a:ext cx="4930775" cy="536575"/>
          </a:xfrm>
          <a:noFill/>
        </p:spPr>
        <p:txBody>
          <a:bodyPr lIns="92075" tIns="46038" rIns="92075" bIns="46038" anchor="t"/>
          <a:lstStyle/>
          <a:p>
            <a:r>
              <a:rPr lang="en-US" altLang="en-US" sz="2800">
                <a:solidFill>
                  <a:srgbClr val="800000"/>
                </a:solidFill>
              </a:rPr>
              <a:t>Adding a New Row to a Table</a:t>
            </a:r>
          </a:p>
        </p:txBody>
      </p:sp>
      <p:sp>
        <p:nvSpPr>
          <p:cNvPr id="10243" name="Rectangle 3">
            <a:extLst>
              <a:ext uri="{FF2B5EF4-FFF2-40B4-BE49-F238E27FC236}">
                <a16:creationId xmlns:a16="http://schemas.microsoft.com/office/drawing/2014/main" id="{3423B6CB-3D9A-A877-D4DD-1B459761C50A}"/>
              </a:ext>
            </a:extLst>
          </p:cNvPr>
          <p:cNvSpPr>
            <a:spLocks noChangeArrowheads="1"/>
          </p:cNvSpPr>
          <p:nvPr/>
        </p:nvSpPr>
        <p:spPr bwMode="blackWhite">
          <a:xfrm>
            <a:off x="608013" y="2774950"/>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42372" name="Rectangle 4">
            <a:extLst>
              <a:ext uri="{FF2B5EF4-FFF2-40B4-BE49-F238E27FC236}">
                <a16:creationId xmlns:a16="http://schemas.microsoft.com/office/drawing/2014/main" id="{B5B1F3CC-733E-64EF-C3DD-C6F52EA9C2FF}"/>
              </a:ext>
            </a:extLst>
          </p:cNvPr>
          <p:cNvSpPr>
            <a:spLocks noChangeArrowheads="1"/>
          </p:cNvSpPr>
          <p:nvPr/>
        </p:nvSpPr>
        <p:spPr bwMode="auto">
          <a:xfrm>
            <a:off x="520700" y="2411413"/>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10245" name="Rectangle 5">
            <a:extLst>
              <a:ext uri="{FF2B5EF4-FFF2-40B4-BE49-F238E27FC236}">
                <a16:creationId xmlns:a16="http://schemas.microsoft.com/office/drawing/2014/main" id="{6191D723-1E90-6A5D-55EE-B3500354F951}"/>
              </a:ext>
            </a:extLst>
          </p:cNvPr>
          <p:cNvSpPr>
            <a:spLocks noChangeArrowheads="1"/>
          </p:cNvSpPr>
          <p:nvPr/>
        </p:nvSpPr>
        <p:spPr bwMode="blackWhite">
          <a:xfrm>
            <a:off x="620713" y="2806700"/>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10246" name="Line 6">
            <a:extLst>
              <a:ext uri="{FF2B5EF4-FFF2-40B4-BE49-F238E27FC236}">
                <a16:creationId xmlns:a16="http://schemas.microsoft.com/office/drawing/2014/main" id="{083EF50D-3CBB-5C4A-6EF3-2872F50BA347}"/>
              </a:ext>
            </a:extLst>
          </p:cNvPr>
          <p:cNvSpPr>
            <a:spLocks noChangeShapeType="1"/>
          </p:cNvSpPr>
          <p:nvPr/>
        </p:nvSpPr>
        <p:spPr bwMode="auto">
          <a:xfrm>
            <a:off x="609600" y="3238500"/>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47" name="Line 7">
            <a:extLst>
              <a:ext uri="{FF2B5EF4-FFF2-40B4-BE49-F238E27FC236}">
                <a16:creationId xmlns:a16="http://schemas.microsoft.com/office/drawing/2014/main" id="{340E9E21-F83A-9FBA-63F4-721D65DDE8D9}"/>
              </a:ext>
            </a:extLst>
          </p:cNvPr>
          <p:cNvSpPr>
            <a:spLocks noChangeShapeType="1"/>
          </p:cNvSpPr>
          <p:nvPr/>
        </p:nvSpPr>
        <p:spPr bwMode="auto">
          <a:xfrm>
            <a:off x="603250" y="363220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48" name="Line 8">
            <a:extLst>
              <a:ext uri="{FF2B5EF4-FFF2-40B4-BE49-F238E27FC236}">
                <a16:creationId xmlns:a16="http://schemas.microsoft.com/office/drawing/2014/main" id="{79A16DD1-7159-2A7D-70BD-A1735B81F2C0}"/>
              </a:ext>
            </a:extLst>
          </p:cNvPr>
          <p:cNvSpPr>
            <a:spLocks noChangeShapeType="1"/>
          </p:cNvSpPr>
          <p:nvPr/>
        </p:nvSpPr>
        <p:spPr bwMode="auto">
          <a:xfrm>
            <a:off x="603250" y="38925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49" name="Line 9">
            <a:extLst>
              <a:ext uri="{FF2B5EF4-FFF2-40B4-BE49-F238E27FC236}">
                <a16:creationId xmlns:a16="http://schemas.microsoft.com/office/drawing/2014/main" id="{6AF9CC41-AE01-FB02-1AF4-CF82D491973E}"/>
              </a:ext>
            </a:extLst>
          </p:cNvPr>
          <p:cNvSpPr>
            <a:spLocks noChangeShapeType="1"/>
          </p:cNvSpPr>
          <p:nvPr/>
        </p:nvSpPr>
        <p:spPr bwMode="auto">
          <a:xfrm>
            <a:off x="603250" y="415290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0" name="Line 10">
            <a:extLst>
              <a:ext uri="{FF2B5EF4-FFF2-40B4-BE49-F238E27FC236}">
                <a16:creationId xmlns:a16="http://schemas.microsoft.com/office/drawing/2014/main" id="{F4B2BF1F-595E-FA02-F733-CC15758E680E}"/>
              </a:ext>
            </a:extLst>
          </p:cNvPr>
          <p:cNvSpPr>
            <a:spLocks noChangeShapeType="1"/>
          </p:cNvSpPr>
          <p:nvPr/>
        </p:nvSpPr>
        <p:spPr bwMode="auto">
          <a:xfrm>
            <a:off x="1606550" y="277495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1" name="Line 11">
            <a:extLst>
              <a:ext uri="{FF2B5EF4-FFF2-40B4-BE49-F238E27FC236}">
                <a16:creationId xmlns:a16="http://schemas.microsoft.com/office/drawing/2014/main" id="{2EB92526-AA9C-9FB4-F6B9-7E6A91E11C15}"/>
              </a:ext>
            </a:extLst>
          </p:cNvPr>
          <p:cNvSpPr>
            <a:spLocks noChangeShapeType="1"/>
          </p:cNvSpPr>
          <p:nvPr/>
        </p:nvSpPr>
        <p:spPr bwMode="auto">
          <a:xfrm>
            <a:off x="3105150" y="277495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10252" name="Group 12">
            <a:extLst>
              <a:ext uri="{FF2B5EF4-FFF2-40B4-BE49-F238E27FC236}">
                <a16:creationId xmlns:a16="http://schemas.microsoft.com/office/drawing/2014/main" id="{C7E248B7-4D80-2BC4-7981-4F7AEB81F676}"/>
              </a:ext>
            </a:extLst>
          </p:cNvPr>
          <p:cNvGrpSpPr>
            <a:grpSpLocks/>
          </p:cNvGrpSpPr>
          <p:nvPr/>
        </p:nvGrpSpPr>
        <p:grpSpPr bwMode="auto">
          <a:xfrm>
            <a:off x="520700" y="1327150"/>
            <a:ext cx="3949700" cy="1058863"/>
            <a:chOff x="328" y="836"/>
            <a:chExt cx="2488" cy="667"/>
          </a:xfrm>
        </p:grpSpPr>
        <p:sp>
          <p:nvSpPr>
            <p:cNvPr id="10270" name="Rectangle 13">
              <a:extLst>
                <a:ext uri="{FF2B5EF4-FFF2-40B4-BE49-F238E27FC236}">
                  <a16:creationId xmlns:a16="http://schemas.microsoft.com/office/drawing/2014/main" id="{108F5444-72D3-1F27-2BD6-CB78CA8EB0E7}"/>
                </a:ext>
              </a:extLst>
            </p:cNvPr>
            <p:cNvSpPr>
              <a:spLocks noChangeArrowheads="1"/>
            </p:cNvSpPr>
            <p:nvPr/>
          </p:nvSpPr>
          <p:spPr bwMode="blackWhite">
            <a:xfrm>
              <a:off x="383" y="972"/>
              <a:ext cx="2433" cy="238"/>
            </a:xfrm>
            <a:prstGeom prst="rect">
              <a:avLst/>
            </a:prstGeom>
            <a:solidFill>
              <a:srgbClr val="FF9966"/>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42382" name="Rectangle 14">
              <a:extLst>
                <a:ext uri="{FF2B5EF4-FFF2-40B4-BE49-F238E27FC236}">
                  <a16:creationId xmlns:a16="http://schemas.microsoft.com/office/drawing/2014/main" id="{0C3B8FBC-E254-4BA3-29B7-5121A80D52C3}"/>
                </a:ext>
              </a:extLst>
            </p:cNvPr>
            <p:cNvSpPr>
              <a:spLocks noChangeArrowheads="1"/>
            </p:cNvSpPr>
            <p:nvPr/>
          </p:nvSpPr>
          <p:spPr bwMode="auto">
            <a:xfrm>
              <a:off x="328" y="1253"/>
              <a:ext cx="774" cy="250"/>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New row</a:t>
              </a:r>
            </a:p>
          </p:txBody>
        </p:sp>
        <p:sp>
          <p:nvSpPr>
            <p:cNvPr id="10272" name="Rectangle 15">
              <a:extLst>
                <a:ext uri="{FF2B5EF4-FFF2-40B4-BE49-F238E27FC236}">
                  <a16:creationId xmlns:a16="http://schemas.microsoft.com/office/drawing/2014/main" id="{52884E56-20AA-BC22-6B3C-584B37233FE1}"/>
                </a:ext>
              </a:extLst>
            </p:cNvPr>
            <p:cNvSpPr>
              <a:spLocks noChangeArrowheads="1"/>
            </p:cNvSpPr>
            <p:nvPr/>
          </p:nvSpPr>
          <p:spPr bwMode="blackWhite">
            <a:xfrm>
              <a:off x="391" y="836"/>
              <a:ext cx="2417"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50	</a:t>
              </a:r>
              <a:r>
                <a:rPr lang="en-US" altLang="en-US" sz="1700" b="1">
                  <a:solidFill>
                    <a:srgbClr val="000000"/>
                  </a:solidFill>
                  <a:latin typeface="Courier New" panose="02070309020205020404" pitchFamily="49" charset="0"/>
                </a:rPr>
                <a:t>DEVELOPMENT</a:t>
              </a:r>
              <a:r>
                <a:rPr lang="en-US" altLang="en-US" sz="1800" b="1">
                  <a:solidFill>
                    <a:srgbClr val="000000"/>
                  </a:solidFill>
                  <a:latin typeface="Courier New" panose="02070309020205020404" pitchFamily="49" charset="0"/>
                </a:rPr>
                <a:t>	DETROIT</a:t>
              </a:r>
            </a:p>
          </p:txBody>
        </p:sp>
        <p:sp>
          <p:nvSpPr>
            <p:cNvPr id="10273" name="Line 16">
              <a:extLst>
                <a:ext uri="{FF2B5EF4-FFF2-40B4-BE49-F238E27FC236}">
                  <a16:creationId xmlns:a16="http://schemas.microsoft.com/office/drawing/2014/main" id="{D20312AD-77CC-5692-2B3F-AB308E3965AE}"/>
                </a:ext>
              </a:extLst>
            </p:cNvPr>
            <p:cNvSpPr>
              <a:spLocks noChangeShapeType="1"/>
            </p:cNvSpPr>
            <p:nvPr/>
          </p:nvSpPr>
          <p:spPr bwMode="auto">
            <a:xfrm>
              <a:off x="1012" y="976"/>
              <a:ext cx="0" cy="24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74" name="Line 17">
              <a:extLst>
                <a:ext uri="{FF2B5EF4-FFF2-40B4-BE49-F238E27FC236}">
                  <a16:creationId xmlns:a16="http://schemas.microsoft.com/office/drawing/2014/main" id="{1FEF055E-7B1B-F270-83BE-019EF83040A7}"/>
                </a:ext>
              </a:extLst>
            </p:cNvPr>
            <p:cNvSpPr>
              <a:spLocks noChangeShapeType="1"/>
            </p:cNvSpPr>
            <p:nvPr/>
          </p:nvSpPr>
          <p:spPr bwMode="auto">
            <a:xfrm>
              <a:off x="1956" y="970"/>
              <a:ext cx="0" cy="27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10253" name="Rectangle 18">
            <a:extLst>
              <a:ext uri="{FF2B5EF4-FFF2-40B4-BE49-F238E27FC236}">
                <a16:creationId xmlns:a16="http://schemas.microsoft.com/office/drawing/2014/main" id="{98097C6D-4103-70BE-54E7-FB96F907A029}"/>
              </a:ext>
            </a:extLst>
          </p:cNvPr>
          <p:cNvSpPr>
            <a:spLocks noChangeArrowheads="1"/>
          </p:cNvSpPr>
          <p:nvPr/>
        </p:nvSpPr>
        <p:spPr bwMode="blackWhite">
          <a:xfrm>
            <a:off x="4741863" y="3911600"/>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42387" name="Rectangle 19">
            <a:extLst>
              <a:ext uri="{FF2B5EF4-FFF2-40B4-BE49-F238E27FC236}">
                <a16:creationId xmlns:a16="http://schemas.microsoft.com/office/drawing/2014/main" id="{C5810C34-25C9-A4B6-6A17-904B473F25DE}"/>
              </a:ext>
            </a:extLst>
          </p:cNvPr>
          <p:cNvSpPr>
            <a:spLocks noChangeArrowheads="1"/>
          </p:cNvSpPr>
          <p:nvPr/>
        </p:nvSpPr>
        <p:spPr bwMode="auto">
          <a:xfrm>
            <a:off x="4654550" y="3548063"/>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10255" name="Rectangle 20">
            <a:extLst>
              <a:ext uri="{FF2B5EF4-FFF2-40B4-BE49-F238E27FC236}">
                <a16:creationId xmlns:a16="http://schemas.microsoft.com/office/drawing/2014/main" id="{9ADE2592-F694-DC4F-A155-EDEB8202428F}"/>
              </a:ext>
            </a:extLst>
          </p:cNvPr>
          <p:cNvSpPr>
            <a:spLocks noChangeArrowheads="1"/>
          </p:cNvSpPr>
          <p:nvPr/>
        </p:nvSpPr>
        <p:spPr bwMode="blackWhite">
          <a:xfrm>
            <a:off x="4754563" y="3943350"/>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
        <p:nvSpPr>
          <p:cNvPr id="10256" name="Line 21">
            <a:extLst>
              <a:ext uri="{FF2B5EF4-FFF2-40B4-BE49-F238E27FC236}">
                <a16:creationId xmlns:a16="http://schemas.microsoft.com/office/drawing/2014/main" id="{59B0D361-D50F-2A39-F70A-BE0BE082FFDD}"/>
              </a:ext>
            </a:extLst>
          </p:cNvPr>
          <p:cNvSpPr>
            <a:spLocks noChangeShapeType="1"/>
          </p:cNvSpPr>
          <p:nvPr/>
        </p:nvSpPr>
        <p:spPr bwMode="auto">
          <a:xfrm>
            <a:off x="4743450" y="4375150"/>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7" name="Line 22">
            <a:extLst>
              <a:ext uri="{FF2B5EF4-FFF2-40B4-BE49-F238E27FC236}">
                <a16:creationId xmlns:a16="http://schemas.microsoft.com/office/drawing/2014/main" id="{20741459-ABB0-31A5-ED40-AE18C87B6EF3}"/>
              </a:ext>
            </a:extLst>
          </p:cNvPr>
          <p:cNvSpPr>
            <a:spLocks noChangeShapeType="1"/>
          </p:cNvSpPr>
          <p:nvPr/>
        </p:nvSpPr>
        <p:spPr bwMode="auto">
          <a:xfrm>
            <a:off x="4737100" y="47688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8" name="Line 23">
            <a:extLst>
              <a:ext uri="{FF2B5EF4-FFF2-40B4-BE49-F238E27FC236}">
                <a16:creationId xmlns:a16="http://schemas.microsoft.com/office/drawing/2014/main" id="{D72DDC80-BDBE-41F2-8D55-D85764ADBEB5}"/>
              </a:ext>
            </a:extLst>
          </p:cNvPr>
          <p:cNvSpPr>
            <a:spLocks noChangeShapeType="1"/>
          </p:cNvSpPr>
          <p:nvPr/>
        </p:nvSpPr>
        <p:spPr bwMode="auto">
          <a:xfrm>
            <a:off x="4737100" y="502920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59" name="Line 24">
            <a:extLst>
              <a:ext uri="{FF2B5EF4-FFF2-40B4-BE49-F238E27FC236}">
                <a16:creationId xmlns:a16="http://schemas.microsoft.com/office/drawing/2014/main" id="{C788C72D-E572-0176-2819-AB96FCBCA9BB}"/>
              </a:ext>
            </a:extLst>
          </p:cNvPr>
          <p:cNvSpPr>
            <a:spLocks noChangeShapeType="1"/>
          </p:cNvSpPr>
          <p:nvPr/>
        </p:nvSpPr>
        <p:spPr bwMode="auto">
          <a:xfrm>
            <a:off x="4737100" y="52895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60" name="Line 25">
            <a:extLst>
              <a:ext uri="{FF2B5EF4-FFF2-40B4-BE49-F238E27FC236}">
                <a16:creationId xmlns:a16="http://schemas.microsoft.com/office/drawing/2014/main" id="{2AEF7DEA-4F91-9625-82B9-87B7D57EE0F1}"/>
              </a:ext>
            </a:extLst>
          </p:cNvPr>
          <p:cNvSpPr>
            <a:spLocks noChangeShapeType="1"/>
          </p:cNvSpPr>
          <p:nvPr/>
        </p:nvSpPr>
        <p:spPr bwMode="auto">
          <a:xfrm>
            <a:off x="5740400" y="391160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61" name="Line 26">
            <a:extLst>
              <a:ext uri="{FF2B5EF4-FFF2-40B4-BE49-F238E27FC236}">
                <a16:creationId xmlns:a16="http://schemas.microsoft.com/office/drawing/2014/main" id="{1ED0581C-184D-9476-C3AA-2E7A351D0687}"/>
              </a:ext>
            </a:extLst>
          </p:cNvPr>
          <p:cNvSpPr>
            <a:spLocks noChangeShapeType="1"/>
          </p:cNvSpPr>
          <p:nvPr/>
        </p:nvSpPr>
        <p:spPr bwMode="auto">
          <a:xfrm>
            <a:off x="7239000" y="3911600"/>
            <a:ext cx="0" cy="171450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27">
            <a:extLst>
              <a:ext uri="{FF2B5EF4-FFF2-40B4-BE49-F238E27FC236}">
                <a16:creationId xmlns:a16="http://schemas.microsoft.com/office/drawing/2014/main" id="{C54894E9-C37D-B2DF-4B4E-17A06EB66C2D}"/>
              </a:ext>
            </a:extLst>
          </p:cNvPr>
          <p:cNvGrpSpPr>
            <a:grpSpLocks/>
          </p:cNvGrpSpPr>
          <p:nvPr/>
        </p:nvGrpSpPr>
        <p:grpSpPr bwMode="auto">
          <a:xfrm>
            <a:off x="4514850" y="2263775"/>
            <a:ext cx="3579813" cy="1355725"/>
            <a:chOff x="2844" y="1426"/>
            <a:chExt cx="2255" cy="854"/>
          </a:xfrm>
        </p:grpSpPr>
        <p:sp>
          <p:nvSpPr>
            <p:cNvPr id="442396" name="Rectangle 28">
              <a:extLst>
                <a:ext uri="{FF2B5EF4-FFF2-40B4-BE49-F238E27FC236}">
                  <a16:creationId xmlns:a16="http://schemas.microsoft.com/office/drawing/2014/main" id="{31016C68-3E6C-9C34-B8EF-0C9DFD504521}"/>
                </a:ext>
              </a:extLst>
            </p:cNvPr>
            <p:cNvSpPr>
              <a:spLocks noChangeArrowheads="1"/>
            </p:cNvSpPr>
            <p:nvPr/>
          </p:nvSpPr>
          <p:spPr bwMode="auto">
            <a:xfrm>
              <a:off x="2844" y="1426"/>
              <a:ext cx="2255" cy="439"/>
            </a:xfrm>
            <a:prstGeom prst="rect">
              <a:avLst/>
            </a:prstGeom>
            <a:noFill/>
            <a:ln w="9525">
              <a:noFill/>
              <a:miter lim="800000"/>
              <a:headEnd/>
              <a:tailEnd/>
            </a:ln>
            <a:effectLst/>
          </p:spPr>
          <p:txBody>
            <a:bodyPr lIns="92075" tIns="46038" rIns="92075" bIns="46038">
              <a:spAutoFit/>
            </a:bodyPr>
            <a:lstStyle/>
            <a:p>
              <a:pPr algn="ctr" defTabSz="346075">
                <a:lnSpc>
                  <a:spcPct val="65000"/>
                </a:lnSpc>
                <a:spcBef>
                  <a:spcPct val="35000"/>
                </a:spcBef>
                <a:tabLst>
                  <a:tab pos="576263" algn="l"/>
                </a:tabLst>
                <a:defRPr/>
              </a:pPr>
              <a:r>
                <a:rPr lang="en-US" b="1">
                  <a:solidFill>
                    <a:schemeClr val="accent2"/>
                  </a:solidFill>
                  <a:effectLst>
                    <a:outerShdw blurRad="38100" dist="38100" dir="2700000" algn="tl">
                      <a:srgbClr val="000000"/>
                    </a:outerShdw>
                  </a:effectLst>
                </a:rPr>
                <a:t>“…insert a new row </a:t>
              </a:r>
            </a:p>
            <a:p>
              <a:pPr algn="ctr" defTabSz="346075">
                <a:lnSpc>
                  <a:spcPct val="65000"/>
                </a:lnSpc>
                <a:spcBef>
                  <a:spcPct val="35000"/>
                </a:spcBef>
                <a:tabLst>
                  <a:tab pos="576263" algn="l"/>
                </a:tabLst>
                <a:defRPr/>
              </a:pPr>
              <a:r>
                <a:rPr lang="en-US" b="1">
                  <a:solidFill>
                    <a:schemeClr val="accent2"/>
                  </a:solidFill>
                  <a:effectLst>
                    <a:outerShdw blurRad="38100" dist="38100" dir="2700000" algn="tl">
                      <a:srgbClr val="000000"/>
                    </a:outerShdw>
                  </a:effectLst>
                </a:rPr>
                <a:t>into DEPT table…”</a:t>
              </a:r>
            </a:p>
          </p:txBody>
        </p:sp>
        <p:sp>
          <p:nvSpPr>
            <p:cNvPr id="10269" name="Arc 29">
              <a:extLst>
                <a:ext uri="{FF2B5EF4-FFF2-40B4-BE49-F238E27FC236}">
                  <a16:creationId xmlns:a16="http://schemas.microsoft.com/office/drawing/2014/main" id="{2BC705F3-1F40-1892-C53A-DF3747DB440C}"/>
                </a:ext>
              </a:extLst>
            </p:cNvPr>
            <p:cNvSpPr>
              <a:spLocks/>
            </p:cNvSpPr>
            <p:nvPr/>
          </p:nvSpPr>
          <p:spPr bwMode="auto">
            <a:xfrm>
              <a:off x="3155" y="1908"/>
              <a:ext cx="1272" cy="372"/>
            </a:xfrm>
            <a:custGeom>
              <a:avLst/>
              <a:gdLst>
                <a:gd name="T0" fmla="*/ 0 w 21604"/>
                <a:gd name="T1" fmla="*/ 0 h 21600"/>
                <a:gd name="T2" fmla="*/ 0 w 21604"/>
                <a:gd name="T3" fmla="*/ 0 h 21600"/>
                <a:gd name="T4" fmla="*/ 0 w 21604"/>
                <a:gd name="T5" fmla="*/ 0 h 21600"/>
                <a:gd name="T6" fmla="*/ 0 60000 65536"/>
                <a:gd name="T7" fmla="*/ 0 60000 65536"/>
                <a:gd name="T8" fmla="*/ 0 60000 65536"/>
              </a:gdLst>
              <a:ahLst/>
              <a:cxnLst>
                <a:cxn ang="T6">
                  <a:pos x="T0" y="T1"/>
                </a:cxn>
                <a:cxn ang="T7">
                  <a:pos x="T2" y="T3"/>
                </a:cxn>
                <a:cxn ang="T8">
                  <a:pos x="T4" y="T5"/>
                </a:cxn>
              </a:cxnLst>
              <a:rect l="0" t="0" r="r" b="b"/>
              <a:pathLst>
                <a:path w="21604" h="21600" fill="none" extrusionOk="0">
                  <a:moveTo>
                    <a:pt x="0" y="0"/>
                  </a:moveTo>
                  <a:cubicBezTo>
                    <a:pt x="5" y="0"/>
                    <a:pt x="11" y="-1"/>
                    <a:pt x="17" y="0"/>
                  </a:cubicBezTo>
                  <a:cubicBezTo>
                    <a:pt x="11652" y="0"/>
                    <a:pt x="21197" y="9216"/>
                    <a:pt x="21603" y="20845"/>
                  </a:cubicBezTo>
                </a:path>
                <a:path w="21604" h="21600" stroke="0" extrusionOk="0">
                  <a:moveTo>
                    <a:pt x="0" y="0"/>
                  </a:moveTo>
                  <a:cubicBezTo>
                    <a:pt x="5" y="0"/>
                    <a:pt x="11" y="-1"/>
                    <a:pt x="17" y="0"/>
                  </a:cubicBezTo>
                  <a:cubicBezTo>
                    <a:pt x="11652" y="0"/>
                    <a:pt x="21197" y="9216"/>
                    <a:pt x="21603" y="20845"/>
                  </a:cubicBezTo>
                  <a:lnTo>
                    <a:pt x="17"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 name="Group 30">
            <a:extLst>
              <a:ext uri="{FF2B5EF4-FFF2-40B4-BE49-F238E27FC236}">
                <a16:creationId xmlns:a16="http://schemas.microsoft.com/office/drawing/2014/main" id="{D8EE8BFF-58A2-33AA-07BD-D7F5A782D639}"/>
              </a:ext>
            </a:extLst>
          </p:cNvPr>
          <p:cNvGrpSpPr>
            <a:grpSpLocks/>
          </p:cNvGrpSpPr>
          <p:nvPr/>
        </p:nvGrpSpPr>
        <p:grpSpPr bwMode="auto">
          <a:xfrm>
            <a:off x="4743450" y="5375275"/>
            <a:ext cx="3862388" cy="641350"/>
            <a:chOff x="2988" y="3386"/>
            <a:chExt cx="2433" cy="404"/>
          </a:xfrm>
        </p:grpSpPr>
        <p:sp>
          <p:nvSpPr>
            <p:cNvPr id="10264" name="Rectangle 31">
              <a:extLst>
                <a:ext uri="{FF2B5EF4-FFF2-40B4-BE49-F238E27FC236}">
                  <a16:creationId xmlns:a16="http://schemas.microsoft.com/office/drawing/2014/main" id="{619DA4F8-957C-BF27-55BE-905E1B28464F}"/>
                </a:ext>
              </a:extLst>
            </p:cNvPr>
            <p:cNvSpPr>
              <a:spLocks noChangeArrowheads="1"/>
            </p:cNvSpPr>
            <p:nvPr/>
          </p:nvSpPr>
          <p:spPr bwMode="blackWhite">
            <a:xfrm>
              <a:off x="2988" y="3522"/>
              <a:ext cx="2433" cy="238"/>
            </a:xfrm>
            <a:prstGeom prst="rect">
              <a:avLst/>
            </a:prstGeom>
            <a:solidFill>
              <a:srgbClr val="FF9966"/>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10265" name="Rectangle 32">
              <a:extLst>
                <a:ext uri="{FF2B5EF4-FFF2-40B4-BE49-F238E27FC236}">
                  <a16:creationId xmlns:a16="http://schemas.microsoft.com/office/drawing/2014/main" id="{F6C3992A-B6A2-1F1F-79AE-B57263754BD2}"/>
                </a:ext>
              </a:extLst>
            </p:cNvPr>
            <p:cNvSpPr>
              <a:spLocks noChangeArrowheads="1"/>
            </p:cNvSpPr>
            <p:nvPr/>
          </p:nvSpPr>
          <p:spPr bwMode="blackWhite">
            <a:xfrm>
              <a:off x="2996" y="3386"/>
              <a:ext cx="2417"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50	</a:t>
              </a:r>
              <a:r>
                <a:rPr lang="en-US" altLang="en-US" sz="1700" b="1">
                  <a:solidFill>
                    <a:srgbClr val="000000"/>
                  </a:solidFill>
                  <a:latin typeface="Courier New" panose="02070309020205020404" pitchFamily="49" charset="0"/>
                </a:rPr>
                <a:t>DEVELOPMENT</a:t>
              </a:r>
              <a:r>
                <a:rPr lang="en-US" altLang="en-US" sz="1800" b="1">
                  <a:solidFill>
                    <a:srgbClr val="000000"/>
                  </a:solidFill>
                  <a:latin typeface="Courier New" panose="02070309020205020404" pitchFamily="49" charset="0"/>
                </a:rPr>
                <a:t>	DETROIT</a:t>
              </a:r>
            </a:p>
          </p:txBody>
        </p:sp>
        <p:sp>
          <p:nvSpPr>
            <p:cNvPr id="10266" name="Line 33">
              <a:extLst>
                <a:ext uri="{FF2B5EF4-FFF2-40B4-BE49-F238E27FC236}">
                  <a16:creationId xmlns:a16="http://schemas.microsoft.com/office/drawing/2014/main" id="{F77DCC8A-1B9A-60FA-287B-C81F49DD3B08}"/>
                </a:ext>
              </a:extLst>
            </p:cNvPr>
            <p:cNvSpPr>
              <a:spLocks noChangeShapeType="1"/>
            </p:cNvSpPr>
            <p:nvPr/>
          </p:nvSpPr>
          <p:spPr bwMode="auto">
            <a:xfrm>
              <a:off x="3617" y="3526"/>
              <a:ext cx="0" cy="24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267" name="Line 34">
              <a:extLst>
                <a:ext uri="{FF2B5EF4-FFF2-40B4-BE49-F238E27FC236}">
                  <a16:creationId xmlns:a16="http://schemas.microsoft.com/office/drawing/2014/main" id="{7D256C19-276F-F7AD-24FB-C8F556BB26D7}"/>
                </a:ext>
              </a:extLst>
            </p:cNvPr>
            <p:cNvSpPr>
              <a:spLocks noChangeShapeType="1"/>
            </p:cNvSpPr>
            <p:nvPr/>
          </p:nvSpPr>
          <p:spPr bwMode="auto">
            <a:xfrm>
              <a:off x="4561" y="3520"/>
              <a:ext cx="0" cy="27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nodeType="afterGroup">
                            <p:stCondLst>
                              <p:cond delay="500"/>
                            </p:stCondLst>
                            <p:childTnLst>
                              <p:par>
                                <p:cTn id="9" presetID="2" presetClass="entr" presetSubtype="9"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0-#ppt_w/2"/>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1B60CCC-932F-EA46-3BB1-B91FD5C96783}"/>
              </a:ext>
            </a:extLst>
          </p:cNvPr>
          <p:cNvSpPr>
            <a:spLocks noGrp="1" noChangeArrowheads="1"/>
          </p:cNvSpPr>
          <p:nvPr>
            <p:ph type="title"/>
          </p:nvPr>
        </p:nvSpPr>
        <p:spPr>
          <a:xfrm>
            <a:off x="323850" y="588963"/>
            <a:ext cx="4067175" cy="536575"/>
          </a:xfrm>
          <a:noFill/>
        </p:spPr>
        <p:txBody>
          <a:bodyPr lIns="92075" tIns="46038" rIns="92075" bIns="46038" anchor="t"/>
          <a:lstStyle/>
          <a:p>
            <a:r>
              <a:rPr lang="en-US" altLang="en-US" sz="2800">
                <a:solidFill>
                  <a:srgbClr val="800000"/>
                </a:solidFill>
              </a:rPr>
              <a:t>The INSERT Statement</a:t>
            </a:r>
          </a:p>
        </p:txBody>
      </p:sp>
      <p:sp>
        <p:nvSpPr>
          <p:cNvPr id="12291" name="Rectangle 3">
            <a:extLst>
              <a:ext uri="{FF2B5EF4-FFF2-40B4-BE49-F238E27FC236}">
                <a16:creationId xmlns:a16="http://schemas.microsoft.com/office/drawing/2014/main" id="{E4492E84-97BA-FC18-5DA0-E898B6B2B760}"/>
              </a:ext>
            </a:extLst>
          </p:cNvPr>
          <p:cNvSpPr>
            <a:spLocks noGrp="1" noChangeArrowheads="1"/>
          </p:cNvSpPr>
          <p:nvPr>
            <p:ph type="body" idx="1"/>
          </p:nvPr>
        </p:nvSpPr>
        <p:spPr>
          <a:xfrm>
            <a:off x="860425" y="1795463"/>
            <a:ext cx="7385050" cy="2794000"/>
          </a:xfrm>
          <a:noFill/>
        </p:spPr>
        <p:txBody>
          <a:bodyPr lIns="92075" tIns="46038" rIns="92075" bIns="46038">
            <a:spAutoFit/>
          </a:bodyPr>
          <a:lstStyle/>
          <a:p>
            <a:pPr lvl="1"/>
            <a:r>
              <a:rPr lang="en-US" altLang="en-US"/>
              <a:t>Add new rows to a table by using the INSERT statement.</a:t>
            </a:r>
            <a:br>
              <a:rPr lang="en-US" altLang="en-US"/>
            </a:br>
            <a:br>
              <a:rPr lang="en-US" altLang="en-US"/>
            </a:br>
            <a:endParaRPr lang="en-US" altLang="en-US"/>
          </a:p>
          <a:p>
            <a:pPr lvl="1">
              <a:buFontTx/>
              <a:buNone/>
            </a:pPr>
            <a:endParaRPr lang="en-US" altLang="en-US"/>
          </a:p>
          <a:p>
            <a:pPr lvl="1"/>
            <a:r>
              <a:rPr lang="en-US" altLang="en-US"/>
              <a:t>Only one row is inserted at a time with this syntax.</a:t>
            </a:r>
          </a:p>
        </p:txBody>
      </p:sp>
      <p:sp>
        <p:nvSpPr>
          <p:cNvPr id="12292" name="Rectangle 4">
            <a:extLst>
              <a:ext uri="{FF2B5EF4-FFF2-40B4-BE49-F238E27FC236}">
                <a16:creationId xmlns:a16="http://schemas.microsoft.com/office/drawing/2014/main" id="{A3F45D0E-7375-A487-5560-06631D3B4A17}"/>
              </a:ext>
            </a:extLst>
          </p:cNvPr>
          <p:cNvSpPr>
            <a:spLocks noChangeArrowheads="1"/>
          </p:cNvSpPr>
          <p:nvPr/>
        </p:nvSpPr>
        <p:spPr bwMode="blackWhite">
          <a:xfrm>
            <a:off x="925513" y="3021013"/>
            <a:ext cx="7500937" cy="641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INSERT INTO	</a:t>
            </a:r>
            <a:r>
              <a:rPr lang="en-US" altLang="en-US" sz="1800" b="1" i="1">
                <a:solidFill>
                  <a:srgbClr val="000000"/>
                </a:solidFill>
                <a:latin typeface="Courier New" panose="02070309020205020404" pitchFamily="49" charset="0"/>
              </a:rPr>
              <a:t>table </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column </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 column...</a:t>
            </a:r>
            <a:r>
              <a:rPr lang="en-US" altLang="en-US" sz="1800" b="1">
                <a:solidFill>
                  <a:srgbClr val="000000"/>
                </a:solidFill>
                <a:latin typeface="Courier New" panose="02070309020205020404" pitchFamily="49" charset="0"/>
              </a:rPr>
              <a:t>])]</a:t>
            </a:r>
            <a:endParaRPr lang="en-US" altLang="en-US" sz="1800" b="1" i="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VALUES		</a:t>
            </a:r>
            <a:r>
              <a:rPr lang="en-US" altLang="en-US" sz="1800" b="1" i="1">
                <a:solidFill>
                  <a:srgbClr val="000000"/>
                </a:solidFill>
                <a:latin typeface="Courier New" panose="02070309020205020404" pitchFamily="49" charset="0"/>
              </a:rPr>
              <a:t>(value </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 value...</a:t>
            </a:r>
            <a:r>
              <a:rPr lang="en-US" altLang="en-US" sz="1800" b="1">
                <a:solidFill>
                  <a:srgbClr val="000000"/>
                </a:solidFill>
                <a:latin typeface="Courier New" panose="02070309020205020404" pitchFamily="49" charset="0"/>
              </a:rPr>
              <a:t>])</a:t>
            </a:r>
            <a:r>
              <a:rPr lang="en-US" altLang="en-US" sz="1800" b="1" i="1">
                <a:solidFill>
                  <a:srgbClr val="000000"/>
                </a:solidFill>
                <a:latin typeface="Courier New" panose="02070309020205020404" pitchFamily="49" charset="0"/>
              </a:rPr>
              <a:t>;</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50848C9-6E58-BF0B-2AB7-A5241D36E95B}"/>
              </a:ext>
            </a:extLst>
          </p:cNvPr>
          <p:cNvSpPr>
            <a:spLocks noChangeArrowheads="1"/>
          </p:cNvSpPr>
          <p:nvPr/>
        </p:nvSpPr>
        <p:spPr bwMode="blackWhite">
          <a:xfrm>
            <a:off x="923925" y="3141663"/>
            <a:ext cx="7502525" cy="8794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4339" name="Rectangle 3">
            <a:extLst>
              <a:ext uri="{FF2B5EF4-FFF2-40B4-BE49-F238E27FC236}">
                <a16:creationId xmlns:a16="http://schemas.microsoft.com/office/drawing/2014/main" id="{EBCB8BD2-A49C-F8CD-CF24-F54D581969E3}"/>
              </a:ext>
            </a:extLst>
          </p:cNvPr>
          <p:cNvSpPr>
            <a:spLocks noGrp="1" noChangeArrowheads="1"/>
          </p:cNvSpPr>
          <p:nvPr>
            <p:ph type="title"/>
          </p:nvPr>
        </p:nvSpPr>
        <p:spPr>
          <a:xfrm>
            <a:off x="323850" y="620713"/>
            <a:ext cx="3490913" cy="536575"/>
          </a:xfrm>
          <a:noFill/>
        </p:spPr>
        <p:txBody>
          <a:bodyPr lIns="92075" tIns="46038" rIns="92075" bIns="46038" anchor="t"/>
          <a:lstStyle/>
          <a:p>
            <a:r>
              <a:rPr lang="en-US" altLang="en-US" sz="2800">
                <a:solidFill>
                  <a:srgbClr val="800000"/>
                </a:solidFill>
              </a:rPr>
              <a:t>Inserting New Rows</a:t>
            </a:r>
          </a:p>
        </p:txBody>
      </p:sp>
      <p:sp>
        <p:nvSpPr>
          <p:cNvPr id="14340" name="Rectangle 4">
            <a:extLst>
              <a:ext uri="{FF2B5EF4-FFF2-40B4-BE49-F238E27FC236}">
                <a16:creationId xmlns:a16="http://schemas.microsoft.com/office/drawing/2014/main" id="{7011475D-D439-34DA-483A-15A20AB48E55}"/>
              </a:ext>
            </a:extLst>
          </p:cNvPr>
          <p:cNvSpPr>
            <a:spLocks noGrp="1" noChangeArrowheads="1"/>
          </p:cNvSpPr>
          <p:nvPr>
            <p:ph type="body" idx="1"/>
          </p:nvPr>
        </p:nvSpPr>
        <p:spPr>
          <a:xfrm>
            <a:off x="468313" y="1268413"/>
            <a:ext cx="8351837" cy="3743325"/>
          </a:xfrm>
          <a:noFill/>
        </p:spPr>
        <p:txBody>
          <a:bodyPr lIns="92075" tIns="46038" rIns="92075" bIns="46038">
            <a:spAutoFit/>
          </a:bodyPr>
          <a:lstStyle/>
          <a:p>
            <a:pPr lvl="1"/>
            <a:r>
              <a:rPr lang="en-US" altLang="en-US"/>
              <a:t>Insert a new row containing values for each column.</a:t>
            </a:r>
          </a:p>
          <a:p>
            <a:pPr lvl="1"/>
            <a:r>
              <a:rPr lang="en-US" altLang="en-US"/>
              <a:t>List values in the default order of the columns in the table. </a:t>
            </a:r>
          </a:p>
          <a:p>
            <a:pPr lvl="1"/>
            <a:r>
              <a:rPr lang="en-US" altLang="en-US"/>
              <a:t>Optionally list the columns in the INSERT clause.</a:t>
            </a:r>
            <a:br>
              <a:rPr lang="en-US" altLang="en-US"/>
            </a:br>
            <a:endParaRPr lang="en-US" altLang="en-US"/>
          </a:p>
          <a:p>
            <a:pPr lvl="1"/>
            <a:endParaRPr lang="en-US" altLang="en-US"/>
          </a:p>
          <a:p>
            <a:pPr lvl="1"/>
            <a:endParaRPr lang="en-US" altLang="en-US"/>
          </a:p>
          <a:p>
            <a:pPr lvl="1"/>
            <a:r>
              <a:rPr lang="en-US" altLang="en-US"/>
              <a:t>Enclose character and date values within single quotation marks.</a:t>
            </a:r>
          </a:p>
        </p:txBody>
      </p:sp>
      <p:sp>
        <p:nvSpPr>
          <p:cNvPr id="446469" name="Rectangle 5">
            <a:extLst>
              <a:ext uri="{FF2B5EF4-FFF2-40B4-BE49-F238E27FC236}">
                <a16:creationId xmlns:a16="http://schemas.microsoft.com/office/drawing/2014/main" id="{9FBEF76F-51C2-482F-368C-05ADE83340CF}"/>
              </a:ext>
            </a:extLst>
          </p:cNvPr>
          <p:cNvSpPr>
            <a:spLocks noChangeArrowheads="1"/>
          </p:cNvSpPr>
          <p:nvPr/>
        </p:nvSpPr>
        <p:spPr bwMode="blackWhite">
          <a:xfrm>
            <a:off x="903288" y="3141663"/>
            <a:ext cx="7313612" cy="90487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dept (deptno, dname, loc)</a:t>
            </a:r>
          </a:p>
          <a:p>
            <a:pPr>
              <a:tabLst>
                <a:tab pos="1200150" algn="l"/>
              </a:tabLst>
              <a:defRPr/>
            </a:pPr>
            <a:r>
              <a:rPr lang="en-US" sz="1800" b="1">
                <a:solidFill>
                  <a:srgbClr val="000000"/>
                </a:solidFill>
                <a:latin typeface="Courier New" pitchFamily="49" charset="0"/>
              </a:rPr>
              <a:t>  2  VALUES		(50, 'DEVELOPMENT', 'DETROIT');</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created.</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5496464-4E7E-4ED3-0C4F-E86FEA4B8A97}"/>
              </a:ext>
            </a:extLst>
          </p:cNvPr>
          <p:cNvSpPr>
            <a:spLocks noChangeArrowheads="1"/>
          </p:cNvSpPr>
          <p:nvPr/>
        </p:nvSpPr>
        <p:spPr bwMode="blackWhite">
          <a:xfrm>
            <a:off x="935038" y="2500313"/>
            <a:ext cx="7505700" cy="91598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6387" name="Rectangle 3">
            <a:extLst>
              <a:ext uri="{FF2B5EF4-FFF2-40B4-BE49-F238E27FC236}">
                <a16:creationId xmlns:a16="http://schemas.microsoft.com/office/drawing/2014/main" id="{A7F749AB-9B00-35BA-0DF8-2E82449A2923}"/>
              </a:ext>
            </a:extLst>
          </p:cNvPr>
          <p:cNvSpPr>
            <a:spLocks noChangeArrowheads="1"/>
          </p:cNvSpPr>
          <p:nvPr/>
        </p:nvSpPr>
        <p:spPr bwMode="blackWhite">
          <a:xfrm>
            <a:off x="923925" y="4241800"/>
            <a:ext cx="7502525" cy="9159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6388" name="Rectangle 4">
            <a:extLst>
              <a:ext uri="{FF2B5EF4-FFF2-40B4-BE49-F238E27FC236}">
                <a16:creationId xmlns:a16="http://schemas.microsoft.com/office/drawing/2014/main" id="{B43B2AB0-DD86-2410-E6AC-E83CABD26634}"/>
              </a:ext>
            </a:extLst>
          </p:cNvPr>
          <p:cNvSpPr>
            <a:spLocks noGrp="1" noChangeArrowheads="1"/>
          </p:cNvSpPr>
          <p:nvPr>
            <p:ph type="title"/>
          </p:nvPr>
        </p:nvSpPr>
        <p:spPr>
          <a:xfrm>
            <a:off x="323850" y="588963"/>
            <a:ext cx="5291138" cy="463550"/>
          </a:xfrm>
          <a:noFill/>
        </p:spPr>
        <p:txBody>
          <a:bodyPr lIns="92075" tIns="46038" rIns="92075" bIns="46038" anchor="t"/>
          <a:lstStyle/>
          <a:p>
            <a:r>
              <a:rPr lang="en-US" altLang="en-US" sz="2800">
                <a:solidFill>
                  <a:srgbClr val="800000"/>
                </a:solidFill>
              </a:rPr>
              <a:t>Inserting Rows with Null Values</a:t>
            </a:r>
          </a:p>
        </p:txBody>
      </p:sp>
      <p:sp>
        <p:nvSpPr>
          <p:cNvPr id="16389" name="Rectangle 5">
            <a:extLst>
              <a:ext uri="{FF2B5EF4-FFF2-40B4-BE49-F238E27FC236}">
                <a16:creationId xmlns:a16="http://schemas.microsoft.com/office/drawing/2014/main" id="{A693E11C-1A29-8E0F-EC13-0939E60B93A9}"/>
              </a:ext>
            </a:extLst>
          </p:cNvPr>
          <p:cNvSpPr>
            <a:spLocks noGrp="1" noChangeArrowheads="1"/>
          </p:cNvSpPr>
          <p:nvPr>
            <p:ph type="body" idx="1"/>
          </p:nvPr>
        </p:nvSpPr>
        <p:spPr>
          <a:xfrm>
            <a:off x="860425" y="1481138"/>
            <a:ext cx="7385050" cy="822325"/>
          </a:xfrm>
          <a:noFill/>
        </p:spPr>
        <p:txBody>
          <a:bodyPr lIns="92075" tIns="46038" rIns="92075" bIns="46038">
            <a:spAutoFit/>
          </a:bodyPr>
          <a:lstStyle/>
          <a:p>
            <a:pPr lvl="1"/>
            <a:r>
              <a:rPr lang="en-US" altLang="en-US"/>
              <a:t>Implicit method: Omit the column from the column list.</a:t>
            </a:r>
          </a:p>
        </p:txBody>
      </p:sp>
      <p:sp>
        <p:nvSpPr>
          <p:cNvPr id="448518" name="Rectangle 6">
            <a:extLst>
              <a:ext uri="{FF2B5EF4-FFF2-40B4-BE49-F238E27FC236}">
                <a16:creationId xmlns:a16="http://schemas.microsoft.com/office/drawing/2014/main" id="{2E7B275D-8C06-36A1-61C6-0B707BDB94EE}"/>
              </a:ext>
            </a:extLst>
          </p:cNvPr>
          <p:cNvSpPr>
            <a:spLocks noChangeArrowheads="1"/>
          </p:cNvSpPr>
          <p:nvPr/>
        </p:nvSpPr>
        <p:spPr bwMode="blackWhite">
          <a:xfrm>
            <a:off x="914400" y="2536825"/>
            <a:ext cx="7302500" cy="941388"/>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dept (deptno, dname )</a:t>
            </a:r>
          </a:p>
          <a:p>
            <a:pPr>
              <a:tabLst>
                <a:tab pos="1200150" algn="l"/>
              </a:tabLst>
              <a:defRPr/>
            </a:pPr>
            <a:r>
              <a:rPr lang="en-US" sz="1800" b="1">
                <a:solidFill>
                  <a:srgbClr val="000000"/>
                </a:solidFill>
                <a:latin typeface="Courier New" pitchFamily="49" charset="0"/>
              </a:rPr>
              <a:t>  2  VALUES		(60, 'MIS');</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created.</a:t>
            </a:r>
          </a:p>
        </p:txBody>
      </p:sp>
      <p:sp>
        <p:nvSpPr>
          <p:cNvPr id="16391" name="Rectangle 7">
            <a:extLst>
              <a:ext uri="{FF2B5EF4-FFF2-40B4-BE49-F238E27FC236}">
                <a16:creationId xmlns:a16="http://schemas.microsoft.com/office/drawing/2014/main" id="{9866D913-2076-9357-EE24-087E9EF175DC}"/>
              </a:ext>
            </a:extLst>
          </p:cNvPr>
          <p:cNvSpPr>
            <a:spLocks noChangeArrowheads="1"/>
          </p:cNvSpPr>
          <p:nvPr/>
        </p:nvSpPr>
        <p:spPr bwMode="auto">
          <a:xfrm>
            <a:off x="858838" y="3708400"/>
            <a:ext cx="738505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Explicit method: Specify the NULL keyword.</a:t>
            </a:r>
          </a:p>
        </p:txBody>
      </p:sp>
      <p:sp>
        <p:nvSpPr>
          <p:cNvPr id="448520" name="Rectangle 8">
            <a:extLst>
              <a:ext uri="{FF2B5EF4-FFF2-40B4-BE49-F238E27FC236}">
                <a16:creationId xmlns:a16="http://schemas.microsoft.com/office/drawing/2014/main" id="{AC5E828B-7654-693B-D1F8-7E6C263CA390}"/>
              </a:ext>
            </a:extLst>
          </p:cNvPr>
          <p:cNvSpPr>
            <a:spLocks noChangeArrowheads="1"/>
          </p:cNvSpPr>
          <p:nvPr/>
        </p:nvSpPr>
        <p:spPr bwMode="ltGray">
          <a:xfrm>
            <a:off x="6356350" y="2590800"/>
            <a:ext cx="141288" cy="26511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48521" name="Rectangle 9">
            <a:extLst>
              <a:ext uri="{FF2B5EF4-FFF2-40B4-BE49-F238E27FC236}">
                <a16:creationId xmlns:a16="http://schemas.microsoft.com/office/drawing/2014/main" id="{8DB164C2-AB70-6609-2763-A95A1BDE628F}"/>
              </a:ext>
            </a:extLst>
          </p:cNvPr>
          <p:cNvSpPr>
            <a:spLocks noChangeArrowheads="1"/>
          </p:cNvSpPr>
          <p:nvPr/>
        </p:nvSpPr>
        <p:spPr bwMode="ltGray">
          <a:xfrm>
            <a:off x="5895975" y="4551363"/>
            <a:ext cx="600075" cy="34607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48522" name="Rectangle 10">
            <a:extLst>
              <a:ext uri="{FF2B5EF4-FFF2-40B4-BE49-F238E27FC236}">
                <a16:creationId xmlns:a16="http://schemas.microsoft.com/office/drawing/2014/main" id="{BB2E6F35-F156-88C4-5112-A6DE246D4B39}"/>
              </a:ext>
            </a:extLst>
          </p:cNvPr>
          <p:cNvSpPr>
            <a:spLocks noChangeArrowheads="1"/>
          </p:cNvSpPr>
          <p:nvPr/>
        </p:nvSpPr>
        <p:spPr bwMode="blackWhite">
          <a:xfrm>
            <a:off x="922338" y="4221163"/>
            <a:ext cx="7299325" cy="941387"/>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dept</a:t>
            </a:r>
          </a:p>
          <a:p>
            <a:pPr>
              <a:tabLst>
                <a:tab pos="1200150" algn="l"/>
              </a:tabLst>
              <a:defRPr/>
            </a:pPr>
            <a:r>
              <a:rPr lang="en-US" sz="1800" b="1">
                <a:solidFill>
                  <a:srgbClr val="000000"/>
                </a:solidFill>
                <a:latin typeface="Courier New" pitchFamily="49" charset="0"/>
              </a:rPr>
              <a:t>  2  VALUES		(70, 'FINANCE', NULL);</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created.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48520"/>
                                        </p:tgtEl>
                                        <p:attrNameLst>
                                          <p:attrName>style.visibility</p:attrName>
                                        </p:attrNameLst>
                                      </p:cBhvr>
                                      <p:to>
                                        <p:strVal val="visible"/>
                                      </p:to>
                                    </p:set>
                                    <p:animEffect transition="in" filter="wipe(up)">
                                      <p:cBhvr>
                                        <p:cTn id="7" dur="500"/>
                                        <p:tgtEl>
                                          <p:spTgt spid="448520"/>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48521"/>
                                        </p:tgtEl>
                                        <p:attrNameLst>
                                          <p:attrName>style.visibility</p:attrName>
                                        </p:attrNameLst>
                                      </p:cBhvr>
                                      <p:to>
                                        <p:strVal val="visible"/>
                                      </p:to>
                                    </p:set>
                                    <p:animEffect transition="in" filter="wipe(up)">
                                      <p:cBhvr>
                                        <p:cTn id="11" dur="500"/>
                                        <p:tgtEl>
                                          <p:spTgt spid="448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20" grpId="0" animBg="1"/>
      <p:bldP spid="4485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369B2FC7-6F21-945A-3D39-9CEC24EE2376}"/>
              </a:ext>
            </a:extLst>
          </p:cNvPr>
          <p:cNvSpPr>
            <a:spLocks noChangeArrowheads="1"/>
          </p:cNvSpPr>
          <p:nvPr/>
        </p:nvSpPr>
        <p:spPr bwMode="blackWhite">
          <a:xfrm>
            <a:off x="762521" y="1412255"/>
            <a:ext cx="7481887" cy="208280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8435" name="Rectangle 3">
            <a:extLst>
              <a:ext uri="{FF2B5EF4-FFF2-40B4-BE49-F238E27FC236}">
                <a16:creationId xmlns:a16="http://schemas.microsoft.com/office/drawing/2014/main" id="{D6C58FFD-50F9-57F5-9838-EBD48A5D61FA}"/>
              </a:ext>
            </a:extLst>
          </p:cNvPr>
          <p:cNvSpPr>
            <a:spLocks noGrp="1" noChangeArrowheads="1"/>
          </p:cNvSpPr>
          <p:nvPr>
            <p:ph type="title"/>
          </p:nvPr>
        </p:nvSpPr>
        <p:spPr>
          <a:xfrm>
            <a:off x="360363" y="588963"/>
            <a:ext cx="4067175" cy="536575"/>
          </a:xfrm>
          <a:noFill/>
        </p:spPr>
        <p:txBody>
          <a:bodyPr lIns="92075" tIns="46038" rIns="92075" bIns="46038" anchor="t"/>
          <a:lstStyle/>
          <a:p>
            <a:r>
              <a:rPr lang="en-US" altLang="en-US" sz="2800">
                <a:solidFill>
                  <a:srgbClr val="800000"/>
                </a:solidFill>
              </a:rPr>
              <a:t>Inserting Special Values</a:t>
            </a:r>
          </a:p>
        </p:txBody>
      </p:sp>
      <p:sp>
        <p:nvSpPr>
          <p:cNvPr id="450567" name="Rectangle 7">
            <a:extLst>
              <a:ext uri="{FF2B5EF4-FFF2-40B4-BE49-F238E27FC236}">
                <a16:creationId xmlns:a16="http://schemas.microsoft.com/office/drawing/2014/main" id="{A55DA4F4-0452-3A2D-E202-859B89654EC1}"/>
              </a:ext>
            </a:extLst>
          </p:cNvPr>
          <p:cNvSpPr>
            <a:spLocks noChangeArrowheads="1"/>
          </p:cNvSpPr>
          <p:nvPr/>
        </p:nvSpPr>
        <p:spPr bwMode="blackWhite">
          <a:xfrm>
            <a:off x="827782" y="1392808"/>
            <a:ext cx="7313613" cy="2108200"/>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SQL&gt; INSERT INTO	</a:t>
            </a:r>
            <a:r>
              <a:rPr lang="en-US" sz="1800" b="1" dirty="0" err="1">
                <a:solidFill>
                  <a:srgbClr val="000000"/>
                </a:solidFill>
                <a:latin typeface="Courier New" pitchFamily="49" charset="0"/>
              </a:rPr>
              <a:t>emp</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empno</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ename</a:t>
            </a:r>
            <a:r>
              <a:rPr lang="en-US" sz="1800" b="1" dirty="0">
                <a:solidFill>
                  <a:srgbClr val="000000"/>
                </a:solidFill>
                <a:latin typeface="Courier New" pitchFamily="49" charset="0"/>
              </a:rPr>
              <a:t>, job,</a:t>
            </a:r>
          </a:p>
          <a:p>
            <a:pPr>
              <a:tabLst>
                <a:tab pos="1200150" algn="l"/>
              </a:tabLst>
              <a:defRPr/>
            </a:pPr>
            <a:r>
              <a:rPr lang="en-US" sz="1800" b="1" dirty="0">
                <a:solidFill>
                  <a:srgbClr val="000000"/>
                </a:solidFill>
                <a:latin typeface="Courier New" pitchFamily="49" charset="0"/>
              </a:rPr>
              <a:t>  			</a:t>
            </a:r>
            <a:r>
              <a:rPr lang="en-US" sz="1800" b="1" dirty="0" err="1">
                <a:solidFill>
                  <a:srgbClr val="000000"/>
                </a:solidFill>
                <a:latin typeface="Courier New" pitchFamily="49" charset="0"/>
              </a:rPr>
              <a:t>mgr</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hiredate</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sal</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comm</a:t>
            </a:r>
            <a:r>
              <a:rPr lang="en-US" sz="1800" b="1" dirty="0">
                <a:solidFill>
                  <a:srgbClr val="000000"/>
                </a:solidFill>
                <a:latin typeface="Courier New" pitchFamily="49" charset="0"/>
              </a:rPr>
              <a:t>, </a:t>
            </a:r>
            <a:r>
              <a:rPr lang="en-US" sz="1800" b="1" dirty="0" err="1">
                <a:solidFill>
                  <a:srgbClr val="000000"/>
                </a:solidFill>
                <a:latin typeface="Courier New" pitchFamily="49" charset="0"/>
              </a:rPr>
              <a:t>deptno</a:t>
            </a:r>
            <a:r>
              <a:rPr lang="en-US" sz="1800" b="1" dirty="0">
                <a:solidFill>
                  <a:srgbClr val="000000"/>
                </a:solidFill>
                <a:latin typeface="Courier New" pitchFamily="49" charset="0"/>
              </a:rPr>
              <a:t>)</a:t>
            </a:r>
          </a:p>
          <a:p>
            <a:pPr>
              <a:tabLst>
                <a:tab pos="1200150" algn="l"/>
              </a:tabLst>
              <a:defRPr/>
            </a:pPr>
            <a:r>
              <a:rPr lang="en-US" sz="1800" b="1" dirty="0">
                <a:solidFill>
                  <a:srgbClr val="000000"/>
                </a:solidFill>
                <a:latin typeface="Courier New" pitchFamily="49" charset="0"/>
              </a:rPr>
              <a:t>      VALUES		(7196, 'GREEN', 'SALESMAN',</a:t>
            </a:r>
          </a:p>
          <a:p>
            <a:pPr>
              <a:tabLst>
                <a:tab pos="1200150" algn="l"/>
              </a:tabLst>
              <a:defRPr/>
            </a:pPr>
            <a:r>
              <a:rPr lang="en-US" sz="1800" b="1" dirty="0">
                <a:solidFill>
                  <a:srgbClr val="000000"/>
                </a:solidFill>
                <a:latin typeface="Courier New" pitchFamily="49" charset="0"/>
              </a:rPr>
              <a:t>  			7782, </a:t>
            </a:r>
            <a:r>
              <a:rPr lang="en-US" sz="1800" b="1" dirty="0">
                <a:solidFill>
                  <a:srgbClr val="FF0000"/>
                </a:solidFill>
                <a:latin typeface="Courier New" pitchFamily="49" charset="0"/>
              </a:rPr>
              <a:t>SYSDATE, DEFAULT, NULL,</a:t>
            </a:r>
            <a:r>
              <a:rPr lang="en-US" sz="1800" b="1" dirty="0">
                <a:solidFill>
                  <a:srgbClr val="000000"/>
                </a:solidFill>
                <a:latin typeface="Courier New" pitchFamily="49" charset="0"/>
              </a:rPr>
              <a:t>10);</a:t>
            </a:r>
          </a:p>
          <a:p>
            <a:pPr>
              <a:tabLst>
                <a:tab pos="1200150" algn="l"/>
              </a:tabLst>
              <a:defRPr/>
            </a:pPr>
            <a:r>
              <a:rPr lang="en-US" sz="1800" b="1" dirty="0">
                <a:solidFill>
                  <a:srgbClr val="FF3300"/>
                </a:solidFill>
                <a:effectLst>
                  <a:outerShdw blurRad="38100" dist="38100" dir="2700000" algn="tl">
                    <a:srgbClr val="000000"/>
                  </a:outerShdw>
                </a:effectLst>
                <a:latin typeface="Courier New" pitchFamily="49" charset="0"/>
              </a:rPr>
              <a:t>1 row created.</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5738EFD-1D3A-9E67-A325-0410097A10DC}"/>
              </a:ext>
            </a:extLst>
          </p:cNvPr>
          <p:cNvSpPr>
            <a:spLocks noChangeArrowheads="1"/>
          </p:cNvSpPr>
          <p:nvPr/>
        </p:nvSpPr>
        <p:spPr bwMode="blackWhite">
          <a:xfrm>
            <a:off x="917575" y="2092325"/>
            <a:ext cx="7623175" cy="14652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0483" name="Rectangle 3">
            <a:extLst>
              <a:ext uri="{FF2B5EF4-FFF2-40B4-BE49-F238E27FC236}">
                <a16:creationId xmlns:a16="http://schemas.microsoft.com/office/drawing/2014/main" id="{4BCC0A97-773E-B690-04D7-485AB1446B86}"/>
              </a:ext>
            </a:extLst>
          </p:cNvPr>
          <p:cNvSpPr>
            <a:spLocks noChangeArrowheads="1"/>
          </p:cNvSpPr>
          <p:nvPr/>
        </p:nvSpPr>
        <p:spPr bwMode="blackWhite">
          <a:xfrm>
            <a:off x="923925" y="4467225"/>
            <a:ext cx="7635875" cy="86042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20484" name="Rectangle 4">
            <a:extLst>
              <a:ext uri="{FF2B5EF4-FFF2-40B4-BE49-F238E27FC236}">
                <a16:creationId xmlns:a16="http://schemas.microsoft.com/office/drawing/2014/main" id="{A116B1F2-20C7-CD1E-1BA3-B82D0E7C5A79}"/>
              </a:ext>
            </a:extLst>
          </p:cNvPr>
          <p:cNvSpPr>
            <a:spLocks noGrp="1" noChangeArrowheads="1"/>
          </p:cNvSpPr>
          <p:nvPr>
            <p:ph type="title"/>
          </p:nvPr>
        </p:nvSpPr>
        <p:spPr>
          <a:xfrm>
            <a:off x="323850" y="620713"/>
            <a:ext cx="5002213" cy="536575"/>
          </a:xfrm>
          <a:noFill/>
        </p:spPr>
        <p:txBody>
          <a:bodyPr lIns="92075" tIns="46038" rIns="92075" bIns="46038" anchor="t"/>
          <a:lstStyle/>
          <a:p>
            <a:r>
              <a:rPr lang="en-US" altLang="en-US" sz="2800">
                <a:solidFill>
                  <a:srgbClr val="800000"/>
                </a:solidFill>
              </a:rPr>
              <a:t>Inserting Specific Date Values</a:t>
            </a:r>
          </a:p>
        </p:txBody>
      </p:sp>
      <p:sp>
        <p:nvSpPr>
          <p:cNvPr id="20485" name="Rectangle 5">
            <a:extLst>
              <a:ext uri="{FF2B5EF4-FFF2-40B4-BE49-F238E27FC236}">
                <a16:creationId xmlns:a16="http://schemas.microsoft.com/office/drawing/2014/main" id="{142E76C5-CCE7-6120-9CC2-7B02B9381920}"/>
              </a:ext>
            </a:extLst>
          </p:cNvPr>
          <p:cNvSpPr>
            <a:spLocks noGrp="1" noChangeArrowheads="1"/>
          </p:cNvSpPr>
          <p:nvPr>
            <p:ph type="body" idx="1"/>
          </p:nvPr>
        </p:nvSpPr>
        <p:spPr>
          <a:xfrm>
            <a:off x="860425" y="1566863"/>
            <a:ext cx="7385050" cy="457200"/>
          </a:xfrm>
          <a:noFill/>
        </p:spPr>
        <p:txBody>
          <a:bodyPr lIns="92075" tIns="46038" rIns="92075" bIns="46038">
            <a:spAutoFit/>
          </a:bodyPr>
          <a:lstStyle/>
          <a:p>
            <a:pPr lvl="1"/>
            <a:r>
              <a:rPr lang="en-US" altLang="en-US"/>
              <a:t>Add a new employee.</a:t>
            </a:r>
          </a:p>
        </p:txBody>
      </p:sp>
      <p:sp>
        <p:nvSpPr>
          <p:cNvPr id="452614" name="Rectangle 6">
            <a:extLst>
              <a:ext uri="{FF2B5EF4-FFF2-40B4-BE49-F238E27FC236}">
                <a16:creationId xmlns:a16="http://schemas.microsoft.com/office/drawing/2014/main" id="{C65AA2E9-A1C2-B10A-F950-B20041BD70FE}"/>
              </a:ext>
            </a:extLst>
          </p:cNvPr>
          <p:cNvSpPr>
            <a:spLocks noChangeArrowheads="1"/>
          </p:cNvSpPr>
          <p:nvPr/>
        </p:nvSpPr>
        <p:spPr bwMode="ltGray">
          <a:xfrm>
            <a:off x="3275013" y="2649538"/>
            <a:ext cx="4619625" cy="32543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2615" name="Rectangle 7">
            <a:extLst>
              <a:ext uri="{FF2B5EF4-FFF2-40B4-BE49-F238E27FC236}">
                <a16:creationId xmlns:a16="http://schemas.microsoft.com/office/drawing/2014/main" id="{F8ED83A3-DD42-921E-0567-F24744B1B026}"/>
              </a:ext>
            </a:extLst>
          </p:cNvPr>
          <p:cNvSpPr>
            <a:spLocks noChangeArrowheads="1"/>
          </p:cNvSpPr>
          <p:nvPr/>
        </p:nvSpPr>
        <p:spPr bwMode="ltGray">
          <a:xfrm>
            <a:off x="4829175" y="4498975"/>
            <a:ext cx="1319213" cy="77311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2616" name="Rectangle 8">
            <a:extLst>
              <a:ext uri="{FF2B5EF4-FFF2-40B4-BE49-F238E27FC236}">
                <a16:creationId xmlns:a16="http://schemas.microsoft.com/office/drawing/2014/main" id="{AF0A5AEB-90D3-9F96-9048-96BBF5346652}"/>
              </a:ext>
            </a:extLst>
          </p:cNvPr>
          <p:cNvSpPr>
            <a:spLocks noChangeArrowheads="1"/>
          </p:cNvSpPr>
          <p:nvPr/>
        </p:nvSpPr>
        <p:spPr bwMode="blackWhite">
          <a:xfrm>
            <a:off x="896938" y="2071688"/>
            <a:ext cx="7542212" cy="1490662"/>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emp</a:t>
            </a:r>
          </a:p>
          <a:p>
            <a:pPr>
              <a:tabLst>
                <a:tab pos="1200150" algn="l"/>
              </a:tabLst>
              <a:defRPr/>
            </a:pPr>
            <a:r>
              <a:rPr lang="en-US" sz="1800" b="1">
                <a:solidFill>
                  <a:srgbClr val="000000"/>
                </a:solidFill>
                <a:latin typeface="Courier New" pitchFamily="49" charset="0"/>
              </a:rPr>
              <a:t>  2  VALUES      (2296,'AROMANO','SALESMAN',7782,</a:t>
            </a:r>
          </a:p>
          <a:p>
            <a:pPr>
              <a:tabLst>
                <a:tab pos="1200150" algn="l"/>
              </a:tabLst>
              <a:defRPr/>
            </a:pPr>
            <a:r>
              <a:rPr lang="en-US" sz="1800" b="1">
                <a:solidFill>
                  <a:srgbClr val="000000"/>
                </a:solidFill>
                <a:latin typeface="Courier New" pitchFamily="49" charset="0"/>
              </a:rPr>
              <a:t>  3		    TO_DATE('FEB 3, 97', 'MON DD, YY'),</a:t>
            </a:r>
          </a:p>
          <a:p>
            <a:pPr>
              <a:tabLst>
                <a:tab pos="1200150" algn="l"/>
              </a:tabLst>
              <a:defRPr/>
            </a:pPr>
            <a:r>
              <a:rPr lang="en-US" sz="1800" b="1">
                <a:solidFill>
                  <a:srgbClr val="000000"/>
                </a:solidFill>
                <a:latin typeface="Courier New" pitchFamily="49" charset="0"/>
              </a:rPr>
              <a:t>  4		    1300, NULL, 10);</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created.</a:t>
            </a:r>
          </a:p>
        </p:txBody>
      </p:sp>
      <p:sp>
        <p:nvSpPr>
          <p:cNvPr id="20489" name="Rectangle 9">
            <a:extLst>
              <a:ext uri="{FF2B5EF4-FFF2-40B4-BE49-F238E27FC236}">
                <a16:creationId xmlns:a16="http://schemas.microsoft.com/office/drawing/2014/main" id="{DE91FF98-88F2-7119-9EA5-CE71B9E6F9C2}"/>
              </a:ext>
            </a:extLst>
          </p:cNvPr>
          <p:cNvSpPr>
            <a:spLocks noChangeArrowheads="1"/>
          </p:cNvSpPr>
          <p:nvPr/>
        </p:nvSpPr>
        <p:spPr bwMode="auto">
          <a:xfrm>
            <a:off x="850900" y="3930650"/>
            <a:ext cx="738505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42900" indent="-342900" defTabSz="346075">
              <a:spcBef>
                <a:spcPct val="20000"/>
              </a:spcBef>
              <a:buChar char="•"/>
              <a:tabLst>
                <a:tab pos="571500" algn="l"/>
              </a:tabLst>
              <a:defRPr sz="2800">
                <a:solidFill>
                  <a:schemeClr val="tx1"/>
                </a:solidFill>
                <a:latin typeface="Arial" panose="020B0604020202020204" pitchFamily="34" charset="0"/>
              </a:defRPr>
            </a:lvl1pPr>
            <a:lvl2pPr marL="341313" indent="-227013" defTabSz="346075">
              <a:spcBef>
                <a:spcPct val="20000"/>
              </a:spcBef>
              <a:buChar char="–"/>
              <a:tabLst>
                <a:tab pos="571500" algn="l"/>
              </a:tabLst>
              <a:defRPr sz="2400">
                <a:solidFill>
                  <a:schemeClr val="tx1"/>
                </a:solidFill>
                <a:latin typeface="Arial" panose="020B0604020202020204" pitchFamily="34" charset="0"/>
              </a:defRPr>
            </a:lvl2pPr>
            <a:lvl3pPr marL="1143000" indent="-228600" defTabSz="346075">
              <a:spcBef>
                <a:spcPct val="20000"/>
              </a:spcBef>
              <a:buChar char="•"/>
              <a:tabLst>
                <a:tab pos="571500" algn="l"/>
              </a:tabLst>
              <a:defRPr sz="2000">
                <a:solidFill>
                  <a:schemeClr val="tx1"/>
                </a:solidFill>
                <a:latin typeface="Arial" panose="020B0604020202020204" pitchFamily="34" charset="0"/>
              </a:defRPr>
            </a:lvl3pPr>
            <a:lvl4pPr marL="1600200" indent="-228600" defTabSz="346075">
              <a:spcBef>
                <a:spcPct val="20000"/>
              </a:spcBef>
              <a:buChar char="–"/>
              <a:tabLst>
                <a:tab pos="571500" algn="l"/>
              </a:tabLst>
              <a:defRPr sz="2000">
                <a:solidFill>
                  <a:schemeClr val="tx1"/>
                </a:solidFill>
                <a:latin typeface="Arial" panose="020B0604020202020204" pitchFamily="34" charset="0"/>
              </a:defRPr>
            </a:lvl4pPr>
            <a:lvl5pPr marL="2057400" indent="-228600" defTabSz="346075">
              <a:spcBef>
                <a:spcPct val="20000"/>
              </a:spcBef>
              <a:buChar char="»"/>
              <a:tabLst>
                <a:tab pos="571500" algn="l"/>
              </a:tabLst>
              <a:defRPr sz="2000">
                <a:solidFill>
                  <a:schemeClr val="tx1"/>
                </a:solidFill>
                <a:latin typeface="Arial" panose="020B0604020202020204" pitchFamily="34" charset="0"/>
              </a:defRPr>
            </a:lvl5pPr>
            <a:lvl6pPr marL="25146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6pPr>
            <a:lvl7pPr marL="29718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7pPr>
            <a:lvl8pPr marL="34290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8pPr>
            <a:lvl9pPr marL="3886200" indent="-228600" defTabSz="346075" eaLnBrk="0" fontAlgn="base" hangingPunct="0">
              <a:spcBef>
                <a:spcPct val="20000"/>
              </a:spcBef>
              <a:spcAft>
                <a:spcPct val="0"/>
              </a:spcAft>
              <a:buChar char="»"/>
              <a:tabLst>
                <a:tab pos="571500" algn="l"/>
              </a:tabLst>
              <a:defRPr sz="2000">
                <a:solidFill>
                  <a:schemeClr val="tx1"/>
                </a:solidFill>
                <a:latin typeface="Arial" panose="020B0604020202020204" pitchFamily="34" charset="0"/>
              </a:defRPr>
            </a:lvl9pPr>
          </a:lstStyle>
          <a:p>
            <a:pPr lvl="1">
              <a:lnSpc>
                <a:spcPct val="95000"/>
              </a:lnSpc>
              <a:spcBef>
                <a:spcPct val="35000"/>
              </a:spcBef>
              <a:buClr>
                <a:srgbClr val="FFCC66"/>
              </a:buClr>
              <a:buFontTx/>
              <a:buChar char="•"/>
            </a:pPr>
            <a:r>
              <a:rPr lang="en-US" altLang="en-US"/>
              <a:t>Verify your addition.</a:t>
            </a:r>
          </a:p>
        </p:txBody>
      </p:sp>
      <p:sp>
        <p:nvSpPr>
          <p:cNvPr id="20490" name="Rectangle 10">
            <a:extLst>
              <a:ext uri="{FF2B5EF4-FFF2-40B4-BE49-F238E27FC236}">
                <a16:creationId xmlns:a16="http://schemas.microsoft.com/office/drawing/2014/main" id="{E288B60C-8CC8-880E-3DA1-67D477C0004E}"/>
              </a:ext>
            </a:extLst>
          </p:cNvPr>
          <p:cNvSpPr>
            <a:spLocks noChangeArrowheads="1"/>
          </p:cNvSpPr>
          <p:nvPr/>
        </p:nvSpPr>
        <p:spPr bwMode="blackWhite">
          <a:xfrm>
            <a:off x="928688" y="4471988"/>
            <a:ext cx="77597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EMPNO ENAME   JOB      MGR   HIREDATE  SAL COMM DEPTNO</a:t>
            </a:r>
          </a:p>
          <a:p>
            <a:pPr>
              <a:spcBef>
                <a:spcPct val="0"/>
              </a:spcBef>
              <a:buFontTx/>
              <a:buNone/>
            </a:pPr>
            <a:r>
              <a:rPr lang="en-US" altLang="en-US" sz="1800" b="1">
                <a:solidFill>
                  <a:srgbClr val="000000"/>
                </a:solidFill>
                <a:latin typeface="Courier New" panose="02070309020205020404" pitchFamily="49" charset="0"/>
              </a:rPr>
              <a:t>----- ------- -------- ---- --------- ---- ---- ------</a:t>
            </a:r>
          </a:p>
          <a:p>
            <a:pPr>
              <a:spcBef>
                <a:spcPct val="0"/>
              </a:spcBef>
              <a:buFontTx/>
              <a:buNone/>
            </a:pPr>
            <a:r>
              <a:rPr lang="en-US" altLang="en-US" sz="1800" b="1">
                <a:solidFill>
                  <a:srgbClr val="000000"/>
                </a:solidFill>
                <a:latin typeface="Courier New" panose="02070309020205020404" pitchFamily="49" charset="0"/>
              </a:rPr>
              <a:t> 2296 AROMANO SALESMAN 7782 03-FEB-97 1300          10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52614"/>
                                        </p:tgtEl>
                                        <p:attrNameLst>
                                          <p:attrName>style.visibility</p:attrName>
                                        </p:attrNameLst>
                                      </p:cBhvr>
                                      <p:to>
                                        <p:strVal val="visible"/>
                                      </p:to>
                                    </p:set>
                                    <p:animEffect transition="in" filter="wipe(up)">
                                      <p:cBhvr>
                                        <p:cTn id="7" dur="500"/>
                                        <p:tgtEl>
                                          <p:spTgt spid="452614"/>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52615"/>
                                        </p:tgtEl>
                                        <p:attrNameLst>
                                          <p:attrName>style.visibility</p:attrName>
                                        </p:attrNameLst>
                                      </p:cBhvr>
                                      <p:to>
                                        <p:strVal val="visible"/>
                                      </p:to>
                                    </p:set>
                                    <p:animEffect transition="in" filter="wipe(up)">
                                      <p:cBhvr>
                                        <p:cTn id="11" dur="500"/>
                                        <p:tgtEl>
                                          <p:spTgt spid="452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4" grpId="0" animBg="1"/>
      <p:bldP spid="4526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936CBFA-EB50-CD65-49FE-70C3AAE3C6E2}"/>
              </a:ext>
            </a:extLst>
          </p:cNvPr>
          <p:cNvSpPr>
            <a:spLocks noChangeArrowheads="1"/>
          </p:cNvSpPr>
          <p:nvPr/>
        </p:nvSpPr>
        <p:spPr bwMode="blackWhite">
          <a:xfrm>
            <a:off x="915988" y="2838450"/>
            <a:ext cx="7510462" cy="1530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26627" name="Rectangle 3">
            <a:extLst>
              <a:ext uri="{FF2B5EF4-FFF2-40B4-BE49-F238E27FC236}">
                <a16:creationId xmlns:a16="http://schemas.microsoft.com/office/drawing/2014/main" id="{229DA6D7-1F15-5402-7C6D-347BEAFFEE08}"/>
              </a:ext>
            </a:extLst>
          </p:cNvPr>
          <p:cNvSpPr>
            <a:spLocks noGrp="1" noChangeArrowheads="1"/>
          </p:cNvSpPr>
          <p:nvPr>
            <p:ph type="title"/>
          </p:nvPr>
        </p:nvSpPr>
        <p:spPr>
          <a:noFill/>
        </p:spPr>
        <p:txBody>
          <a:bodyPr lIns="92075" tIns="46038" rIns="92075" bIns="46038" anchor="t"/>
          <a:lstStyle/>
          <a:p>
            <a:r>
              <a:rPr lang="en-US" altLang="en-US" sz="2800">
                <a:solidFill>
                  <a:srgbClr val="800000"/>
                </a:solidFill>
              </a:rPr>
              <a:t>Copying Rows </a:t>
            </a:r>
            <a:br>
              <a:rPr lang="en-US" altLang="en-US" sz="2800">
                <a:solidFill>
                  <a:srgbClr val="800000"/>
                </a:solidFill>
              </a:rPr>
            </a:br>
            <a:r>
              <a:rPr lang="en-US" altLang="en-US" sz="2800">
                <a:solidFill>
                  <a:srgbClr val="800000"/>
                </a:solidFill>
              </a:rPr>
              <a:t>from Another Table</a:t>
            </a:r>
          </a:p>
        </p:txBody>
      </p:sp>
      <p:sp>
        <p:nvSpPr>
          <p:cNvPr id="26628" name="Rectangle 4">
            <a:extLst>
              <a:ext uri="{FF2B5EF4-FFF2-40B4-BE49-F238E27FC236}">
                <a16:creationId xmlns:a16="http://schemas.microsoft.com/office/drawing/2014/main" id="{28DBF491-24C0-6CD5-086C-F8E939346FE7}"/>
              </a:ext>
            </a:extLst>
          </p:cNvPr>
          <p:cNvSpPr>
            <a:spLocks noGrp="1" noChangeArrowheads="1"/>
          </p:cNvSpPr>
          <p:nvPr>
            <p:ph type="body" idx="1"/>
          </p:nvPr>
        </p:nvSpPr>
        <p:spPr>
          <a:xfrm>
            <a:off x="860425" y="1795463"/>
            <a:ext cx="7385050" cy="3962400"/>
          </a:xfrm>
          <a:noFill/>
        </p:spPr>
        <p:txBody>
          <a:bodyPr lIns="92075" tIns="46038" rIns="92075" bIns="46038">
            <a:spAutoFit/>
          </a:bodyPr>
          <a:lstStyle/>
          <a:p>
            <a:pPr lvl="1"/>
            <a:r>
              <a:rPr lang="en-US" altLang="en-US"/>
              <a:t>Write your INSERT statement with a subquery.</a:t>
            </a:r>
            <a:br>
              <a:rPr lang="en-US" altLang="en-US"/>
            </a:br>
            <a:br>
              <a:rPr lang="en-US" altLang="en-US"/>
            </a:br>
            <a:br>
              <a:rPr lang="en-US" altLang="en-US"/>
            </a:br>
            <a:br>
              <a:rPr lang="en-US" altLang="en-US"/>
            </a:br>
            <a:br>
              <a:rPr lang="en-US" altLang="en-US"/>
            </a:br>
            <a:endParaRPr lang="en-US" altLang="en-US"/>
          </a:p>
          <a:p>
            <a:pPr lvl="1"/>
            <a:endParaRPr lang="en-US" altLang="en-US"/>
          </a:p>
          <a:p>
            <a:pPr lvl="1"/>
            <a:r>
              <a:rPr lang="en-US" altLang="en-US"/>
              <a:t>Do not use the VALUES clause.</a:t>
            </a:r>
          </a:p>
          <a:p>
            <a:pPr lvl="1"/>
            <a:r>
              <a:rPr lang="en-US" altLang="en-US"/>
              <a:t>Match the number of columns in the INSERT clause to those in the subquery.</a:t>
            </a:r>
          </a:p>
        </p:txBody>
      </p:sp>
      <p:sp>
        <p:nvSpPr>
          <p:cNvPr id="26629" name="Rectangle 5">
            <a:extLst>
              <a:ext uri="{FF2B5EF4-FFF2-40B4-BE49-F238E27FC236}">
                <a16:creationId xmlns:a16="http://schemas.microsoft.com/office/drawing/2014/main" id="{C3E02644-0EB1-5383-A670-BA58BD25424F}"/>
              </a:ext>
            </a:extLst>
          </p:cNvPr>
          <p:cNvSpPr>
            <a:spLocks noChangeArrowheads="1"/>
          </p:cNvSpPr>
          <p:nvPr/>
        </p:nvSpPr>
        <p:spPr bwMode="auto">
          <a:xfrm>
            <a:off x="3695700" y="3219450"/>
            <a:ext cx="4686300" cy="876300"/>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58758" name="Rectangle 6">
            <a:extLst>
              <a:ext uri="{FF2B5EF4-FFF2-40B4-BE49-F238E27FC236}">
                <a16:creationId xmlns:a16="http://schemas.microsoft.com/office/drawing/2014/main" id="{72DE3970-2C34-CB68-CCC3-BE993DFDFEC7}"/>
              </a:ext>
            </a:extLst>
          </p:cNvPr>
          <p:cNvSpPr>
            <a:spLocks noChangeArrowheads="1"/>
          </p:cNvSpPr>
          <p:nvPr/>
        </p:nvSpPr>
        <p:spPr bwMode="blackWhite">
          <a:xfrm>
            <a:off x="903288" y="2825750"/>
            <a:ext cx="7535862" cy="160972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INSERT INTO managers(id, name, salary, hiredate)</a:t>
            </a:r>
          </a:p>
          <a:p>
            <a:pPr>
              <a:tabLst>
                <a:tab pos="1200150" algn="l"/>
              </a:tabLst>
              <a:defRPr/>
            </a:pPr>
            <a:r>
              <a:rPr lang="en-US" sz="1800" b="1">
                <a:solidFill>
                  <a:srgbClr val="000000"/>
                </a:solidFill>
                <a:latin typeface="Courier New" pitchFamily="49" charset="0"/>
              </a:rPr>
              <a:t>  2          		SELECT	empno, ename, sal, hiredate</a:t>
            </a:r>
          </a:p>
          <a:p>
            <a:pPr>
              <a:tabLst>
                <a:tab pos="1200150" algn="l"/>
              </a:tabLst>
              <a:defRPr/>
            </a:pPr>
            <a:r>
              <a:rPr lang="en-US" sz="1800" b="1">
                <a:solidFill>
                  <a:srgbClr val="000000"/>
                </a:solidFill>
                <a:latin typeface="Courier New" pitchFamily="49" charset="0"/>
              </a:rPr>
              <a:t>  3          		FROM   emp</a:t>
            </a:r>
          </a:p>
          <a:p>
            <a:pPr>
              <a:tabLst>
                <a:tab pos="1200150" algn="l"/>
              </a:tabLst>
              <a:defRPr/>
            </a:pPr>
            <a:r>
              <a:rPr lang="en-US" sz="1800" b="1">
                <a:solidFill>
                  <a:srgbClr val="000000"/>
                </a:solidFill>
                <a:latin typeface="Courier New" pitchFamily="49" charset="0"/>
              </a:rPr>
              <a:t>  4          		WHERE	job = 'MANAGER';</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3 rows created.</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350F4-AF0E-53BD-F9A6-C73235A634E7}"/>
            </a:ext>
          </a:extLst>
        </p:cNvPr>
        <p:cNvGrpSpPr/>
        <p:nvPr/>
      </p:nvGrpSpPr>
      <p:grpSpPr>
        <a:xfrm>
          <a:off x="0" y="0"/>
          <a:ext cx="0" cy="0"/>
          <a:chOff x="0" y="0"/>
          <a:chExt cx="0" cy="0"/>
        </a:xfrm>
      </p:grpSpPr>
      <p:sp>
        <p:nvSpPr>
          <p:cNvPr id="18435" name="Rectangle 3">
            <a:extLst>
              <a:ext uri="{FF2B5EF4-FFF2-40B4-BE49-F238E27FC236}">
                <a16:creationId xmlns:a16="http://schemas.microsoft.com/office/drawing/2014/main" id="{AEB872DD-CB95-FBBA-A6E1-1F8FD4F5F7B3}"/>
              </a:ext>
            </a:extLst>
          </p:cNvPr>
          <p:cNvSpPr>
            <a:spLocks noGrp="1" noChangeArrowheads="1"/>
          </p:cNvSpPr>
          <p:nvPr>
            <p:ph type="title"/>
          </p:nvPr>
        </p:nvSpPr>
        <p:spPr>
          <a:xfrm>
            <a:off x="360363" y="588963"/>
            <a:ext cx="4067175" cy="536575"/>
          </a:xfrm>
          <a:noFill/>
        </p:spPr>
        <p:txBody>
          <a:bodyPr lIns="92075" tIns="46038" rIns="92075" bIns="46038" anchor="t"/>
          <a:lstStyle/>
          <a:p>
            <a:r>
              <a:rPr lang="en-US" altLang="en-US" sz="2800" dirty="0">
                <a:solidFill>
                  <a:srgbClr val="800000"/>
                </a:solidFill>
              </a:rPr>
              <a:t>INSERT ALL Statement</a:t>
            </a:r>
          </a:p>
        </p:txBody>
      </p:sp>
      <p:sp>
        <p:nvSpPr>
          <p:cNvPr id="18436" name="Rectangle 4">
            <a:extLst>
              <a:ext uri="{FF2B5EF4-FFF2-40B4-BE49-F238E27FC236}">
                <a16:creationId xmlns:a16="http://schemas.microsoft.com/office/drawing/2014/main" id="{3F28AB48-798C-670E-97D8-45F8F7AE343E}"/>
              </a:ext>
            </a:extLst>
          </p:cNvPr>
          <p:cNvSpPr>
            <a:spLocks noGrp="1" noChangeArrowheads="1"/>
          </p:cNvSpPr>
          <p:nvPr>
            <p:ph type="body" idx="1"/>
          </p:nvPr>
        </p:nvSpPr>
        <p:spPr>
          <a:xfrm>
            <a:off x="467544" y="3029409"/>
            <a:ext cx="8208912" cy="831639"/>
          </a:xfrm>
          <a:noFill/>
        </p:spPr>
        <p:txBody>
          <a:bodyPr wrap="square" lIns="92075" tIns="46038" rIns="92075" bIns="46038">
            <a:spAutoFit/>
          </a:bodyPr>
          <a:lstStyle/>
          <a:p>
            <a:r>
              <a:rPr lang="en-US" altLang="en-US" sz="2400" dirty="0"/>
              <a:t>Each value expression val1, val2, or val3, … must refer to a column returned by the select list of the subquery.</a:t>
            </a:r>
          </a:p>
        </p:txBody>
      </p:sp>
      <p:sp>
        <p:nvSpPr>
          <p:cNvPr id="2" name="Rectangle 2">
            <a:extLst>
              <a:ext uri="{FF2B5EF4-FFF2-40B4-BE49-F238E27FC236}">
                <a16:creationId xmlns:a16="http://schemas.microsoft.com/office/drawing/2014/main" id="{D37EB0D7-A12C-CF77-9CCF-3248FD437E87}"/>
              </a:ext>
            </a:extLst>
          </p:cNvPr>
          <p:cNvSpPr>
            <a:spLocks noChangeArrowheads="1"/>
          </p:cNvSpPr>
          <p:nvPr/>
        </p:nvSpPr>
        <p:spPr bwMode="blackWhite">
          <a:xfrm>
            <a:off x="539552" y="1246852"/>
            <a:ext cx="7970986" cy="1606084"/>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 name="Rectangle 7">
            <a:extLst>
              <a:ext uri="{FF2B5EF4-FFF2-40B4-BE49-F238E27FC236}">
                <a16:creationId xmlns:a16="http://schemas.microsoft.com/office/drawing/2014/main" id="{A3712086-EFAE-614A-9DD8-F5301DB18A33}"/>
              </a:ext>
            </a:extLst>
          </p:cNvPr>
          <p:cNvSpPr>
            <a:spLocks noChangeArrowheads="1"/>
          </p:cNvSpPr>
          <p:nvPr/>
        </p:nvSpPr>
        <p:spPr bwMode="blackWhite">
          <a:xfrm>
            <a:off x="604813" y="1227405"/>
            <a:ext cx="7313613" cy="1625531"/>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dirty="0">
                <a:solidFill>
                  <a:srgbClr val="000000"/>
                </a:solidFill>
                <a:latin typeface="Courier New" pitchFamily="49" charset="0"/>
              </a:rPr>
              <a:t>INSERT ALL</a:t>
            </a:r>
          </a:p>
          <a:p>
            <a:pPr>
              <a:tabLst>
                <a:tab pos="1200150" algn="l"/>
              </a:tabLst>
              <a:defRPr/>
            </a:pPr>
            <a:r>
              <a:rPr lang="en-US" sz="1800" b="1" dirty="0">
                <a:solidFill>
                  <a:srgbClr val="000000"/>
                </a:solidFill>
                <a:latin typeface="Courier New" pitchFamily="49" charset="0"/>
              </a:rPr>
              <a:t>INTO </a:t>
            </a:r>
            <a:r>
              <a:rPr lang="en-US" sz="1800" b="1" dirty="0" err="1">
                <a:solidFill>
                  <a:srgbClr val="000000"/>
                </a:solidFill>
                <a:latin typeface="Courier New" pitchFamily="49" charset="0"/>
              </a:rPr>
              <a:t>table_name</a:t>
            </a:r>
            <a:r>
              <a:rPr lang="en-US" sz="1800" b="1" dirty="0">
                <a:solidFill>
                  <a:srgbClr val="000000"/>
                </a:solidFill>
                <a:latin typeface="Courier New" pitchFamily="49" charset="0"/>
              </a:rPr>
              <a:t>(col1,col2,col3) VALUES(val1,val2,val3)</a:t>
            </a:r>
          </a:p>
          <a:p>
            <a:pPr>
              <a:tabLst>
                <a:tab pos="1200150" algn="l"/>
              </a:tabLst>
              <a:defRPr/>
            </a:pPr>
            <a:r>
              <a:rPr lang="en-US" sz="1800" b="1" dirty="0">
                <a:solidFill>
                  <a:srgbClr val="000000"/>
                </a:solidFill>
                <a:latin typeface="Courier New" pitchFamily="49" charset="0"/>
              </a:rPr>
              <a:t>INTO </a:t>
            </a:r>
            <a:r>
              <a:rPr lang="en-US" sz="1800" b="1" dirty="0" err="1">
                <a:solidFill>
                  <a:srgbClr val="000000"/>
                </a:solidFill>
                <a:latin typeface="Courier New" pitchFamily="49" charset="0"/>
              </a:rPr>
              <a:t>table_name</a:t>
            </a:r>
            <a:r>
              <a:rPr lang="en-US" sz="1800" b="1" dirty="0">
                <a:solidFill>
                  <a:srgbClr val="000000"/>
                </a:solidFill>
                <a:latin typeface="Courier New" pitchFamily="49" charset="0"/>
              </a:rPr>
              <a:t>(col1,col2,col3) VALUES(val4,val5,val6)</a:t>
            </a:r>
          </a:p>
          <a:p>
            <a:pPr>
              <a:tabLst>
                <a:tab pos="1200150" algn="l"/>
              </a:tabLst>
              <a:defRPr/>
            </a:pPr>
            <a:r>
              <a:rPr lang="en-US" sz="1800" b="1" dirty="0">
                <a:solidFill>
                  <a:srgbClr val="000000"/>
                </a:solidFill>
                <a:latin typeface="Courier New" pitchFamily="49" charset="0"/>
              </a:rPr>
              <a:t>INTO </a:t>
            </a:r>
            <a:r>
              <a:rPr lang="en-US" sz="1800" b="1" dirty="0" err="1">
                <a:solidFill>
                  <a:srgbClr val="000000"/>
                </a:solidFill>
                <a:latin typeface="Courier New" pitchFamily="49" charset="0"/>
              </a:rPr>
              <a:t>table_name</a:t>
            </a:r>
            <a:r>
              <a:rPr lang="en-US" sz="1800" b="1" dirty="0">
                <a:solidFill>
                  <a:srgbClr val="000000"/>
                </a:solidFill>
                <a:latin typeface="Courier New" pitchFamily="49" charset="0"/>
              </a:rPr>
              <a:t>(col1,col2,col3) VALUES(val7,val8,val9)</a:t>
            </a:r>
          </a:p>
          <a:p>
            <a:pPr>
              <a:tabLst>
                <a:tab pos="1200150" algn="l"/>
              </a:tabLst>
              <a:defRPr/>
            </a:pPr>
            <a:r>
              <a:rPr lang="en-US" sz="1800" b="1" dirty="0">
                <a:solidFill>
                  <a:srgbClr val="000000"/>
                </a:solidFill>
                <a:latin typeface="Courier New" pitchFamily="49" charset="0"/>
              </a:rPr>
              <a:t>Subquery;</a:t>
            </a:r>
            <a:endParaRPr lang="en-US" sz="1800" b="1" dirty="0">
              <a:solidFill>
                <a:srgbClr val="FF3300"/>
              </a:solidFill>
              <a:effectLst>
                <a:outerShdw blurRad="38100" dist="38100" dir="2700000" algn="tl">
                  <a:srgbClr val="000000"/>
                </a:outerShdw>
              </a:effectLst>
              <a:latin typeface="Courier New" pitchFamily="49" charset="0"/>
            </a:endParaRPr>
          </a:p>
        </p:txBody>
      </p:sp>
    </p:spTree>
    <p:extLst>
      <p:ext uri="{BB962C8B-B14F-4D97-AF65-F5344CB8AC3E}">
        <p14:creationId xmlns:p14="http://schemas.microsoft.com/office/powerpoint/2010/main" val="253210955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F63A049-97C0-09D0-218D-A3AC4C037AF7}"/>
              </a:ext>
            </a:extLst>
          </p:cNvPr>
          <p:cNvSpPr>
            <a:spLocks noChangeArrowheads="1"/>
          </p:cNvSpPr>
          <p:nvPr/>
        </p:nvSpPr>
        <p:spPr bwMode="blackWhite">
          <a:xfrm>
            <a:off x="3101975" y="4119563"/>
            <a:ext cx="5237163"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28675" name="Rectangle 3">
            <a:extLst>
              <a:ext uri="{FF2B5EF4-FFF2-40B4-BE49-F238E27FC236}">
                <a16:creationId xmlns:a16="http://schemas.microsoft.com/office/drawing/2014/main" id="{741865FF-2D06-C20A-DA3B-CEB14FD6EE70}"/>
              </a:ext>
            </a:extLst>
          </p:cNvPr>
          <p:cNvSpPr>
            <a:spLocks noChangeArrowheads="1"/>
          </p:cNvSpPr>
          <p:nvPr/>
        </p:nvSpPr>
        <p:spPr bwMode="ltGray">
          <a:xfrm>
            <a:off x="3111500" y="5238750"/>
            <a:ext cx="5216525" cy="247650"/>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76" name="Rectangle 4">
            <a:extLst>
              <a:ext uri="{FF2B5EF4-FFF2-40B4-BE49-F238E27FC236}">
                <a16:creationId xmlns:a16="http://schemas.microsoft.com/office/drawing/2014/main" id="{62FD96C2-AA6C-4C84-EF38-68ACE69DF320}"/>
              </a:ext>
            </a:extLst>
          </p:cNvPr>
          <p:cNvSpPr>
            <a:spLocks noChangeArrowheads="1"/>
          </p:cNvSpPr>
          <p:nvPr/>
        </p:nvSpPr>
        <p:spPr bwMode="blackWhite">
          <a:xfrm>
            <a:off x="684213" y="1566863"/>
            <a:ext cx="5237162"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28677" name="Rectangle 5">
            <a:extLst>
              <a:ext uri="{FF2B5EF4-FFF2-40B4-BE49-F238E27FC236}">
                <a16:creationId xmlns:a16="http://schemas.microsoft.com/office/drawing/2014/main" id="{44E05A34-5468-E53F-0810-E677196C6B06}"/>
              </a:ext>
            </a:extLst>
          </p:cNvPr>
          <p:cNvSpPr>
            <a:spLocks noChangeArrowheads="1"/>
          </p:cNvSpPr>
          <p:nvPr/>
        </p:nvSpPr>
        <p:spPr bwMode="ltGray">
          <a:xfrm>
            <a:off x="698500" y="2686050"/>
            <a:ext cx="5213350" cy="247650"/>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678" name="Rectangle 6">
            <a:extLst>
              <a:ext uri="{FF2B5EF4-FFF2-40B4-BE49-F238E27FC236}">
                <a16:creationId xmlns:a16="http://schemas.microsoft.com/office/drawing/2014/main" id="{2D66E2C7-E279-2AF5-2083-B1E3FF3547F4}"/>
              </a:ext>
            </a:extLst>
          </p:cNvPr>
          <p:cNvSpPr>
            <a:spLocks noGrp="1" noChangeArrowheads="1"/>
          </p:cNvSpPr>
          <p:nvPr>
            <p:ph type="title"/>
          </p:nvPr>
        </p:nvSpPr>
        <p:spPr>
          <a:xfrm>
            <a:off x="323850" y="620713"/>
            <a:ext cx="4643438" cy="536575"/>
          </a:xfrm>
          <a:noFill/>
        </p:spPr>
        <p:txBody>
          <a:bodyPr lIns="92075" tIns="46038" rIns="92075" bIns="46038" anchor="t"/>
          <a:lstStyle/>
          <a:p>
            <a:r>
              <a:rPr lang="en-US" altLang="en-US" sz="2800">
                <a:solidFill>
                  <a:srgbClr val="800000"/>
                </a:solidFill>
              </a:rPr>
              <a:t>Changing Data in a Table</a:t>
            </a:r>
          </a:p>
        </p:txBody>
      </p:sp>
      <p:sp>
        <p:nvSpPr>
          <p:cNvPr id="460807" name="Rectangle 7">
            <a:extLst>
              <a:ext uri="{FF2B5EF4-FFF2-40B4-BE49-F238E27FC236}">
                <a16:creationId xmlns:a16="http://schemas.microsoft.com/office/drawing/2014/main" id="{DE87F0B7-B311-35DA-A180-B52F56E60333}"/>
              </a:ext>
            </a:extLst>
          </p:cNvPr>
          <p:cNvSpPr>
            <a:spLocks noChangeArrowheads="1"/>
          </p:cNvSpPr>
          <p:nvPr/>
        </p:nvSpPr>
        <p:spPr bwMode="auto">
          <a:xfrm>
            <a:off x="596900" y="1193800"/>
            <a:ext cx="73501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EMP</a:t>
            </a:r>
          </a:p>
        </p:txBody>
      </p:sp>
      <p:sp>
        <p:nvSpPr>
          <p:cNvPr id="28680" name="Line 8">
            <a:extLst>
              <a:ext uri="{FF2B5EF4-FFF2-40B4-BE49-F238E27FC236}">
                <a16:creationId xmlns:a16="http://schemas.microsoft.com/office/drawing/2014/main" id="{E7FC4A9D-969C-2330-EF3A-F5AD95FE5F40}"/>
              </a:ext>
            </a:extLst>
          </p:cNvPr>
          <p:cNvSpPr>
            <a:spLocks noChangeShapeType="1"/>
          </p:cNvSpPr>
          <p:nvPr/>
        </p:nvSpPr>
        <p:spPr bwMode="auto">
          <a:xfrm>
            <a:off x="685800" y="2020888"/>
            <a:ext cx="525780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1" name="Line 9">
            <a:extLst>
              <a:ext uri="{FF2B5EF4-FFF2-40B4-BE49-F238E27FC236}">
                <a16:creationId xmlns:a16="http://schemas.microsoft.com/office/drawing/2014/main" id="{0DC9F79C-F7EB-756B-013F-28AFD4B7E57D}"/>
              </a:ext>
            </a:extLst>
          </p:cNvPr>
          <p:cNvSpPr>
            <a:spLocks noChangeShapeType="1"/>
          </p:cNvSpPr>
          <p:nvPr/>
        </p:nvSpPr>
        <p:spPr bwMode="auto">
          <a:xfrm>
            <a:off x="679450" y="2414588"/>
            <a:ext cx="5283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2" name="Line 10">
            <a:extLst>
              <a:ext uri="{FF2B5EF4-FFF2-40B4-BE49-F238E27FC236}">
                <a16:creationId xmlns:a16="http://schemas.microsoft.com/office/drawing/2014/main" id="{2E26C7AB-ED74-C4BC-A217-73A806499796}"/>
              </a:ext>
            </a:extLst>
          </p:cNvPr>
          <p:cNvSpPr>
            <a:spLocks noChangeShapeType="1"/>
          </p:cNvSpPr>
          <p:nvPr/>
        </p:nvSpPr>
        <p:spPr bwMode="auto">
          <a:xfrm>
            <a:off x="679450" y="2674938"/>
            <a:ext cx="5283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3" name="Line 11">
            <a:extLst>
              <a:ext uri="{FF2B5EF4-FFF2-40B4-BE49-F238E27FC236}">
                <a16:creationId xmlns:a16="http://schemas.microsoft.com/office/drawing/2014/main" id="{2C87FF4C-7506-C43F-EAFA-AADA304FEDB5}"/>
              </a:ext>
            </a:extLst>
          </p:cNvPr>
          <p:cNvSpPr>
            <a:spLocks noChangeShapeType="1"/>
          </p:cNvSpPr>
          <p:nvPr/>
        </p:nvSpPr>
        <p:spPr bwMode="auto">
          <a:xfrm>
            <a:off x="679450" y="2935288"/>
            <a:ext cx="52736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4" name="Line 12">
            <a:extLst>
              <a:ext uri="{FF2B5EF4-FFF2-40B4-BE49-F238E27FC236}">
                <a16:creationId xmlns:a16="http://schemas.microsoft.com/office/drawing/2014/main" id="{2F6D32AC-16C0-385D-BE31-F50033F82492}"/>
              </a:ext>
            </a:extLst>
          </p:cNvPr>
          <p:cNvSpPr>
            <a:spLocks noChangeShapeType="1"/>
          </p:cNvSpPr>
          <p:nvPr/>
        </p:nvSpPr>
        <p:spPr bwMode="auto">
          <a:xfrm>
            <a:off x="1682750" y="1557338"/>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5" name="Line 13">
            <a:extLst>
              <a:ext uri="{FF2B5EF4-FFF2-40B4-BE49-F238E27FC236}">
                <a16:creationId xmlns:a16="http://schemas.microsoft.com/office/drawing/2014/main" id="{CD3FF748-6F94-B9C8-8F7A-A01E31467726}"/>
              </a:ext>
            </a:extLst>
          </p:cNvPr>
          <p:cNvSpPr>
            <a:spLocks noChangeShapeType="1"/>
          </p:cNvSpPr>
          <p:nvPr/>
        </p:nvSpPr>
        <p:spPr bwMode="auto">
          <a:xfrm>
            <a:off x="2533650" y="1557338"/>
            <a:ext cx="0" cy="197802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2" name="Group 14">
            <a:extLst>
              <a:ext uri="{FF2B5EF4-FFF2-40B4-BE49-F238E27FC236}">
                <a16:creationId xmlns:a16="http://schemas.microsoft.com/office/drawing/2014/main" id="{AC239D47-39FF-BA41-125E-67A1C2085249}"/>
              </a:ext>
            </a:extLst>
          </p:cNvPr>
          <p:cNvGrpSpPr>
            <a:grpSpLocks/>
          </p:cNvGrpSpPr>
          <p:nvPr/>
        </p:nvGrpSpPr>
        <p:grpSpPr bwMode="auto">
          <a:xfrm>
            <a:off x="5467350" y="1984375"/>
            <a:ext cx="3579813" cy="1801813"/>
            <a:chOff x="3444" y="1250"/>
            <a:chExt cx="2255" cy="1135"/>
          </a:xfrm>
        </p:grpSpPr>
        <p:sp>
          <p:nvSpPr>
            <p:cNvPr id="460815" name="Rectangle 15">
              <a:extLst>
                <a:ext uri="{FF2B5EF4-FFF2-40B4-BE49-F238E27FC236}">
                  <a16:creationId xmlns:a16="http://schemas.microsoft.com/office/drawing/2014/main" id="{8536A19B-CFE5-D376-EEAD-408D07845791}"/>
                </a:ext>
              </a:extLst>
            </p:cNvPr>
            <p:cNvSpPr>
              <a:spLocks noChangeArrowheads="1"/>
            </p:cNvSpPr>
            <p:nvPr/>
          </p:nvSpPr>
          <p:spPr bwMode="auto">
            <a:xfrm>
              <a:off x="3444" y="1250"/>
              <a:ext cx="2255" cy="439"/>
            </a:xfrm>
            <a:prstGeom prst="rect">
              <a:avLst/>
            </a:prstGeom>
            <a:noFill/>
            <a:ln w="9525">
              <a:noFill/>
              <a:miter lim="800000"/>
              <a:headEnd/>
              <a:tailEnd/>
            </a:ln>
            <a:effectLst/>
          </p:spPr>
          <p:txBody>
            <a:bodyPr lIns="92075" tIns="46038" rIns="92075" bIns="46038">
              <a:spAutoFit/>
            </a:bodyPr>
            <a:lstStyle/>
            <a:p>
              <a:pPr algn="ctr" defTabSz="346075">
                <a:lnSpc>
                  <a:spcPct val="65000"/>
                </a:lnSpc>
                <a:spcBef>
                  <a:spcPct val="35000"/>
                </a:spcBef>
                <a:tabLst>
                  <a:tab pos="576263" algn="l"/>
                </a:tabLst>
                <a:defRPr/>
              </a:pPr>
              <a:r>
                <a:rPr lang="en-US" b="1">
                  <a:solidFill>
                    <a:schemeClr val="accent2"/>
                  </a:solidFill>
                  <a:effectLst>
                    <a:outerShdw blurRad="38100" dist="38100" dir="2700000" algn="tl">
                      <a:srgbClr val="000000"/>
                    </a:outerShdw>
                  </a:effectLst>
                </a:rPr>
                <a:t>“…update a row </a:t>
              </a:r>
            </a:p>
            <a:p>
              <a:pPr algn="ctr" defTabSz="346075">
                <a:lnSpc>
                  <a:spcPct val="65000"/>
                </a:lnSpc>
                <a:spcBef>
                  <a:spcPct val="35000"/>
                </a:spcBef>
                <a:tabLst>
                  <a:tab pos="576263" algn="l"/>
                </a:tabLst>
                <a:defRPr/>
              </a:pPr>
              <a:r>
                <a:rPr lang="en-US" b="1">
                  <a:solidFill>
                    <a:schemeClr val="accent2"/>
                  </a:solidFill>
                  <a:effectLst>
                    <a:outerShdw blurRad="38100" dist="38100" dir="2700000" algn="tl">
                      <a:srgbClr val="000000"/>
                    </a:outerShdw>
                  </a:effectLst>
                </a:rPr>
                <a:t>in EMP table…”</a:t>
              </a:r>
            </a:p>
          </p:txBody>
        </p:sp>
        <p:sp>
          <p:nvSpPr>
            <p:cNvPr id="28708" name="Arc 16">
              <a:extLst>
                <a:ext uri="{FF2B5EF4-FFF2-40B4-BE49-F238E27FC236}">
                  <a16:creationId xmlns:a16="http://schemas.microsoft.com/office/drawing/2014/main" id="{967E9A33-9077-C6D5-F5C2-3D644A9A6060}"/>
                </a:ext>
              </a:extLst>
            </p:cNvPr>
            <p:cNvSpPr>
              <a:spLocks/>
            </p:cNvSpPr>
            <p:nvPr/>
          </p:nvSpPr>
          <p:spPr bwMode="auto">
            <a:xfrm>
              <a:off x="3899" y="1737"/>
              <a:ext cx="997" cy="648"/>
            </a:xfrm>
            <a:custGeom>
              <a:avLst/>
              <a:gdLst>
                <a:gd name="T0" fmla="*/ 0 w 21608"/>
                <a:gd name="T1" fmla="*/ 0 h 21600"/>
                <a:gd name="T2" fmla="*/ 0 w 21608"/>
                <a:gd name="T3" fmla="*/ 0 h 21600"/>
                <a:gd name="T4" fmla="*/ 0 w 21608"/>
                <a:gd name="T5" fmla="*/ 0 h 21600"/>
                <a:gd name="T6" fmla="*/ 0 60000 65536"/>
                <a:gd name="T7" fmla="*/ 0 60000 65536"/>
                <a:gd name="T8" fmla="*/ 0 60000 65536"/>
              </a:gdLst>
              <a:ahLst/>
              <a:cxnLst>
                <a:cxn ang="T6">
                  <a:pos x="T0" y="T1"/>
                </a:cxn>
                <a:cxn ang="T7">
                  <a:pos x="T2" y="T3"/>
                </a:cxn>
                <a:cxn ang="T8">
                  <a:pos x="T4" y="T5"/>
                </a:cxn>
              </a:cxnLst>
              <a:rect l="0" t="0" r="r" b="b"/>
              <a:pathLst>
                <a:path w="21608" h="21600" fill="none" extrusionOk="0">
                  <a:moveTo>
                    <a:pt x="0" y="0"/>
                  </a:moveTo>
                  <a:cubicBezTo>
                    <a:pt x="7" y="0"/>
                    <a:pt x="14" y="-1"/>
                    <a:pt x="22" y="0"/>
                  </a:cubicBezTo>
                  <a:cubicBezTo>
                    <a:pt x="11652" y="0"/>
                    <a:pt x="21195" y="9209"/>
                    <a:pt x="21608" y="20832"/>
                  </a:cubicBezTo>
                </a:path>
                <a:path w="21608" h="21600" stroke="0" extrusionOk="0">
                  <a:moveTo>
                    <a:pt x="0" y="0"/>
                  </a:moveTo>
                  <a:cubicBezTo>
                    <a:pt x="7" y="0"/>
                    <a:pt x="14" y="-1"/>
                    <a:pt x="22" y="0"/>
                  </a:cubicBezTo>
                  <a:cubicBezTo>
                    <a:pt x="11652" y="0"/>
                    <a:pt x="21195" y="9209"/>
                    <a:pt x="21608" y="20832"/>
                  </a:cubicBezTo>
                  <a:lnTo>
                    <a:pt x="22"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8687" name="Line 17">
            <a:extLst>
              <a:ext uri="{FF2B5EF4-FFF2-40B4-BE49-F238E27FC236}">
                <a16:creationId xmlns:a16="http://schemas.microsoft.com/office/drawing/2014/main" id="{30B5BDD3-41CE-2C54-190F-806A47C8A023}"/>
              </a:ext>
            </a:extLst>
          </p:cNvPr>
          <p:cNvSpPr>
            <a:spLocks noChangeShapeType="1"/>
          </p:cNvSpPr>
          <p:nvPr/>
        </p:nvSpPr>
        <p:spPr bwMode="auto">
          <a:xfrm>
            <a:off x="4029075" y="1557338"/>
            <a:ext cx="0" cy="19589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8" name="Line 18">
            <a:extLst>
              <a:ext uri="{FF2B5EF4-FFF2-40B4-BE49-F238E27FC236}">
                <a16:creationId xmlns:a16="http://schemas.microsoft.com/office/drawing/2014/main" id="{1A5E109C-3A78-3D59-4352-65F6B7297112}"/>
              </a:ext>
            </a:extLst>
          </p:cNvPr>
          <p:cNvSpPr>
            <a:spLocks noChangeShapeType="1"/>
          </p:cNvSpPr>
          <p:nvPr/>
        </p:nvSpPr>
        <p:spPr bwMode="auto">
          <a:xfrm>
            <a:off x="4648200" y="1557338"/>
            <a:ext cx="0" cy="19970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89" name="Line 19">
            <a:extLst>
              <a:ext uri="{FF2B5EF4-FFF2-40B4-BE49-F238E27FC236}">
                <a16:creationId xmlns:a16="http://schemas.microsoft.com/office/drawing/2014/main" id="{92C56E73-4610-5CE9-9823-F5AB7135828C}"/>
              </a:ext>
            </a:extLst>
          </p:cNvPr>
          <p:cNvSpPr>
            <a:spLocks noChangeShapeType="1"/>
          </p:cNvSpPr>
          <p:nvPr/>
        </p:nvSpPr>
        <p:spPr bwMode="auto">
          <a:xfrm>
            <a:off x="679450" y="3221038"/>
            <a:ext cx="52736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60820" name="Rectangle 20">
            <a:extLst>
              <a:ext uri="{FF2B5EF4-FFF2-40B4-BE49-F238E27FC236}">
                <a16:creationId xmlns:a16="http://schemas.microsoft.com/office/drawing/2014/main" id="{1241801A-6469-C8F6-27EE-4010F3D4A3FA}"/>
              </a:ext>
            </a:extLst>
          </p:cNvPr>
          <p:cNvSpPr>
            <a:spLocks noChangeArrowheads="1"/>
          </p:cNvSpPr>
          <p:nvPr/>
        </p:nvSpPr>
        <p:spPr bwMode="auto">
          <a:xfrm>
            <a:off x="3014663" y="3746500"/>
            <a:ext cx="735012"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EMP</a:t>
            </a:r>
          </a:p>
        </p:txBody>
      </p:sp>
      <p:sp>
        <p:nvSpPr>
          <p:cNvPr id="28691" name="Rectangle 21">
            <a:extLst>
              <a:ext uri="{FF2B5EF4-FFF2-40B4-BE49-F238E27FC236}">
                <a16:creationId xmlns:a16="http://schemas.microsoft.com/office/drawing/2014/main" id="{7078CD23-069D-03CE-5702-A705C5C4C97B}"/>
              </a:ext>
            </a:extLst>
          </p:cNvPr>
          <p:cNvSpPr>
            <a:spLocks noChangeArrowheads="1"/>
          </p:cNvSpPr>
          <p:nvPr/>
        </p:nvSpPr>
        <p:spPr bwMode="blackWhite">
          <a:xfrm>
            <a:off x="3133725" y="4160838"/>
            <a:ext cx="5627688"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37719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37719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7782	CLARK	MANAGER		      10</a:t>
            </a:r>
          </a:p>
          <a:p>
            <a:pPr>
              <a:lnSpc>
                <a:spcPct val="95000"/>
              </a:lnSpc>
              <a:spcBef>
                <a:spcPct val="0"/>
              </a:spcBef>
              <a:buFontTx/>
              <a:buNone/>
            </a:pPr>
            <a:r>
              <a:rPr lang="en-US" altLang="en-US" sz="1800" b="1">
                <a:solidFill>
                  <a:srgbClr val="000000"/>
                </a:solidFill>
                <a:latin typeface="Courier New" panose="02070309020205020404" pitchFamily="49" charset="0"/>
              </a:rPr>
              <a:t>  7566	JONES	MANAGER		      20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28692" name="Line 22">
            <a:extLst>
              <a:ext uri="{FF2B5EF4-FFF2-40B4-BE49-F238E27FC236}">
                <a16:creationId xmlns:a16="http://schemas.microsoft.com/office/drawing/2014/main" id="{59F94495-B4A5-723A-9FE8-FB23F49D66A9}"/>
              </a:ext>
            </a:extLst>
          </p:cNvPr>
          <p:cNvSpPr>
            <a:spLocks noChangeShapeType="1"/>
          </p:cNvSpPr>
          <p:nvPr/>
        </p:nvSpPr>
        <p:spPr bwMode="auto">
          <a:xfrm>
            <a:off x="3103563" y="4573588"/>
            <a:ext cx="525780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3" name="Line 23">
            <a:extLst>
              <a:ext uri="{FF2B5EF4-FFF2-40B4-BE49-F238E27FC236}">
                <a16:creationId xmlns:a16="http://schemas.microsoft.com/office/drawing/2014/main" id="{EEF018DB-F5F0-B7A7-C009-BAB45C68178C}"/>
              </a:ext>
            </a:extLst>
          </p:cNvPr>
          <p:cNvSpPr>
            <a:spLocks noChangeShapeType="1"/>
          </p:cNvSpPr>
          <p:nvPr/>
        </p:nvSpPr>
        <p:spPr bwMode="auto">
          <a:xfrm>
            <a:off x="3097213" y="4967288"/>
            <a:ext cx="5283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4" name="Line 24">
            <a:extLst>
              <a:ext uri="{FF2B5EF4-FFF2-40B4-BE49-F238E27FC236}">
                <a16:creationId xmlns:a16="http://schemas.microsoft.com/office/drawing/2014/main" id="{672B9665-2E04-9543-7A17-361E049DC785}"/>
              </a:ext>
            </a:extLst>
          </p:cNvPr>
          <p:cNvSpPr>
            <a:spLocks noChangeShapeType="1"/>
          </p:cNvSpPr>
          <p:nvPr/>
        </p:nvSpPr>
        <p:spPr bwMode="auto">
          <a:xfrm>
            <a:off x="3097213" y="5227638"/>
            <a:ext cx="5283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5" name="Line 25">
            <a:extLst>
              <a:ext uri="{FF2B5EF4-FFF2-40B4-BE49-F238E27FC236}">
                <a16:creationId xmlns:a16="http://schemas.microsoft.com/office/drawing/2014/main" id="{7C7EB40E-B2EA-49D1-493F-688F3E5002A4}"/>
              </a:ext>
            </a:extLst>
          </p:cNvPr>
          <p:cNvSpPr>
            <a:spLocks noChangeShapeType="1"/>
          </p:cNvSpPr>
          <p:nvPr/>
        </p:nvSpPr>
        <p:spPr bwMode="auto">
          <a:xfrm>
            <a:off x="3097213" y="5487988"/>
            <a:ext cx="52736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6" name="Line 26">
            <a:extLst>
              <a:ext uri="{FF2B5EF4-FFF2-40B4-BE49-F238E27FC236}">
                <a16:creationId xmlns:a16="http://schemas.microsoft.com/office/drawing/2014/main" id="{1E0B84E5-AE9E-3EA2-78E1-F39910E279FD}"/>
              </a:ext>
            </a:extLst>
          </p:cNvPr>
          <p:cNvSpPr>
            <a:spLocks noChangeShapeType="1"/>
          </p:cNvSpPr>
          <p:nvPr/>
        </p:nvSpPr>
        <p:spPr bwMode="auto">
          <a:xfrm>
            <a:off x="4100513" y="4110038"/>
            <a:ext cx="0" cy="19875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7" name="Line 27">
            <a:extLst>
              <a:ext uri="{FF2B5EF4-FFF2-40B4-BE49-F238E27FC236}">
                <a16:creationId xmlns:a16="http://schemas.microsoft.com/office/drawing/2014/main" id="{C94D55C5-0E1F-6E50-CCD2-FCF97B549670}"/>
              </a:ext>
            </a:extLst>
          </p:cNvPr>
          <p:cNvSpPr>
            <a:spLocks noChangeShapeType="1"/>
          </p:cNvSpPr>
          <p:nvPr/>
        </p:nvSpPr>
        <p:spPr bwMode="auto">
          <a:xfrm>
            <a:off x="4951413" y="4110038"/>
            <a:ext cx="0" cy="197802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8" name="Line 28">
            <a:extLst>
              <a:ext uri="{FF2B5EF4-FFF2-40B4-BE49-F238E27FC236}">
                <a16:creationId xmlns:a16="http://schemas.microsoft.com/office/drawing/2014/main" id="{FD3DFE80-DB52-E1E5-D589-E20D4BB760B6}"/>
              </a:ext>
            </a:extLst>
          </p:cNvPr>
          <p:cNvSpPr>
            <a:spLocks noChangeShapeType="1"/>
          </p:cNvSpPr>
          <p:nvPr/>
        </p:nvSpPr>
        <p:spPr bwMode="auto">
          <a:xfrm>
            <a:off x="6446838" y="4110038"/>
            <a:ext cx="0" cy="19589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699" name="Line 29">
            <a:extLst>
              <a:ext uri="{FF2B5EF4-FFF2-40B4-BE49-F238E27FC236}">
                <a16:creationId xmlns:a16="http://schemas.microsoft.com/office/drawing/2014/main" id="{4020F6D3-86B0-4BCB-0B2F-2E0345AB497C}"/>
              </a:ext>
            </a:extLst>
          </p:cNvPr>
          <p:cNvSpPr>
            <a:spLocks noChangeShapeType="1"/>
          </p:cNvSpPr>
          <p:nvPr/>
        </p:nvSpPr>
        <p:spPr bwMode="auto">
          <a:xfrm>
            <a:off x="7065963" y="4110038"/>
            <a:ext cx="0" cy="199707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700" name="Line 30">
            <a:extLst>
              <a:ext uri="{FF2B5EF4-FFF2-40B4-BE49-F238E27FC236}">
                <a16:creationId xmlns:a16="http://schemas.microsoft.com/office/drawing/2014/main" id="{896BE434-E8ED-9D6D-C217-6CE4224B421A}"/>
              </a:ext>
            </a:extLst>
          </p:cNvPr>
          <p:cNvSpPr>
            <a:spLocks noChangeShapeType="1"/>
          </p:cNvSpPr>
          <p:nvPr/>
        </p:nvSpPr>
        <p:spPr bwMode="auto">
          <a:xfrm>
            <a:off x="3097213" y="5773738"/>
            <a:ext cx="5273675"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31">
            <a:extLst>
              <a:ext uri="{FF2B5EF4-FFF2-40B4-BE49-F238E27FC236}">
                <a16:creationId xmlns:a16="http://schemas.microsoft.com/office/drawing/2014/main" id="{37273E13-A448-252B-E363-0101E55C3A2A}"/>
              </a:ext>
            </a:extLst>
          </p:cNvPr>
          <p:cNvGrpSpPr>
            <a:grpSpLocks/>
          </p:cNvGrpSpPr>
          <p:nvPr/>
        </p:nvGrpSpPr>
        <p:grpSpPr bwMode="auto">
          <a:xfrm>
            <a:off x="5391150" y="2686050"/>
            <a:ext cx="2814638" cy="2855913"/>
            <a:chOff x="3396" y="1692"/>
            <a:chExt cx="1773" cy="1799"/>
          </a:xfrm>
        </p:grpSpPr>
        <p:sp>
          <p:nvSpPr>
            <p:cNvPr id="28703" name="Rectangle 32">
              <a:extLst>
                <a:ext uri="{FF2B5EF4-FFF2-40B4-BE49-F238E27FC236}">
                  <a16:creationId xmlns:a16="http://schemas.microsoft.com/office/drawing/2014/main" id="{1902913A-8E8C-5575-5913-874C355D7451}"/>
                </a:ext>
              </a:extLst>
            </p:cNvPr>
            <p:cNvSpPr>
              <a:spLocks noChangeArrowheads="1"/>
            </p:cNvSpPr>
            <p:nvPr/>
          </p:nvSpPr>
          <p:spPr bwMode="blackWhite">
            <a:xfrm>
              <a:off x="3396" y="1692"/>
              <a:ext cx="181" cy="143"/>
            </a:xfrm>
            <a:prstGeom prst="rect">
              <a:avLst/>
            </a:prstGeom>
            <a:solidFill>
              <a:srgbClr val="FF33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28704" name="Group 33">
              <a:extLst>
                <a:ext uri="{FF2B5EF4-FFF2-40B4-BE49-F238E27FC236}">
                  <a16:creationId xmlns:a16="http://schemas.microsoft.com/office/drawing/2014/main" id="{CABE06AC-835F-0009-8603-4296C1DF2575}"/>
                </a:ext>
              </a:extLst>
            </p:cNvPr>
            <p:cNvGrpSpPr>
              <a:grpSpLocks/>
            </p:cNvGrpSpPr>
            <p:nvPr/>
          </p:nvGrpSpPr>
          <p:grpSpPr bwMode="auto">
            <a:xfrm>
              <a:off x="4880" y="3225"/>
              <a:ext cx="289" cy="266"/>
              <a:chOff x="4880" y="3225"/>
              <a:chExt cx="289" cy="266"/>
            </a:xfrm>
          </p:grpSpPr>
          <p:sp>
            <p:nvSpPr>
              <p:cNvPr id="28705" name="Rectangle 34">
                <a:extLst>
                  <a:ext uri="{FF2B5EF4-FFF2-40B4-BE49-F238E27FC236}">
                    <a16:creationId xmlns:a16="http://schemas.microsoft.com/office/drawing/2014/main" id="{F4B5DBB6-9828-34C1-D7A5-DA96C99DE3FA}"/>
                  </a:ext>
                </a:extLst>
              </p:cNvPr>
              <p:cNvSpPr>
                <a:spLocks noChangeArrowheads="1"/>
              </p:cNvSpPr>
              <p:nvPr/>
            </p:nvSpPr>
            <p:spPr bwMode="blackWhite">
              <a:xfrm>
                <a:off x="4924" y="3294"/>
                <a:ext cx="181" cy="143"/>
              </a:xfrm>
              <a:prstGeom prst="rect">
                <a:avLst/>
              </a:prstGeom>
              <a:solidFill>
                <a:srgbClr val="FF33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8706" name="Rectangle 35">
                <a:extLst>
                  <a:ext uri="{FF2B5EF4-FFF2-40B4-BE49-F238E27FC236}">
                    <a16:creationId xmlns:a16="http://schemas.microsoft.com/office/drawing/2014/main" id="{68BFD3DD-EE61-8D14-2E13-0EAF95BB3486}"/>
                  </a:ext>
                </a:extLst>
              </p:cNvPr>
              <p:cNvSpPr>
                <a:spLocks noChangeArrowheads="1"/>
              </p:cNvSpPr>
              <p:nvPr/>
            </p:nvSpPr>
            <p:spPr bwMode="blackWhite">
              <a:xfrm>
                <a:off x="4880" y="3225"/>
                <a:ext cx="289"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120000"/>
                  </a:lnSpc>
                  <a:spcBef>
                    <a:spcPct val="60000"/>
                  </a:spcBef>
                  <a:buFontTx/>
                  <a:buNone/>
                </a:pPr>
                <a:r>
                  <a:rPr lang="en-US" altLang="en-US" sz="1800" b="1">
                    <a:solidFill>
                      <a:srgbClr val="000000"/>
                    </a:solidFill>
                    <a:latin typeface="Courier New" panose="02070309020205020404" pitchFamily="49" charset="0"/>
                  </a:rPr>
                  <a:t>20</a:t>
                </a:r>
              </a:p>
            </p:txBody>
          </p:sp>
        </p:grpSp>
      </p:grpSp>
      <p:sp>
        <p:nvSpPr>
          <p:cNvPr id="28702" name="Rectangle 36">
            <a:extLst>
              <a:ext uri="{FF2B5EF4-FFF2-40B4-BE49-F238E27FC236}">
                <a16:creationId xmlns:a16="http://schemas.microsoft.com/office/drawing/2014/main" id="{03388165-6CDD-E2BB-BE7E-E917AF5EF836}"/>
              </a:ext>
            </a:extLst>
          </p:cNvPr>
          <p:cNvSpPr>
            <a:spLocks noChangeArrowheads="1"/>
          </p:cNvSpPr>
          <p:nvPr/>
        </p:nvSpPr>
        <p:spPr bwMode="blackWhite">
          <a:xfrm>
            <a:off x="715963" y="1608138"/>
            <a:ext cx="5627687"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 pos="3200400" algn="l"/>
                <a:tab pos="377190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 pos="3200400" algn="l"/>
                <a:tab pos="377190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 pos="3200400" algn="l"/>
                <a:tab pos="37719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 pos="3200400" algn="l"/>
                <a:tab pos="37719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JOB		 ...  DEPTNO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	PRESIDENT		      10</a:t>
            </a:r>
          </a:p>
          <a:p>
            <a:pPr>
              <a:lnSpc>
                <a:spcPct val="95000"/>
              </a:lnSpc>
              <a:spcBef>
                <a:spcPct val="0"/>
              </a:spcBef>
              <a:buFontTx/>
              <a:buNone/>
            </a:pPr>
            <a:r>
              <a:rPr lang="en-US" altLang="en-US" sz="1800" b="1">
                <a:solidFill>
                  <a:srgbClr val="000000"/>
                </a:solidFill>
                <a:latin typeface="Courier New" panose="02070309020205020404" pitchFamily="49" charset="0"/>
              </a:rPr>
              <a:t>  7698	BLAKE	MANAGER		      30</a:t>
            </a:r>
          </a:p>
          <a:p>
            <a:pPr>
              <a:lnSpc>
                <a:spcPct val="95000"/>
              </a:lnSpc>
              <a:spcBef>
                <a:spcPct val="0"/>
              </a:spcBef>
              <a:buFontTx/>
              <a:buNone/>
            </a:pPr>
            <a:r>
              <a:rPr lang="en-US" altLang="en-US" sz="1800" b="1">
                <a:solidFill>
                  <a:srgbClr val="000000"/>
                </a:solidFill>
                <a:latin typeface="Courier New" panose="02070309020205020404" pitchFamily="49" charset="0"/>
              </a:rPr>
              <a:t>  7782	CLARK	MANAGER		      10</a:t>
            </a:r>
          </a:p>
          <a:p>
            <a:pPr>
              <a:lnSpc>
                <a:spcPct val="95000"/>
              </a:lnSpc>
              <a:spcBef>
                <a:spcPct val="0"/>
              </a:spcBef>
              <a:buFontTx/>
              <a:buNone/>
            </a:pPr>
            <a:r>
              <a:rPr lang="en-US" altLang="en-US" sz="1800" b="1">
                <a:solidFill>
                  <a:srgbClr val="000000"/>
                </a:solidFill>
                <a:latin typeface="Courier New" panose="02070309020205020404" pitchFamily="49" charset="0"/>
              </a:rPr>
              <a:t>  7566	JONES	MANAGER		      20</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261D2A5-5BD4-E6E1-D3B2-A66ABE3DA2D4}"/>
              </a:ext>
            </a:extLst>
          </p:cNvPr>
          <p:cNvSpPr>
            <a:spLocks noGrp="1" noChangeArrowheads="1"/>
          </p:cNvSpPr>
          <p:nvPr>
            <p:ph type="title"/>
          </p:nvPr>
        </p:nvSpPr>
        <p:spPr>
          <a:xfrm>
            <a:off x="323850" y="588963"/>
            <a:ext cx="4067175" cy="536575"/>
          </a:xfrm>
          <a:noFill/>
        </p:spPr>
        <p:txBody>
          <a:bodyPr lIns="92075" tIns="46038" rIns="92075" bIns="46038" anchor="t"/>
          <a:lstStyle/>
          <a:p>
            <a:r>
              <a:rPr lang="en-US" altLang="en-US" sz="2800">
                <a:solidFill>
                  <a:srgbClr val="800000"/>
                </a:solidFill>
              </a:rPr>
              <a:t>The UPDATE Statement</a:t>
            </a:r>
          </a:p>
        </p:txBody>
      </p:sp>
      <p:sp>
        <p:nvSpPr>
          <p:cNvPr id="30723" name="Rectangle 3">
            <a:extLst>
              <a:ext uri="{FF2B5EF4-FFF2-40B4-BE49-F238E27FC236}">
                <a16:creationId xmlns:a16="http://schemas.microsoft.com/office/drawing/2014/main" id="{2D53D602-1807-ADA3-FC9E-5845DA592677}"/>
              </a:ext>
            </a:extLst>
          </p:cNvPr>
          <p:cNvSpPr>
            <a:spLocks noGrp="1" noChangeArrowheads="1"/>
          </p:cNvSpPr>
          <p:nvPr>
            <p:ph type="body" idx="1"/>
          </p:nvPr>
        </p:nvSpPr>
        <p:spPr>
          <a:xfrm>
            <a:off x="860425" y="1795463"/>
            <a:ext cx="7888288" cy="2867025"/>
          </a:xfrm>
          <a:noFill/>
        </p:spPr>
        <p:txBody>
          <a:bodyPr lIns="92075" tIns="46038" rIns="92075" bIns="46038">
            <a:spAutoFit/>
          </a:bodyPr>
          <a:lstStyle/>
          <a:p>
            <a:pPr lvl="1"/>
            <a:r>
              <a:rPr lang="en-US" altLang="en-US"/>
              <a:t>Modify existing rows with the UPDATE statement.</a:t>
            </a:r>
            <a:br>
              <a:rPr lang="en-US" altLang="en-US"/>
            </a:br>
            <a:br>
              <a:rPr lang="en-US" altLang="en-US"/>
            </a:br>
            <a:br>
              <a:rPr lang="en-US" altLang="en-US"/>
            </a:br>
            <a:endParaRPr lang="en-US" altLang="en-US"/>
          </a:p>
          <a:p>
            <a:pPr lvl="1"/>
            <a:endParaRPr lang="en-US" altLang="en-US"/>
          </a:p>
          <a:p>
            <a:pPr lvl="1"/>
            <a:endParaRPr lang="en-US" altLang="en-US"/>
          </a:p>
          <a:p>
            <a:pPr lvl="1"/>
            <a:r>
              <a:rPr lang="en-US" altLang="en-US"/>
              <a:t>Update more than one row at a time, if required.</a:t>
            </a:r>
          </a:p>
        </p:txBody>
      </p:sp>
      <p:sp>
        <p:nvSpPr>
          <p:cNvPr id="30724" name="Rectangle 4">
            <a:extLst>
              <a:ext uri="{FF2B5EF4-FFF2-40B4-BE49-F238E27FC236}">
                <a16:creationId xmlns:a16="http://schemas.microsoft.com/office/drawing/2014/main" id="{9B28AA25-EA10-C203-4045-E4E4F1F4885A}"/>
              </a:ext>
            </a:extLst>
          </p:cNvPr>
          <p:cNvSpPr>
            <a:spLocks noChangeArrowheads="1"/>
          </p:cNvSpPr>
          <p:nvPr/>
        </p:nvSpPr>
        <p:spPr bwMode="blackWhite">
          <a:xfrm>
            <a:off x="935038" y="2714625"/>
            <a:ext cx="7497762"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UPDATE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SET		</a:t>
            </a:r>
            <a:r>
              <a:rPr lang="en-US" altLang="en-US" sz="1800" b="1" i="1">
                <a:solidFill>
                  <a:srgbClr val="000000"/>
                </a:solidFill>
                <a:latin typeface="Courier New" panose="02070309020205020404" pitchFamily="49" charset="0"/>
              </a:rPr>
              <a:t>column</a:t>
            </a:r>
            <a:r>
              <a:rPr lang="en-US" altLang="en-US" sz="1800" b="1">
                <a:solidFill>
                  <a:srgbClr val="000000"/>
                </a:solidFill>
                <a:latin typeface="Courier New" panose="02070309020205020404" pitchFamily="49" charset="0"/>
              </a:rPr>
              <a:t> = </a:t>
            </a:r>
            <a:r>
              <a:rPr lang="en-US" altLang="en-US" sz="1800" b="1" i="1">
                <a:solidFill>
                  <a:srgbClr val="000000"/>
                </a:solidFill>
                <a:latin typeface="Courier New" panose="02070309020205020404" pitchFamily="49" charset="0"/>
              </a:rPr>
              <a:t>value</a:t>
            </a:r>
            <a:r>
              <a:rPr lang="en-US" altLang="en-US" sz="1800" b="1">
                <a:solidFill>
                  <a:srgbClr val="000000"/>
                </a:solidFill>
                <a:latin typeface="Courier New" panose="02070309020205020404" pitchFamily="49" charset="0"/>
              </a:rPr>
              <a:t> [, </a:t>
            </a:r>
            <a:r>
              <a:rPr lang="en-US" altLang="en-US" sz="1800" b="1" i="1">
                <a:solidFill>
                  <a:srgbClr val="000000"/>
                </a:solidFill>
                <a:latin typeface="Courier New" panose="02070309020205020404" pitchFamily="49" charset="0"/>
              </a:rPr>
              <a:t>column </a:t>
            </a:r>
            <a:r>
              <a:rPr lang="en-US" altLang="en-US" sz="1800" b="1">
                <a:solidFill>
                  <a:srgbClr val="000000"/>
                </a:solidFill>
                <a:latin typeface="Courier New" panose="02070309020205020404" pitchFamily="49" charset="0"/>
              </a:rPr>
              <a:t>= </a:t>
            </a:r>
            <a:r>
              <a:rPr lang="en-US" altLang="en-US" sz="1800" b="1" i="1">
                <a:solidFill>
                  <a:srgbClr val="000000"/>
                </a:solidFill>
                <a:latin typeface="Courier New" panose="02070309020205020404" pitchFamily="49" charset="0"/>
              </a:rPr>
              <a:t>value, ...</a:t>
            </a: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[WHERE 		</a:t>
            </a:r>
            <a:r>
              <a:rPr lang="en-US" altLang="en-US" sz="1800" b="1" i="1">
                <a:solidFill>
                  <a:srgbClr val="000000"/>
                </a:solidFill>
                <a:latin typeface="Courier New" panose="02070309020205020404" pitchFamily="49" charset="0"/>
              </a:rPr>
              <a:t>condition</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01AB885-CDA2-52B3-9A04-9C0219175FB9}"/>
              </a:ext>
            </a:extLst>
          </p:cNvPr>
          <p:cNvSpPr>
            <a:spLocks noChangeArrowheads="1"/>
          </p:cNvSpPr>
          <p:nvPr/>
        </p:nvSpPr>
        <p:spPr bwMode="blackWhite">
          <a:xfrm>
            <a:off x="936625" y="2565400"/>
            <a:ext cx="7504113" cy="11747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2771" name="Rectangle 3">
            <a:extLst>
              <a:ext uri="{FF2B5EF4-FFF2-40B4-BE49-F238E27FC236}">
                <a16:creationId xmlns:a16="http://schemas.microsoft.com/office/drawing/2014/main" id="{0D5639F8-E52D-F3C9-08C1-A9178E6BFCE3}"/>
              </a:ext>
            </a:extLst>
          </p:cNvPr>
          <p:cNvSpPr>
            <a:spLocks noGrp="1" noChangeArrowheads="1"/>
          </p:cNvSpPr>
          <p:nvPr>
            <p:ph type="title"/>
          </p:nvPr>
        </p:nvSpPr>
        <p:spPr>
          <a:xfrm>
            <a:off x="323850" y="601663"/>
            <a:ext cx="7316788" cy="595312"/>
          </a:xfrm>
          <a:noFill/>
        </p:spPr>
        <p:txBody>
          <a:bodyPr lIns="92075" tIns="46038" rIns="92075" bIns="46038" anchor="t"/>
          <a:lstStyle/>
          <a:p>
            <a:r>
              <a:rPr lang="en-US" altLang="en-US" sz="2800">
                <a:solidFill>
                  <a:srgbClr val="800000"/>
                </a:solidFill>
              </a:rPr>
              <a:t>Updating Rows in a Table</a:t>
            </a:r>
          </a:p>
        </p:txBody>
      </p:sp>
      <p:sp>
        <p:nvSpPr>
          <p:cNvPr id="32772" name="Rectangle 4">
            <a:extLst>
              <a:ext uri="{FF2B5EF4-FFF2-40B4-BE49-F238E27FC236}">
                <a16:creationId xmlns:a16="http://schemas.microsoft.com/office/drawing/2014/main" id="{F2A6613A-56A2-92A0-031D-F587E1179252}"/>
              </a:ext>
            </a:extLst>
          </p:cNvPr>
          <p:cNvSpPr>
            <a:spLocks noGrp="1" noChangeArrowheads="1"/>
          </p:cNvSpPr>
          <p:nvPr>
            <p:ph type="body" idx="1"/>
          </p:nvPr>
        </p:nvSpPr>
        <p:spPr>
          <a:xfrm>
            <a:off x="769938" y="1401763"/>
            <a:ext cx="7385050" cy="3378200"/>
          </a:xfrm>
          <a:noFill/>
        </p:spPr>
        <p:txBody>
          <a:bodyPr lIns="92075" tIns="46038" rIns="92075" bIns="46038">
            <a:spAutoFit/>
          </a:bodyPr>
          <a:lstStyle/>
          <a:p>
            <a:pPr lvl="1"/>
            <a:r>
              <a:rPr lang="en-US" altLang="en-US"/>
              <a:t>Specific row or rows are modified when you specify the WHERE clause.</a:t>
            </a:r>
          </a:p>
          <a:p>
            <a:pPr lvl="1">
              <a:buFontTx/>
              <a:buNone/>
            </a:pPr>
            <a:endParaRPr lang="en-US" altLang="en-US"/>
          </a:p>
          <a:p>
            <a:pPr lvl="1">
              <a:buFontTx/>
              <a:buNone/>
            </a:pPr>
            <a:endParaRPr lang="en-US" altLang="en-US"/>
          </a:p>
          <a:p>
            <a:pPr lvl="1">
              <a:buFontTx/>
              <a:buNone/>
            </a:pPr>
            <a:endParaRPr lang="en-US" altLang="en-US"/>
          </a:p>
          <a:p>
            <a:pPr lvl="1"/>
            <a:endParaRPr lang="en-US" altLang="en-US"/>
          </a:p>
          <a:p>
            <a:pPr lvl="1"/>
            <a:r>
              <a:rPr lang="en-US" altLang="en-US"/>
              <a:t>All rows in the table are modified if you omit the WHERE clause.</a:t>
            </a:r>
          </a:p>
        </p:txBody>
      </p:sp>
      <p:sp>
        <p:nvSpPr>
          <p:cNvPr id="464901" name="Rectangle 5">
            <a:extLst>
              <a:ext uri="{FF2B5EF4-FFF2-40B4-BE49-F238E27FC236}">
                <a16:creationId xmlns:a16="http://schemas.microsoft.com/office/drawing/2014/main" id="{304DBD1F-3274-2D03-7384-908842B22703}"/>
              </a:ext>
            </a:extLst>
          </p:cNvPr>
          <p:cNvSpPr>
            <a:spLocks noChangeArrowheads="1"/>
          </p:cNvSpPr>
          <p:nvPr/>
        </p:nvSpPr>
        <p:spPr bwMode="ltGray">
          <a:xfrm>
            <a:off x="1633538" y="3144838"/>
            <a:ext cx="3441700" cy="3048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64902" name="Rectangle 6">
            <a:extLst>
              <a:ext uri="{FF2B5EF4-FFF2-40B4-BE49-F238E27FC236}">
                <a16:creationId xmlns:a16="http://schemas.microsoft.com/office/drawing/2014/main" id="{26DF9DB1-513F-A703-AA06-76DDA2CD0998}"/>
              </a:ext>
            </a:extLst>
          </p:cNvPr>
          <p:cNvSpPr>
            <a:spLocks noChangeArrowheads="1"/>
          </p:cNvSpPr>
          <p:nvPr/>
        </p:nvSpPr>
        <p:spPr bwMode="blackWhite">
          <a:xfrm>
            <a:off x="915988" y="2606675"/>
            <a:ext cx="7529512" cy="1108075"/>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UPDATE 	emp</a:t>
            </a:r>
          </a:p>
          <a:p>
            <a:pPr>
              <a:tabLst>
                <a:tab pos="1200150" algn="l"/>
              </a:tabLst>
              <a:defRPr/>
            </a:pPr>
            <a:r>
              <a:rPr lang="en-US" sz="1800" b="1">
                <a:solidFill>
                  <a:srgbClr val="000000"/>
                </a:solidFill>
                <a:latin typeface="Courier New" pitchFamily="49" charset="0"/>
              </a:rPr>
              <a:t>  2  SET    	deptno = 20</a:t>
            </a:r>
          </a:p>
          <a:p>
            <a:pPr>
              <a:tabLst>
                <a:tab pos="1200150" algn="l"/>
              </a:tabLst>
              <a:defRPr/>
            </a:pPr>
            <a:r>
              <a:rPr lang="en-US" sz="1800" b="1">
                <a:solidFill>
                  <a:srgbClr val="000000"/>
                </a:solidFill>
                <a:latin typeface="Courier New" pitchFamily="49" charset="0"/>
              </a:rPr>
              <a:t>  3  WHERE  	empno = 7782;</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updated.</a:t>
            </a:r>
          </a:p>
        </p:txBody>
      </p:sp>
      <p:sp>
        <p:nvSpPr>
          <p:cNvPr id="464903" name="Rectangle 7">
            <a:extLst>
              <a:ext uri="{FF2B5EF4-FFF2-40B4-BE49-F238E27FC236}">
                <a16:creationId xmlns:a16="http://schemas.microsoft.com/office/drawing/2014/main" id="{70493556-1727-AB9D-BBDC-B5B5E9B960C3}"/>
              </a:ext>
            </a:extLst>
          </p:cNvPr>
          <p:cNvSpPr>
            <a:spLocks noChangeArrowheads="1"/>
          </p:cNvSpPr>
          <p:nvPr/>
        </p:nvSpPr>
        <p:spPr bwMode="blackWhite">
          <a:xfrm>
            <a:off x="933450" y="4889500"/>
            <a:ext cx="7499350" cy="93503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UPDATE 	employee</a:t>
            </a:r>
          </a:p>
          <a:p>
            <a:pPr>
              <a:tabLst>
                <a:tab pos="1200150" algn="l"/>
              </a:tabLst>
              <a:defRPr/>
            </a:pPr>
            <a:r>
              <a:rPr lang="en-US" sz="1800" b="1">
                <a:solidFill>
                  <a:srgbClr val="000000"/>
                </a:solidFill>
                <a:latin typeface="Courier New" pitchFamily="49" charset="0"/>
              </a:rPr>
              <a:t>  2  SET    	deptno = 20;</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14 rows updated.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4901"/>
                                        </p:tgtEl>
                                        <p:attrNameLst>
                                          <p:attrName>style.visibility</p:attrName>
                                        </p:attrNameLst>
                                      </p:cBhvr>
                                      <p:to>
                                        <p:strVal val="visible"/>
                                      </p:to>
                                    </p:set>
                                    <p:animEffect transition="in" filter="wipe(up)">
                                      <p:cBhvr>
                                        <p:cTn id="7" dur="500"/>
                                        <p:tgtEl>
                                          <p:spTgt spid="464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0270600-4F09-34B6-3591-969DA27DF9D1}"/>
              </a:ext>
            </a:extLst>
          </p:cNvPr>
          <p:cNvSpPr>
            <a:spLocks noChangeArrowheads="1"/>
          </p:cNvSpPr>
          <p:nvPr/>
        </p:nvSpPr>
        <p:spPr bwMode="blackWhite">
          <a:xfrm>
            <a:off x="936625" y="2813050"/>
            <a:ext cx="7488238" cy="21272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34819" name="Rectangle 3">
            <a:extLst>
              <a:ext uri="{FF2B5EF4-FFF2-40B4-BE49-F238E27FC236}">
                <a16:creationId xmlns:a16="http://schemas.microsoft.com/office/drawing/2014/main" id="{236F75FD-3BEC-B7E1-B2B6-2782A9B864ED}"/>
              </a:ext>
            </a:extLst>
          </p:cNvPr>
          <p:cNvSpPr>
            <a:spLocks noChangeArrowheads="1"/>
          </p:cNvSpPr>
          <p:nvPr/>
        </p:nvSpPr>
        <p:spPr bwMode="ltGray">
          <a:xfrm>
            <a:off x="4857750" y="3400425"/>
            <a:ext cx="3143250" cy="94297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4820" name="Rectangle 4">
            <a:extLst>
              <a:ext uri="{FF2B5EF4-FFF2-40B4-BE49-F238E27FC236}">
                <a16:creationId xmlns:a16="http://schemas.microsoft.com/office/drawing/2014/main" id="{15F82AD4-5146-2AB3-1661-3F2A39A6DB37}"/>
              </a:ext>
            </a:extLst>
          </p:cNvPr>
          <p:cNvSpPr>
            <a:spLocks noGrp="1" noChangeArrowheads="1"/>
          </p:cNvSpPr>
          <p:nvPr>
            <p:ph type="title"/>
          </p:nvPr>
        </p:nvSpPr>
        <p:spPr>
          <a:noFill/>
        </p:spPr>
        <p:txBody>
          <a:bodyPr lIns="92075" tIns="46038" rIns="92075" bIns="46038" anchor="t"/>
          <a:lstStyle/>
          <a:p>
            <a:r>
              <a:rPr lang="en-US" altLang="en-US" sz="2800">
                <a:solidFill>
                  <a:srgbClr val="800000"/>
                </a:solidFill>
              </a:rPr>
              <a:t>Updating with </a:t>
            </a:r>
            <a:br>
              <a:rPr lang="en-US" altLang="en-US" sz="2800">
                <a:solidFill>
                  <a:srgbClr val="800000"/>
                </a:solidFill>
              </a:rPr>
            </a:br>
            <a:r>
              <a:rPr lang="en-US" altLang="en-US" sz="2800">
                <a:solidFill>
                  <a:srgbClr val="800000"/>
                </a:solidFill>
              </a:rPr>
              <a:t>Multiple-Column Subquery</a:t>
            </a:r>
          </a:p>
        </p:txBody>
      </p:sp>
      <p:sp>
        <p:nvSpPr>
          <p:cNvPr id="466949" name="Rectangle 5">
            <a:extLst>
              <a:ext uri="{FF2B5EF4-FFF2-40B4-BE49-F238E27FC236}">
                <a16:creationId xmlns:a16="http://schemas.microsoft.com/office/drawing/2014/main" id="{EFB87776-9F4E-0CBC-9B6C-EFFA139476A0}"/>
              </a:ext>
            </a:extLst>
          </p:cNvPr>
          <p:cNvSpPr>
            <a:spLocks noChangeArrowheads="1"/>
          </p:cNvSpPr>
          <p:nvPr/>
        </p:nvSpPr>
        <p:spPr bwMode="blackWhite">
          <a:xfrm>
            <a:off x="904875" y="2994025"/>
            <a:ext cx="7153275" cy="1747838"/>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UPDATE  emp</a:t>
            </a:r>
          </a:p>
          <a:p>
            <a:pPr>
              <a:tabLst>
                <a:tab pos="1200150" algn="l"/>
              </a:tabLst>
              <a:defRPr/>
            </a:pPr>
            <a:r>
              <a:rPr lang="en-US" sz="1800" b="1">
                <a:solidFill>
                  <a:srgbClr val="000000"/>
                </a:solidFill>
                <a:latin typeface="Courier New" pitchFamily="49" charset="0"/>
              </a:rPr>
              <a:t>  2  SET     (job, deptno) = </a:t>
            </a:r>
          </a:p>
          <a:p>
            <a:pPr>
              <a:tabLst>
                <a:tab pos="1200150" algn="l"/>
              </a:tabLst>
              <a:defRPr/>
            </a:pPr>
            <a:r>
              <a:rPr lang="en-US" sz="1800" b="1">
                <a:solidFill>
                  <a:srgbClr val="000000"/>
                </a:solidFill>
                <a:latin typeface="Courier New" pitchFamily="49" charset="0"/>
              </a:rPr>
              <a:t>  3				  (SELECT job, deptno</a:t>
            </a:r>
          </a:p>
          <a:p>
            <a:pPr>
              <a:tabLst>
                <a:tab pos="1200150" algn="l"/>
              </a:tabLst>
              <a:defRPr/>
            </a:pPr>
            <a:r>
              <a:rPr lang="en-US" sz="1800" b="1">
                <a:solidFill>
                  <a:srgbClr val="000000"/>
                </a:solidFill>
                <a:latin typeface="Courier New" pitchFamily="49" charset="0"/>
              </a:rPr>
              <a:t>  4                          FROM    emp</a:t>
            </a:r>
          </a:p>
          <a:p>
            <a:pPr>
              <a:tabLst>
                <a:tab pos="1200150" algn="l"/>
              </a:tabLst>
              <a:defRPr/>
            </a:pPr>
            <a:r>
              <a:rPr lang="en-US" sz="1800" b="1">
                <a:solidFill>
                  <a:srgbClr val="000000"/>
                </a:solidFill>
                <a:latin typeface="Courier New" pitchFamily="49" charset="0"/>
              </a:rPr>
              <a:t>  5                          WHERE   empno = 7499)</a:t>
            </a:r>
          </a:p>
          <a:p>
            <a:pPr>
              <a:tabLst>
                <a:tab pos="1200150" algn="l"/>
              </a:tabLst>
              <a:defRPr/>
            </a:pPr>
            <a:r>
              <a:rPr lang="en-US" sz="1800" b="1">
                <a:solidFill>
                  <a:srgbClr val="000000"/>
                </a:solidFill>
                <a:latin typeface="Courier New" pitchFamily="49" charset="0"/>
              </a:rPr>
              <a:t>  6  WHERE   empno = 7698;</a:t>
            </a: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1 row updated.</a:t>
            </a:r>
          </a:p>
        </p:txBody>
      </p:sp>
      <p:sp>
        <p:nvSpPr>
          <p:cNvPr id="34822" name="Rectangle 6">
            <a:extLst>
              <a:ext uri="{FF2B5EF4-FFF2-40B4-BE49-F238E27FC236}">
                <a16:creationId xmlns:a16="http://schemas.microsoft.com/office/drawing/2014/main" id="{9C6F590C-6251-1085-4108-9E18BC50744B}"/>
              </a:ext>
            </a:extLst>
          </p:cNvPr>
          <p:cNvSpPr>
            <a:spLocks noGrp="1" noChangeArrowheads="1"/>
          </p:cNvSpPr>
          <p:nvPr>
            <p:ph type="body" idx="1"/>
          </p:nvPr>
        </p:nvSpPr>
        <p:spPr>
          <a:xfrm>
            <a:off x="879475" y="1700213"/>
            <a:ext cx="7769225" cy="822325"/>
          </a:xfrm>
          <a:noFill/>
        </p:spPr>
        <p:txBody>
          <a:bodyPr lIns="92075" tIns="46038" rIns="92075" bIns="46038">
            <a:spAutoFit/>
          </a:bodyPr>
          <a:lstStyle/>
          <a:p>
            <a:r>
              <a:rPr lang="en-US" altLang="en-US" sz="2400"/>
              <a:t>Update employee 7698’s job and department to match that of employee 7499.</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36CD4F5-9D81-6CD8-2848-23BA11DFBC69}"/>
              </a:ext>
            </a:extLst>
          </p:cNvPr>
          <p:cNvSpPr>
            <a:spLocks noGrp="1" noChangeArrowheads="1"/>
          </p:cNvSpPr>
          <p:nvPr>
            <p:ph type="title"/>
          </p:nvPr>
        </p:nvSpPr>
        <p:spPr>
          <a:xfrm>
            <a:off x="433388" y="228600"/>
            <a:ext cx="8277225" cy="823913"/>
          </a:xfrm>
          <a:noFill/>
        </p:spPr>
        <p:txBody>
          <a:bodyPr lIns="92075" tIns="46038" rIns="92075" bIns="46038" anchor="t"/>
          <a:lstStyle/>
          <a:p>
            <a:r>
              <a:rPr lang="en-US" altLang="en-US" sz="2800">
                <a:solidFill>
                  <a:srgbClr val="800000"/>
                </a:solidFill>
              </a:rPr>
              <a:t>Updating Rows Based </a:t>
            </a:r>
            <a:br>
              <a:rPr lang="en-US" altLang="en-US" sz="2800">
                <a:solidFill>
                  <a:srgbClr val="800000"/>
                </a:solidFill>
              </a:rPr>
            </a:br>
            <a:r>
              <a:rPr lang="en-US" altLang="en-US" sz="2800">
                <a:solidFill>
                  <a:srgbClr val="800000"/>
                </a:solidFill>
              </a:rPr>
              <a:t>on Another Table</a:t>
            </a:r>
          </a:p>
        </p:txBody>
      </p:sp>
      <p:sp>
        <p:nvSpPr>
          <p:cNvPr id="36867" name="Rectangle 3">
            <a:extLst>
              <a:ext uri="{FF2B5EF4-FFF2-40B4-BE49-F238E27FC236}">
                <a16:creationId xmlns:a16="http://schemas.microsoft.com/office/drawing/2014/main" id="{C5B5A1AC-A344-7009-6245-EA3E6122F843}"/>
              </a:ext>
            </a:extLst>
          </p:cNvPr>
          <p:cNvSpPr>
            <a:spLocks noGrp="1" noChangeArrowheads="1"/>
          </p:cNvSpPr>
          <p:nvPr>
            <p:ph type="body" idx="1"/>
          </p:nvPr>
        </p:nvSpPr>
        <p:spPr>
          <a:xfrm>
            <a:off x="433388" y="1524000"/>
            <a:ext cx="8277225" cy="822325"/>
          </a:xfrm>
          <a:noFill/>
        </p:spPr>
        <p:txBody>
          <a:bodyPr lIns="92075" tIns="46038" rIns="92075" bIns="46038">
            <a:spAutoFit/>
          </a:bodyPr>
          <a:lstStyle/>
          <a:p>
            <a:r>
              <a:rPr lang="en-US" altLang="en-US" sz="2400"/>
              <a:t>Use subqueries in UPDATE statements to update rows in a table based on values from another table.</a:t>
            </a:r>
          </a:p>
        </p:txBody>
      </p:sp>
      <p:sp>
        <p:nvSpPr>
          <p:cNvPr id="468996" name="Rectangle 4">
            <a:extLst>
              <a:ext uri="{FF2B5EF4-FFF2-40B4-BE49-F238E27FC236}">
                <a16:creationId xmlns:a16="http://schemas.microsoft.com/office/drawing/2014/main" id="{51BB32C6-6B82-777E-FEC3-591750F5A0B3}"/>
              </a:ext>
            </a:extLst>
          </p:cNvPr>
          <p:cNvSpPr>
            <a:spLocks noChangeArrowheads="1"/>
          </p:cNvSpPr>
          <p:nvPr/>
        </p:nvSpPr>
        <p:spPr bwMode="blackWhite">
          <a:xfrm>
            <a:off x="935038" y="3175000"/>
            <a:ext cx="7497762" cy="23558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688975" algn="l"/>
                <a:tab pos="1824038" algn="l"/>
                <a:tab pos="3324225" algn="l"/>
                <a:tab pos="4579938" algn="l"/>
              </a:tabLst>
              <a:defRPr/>
            </a:pPr>
            <a:r>
              <a:rPr lang="en-US" sz="1800" b="1">
                <a:solidFill>
                  <a:srgbClr val="000000"/>
                </a:solidFill>
                <a:latin typeface="Courier New" pitchFamily="49" charset="0"/>
              </a:rPr>
              <a:t>SQL&gt;	UPDATE	employee</a:t>
            </a:r>
          </a:p>
          <a:p>
            <a:pPr>
              <a:tabLst>
                <a:tab pos="688975" algn="l"/>
                <a:tab pos="1824038" algn="l"/>
                <a:tab pos="3324225" algn="l"/>
                <a:tab pos="4579938" algn="l"/>
              </a:tabLst>
              <a:defRPr/>
            </a:pPr>
            <a:r>
              <a:rPr lang="en-US" sz="1800" b="1">
                <a:solidFill>
                  <a:srgbClr val="000000"/>
                </a:solidFill>
                <a:latin typeface="Courier New" pitchFamily="49" charset="0"/>
              </a:rPr>
              <a:t>  2	SET	deptno =  (SELECT	deptno</a:t>
            </a:r>
          </a:p>
          <a:p>
            <a:pPr>
              <a:tabLst>
                <a:tab pos="688975" algn="l"/>
                <a:tab pos="1824038" algn="l"/>
                <a:tab pos="3324225" algn="l"/>
                <a:tab pos="4579938" algn="l"/>
              </a:tabLst>
              <a:defRPr/>
            </a:pPr>
            <a:r>
              <a:rPr lang="en-US" sz="1800" b="1">
                <a:solidFill>
                  <a:srgbClr val="000000"/>
                </a:solidFill>
                <a:latin typeface="Courier New" pitchFamily="49" charset="0"/>
              </a:rPr>
              <a:t>  3			FROM	emp 	</a:t>
            </a:r>
          </a:p>
          <a:p>
            <a:pPr>
              <a:tabLst>
                <a:tab pos="688975" algn="l"/>
                <a:tab pos="1824038" algn="l"/>
                <a:tab pos="3324225" algn="l"/>
                <a:tab pos="4579938" algn="l"/>
              </a:tabLst>
              <a:defRPr/>
            </a:pPr>
            <a:r>
              <a:rPr lang="en-US" sz="1800" b="1">
                <a:solidFill>
                  <a:srgbClr val="000000"/>
                </a:solidFill>
                <a:latin typeface="Courier New" pitchFamily="49" charset="0"/>
              </a:rPr>
              <a:t>  4			WHERE	empno = 7788)</a:t>
            </a:r>
          </a:p>
          <a:p>
            <a:pPr>
              <a:tabLst>
                <a:tab pos="688975" algn="l"/>
                <a:tab pos="1824038" algn="l"/>
                <a:tab pos="3324225" algn="l"/>
                <a:tab pos="4579938" algn="l"/>
              </a:tabLst>
              <a:defRPr/>
            </a:pPr>
            <a:r>
              <a:rPr lang="en-US" sz="1800" b="1">
                <a:solidFill>
                  <a:srgbClr val="000000"/>
                </a:solidFill>
                <a:latin typeface="Courier New" pitchFamily="49" charset="0"/>
              </a:rPr>
              <a:t>  5	WHERE	job    =  (SELECT	job</a:t>
            </a:r>
          </a:p>
          <a:p>
            <a:pPr>
              <a:tabLst>
                <a:tab pos="688975" algn="l"/>
                <a:tab pos="1824038" algn="l"/>
                <a:tab pos="3324225" algn="l"/>
                <a:tab pos="4579938" algn="l"/>
              </a:tabLst>
              <a:defRPr/>
            </a:pPr>
            <a:r>
              <a:rPr lang="en-US" sz="1800" b="1">
                <a:solidFill>
                  <a:srgbClr val="000000"/>
                </a:solidFill>
                <a:latin typeface="Courier New" pitchFamily="49" charset="0"/>
              </a:rPr>
              <a:t>  6			FROM	emp</a:t>
            </a:r>
          </a:p>
          <a:p>
            <a:pPr>
              <a:tabLst>
                <a:tab pos="688975" algn="l"/>
                <a:tab pos="1824038" algn="l"/>
                <a:tab pos="3324225" algn="l"/>
                <a:tab pos="4579938" algn="l"/>
              </a:tabLst>
              <a:defRPr/>
            </a:pPr>
            <a:r>
              <a:rPr lang="en-US" sz="1800" b="1">
                <a:solidFill>
                  <a:srgbClr val="000000"/>
                </a:solidFill>
                <a:latin typeface="Courier New" pitchFamily="49" charset="0"/>
              </a:rPr>
              <a:t>  7			WHERE	empno = 7788);</a:t>
            </a:r>
          </a:p>
          <a:p>
            <a:pPr>
              <a:tabLst>
                <a:tab pos="688975" algn="l"/>
                <a:tab pos="1824038" algn="l"/>
                <a:tab pos="3324225" algn="l"/>
                <a:tab pos="4579938" algn="l"/>
              </a:tabLst>
              <a:defRPr/>
            </a:pPr>
            <a:r>
              <a:rPr lang="en-US" sz="1800" b="1">
                <a:solidFill>
                  <a:srgbClr val="FF3300"/>
                </a:solidFill>
                <a:effectLst>
                  <a:outerShdw blurRad="38100" dist="38100" dir="2700000" algn="tl">
                    <a:srgbClr val="000000"/>
                  </a:outerShdw>
                </a:effectLst>
                <a:latin typeface="Courier New" pitchFamily="49" charset="0"/>
              </a:rPr>
              <a:t>2 rows updated.</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5602BF8-1969-298C-39ED-BEC8792D0307}"/>
              </a:ext>
            </a:extLst>
          </p:cNvPr>
          <p:cNvSpPr>
            <a:spLocks noChangeArrowheads="1"/>
          </p:cNvSpPr>
          <p:nvPr/>
        </p:nvSpPr>
        <p:spPr bwMode="blackWhite">
          <a:xfrm>
            <a:off x="925513" y="4157663"/>
            <a:ext cx="7510462" cy="149066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UPDATE emp</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ERROR at line 1:</a:t>
            </a:r>
          </a:p>
          <a:p>
            <a:pPr>
              <a:spcBef>
                <a:spcPct val="0"/>
              </a:spcBef>
              <a:buFontTx/>
              <a:buNone/>
            </a:pPr>
            <a:r>
              <a:rPr lang="en-US" altLang="en-US" sz="1800" b="1">
                <a:solidFill>
                  <a:srgbClr val="000000"/>
                </a:solidFill>
                <a:latin typeface="Courier New" panose="02070309020205020404" pitchFamily="49" charset="0"/>
              </a:rPr>
              <a:t>ORA-02291: integrity constraint (USR.EMP_DEPTNO_FK) violated - parent key not found</a:t>
            </a:r>
          </a:p>
        </p:txBody>
      </p:sp>
      <p:sp>
        <p:nvSpPr>
          <p:cNvPr id="38915" name="Rectangle 3">
            <a:extLst>
              <a:ext uri="{FF2B5EF4-FFF2-40B4-BE49-F238E27FC236}">
                <a16:creationId xmlns:a16="http://schemas.microsoft.com/office/drawing/2014/main" id="{75BB3A16-066D-0FE3-072D-19F692188C1A}"/>
              </a:ext>
            </a:extLst>
          </p:cNvPr>
          <p:cNvSpPr>
            <a:spLocks noChangeArrowheads="1"/>
          </p:cNvSpPr>
          <p:nvPr/>
        </p:nvSpPr>
        <p:spPr bwMode="blackWhite">
          <a:xfrm>
            <a:off x="941388" y="2257425"/>
            <a:ext cx="7469187" cy="9969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3324225" algn="l"/>
                <a:tab pos="4579938"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3324225" algn="l"/>
                <a:tab pos="4579938"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UPDATE	emp</a:t>
            </a:r>
          </a:p>
          <a:p>
            <a:pPr>
              <a:spcBef>
                <a:spcPct val="0"/>
              </a:spcBef>
              <a:buFontTx/>
              <a:buNone/>
            </a:pPr>
            <a:r>
              <a:rPr lang="en-US" altLang="en-US" sz="1800" b="1">
                <a:solidFill>
                  <a:srgbClr val="000000"/>
                </a:solidFill>
                <a:latin typeface="Courier New" panose="02070309020205020404" pitchFamily="49" charset="0"/>
              </a:rPr>
              <a:t>  2  SET	deptno = 55</a:t>
            </a:r>
          </a:p>
          <a:p>
            <a:pPr>
              <a:spcBef>
                <a:spcPct val="0"/>
              </a:spcBef>
              <a:buFontTx/>
              <a:buNone/>
            </a:pPr>
            <a:r>
              <a:rPr lang="en-US" altLang="en-US" sz="1800" b="1">
                <a:solidFill>
                  <a:srgbClr val="000000"/>
                </a:solidFill>
                <a:latin typeface="Courier New" panose="02070309020205020404" pitchFamily="49" charset="0"/>
              </a:rPr>
              <a:t>  3  WHERE	deptno = 10;</a:t>
            </a:r>
          </a:p>
        </p:txBody>
      </p:sp>
      <p:sp>
        <p:nvSpPr>
          <p:cNvPr id="38916" name="Rectangle 4">
            <a:extLst>
              <a:ext uri="{FF2B5EF4-FFF2-40B4-BE49-F238E27FC236}">
                <a16:creationId xmlns:a16="http://schemas.microsoft.com/office/drawing/2014/main" id="{96889710-4882-7A29-58A0-2EE26FFE5F07}"/>
              </a:ext>
            </a:extLst>
          </p:cNvPr>
          <p:cNvSpPr>
            <a:spLocks noGrp="1" noChangeArrowheads="1"/>
          </p:cNvSpPr>
          <p:nvPr>
            <p:ph type="title"/>
          </p:nvPr>
        </p:nvSpPr>
        <p:spPr>
          <a:noFill/>
        </p:spPr>
        <p:txBody>
          <a:bodyPr lIns="92075" tIns="46038" rIns="92075" bIns="46038" anchor="t"/>
          <a:lstStyle/>
          <a:p>
            <a:r>
              <a:rPr lang="en-US" altLang="en-US" sz="2800">
                <a:solidFill>
                  <a:srgbClr val="800000"/>
                </a:solidFill>
              </a:rPr>
              <a:t>Updating Rows: </a:t>
            </a:r>
            <a:br>
              <a:rPr lang="en-US" altLang="en-US" sz="2800">
                <a:solidFill>
                  <a:srgbClr val="800000"/>
                </a:solidFill>
              </a:rPr>
            </a:br>
            <a:r>
              <a:rPr lang="en-US" altLang="en-US" sz="2800">
                <a:solidFill>
                  <a:srgbClr val="800000"/>
                </a:solidFill>
              </a:rPr>
              <a:t>Integrity Constraint Error</a:t>
            </a:r>
          </a:p>
        </p:txBody>
      </p:sp>
      <p:sp>
        <p:nvSpPr>
          <p:cNvPr id="471045" name="Rectangle 5">
            <a:extLst>
              <a:ext uri="{FF2B5EF4-FFF2-40B4-BE49-F238E27FC236}">
                <a16:creationId xmlns:a16="http://schemas.microsoft.com/office/drawing/2014/main" id="{CB7FB0D3-E2E7-CC51-6385-042F3A4D61AC}"/>
              </a:ext>
            </a:extLst>
          </p:cNvPr>
          <p:cNvSpPr>
            <a:spLocks noGrp="1" noChangeArrowheads="1"/>
          </p:cNvSpPr>
          <p:nvPr>
            <p:ph type="body" idx="1"/>
          </p:nvPr>
        </p:nvSpPr>
        <p:spPr>
          <a:xfrm rot="19440000">
            <a:off x="2725738" y="2886075"/>
            <a:ext cx="6008687" cy="457200"/>
          </a:xfrm>
          <a:noFill/>
        </p:spPr>
        <p:txBody>
          <a:bodyPr lIns="92075" tIns="46038" rIns="92075" bIns="46038">
            <a:spAutoFit/>
          </a:bodyPr>
          <a:lstStyle/>
          <a:p>
            <a:pPr marL="0" indent="0">
              <a:spcBef>
                <a:spcPct val="0"/>
              </a:spcBef>
            </a:pPr>
            <a:r>
              <a:rPr lang="en-US" altLang="en-US" sz="2400">
                <a:solidFill>
                  <a:srgbClr val="FF3300"/>
                </a:solidFill>
              </a:rPr>
              <a:t>Department number 55 does not exist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71045"/>
                                        </p:tgtEl>
                                        <p:attrNameLst>
                                          <p:attrName>style.visibility</p:attrName>
                                        </p:attrNameLst>
                                      </p:cBhvr>
                                      <p:to>
                                        <p:strVal val="visible"/>
                                      </p:to>
                                    </p:set>
                                    <p:animEffect transition="in" filter="wipe(down)">
                                      <p:cBhvr>
                                        <p:cTn id="7" dur="500"/>
                                        <p:tgtEl>
                                          <p:spTgt spid="471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5"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DA0999B-369F-869D-DBBD-F92F752C11FB}"/>
              </a:ext>
            </a:extLst>
          </p:cNvPr>
          <p:cNvSpPr>
            <a:spLocks noGrp="1" noChangeArrowheads="1"/>
          </p:cNvSpPr>
          <p:nvPr>
            <p:ph type="title"/>
          </p:nvPr>
        </p:nvSpPr>
        <p:spPr>
          <a:xfrm>
            <a:off x="433388" y="228600"/>
            <a:ext cx="8277225" cy="823913"/>
          </a:xfrm>
          <a:noFill/>
        </p:spPr>
        <p:txBody>
          <a:bodyPr lIns="92075" tIns="46038" rIns="92075" bIns="46038" anchor="t"/>
          <a:lstStyle/>
          <a:p>
            <a:r>
              <a:rPr lang="en-US" altLang="en-US" sz="2800">
                <a:solidFill>
                  <a:srgbClr val="800000"/>
                </a:solidFill>
              </a:rPr>
              <a:t>Inserting or Updating Rows Based </a:t>
            </a:r>
            <a:br>
              <a:rPr lang="en-US" altLang="en-US" sz="2800">
                <a:solidFill>
                  <a:srgbClr val="800000"/>
                </a:solidFill>
              </a:rPr>
            </a:br>
            <a:r>
              <a:rPr lang="en-US" altLang="en-US" sz="2800">
                <a:solidFill>
                  <a:srgbClr val="800000"/>
                </a:solidFill>
              </a:rPr>
              <a:t>on DEFAULT value</a:t>
            </a:r>
          </a:p>
        </p:txBody>
      </p:sp>
      <p:sp>
        <p:nvSpPr>
          <p:cNvPr id="40963" name="Rectangle 3">
            <a:extLst>
              <a:ext uri="{FF2B5EF4-FFF2-40B4-BE49-F238E27FC236}">
                <a16:creationId xmlns:a16="http://schemas.microsoft.com/office/drawing/2014/main" id="{1B06BBB8-6264-788D-F8C7-22EBEA2748AE}"/>
              </a:ext>
            </a:extLst>
          </p:cNvPr>
          <p:cNvSpPr>
            <a:spLocks noGrp="1" noChangeArrowheads="1"/>
          </p:cNvSpPr>
          <p:nvPr>
            <p:ph type="body" idx="1"/>
          </p:nvPr>
        </p:nvSpPr>
        <p:spPr>
          <a:xfrm>
            <a:off x="433388" y="1524000"/>
            <a:ext cx="8277225" cy="461963"/>
          </a:xfrm>
          <a:noFill/>
        </p:spPr>
        <p:txBody>
          <a:bodyPr lIns="92075" tIns="46038" rIns="92075" bIns="46038">
            <a:spAutoFit/>
          </a:bodyPr>
          <a:lstStyle/>
          <a:p>
            <a:endParaRPr lang="en-US" altLang="en-US" sz="2400"/>
          </a:p>
        </p:txBody>
      </p:sp>
      <p:sp>
        <p:nvSpPr>
          <p:cNvPr id="40964" name="Rectangle 3">
            <a:extLst>
              <a:ext uri="{FF2B5EF4-FFF2-40B4-BE49-F238E27FC236}">
                <a16:creationId xmlns:a16="http://schemas.microsoft.com/office/drawing/2014/main" id="{4F4927FB-62A7-4EA0-DAD7-967E39B5E418}"/>
              </a:ext>
            </a:extLst>
          </p:cNvPr>
          <p:cNvSpPr>
            <a:spLocks noChangeArrowheads="1"/>
          </p:cNvSpPr>
          <p:nvPr/>
        </p:nvSpPr>
        <p:spPr bwMode="blackWhite">
          <a:xfrm>
            <a:off x="857250" y="3222625"/>
            <a:ext cx="7493000" cy="10160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spcBef>
                <a:spcPct val="20000"/>
              </a:spcBef>
              <a:buChar char="•"/>
              <a:tabLst>
                <a:tab pos="688975" algn="l"/>
                <a:tab pos="1824038" algn="l"/>
                <a:tab pos="2735263" algn="l"/>
                <a:tab pos="3648075" algn="l"/>
                <a:tab pos="5026025"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2735263" algn="l"/>
                <a:tab pos="3648075" algn="l"/>
                <a:tab pos="5026025"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0000"/>
                </a:solidFill>
                <a:latin typeface="Courier New" panose="02070309020205020404" pitchFamily="49" charset="0"/>
              </a:rPr>
              <a:t>INSERT INTO departments</a:t>
            </a:r>
          </a:p>
          <a:p>
            <a:pPr eaLnBrk="1" hangingPunct="1">
              <a:spcBef>
                <a:spcPct val="0"/>
              </a:spcBef>
              <a:buFontTx/>
              <a:buNone/>
            </a:pPr>
            <a:r>
              <a:rPr lang="en-US" altLang="en-US" sz="1800">
                <a:solidFill>
                  <a:srgbClr val="000000"/>
                </a:solidFill>
                <a:latin typeface="Courier New" panose="02070309020205020404" pitchFamily="49" charset="0"/>
              </a:rPr>
              <a:t>  (department_id, department_name, manager_id) </a:t>
            </a:r>
          </a:p>
          <a:p>
            <a:pPr eaLnBrk="1" hangingPunct="1">
              <a:spcBef>
                <a:spcPct val="0"/>
              </a:spcBef>
              <a:buFontTx/>
              <a:buNone/>
            </a:pPr>
            <a:r>
              <a:rPr lang="en-US" altLang="en-US" sz="1800">
                <a:solidFill>
                  <a:srgbClr val="000000"/>
                </a:solidFill>
                <a:latin typeface="Courier New" panose="02070309020205020404" pitchFamily="49" charset="0"/>
              </a:rPr>
              <a:t>VALUES (300, 'Engineering', </a:t>
            </a:r>
            <a:r>
              <a:rPr lang="en-US" altLang="en-US" sz="1800">
                <a:solidFill>
                  <a:srgbClr val="FC0128"/>
                </a:solidFill>
                <a:latin typeface="Courier New" panose="02070309020205020404" pitchFamily="49" charset="0"/>
              </a:rPr>
              <a:t>DEFAULT</a:t>
            </a:r>
            <a:r>
              <a:rPr lang="en-US" altLang="en-US" sz="1800">
                <a:solidFill>
                  <a:srgbClr val="000000"/>
                </a:solidFill>
                <a:latin typeface="Courier New" panose="02070309020205020404" pitchFamily="49" charset="0"/>
              </a:rPr>
              <a:t>);</a:t>
            </a:r>
          </a:p>
        </p:txBody>
      </p:sp>
      <p:sp>
        <p:nvSpPr>
          <p:cNvPr id="40965" name="Rectangle 4">
            <a:extLst>
              <a:ext uri="{FF2B5EF4-FFF2-40B4-BE49-F238E27FC236}">
                <a16:creationId xmlns:a16="http://schemas.microsoft.com/office/drawing/2014/main" id="{45B06B8A-4CA7-701D-1E13-F45CAB4E59CA}"/>
              </a:ext>
            </a:extLst>
          </p:cNvPr>
          <p:cNvSpPr>
            <a:spLocks noChangeArrowheads="1"/>
          </p:cNvSpPr>
          <p:nvPr/>
        </p:nvSpPr>
        <p:spPr bwMode="blackWhite">
          <a:xfrm>
            <a:off x="839788" y="5334000"/>
            <a:ext cx="7510462" cy="666750"/>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eaLnBrk="1" hangingPunct="1">
              <a:spcBef>
                <a:spcPct val="0"/>
              </a:spcBef>
              <a:buFontTx/>
              <a:buNone/>
            </a:pPr>
            <a:r>
              <a:rPr lang="en-US" altLang="en-US" sz="1800">
                <a:solidFill>
                  <a:srgbClr val="000000"/>
                </a:solidFill>
                <a:latin typeface="Courier New" panose="02070309020205020404" pitchFamily="49" charset="0"/>
              </a:rPr>
              <a:t>UPDATE departments </a:t>
            </a:r>
          </a:p>
          <a:p>
            <a:pPr eaLnBrk="1" hangingPunct="1">
              <a:spcBef>
                <a:spcPct val="0"/>
              </a:spcBef>
              <a:buFontTx/>
              <a:buNone/>
            </a:pPr>
            <a:r>
              <a:rPr lang="en-US" altLang="en-US" sz="1800">
                <a:solidFill>
                  <a:srgbClr val="000000"/>
                </a:solidFill>
                <a:latin typeface="Courier New" panose="02070309020205020404" pitchFamily="49" charset="0"/>
              </a:rPr>
              <a:t>SET manager_id = </a:t>
            </a:r>
            <a:r>
              <a:rPr lang="en-US" altLang="en-US" sz="1800">
                <a:solidFill>
                  <a:srgbClr val="FC0128"/>
                </a:solidFill>
                <a:latin typeface="Courier New" panose="02070309020205020404" pitchFamily="49" charset="0"/>
              </a:rPr>
              <a:t>DEFAULT</a:t>
            </a:r>
            <a:r>
              <a:rPr lang="en-US" altLang="en-US" sz="1800">
                <a:solidFill>
                  <a:srgbClr val="000000"/>
                </a:solidFill>
                <a:latin typeface="Courier New" panose="02070309020205020404" pitchFamily="49" charset="0"/>
              </a:rPr>
              <a:t> WHERE department_id = 10;</a:t>
            </a:r>
          </a:p>
        </p:txBody>
      </p:sp>
      <p:sp>
        <p:nvSpPr>
          <p:cNvPr id="7" name="Rectangle 5">
            <a:extLst>
              <a:ext uri="{FF2B5EF4-FFF2-40B4-BE49-F238E27FC236}">
                <a16:creationId xmlns:a16="http://schemas.microsoft.com/office/drawing/2014/main" id="{7242CCF3-67D1-C2BE-59C5-5C2E5AAE908F}"/>
              </a:ext>
            </a:extLst>
          </p:cNvPr>
          <p:cNvSpPr txBox="1">
            <a:spLocks noChangeArrowheads="1"/>
          </p:cNvSpPr>
          <p:nvPr/>
        </p:nvSpPr>
        <p:spPr bwMode="auto">
          <a:xfrm>
            <a:off x="785813" y="2643188"/>
            <a:ext cx="7385050" cy="2149475"/>
          </a:xfrm>
          <a:prstGeom prst="rect">
            <a:avLst/>
          </a:prstGeom>
          <a:noFill/>
          <a:ln w="9525">
            <a:noFill/>
            <a:miter lim="800000"/>
            <a:headEnd/>
            <a:tailEnd/>
          </a:ln>
        </p:spPr>
        <p:txBody>
          <a:bodyPr/>
          <a:lstStyle/>
          <a:p>
            <a:pPr marL="342900" indent="-342900">
              <a:spcBef>
                <a:spcPct val="20000"/>
              </a:spcBef>
              <a:buFontTx/>
              <a:buChar char="•"/>
              <a:defRPr/>
            </a:pPr>
            <a:r>
              <a:rPr lang="en-US" sz="2800" kern="0" dirty="0">
                <a:latin typeface="Courier New" pitchFamily="49" charset="0"/>
              </a:rPr>
              <a:t>DEFAULT</a:t>
            </a:r>
            <a:r>
              <a:rPr lang="en-US" sz="2800" kern="0" dirty="0">
                <a:latin typeface="+mn-lt"/>
              </a:rPr>
              <a:t> with </a:t>
            </a:r>
            <a:r>
              <a:rPr lang="en-US" sz="2800" kern="0" dirty="0">
                <a:latin typeface="Courier New" pitchFamily="49" charset="0"/>
              </a:rPr>
              <a:t>INSERT</a:t>
            </a:r>
            <a:r>
              <a:rPr lang="en-US" sz="2800" kern="0" dirty="0">
                <a:latin typeface="+mn-lt"/>
              </a:rPr>
              <a:t>:</a:t>
            </a:r>
          </a:p>
          <a:p>
            <a:pPr marL="342900" indent="-342900">
              <a:spcBef>
                <a:spcPct val="20000"/>
              </a:spcBef>
              <a:buFont typeface="Arial" pitchFamily="34" charset="0"/>
              <a:buNone/>
              <a:defRPr/>
            </a:pPr>
            <a:endParaRPr lang="en-US" sz="2800" kern="0" dirty="0">
              <a:latin typeface="+mn-lt"/>
            </a:endParaRPr>
          </a:p>
          <a:p>
            <a:pPr marL="342900" indent="-342900">
              <a:spcBef>
                <a:spcPct val="20000"/>
              </a:spcBef>
              <a:buFont typeface="Arial" pitchFamily="34" charset="0"/>
              <a:buNone/>
              <a:defRPr/>
            </a:pPr>
            <a:endParaRPr lang="en-US" sz="2800" kern="0" dirty="0">
              <a:latin typeface="+mn-lt"/>
            </a:endParaRPr>
          </a:p>
          <a:p>
            <a:pPr marL="342900" indent="-342900">
              <a:spcBef>
                <a:spcPct val="20000"/>
              </a:spcBef>
              <a:buFont typeface="Arial" pitchFamily="34" charset="0"/>
              <a:buNone/>
              <a:defRPr/>
            </a:pPr>
            <a:endParaRPr lang="en-US" sz="2800" kern="0" dirty="0">
              <a:latin typeface="+mn-lt"/>
            </a:endParaRPr>
          </a:p>
          <a:p>
            <a:pPr marL="342900" indent="-342900">
              <a:spcBef>
                <a:spcPct val="20000"/>
              </a:spcBef>
              <a:buFontTx/>
              <a:buChar char="•"/>
              <a:defRPr/>
            </a:pPr>
            <a:r>
              <a:rPr lang="en-US" sz="2800" kern="0" dirty="0">
                <a:latin typeface="Courier New" pitchFamily="49" charset="0"/>
              </a:rPr>
              <a:t>DEFAULT</a:t>
            </a:r>
            <a:r>
              <a:rPr lang="en-US" sz="2800" kern="0" dirty="0">
                <a:latin typeface="+mn-lt"/>
              </a:rPr>
              <a:t> with </a:t>
            </a:r>
            <a:r>
              <a:rPr lang="en-US" sz="2800" kern="0" dirty="0">
                <a:latin typeface="Courier New" pitchFamily="49" charset="0"/>
              </a:rPr>
              <a:t>UPDATE</a:t>
            </a:r>
            <a:r>
              <a:rPr lang="en-US" sz="2800" kern="0" dirty="0">
                <a:latin typeface="+mn-lt"/>
              </a:rPr>
              <a:t>:</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41B4FC9-FAD3-2966-9A4E-50E3265D7BAD}"/>
              </a:ext>
            </a:extLst>
          </p:cNvPr>
          <p:cNvSpPr>
            <a:spLocks noChangeArrowheads="1"/>
          </p:cNvSpPr>
          <p:nvPr/>
        </p:nvSpPr>
        <p:spPr bwMode="blackWhite">
          <a:xfrm>
            <a:off x="627063" y="1458913"/>
            <a:ext cx="3862387" cy="24606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grpSp>
        <p:nvGrpSpPr>
          <p:cNvPr id="2" name="Group 3">
            <a:extLst>
              <a:ext uri="{FF2B5EF4-FFF2-40B4-BE49-F238E27FC236}">
                <a16:creationId xmlns:a16="http://schemas.microsoft.com/office/drawing/2014/main" id="{B4C814BB-70E4-4E33-580C-7A436E0C3C79}"/>
              </a:ext>
            </a:extLst>
          </p:cNvPr>
          <p:cNvGrpSpPr>
            <a:grpSpLocks/>
          </p:cNvGrpSpPr>
          <p:nvPr/>
        </p:nvGrpSpPr>
        <p:grpSpPr bwMode="auto">
          <a:xfrm>
            <a:off x="4573588" y="2336800"/>
            <a:ext cx="3579812" cy="1474788"/>
            <a:chOff x="2881" y="1472"/>
            <a:chExt cx="2255" cy="929"/>
          </a:xfrm>
        </p:grpSpPr>
        <p:sp>
          <p:nvSpPr>
            <p:cNvPr id="473092" name="Rectangle 4">
              <a:extLst>
                <a:ext uri="{FF2B5EF4-FFF2-40B4-BE49-F238E27FC236}">
                  <a16:creationId xmlns:a16="http://schemas.microsoft.com/office/drawing/2014/main" id="{B93A4CF7-42A0-242D-EAAB-B8F2227C4900}"/>
                </a:ext>
              </a:extLst>
            </p:cNvPr>
            <p:cNvSpPr>
              <a:spLocks noChangeArrowheads="1"/>
            </p:cNvSpPr>
            <p:nvPr/>
          </p:nvSpPr>
          <p:spPr bwMode="auto">
            <a:xfrm>
              <a:off x="2881" y="1472"/>
              <a:ext cx="2255" cy="439"/>
            </a:xfrm>
            <a:prstGeom prst="rect">
              <a:avLst/>
            </a:prstGeom>
            <a:noFill/>
            <a:ln w="9525">
              <a:noFill/>
              <a:miter lim="800000"/>
              <a:headEnd/>
              <a:tailEnd/>
            </a:ln>
            <a:effectLst/>
          </p:spPr>
          <p:txBody>
            <a:bodyPr lIns="92075" tIns="46038" rIns="92075" bIns="46038">
              <a:spAutoFit/>
            </a:bodyPr>
            <a:lstStyle/>
            <a:p>
              <a:pPr defTabSz="346075">
                <a:lnSpc>
                  <a:spcPct val="65000"/>
                </a:lnSpc>
                <a:spcBef>
                  <a:spcPct val="35000"/>
                </a:spcBef>
                <a:tabLst>
                  <a:tab pos="576263" algn="l"/>
                </a:tabLst>
                <a:defRPr/>
              </a:pPr>
              <a:r>
                <a:rPr lang="en-US" b="1">
                  <a:solidFill>
                    <a:schemeClr val="accent2"/>
                  </a:solidFill>
                  <a:effectLst>
                    <a:outerShdw blurRad="38100" dist="38100" dir="2700000" algn="tl">
                      <a:srgbClr val="000000"/>
                    </a:outerShdw>
                  </a:effectLst>
                </a:rPr>
                <a:t>“…delete a row </a:t>
              </a:r>
            </a:p>
            <a:p>
              <a:pPr defTabSz="346075">
                <a:lnSpc>
                  <a:spcPct val="65000"/>
                </a:lnSpc>
                <a:spcBef>
                  <a:spcPct val="35000"/>
                </a:spcBef>
                <a:tabLst>
                  <a:tab pos="576263" algn="l"/>
                </a:tabLst>
                <a:defRPr/>
              </a:pPr>
              <a:r>
                <a:rPr lang="en-US" b="1">
                  <a:solidFill>
                    <a:schemeClr val="accent2"/>
                  </a:solidFill>
                  <a:effectLst>
                    <a:outerShdw blurRad="38100" dist="38100" dir="2700000" algn="tl">
                      <a:srgbClr val="000000"/>
                    </a:outerShdw>
                  </a:effectLst>
                </a:rPr>
                <a:t>from DEPT table…”</a:t>
              </a:r>
            </a:p>
          </p:txBody>
        </p:sp>
        <p:sp>
          <p:nvSpPr>
            <p:cNvPr id="43038" name="Arc 5">
              <a:extLst>
                <a:ext uri="{FF2B5EF4-FFF2-40B4-BE49-F238E27FC236}">
                  <a16:creationId xmlns:a16="http://schemas.microsoft.com/office/drawing/2014/main" id="{2D52A5BD-1B1F-C4F5-1D7A-1962232693E8}"/>
                </a:ext>
              </a:extLst>
            </p:cNvPr>
            <p:cNvSpPr>
              <a:spLocks/>
            </p:cNvSpPr>
            <p:nvPr/>
          </p:nvSpPr>
          <p:spPr bwMode="auto">
            <a:xfrm>
              <a:off x="2964" y="1978"/>
              <a:ext cx="1537" cy="423"/>
            </a:xfrm>
            <a:custGeom>
              <a:avLst/>
              <a:gdLst>
                <a:gd name="T0" fmla="*/ 0 w 20501"/>
                <a:gd name="T1" fmla="*/ 0 h 21600"/>
                <a:gd name="T2" fmla="*/ 1 w 20501"/>
                <a:gd name="T3" fmla="*/ 0 h 21600"/>
                <a:gd name="T4" fmla="*/ 0 w 20501"/>
                <a:gd name="T5" fmla="*/ 0 h 21600"/>
                <a:gd name="T6" fmla="*/ 0 60000 65536"/>
                <a:gd name="T7" fmla="*/ 0 60000 65536"/>
                <a:gd name="T8" fmla="*/ 0 60000 65536"/>
              </a:gdLst>
              <a:ahLst/>
              <a:cxnLst>
                <a:cxn ang="T6">
                  <a:pos x="T0" y="T1"/>
                </a:cxn>
                <a:cxn ang="T7">
                  <a:pos x="T2" y="T3"/>
                </a:cxn>
                <a:cxn ang="T8">
                  <a:pos x="T4" y="T5"/>
                </a:cxn>
              </a:cxnLst>
              <a:rect l="0" t="0" r="r" b="b"/>
              <a:pathLst>
                <a:path w="20501" h="21600" fill="none" extrusionOk="0">
                  <a:moveTo>
                    <a:pt x="0" y="0"/>
                  </a:moveTo>
                  <a:cubicBezTo>
                    <a:pt x="4" y="0"/>
                    <a:pt x="8" y="-1"/>
                    <a:pt x="13" y="0"/>
                  </a:cubicBezTo>
                  <a:cubicBezTo>
                    <a:pt x="9306" y="0"/>
                    <a:pt x="17557" y="5944"/>
                    <a:pt x="20501" y="14758"/>
                  </a:cubicBezTo>
                </a:path>
                <a:path w="20501" h="21600" stroke="0" extrusionOk="0">
                  <a:moveTo>
                    <a:pt x="0" y="0"/>
                  </a:moveTo>
                  <a:cubicBezTo>
                    <a:pt x="4" y="0"/>
                    <a:pt x="8" y="-1"/>
                    <a:pt x="13" y="0"/>
                  </a:cubicBezTo>
                  <a:cubicBezTo>
                    <a:pt x="9306" y="0"/>
                    <a:pt x="17557" y="5944"/>
                    <a:pt x="20501" y="14758"/>
                  </a:cubicBezTo>
                  <a:lnTo>
                    <a:pt x="13" y="21600"/>
                  </a:lnTo>
                  <a:lnTo>
                    <a:pt x="0" y="0"/>
                  </a:lnTo>
                  <a:close/>
                </a:path>
              </a:pathLst>
            </a:custGeom>
            <a:noFill/>
            <a:ln w="50800" cap="rnd">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3012" name="Rectangle 6">
            <a:extLst>
              <a:ext uri="{FF2B5EF4-FFF2-40B4-BE49-F238E27FC236}">
                <a16:creationId xmlns:a16="http://schemas.microsoft.com/office/drawing/2014/main" id="{7E6A4EA8-C3E8-B3EC-6C2E-7D10049842E2}"/>
              </a:ext>
            </a:extLst>
          </p:cNvPr>
          <p:cNvSpPr>
            <a:spLocks noChangeArrowheads="1"/>
          </p:cNvSpPr>
          <p:nvPr/>
        </p:nvSpPr>
        <p:spPr bwMode="ltGray">
          <a:xfrm>
            <a:off x="638175" y="3076575"/>
            <a:ext cx="3838575" cy="238125"/>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3013" name="Rectangle 7">
            <a:extLst>
              <a:ext uri="{FF2B5EF4-FFF2-40B4-BE49-F238E27FC236}">
                <a16:creationId xmlns:a16="http://schemas.microsoft.com/office/drawing/2014/main" id="{4A8F1E1C-114D-5BA6-63D2-2CF259180E13}"/>
              </a:ext>
            </a:extLst>
          </p:cNvPr>
          <p:cNvSpPr>
            <a:spLocks noGrp="1" noChangeArrowheads="1"/>
          </p:cNvSpPr>
          <p:nvPr>
            <p:ph type="title"/>
          </p:nvPr>
        </p:nvSpPr>
        <p:spPr>
          <a:xfrm>
            <a:off x="323850" y="515938"/>
            <a:ext cx="5075238" cy="536575"/>
          </a:xfrm>
          <a:noFill/>
        </p:spPr>
        <p:txBody>
          <a:bodyPr lIns="92075" tIns="46038" rIns="92075" bIns="46038" anchor="t"/>
          <a:lstStyle/>
          <a:p>
            <a:r>
              <a:rPr lang="en-US" altLang="en-US" sz="2800">
                <a:solidFill>
                  <a:srgbClr val="800000"/>
                </a:solidFill>
              </a:rPr>
              <a:t>Removing a Row from a Table </a:t>
            </a:r>
          </a:p>
        </p:txBody>
      </p:sp>
      <p:sp>
        <p:nvSpPr>
          <p:cNvPr id="473096" name="Rectangle 8">
            <a:extLst>
              <a:ext uri="{FF2B5EF4-FFF2-40B4-BE49-F238E27FC236}">
                <a16:creationId xmlns:a16="http://schemas.microsoft.com/office/drawing/2014/main" id="{25B2E675-7622-FC28-C41A-8BD1E221690B}"/>
              </a:ext>
            </a:extLst>
          </p:cNvPr>
          <p:cNvSpPr>
            <a:spLocks noChangeArrowheads="1"/>
          </p:cNvSpPr>
          <p:nvPr/>
        </p:nvSpPr>
        <p:spPr bwMode="auto">
          <a:xfrm>
            <a:off x="539750" y="1077913"/>
            <a:ext cx="931863" cy="396875"/>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43015" name="Rectangle 9">
            <a:extLst>
              <a:ext uri="{FF2B5EF4-FFF2-40B4-BE49-F238E27FC236}">
                <a16:creationId xmlns:a16="http://schemas.microsoft.com/office/drawing/2014/main" id="{F06F56DE-C539-9D97-C3DF-FD61E6D245E2}"/>
              </a:ext>
            </a:extLst>
          </p:cNvPr>
          <p:cNvSpPr>
            <a:spLocks noChangeArrowheads="1"/>
          </p:cNvSpPr>
          <p:nvPr/>
        </p:nvSpPr>
        <p:spPr bwMode="blackWhite">
          <a:xfrm>
            <a:off x="639763" y="1473200"/>
            <a:ext cx="3836987"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a:p>
            <a:pPr>
              <a:lnSpc>
                <a:spcPct val="95000"/>
              </a:lnSpc>
              <a:spcBef>
                <a:spcPct val="0"/>
              </a:spcBef>
              <a:buFontTx/>
              <a:buNone/>
            </a:pPr>
            <a:r>
              <a:rPr lang="en-US" altLang="en-US" sz="1800" b="1">
                <a:solidFill>
                  <a:srgbClr val="000000"/>
                </a:solidFill>
                <a:latin typeface="Courier New" panose="02070309020205020404" pitchFamily="49" charset="0"/>
              </a:rPr>
              <a:t>    50	</a:t>
            </a:r>
            <a:r>
              <a:rPr lang="en-US" altLang="en-US" sz="1700" b="1">
                <a:solidFill>
                  <a:srgbClr val="000000"/>
                </a:solidFill>
                <a:latin typeface="Courier New" panose="02070309020205020404" pitchFamily="49" charset="0"/>
              </a:rPr>
              <a:t>DEVELOPMENT</a:t>
            </a:r>
            <a:r>
              <a:rPr lang="en-US" altLang="en-US" sz="1600" b="1">
                <a:solidFill>
                  <a:srgbClr val="000000"/>
                </a:solidFill>
                <a:latin typeface="Courier New" panose="02070309020205020404" pitchFamily="49" charset="0"/>
              </a:rPr>
              <a:t>	</a:t>
            </a:r>
            <a:r>
              <a:rPr lang="en-US" altLang="en-US" sz="1800" b="1">
                <a:solidFill>
                  <a:srgbClr val="000000"/>
                </a:solidFill>
                <a:latin typeface="Courier New" panose="02070309020205020404" pitchFamily="49" charset="0"/>
              </a:rPr>
              <a:t>DETROIT</a:t>
            </a:r>
          </a:p>
          <a:p>
            <a:pPr>
              <a:lnSpc>
                <a:spcPct val="95000"/>
              </a:lnSpc>
              <a:spcBef>
                <a:spcPct val="0"/>
              </a:spcBef>
              <a:buFontTx/>
              <a:buNone/>
            </a:pPr>
            <a:r>
              <a:rPr lang="en-US" altLang="en-US" sz="1800" b="1">
                <a:solidFill>
                  <a:srgbClr val="000000"/>
                </a:solidFill>
                <a:latin typeface="Courier New" panose="02070309020205020404" pitchFamily="49" charset="0"/>
              </a:rPr>
              <a:t>    60	MIS		</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3016" name="Line 10">
            <a:extLst>
              <a:ext uri="{FF2B5EF4-FFF2-40B4-BE49-F238E27FC236}">
                <a16:creationId xmlns:a16="http://schemas.microsoft.com/office/drawing/2014/main" id="{80CE13E0-03C0-B2C8-B719-EBC2CE0F4C69}"/>
              </a:ext>
            </a:extLst>
          </p:cNvPr>
          <p:cNvSpPr>
            <a:spLocks noChangeShapeType="1"/>
          </p:cNvSpPr>
          <p:nvPr/>
        </p:nvSpPr>
        <p:spPr bwMode="auto">
          <a:xfrm>
            <a:off x="628650" y="1905000"/>
            <a:ext cx="3879850"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7" name="Line 11">
            <a:extLst>
              <a:ext uri="{FF2B5EF4-FFF2-40B4-BE49-F238E27FC236}">
                <a16:creationId xmlns:a16="http://schemas.microsoft.com/office/drawing/2014/main" id="{E02CFB5A-E3CD-5C6F-172B-1362B91BE3BE}"/>
              </a:ext>
            </a:extLst>
          </p:cNvPr>
          <p:cNvSpPr>
            <a:spLocks noChangeShapeType="1"/>
          </p:cNvSpPr>
          <p:nvPr/>
        </p:nvSpPr>
        <p:spPr bwMode="auto">
          <a:xfrm>
            <a:off x="622300" y="229870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8" name="Line 12">
            <a:extLst>
              <a:ext uri="{FF2B5EF4-FFF2-40B4-BE49-F238E27FC236}">
                <a16:creationId xmlns:a16="http://schemas.microsoft.com/office/drawing/2014/main" id="{907AF638-1DC5-6D85-627D-94F730A2A37F}"/>
              </a:ext>
            </a:extLst>
          </p:cNvPr>
          <p:cNvSpPr>
            <a:spLocks noChangeShapeType="1"/>
          </p:cNvSpPr>
          <p:nvPr/>
        </p:nvSpPr>
        <p:spPr bwMode="auto">
          <a:xfrm>
            <a:off x="622300" y="25590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19" name="Line 13">
            <a:extLst>
              <a:ext uri="{FF2B5EF4-FFF2-40B4-BE49-F238E27FC236}">
                <a16:creationId xmlns:a16="http://schemas.microsoft.com/office/drawing/2014/main" id="{6B811043-40DB-4F56-76EF-353B42B38E4D}"/>
              </a:ext>
            </a:extLst>
          </p:cNvPr>
          <p:cNvSpPr>
            <a:spLocks noChangeShapeType="1"/>
          </p:cNvSpPr>
          <p:nvPr/>
        </p:nvSpPr>
        <p:spPr bwMode="auto">
          <a:xfrm>
            <a:off x="622300" y="281940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0" name="Line 14">
            <a:extLst>
              <a:ext uri="{FF2B5EF4-FFF2-40B4-BE49-F238E27FC236}">
                <a16:creationId xmlns:a16="http://schemas.microsoft.com/office/drawing/2014/main" id="{EAECA628-E046-2A1B-37A9-77D8A7B7AC99}"/>
              </a:ext>
            </a:extLst>
          </p:cNvPr>
          <p:cNvSpPr>
            <a:spLocks noChangeShapeType="1"/>
          </p:cNvSpPr>
          <p:nvPr/>
        </p:nvSpPr>
        <p:spPr bwMode="auto">
          <a:xfrm>
            <a:off x="1625600" y="1450975"/>
            <a:ext cx="0" cy="248285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1" name="Line 15">
            <a:extLst>
              <a:ext uri="{FF2B5EF4-FFF2-40B4-BE49-F238E27FC236}">
                <a16:creationId xmlns:a16="http://schemas.microsoft.com/office/drawing/2014/main" id="{4BA357BF-9132-D0ED-D382-2AD49BAA96BB}"/>
              </a:ext>
            </a:extLst>
          </p:cNvPr>
          <p:cNvSpPr>
            <a:spLocks noChangeShapeType="1"/>
          </p:cNvSpPr>
          <p:nvPr/>
        </p:nvSpPr>
        <p:spPr bwMode="auto">
          <a:xfrm>
            <a:off x="3124200" y="1450975"/>
            <a:ext cx="0" cy="2511425"/>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2" name="Line 16">
            <a:extLst>
              <a:ext uri="{FF2B5EF4-FFF2-40B4-BE49-F238E27FC236}">
                <a16:creationId xmlns:a16="http://schemas.microsoft.com/office/drawing/2014/main" id="{AC94CC67-D904-52D3-A808-EF57C314B187}"/>
              </a:ext>
            </a:extLst>
          </p:cNvPr>
          <p:cNvSpPr>
            <a:spLocks noChangeShapeType="1"/>
          </p:cNvSpPr>
          <p:nvPr/>
        </p:nvSpPr>
        <p:spPr bwMode="auto">
          <a:xfrm>
            <a:off x="622300" y="30670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3" name="Line 17">
            <a:extLst>
              <a:ext uri="{FF2B5EF4-FFF2-40B4-BE49-F238E27FC236}">
                <a16:creationId xmlns:a16="http://schemas.microsoft.com/office/drawing/2014/main" id="{E7B6198C-577A-4FA9-4F75-76F163518CC0}"/>
              </a:ext>
            </a:extLst>
          </p:cNvPr>
          <p:cNvSpPr>
            <a:spLocks noChangeShapeType="1"/>
          </p:cNvSpPr>
          <p:nvPr/>
        </p:nvSpPr>
        <p:spPr bwMode="auto">
          <a:xfrm>
            <a:off x="622300" y="3324225"/>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24" name="Line 18">
            <a:extLst>
              <a:ext uri="{FF2B5EF4-FFF2-40B4-BE49-F238E27FC236}">
                <a16:creationId xmlns:a16="http://schemas.microsoft.com/office/drawing/2014/main" id="{7E51BF26-D3E0-3F8C-AA74-BB2D7FE160A7}"/>
              </a:ext>
            </a:extLst>
          </p:cNvPr>
          <p:cNvSpPr>
            <a:spLocks noChangeShapeType="1"/>
          </p:cNvSpPr>
          <p:nvPr/>
        </p:nvSpPr>
        <p:spPr bwMode="auto">
          <a:xfrm>
            <a:off x="622300" y="3600450"/>
            <a:ext cx="3886200"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3" name="Group 19">
            <a:extLst>
              <a:ext uri="{FF2B5EF4-FFF2-40B4-BE49-F238E27FC236}">
                <a16:creationId xmlns:a16="http://schemas.microsoft.com/office/drawing/2014/main" id="{D32D66AC-7E4D-9D40-06A3-5E80D55E9A66}"/>
              </a:ext>
            </a:extLst>
          </p:cNvPr>
          <p:cNvGrpSpPr>
            <a:grpSpLocks/>
          </p:cNvGrpSpPr>
          <p:nvPr/>
        </p:nvGrpSpPr>
        <p:grpSpPr bwMode="auto">
          <a:xfrm>
            <a:off x="4640263" y="3344863"/>
            <a:ext cx="3968750" cy="2655887"/>
            <a:chOff x="2923" y="2107"/>
            <a:chExt cx="2500" cy="1673"/>
          </a:xfrm>
        </p:grpSpPr>
        <p:sp>
          <p:nvSpPr>
            <p:cNvPr id="43026" name="Rectangle 20">
              <a:extLst>
                <a:ext uri="{FF2B5EF4-FFF2-40B4-BE49-F238E27FC236}">
                  <a16:creationId xmlns:a16="http://schemas.microsoft.com/office/drawing/2014/main" id="{6F0BA98F-0C77-CC66-E072-5BBB545E3B61}"/>
                </a:ext>
              </a:extLst>
            </p:cNvPr>
            <p:cNvSpPr>
              <a:spLocks noChangeArrowheads="1"/>
            </p:cNvSpPr>
            <p:nvPr/>
          </p:nvSpPr>
          <p:spPr bwMode="blackWhite">
            <a:xfrm>
              <a:off x="2978" y="2347"/>
              <a:ext cx="2433" cy="1386"/>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473109" name="Rectangle 21">
              <a:extLst>
                <a:ext uri="{FF2B5EF4-FFF2-40B4-BE49-F238E27FC236}">
                  <a16:creationId xmlns:a16="http://schemas.microsoft.com/office/drawing/2014/main" id="{3E7620F9-59E9-EB4E-A775-FC513FC08E27}"/>
                </a:ext>
              </a:extLst>
            </p:cNvPr>
            <p:cNvSpPr>
              <a:spLocks noChangeArrowheads="1"/>
            </p:cNvSpPr>
            <p:nvPr/>
          </p:nvSpPr>
          <p:spPr bwMode="auto">
            <a:xfrm>
              <a:off x="2923" y="2107"/>
              <a:ext cx="587" cy="250"/>
            </a:xfrm>
            <a:prstGeom prst="rect">
              <a:avLst/>
            </a:prstGeom>
            <a:noFill/>
            <a:ln w="9525">
              <a:noFill/>
              <a:miter lim="800000"/>
              <a:headEnd/>
              <a:tailEnd/>
            </a:ln>
            <a:effectLst/>
          </p:spPr>
          <p:txBody>
            <a:bodyPr wrap="none" lIns="92075" tIns="46038" rIns="92075" bIns="46038">
              <a:spAutoFit/>
            </a:bodyPr>
            <a:lstStyle/>
            <a:p>
              <a:pPr>
                <a:defRPr/>
              </a:pPr>
              <a:r>
                <a:rPr lang="en-US" sz="2000" b="1">
                  <a:effectLst>
                    <a:outerShdw blurRad="38100" dist="38100" dir="2700000" algn="tl">
                      <a:srgbClr val="FFFFFF"/>
                    </a:outerShdw>
                  </a:effectLst>
                </a:rPr>
                <a:t>DEPT </a:t>
              </a:r>
            </a:p>
          </p:txBody>
        </p:sp>
        <p:sp>
          <p:nvSpPr>
            <p:cNvPr id="43028" name="Rectangle 22">
              <a:extLst>
                <a:ext uri="{FF2B5EF4-FFF2-40B4-BE49-F238E27FC236}">
                  <a16:creationId xmlns:a16="http://schemas.microsoft.com/office/drawing/2014/main" id="{22B10F9F-C2DB-3C81-F048-9251D5D57A1B}"/>
                </a:ext>
              </a:extLst>
            </p:cNvPr>
            <p:cNvSpPr>
              <a:spLocks noChangeArrowheads="1"/>
            </p:cNvSpPr>
            <p:nvPr/>
          </p:nvSpPr>
          <p:spPr bwMode="blackWhite">
            <a:xfrm>
              <a:off x="2986" y="2356"/>
              <a:ext cx="2417" cy="1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a:p>
              <a:pPr>
                <a:lnSpc>
                  <a:spcPct val="95000"/>
                </a:lnSpc>
                <a:spcBef>
                  <a:spcPct val="0"/>
                </a:spcBef>
                <a:buFontTx/>
                <a:buNone/>
              </a:pPr>
              <a:r>
                <a:rPr lang="en-US" altLang="en-US" sz="1800" b="1">
                  <a:solidFill>
                    <a:srgbClr val="000000"/>
                  </a:solidFill>
                  <a:latin typeface="Courier New" panose="02070309020205020404" pitchFamily="49" charset="0"/>
                </a:rPr>
                <a:t>    60	MIS		</a:t>
              </a:r>
            </a:p>
            <a:p>
              <a:pPr>
                <a:lnSpc>
                  <a:spcPct val="95000"/>
                </a:lnSpc>
                <a:spcBef>
                  <a:spcPct val="0"/>
                </a:spcBef>
                <a:buFontTx/>
                <a:buNone/>
              </a:pPr>
              <a:r>
                <a:rPr lang="en-US" altLang="en-US" sz="1800" b="1">
                  <a:solidFill>
                    <a:srgbClr val="000000"/>
                  </a:solidFill>
                  <a:latin typeface="Courier New" panose="02070309020205020404" pitchFamily="49" charset="0"/>
                </a:rPr>
                <a:t>   ...</a:t>
              </a:r>
            </a:p>
          </p:txBody>
        </p:sp>
        <p:sp>
          <p:nvSpPr>
            <p:cNvPr id="43029" name="Line 23">
              <a:extLst>
                <a:ext uri="{FF2B5EF4-FFF2-40B4-BE49-F238E27FC236}">
                  <a16:creationId xmlns:a16="http://schemas.microsoft.com/office/drawing/2014/main" id="{B27BD731-38F1-2364-9991-2732A9879432}"/>
                </a:ext>
              </a:extLst>
            </p:cNvPr>
            <p:cNvSpPr>
              <a:spLocks noChangeShapeType="1"/>
            </p:cNvSpPr>
            <p:nvPr/>
          </p:nvSpPr>
          <p:spPr bwMode="auto">
            <a:xfrm>
              <a:off x="2979" y="2628"/>
              <a:ext cx="2444" cy="0"/>
            </a:xfrm>
            <a:prstGeom prst="line">
              <a:avLst/>
            </a:prstGeom>
            <a:noFill/>
            <a:ln w="508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0" name="Line 24">
              <a:extLst>
                <a:ext uri="{FF2B5EF4-FFF2-40B4-BE49-F238E27FC236}">
                  <a16:creationId xmlns:a16="http://schemas.microsoft.com/office/drawing/2014/main" id="{20A2D895-504E-4D41-8BE2-E6AF06039EE4}"/>
                </a:ext>
              </a:extLst>
            </p:cNvPr>
            <p:cNvSpPr>
              <a:spLocks noChangeShapeType="1"/>
            </p:cNvSpPr>
            <p:nvPr/>
          </p:nvSpPr>
          <p:spPr bwMode="auto">
            <a:xfrm>
              <a:off x="2975" y="2876"/>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1" name="Line 25">
              <a:extLst>
                <a:ext uri="{FF2B5EF4-FFF2-40B4-BE49-F238E27FC236}">
                  <a16:creationId xmlns:a16="http://schemas.microsoft.com/office/drawing/2014/main" id="{69B0EC9D-D907-3749-A4F5-EE0A15A5DC19}"/>
                </a:ext>
              </a:extLst>
            </p:cNvPr>
            <p:cNvSpPr>
              <a:spLocks noChangeShapeType="1"/>
            </p:cNvSpPr>
            <p:nvPr/>
          </p:nvSpPr>
          <p:spPr bwMode="auto">
            <a:xfrm>
              <a:off x="2975" y="3040"/>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2" name="Line 26">
              <a:extLst>
                <a:ext uri="{FF2B5EF4-FFF2-40B4-BE49-F238E27FC236}">
                  <a16:creationId xmlns:a16="http://schemas.microsoft.com/office/drawing/2014/main" id="{6E8F6323-4D65-6B9F-F895-D312C47E37C1}"/>
                </a:ext>
              </a:extLst>
            </p:cNvPr>
            <p:cNvSpPr>
              <a:spLocks noChangeShapeType="1"/>
            </p:cNvSpPr>
            <p:nvPr/>
          </p:nvSpPr>
          <p:spPr bwMode="auto">
            <a:xfrm>
              <a:off x="2975" y="3204"/>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3" name="Line 27">
              <a:extLst>
                <a:ext uri="{FF2B5EF4-FFF2-40B4-BE49-F238E27FC236}">
                  <a16:creationId xmlns:a16="http://schemas.microsoft.com/office/drawing/2014/main" id="{A43640E4-B6DA-9A24-FE4C-AB643D58A22A}"/>
                </a:ext>
              </a:extLst>
            </p:cNvPr>
            <p:cNvSpPr>
              <a:spLocks noChangeShapeType="1"/>
            </p:cNvSpPr>
            <p:nvPr/>
          </p:nvSpPr>
          <p:spPr bwMode="auto">
            <a:xfrm>
              <a:off x="3607" y="2342"/>
              <a:ext cx="0" cy="1426"/>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4" name="Line 28">
              <a:extLst>
                <a:ext uri="{FF2B5EF4-FFF2-40B4-BE49-F238E27FC236}">
                  <a16:creationId xmlns:a16="http://schemas.microsoft.com/office/drawing/2014/main" id="{9BD96BD7-EF51-4440-5FB1-FA598B6109E5}"/>
                </a:ext>
              </a:extLst>
            </p:cNvPr>
            <p:cNvSpPr>
              <a:spLocks noChangeShapeType="1"/>
            </p:cNvSpPr>
            <p:nvPr/>
          </p:nvSpPr>
          <p:spPr bwMode="auto">
            <a:xfrm>
              <a:off x="4551" y="2342"/>
              <a:ext cx="0" cy="1438"/>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5" name="Line 29">
              <a:extLst>
                <a:ext uri="{FF2B5EF4-FFF2-40B4-BE49-F238E27FC236}">
                  <a16:creationId xmlns:a16="http://schemas.microsoft.com/office/drawing/2014/main" id="{DFC641B5-62B1-5D8B-3201-120D23FD59DD}"/>
                </a:ext>
              </a:extLst>
            </p:cNvPr>
            <p:cNvSpPr>
              <a:spLocks noChangeShapeType="1"/>
            </p:cNvSpPr>
            <p:nvPr/>
          </p:nvSpPr>
          <p:spPr bwMode="auto">
            <a:xfrm>
              <a:off x="2975" y="3360"/>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36" name="Line 30">
              <a:extLst>
                <a:ext uri="{FF2B5EF4-FFF2-40B4-BE49-F238E27FC236}">
                  <a16:creationId xmlns:a16="http://schemas.microsoft.com/office/drawing/2014/main" id="{AA588472-CA53-D2FB-7F5C-7B585EEA08A4}"/>
                </a:ext>
              </a:extLst>
            </p:cNvPr>
            <p:cNvSpPr>
              <a:spLocks noChangeShapeType="1"/>
            </p:cNvSpPr>
            <p:nvPr/>
          </p:nvSpPr>
          <p:spPr bwMode="auto">
            <a:xfrm>
              <a:off x="2975" y="3522"/>
              <a:ext cx="2448" cy="0"/>
            </a:xfrm>
            <a:prstGeom prst="line">
              <a:avLst/>
            </a:prstGeom>
            <a:noFill/>
            <a:ln w="254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3EA90877-315A-B3F8-E14D-57E3A699E967}"/>
              </a:ext>
            </a:extLst>
          </p:cNvPr>
          <p:cNvSpPr>
            <a:spLocks noGrp="1" noChangeArrowheads="1"/>
          </p:cNvSpPr>
          <p:nvPr>
            <p:ph type="title"/>
          </p:nvPr>
        </p:nvSpPr>
        <p:spPr>
          <a:xfrm>
            <a:off x="323850" y="620713"/>
            <a:ext cx="4138613" cy="608012"/>
          </a:xfrm>
          <a:noFill/>
        </p:spPr>
        <p:txBody>
          <a:bodyPr lIns="92075" tIns="46038" rIns="92075" bIns="46038" anchor="t"/>
          <a:lstStyle/>
          <a:p>
            <a:r>
              <a:rPr lang="en-US" altLang="en-US" sz="2800">
                <a:solidFill>
                  <a:srgbClr val="800000"/>
                </a:solidFill>
              </a:rPr>
              <a:t>The DELETE Statement</a:t>
            </a:r>
          </a:p>
        </p:txBody>
      </p:sp>
      <p:sp>
        <p:nvSpPr>
          <p:cNvPr id="45059" name="Rectangle 3">
            <a:extLst>
              <a:ext uri="{FF2B5EF4-FFF2-40B4-BE49-F238E27FC236}">
                <a16:creationId xmlns:a16="http://schemas.microsoft.com/office/drawing/2014/main" id="{73D97515-F94A-C4C5-00EB-994A098D764B}"/>
              </a:ext>
            </a:extLst>
          </p:cNvPr>
          <p:cNvSpPr>
            <a:spLocks noGrp="1" noChangeArrowheads="1"/>
          </p:cNvSpPr>
          <p:nvPr>
            <p:ph type="body" idx="1"/>
          </p:nvPr>
        </p:nvSpPr>
        <p:spPr>
          <a:xfrm>
            <a:off x="433388" y="1524000"/>
            <a:ext cx="8277225" cy="822325"/>
          </a:xfrm>
          <a:noFill/>
        </p:spPr>
        <p:txBody>
          <a:bodyPr lIns="92075" tIns="46038" rIns="92075" bIns="46038">
            <a:spAutoFit/>
          </a:bodyPr>
          <a:lstStyle/>
          <a:p>
            <a:r>
              <a:rPr lang="en-US" altLang="en-US" sz="2400"/>
              <a:t>You can remove existing rows from a table by using the DELETE statement.</a:t>
            </a:r>
          </a:p>
        </p:txBody>
      </p:sp>
      <p:sp>
        <p:nvSpPr>
          <p:cNvPr id="45060" name="Rectangle 4">
            <a:extLst>
              <a:ext uri="{FF2B5EF4-FFF2-40B4-BE49-F238E27FC236}">
                <a16:creationId xmlns:a16="http://schemas.microsoft.com/office/drawing/2014/main" id="{7F0721E9-DB98-63D3-A52B-6EDB50D063BB}"/>
              </a:ext>
            </a:extLst>
          </p:cNvPr>
          <p:cNvSpPr>
            <a:spLocks noChangeArrowheads="1"/>
          </p:cNvSpPr>
          <p:nvPr/>
        </p:nvSpPr>
        <p:spPr bwMode="blackWhite">
          <a:xfrm>
            <a:off x="933450" y="2887663"/>
            <a:ext cx="7499350" cy="8350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3324225" algn="l"/>
                <a:tab pos="4579938"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3324225" algn="l"/>
                <a:tab pos="4579938"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3324225" algn="l"/>
                <a:tab pos="4579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3324225" algn="l"/>
                <a:tab pos="4579938"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DELETE [FROM]	  </a:t>
            </a:r>
            <a:r>
              <a:rPr lang="en-US" altLang="en-US" sz="1800" b="1" i="1">
                <a:solidFill>
                  <a:srgbClr val="000000"/>
                </a:solidFill>
                <a:latin typeface="Courier New" panose="02070309020205020404" pitchFamily="49" charset="0"/>
              </a:rPr>
              <a:t>table</a:t>
            </a:r>
            <a:endParaRPr lang="en-US" altLang="en-US" sz="1800" b="1">
              <a:solidFill>
                <a:srgbClr val="000000"/>
              </a:solidFill>
              <a:latin typeface="Courier New" panose="02070309020205020404" pitchFamily="49" charset="0"/>
            </a:endParaRPr>
          </a:p>
          <a:p>
            <a:pPr>
              <a:spcBef>
                <a:spcPct val="0"/>
              </a:spcBef>
              <a:buFontTx/>
              <a:buNone/>
            </a:pPr>
            <a:r>
              <a:rPr lang="en-US" altLang="en-US" sz="1800" b="1">
                <a:solidFill>
                  <a:srgbClr val="000000"/>
                </a:solidFill>
                <a:latin typeface="Courier New" panose="02070309020205020404" pitchFamily="49" charset="0"/>
              </a:rPr>
              <a:t>[WHERE	  </a:t>
            </a:r>
            <a:r>
              <a:rPr lang="en-US" altLang="en-US" sz="1800" b="1" i="1">
                <a:solidFill>
                  <a:srgbClr val="000000"/>
                </a:solidFill>
                <a:latin typeface="Courier New" panose="02070309020205020404" pitchFamily="49" charset="0"/>
              </a:rPr>
              <a:t>condition</a:t>
            </a:r>
            <a:r>
              <a:rPr lang="en-US" altLang="en-US" sz="1800" b="1">
                <a:solidFill>
                  <a:srgbClr val="000000"/>
                </a:solidFill>
                <a:latin typeface="Courier New" panose="02070309020205020404" pitchFamily="49" charset="0"/>
              </a:rPr>
              <a:t>];</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BEB453C-06B7-7BFC-7827-BCC3F41E9D03}"/>
              </a:ext>
            </a:extLst>
          </p:cNvPr>
          <p:cNvSpPr>
            <a:spLocks noGrp="1" noChangeArrowheads="1"/>
          </p:cNvSpPr>
          <p:nvPr>
            <p:ph type="body" idx="1"/>
          </p:nvPr>
        </p:nvSpPr>
        <p:spPr>
          <a:xfrm>
            <a:off x="757238" y="1533525"/>
            <a:ext cx="7385050" cy="3086100"/>
          </a:xfrm>
          <a:noFill/>
        </p:spPr>
        <p:txBody>
          <a:bodyPr lIns="92075" tIns="46038" rIns="92075" bIns="46038">
            <a:spAutoFit/>
          </a:bodyPr>
          <a:lstStyle/>
          <a:p>
            <a:pPr lvl="1"/>
            <a:r>
              <a:rPr lang="en-US" altLang="en-US"/>
              <a:t>Specific rows are deleted when you specify the WHERE clause.</a:t>
            </a:r>
            <a:br>
              <a:rPr lang="en-US" altLang="en-US"/>
            </a:br>
            <a:br>
              <a:rPr lang="en-US" altLang="en-US"/>
            </a:br>
            <a:br>
              <a:rPr lang="en-US" altLang="en-US"/>
            </a:br>
            <a:br>
              <a:rPr lang="en-US" altLang="en-US"/>
            </a:br>
            <a:endParaRPr lang="en-US" altLang="en-US"/>
          </a:p>
          <a:p>
            <a:pPr lvl="1"/>
            <a:r>
              <a:rPr lang="en-US" altLang="en-US"/>
              <a:t>All rows in the table are deleted if you omit the WHERE clause.</a:t>
            </a:r>
          </a:p>
        </p:txBody>
      </p:sp>
      <p:sp>
        <p:nvSpPr>
          <p:cNvPr id="47107" name="Rectangle 3">
            <a:extLst>
              <a:ext uri="{FF2B5EF4-FFF2-40B4-BE49-F238E27FC236}">
                <a16:creationId xmlns:a16="http://schemas.microsoft.com/office/drawing/2014/main" id="{51AFBF14-8902-4A90-DD8B-FEF4215C5A24}"/>
              </a:ext>
            </a:extLst>
          </p:cNvPr>
          <p:cNvSpPr>
            <a:spLocks noGrp="1" noChangeArrowheads="1"/>
          </p:cNvSpPr>
          <p:nvPr>
            <p:ph type="title"/>
          </p:nvPr>
        </p:nvSpPr>
        <p:spPr>
          <a:xfrm>
            <a:off x="323850" y="620713"/>
            <a:ext cx="4643438" cy="536575"/>
          </a:xfrm>
          <a:noFill/>
        </p:spPr>
        <p:txBody>
          <a:bodyPr lIns="92075" tIns="46038" rIns="92075" bIns="46038" anchor="t"/>
          <a:lstStyle/>
          <a:p>
            <a:r>
              <a:rPr lang="en-US" altLang="en-US" sz="2800">
                <a:solidFill>
                  <a:srgbClr val="800000"/>
                </a:solidFill>
              </a:rPr>
              <a:t>Deleting Rows from a Table</a:t>
            </a:r>
          </a:p>
        </p:txBody>
      </p:sp>
      <p:sp>
        <p:nvSpPr>
          <p:cNvPr id="477188" name="Rectangle 4">
            <a:extLst>
              <a:ext uri="{FF2B5EF4-FFF2-40B4-BE49-F238E27FC236}">
                <a16:creationId xmlns:a16="http://schemas.microsoft.com/office/drawing/2014/main" id="{F00404BF-28C7-8803-385A-B40891B668ED}"/>
              </a:ext>
            </a:extLst>
          </p:cNvPr>
          <p:cNvSpPr>
            <a:spLocks noChangeArrowheads="1"/>
          </p:cNvSpPr>
          <p:nvPr/>
        </p:nvSpPr>
        <p:spPr bwMode="blackWhite">
          <a:xfrm>
            <a:off x="933450" y="2697163"/>
            <a:ext cx="7518400" cy="10239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688975" algn="l"/>
                <a:tab pos="1824038" algn="l"/>
                <a:tab pos="2735263" algn="l"/>
                <a:tab pos="4579938" algn="l"/>
              </a:tabLst>
              <a:defRPr/>
            </a:pPr>
            <a:r>
              <a:rPr lang="en-US" sz="1800" b="1">
                <a:solidFill>
                  <a:srgbClr val="000000"/>
                </a:solidFill>
                <a:latin typeface="Courier New" pitchFamily="49" charset="0"/>
              </a:rPr>
              <a:t>SQL&gt; DELETE FROM	department</a:t>
            </a:r>
          </a:p>
          <a:p>
            <a:pPr>
              <a:tabLst>
                <a:tab pos="688975" algn="l"/>
                <a:tab pos="1824038" algn="l"/>
                <a:tab pos="2735263" algn="l"/>
                <a:tab pos="4579938" algn="l"/>
              </a:tabLst>
              <a:defRPr/>
            </a:pPr>
            <a:r>
              <a:rPr lang="en-US" sz="1800" b="1">
                <a:solidFill>
                  <a:srgbClr val="000000"/>
                </a:solidFill>
                <a:latin typeface="Courier New" pitchFamily="49" charset="0"/>
              </a:rPr>
              <a:t>  2  WHERE 		dname = 'DEVELOPMENT'; </a:t>
            </a:r>
          </a:p>
          <a:p>
            <a:pPr>
              <a:tabLst>
                <a:tab pos="688975" algn="l"/>
                <a:tab pos="1824038" algn="l"/>
                <a:tab pos="2735263" algn="l"/>
                <a:tab pos="4579938" algn="l"/>
              </a:tabLst>
              <a:defRPr/>
            </a:pPr>
            <a:r>
              <a:rPr lang="en-US" sz="1800" b="1">
                <a:solidFill>
                  <a:srgbClr val="FF3300"/>
                </a:solidFill>
                <a:effectLst>
                  <a:outerShdw blurRad="38100" dist="38100" dir="2700000" algn="tl">
                    <a:srgbClr val="000000"/>
                  </a:outerShdw>
                </a:effectLst>
                <a:latin typeface="Courier New" pitchFamily="49" charset="0"/>
              </a:rPr>
              <a:t>1 row deleted.</a:t>
            </a:r>
          </a:p>
        </p:txBody>
      </p:sp>
      <p:sp>
        <p:nvSpPr>
          <p:cNvPr id="477189" name="Rectangle 5">
            <a:extLst>
              <a:ext uri="{FF2B5EF4-FFF2-40B4-BE49-F238E27FC236}">
                <a16:creationId xmlns:a16="http://schemas.microsoft.com/office/drawing/2014/main" id="{588D2AC9-E291-A140-A517-28DEB422E6F0}"/>
              </a:ext>
            </a:extLst>
          </p:cNvPr>
          <p:cNvSpPr>
            <a:spLocks noChangeArrowheads="1"/>
          </p:cNvSpPr>
          <p:nvPr/>
        </p:nvSpPr>
        <p:spPr bwMode="blackWhite">
          <a:xfrm>
            <a:off x="931863" y="5137150"/>
            <a:ext cx="7512050" cy="701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p>
            <a:pPr>
              <a:tabLst>
                <a:tab pos="688975" algn="l"/>
                <a:tab pos="1824038" algn="l"/>
                <a:tab pos="2735263" algn="l"/>
                <a:tab pos="4579938" algn="l"/>
              </a:tabLst>
              <a:defRPr/>
            </a:pPr>
            <a:r>
              <a:rPr lang="en-US" sz="1800" b="1">
                <a:solidFill>
                  <a:srgbClr val="000000"/>
                </a:solidFill>
                <a:latin typeface="Courier New" pitchFamily="49" charset="0"/>
              </a:rPr>
              <a:t>SQL&gt; DELETE FROM	department;</a:t>
            </a:r>
          </a:p>
          <a:p>
            <a:pPr>
              <a:tabLst>
                <a:tab pos="688975" algn="l"/>
                <a:tab pos="1824038" algn="l"/>
                <a:tab pos="2735263" algn="l"/>
                <a:tab pos="4579938" algn="l"/>
              </a:tabLst>
              <a:defRPr/>
            </a:pPr>
            <a:r>
              <a:rPr lang="en-US" sz="1800" b="1">
                <a:solidFill>
                  <a:srgbClr val="FF3300"/>
                </a:solidFill>
                <a:effectLst>
                  <a:outerShdw blurRad="38100" dist="38100" dir="2700000" algn="tl">
                    <a:srgbClr val="000000"/>
                  </a:outerShdw>
                </a:effectLst>
                <a:latin typeface="Courier New" pitchFamily="49" charset="0"/>
              </a:rPr>
              <a:t>4 rows deleted.</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54F0B50-8E88-7B70-E7D4-1A7CD91B9F75}"/>
              </a:ext>
            </a:extLst>
          </p:cNvPr>
          <p:cNvSpPr>
            <a:spLocks noChangeArrowheads="1"/>
          </p:cNvSpPr>
          <p:nvPr/>
        </p:nvSpPr>
        <p:spPr bwMode="blackWhite">
          <a:xfrm>
            <a:off x="925513" y="3194050"/>
            <a:ext cx="7499350" cy="18002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2735263" algn="l"/>
                <a:tab pos="4579938"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2735263" algn="l"/>
                <a:tab pos="4579938"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2735263" algn="l"/>
                <a:tab pos="4579938"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2735263" algn="l"/>
                <a:tab pos="4579938"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2735263" algn="l"/>
                <a:tab pos="4579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2735263" algn="l"/>
                <a:tab pos="4579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2735263" algn="l"/>
                <a:tab pos="4579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2735263" algn="l"/>
                <a:tab pos="4579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2735263" algn="l"/>
                <a:tab pos="4579938" algn="l"/>
              </a:tabLst>
              <a:defRPr sz="2000">
                <a:solidFill>
                  <a:schemeClr val="tx1"/>
                </a:solidFill>
                <a:latin typeface="Arial" panose="020B0604020202020204" pitchFamily="34" charset="0"/>
              </a:defRPr>
            </a:lvl9pPr>
          </a:lstStyle>
          <a:p>
            <a:pPr>
              <a:lnSpc>
                <a:spcPct val="90000"/>
              </a:lnSpc>
              <a:spcBef>
                <a:spcPct val="0"/>
              </a:spcBef>
              <a:buFontTx/>
              <a:buNone/>
            </a:pPr>
            <a:endParaRPr lang="en-US" altLang="en-US" sz="1800" b="1">
              <a:solidFill>
                <a:srgbClr val="000000"/>
              </a:solidFill>
              <a:latin typeface="Courier New" panose="02070309020205020404" pitchFamily="49" charset="0"/>
            </a:endParaRPr>
          </a:p>
          <a:p>
            <a:pPr>
              <a:lnSpc>
                <a:spcPct val="90000"/>
              </a:lnSpc>
              <a:spcBef>
                <a:spcPct val="0"/>
              </a:spcBef>
              <a:buFontTx/>
              <a:buNone/>
            </a:pPr>
            <a:endParaRPr lang="en-US" altLang="en-US" sz="1800" b="1">
              <a:solidFill>
                <a:srgbClr val="000000"/>
              </a:solidFill>
              <a:latin typeface="Courier New" panose="02070309020205020404" pitchFamily="49" charset="0"/>
            </a:endParaRPr>
          </a:p>
        </p:txBody>
      </p:sp>
      <p:sp>
        <p:nvSpPr>
          <p:cNvPr id="49155" name="Rectangle 3">
            <a:extLst>
              <a:ext uri="{FF2B5EF4-FFF2-40B4-BE49-F238E27FC236}">
                <a16:creationId xmlns:a16="http://schemas.microsoft.com/office/drawing/2014/main" id="{43F83705-1500-3AA2-F8A8-1827D3B0AF1D}"/>
              </a:ext>
            </a:extLst>
          </p:cNvPr>
          <p:cNvSpPr>
            <a:spLocks noGrp="1" noChangeArrowheads="1"/>
          </p:cNvSpPr>
          <p:nvPr>
            <p:ph type="title"/>
          </p:nvPr>
        </p:nvSpPr>
        <p:spPr>
          <a:noFill/>
        </p:spPr>
        <p:txBody>
          <a:bodyPr lIns="92075" tIns="46038" rIns="92075" bIns="46038" anchor="t"/>
          <a:lstStyle/>
          <a:p>
            <a:r>
              <a:rPr lang="en-US" altLang="en-US" sz="2800">
                <a:solidFill>
                  <a:srgbClr val="800000"/>
                </a:solidFill>
              </a:rPr>
              <a:t>Deleting Rows Based </a:t>
            </a:r>
            <a:br>
              <a:rPr lang="en-US" altLang="en-US" sz="2800">
                <a:solidFill>
                  <a:srgbClr val="800000"/>
                </a:solidFill>
              </a:rPr>
            </a:br>
            <a:r>
              <a:rPr lang="en-US" altLang="en-US" sz="2800">
                <a:solidFill>
                  <a:srgbClr val="800000"/>
                </a:solidFill>
              </a:rPr>
              <a:t>on Another Table</a:t>
            </a:r>
          </a:p>
        </p:txBody>
      </p:sp>
      <p:sp>
        <p:nvSpPr>
          <p:cNvPr id="49156" name="Rectangle 4">
            <a:extLst>
              <a:ext uri="{FF2B5EF4-FFF2-40B4-BE49-F238E27FC236}">
                <a16:creationId xmlns:a16="http://schemas.microsoft.com/office/drawing/2014/main" id="{0A1353C5-E839-6434-DC04-374E6805ADF6}"/>
              </a:ext>
            </a:extLst>
          </p:cNvPr>
          <p:cNvSpPr>
            <a:spLocks noGrp="1" noChangeArrowheads="1"/>
          </p:cNvSpPr>
          <p:nvPr>
            <p:ph type="body" idx="1"/>
          </p:nvPr>
        </p:nvSpPr>
        <p:spPr>
          <a:xfrm>
            <a:off x="433388" y="1524000"/>
            <a:ext cx="8277225" cy="822325"/>
          </a:xfrm>
          <a:noFill/>
        </p:spPr>
        <p:txBody>
          <a:bodyPr lIns="92075" tIns="46038" rIns="92075" bIns="46038">
            <a:spAutoFit/>
          </a:bodyPr>
          <a:lstStyle/>
          <a:p>
            <a:r>
              <a:rPr lang="en-US" altLang="en-US" sz="2400"/>
              <a:t>Use subqueries in DELETE statements to remove rows from a table based on values from another table.</a:t>
            </a:r>
          </a:p>
        </p:txBody>
      </p:sp>
      <p:sp>
        <p:nvSpPr>
          <p:cNvPr id="49157" name="Rectangle 5">
            <a:extLst>
              <a:ext uri="{FF2B5EF4-FFF2-40B4-BE49-F238E27FC236}">
                <a16:creationId xmlns:a16="http://schemas.microsoft.com/office/drawing/2014/main" id="{1BD40F36-F29C-C44C-9088-89F71CDF3EB9}"/>
              </a:ext>
            </a:extLst>
          </p:cNvPr>
          <p:cNvSpPr>
            <a:spLocks noChangeArrowheads="1"/>
          </p:cNvSpPr>
          <p:nvPr/>
        </p:nvSpPr>
        <p:spPr bwMode="ltGray">
          <a:xfrm>
            <a:off x="4648200" y="3790950"/>
            <a:ext cx="3695700" cy="87630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479238" name="Rectangle 6">
            <a:extLst>
              <a:ext uri="{FF2B5EF4-FFF2-40B4-BE49-F238E27FC236}">
                <a16:creationId xmlns:a16="http://schemas.microsoft.com/office/drawing/2014/main" id="{1D8DA0DF-C149-382B-CC03-F6345B34B771}"/>
              </a:ext>
            </a:extLst>
          </p:cNvPr>
          <p:cNvSpPr>
            <a:spLocks noChangeArrowheads="1"/>
          </p:cNvSpPr>
          <p:nvPr/>
        </p:nvSpPr>
        <p:spPr bwMode="blackWhite">
          <a:xfrm>
            <a:off x="950913" y="3251200"/>
            <a:ext cx="7726362" cy="1698625"/>
          </a:xfrm>
          <a:prstGeom prst="rect">
            <a:avLst/>
          </a:prstGeom>
          <a:noFill/>
          <a:ln w="9525">
            <a:noFill/>
            <a:miter lim="800000"/>
            <a:headEnd/>
            <a:tailEnd/>
          </a:ln>
          <a:effectLst/>
        </p:spPr>
        <p:txBody>
          <a:bodyPr wrap="none" lIns="92075" tIns="46038" rIns="92075" bIns="46038" anchor="ctr"/>
          <a:lstStyle/>
          <a:p>
            <a:pPr>
              <a:tabLst>
                <a:tab pos="688975" algn="l"/>
                <a:tab pos="1824038" algn="l"/>
                <a:tab pos="2735263" algn="l"/>
                <a:tab pos="4579938" algn="l"/>
              </a:tabLst>
              <a:defRPr/>
            </a:pPr>
            <a:r>
              <a:rPr lang="en-US" sz="1800" b="1">
                <a:solidFill>
                  <a:srgbClr val="000000"/>
                </a:solidFill>
                <a:latin typeface="Courier New" pitchFamily="49" charset="0"/>
              </a:rPr>
              <a:t>SQL&gt; DELETE FROM	employee</a:t>
            </a:r>
          </a:p>
          <a:p>
            <a:pPr>
              <a:tabLst>
                <a:tab pos="688975" algn="l"/>
                <a:tab pos="1824038" algn="l"/>
                <a:tab pos="2735263" algn="l"/>
                <a:tab pos="4579938" algn="l"/>
              </a:tabLst>
              <a:defRPr/>
            </a:pPr>
            <a:r>
              <a:rPr lang="en-US" sz="1800" b="1">
                <a:solidFill>
                  <a:srgbClr val="000000"/>
                </a:solidFill>
                <a:latin typeface="Courier New" pitchFamily="49" charset="0"/>
              </a:rPr>
              <a:t>  2  WHERE		deptno = </a:t>
            </a:r>
          </a:p>
          <a:p>
            <a:pPr>
              <a:tabLst>
                <a:tab pos="688975" algn="l"/>
                <a:tab pos="1824038" algn="l"/>
                <a:tab pos="2735263" algn="l"/>
                <a:tab pos="4579938" algn="l"/>
              </a:tabLst>
              <a:defRPr/>
            </a:pPr>
            <a:r>
              <a:rPr lang="en-US" sz="1800" b="1">
                <a:solidFill>
                  <a:srgbClr val="000000"/>
                </a:solidFill>
                <a:latin typeface="Courier New" pitchFamily="49" charset="0"/>
              </a:rPr>
              <a:t>  3			       (SELECT   deptno</a:t>
            </a:r>
          </a:p>
          <a:p>
            <a:pPr>
              <a:tabLst>
                <a:tab pos="688975" algn="l"/>
                <a:tab pos="1824038" algn="l"/>
                <a:tab pos="2735263" algn="l"/>
                <a:tab pos="4579938" algn="l"/>
              </a:tabLst>
              <a:defRPr/>
            </a:pPr>
            <a:r>
              <a:rPr lang="en-US" sz="1800" b="1">
                <a:solidFill>
                  <a:srgbClr val="000000"/>
                </a:solidFill>
                <a:latin typeface="Courier New" pitchFamily="49" charset="0"/>
              </a:rPr>
              <a:t>  4  			        FROM     dept</a:t>
            </a:r>
          </a:p>
          <a:p>
            <a:pPr>
              <a:tabLst>
                <a:tab pos="688975" algn="l"/>
                <a:tab pos="1824038" algn="l"/>
                <a:tab pos="2735263" algn="l"/>
                <a:tab pos="4579938" algn="l"/>
              </a:tabLst>
              <a:defRPr/>
            </a:pPr>
            <a:r>
              <a:rPr lang="en-US" sz="1800" b="1">
                <a:solidFill>
                  <a:srgbClr val="000000"/>
                </a:solidFill>
                <a:latin typeface="Courier New" pitchFamily="49" charset="0"/>
              </a:rPr>
              <a:t>  5  			        WHERE    dname ='SALES');</a:t>
            </a:r>
          </a:p>
          <a:p>
            <a:pPr>
              <a:tabLst>
                <a:tab pos="688975" algn="l"/>
                <a:tab pos="1824038" algn="l"/>
                <a:tab pos="2735263" algn="l"/>
                <a:tab pos="4579938" algn="l"/>
              </a:tabLst>
              <a:defRPr/>
            </a:pPr>
            <a:r>
              <a:rPr lang="en-US" sz="1800" b="1">
                <a:solidFill>
                  <a:srgbClr val="FF3300"/>
                </a:solidFill>
                <a:effectLst>
                  <a:outerShdw blurRad="38100" dist="38100" dir="2700000" algn="tl">
                    <a:srgbClr val="000000"/>
                  </a:outerShdw>
                </a:effectLst>
                <a:latin typeface="Courier New" pitchFamily="49" charset="0"/>
              </a:rPr>
              <a:t>6 rows deleted.</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EAD5A54-F7FD-00A6-3312-8D2F67B290E7}"/>
              </a:ext>
            </a:extLst>
          </p:cNvPr>
          <p:cNvSpPr>
            <a:spLocks noGrp="1" noChangeArrowheads="1"/>
          </p:cNvSpPr>
          <p:nvPr>
            <p:ph type="title"/>
          </p:nvPr>
        </p:nvSpPr>
        <p:spPr>
          <a:noFill/>
        </p:spPr>
        <p:txBody>
          <a:bodyPr lIns="92075" tIns="46038" rIns="92075" bIns="46038" anchor="t"/>
          <a:lstStyle/>
          <a:p>
            <a:r>
              <a:rPr lang="en-US" altLang="en-US" sz="2800">
                <a:solidFill>
                  <a:srgbClr val="800000"/>
                </a:solidFill>
              </a:rPr>
              <a:t>Deleting Rows: </a:t>
            </a:r>
            <a:br>
              <a:rPr lang="en-US" altLang="en-US" sz="2800">
                <a:solidFill>
                  <a:srgbClr val="800000"/>
                </a:solidFill>
              </a:rPr>
            </a:br>
            <a:r>
              <a:rPr lang="en-US" altLang="en-US" sz="2800">
                <a:solidFill>
                  <a:srgbClr val="800000"/>
                </a:solidFill>
              </a:rPr>
              <a:t>Integrity Constraint Error</a:t>
            </a:r>
          </a:p>
        </p:txBody>
      </p:sp>
      <p:sp>
        <p:nvSpPr>
          <p:cNvPr id="51203" name="Rectangle 3">
            <a:extLst>
              <a:ext uri="{FF2B5EF4-FFF2-40B4-BE49-F238E27FC236}">
                <a16:creationId xmlns:a16="http://schemas.microsoft.com/office/drawing/2014/main" id="{8353E4D4-E042-04C1-A409-D4F1C47B2074}"/>
              </a:ext>
            </a:extLst>
          </p:cNvPr>
          <p:cNvSpPr>
            <a:spLocks noChangeArrowheads="1"/>
          </p:cNvSpPr>
          <p:nvPr/>
        </p:nvSpPr>
        <p:spPr bwMode="blackWhite">
          <a:xfrm>
            <a:off x="931863" y="2374900"/>
            <a:ext cx="7493000" cy="84296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8975" algn="l"/>
                <a:tab pos="1824038" algn="l"/>
                <a:tab pos="2735263" algn="l"/>
                <a:tab pos="3648075" algn="l"/>
                <a:tab pos="5026025" algn="l"/>
              </a:tabLst>
              <a:defRPr sz="2800">
                <a:solidFill>
                  <a:schemeClr val="tx1"/>
                </a:solidFill>
                <a:latin typeface="Arial" panose="020B0604020202020204" pitchFamily="34" charset="0"/>
              </a:defRPr>
            </a:lvl1pPr>
            <a:lvl2pPr marL="742950" indent="-285750">
              <a:spcBef>
                <a:spcPct val="20000"/>
              </a:spcBef>
              <a:buChar char="–"/>
              <a:tabLst>
                <a:tab pos="688975" algn="l"/>
                <a:tab pos="1824038" algn="l"/>
                <a:tab pos="2735263" algn="l"/>
                <a:tab pos="3648075" algn="l"/>
                <a:tab pos="5026025" algn="l"/>
              </a:tabLst>
              <a:defRPr sz="2400">
                <a:solidFill>
                  <a:schemeClr val="tx1"/>
                </a:solidFill>
                <a:latin typeface="Arial" panose="020B0604020202020204" pitchFamily="34" charset="0"/>
              </a:defRPr>
            </a:lvl2pPr>
            <a:lvl3pPr marL="11430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3pPr>
            <a:lvl4pPr marL="16002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4pPr>
            <a:lvl5pPr marL="2057400" indent="-228600">
              <a:spcBef>
                <a:spcPct val="20000"/>
              </a:spcBef>
              <a:buChar char="»"/>
              <a:tabLst>
                <a:tab pos="688975" algn="l"/>
                <a:tab pos="1824038" algn="l"/>
                <a:tab pos="2735263" algn="l"/>
                <a:tab pos="3648075" algn="l"/>
                <a:tab pos="5026025"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8975" algn="l"/>
                <a:tab pos="1824038" algn="l"/>
                <a:tab pos="2735263" algn="l"/>
                <a:tab pos="3648075" algn="l"/>
                <a:tab pos="5026025"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SQL&gt; DELETE FROM	dept</a:t>
            </a:r>
          </a:p>
          <a:p>
            <a:pPr>
              <a:spcBef>
                <a:spcPct val="0"/>
              </a:spcBef>
              <a:buFontTx/>
              <a:buNone/>
            </a:pPr>
            <a:r>
              <a:rPr lang="en-US" altLang="en-US" sz="1800" b="1">
                <a:solidFill>
                  <a:srgbClr val="000000"/>
                </a:solidFill>
                <a:latin typeface="Courier New" panose="02070309020205020404" pitchFamily="49" charset="0"/>
              </a:rPr>
              <a:t>  2  WHERE		deptno = 10;</a:t>
            </a:r>
          </a:p>
        </p:txBody>
      </p:sp>
      <p:sp>
        <p:nvSpPr>
          <p:cNvPr id="51204" name="Rectangle 4">
            <a:extLst>
              <a:ext uri="{FF2B5EF4-FFF2-40B4-BE49-F238E27FC236}">
                <a16:creationId xmlns:a16="http://schemas.microsoft.com/office/drawing/2014/main" id="{3093B4D7-0170-B79B-7A78-C9D647598B8E}"/>
              </a:ext>
            </a:extLst>
          </p:cNvPr>
          <p:cNvSpPr>
            <a:spLocks noChangeArrowheads="1"/>
          </p:cNvSpPr>
          <p:nvPr/>
        </p:nvSpPr>
        <p:spPr bwMode="blackWhite">
          <a:xfrm>
            <a:off x="914400" y="3675063"/>
            <a:ext cx="7510463" cy="1490662"/>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DELETE FROM dept</a:t>
            </a:r>
          </a:p>
          <a:p>
            <a:pPr>
              <a:spcBef>
                <a:spcPct val="0"/>
              </a:spcBef>
              <a:buFontTx/>
              <a:buNone/>
            </a:pPr>
            <a:r>
              <a:rPr lang="en-US" altLang="en-US" sz="1800" b="1">
                <a:solidFill>
                  <a:srgbClr val="000000"/>
                </a:solidFill>
                <a:latin typeface="Courier New" panose="02070309020205020404" pitchFamily="49" charset="0"/>
              </a:rPr>
              <a:t>            *</a:t>
            </a:r>
          </a:p>
          <a:p>
            <a:pPr>
              <a:spcBef>
                <a:spcPct val="0"/>
              </a:spcBef>
              <a:buFontTx/>
              <a:buNone/>
            </a:pPr>
            <a:r>
              <a:rPr lang="en-US" altLang="en-US" sz="1800" b="1">
                <a:solidFill>
                  <a:srgbClr val="000000"/>
                </a:solidFill>
                <a:latin typeface="Courier New" panose="02070309020205020404" pitchFamily="49" charset="0"/>
              </a:rPr>
              <a:t>ERROR at line 1:</a:t>
            </a:r>
          </a:p>
          <a:p>
            <a:pPr>
              <a:spcBef>
                <a:spcPct val="0"/>
              </a:spcBef>
              <a:buFontTx/>
              <a:buNone/>
            </a:pPr>
            <a:r>
              <a:rPr lang="en-US" altLang="en-US" sz="1800" b="1">
                <a:solidFill>
                  <a:srgbClr val="000000"/>
                </a:solidFill>
                <a:latin typeface="Courier New" panose="02070309020205020404" pitchFamily="49" charset="0"/>
              </a:rPr>
              <a:t>ORA-02292: integrity constraint (USR.EMP_DEPTNO_FK) violated - child record found</a:t>
            </a:r>
          </a:p>
        </p:txBody>
      </p:sp>
      <p:sp>
        <p:nvSpPr>
          <p:cNvPr id="481285" name="Rectangle 5">
            <a:extLst>
              <a:ext uri="{FF2B5EF4-FFF2-40B4-BE49-F238E27FC236}">
                <a16:creationId xmlns:a16="http://schemas.microsoft.com/office/drawing/2014/main" id="{42299A51-B803-F18D-62CF-5994DAC32FC5}"/>
              </a:ext>
            </a:extLst>
          </p:cNvPr>
          <p:cNvSpPr>
            <a:spLocks noGrp="1" noChangeArrowheads="1"/>
          </p:cNvSpPr>
          <p:nvPr>
            <p:ph type="body" idx="1"/>
          </p:nvPr>
        </p:nvSpPr>
        <p:spPr>
          <a:xfrm rot="20400000">
            <a:off x="3951288" y="2609850"/>
            <a:ext cx="4735512" cy="1571625"/>
          </a:xfrm>
          <a:noFill/>
        </p:spPr>
        <p:txBody>
          <a:bodyPr lIns="92075" tIns="46038" rIns="92075" bIns="46038">
            <a:spAutoFit/>
          </a:bodyPr>
          <a:lstStyle/>
          <a:p>
            <a:pPr marL="0" indent="0" algn="ctr">
              <a:spcBef>
                <a:spcPct val="0"/>
              </a:spcBef>
            </a:pPr>
            <a:r>
              <a:rPr lang="en-US" altLang="en-US" sz="2400">
                <a:solidFill>
                  <a:srgbClr val="FF3300"/>
                </a:solidFill>
              </a:rPr>
              <a:t>You cannot delete a row </a:t>
            </a:r>
          </a:p>
          <a:p>
            <a:pPr marL="0" indent="0" algn="ctr">
              <a:spcBef>
                <a:spcPct val="0"/>
              </a:spcBef>
              <a:buFontTx/>
              <a:buNone/>
            </a:pPr>
            <a:r>
              <a:rPr lang="en-US" altLang="en-US" sz="2400">
                <a:solidFill>
                  <a:srgbClr val="FF3300"/>
                </a:solidFill>
              </a:rPr>
              <a:t>that contains a primary key </a:t>
            </a:r>
          </a:p>
          <a:p>
            <a:pPr marL="0" indent="0" algn="ctr">
              <a:spcBef>
                <a:spcPct val="0"/>
              </a:spcBef>
              <a:buFontTx/>
              <a:buNone/>
            </a:pPr>
            <a:r>
              <a:rPr lang="en-US" altLang="en-US" sz="2400">
                <a:solidFill>
                  <a:srgbClr val="FF3300"/>
                </a:solidFill>
              </a:rPr>
              <a:t>that is used as a foreign key </a:t>
            </a:r>
          </a:p>
          <a:p>
            <a:pPr marL="0" indent="0" algn="ctr">
              <a:spcBef>
                <a:spcPct val="0"/>
              </a:spcBef>
              <a:buFontTx/>
              <a:buNone/>
            </a:pPr>
            <a:r>
              <a:rPr lang="en-US" altLang="en-US" sz="2400">
                <a:solidFill>
                  <a:srgbClr val="FF3300"/>
                </a:solidFill>
              </a:rPr>
              <a:t>in another table.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81285"/>
                                        </p:tgtEl>
                                        <p:attrNameLst>
                                          <p:attrName>style.visibility</p:attrName>
                                        </p:attrNameLst>
                                      </p:cBhvr>
                                      <p:to>
                                        <p:strVal val="visible"/>
                                      </p:to>
                                    </p:set>
                                    <p:animEffect transition="in" filter="wipe(down)">
                                      <p:cBhvr>
                                        <p:cTn id="7" dur="500"/>
                                        <p:tgtEl>
                                          <p:spTgt spid="481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5"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085A3F6-9AD8-679F-9025-64352EA3474E}"/>
              </a:ext>
            </a:extLst>
          </p:cNvPr>
          <p:cNvSpPr>
            <a:spLocks noGrp="1" noChangeArrowheads="1"/>
          </p:cNvSpPr>
          <p:nvPr>
            <p:ph type="title"/>
          </p:nvPr>
        </p:nvSpPr>
        <p:spPr>
          <a:xfrm>
            <a:off x="323850" y="588963"/>
            <a:ext cx="3275013" cy="536575"/>
          </a:xfrm>
          <a:noFill/>
        </p:spPr>
        <p:txBody>
          <a:bodyPr lIns="92075" tIns="46038" rIns="92075" bIns="46038" anchor="t"/>
          <a:lstStyle/>
          <a:p>
            <a:r>
              <a:rPr lang="en-US" altLang="en-US" sz="2800">
                <a:solidFill>
                  <a:srgbClr val="800000"/>
                </a:solidFill>
              </a:rPr>
              <a:t>Truncating a Table</a:t>
            </a:r>
          </a:p>
        </p:txBody>
      </p:sp>
      <p:sp>
        <p:nvSpPr>
          <p:cNvPr id="53251" name="Rectangle 3">
            <a:extLst>
              <a:ext uri="{FF2B5EF4-FFF2-40B4-BE49-F238E27FC236}">
                <a16:creationId xmlns:a16="http://schemas.microsoft.com/office/drawing/2014/main" id="{A9F67FBD-AAD1-63CE-8DAB-9041AA681AFE}"/>
              </a:ext>
            </a:extLst>
          </p:cNvPr>
          <p:cNvSpPr>
            <a:spLocks noGrp="1" noChangeArrowheads="1"/>
          </p:cNvSpPr>
          <p:nvPr>
            <p:ph type="body" idx="1"/>
          </p:nvPr>
        </p:nvSpPr>
        <p:spPr>
          <a:xfrm>
            <a:off x="396875" y="1223963"/>
            <a:ext cx="7889875" cy="4924425"/>
          </a:xfrm>
          <a:noFill/>
        </p:spPr>
        <p:txBody>
          <a:bodyPr lIns="92075" tIns="46038" rIns="92075" bIns="46038">
            <a:spAutoFit/>
          </a:bodyPr>
          <a:lstStyle/>
          <a:p>
            <a:pPr lvl="1"/>
            <a:r>
              <a:rPr lang="en-US" altLang="en-US"/>
              <a:t>The TRUNCATE TABLE statement:</a:t>
            </a:r>
          </a:p>
          <a:p>
            <a:pPr lvl="2"/>
            <a:r>
              <a:rPr lang="en-US" altLang="en-US"/>
              <a:t>Removes all rows from a table</a:t>
            </a:r>
          </a:p>
          <a:p>
            <a:pPr lvl="2"/>
            <a:r>
              <a:rPr lang="en-US" altLang="en-US"/>
              <a:t>Releases the storage space used by that table</a:t>
            </a:r>
          </a:p>
          <a:p>
            <a:pPr lvl="2"/>
            <a:r>
              <a:rPr lang="en-US" altLang="en-US"/>
              <a:t>You can do the same with DELETE statement, which is a DML statement and hence recoverable, but it is slow.</a:t>
            </a:r>
          </a:p>
          <a:p>
            <a:pPr lvl="2"/>
            <a:endParaRPr lang="en-US" altLang="en-US"/>
          </a:p>
          <a:p>
            <a:pPr lvl="2"/>
            <a:endParaRPr lang="en-US" altLang="en-US"/>
          </a:p>
          <a:p>
            <a:pPr lvl="2"/>
            <a:endParaRPr lang="en-US" altLang="en-US"/>
          </a:p>
          <a:p>
            <a:pPr lvl="2">
              <a:buFontTx/>
              <a:buNone/>
            </a:pPr>
            <a:endParaRPr lang="en-US" altLang="en-US"/>
          </a:p>
          <a:p>
            <a:pPr lvl="1"/>
            <a:r>
              <a:rPr lang="en-US" altLang="en-US"/>
              <a:t>You cannot roll back row removal when using TRUNCATE.</a:t>
            </a:r>
          </a:p>
          <a:p>
            <a:pPr lvl="1"/>
            <a:r>
              <a:rPr lang="en-US" altLang="en-US"/>
              <a:t>Alternatively, you can remove rows by using the DELETE statement.</a:t>
            </a:r>
          </a:p>
        </p:txBody>
      </p:sp>
      <p:sp>
        <p:nvSpPr>
          <p:cNvPr id="53252" name="Rectangle 4">
            <a:extLst>
              <a:ext uri="{FF2B5EF4-FFF2-40B4-BE49-F238E27FC236}">
                <a16:creationId xmlns:a16="http://schemas.microsoft.com/office/drawing/2014/main" id="{7222CA53-F37F-78E0-68C3-0898C946692A}"/>
              </a:ext>
            </a:extLst>
          </p:cNvPr>
          <p:cNvSpPr>
            <a:spLocks noChangeArrowheads="1"/>
          </p:cNvSpPr>
          <p:nvPr/>
        </p:nvSpPr>
        <p:spPr bwMode="blackWhite">
          <a:xfrm>
            <a:off x="914400" y="3278188"/>
            <a:ext cx="7510463" cy="7667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a:p>
            <a:pPr>
              <a:lnSpc>
                <a:spcPct val="150000"/>
              </a:lnSpc>
              <a:spcBef>
                <a:spcPct val="0"/>
              </a:spcBef>
              <a:buFontTx/>
              <a:buNone/>
            </a:pPr>
            <a:endParaRPr lang="en-US" altLang="en-US" sz="1800" b="1">
              <a:solidFill>
                <a:srgbClr val="000000"/>
              </a:solidFill>
              <a:latin typeface="Courier New" panose="02070309020205020404" pitchFamily="49" charset="0"/>
            </a:endParaRPr>
          </a:p>
        </p:txBody>
      </p:sp>
      <p:sp>
        <p:nvSpPr>
          <p:cNvPr id="425989" name="Rectangle 5">
            <a:extLst>
              <a:ext uri="{FF2B5EF4-FFF2-40B4-BE49-F238E27FC236}">
                <a16:creationId xmlns:a16="http://schemas.microsoft.com/office/drawing/2014/main" id="{9DD891B2-FA33-1323-9367-789376E76634}"/>
              </a:ext>
            </a:extLst>
          </p:cNvPr>
          <p:cNvSpPr>
            <a:spLocks noChangeArrowheads="1"/>
          </p:cNvSpPr>
          <p:nvPr/>
        </p:nvSpPr>
        <p:spPr bwMode="blackWhite">
          <a:xfrm>
            <a:off x="1039813" y="3184525"/>
            <a:ext cx="5957887" cy="938213"/>
          </a:xfrm>
          <a:prstGeom prst="rect">
            <a:avLst/>
          </a:prstGeom>
          <a:noFill/>
          <a:ln w="9525">
            <a:noFill/>
            <a:miter lim="800000"/>
            <a:headEnd/>
            <a:tailEnd/>
          </a:ln>
          <a:effectLst/>
        </p:spPr>
        <p:txBody>
          <a:bodyPr wrap="none" lIns="92075" tIns="46038" rIns="92075" bIns="46038" anchor="ctr"/>
          <a:lstStyle/>
          <a:p>
            <a:pPr>
              <a:tabLst>
                <a:tab pos="1200150" algn="l"/>
              </a:tabLst>
              <a:defRPr/>
            </a:pPr>
            <a:r>
              <a:rPr lang="en-US" sz="1800" b="1">
                <a:solidFill>
                  <a:srgbClr val="000000"/>
                </a:solidFill>
                <a:latin typeface="Courier New" pitchFamily="49" charset="0"/>
              </a:rPr>
              <a:t>SQL&gt; TRUNCATE TABLE department;</a:t>
            </a:r>
            <a:endParaRPr lang="en-US" sz="1800" b="1">
              <a:solidFill>
                <a:srgbClr val="000000"/>
              </a:solidFill>
              <a:effectLst>
                <a:outerShdw blurRad="38100" dist="38100" dir="2700000" algn="tl">
                  <a:srgbClr val="FFFFFF"/>
                </a:outerShdw>
              </a:effectLst>
              <a:latin typeface="Courier New" pitchFamily="49" charset="0"/>
            </a:endParaRPr>
          </a:p>
          <a:p>
            <a:pPr>
              <a:tabLst>
                <a:tab pos="1200150" algn="l"/>
              </a:tabLst>
              <a:defRPr/>
            </a:pPr>
            <a:r>
              <a:rPr lang="en-US" sz="1800" b="1">
                <a:solidFill>
                  <a:srgbClr val="FF3300"/>
                </a:solidFill>
                <a:effectLst>
                  <a:outerShdw blurRad="38100" dist="38100" dir="2700000" algn="tl">
                    <a:srgbClr val="000000"/>
                  </a:outerShdw>
                </a:effectLst>
                <a:latin typeface="Courier New" pitchFamily="49" charset="0"/>
              </a:rPr>
              <a:t>Table truncated.</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C3BFFB1-60F6-BEFC-3534-6FFAF08250BA}"/>
              </a:ext>
            </a:extLst>
          </p:cNvPr>
          <p:cNvSpPr>
            <a:spLocks noGrp="1" noChangeArrowheads="1"/>
          </p:cNvSpPr>
          <p:nvPr>
            <p:ph type="title"/>
          </p:nvPr>
        </p:nvSpPr>
        <p:spPr>
          <a:xfrm>
            <a:off x="323850" y="661988"/>
            <a:ext cx="7272338" cy="463550"/>
          </a:xfrm>
          <a:noFill/>
        </p:spPr>
        <p:txBody>
          <a:bodyPr lIns="92075" tIns="46038" rIns="92075" bIns="46038" anchor="t"/>
          <a:lstStyle/>
          <a:p>
            <a:r>
              <a:rPr lang="en-US" altLang="en-US" sz="2800">
                <a:solidFill>
                  <a:srgbClr val="800000"/>
                </a:solidFill>
              </a:rPr>
              <a:t>COMMIT, ROLLBACK and SAVEPOINT</a:t>
            </a:r>
          </a:p>
        </p:txBody>
      </p:sp>
      <p:sp>
        <p:nvSpPr>
          <p:cNvPr id="55299" name="Rectangle 3">
            <a:extLst>
              <a:ext uri="{FF2B5EF4-FFF2-40B4-BE49-F238E27FC236}">
                <a16:creationId xmlns:a16="http://schemas.microsoft.com/office/drawing/2014/main" id="{5CE8605A-4B9E-3C3D-8EBB-30B352F377C6}"/>
              </a:ext>
            </a:extLst>
          </p:cNvPr>
          <p:cNvSpPr>
            <a:spLocks noGrp="1" noChangeArrowheads="1"/>
          </p:cNvSpPr>
          <p:nvPr>
            <p:ph type="body" idx="1"/>
          </p:nvPr>
        </p:nvSpPr>
        <p:spPr>
          <a:xfrm>
            <a:off x="395288" y="1196975"/>
            <a:ext cx="8424862" cy="5780088"/>
          </a:xfrm>
          <a:noFill/>
        </p:spPr>
        <p:txBody>
          <a:bodyPr lIns="92075" tIns="46038" rIns="92075" bIns="46038">
            <a:spAutoFit/>
          </a:bodyPr>
          <a:lstStyle/>
          <a:p>
            <a:pPr algn="just"/>
            <a:r>
              <a:rPr lang="en-US" altLang="en-US" sz="2400"/>
              <a:t>Statements for transaction management.</a:t>
            </a:r>
          </a:p>
          <a:p>
            <a:pPr algn="just"/>
            <a:r>
              <a:rPr lang="en-US" altLang="en-US" sz="2400"/>
              <a:t>A transaction begins with the first DML statement or by using an explicit </a:t>
            </a:r>
            <a:r>
              <a:rPr lang="en-US" altLang="en-US" sz="2400">
                <a:solidFill>
                  <a:schemeClr val="accent2"/>
                </a:solidFill>
              </a:rPr>
              <a:t>SET TRANSACTION </a:t>
            </a:r>
            <a:r>
              <a:rPr lang="en-US" altLang="en-US" sz="2400"/>
              <a:t>statement and ends when a </a:t>
            </a:r>
            <a:r>
              <a:rPr lang="en-US" altLang="en-US" sz="2400">
                <a:solidFill>
                  <a:schemeClr val="accent2"/>
                </a:solidFill>
              </a:rPr>
              <a:t>COMMIT</a:t>
            </a:r>
            <a:r>
              <a:rPr lang="en-US" altLang="en-US" sz="2400"/>
              <a:t> or </a:t>
            </a:r>
            <a:r>
              <a:rPr lang="en-US" altLang="en-US" sz="2400">
                <a:solidFill>
                  <a:schemeClr val="accent2"/>
                </a:solidFill>
              </a:rPr>
              <a:t>ROLLBACK</a:t>
            </a:r>
            <a:r>
              <a:rPr lang="en-US" altLang="en-US" sz="2400"/>
              <a:t> statement is issued.</a:t>
            </a:r>
          </a:p>
          <a:p>
            <a:pPr algn="just"/>
            <a:r>
              <a:rPr lang="en-US" altLang="en-US" sz="2400"/>
              <a:t>Use COMMIT and ROLLBACK SQL statements to terminate a transaction explicitly.</a:t>
            </a:r>
          </a:p>
          <a:p>
            <a:pPr algn="just"/>
            <a:r>
              <a:rPr lang="en-US" altLang="en-US" sz="2400"/>
              <a:t>The syntax for COMMIT statement is:</a:t>
            </a:r>
          </a:p>
          <a:p>
            <a:pPr lvl="1" algn="just"/>
            <a:r>
              <a:rPr lang="en-US" altLang="en-US">
                <a:solidFill>
                  <a:schemeClr val="accent2"/>
                </a:solidFill>
              </a:rPr>
              <a:t>COMMIT [WORK][COMMENT text];</a:t>
            </a:r>
          </a:p>
          <a:p>
            <a:pPr algn="just"/>
            <a:r>
              <a:rPr lang="en-US" altLang="en-US" sz="2400"/>
              <a:t>The optional word WORK is used just to improve readability.</a:t>
            </a:r>
          </a:p>
          <a:p>
            <a:pPr algn="just"/>
            <a:r>
              <a:rPr lang="en-US" altLang="en-US" sz="2400"/>
              <a:t>The COMMENT is usually employed by distributed transactions.</a:t>
            </a:r>
          </a:p>
          <a:p>
            <a:pPr lvl="1" algn="just"/>
            <a:r>
              <a:rPr lang="en-US" altLang="en-US" sz="2000">
                <a:solidFill>
                  <a:schemeClr val="accent2"/>
                </a:solidFill>
              </a:rPr>
              <a:t>COMMIT COMMENT ‘Employees details have been changed’;</a:t>
            </a:r>
          </a:p>
          <a:p>
            <a:pPr lvl="1" algn="just"/>
            <a:endParaRPr lang="en-US" altLang="en-US"/>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773F09D-D2A9-163B-F29F-024913F9C5E7}"/>
              </a:ext>
            </a:extLst>
          </p:cNvPr>
          <p:cNvSpPr>
            <a:spLocks noGrp="1" noChangeArrowheads="1"/>
          </p:cNvSpPr>
          <p:nvPr>
            <p:ph type="title"/>
          </p:nvPr>
        </p:nvSpPr>
        <p:spPr>
          <a:xfrm>
            <a:off x="323850" y="661988"/>
            <a:ext cx="7272338" cy="463550"/>
          </a:xfrm>
          <a:noFill/>
        </p:spPr>
        <p:txBody>
          <a:bodyPr lIns="92075" tIns="46038" rIns="92075" bIns="46038" anchor="t"/>
          <a:lstStyle/>
          <a:p>
            <a:r>
              <a:rPr lang="en-US" altLang="en-US" sz="2800">
                <a:solidFill>
                  <a:srgbClr val="800000"/>
                </a:solidFill>
              </a:rPr>
              <a:t>COMMIT, ROLLBACK and SAVEPOINT</a:t>
            </a:r>
          </a:p>
        </p:txBody>
      </p:sp>
      <p:sp>
        <p:nvSpPr>
          <p:cNvPr id="57347" name="Rectangle 3">
            <a:extLst>
              <a:ext uri="{FF2B5EF4-FFF2-40B4-BE49-F238E27FC236}">
                <a16:creationId xmlns:a16="http://schemas.microsoft.com/office/drawing/2014/main" id="{1BDE7286-0310-0B74-C942-A570FED76DAE}"/>
              </a:ext>
            </a:extLst>
          </p:cNvPr>
          <p:cNvSpPr>
            <a:spLocks noGrp="1" noChangeArrowheads="1"/>
          </p:cNvSpPr>
          <p:nvPr>
            <p:ph type="body" idx="1"/>
          </p:nvPr>
        </p:nvSpPr>
        <p:spPr>
          <a:xfrm>
            <a:off x="395288" y="1196975"/>
            <a:ext cx="8424862" cy="4746625"/>
          </a:xfrm>
          <a:noFill/>
        </p:spPr>
        <p:txBody>
          <a:bodyPr lIns="92075" tIns="46038" rIns="92075" bIns="46038">
            <a:spAutoFit/>
          </a:bodyPr>
          <a:lstStyle/>
          <a:p>
            <a:pPr algn="just"/>
            <a:r>
              <a:rPr lang="en-US" altLang="en-US" sz="2400"/>
              <a:t>SVAEPOINT gives more control on transaction management.</a:t>
            </a:r>
          </a:p>
          <a:p>
            <a:pPr algn="just"/>
            <a:r>
              <a:rPr lang="en-US" altLang="en-US" sz="2400"/>
              <a:t>SVAEPOINT marks and saves the current point in a transaction.</a:t>
            </a:r>
          </a:p>
          <a:p>
            <a:pPr algn="just"/>
            <a:r>
              <a:rPr lang="en-US" altLang="en-US" sz="2400"/>
              <a:t>This allows you to rollback the changes up to that point.</a:t>
            </a:r>
          </a:p>
          <a:p>
            <a:pPr algn="just"/>
            <a:r>
              <a:rPr lang="en-US" altLang="en-US" sz="2400"/>
              <a:t>There can be maximum 5 savepoints in a transaction.</a:t>
            </a:r>
          </a:p>
          <a:p>
            <a:pPr algn="just"/>
            <a:r>
              <a:rPr lang="en-US" altLang="en-US" sz="2400"/>
              <a:t>The syntax for SAVEPOINT statement is:</a:t>
            </a:r>
          </a:p>
          <a:p>
            <a:pPr lvl="1" algn="just"/>
            <a:r>
              <a:rPr lang="en-US" altLang="en-US">
                <a:solidFill>
                  <a:schemeClr val="accent2"/>
                </a:solidFill>
              </a:rPr>
              <a:t>SVAEPOINT savepoint-name;</a:t>
            </a:r>
          </a:p>
          <a:p>
            <a:pPr lvl="1" algn="just"/>
            <a:r>
              <a:rPr lang="en-US" altLang="en-US">
                <a:solidFill>
                  <a:schemeClr val="accent2"/>
                </a:solidFill>
              </a:rPr>
              <a:t>SVAEPOINT Emp_savepoint;</a:t>
            </a:r>
          </a:p>
          <a:p>
            <a:pPr algn="just"/>
            <a:endParaRPr lang="en-US" altLang="en-US" sz="2400"/>
          </a:p>
          <a:p>
            <a:pPr algn="just"/>
            <a:endParaRPr lang="en-US" altLang="en-US" sz="240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A0D6F07-1B0B-CE93-4DFA-D40DAFECEC5D}"/>
              </a:ext>
            </a:extLst>
          </p:cNvPr>
          <p:cNvSpPr>
            <a:spLocks noGrp="1" noChangeArrowheads="1"/>
          </p:cNvSpPr>
          <p:nvPr>
            <p:ph type="title"/>
          </p:nvPr>
        </p:nvSpPr>
        <p:spPr>
          <a:xfrm>
            <a:off x="323850" y="661988"/>
            <a:ext cx="7272338" cy="463550"/>
          </a:xfrm>
          <a:noFill/>
        </p:spPr>
        <p:txBody>
          <a:bodyPr lIns="92075" tIns="46038" rIns="92075" bIns="46038" anchor="t"/>
          <a:lstStyle/>
          <a:p>
            <a:r>
              <a:rPr lang="en-US" altLang="en-US" sz="2800">
                <a:solidFill>
                  <a:srgbClr val="800000"/>
                </a:solidFill>
              </a:rPr>
              <a:t>COMMIT, ROLLBACK and SAVEPOINT</a:t>
            </a:r>
          </a:p>
        </p:txBody>
      </p:sp>
      <p:sp>
        <p:nvSpPr>
          <p:cNvPr id="59395" name="Rectangle 3">
            <a:extLst>
              <a:ext uri="{FF2B5EF4-FFF2-40B4-BE49-F238E27FC236}">
                <a16:creationId xmlns:a16="http://schemas.microsoft.com/office/drawing/2014/main" id="{483C146E-362D-B255-A56A-8F25FE7DFC97}"/>
              </a:ext>
            </a:extLst>
          </p:cNvPr>
          <p:cNvSpPr>
            <a:spLocks noGrp="1" noChangeArrowheads="1"/>
          </p:cNvSpPr>
          <p:nvPr>
            <p:ph type="body" idx="1"/>
          </p:nvPr>
        </p:nvSpPr>
        <p:spPr>
          <a:xfrm>
            <a:off x="323850" y="1268413"/>
            <a:ext cx="8424863" cy="5484812"/>
          </a:xfrm>
          <a:noFill/>
        </p:spPr>
        <p:txBody>
          <a:bodyPr lIns="92075" tIns="46038" rIns="92075" bIns="46038">
            <a:spAutoFit/>
          </a:bodyPr>
          <a:lstStyle/>
          <a:p>
            <a:r>
              <a:rPr lang="en-US" altLang="en-US" sz="2400"/>
              <a:t>ROLLBACK statement is used to undo the changes made by the transaction. However, it cant undo the changes that have been made permanent by COMMIT statement.</a:t>
            </a:r>
          </a:p>
          <a:p>
            <a:r>
              <a:rPr lang="en-US" altLang="en-US" sz="2400"/>
              <a:t>The syntax for ROLLBACK statement is:</a:t>
            </a:r>
          </a:p>
          <a:p>
            <a:pPr lvl="1"/>
            <a:r>
              <a:rPr lang="en-US" altLang="en-US" sz="2000">
                <a:solidFill>
                  <a:schemeClr val="accent2"/>
                </a:solidFill>
              </a:rPr>
              <a:t>ROLLBACK [WORK][TO  savepoint_name];</a:t>
            </a:r>
          </a:p>
          <a:p>
            <a:r>
              <a:rPr lang="en-US" altLang="en-US" sz="2400">
                <a:solidFill>
                  <a:schemeClr val="tx2"/>
                </a:solidFill>
              </a:rPr>
              <a:t>Examples:</a:t>
            </a:r>
          </a:p>
          <a:p>
            <a:r>
              <a:rPr lang="en-US" altLang="en-US" sz="2400">
                <a:solidFill>
                  <a:schemeClr val="accent2"/>
                </a:solidFill>
              </a:rPr>
              <a:t>ROLLBACK;</a:t>
            </a:r>
            <a:r>
              <a:rPr lang="en-US" altLang="en-US" sz="2400">
                <a:solidFill>
                  <a:schemeClr val="tx2"/>
                </a:solidFill>
              </a:rPr>
              <a:t> // it will undo the changes made by the 			current transaction (up to the last COMMIT)</a:t>
            </a:r>
          </a:p>
          <a:p>
            <a:r>
              <a:rPr lang="en-US" altLang="en-US" sz="2400">
                <a:solidFill>
                  <a:schemeClr val="accent2"/>
                </a:solidFill>
              </a:rPr>
              <a:t>ROLLBACK TO rollback_point; </a:t>
            </a:r>
          </a:p>
          <a:p>
            <a:r>
              <a:rPr lang="en-US" altLang="en-US" sz="2400">
                <a:solidFill>
                  <a:schemeClr val="tx2"/>
                </a:solidFill>
              </a:rPr>
              <a:t>// it will undo the changes up to the specific savepoint. </a:t>
            </a:r>
          </a:p>
          <a:p>
            <a:endParaRPr lang="en-US" altLang="en-US" sz="2400"/>
          </a:p>
          <a:p>
            <a:endParaRPr lang="en-US" altLang="en-US" sz="2400"/>
          </a:p>
          <a:p>
            <a:endParaRPr lang="en-US" altLang="en-US" sz="240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4F05D280-99B2-8915-EE4F-BF775D155EB4}"/>
              </a:ext>
            </a:extLst>
          </p:cNvPr>
          <p:cNvSpPr>
            <a:spLocks noGrp="1" noChangeArrowheads="1"/>
          </p:cNvSpPr>
          <p:nvPr>
            <p:ph type="body" idx="1"/>
          </p:nvPr>
        </p:nvSpPr>
        <p:spPr>
          <a:xfrm>
            <a:off x="395288" y="838200"/>
            <a:ext cx="8497887" cy="6019800"/>
          </a:xfrm>
        </p:spPr>
        <p:txBody>
          <a:bodyPr/>
          <a:lstStyle/>
          <a:p>
            <a:pPr marL="609600" indent="-609600">
              <a:lnSpc>
                <a:spcPct val="90000"/>
              </a:lnSpc>
              <a:buClr>
                <a:schemeClr val="tx2"/>
              </a:buClr>
              <a:buFontTx/>
              <a:buNone/>
            </a:pPr>
            <a:r>
              <a:rPr lang="en-US" altLang="en-US" sz="1800">
                <a:solidFill>
                  <a:schemeClr val="tx2"/>
                </a:solidFill>
              </a:rPr>
              <a:t>					</a:t>
            </a:r>
          </a:p>
          <a:p>
            <a:pPr marL="609600" indent="-609600">
              <a:lnSpc>
                <a:spcPct val="90000"/>
              </a:lnSpc>
              <a:buClr>
                <a:schemeClr val="tx2"/>
              </a:buClr>
              <a:buFontTx/>
              <a:buNone/>
            </a:pPr>
            <a:r>
              <a:rPr lang="en-US" altLang="en-US" sz="1800">
                <a:solidFill>
                  <a:schemeClr val="tx2"/>
                </a:solidFill>
              </a:rPr>
              <a:t>			Time			    		</a:t>
            </a:r>
          </a:p>
          <a:p>
            <a:pPr marL="609600" indent="-609600">
              <a:lnSpc>
                <a:spcPct val="90000"/>
              </a:lnSpc>
              <a:buClr>
                <a:schemeClr val="tx2"/>
              </a:buClr>
              <a:buFontTx/>
              <a:buNone/>
            </a:pPr>
            <a:r>
              <a:rPr lang="en-US" altLang="en-US" sz="1800">
                <a:solidFill>
                  <a:schemeClr val="tx2"/>
                </a:solidFill>
              </a:rPr>
              <a:t>Transaction								t1		SAVEPOINT s1; 	</a:t>
            </a:r>
          </a:p>
          <a:p>
            <a:pPr marL="609600" indent="-609600">
              <a:lnSpc>
                <a:spcPct val="90000"/>
              </a:lnSpc>
              <a:buClr>
                <a:schemeClr val="tx2"/>
              </a:buClr>
              <a:buFontTx/>
              <a:buNone/>
            </a:pPr>
            <a:r>
              <a:rPr lang="en-US" altLang="en-US" sz="1800">
                <a:solidFill>
                  <a:schemeClr val="tx2"/>
                </a:solidFill>
              </a:rPr>
              <a:t>				</a:t>
            </a:r>
            <a:r>
              <a:rPr lang="en-US" altLang="en-US" sz="1800">
                <a:solidFill>
                  <a:srgbClr val="800000"/>
                </a:solidFill>
              </a:rPr>
              <a:t>---------- (a)</a:t>
            </a:r>
          </a:p>
          <a:p>
            <a:pPr marL="609600" indent="-609600">
              <a:lnSpc>
                <a:spcPct val="90000"/>
              </a:lnSpc>
              <a:buClr>
                <a:schemeClr val="tx2"/>
              </a:buClr>
              <a:buFontTx/>
              <a:buNone/>
            </a:pPr>
            <a:r>
              <a:rPr lang="en-US" altLang="en-US" sz="1800">
                <a:solidFill>
                  <a:srgbClr val="800000"/>
                </a:solidFill>
              </a:rPr>
              <a:t>				---------- (b)</a:t>
            </a:r>
          </a:p>
          <a:p>
            <a:pPr marL="609600" indent="-609600">
              <a:lnSpc>
                <a:spcPct val="90000"/>
              </a:lnSpc>
              <a:buClr>
                <a:schemeClr val="tx2"/>
              </a:buClr>
              <a:buFontTx/>
              <a:buNone/>
            </a:pPr>
            <a:r>
              <a:rPr lang="en-US" altLang="en-US" sz="1800">
                <a:solidFill>
                  <a:schemeClr val="tx2"/>
                </a:solidFill>
              </a:rPr>
              <a:t>		t2		</a:t>
            </a:r>
            <a:r>
              <a:rPr lang="en-US" altLang="en-US" sz="1800">
                <a:solidFill>
                  <a:schemeClr val="accent2"/>
                </a:solidFill>
              </a:rPr>
              <a:t>SAVEPOINT s2; 	</a:t>
            </a:r>
          </a:p>
          <a:p>
            <a:pPr marL="609600" indent="-609600">
              <a:lnSpc>
                <a:spcPct val="90000"/>
              </a:lnSpc>
              <a:buClr>
                <a:schemeClr val="tx2"/>
              </a:buClr>
              <a:buFontTx/>
              <a:buNone/>
            </a:pPr>
            <a:r>
              <a:rPr lang="en-US" altLang="en-US" sz="1800">
                <a:solidFill>
                  <a:schemeClr val="accent2"/>
                </a:solidFill>
              </a:rPr>
              <a:t>				---------- (c)</a:t>
            </a:r>
          </a:p>
          <a:p>
            <a:pPr marL="609600" indent="-609600">
              <a:lnSpc>
                <a:spcPct val="90000"/>
              </a:lnSpc>
              <a:buClr>
                <a:schemeClr val="tx2"/>
              </a:buClr>
              <a:buFontTx/>
              <a:buNone/>
            </a:pPr>
            <a:r>
              <a:rPr lang="en-US" altLang="en-US" sz="1800">
                <a:solidFill>
                  <a:schemeClr val="accent2"/>
                </a:solidFill>
              </a:rPr>
              <a:t>				---------- (d)</a:t>
            </a:r>
          </a:p>
          <a:p>
            <a:pPr marL="609600" indent="-609600">
              <a:lnSpc>
                <a:spcPct val="90000"/>
              </a:lnSpc>
              <a:buClr>
                <a:schemeClr val="tx2"/>
              </a:buClr>
              <a:buFontTx/>
              <a:buNone/>
            </a:pPr>
            <a:r>
              <a:rPr lang="en-US" altLang="en-US" sz="1800">
                <a:solidFill>
                  <a:schemeClr val="accent2"/>
                </a:solidFill>
              </a:rPr>
              <a:t>		t3		SAVEPOINT s3; </a:t>
            </a:r>
          </a:p>
          <a:p>
            <a:pPr marL="609600" indent="-609600">
              <a:lnSpc>
                <a:spcPct val="90000"/>
              </a:lnSpc>
              <a:buClr>
                <a:schemeClr val="tx2"/>
              </a:buClr>
              <a:buFontTx/>
              <a:buNone/>
            </a:pPr>
            <a:r>
              <a:rPr lang="en-US" altLang="en-US" sz="1800">
                <a:solidFill>
                  <a:schemeClr val="accent2"/>
                </a:solidFill>
              </a:rPr>
              <a:t>				---------- (e)</a:t>
            </a:r>
          </a:p>
          <a:p>
            <a:pPr marL="609600" indent="-609600">
              <a:lnSpc>
                <a:spcPct val="90000"/>
              </a:lnSpc>
              <a:buClr>
                <a:schemeClr val="tx2"/>
              </a:buClr>
              <a:buFontTx/>
              <a:buNone/>
            </a:pPr>
            <a:r>
              <a:rPr lang="en-US" altLang="en-US" sz="1800">
                <a:solidFill>
                  <a:schemeClr val="accent2"/>
                </a:solidFill>
              </a:rPr>
              <a:t>				----------(f)</a:t>
            </a:r>
          </a:p>
          <a:p>
            <a:pPr marL="609600" indent="-609600">
              <a:lnSpc>
                <a:spcPct val="90000"/>
              </a:lnSpc>
              <a:buClr>
                <a:schemeClr val="tx2"/>
              </a:buClr>
              <a:buFontTx/>
              <a:buNone/>
            </a:pPr>
            <a:r>
              <a:rPr lang="en-US" altLang="en-US" sz="1800">
                <a:solidFill>
                  <a:schemeClr val="tx2"/>
                </a:solidFill>
              </a:rPr>
              <a:t>		t4		ROLLBACK TO s2;</a:t>
            </a:r>
          </a:p>
          <a:p>
            <a:pPr marL="609600" indent="-609600">
              <a:lnSpc>
                <a:spcPct val="90000"/>
              </a:lnSpc>
              <a:buClr>
                <a:schemeClr val="tx2"/>
              </a:buClr>
              <a:buFontTx/>
              <a:buNone/>
            </a:pPr>
            <a:r>
              <a:rPr lang="en-US" altLang="en-US" sz="1800">
                <a:solidFill>
                  <a:schemeClr val="tx2"/>
                </a:solidFill>
              </a:rPr>
              <a:t>				</a:t>
            </a:r>
            <a:r>
              <a:rPr lang="en-US" altLang="en-US" sz="1800">
                <a:solidFill>
                  <a:srgbClr val="800000"/>
                </a:solidFill>
              </a:rPr>
              <a:t>---------- (g)</a:t>
            </a:r>
          </a:p>
          <a:p>
            <a:pPr marL="609600" indent="-609600">
              <a:lnSpc>
                <a:spcPct val="90000"/>
              </a:lnSpc>
              <a:buClr>
                <a:schemeClr val="tx2"/>
              </a:buClr>
              <a:buFontTx/>
              <a:buNone/>
            </a:pPr>
            <a:r>
              <a:rPr lang="en-US" altLang="en-US" sz="1800">
                <a:solidFill>
                  <a:srgbClr val="800000"/>
                </a:solidFill>
              </a:rPr>
              <a:t>				---------- (h)</a:t>
            </a:r>
          </a:p>
          <a:p>
            <a:pPr marL="609600" indent="-609600">
              <a:lnSpc>
                <a:spcPct val="90000"/>
              </a:lnSpc>
              <a:buClr>
                <a:schemeClr val="tx2"/>
              </a:buClr>
              <a:buFontTx/>
              <a:buNone/>
            </a:pPr>
            <a:r>
              <a:rPr lang="en-US" altLang="en-US" sz="1800">
                <a:solidFill>
                  <a:schemeClr val="tx2"/>
                </a:solidFill>
              </a:rPr>
              <a:t>		t5		COMMIT; // work done since the start of 					the transaction  plus (g) and (h) will be saved.</a:t>
            </a:r>
          </a:p>
        </p:txBody>
      </p:sp>
      <p:sp>
        <p:nvSpPr>
          <p:cNvPr id="61443" name="Text Box 4">
            <a:extLst>
              <a:ext uri="{FF2B5EF4-FFF2-40B4-BE49-F238E27FC236}">
                <a16:creationId xmlns:a16="http://schemas.microsoft.com/office/drawing/2014/main" id="{0C507E0D-769B-CC20-530B-C874558147FB}"/>
              </a:ext>
            </a:extLst>
          </p:cNvPr>
          <p:cNvSpPr txBox="1">
            <a:spLocks noChangeArrowheads="1"/>
          </p:cNvSpPr>
          <p:nvPr/>
        </p:nvSpPr>
        <p:spPr bwMode="auto">
          <a:xfrm>
            <a:off x="323850" y="677863"/>
            <a:ext cx="828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n-US" altLang="en-US">
                <a:solidFill>
                  <a:srgbClr val="800000"/>
                </a:solidFill>
              </a:rPr>
              <a:t>COMMIT, ROLLBACK and SAVEPOINT (Example)</a:t>
            </a:r>
          </a:p>
        </p:txBody>
      </p:sp>
      <p:sp>
        <p:nvSpPr>
          <p:cNvPr id="61444" name="Line 5">
            <a:extLst>
              <a:ext uri="{FF2B5EF4-FFF2-40B4-BE49-F238E27FC236}">
                <a16:creationId xmlns:a16="http://schemas.microsoft.com/office/drawing/2014/main" id="{80BED5FB-A11C-5E9E-2556-AACAEFC00814}"/>
              </a:ext>
            </a:extLst>
          </p:cNvPr>
          <p:cNvSpPr>
            <a:spLocks noChangeShapeType="1"/>
          </p:cNvSpPr>
          <p:nvPr/>
        </p:nvSpPr>
        <p:spPr bwMode="auto">
          <a:xfrm>
            <a:off x="2555875" y="1700213"/>
            <a:ext cx="0" cy="4608512"/>
          </a:xfrm>
          <a:prstGeom prst="line">
            <a:avLst/>
          </a:prstGeom>
          <a:noFill/>
          <a:ln w="38100">
            <a:solidFill>
              <a:schemeClr val="tx1"/>
            </a:solidFill>
            <a:miter lim="800000"/>
            <a:headEnd/>
            <a:tailEnd type="stealth"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transition spd="med">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510C3E84-5D40-2977-CE70-94F6C062DE56}"/>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a:latin typeface="Georgia" panose="02040502050405020303" pitchFamily="18" charset="0"/>
              </a:rPr>
            </a:br>
            <a:r>
              <a:rPr lang="de-AT" altLang="en-US" sz="3600">
                <a:latin typeface="Georgia" panose="02040502050405020303" pitchFamily="18" charset="0"/>
              </a:rPr>
              <a:t>Thank you for your attention.</a:t>
            </a:r>
          </a:p>
        </p:txBody>
      </p:sp>
      <p:sp>
        <p:nvSpPr>
          <p:cNvPr id="62467" name="Rectangle 8">
            <a:extLst>
              <a:ext uri="{FF2B5EF4-FFF2-40B4-BE49-F238E27FC236}">
                <a16:creationId xmlns:a16="http://schemas.microsoft.com/office/drawing/2014/main" id="{D57B83B4-D105-11B9-CA03-930A1E6873FD}"/>
              </a:ext>
            </a:extLst>
          </p:cNvPr>
          <p:cNvSpPr>
            <a:spLocks noChangeArrowheads="1"/>
          </p:cNvSpPr>
          <p:nvPr/>
        </p:nvSpPr>
        <p:spPr bwMode="auto">
          <a:xfrm>
            <a:off x="2362200" y="3962400"/>
            <a:ext cx="4495800" cy="2130425"/>
          </a:xfrm>
          <a:prstGeom prst="rect">
            <a:avLst/>
          </a:prstGeom>
          <a:solidFill>
            <a:srgbClr val="FFFFCC"/>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62468" name="Rectangle 9">
            <a:extLst>
              <a:ext uri="{FF2B5EF4-FFF2-40B4-BE49-F238E27FC236}">
                <a16:creationId xmlns:a16="http://schemas.microsoft.com/office/drawing/2014/main" id="{EB1FBD6A-15DC-4A4B-644A-044EEC003631}"/>
              </a:ext>
            </a:extLst>
          </p:cNvPr>
          <p:cNvSpPr>
            <a:spLocks noChangeArrowheads="1"/>
          </p:cNvSpPr>
          <p:nvPr/>
        </p:nvSpPr>
        <p:spPr bwMode="auto">
          <a:xfrm>
            <a:off x="539750" y="2276475"/>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a:p>
          <a:p>
            <a:pPr eaLnBrk="1" hangingPunct="1"/>
            <a:endParaRPr lang="en-US" altLang="en-US" sz="2400"/>
          </a:p>
          <a:p>
            <a:pPr eaLnBrk="1" hangingPunct="1"/>
            <a:endParaRPr lang="en-US" altLang="en-US" sz="2400"/>
          </a:p>
          <a:p>
            <a:pPr eaLnBrk="1" hangingPunct="1"/>
            <a:endParaRPr lang="en-US" altLang="en-US" sz="2400"/>
          </a:p>
          <a:p>
            <a:pPr eaLnBrk="1" hangingPunct="1">
              <a:buFontTx/>
              <a:buNone/>
            </a:pPr>
            <a:r>
              <a:rPr lang="de-AT" altLang="en-US" sz="900" b="1">
                <a:solidFill>
                  <a:srgbClr val="000066"/>
                </a:solidFill>
              </a:rPr>
              <a:t>			</a:t>
            </a:r>
            <a:r>
              <a:rPr lang="de-AT" altLang="en-US" sz="1200" b="1">
                <a:solidFill>
                  <a:schemeClr val="accent2"/>
                </a:solidFill>
                <a:latin typeface="Georgia" panose="02040502050405020303" pitchFamily="18" charset="0"/>
              </a:rPr>
              <a:t>Asif Sohail</a:t>
            </a:r>
          </a:p>
          <a:p>
            <a:pPr eaLnBrk="1" hangingPunct="1">
              <a:buFontTx/>
              <a:buNone/>
            </a:pPr>
            <a:r>
              <a:rPr lang="de-AT" altLang="en-US" sz="1200" b="1">
                <a:solidFill>
                  <a:srgbClr val="0000FF"/>
                </a:solidFill>
                <a:latin typeface="Georgia" panose="02040502050405020303" pitchFamily="18" charset="0"/>
              </a:rPr>
              <a:t>			</a:t>
            </a:r>
          </a:p>
          <a:p>
            <a:pPr eaLnBrk="1" hangingPunct="1">
              <a:buFontTx/>
              <a:buNone/>
            </a:pPr>
            <a:r>
              <a:rPr lang="de-AT" altLang="en-US" sz="1200" b="1">
                <a:solidFill>
                  <a:srgbClr val="0000FF"/>
                </a:solidFill>
                <a:latin typeface="Georgia" panose="02040502050405020303" pitchFamily="18" charset="0"/>
              </a:rPr>
              <a:t>			</a:t>
            </a:r>
            <a:r>
              <a:rPr lang="de-AT" altLang="en-US" sz="1200" b="1">
                <a:solidFill>
                  <a:srgbClr val="800000"/>
                </a:solidFill>
                <a:latin typeface="Georgia" panose="02040502050405020303" pitchFamily="18" charset="0"/>
              </a:rPr>
              <a:t>Assistant Professor</a:t>
            </a:r>
            <a:endParaRPr lang="de-AT" altLang="en-US" sz="1200">
              <a:solidFill>
                <a:srgbClr val="800000"/>
              </a:solidFill>
              <a:latin typeface="Georgia" panose="02040502050405020303" pitchFamily="18" charset="0"/>
            </a:endParaRPr>
          </a:p>
          <a:p>
            <a:pPr eaLnBrk="1" hangingPunct="1">
              <a:buFontTx/>
              <a:buNone/>
            </a:pPr>
            <a:r>
              <a:rPr lang="de-AT" altLang="en-US" sz="1200" b="1">
                <a:solidFill>
                  <a:srgbClr val="0000FF"/>
                </a:solidFill>
                <a:latin typeface="Georgia" panose="02040502050405020303" pitchFamily="18" charset="0"/>
              </a:rPr>
              <a:t>			</a:t>
            </a:r>
            <a:r>
              <a:rPr lang="de-AT" altLang="en-US" sz="1200">
                <a:solidFill>
                  <a:srgbClr val="0000FF"/>
                </a:solidFill>
                <a:latin typeface="Georgia" panose="02040502050405020303" pitchFamily="18" charset="0"/>
              </a:rPr>
              <a:t>University of the Punjab</a:t>
            </a:r>
          </a:p>
          <a:p>
            <a:pPr eaLnBrk="1" hangingPunct="1">
              <a:buFontTx/>
              <a:buNone/>
            </a:pPr>
            <a:r>
              <a:rPr lang="de-AT" altLang="en-US" sz="1200">
                <a:solidFill>
                  <a:srgbClr val="0000FF"/>
                </a:solidFill>
                <a:latin typeface="Georgia" panose="02040502050405020303" pitchFamily="18" charset="0"/>
              </a:rPr>
              <a:t>			Punjab University College of Information Technology (PUCIT)</a:t>
            </a:r>
          </a:p>
          <a:p>
            <a:pPr eaLnBrk="1" hangingPunct="1">
              <a:buFontTx/>
              <a:buNone/>
            </a:pPr>
            <a:r>
              <a:rPr lang="de-AT" altLang="en-US" sz="1200">
                <a:solidFill>
                  <a:srgbClr val="0000FF"/>
                </a:solidFill>
                <a:latin typeface="Georgia" panose="02040502050405020303" pitchFamily="18" charset="0"/>
              </a:rPr>
              <a:t>			Allama Iqbal (Old) Campus, Anarkali</a:t>
            </a:r>
          </a:p>
          <a:p>
            <a:pPr eaLnBrk="1" hangingPunct="1">
              <a:buFontTx/>
              <a:buNone/>
            </a:pPr>
            <a:r>
              <a:rPr lang="de-AT" altLang="en-US" sz="1200">
                <a:solidFill>
                  <a:srgbClr val="0000FF"/>
                </a:solidFill>
                <a:latin typeface="Georgia" panose="02040502050405020303" pitchFamily="18" charset="0"/>
              </a:rPr>
              <a:t>			Lahore, Pakistan</a:t>
            </a:r>
          </a:p>
          <a:p>
            <a:pPr eaLnBrk="1" hangingPunct="1">
              <a:buFontTx/>
              <a:buNone/>
            </a:pPr>
            <a:r>
              <a:rPr lang="de-AT" altLang="en-US" sz="1200" b="1">
                <a:solidFill>
                  <a:srgbClr val="0000FF"/>
                </a:solidFill>
                <a:latin typeface="Georgia" panose="02040502050405020303" pitchFamily="18" charset="0"/>
              </a:rPr>
              <a:t>	</a:t>
            </a:r>
            <a:r>
              <a:rPr lang="de-AT" altLang="en-US" sz="1200">
                <a:solidFill>
                  <a:srgbClr val="0000FF"/>
                </a:solidFill>
                <a:latin typeface="Georgia" panose="02040502050405020303" pitchFamily="18" charset="0"/>
              </a:rPr>
              <a:t>		Tel:                  +92-(0)42-111-923-923    Ext. </a:t>
            </a:r>
            <a:r>
              <a:rPr lang="de-AT" altLang="en-US" sz="1200">
                <a:solidFill>
                  <a:srgbClr val="0000FF"/>
                </a:solidFill>
                <a:latin typeface="Times New Roman" panose="02020603050405020304" pitchFamily="18" charset="0"/>
              </a:rPr>
              <a:t>154</a:t>
            </a:r>
          </a:p>
          <a:p>
            <a:pPr eaLnBrk="1" hangingPunct="1">
              <a:buFontTx/>
              <a:buNone/>
            </a:pPr>
            <a:r>
              <a:rPr lang="de-AT" altLang="en-US" sz="1200">
                <a:solidFill>
                  <a:srgbClr val="0000FF"/>
                </a:solidFill>
                <a:latin typeface="Georgia" panose="02040502050405020303" pitchFamily="18" charset="0"/>
              </a:rPr>
              <a:t>			E-mail:           asif@pucit.edu.pk</a:t>
            </a:r>
          </a:p>
          <a:p>
            <a:pPr eaLnBrk="1" hangingPunct="1"/>
            <a:endParaRPr lang="en-US" altLang="en-US" sz="1200">
              <a:solidFill>
                <a:srgbClr val="0000FF"/>
              </a:solidFill>
              <a:latin typeface="Georgia" panose="02040502050405020303" pitchFamily="18" charset="0"/>
            </a:endParaRPr>
          </a:p>
        </p:txBody>
      </p:sp>
      <p:pic>
        <p:nvPicPr>
          <p:cNvPr id="62469" name="Picture 10">
            <a:extLst>
              <a:ext uri="{FF2B5EF4-FFF2-40B4-BE49-F238E27FC236}">
                <a16:creationId xmlns:a16="http://schemas.microsoft.com/office/drawing/2014/main" id="{1ADE73F2-6306-A5C0-20AF-48D528AE16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12">
            <a:extLst>
              <a:ext uri="{FF2B5EF4-FFF2-40B4-BE49-F238E27FC236}">
                <a16:creationId xmlns:a16="http://schemas.microsoft.com/office/drawing/2014/main" id="{4E458867-C6FA-2DBF-C21D-3166ACAE36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11038</TotalTime>
  <Words>5478</Words>
  <Application>Microsoft Office PowerPoint</Application>
  <PresentationFormat>On-screen Show (4:3)</PresentationFormat>
  <Paragraphs>647</Paragraphs>
  <Slides>29</Slides>
  <Notes>28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7" baseType="lpstr">
      <vt:lpstr>Arial</vt:lpstr>
      <vt:lpstr>Courier New</vt:lpstr>
      <vt:lpstr>Georgia</vt:lpstr>
      <vt:lpstr>Times New Roman</vt:lpstr>
      <vt:lpstr>Arial Narrow</vt:lpstr>
      <vt:lpstr>Times</vt:lpstr>
      <vt:lpstr>Standarddesign</vt:lpstr>
      <vt:lpstr>Document</vt:lpstr>
      <vt:lpstr> (SQL)  Manipulating Data</vt:lpstr>
      <vt:lpstr>Objectives</vt:lpstr>
      <vt:lpstr>Data Manipulation Language</vt:lpstr>
      <vt:lpstr>Adding a New Row to a Table</vt:lpstr>
      <vt:lpstr>The INSERT Statement</vt:lpstr>
      <vt:lpstr>Inserting New Rows</vt:lpstr>
      <vt:lpstr>Inserting Rows with Null Values</vt:lpstr>
      <vt:lpstr>Inserting Special Values</vt:lpstr>
      <vt:lpstr>Inserting Specific Date Values</vt:lpstr>
      <vt:lpstr>Copying Rows  from Another Table</vt:lpstr>
      <vt:lpstr>INSERT ALL Statement</vt:lpstr>
      <vt:lpstr>Changing Data in a Table</vt:lpstr>
      <vt:lpstr>The UPDATE Statement</vt:lpstr>
      <vt:lpstr>Updating Rows in a Table</vt:lpstr>
      <vt:lpstr>Updating with  Multiple-Column Subquery</vt:lpstr>
      <vt:lpstr>Updating Rows Based  on Another Table</vt:lpstr>
      <vt:lpstr>Updating Rows:  Integrity Constraint Error</vt:lpstr>
      <vt:lpstr>Inserting or Updating Rows Based  on DEFAULT value</vt:lpstr>
      <vt:lpstr>Removing a Row from a Table </vt:lpstr>
      <vt:lpstr>The DELETE Statement</vt:lpstr>
      <vt:lpstr>Deleting Rows from a Table</vt:lpstr>
      <vt:lpstr>Deleting Rows Based  on Another Table</vt:lpstr>
      <vt:lpstr>Deleting Rows:  Integrity Constraint Error</vt:lpstr>
      <vt:lpstr>Truncating a Table</vt:lpstr>
      <vt:lpstr>COMMIT, ROLLBACK and SAVEPOINT</vt:lpstr>
      <vt:lpstr>COMMIT, ROLLBACK and SAVEPOINT</vt:lpstr>
      <vt:lpstr>COMMIT, ROLLBACK and SAVEPOINT</vt:lpstr>
      <vt:lpstr>PowerPoint Presentation</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Asif Sohail</cp:lastModifiedBy>
  <cp:revision>839</cp:revision>
  <dcterms:created xsi:type="dcterms:W3CDTF">2006-05-17T12:38:56Z</dcterms:created>
  <dcterms:modified xsi:type="dcterms:W3CDTF">2024-12-10T12:53:34Z</dcterms:modified>
</cp:coreProperties>
</file>