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62" r:id="rId2"/>
  </p:sldMasterIdLst>
  <p:notesMasterIdLst>
    <p:notesMasterId r:id="rId27"/>
  </p:notesMasterIdLst>
  <p:handoutMasterIdLst>
    <p:handoutMasterId r:id="rId28"/>
  </p:handoutMasterIdLst>
  <p:sldIdLst>
    <p:sldId id="256" r:id="rId3"/>
    <p:sldId id="578" r:id="rId4"/>
    <p:sldId id="579" r:id="rId5"/>
    <p:sldId id="580" r:id="rId6"/>
    <p:sldId id="581" r:id="rId7"/>
    <p:sldId id="662" r:id="rId8"/>
    <p:sldId id="582" r:id="rId9"/>
    <p:sldId id="583" r:id="rId10"/>
    <p:sldId id="584" r:id="rId11"/>
    <p:sldId id="586" r:id="rId12"/>
    <p:sldId id="588" r:id="rId13"/>
    <p:sldId id="590" r:id="rId14"/>
    <p:sldId id="591" r:id="rId15"/>
    <p:sldId id="592" r:id="rId16"/>
    <p:sldId id="593" r:id="rId17"/>
    <p:sldId id="663" r:id="rId18"/>
    <p:sldId id="594" r:id="rId19"/>
    <p:sldId id="595" r:id="rId20"/>
    <p:sldId id="596" r:id="rId21"/>
    <p:sldId id="664" r:id="rId22"/>
    <p:sldId id="597" r:id="rId23"/>
    <p:sldId id="598" r:id="rId24"/>
    <p:sldId id="599" r:id="rId25"/>
    <p:sldId id="548" r:id="rId26"/>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FF0000"/>
    <a:srgbClr val="006600"/>
    <a:srgbClr val="FFFF66"/>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30" autoAdjust="0"/>
    <p:restoredTop sz="85572" autoAdjust="0"/>
  </p:normalViewPr>
  <p:slideViewPr>
    <p:cSldViewPr>
      <p:cViewPr varScale="1">
        <p:scale>
          <a:sx n="83" d="100"/>
          <a:sy n="83" d="100"/>
        </p:scale>
        <p:origin x="1152"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C8C6BFAF-ACA5-F323-8B60-024332B002E3}"/>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61443D50-603D-A1E4-09A0-3F656F81F32C}"/>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665AB72C-6C9B-A686-E244-2890FC94F700}"/>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602A7199-2FF9-D0E9-1530-D8B902592A39}"/>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AAAAFF43-07BE-4923-9545-959CA8B3EEF9}"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C524ADF-C99A-6678-6827-31B48A18C8D0}"/>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72D49F2B-8D62-5A46-267E-F4BDF1374F84}"/>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C9743C14-952A-FABE-FF15-7265D961EE1E}"/>
              </a:ext>
            </a:extLst>
          </p:cNvPr>
          <p:cNvSpPr>
            <a:spLocks noGrp="1" noRo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291BEF3F-297D-D42A-A0FE-6CBEE015AED2}"/>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1D1583EA-7F8E-66A9-8E8C-4427C0584F51}"/>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46131065-89F1-1E47-5542-B854588ED354}"/>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B36E15FB-85CE-4B35-AF6B-15E79021C957}"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913F3B8B-6A69-5024-3C47-ECD97F860B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1B162B8-AC3E-4701-8650-785D09053284}" type="slidenum">
              <a:rPr lang="de-AT" altLang="en-US"/>
              <a:pPr>
                <a:spcBef>
                  <a:spcPct val="0"/>
                </a:spcBef>
              </a:pPr>
              <a:t>1</a:t>
            </a:fld>
            <a:endParaRPr lang="de-AT" altLang="en-US"/>
          </a:p>
        </p:txBody>
      </p:sp>
      <p:sp>
        <p:nvSpPr>
          <p:cNvPr id="5123" name="Rectangle 2">
            <a:extLst>
              <a:ext uri="{FF2B5EF4-FFF2-40B4-BE49-F238E27FC236}">
                <a16:creationId xmlns:a16="http://schemas.microsoft.com/office/drawing/2014/main" id="{B0784319-C106-4F47-3C02-8D643A996CED}"/>
              </a:ext>
            </a:extLst>
          </p:cNvPr>
          <p:cNvSpPr>
            <a:spLocks noGrp="1" noRot="1" noChangeArrowheads="1" noTextEdit="1"/>
          </p:cNvSpPr>
          <p:nvPr>
            <p:ph type="sldImg"/>
          </p:nvPr>
        </p:nvSpPr>
        <p:spPr>
          <a:ln/>
        </p:spPr>
      </p:sp>
      <p:sp>
        <p:nvSpPr>
          <p:cNvPr id="5124" name="Rectangle 3">
            <a:extLst>
              <a:ext uri="{FF2B5EF4-FFF2-40B4-BE49-F238E27FC236}">
                <a16:creationId xmlns:a16="http://schemas.microsoft.com/office/drawing/2014/main" id="{BB6C3490-C11C-9025-0928-B5833DB5F5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BFD813A-9F3F-B617-61DF-286E579A56B9}"/>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171" name="Rectangle 3">
            <a:extLst>
              <a:ext uri="{FF2B5EF4-FFF2-40B4-BE49-F238E27FC236}">
                <a16:creationId xmlns:a16="http://schemas.microsoft.com/office/drawing/2014/main" id="{EAE591A2-0FB5-CDA6-24F5-962CE027CF67}"/>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172" name="Rectangle 4">
            <a:extLst>
              <a:ext uri="{FF2B5EF4-FFF2-40B4-BE49-F238E27FC236}">
                <a16:creationId xmlns:a16="http://schemas.microsoft.com/office/drawing/2014/main" id="{B9AB31A5-0E80-2A25-FC8A-0FA6C1339B0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Lesson Aim</a:t>
            </a:r>
          </a:p>
          <a:p>
            <a:pPr marL="114300" lvl="1" defTabSz="401638"/>
            <a:r>
              <a:rPr lang="en-US" altLang="en-US">
                <a:latin typeface="Arial" panose="020B0604020202020204" pitchFamily="34" charset="0"/>
              </a:rPr>
              <a:t>In this lesson, you will learn how to create and maintain some of the other commonly used database objects. These objects include sequences, indexes, and synonyms.</a:t>
            </a:r>
          </a:p>
        </p:txBody>
      </p:sp>
      <p:sp>
        <p:nvSpPr>
          <p:cNvPr id="7173" name="Rectangle 5">
            <a:extLst>
              <a:ext uri="{FF2B5EF4-FFF2-40B4-BE49-F238E27FC236}">
                <a16:creationId xmlns:a16="http://schemas.microsoft.com/office/drawing/2014/main" id="{649ADA45-FF92-27FE-5AAE-FE3FF41758C1}"/>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E948B00-A912-455E-73C4-503A3DA9D4F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Database Objects</a:t>
            </a:r>
          </a:p>
          <a:p>
            <a:pPr marL="114300" lvl="1" defTabSz="401638"/>
            <a:r>
              <a:rPr lang="en-US" altLang="en-US">
                <a:latin typeface="Arial" panose="020B0604020202020204" pitchFamily="34" charset="0"/>
              </a:rPr>
              <a:t>Many applications require the use of unique numbers as primary key values. You can either build code into the application to handle this requirement or use a sequence to generate unique numbers.</a:t>
            </a:r>
          </a:p>
          <a:p>
            <a:pPr marL="114300" lvl="1" defTabSz="401638"/>
            <a:r>
              <a:rPr lang="en-US" altLang="en-US">
                <a:latin typeface="Arial" panose="020B0604020202020204" pitchFamily="34" charset="0"/>
              </a:rPr>
              <a:t>If you want to improve the performance of some queries, you should consider creating an index. You can also use indexes to enforce uniqueness on a column or a collection of columns.</a:t>
            </a:r>
          </a:p>
          <a:p>
            <a:pPr marL="114300" lvl="1" defTabSz="401638"/>
            <a:r>
              <a:rPr lang="en-US" altLang="en-US">
                <a:latin typeface="Arial" panose="020B0604020202020204" pitchFamily="34" charset="0"/>
              </a:rPr>
              <a:t>You can provide alternative names for objects by using synonyms.</a:t>
            </a:r>
          </a:p>
          <a:p>
            <a:pPr marL="450850" lvl="2" indent="-217488" defTabSz="401638"/>
            <a:endParaRPr lang="en-US" altLang="en-US">
              <a:latin typeface="Arial" panose="020B0604020202020204" pitchFamily="34" charset="0"/>
            </a:endParaRPr>
          </a:p>
          <a:p>
            <a:pPr marL="450850" lvl="2" indent="-217488" defTabSz="401638"/>
            <a:endParaRPr lang="en-US" altLang="en-US">
              <a:latin typeface="Arial" panose="020B0604020202020204" pitchFamily="34" charset="0"/>
            </a:endParaRPr>
          </a:p>
          <a:p>
            <a:pPr defTabSz="401638"/>
            <a:endParaRPr lang="en-US" altLang="en-US" b="1">
              <a:latin typeface="Times New Roman" panose="02020603050405020304" pitchFamily="18" charset="0"/>
            </a:endParaRPr>
          </a:p>
        </p:txBody>
      </p:sp>
      <p:sp>
        <p:nvSpPr>
          <p:cNvPr id="9219" name="Rectangle 3">
            <a:extLst>
              <a:ext uri="{FF2B5EF4-FFF2-40B4-BE49-F238E27FC236}">
                <a16:creationId xmlns:a16="http://schemas.microsoft.com/office/drawing/2014/main" id="{7443B25D-B13C-4AFA-2D02-60B84A41DD20}"/>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C81FFDE-5192-1202-53DC-13D8599E7CE0}"/>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1267" name="Rectangle 3">
            <a:extLst>
              <a:ext uri="{FF2B5EF4-FFF2-40B4-BE49-F238E27FC236}">
                <a16:creationId xmlns:a16="http://schemas.microsoft.com/office/drawing/2014/main" id="{CC04278D-133F-57C9-1F93-49EDF686E4CA}"/>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1268" name="Rectangle 4">
            <a:extLst>
              <a:ext uri="{FF2B5EF4-FFF2-40B4-BE49-F238E27FC236}">
                <a16:creationId xmlns:a16="http://schemas.microsoft.com/office/drawing/2014/main" id="{A596A25A-8600-1EF0-78A6-86D5E53E079C}"/>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tabLst>
                <a:tab pos="457200" algn="l"/>
              </a:tabLst>
            </a:pPr>
            <a:r>
              <a:rPr lang="en-US" altLang="en-US">
                <a:latin typeface="Arial" panose="020B0604020202020204" pitchFamily="34" charset="0"/>
              </a:rPr>
              <a:t>What Is a Sequence?</a:t>
            </a:r>
          </a:p>
          <a:p>
            <a:pPr marL="114300" lvl="1" defTabSz="401638">
              <a:tabLst>
                <a:tab pos="457200" algn="l"/>
              </a:tabLst>
            </a:pPr>
            <a:r>
              <a:rPr lang="en-US" altLang="en-US">
                <a:latin typeface="Arial" panose="020B0604020202020204" pitchFamily="34" charset="0"/>
              </a:rPr>
              <a:t>A </a:t>
            </a:r>
            <a:r>
              <a:rPr lang="en-US" altLang="en-US">
                <a:solidFill>
                  <a:srgbClr val="FC0128"/>
                </a:solidFill>
                <a:latin typeface="Arial" panose="020B0604020202020204" pitchFamily="34" charset="0"/>
              </a:rPr>
              <a:t>sequence </a:t>
            </a:r>
            <a:r>
              <a:rPr lang="en-US" altLang="en-US">
                <a:latin typeface="Arial" panose="020B0604020202020204" pitchFamily="34" charset="0"/>
              </a:rPr>
              <a:t>generator can be used to automatically generate sequence numbers for rows in tables. A sequence is a database object created by a user and can be shared by multiple users.</a:t>
            </a:r>
          </a:p>
          <a:p>
            <a:pPr marL="114300" lvl="1" defTabSz="401638">
              <a:tabLst>
                <a:tab pos="457200" algn="l"/>
              </a:tabLst>
            </a:pPr>
            <a:r>
              <a:rPr lang="en-US" altLang="en-US">
                <a:latin typeface="Arial" panose="020B0604020202020204" pitchFamily="34" charset="0"/>
              </a:rPr>
              <a:t>A typical usage for sequences is to create a primary key value, which must be unique for each row. The sequence is generated and incremented (or decremented) by an internal Oracle8 routine. This can be a time-saving object because it can reduce the amount of application code needed to write a sequence-generating routine.</a:t>
            </a:r>
          </a:p>
          <a:p>
            <a:pPr marL="114300" lvl="1" defTabSz="401638">
              <a:tabLst>
                <a:tab pos="457200" algn="l"/>
              </a:tabLst>
            </a:pPr>
            <a:r>
              <a:rPr lang="en-US" altLang="en-US">
                <a:latin typeface="Arial" panose="020B0604020202020204" pitchFamily="34" charset="0"/>
              </a:rPr>
              <a:t>Sequence numbers are stored and generated independently of tables. Therefore, the same sequence can be used for multiple tables.</a:t>
            </a:r>
          </a:p>
          <a:p>
            <a:pPr marL="114300" lvl="1" defTabSz="401638">
              <a:tabLst>
                <a:tab pos="457200" algn="l"/>
              </a:tabLst>
            </a:pPr>
            <a:endParaRPr lang="en-US" altLang="en-US">
              <a:latin typeface="Arial" panose="020B0604020202020204" pitchFamily="34" charset="0"/>
            </a:endParaRPr>
          </a:p>
          <a:p>
            <a:pPr marL="452438" lvl="2" indent="-223838" defTabSz="401638">
              <a:tabLst>
                <a:tab pos="457200" algn="l"/>
              </a:tabLst>
            </a:pPr>
            <a:endParaRPr lang="en-US" altLang="en-US">
              <a:latin typeface="Arial" panose="020B0604020202020204" pitchFamily="34" charset="0"/>
            </a:endParaRPr>
          </a:p>
          <a:p>
            <a:pPr marL="114300" lvl="1" defTabSz="401638">
              <a:tabLst>
                <a:tab pos="457200" algn="l"/>
              </a:tabLst>
            </a:pPr>
            <a:endParaRPr lang="en-US" altLang="en-US">
              <a:latin typeface="Arial" panose="020B0604020202020204" pitchFamily="34" charset="0"/>
            </a:endParaRPr>
          </a:p>
          <a:p>
            <a:pPr defTabSz="401638">
              <a:tabLst>
                <a:tab pos="457200" algn="l"/>
              </a:tabLst>
            </a:pPr>
            <a:endParaRPr lang="en-US" altLang="en-US" b="1">
              <a:latin typeface="Times New Roman" panose="02020603050405020304" pitchFamily="18" charset="0"/>
            </a:endParaRPr>
          </a:p>
        </p:txBody>
      </p:sp>
      <p:sp>
        <p:nvSpPr>
          <p:cNvPr id="11269" name="Rectangle 5">
            <a:extLst>
              <a:ext uri="{FF2B5EF4-FFF2-40B4-BE49-F238E27FC236}">
                <a16:creationId xmlns:a16="http://schemas.microsoft.com/office/drawing/2014/main" id="{194006A0-2256-0859-69F6-313DCC03CCD8}"/>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5333070-57CF-ED24-9EBE-96CB8BD95752}"/>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5" name="Rectangle 3">
            <a:extLst>
              <a:ext uri="{FF2B5EF4-FFF2-40B4-BE49-F238E27FC236}">
                <a16:creationId xmlns:a16="http://schemas.microsoft.com/office/drawing/2014/main" id="{958E19DD-B9EB-1220-2683-37A590DA2AD6}"/>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6" name="Rectangle 4">
            <a:extLst>
              <a:ext uri="{FF2B5EF4-FFF2-40B4-BE49-F238E27FC236}">
                <a16:creationId xmlns:a16="http://schemas.microsoft.com/office/drawing/2014/main" id="{F870E95B-A581-2B68-7E2E-108FB90B1BF4}"/>
              </a:ext>
            </a:extLst>
          </p:cNvPr>
          <p:cNvSpPr>
            <a:spLocks noGrp="1" noChangeArrowheads="1"/>
          </p:cNvSpPr>
          <p:nvPr>
            <p:ph type="body" idx="1"/>
          </p:nvPr>
        </p:nvSpPr>
        <p:spPr>
          <a:xfrm>
            <a:off x="412750" y="4852988"/>
            <a:ext cx="6326188"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Creating a Sequence</a:t>
            </a:r>
          </a:p>
          <a:p>
            <a:pPr lvl="1"/>
            <a:r>
              <a:rPr lang="en-US" altLang="en-US">
                <a:latin typeface="Arial" panose="020B0604020202020204" pitchFamily="34" charset="0"/>
              </a:rPr>
              <a:t>Automatically generate sequential numbers by using the CREATE SEQUENCE statement. </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sequence</a:t>
            </a:r>
            <a:r>
              <a:rPr lang="en-US" altLang="en-US">
                <a:latin typeface="Arial" panose="020B0604020202020204" pitchFamily="34" charset="0"/>
              </a:rPr>
              <a:t>			is the name of the sequence generator</a:t>
            </a:r>
          </a:p>
          <a:p>
            <a:pPr lvl="1"/>
            <a:r>
              <a:rPr lang="en-US" altLang="en-US">
                <a:latin typeface="Arial" panose="020B0604020202020204" pitchFamily="34" charset="0"/>
              </a:rPr>
              <a:t>	</a:t>
            </a:r>
            <a:r>
              <a:rPr lang="en-US" altLang="en-US">
                <a:solidFill>
                  <a:srgbClr val="FC0128"/>
                </a:solidFill>
                <a:latin typeface="Arial" panose="020B0604020202020204" pitchFamily="34" charset="0"/>
              </a:rPr>
              <a:t>INCREMENT BY </a:t>
            </a:r>
            <a:r>
              <a:rPr lang="en-US" altLang="en-US" i="1">
                <a:latin typeface="Arial" panose="020B0604020202020204" pitchFamily="34" charset="0"/>
              </a:rPr>
              <a:t>n	</a:t>
            </a:r>
            <a:r>
              <a:rPr lang="en-US" altLang="en-US">
                <a:latin typeface="Arial" panose="020B0604020202020204" pitchFamily="34" charset="0"/>
              </a:rPr>
              <a:t>specifies the interval between sequence numbers where </a:t>
            </a:r>
            <a:r>
              <a:rPr lang="en-US" altLang="en-US" i="1">
                <a:latin typeface="Arial" panose="020B0604020202020204" pitchFamily="34" charset="0"/>
              </a:rPr>
              <a:t>n</a:t>
            </a:r>
            <a:r>
              <a:rPr lang="en-US" altLang="en-US">
                <a:latin typeface="Arial" panose="020B0604020202020204" pitchFamily="34" charset="0"/>
              </a:rPr>
              <a:t> is an 							integer (If this clause is omitted, the sequence will increment by 1.)</a:t>
            </a:r>
          </a:p>
          <a:p>
            <a:pPr lvl="1"/>
            <a:r>
              <a:rPr lang="en-US" altLang="en-US">
                <a:latin typeface="Arial" panose="020B0604020202020204" pitchFamily="34" charset="0"/>
              </a:rPr>
              <a:t>	</a:t>
            </a:r>
            <a:r>
              <a:rPr lang="en-US" altLang="en-US">
                <a:solidFill>
                  <a:srgbClr val="FC0128"/>
                </a:solidFill>
                <a:latin typeface="Arial" panose="020B0604020202020204" pitchFamily="34" charset="0"/>
              </a:rPr>
              <a:t>START WITH </a:t>
            </a:r>
            <a:r>
              <a:rPr lang="en-US" altLang="en-US" i="1">
                <a:latin typeface="Arial" panose="020B0604020202020204" pitchFamily="34" charset="0"/>
              </a:rPr>
              <a:t>n		</a:t>
            </a:r>
            <a:r>
              <a:rPr lang="en-US" altLang="en-US">
                <a:latin typeface="Arial" panose="020B0604020202020204" pitchFamily="34" charset="0"/>
              </a:rPr>
              <a:t>specifies the first sequence number to be generated (If this clause is 						omitted, the sequence will start with 1.)</a:t>
            </a:r>
          </a:p>
          <a:p>
            <a:pPr lvl="1"/>
            <a:r>
              <a:rPr lang="en-US" altLang="en-US">
                <a:latin typeface="Arial" panose="020B0604020202020204" pitchFamily="34" charset="0"/>
              </a:rPr>
              <a:t>	</a:t>
            </a:r>
            <a:r>
              <a:rPr lang="en-US" altLang="en-US">
                <a:solidFill>
                  <a:srgbClr val="FC0128"/>
                </a:solidFill>
                <a:latin typeface="Arial" panose="020B0604020202020204" pitchFamily="34" charset="0"/>
              </a:rPr>
              <a:t>MAXVALUE </a:t>
            </a:r>
            <a:r>
              <a:rPr lang="en-US" altLang="en-US" i="1">
                <a:latin typeface="Arial" panose="020B0604020202020204" pitchFamily="34" charset="0"/>
              </a:rPr>
              <a:t>n</a:t>
            </a:r>
            <a:r>
              <a:rPr lang="en-US" altLang="en-US">
                <a:latin typeface="Arial" panose="020B0604020202020204" pitchFamily="34" charset="0"/>
              </a:rPr>
              <a:t>		specifies the maximum value the sequence can generate</a:t>
            </a:r>
          </a:p>
          <a:p>
            <a:pPr lvl="1"/>
            <a:r>
              <a:rPr lang="en-US" altLang="en-US">
                <a:latin typeface="Arial" panose="020B0604020202020204" pitchFamily="34" charset="0"/>
              </a:rPr>
              <a:t>	NOMAXVALUE		specifies a maximum value of 10^27 for an ascending sequence and –1 						for a descending sequence (This is the default option.)</a:t>
            </a:r>
          </a:p>
          <a:p>
            <a:pPr lvl="1"/>
            <a:r>
              <a:rPr lang="en-US" altLang="en-US">
                <a:latin typeface="Arial" panose="020B0604020202020204" pitchFamily="34" charset="0"/>
              </a:rPr>
              <a:t>	</a:t>
            </a:r>
            <a:r>
              <a:rPr lang="en-US" altLang="en-US">
                <a:solidFill>
                  <a:srgbClr val="FC0128"/>
                </a:solidFill>
                <a:latin typeface="Arial" panose="020B0604020202020204" pitchFamily="34" charset="0"/>
              </a:rPr>
              <a:t>MINVALUE </a:t>
            </a:r>
            <a:r>
              <a:rPr lang="en-US" altLang="en-US" i="1">
                <a:latin typeface="Arial" panose="020B0604020202020204" pitchFamily="34" charset="0"/>
              </a:rPr>
              <a:t>n		</a:t>
            </a:r>
            <a:r>
              <a:rPr lang="en-US" altLang="en-US">
                <a:latin typeface="Arial" panose="020B0604020202020204" pitchFamily="34" charset="0"/>
              </a:rPr>
              <a:t>specifies the minimum sequence value</a:t>
            </a:r>
          </a:p>
          <a:p>
            <a:pPr lvl="1"/>
            <a:r>
              <a:rPr lang="en-US" altLang="en-US">
                <a:latin typeface="Arial" panose="020B0604020202020204" pitchFamily="34" charset="0"/>
              </a:rPr>
              <a:t>	NOMINVALUE		specifies a minimum value of 1 for an ascending sequence and – (10^26) 					for a descending sequence (This is the default option.)</a:t>
            </a:r>
          </a:p>
          <a:p>
            <a:pPr lvl="1"/>
            <a:r>
              <a:rPr lang="en-US" altLang="en-US">
                <a:latin typeface="Arial" panose="020B0604020202020204" pitchFamily="34" charset="0"/>
              </a:rPr>
              <a:t>	</a:t>
            </a:r>
            <a:r>
              <a:rPr lang="en-US" altLang="en-US">
                <a:solidFill>
                  <a:srgbClr val="FC0128"/>
                </a:solidFill>
                <a:latin typeface="Arial" panose="020B0604020202020204" pitchFamily="34" charset="0"/>
              </a:rPr>
              <a:t>CYCLE </a:t>
            </a:r>
            <a:r>
              <a:rPr lang="en-US" altLang="en-US">
                <a:latin typeface="Arial" panose="020B0604020202020204" pitchFamily="34" charset="0"/>
              </a:rPr>
              <a:t>| NOCYCLE	specifies that the sequence continues to generate values after 							reaching either its maximum or minimum value or does not generate 						additional values (NOCYCLE is the default option.)</a:t>
            </a:r>
          </a:p>
          <a:p>
            <a:pPr lvl="1"/>
            <a:r>
              <a:rPr lang="en-US" altLang="en-US">
                <a:latin typeface="Arial" panose="020B0604020202020204" pitchFamily="34" charset="0"/>
              </a:rPr>
              <a:t>	</a:t>
            </a:r>
            <a:r>
              <a:rPr lang="en-US" altLang="en-US">
                <a:solidFill>
                  <a:srgbClr val="FC0128"/>
                </a:solidFill>
                <a:latin typeface="Arial" panose="020B0604020202020204" pitchFamily="34" charset="0"/>
              </a:rPr>
              <a:t>CACHE</a:t>
            </a:r>
            <a:r>
              <a:rPr lang="en-US" altLang="en-US" i="1">
                <a:solidFill>
                  <a:srgbClr val="FC0128"/>
                </a:solidFill>
                <a:latin typeface="Arial" panose="020B0604020202020204" pitchFamily="34" charset="0"/>
              </a:rPr>
              <a:t> </a:t>
            </a:r>
            <a:r>
              <a:rPr lang="en-US" altLang="en-US" i="1">
                <a:latin typeface="Arial" panose="020B0604020202020204" pitchFamily="34" charset="0"/>
              </a:rPr>
              <a:t>n</a:t>
            </a:r>
            <a:r>
              <a:rPr lang="en-US" altLang="en-US">
                <a:latin typeface="Arial" panose="020B0604020202020204" pitchFamily="34" charset="0"/>
              </a:rPr>
              <a:t> | NOCACHE	specifies how many values the Oracle Server will preallocate and keep 						in memory (By default, the Oracle Server will cache 20 values.)</a:t>
            </a:r>
          </a:p>
        </p:txBody>
      </p:sp>
      <p:sp>
        <p:nvSpPr>
          <p:cNvPr id="13317" name="Rectangle 5">
            <a:extLst>
              <a:ext uri="{FF2B5EF4-FFF2-40B4-BE49-F238E27FC236}">
                <a16:creationId xmlns:a16="http://schemas.microsoft.com/office/drawing/2014/main" id="{E76908AD-ABFD-D97F-4101-83C32BEFB119}"/>
              </a:ext>
            </a:extLst>
          </p:cNvPr>
          <p:cNvSpPr>
            <a:spLocks noGrp="1" noRot="1" noChangeArrowheads="1" noTextEdit="1"/>
          </p:cNvSpPr>
          <p:nvPr>
            <p:ph type="sldImg"/>
          </p:nvPr>
        </p:nvSpPr>
        <p:spPr>
          <a:xfrm>
            <a:off x="436563" y="158750"/>
            <a:ext cx="5980112" cy="4484688"/>
          </a:xfrm>
          <a:ln w="12700" cap="flat">
            <a:solidFill>
              <a:schemeClr val="tx1"/>
            </a:solid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9A7542D-831A-AB25-897C-0D8326188C7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Creating a Sequence (continued)</a:t>
            </a:r>
          </a:p>
          <a:p>
            <a:pPr lvl="1"/>
            <a:r>
              <a:rPr lang="en-US" altLang="en-US">
                <a:latin typeface="Arial" panose="020B0604020202020204" pitchFamily="34" charset="0"/>
              </a:rPr>
              <a:t>The example on the slide creates a sequence named DEPT_DEPTNO to be used for the DEPTNO column of the DEPT table. The sequence starts at 91, does not allow caching, and does not allow the sequence to cycle.</a:t>
            </a:r>
          </a:p>
          <a:p>
            <a:pPr lvl="1"/>
            <a:r>
              <a:rPr lang="en-US" altLang="en-US">
                <a:latin typeface="Arial" panose="020B0604020202020204" pitchFamily="34" charset="0"/>
              </a:rPr>
              <a:t>Do not use the CYCLE option if the sequence is used to generate primary key values unless you have a reliable mechanism that purges old rows faster than the sequence cycles.</a:t>
            </a:r>
          </a:p>
          <a:p>
            <a:pPr lvl="1"/>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a:t>
            </a:r>
            <a:r>
              <a:rPr lang="en-US" altLang="en-US">
                <a:solidFill>
                  <a:srgbClr val="FC0128"/>
                </a:solidFill>
                <a:latin typeface="Arial" panose="020B0604020202020204" pitchFamily="34" charset="0"/>
              </a:rPr>
              <a:t>CREATE SEQUENCE.</a:t>
            </a:r>
            <a:r>
              <a:rPr lang="en-US" altLang="en-US">
                <a:latin typeface="Arial" panose="020B0604020202020204" pitchFamily="34" charset="0"/>
              </a:rPr>
              <a:t>”</a:t>
            </a: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solidFill>
                <a:schemeClr val="accent2"/>
              </a:solidFill>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If the INCREMENT BY value is negative, the sequence will descend. </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Also, ORDER | NOORDER options are available. The ORDER option guarantees that sequence values are generated in order. It is not important if you use the sequence to generate primary key values. This option is relevant only with the Parallel Server option.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If sequence values are cached, they will be lost if there is a system failure.</a:t>
            </a:r>
          </a:p>
        </p:txBody>
      </p:sp>
      <p:sp>
        <p:nvSpPr>
          <p:cNvPr id="17411" name="Rectangle 3">
            <a:extLst>
              <a:ext uri="{FF2B5EF4-FFF2-40B4-BE49-F238E27FC236}">
                <a16:creationId xmlns:a16="http://schemas.microsoft.com/office/drawing/2014/main" id="{64FF5E1C-C2CB-CAC4-AF0E-E03845DC3AE1}"/>
              </a:ext>
            </a:extLst>
          </p:cNvPr>
          <p:cNvSpPr>
            <a:spLocks noGrp="1" noRot="1" noChangeArrowheads="1" noTextEdit="1"/>
          </p:cNvSpPr>
          <p:nvPr>
            <p:ph type="sldImg"/>
          </p:nvPr>
        </p:nvSpPr>
        <p:spPr>
          <a:xfrm>
            <a:off x="436563" y="158750"/>
            <a:ext cx="5980112" cy="4484688"/>
          </a:xfrm>
          <a:ln w="12700" cap="flat">
            <a:solidFill>
              <a:schemeClr val="tx1"/>
            </a:solidFill>
          </a:ln>
        </p:spPr>
      </p:sp>
      <p:grpSp>
        <p:nvGrpSpPr>
          <p:cNvPr id="17412" name="Group 4">
            <a:extLst>
              <a:ext uri="{FF2B5EF4-FFF2-40B4-BE49-F238E27FC236}">
                <a16:creationId xmlns:a16="http://schemas.microsoft.com/office/drawing/2014/main" id="{270B54CF-8E93-09F7-B0A8-3135FEA1FF1D}"/>
              </a:ext>
            </a:extLst>
          </p:cNvPr>
          <p:cNvGrpSpPr>
            <a:grpSpLocks/>
          </p:cNvGrpSpPr>
          <p:nvPr/>
        </p:nvGrpSpPr>
        <p:grpSpPr bwMode="auto">
          <a:xfrm>
            <a:off x="204788" y="6080125"/>
            <a:ext cx="300037" cy="296863"/>
            <a:chOff x="128" y="3761"/>
            <a:chExt cx="188" cy="183"/>
          </a:xfrm>
        </p:grpSpPr>
        <p:sp>
          <p:nvSpPr>
            <p:cNvPr id="17425" name="Freeform 5">
              <a:extLst>
                <a:ext uri="{FF2B5EF4-FFF2-40B4-BE49-F238E27FC236}">
                  <a16:creationId xmlns:a16="http://schemas.microsoft.com/office/drawing/2014/main" id="{0135F6E3-B834-538B-B67C-EC47F05BB359}"/>
                </a:ext>
              </a:extLst>
            </p:cNvPr>
            <p:cNvSpPr>
              <a:spLocks/>
            </p:cNvSpPr>
            <p:nvPr/>
          </p:nvSpPr>
          <p:spPr bwMode="auto">
            <a:xfrm>
              <a:off x="128" y="3761"/>
              <a:ext cx="179" cy="176"/>
            </a:xfrm>
            <a:custGeom>
              <a:avLst/>
              <a:gdLst>
                <a:gd name="T0" fmla="*/ 178 w 179"/>
                <a:gd name="T1" fmla="*/ 175 h 176"/>
                <a:gd name="T2" fmla="*/ 178 w 179"/>
                <a:gd name="T3" fmla="*/ 0 h 176"/>
                <a:gd name="T4" fmla="*/ 0 w 179"/>
                <a:gd name="T5" fmla="*/ 0 h 176"/>
                <a:gd name="T6" fmla="*/ 0 w 179"/>
                <a:gd name="T7" fmla="*/ 175 h 176"/>
                <a:gd name="T8" fmla="*/ 178 w 179"/>
                <a:gd name="T9" fmla="*/ 175 h 176"/>
                <a:gd name="T10" fmla="*/ 0 60000 65536"/>
                <a:gd name="T11" fmla="*/ 0 60000 65536"/>
                <a:gd name="T12" fmla="*/ 0 60000 65536"/>
                <a:gd name="T13" fmla="*/ 0 60000 65536"/>
                <a:gd name="T14" fmla="*/ 0 60000 65536"/>
                <a:gd name="T15" fmla="*/ 0 w 179"/>
                <a:gd name="T16" fmla="*/ 0 h 176"/>
                <a:gd name="T17" fmla="*/ 179 w 179"/>
                <a:gd name="T18" fmla="*/ 176 h 176"/>
              </a:gdLst>
              <a:ahLst/>
              <a:cxnLst>
                <a:cxn ang="T10">
                  <a:pos x="T0" y="T1"/>
                </a:cxn>
                <a:cxn ang="T11">
                  <a:pos x="T2" y="T3"/>
                </a:cxn>
                <a:cxn ang="T12">
                  <a:pos x="T4" y="T5"/>
                </a:cxn>
                <a:cxn ang="T13">
                  <a:pos x="T6" y="T7"/>
                </a:cxn>
                <a:cxn ang="T14">
                  <a:pos x="T8" y="T9"/>
                </a:cxn>
              </a:cxnLst>
              <a:rect l="T15" t="T16" r="T17" b="T18"/>
              <a:pathLst>
                <a:path w="179" h="176">
                  <a:moveTo>
                    <a:pt x="178" y="175"/>
                  </a:moveTo>
                  <a:lnTo>
                    <a:pt x="178" y="0"/>
                  </a:lnTo>
                  <a:lnTo>
                    <a:pt x="0" y="0"/>
                  </a:lnTo>
                  <a:lnTo>
                    <a:pt x="0" y="175"/>
                  </a:lnTo>
                  <a:lnTo>
                    <a:pt x="178"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6" name="Freeform 6">
              <a:extLst>
                <a:ext uri="{FF2B5EF4-FFF2-40B4-BE49-F238E27FC236}">
                  <a16:creationId xmlns:a16="http://schemas.microsoft.com/office/drawing/2014/main" id="{E4C29590-45D5-A922-8C8A-A07648CFC74E}"/>
                </a:ext>
              </a:extLst>
            </p:cNvPr>
            <p:cNvSpPr>
              <a:spLocks/>
            </p:cNvSpPr>
            <p:nvPr/>
          </p:nvSpPr>
          <p:spPr bwMode="auto">
            <a:xfrm>
              <a:off x="190" y="3827"/>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7" name="Freeform 7">
              <a:extLst>
                <a:ext uri="{FF2B5EF4-FFF2-40B4-BE49-F238E27FC236}">
                  <a16:creationId xmlns:a16="http://schemas.microsoft.com/office/drawing/2014/main" id="{A0047331-3ACD-0109-377E-E509A31367E2}"/>
                </a:ext>
              </a:extLst>
            </p:cNvPr>
            <p:cNvSpPr>
              <a:spLocks/>
            </p:cNvSpPr>
            <p:nvPr/>
          </p:nvSpPr>
          <p:spPr bwMode="auto">
            <a:xfrm>
              <a:off x="198" y="3843"/>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8" name="Freeform 8">
              <a:extLst>
                <a:ext uri="{FF2B5EF4-FFF2-40B4-BE49-F238E27FC236}">
                  <a16:creationId xmlns:a16="http://schemas.microsoft.com/office/drawing/2014/main" id="{27DB8B0D-4BC7-087E-D641-EE7323D9D58B}"/>
                </a:ext>
              </a:extLst>
            </p:cNvPr>
            <p:cNvSpPr>
              <a:spLocks/>
            </p:cNvSpPr>
            <p:nvPr/>
          </p:nvSpPr>
          <p:spPr bwMode="auto">
            <a:xfrm>
              <a:off x="205" y="3858"/>
              <a:ext cx="69" cy="36"/>
            </a:xfrm>
            <a:custGeom>
              <a:avLst/>
              <a:gdLst>
                <a:gd name="T0" fmla="*/ 68 w 69"/>
                <a:gd name="T1" fmla="*/ 6 h 36"/>
                <a:gd name="T2" fmla="*/ 65 w 69"/>
                <a:gd name="T3" fmla="*/ 0 h 36"/>
                <a:gd name="T4" fmla="*/ 0 w 69"/>
                <a:gd name="T5" fmla="*/ 28 h 36"/>
                <a:gd name="T6" fmla="*/ 3 w 69"/>
                <a:gd name="T7" fmla="*/ 35 h 36"/>
                <a:gd name="T8" fmla="*/ 68 w 69"/>
                <a:gd name="T9" fmla="*/ 6 h 36"/>
                <a:gd name="T10" fmla="*/ 0 60000 65536"/>
                <a:gd name="T11" fmla="*/ 0 60000 65536"/>
                <a:gd name="T12" fmla="*/ 0 60000 65536"/>
                <a:gd name="T13" fmla="*/ 0 60000 65536"/>
                <a:gd name="T14" fmla="*/ 0 60000 65536"/>
                <a:gd name="T15" fmla="*/ 0 w 69"/>
                <a:gd name="T16" fmla="*/ 0 h 36"/>
                <a:gd name="T17" fmla="*/ 69 w 69"/>
                <a:gd name="T18" fmla="*/ 36 h 36"/>
              </a:gdLst>
              <a:ahLst/>
              <a:cxnLst>
                <a:cxn ang="T10">
                  <a:pos x="T0" y="T1"/>
                </a:cxn>
                <a:cxn ang="T11">
                  <a:pos x="T2" y="T3"/>
                </a:cxn>
                <a:cxn ang="T12">
                  <a:pos x="T4" y="T5"/>
                </a:cxn>
                <a:cxn ang="T13">
                  <a:pos x="T6" y="T7"/>
                </a:cxn>
                <a:cxn ang="T14">
                  <a:pos x="T8" y="T9"/>
                </a:cxn>
              </a:cxnLst>
              <a:rect l="T15" t="T16" r="T17" b="T18"/>
              <a:pathLst>
                <a:path w="69" h="36">
                  <a:moveTo>
                    <a:pt x="68" y="6"/>
                  </a:moveTo>
                  <a:lnTo>
                    <a:pt x="65" y="0"/>
                  </a:lnTo>
                  <a:lnTo>
                    <a:pt x="0" y="28"/>
                  </a:lnTo>
                  <a:lnTo>
                    <a:pt x="3" y="35"/>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9" name="Freeform 9">
              <a:extLst>
                <a:ext uri="{FF2B5EF4-FFF2-40B4-BE49-F238E27FC236}">
                  <a16:creationId xmlns:a16="http://schemas.microsoft.com/office/drawing/2014/main" id="{5AB196FE-B3AC-C813-5E7D-23E6813E0BAE}"/>
                </a:ext>
              </a:extLst>
            </p:cNvPr>
            <p:cNvSpPr>
              <a:spLocks/>
            </p:cNvSpPr>
            <p:nvPr/>
          </p:nvSpPr>
          <p:spPr bwMode="auto">
            <a:xfrm>
              <a:off x="213" y="3875"/>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30" name="Freeform 10">
              <a:extLst>
                <a:ext uri="{FF2B5EF4-FFF2-40B4-BE49-F238E27FC236}">
                  <a16:creationId xmlns:a16="http://schemas.microsoft.com/office/drawing/2014/main" id="{878AA265-133E-AD94-F269-86087F5C82B9}"/>
                </a:ext>
              </a:extLst>
            </p:cNvPr>
            <p:cNvSpPr>
              <a:spLocks/>
            </p:cNvSpPr>
            <p:nvPr/>
          </p:nvSpPr>
          <p:spPr bwMode="auto">
            <a:xfrm>
              <a:off x="221" y="3891"/>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31" name="Freeform 11">
              <a:extLst>
                <a:ext uri="{FF2B5EF4-FFF2-40B4-BE49-F238E27FC236}">
                  <a16:creationId xmlns:a16="http://schemas.microsoft.com/office/drawing/2014/main" id="{D51400E0-C1B7-4780-739B-A64FDDFFF00C}"/>
                </a:ext>
              </a:extLst>
            </p:cNvPr>
            <p:cNvSpPr>
              <a:spLocks/>
            </p:cNvSpPr>
            <p:nvPr/>
          </p:nvSpPr>
          <p:spPr bwMode="auto">
            <a:xfrm>
              <a:off x="150" y="3790"/>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32" name="Freeform 12">
              <a:extLst>
                <a:ext uri="{FF2B5EF4-FFF2-40B4-BE49-F238E27FC236}">
                  <a16:creationId xmlns:a16="http://schemas.microsoft.com/office/drawing/2014/main" id="{6E07DB13-B969-A468-CE4F-264713FCB19A}"/>
                </a:ext>
              </a:extLst>
            </p:cNvPr>
            <p:cNvSpPr>
              <a:spLocks/>
            </p:cNvSpPr>
            <p:nvPr/>
          </p:nvSpPr>
          <p:spPr bwMode="auto">
            <a:xfrm>
              <a:off x="132" y="3778"/>
              <a:ext cx="124" cy="59"/>
            </a:xfrm>
            <a:custGeom>
              <a:avLst/>
              <a:gdLst>
                <a:gd name="T0" fmla="*/ 123 w 124"/>
                <a:gd name="T1" fmla="*/ 7 h 59"/>
                <a:gd name="T2" fmla="*/ 119 w 124"/>
                <a:gd name="T3" fmla="*/ 0 h 59"/>
                <a:gd name="T4" fmla="*/ 0 w 124"/>
                <a:gd name="T5" fmla="*/ 51 h 59"/>
                <a:gd name="T6" fmla="*/ 2 w 124"/>
                <a:gd name="T7" fmla="*/ 58 h 59"/>
                <a:gd name="T8" fmla="*/ 123 w 124"/>
                <a:gd name="T9" fmla="*/ 7 h 59"/>
                <a:gd name="T10" fmla="*/ 0 60000 65536"/>
                <a:gd name="T11" fmla="*/ 0 60000 65536"/>
                <a:gd name="T12" fmla="*/ 0 60000 65536"/>
                <a:gd name="T13" fmla="*/ 0 60000 65536"/>
                <a:gd name="T14" fmla="*/ 0 60000 65536"/>
                <a:gd name="T15" fmla="*/ 0 w 124"/>
                <a:gd name="T16" fmla="*/ 0 h 59"/>
                <a:gd name="T17" fmla="*/ 124 w 124"/>
                <a:gd name="T18" fmla="*/ 59 h 59"/>
              </a:gdLst>
              <a:ahLst/>
              <a:cxnLst>
                <a:cxn ang="T10">
                  <a:pos x="T0" y="T1"/>
                </a:cxn>
                <a:cxn ang="T11">
                  <a:pos x="T2" y="T3"/>
                </a:cxn>
                <a:cxn ang="T12">
                  <a:pos x="T4" y="T5"/>
                </a:cxn>
                <a:cxn ang="T13">
                  <a:pos x="T6" y="T7"/>
                </a:cxn>
                <a:cxn ang="T14">
                  <a:pos x="T8" y="T9"/>
                </a:cxn>
              </a:cxnLst>
              <a:rect l="T15" t="T16" r="T17" b="T18"/>
              <a:pathLst>
                <a:path w="124" h="59">
                  <a:moveTo>
                    <a:pt x="123" y="7"/>
                  </a:moveTo>
                  <a:lnTo>
                    <a:pt x="119" y="0"/>
                  </a:lnTo>
                  <a:lnTo>
                    <a:pt x="0" y="51"/>
                  </a:lnTo>
                  <a:lnTo>
                    <a:pt x="2" y="58"/>
                  </a:lnTo>
                  <a:lnTo>
                    <a:pt x="123"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33" name="Freeform 13">
              <a:extLst>
                <a:ext uri="{FF2B5EF4-FFF2-40B4-BE49-F238E27FC236}">
                  <a16:creationId xmlns:a16="http://schemas.microsoft.com/office/drawing/2014/main" id="{AB78135A-9033-2D4D-438A-F4C1AAF938CA}"/>
                </a:ext>
              </a:extLst>
            </p:cNvPr>
            <p:cNvSpPr>
              <a:spLocks/>
            </p:cNvSpPr>
            <p:nvPr/>
          </p:nvSpPr>
          <p:spPr bwMode="auto">
            <a:xfrm>
              <a:off x="260" y="3792"/>
              <a:ext cx="56" cy="104"/>
            </a:xfrm>
            <a:custGeom>
              <a:avLst/>
              <a:gdLst>
                <a:gd name="T0" fmla="*/ 47 w 56"/>
                <a:gd name="T1" fmla="*/ 103 h 104"/>
                <a:gd name="T2" fmla="*/ 55 w 56"/>
                <a:gd name="T3" fmla="*/ 100 h 104"/>
                <a:gd name="T4" fmla="*/ 7 w 56"/>
                <a:gd name="T5" fmla="*/ 0 h 104"/>
                <a:gd name="T6" fmla="*/ 0 w 56"/>
                <a:gd name="T7" fmla="*/ 2 h 104"/>
                <a:gd name="T8" fmla="*/ 47 w 56"/>
                <a:gd name="T9" fmla="*/ 103 h 104"/>
                <a:gd name="T10" fmla="*/ 0 60000 65536"/>
                <a:gd name="T11" fmla="*/ 0 60000 65536"/>
                <a:gd name="T12" fmla="*/ 0 60000 65536"/>
                <a:gd name="T13" fmla="*/ 0 60000 65536"/>
                <a:gd name="T14" fmla="*/ 0 60000 65536"/>
                <a:gd name="T15" fmla="*/ 0 w 56"/>
                <a:gd name="T16" fmla="*/ 0 h 104"/>
                <a:gd name="T17" fmla="*/ 56 w 56"/>
                <a:gd name="T18" fmla="*/ 104 h 104"/>
              </a:gdLst>
              <a:ahLst/>
              <a:cxnLst>
                <a:cxn ang="T10">
                  <a:pos x="T0" y="T1"/>
                </a:cxn>
                <a:cxn ang="T11">
                  <a:pos x="T2" y="T3"/>
                </a:cxn>
                <a:cxn ang="T12">
                  <a:pos x="T4" y="T5"/>
                </a:cxn>
                <a:cxn ang="T13">
                  <a:pos x="T6" y="T7"/>
                </a:cxn>
                <a:cxn ang="T14">
                  <a:pos x="T8" y="T9"/>
                </a:cxn>
              </a:cxnLst>
              <a:rect l="T15" t="T16" r="T17" b="T18"/>
              <a:pathLst>
                <a:path w="56" h="104">
                  <a:moveTo>
                    <a:pt x="47" y="103"/>
                  </a:moveTo>
                  <a:lnTo>
                    <a:pt x="55" y="100"/>
                  </a:lnTo>
                  <a:lnTo>
                    <a:pt x="7" y="0"/>
                  </a:lnTo>
                  <a:lnTo>
                    <a:pt x="0" y="2"/>
                  </a:lnTo>
                  <a:lnTo>
                    <a:pt x="47"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34" name="Freeform 14">
              <a:extLst>
                <a:ext uri="{FF2B5EF4-FFF2-40B4-BE49-F238E27FC236}">
                  <a16:creationId xmlns:a16="http://schemas.microsoft.com/office/drawing/2014/main" id="{7A8CC5B9-40CF-79E0-32AA-88CFD29C15AC}"/>
                </a:ext>
              </a:extLst>
            </p:cNvPr>
            <p:cNvSpPr>
              <a:spLocks/>
            </p:cNvSpPr>
            <p:nvPr/>
          </p:nvSpPr>
          <p:spPr bwMode="auto">
            <a:xfrm>
              <a:off x="150" y="3837"/>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35" name="Freeform 15">
              <a:extLst>
                <a:ext uri="{FF2B5EF4-FFF2-40B4-BE49-F238E27FC236}">
                  <a16:creationId xmlns:a16="http://schemas.microsoft.com/office/drawing/2014/main" id="{2FE445D6-4917-A2AF-D144-AD117B282A9B}"/>
                </a:ext>
              </a:extLst>
            </p:cNvPr>
            <p:cNvSpPr>
              <a:spLocks/>
            </p:cNvSpPr>
            <p:nvPr/>
          </p:nvSpPr>
          <p:spPr bwMode="auto">
            <a:xfrm>
              <a:off x="128" y="3829"/>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 name="T10" fmla="*/ 0 60000 65536"/>
                <a:gd name="T11" fmla="*/ 0 60000 65536"/>
                <a:gd name="T12" fmla="*/ 0 60000 65536"/>
                <a:gd name="T13" fmla="*/ 0 60000 65536"/>
                <a:gd name="T14" fmla="*/ 0 60000 65536"/>
                <a:gd name="T15" fmla="*/ 0 w 59"/>
                <a:gd name="T16" fmla="*/ 0 h 115"/>
                <a:gd name="T17" fmla="*/ 59 w 59"/>
                <a:gd name="T18" fmla="*/ 115 h 115"/>
              </a:gdLst>
              <a:ahLst/>
              <a:cxnLst>
                <a:cxn ang="T10">
                  <a:pos x="T0" y="T1"/>
                </a:cxn>
                <a:cxn ang="T11">
                  <a:pos x="T2" y="T3"/>
                </a:cxn>
                <a:cxn ang="T12">
                  <a:pos x="T4" y="T5"/>
                </a:cxn>
                <a:cxn ang="T13">
                  <a:pos x="T6" y="T7"/>
                </a:cxn>
                <a:cxn ang="T14">
                  <a:pos x="T8" y="T9"/>
                </a:cxn>
              </a:cxnLst>
              <a:rect l="T15" t="T16" r="T17" b="T18"/>
              <a:pathLst>
                <a:path w="59" h="115">
                  <a:moveTo>
                    <a:pt x="51" y="114"/>
                  </a:moveTo>
                  <a:lnTo>
                    <a:pt x="58"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36" name="Freeform 16">
              <a:extLst>
                <a:ext uri="{FF2B5EF4-FFF2-40B4-BE49-F238E27FC236}">
                  <a16:creationId xmlns:a16="http://schemas.microsoft.com/office/drawing/2014/main" id="{650902B0-E059-0AD8-0A3C-22085F3D9DB4}"/>
                </a:ext>
              </a:extLst>
            </p:cNvPr>
            <p:cNvSpPr>
              <a:spLocks/>
            </p:cNvSpPr>
            <p:nvPr/>
          </p:nvSpPr>
          <p:spPr bwMode="auto">
            <a:xfrm>
              <a:off x="131" y="3829"/>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37" name="Freeform 17">
              <a:extLst>
                <a:ext uri="{FF2B5EF4-FFF2-40B4-BE49-F238E27FC236}">
                  <a16:creationId xmlns:a16="http://schemas.microsoft.com/office/drawing/2014/main" id="{07CA5F28-6A3A-B93F-D3A5-88DADF5AF680}"/>
                </a:ext>
              </a:extLst>
            </p:cNvPr>
            <p:cNvSpPr>
              <a:spLocks/>
            </p:cNvSpPr>
            <p:nvPr/>
          </p:nvSpPr>
          <p:spPr bwMode="auto">
            <a:xfrm>
              <a:off x="239" y="3785"/>
              <a:ext cx="29" cy="17"/>
            </a:xfrm>
            <a:custGeom>
              <a:avLst/>
              <a:gdLst>
                <a:gd name="T0" fmla="*/ 24 w 29"/>
                <a:gd name="T1" fmla="*/ 16 h 17"/>
                <a:gd name="T2" fmla="*/ 28 w 29"/>
                <a:gd name="T3" fmla="*/ 9 h 17"/>
                <a:gd name="T4" fmla="*/ 4 w 29"/>
                <a:gd name="T5" fmla="*/ 0 h 17"/>
                <a:gd name="T6" fmla="*/ 0 w 29"/>
                <a:gd name="T7" fmla="*/ 5 h 17"/>
                <a:gd name="T8" fmla="*/ 24 w 29"/>
                <a:gd name="T9" fmla="*/ 16 h 17"/>
                <a:gd name="T10" fmla="*/ 0 60000 65536"/>
                <a:gd name="T11" fmla="*/ 0 60000 65536"/>
                <a:gd name="T12" fmla="*/ 0 60000 65536"/>
                <a:gd name="T13" fmla="*/ 0 60000 65536"/>
                <a:gd name="T14" fmla="*/ 0 60000 65536"/>
                <a:gd name="T15" fmla="*/ 0 w 29"/>
                <a:gd name="T16" fmla="*/ 0 h 17"/>
                <a:gd name="T17" fmla="*/ 29 w 29"/>
                <a:gd name="T18" fmla="*/ 17 h 17"/>
              </a:gdLst>
              <a:ahLst/>
              <a:cxnLst>
                <a:cxn ang="T10">
                  <a:pos x="T0" y="T1"/>
                </a:cxn>
                <a:cxn ang="T11">
                  <a:pos x="T2" y="T3"/>
                </a:cxn>
                <a:cxn ang="T12">
                  <a:pos x="T4" y="T5"/>
                </a:cxn>
                <a:cxn ang="T13">
                  <a:pos x="T6" y="T7"/>
                </a:cxn>
                <a:cxn ang="T14">
                  <a:pos x="T8" y="T9"/>
                </a:cxn>
              </a:cxnLst>
              <a:rect l="T15" t="T16" r="T17" b="T18"/>
              <a:pathLst>
                <a:path w="29" h="17">
                  <a:moveTo>
                    <a:pt x="24" y="16"/>
                  </a:moveTo>
                  <a:lnTo>
                    <a:pt x="28" y="9"/>
                  </a:lnTo>
                  <a:lnTo>
                    <a:pt x="4" y="0"/>
                  </a:lnTo>
                  <a:lnTo>
                    <a:pt x="0" y="5"/>
                  </a:lnTo>
                  <a:lnTo>
                    <a:pt x="24"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grpSp>
        <p:nvGrpSpPr>
          <p:cNvPr id="17413" name="Group 18">
            <a:extLst>
              <a:ext uri="{FF2B5EF4-FFF2-40B4-BE49-F238E27FC236}">
                <a16:creationId xmlns:a16="http://schemas.microsoft.com/office/drawing/2014/main" id="{6954290E-605B-31FF-4A10-0B080B261F8F}"/>
              </a:ext>
            </a:extLst>
          </p:cNvPr>
          <p:cNvGrpSpPr>
            <a:grpSpLocks/>
          </p:cNvGrpSpPr>
          <p:nvPr/>
        </p:nvGrpSpPr>
        <p:grpSpPr bwMode="auto">
          <a:xfrm>
            <a:off x="204788" y="5718175"/>
            <a:ext cx="288925" cy="311150"/>
            <a:chOff x="128" y="3537"/>
            <a:chExt cx="181" cy="192"/>
          </a:xfrm>
        </p:grpSpPr>
        <p:sp>
          <p:nvSpPr>
            <p:cNvPr id="17414" name="Freeform 19">
              <a:extLst>
                <a:ext uri="{FF2B5EF4-FFF2-40B4-BE49-F238E27FC236}">
                  <a16:creationId xmlns:a16="http://schemas.microsoft.com/office/drawing/2014/main" id="{2B461A1F-9EF7-97E6-7A8E-AEF29B994036}"/>
                </a:ext>
              </a:extLst>
            </p:cNvPr>
            <p:cNvSpPr>
              <a:spLocks/>
            </p:cNvSpPr>
            <p:nvPr/>
          </p:nvSpPr>
          <p:spPr bwMode="auto">
            <a:xfrm>
              <a:off x="128" y="3537"/>
              <a:ext cx="181" cy="184"/>
            </a:xfrm>
            <a:custGeom>
              <a:avLst/>
              <a:gdLst>
                <a:gd name="T0" fmla="*/ 180 w 181"/>
                <a:gd name="T1" fmla="*/ 183 h 184"/>
                <a:gd name="T2" fmla="*/ 180 w 181"/>
                <a:gd name="T3" fmla="*/ 0 h 184"/>
                <a:gd name="T4" fmla="*/ 0 w 181"/>
                <a:gd name="T5" fmla="*/ 0 h 184"/>
                <a:gd name="T6" fmla="*/ 0 w 181"/>
                <a:gd name="T7" fmla="*/ 183 h 184"/>
                <a:gd name="T8" fmla="*/ 180 w 181"/>
                <a:gd name="T9" fmla="*/ 183 h 184"/>
                <a:gd name="T10" fmla="*/ 0 60000 65536"/>
                <a:gd name="T11" fmla="*/ 0 60000 65536"/>
                <a:gd name="T12" fmla="*/ 0 60000 65536"/>
                <a:gd name="T13" fmla="*/ 0 60000 65536"/>
                <a:gd name="T14" fmla="*/ 0 60000 65536"/>
                <a:gd name="T15" fmla="*/ 0 w 181"/>
                <a:gd name="T16" fmla="*/ 0 h 184"/>
                <a:gd name="T17" fmla="*/ 181 w 181"/>
                <a:gd name="T18" fmla="*/ 184 h 184"/>
              </a:gdLst>
              <a:ahLst/>
              <a:cxnLst>
                <a:cxn ang="T10">
                  <a:pos x="T0" y="T1"/>
                </a:cxn>
                <a:cxn ang="T11">
                  <a:pos x="T2" y="T3"/>
                </a:cxn>
                <a:cxn ang="T12">
                  <a:pos x="T4" y="T5"/>
                </a:cxn>
                <a:cxn ang="T13">
                  <a:pos x="T6" y="T7"/>
                </a:cxn>
                <a:cxn ang="T14">
                  <a:pos x="T8" y="T9"/>
                </a:cxn>
              </a:cxnLst>
              <a:rect l="T15" t="T16" r="T17" b="T18"/>
              <a:pathLst>
                <a:path w="181" h="184">
                  <a:moveTo>
                    <a:pt x="180" y="183"/>
                  </a:moveTo>
                  <a:lnTo>
                    <a:pt x="180" y="0"/>
                  </a:lnTo>
                  <a:lnTo>
                    <a:pt x="0" y="0"/>
                  </a:lnTo>
                  <a:lnTo>
                    <a:pt x="0" y="183"/>
                  </a:lnTo>
                  <a:lnTo>
                    <a:pt x="180"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15" name="Freeform 20">
              <a:extLst>
                <a:ext uri="{FF2B5EF4-FFF2-40B4-BE49-F238E27FC236}">
                  <a16:creationId xmlns:a16="http://schemas.microsoft.com/office/drawing/2014/main" id="{05B47646-83C8-E8AA-BDDC-B1CC38B60A87}"/>
                </a:ext>
              </a:extLst>
            </p:cNvPr>
            <p:cNvSpPr>
              <a:spLocks/>
            </p:cNvSpPr>
            <p:nvPr/>
          </p:nvSpPr>
          <p:spPr bwMode="auto">
            <a:xfrm>
              <a:off x="210" y="3711"/>
              <a:ext cx="27" cy="18"/>
            </a:xfrm>
            <a:custGeom>
              <a:avLst/>
              <a:gdLst>
                <a:gd name="T0" fmla="*/ 26 w 27"/>
                <a:gd name="T1" fmla="*/ 17 h 18"/>
                <a:gd name="T2" fmla="*/ 26 w 27"/>
                <a:gd name="T3" fmla="*/ 0 h 18"/>
                <a:gd name="T4" fmla="*/ 0 w 27"/>
                <a:gd name="T5" fmla="*/ 0 h 18"/>
                <a:gd name="T6" fmla="*/ 0 w 27"/>
                <a:gd name="T7" fmla="*/ 17 h 18"/>
                <a:gd name="T8" fmla="*/ 26 w 27"/>
                <a:gd name="T9" fmla="*/ 17 h 18"/>
                <a:gd name="T10" fmla="*/ 0 60000 65536"/>
                <a:gd name="T11" fmla="*/ 0 60000 65536"/>
                <a:gd name="T12" fmla="*/ 0 60000 65536"/>
                <a:gd name="T13" fmla="*/ 0 60000 65536"/>
                <a:gd name="T14" fmla="*/ 0 60000 65536"/>
                <a:gd name="T15" fmla="*/ 0 w 27"/>
                <a:gd name="T16" fmla="*/ 0 h 18"/>
                <a:gd name="T17" fmla="*/ 27 w 27"/>
                <a:gd name="T18" fmla="*/ 18 h 18"/>
              </a:gdLst>
              <a:ahLst/>
              <a:cxnLst>
                <a:cxn ang="T10">
                  <a:pos x="T0" y="T1"/>
                </a:cxn>
                <a:cxn ang="T11">
                  <a:pos x="T2" y="T3"/>
                </a:cxn>
                <a:cxn ang="T12">
                  <a:pos x="T4" y="T5"/>
                </a:cxn>
                <a:cxn ang="T13">
                  <a:pos x="T6" y="T7"/>
                </a:cxn>
                <a:cxn ang="T14">
                  <a:pos x="T8" y="T9"/>
                </a:cxn>
              </a:cxnLst>
              <a:rect l="T15" t="T16" r="T17" b="T18"/>
              <a:pathLst>
                <a:path w="27" h="18">
                  <a:moveTo>
                    <a:pt x="26" y="17"/>
                  </a:moveTo>
                  <a:lnTo>
                    <a:pt x="26" y="0"/>
                  </a:lnTo>
                  <a:lnTo>
                    <a:pt x="0" y="0"/>
                  </a:lnTo>
                  <a:lnTo>
                    <a:pt x="0" y="17"/>
                  </a:lnTo>
                  <a:lnTo>
                    <a:pt x="26"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16" name="Freeform 21">
              <a:extLst>
                <a:ext uri="{FF2B5EF4-FFF2-40B4-BE49-F238E27FC236}">
                  <a16:creationId xmlns:a16="http://schemas.microsoft.com/office/drawing/2014/main" id="{1A83246C-DD8E-B94B-A3FF-3A22B864BB46}"/>
                </a:ext>
              </a:extLst>
            </p:cNvPr>
            <p:cNvSpPr>
              <a:spLocks/>
            </p:cNvSpPr>
            <p:nvPr/>
          </p:nvSpPr>
          <p:spPr bwMode="auto">
            <a:xfrm>
              <a:off x="151" y="3590"/>
              <a:ext cx="32" cy="20"/>
            </a:xfrm>
            <a:custGeom>
              <a:avLst/>
              <a:gdLst>
                <a:gd name="T0" fmla="*/ 0 w 32"/>
                <a:gd name="T1" fmla="*/ 0 h 20"/>
                <a:gd name="T2" fmla="*/ 25 w 32"/>
                <a:gd name="T3" fmla="*/ 19 h 20"/>
                <a:gd name="T4" fmla="*/ 31 w 32"/>
                <a:gd name="T5" fmla="*/ 8 h 20"/>
                <a:gd name="T6" fmla="*/ 0 w 32"/>
                <a:gd name="T7" fmla="*/ 0 h 20"/>
                <a:gd name="T8" fmla="*/ 0 60000 65536"/>
                <a:gd name="T9" fmla="*/ 0 60000 65536"/>
                <a:gd name="T10" fmla="*/ 0 60000 65536"/>
                <a:gd name="T11" fmla="*/ 0 60000 65536"/>
                <a:gd name="T12" fmla="*/ 0 w 32"/>
                <a:gd name="T13" fmla="*/ 0 h 20"/>
                <a:gd name="T14" fmla="*/ 32 w 32"/>
                <a:gd name="T15" fmla="*/ 20 h 20"/>
              </a:gdLst>
              <a:ahLst/>
              <a:cxnLst>
                <a:cxn ang="T8">
                  <a:pos x="T0" y="T1"/>
                </a:cxn>
                <a:cxn ang="T9">
                  <a:pos x="T2" y="T3"/>
                </a:cxn>
                <a:cxn ang="T10">
                  <a:pos x="T4" y="T5"/>
                </a:cxn>
                <a:cxn ang="T11">
                  <a:pos x="T6" y="T7"/>
                </a:cxn>
              </a:cxnLst>
              <a:rect l="T12" t="T13" r="T14" b="T15"/>
              <a:pathLst>
                <a:path w="32" h="20">
                  <a:moveTo>
                    <a:pt x="0" y="0"/>
                  </a:moveTo>
                  <a:lnTo>
                    <a:pt x="25" y="19"/>
                  </a:lnTo>
                  <a:lnTo>
                    <a:pt x="31"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17" name="Freeform 22">
              <a:extLst>
                <a:ext uri="{FF2B5EF4-FFF2-40B4-BE49-F238E27FC236}">
                  <a16:creationId xmlns:a16="http://schemas.microsoft.com/office/drawing/2014/main" id="{6F742E8E-C3B7-474B-887E-55C21F720EDA}"/>
                </a:ext>
              </a:extLst>
            </p:cNvPr>
            <p:cNvSpPr>
              <a:spLocks/>
            </p:cNvSpPr>
            <p:nvPr/>
          </p:nvSpPr>
          <p:spPr bwMode="auto">
            <a:xfrm>
              <a:off x="262" y="3590"/>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18" name="Freeform 23">
              <a:extLst>
                <a:ext uri="{FF2B5EF4-FFF2-40B4-BE49-F238E27FC236}">
                  <a16:creationId xmlns:a16="http://schemas.microsoft.com/office/drawing/2014/main" id="{18D0D1CB-A41E-9CAB-496B-8781F399FD10}"/>
                </a:ext>
              </a:extLst>
            </p:cNvPr>
            <p:cNvSpPr>
              <a:spLocks/>
            </p:cNvSpPr>
            <p:nvPr/>
          </p:nvSpPr>
          <p:spPr bwMode="auto">
            <a:xfrm>
              <a:off x="148" y="3628"/>
              <a:ext cx="33" cy="19"/>
            </a:xfrm>
            <a:custGeom>
              <a:avLst/>
              <a:gdLst>
                <a:gd name="T0" fmla="*/ 0 w 33"/>
                <a:gd name="T1" fmla="*/ 18 h 19"/>
                <a:gd name="T2" fmla="*/ 32 w 33"/>
                <a:gd name="T3" fmla="*/ 14 h 19"/>
                <a:gd name="T4" fmla="*/ 30 w 33"/>
                <a:gd name="T5" fmla="*/ 0 h 19"/>
                <a:gd name="T6" fmla="*/ 0 w 33"/>
                <a:gd name="T7" fmla="*/ 18 h 19"/>
                <a:gd name="T8" fmla="*/ 0 60000 65536"/>
                <a:gd name="T9" fmla="*/ 0 60000 65536"/>
                <a:gd name="T10" fmla="*/ 0 60000 65536"/>
                <a:gd name="T11" fmla="*/ 0 60000 65536"/>
                <a:gd name="T12" fmla="*/ 0 w 33"/>
                <a:gd name="T13" fmla="*/ 0 h 19"/>
                <a:gd name="T14" fmla="*/ 33 w 33"/>
                <a:gd name="T15" fmla="*/ 19 h 19"/>
              </a:gdLst>
              <a:ahLst/>
              <a:cxnLst>
                <a:cxn ang="T8">
                  <a:pos x="T0" y="T1"/>
                </a:cxn>
                <a:cxn ang="T9">
                  <a:pos x="T2" y="T3"/>
                </a:cxn>
                <a:cxn ang="T10">
                  <a:pos x="T4" y="T5"/>
                </a:cxn>
                <a:cxn ang="T11">
                  <a:pos x="T6" y="T7"/>
                </a:cxn>
              </a:cxnLst>
              <a:rect l="T12" t="T13" r="T14" b="T15"/>
              <a:pathLst>
                <a:path w="33" h="19">
                  <a:moveTo>
                    <a:pt x="0" y="18"/>
                  </a:moveTo>
                  <a:lnTo>
                    <a:pt x="32" y="14"/>
                  </a:lnTo>
                  <a:lnTo>
                    <a:pt x="30" y="0"/>
                  </a:lnTo>
                  <a:lnTo>
                    <a:pt x="0"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19" name="Freeform 24">
              <a:extLst>
                <a:ext uri="{FF2B5EF4-FFF2-40B4-BE49-F238E27FC236}">
                  <a16:creationId xmlns:a16="http://schemas.microsoft.com/office/drawing/2014/main" id="{6D0444A9-25C7-DAAD-5B7C-EFBFA207FCC9}"/>
                </a:ext>
              </a:extLst>
            </p:cNvPr>
            <p:cNvSpPr>
              <a:spLocks/>
            </p:cNvSpPr>
            <p:nvPr/>
          </p:nvSpPr>
          <p:spPr bwMode="auto">
            <a:xfrm>
              <a:off x="265" y="3629"/>
              <a:ext cx="34" cy="19"/>
            </a:xfrm>
            <a:custGeom>
              <a:avLst/>
              <a:gdLst>
                <a:gd name="T0" fmla="*/ 33 w 34"/>
                <a:gd name="T1" fmla="*/ 18 h 19"/>
                <a:gd name="T2" fmla="*/ 0 w 34"/>
                <a:gd name="T3" fmla="*/ 15 h 19"/>
                <a:gd name="T4" fmla="*/ 2 w 34"/>
                <a:gd name="T5" fmla="*/ 0 h 19"/>
                <a:gd name="T6" fmla="*/ 33 w 34"/>
                <a:gd name="T7" fmla="*/ 18 h 19"/>
                <a:gd name="T8" fmla="*/ 0 60000 65536"/>
                <a:gd name="T9" fmla="*/ 0 60000 65536"/>
                <a:gd name="T10" fmla="*/ 0 60000 65536"/>
                <a:gd name="T11" fmla="*/ 0 60000 65536"/>
                <a:gd name="T12" fmla="*/ 0 w 34"/>
                <a:gd name="T13" fmla="*/ 0 h 19"/>
                <a:gd name="T14" fmla="*/ 34 w 34"/>
                <a:gd name="T15" fmla="*/ 19 h 19"/>
              </a:gdLst>
              <a:ahLst/>
              <a:cxnLst>
                <a:cxn ang="T8">
                  <a:pos x="T0" y="T1"/>
                </a:cxn>
                <a:cxn ang="T9">
                  <a:pos x="T2" y="T3"/>
                </a:cxn>
                <a:cxn ang="T10">
                  <a:pos x="T4" y="T5"/>
                </a:cxn>
                <a:cxn ang="T11">
                  <a:pos x="T6" y="T7"/>
                </a:cxn>
              </a:cxnLst>
              <a:rect l="T12" t="T13" r="T14" b="T15"/>
              <a:pathLst>
                <a:path w="34" h="19">
                  <a:moveTo>
                    <a:pt x="33" y="18"/>
                  </a:moveTo>
                  <a:lnTo>
                    <a:pt x="0" y="15"/>
                  </a:lnTo>
                  <a:lnTo>
                    <a:pt x="2" y="0"/>
                  </a:lnTo>
                  <a:lnTo>
                    <a:pt x="33"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0" name="Freeform 25">
              <a:extLst>
                <a:ext uri="{FF2B5EF4-FFF2-40B4-BE49-F238E27FC236}">
                  <a16:creationId xmlns:a16="http://schemas.microsoft.com/office/drawing/2014/main" id="{9DF9B975-944D-F9DA-A072-B18EAD284B8F}"/>
                </a:ext>
              </a:extLst>
            </p:cNvPr>
            <p:cNvSpPr>
              <a:spLocks/>
            </p:cNvSpPr>
            <p:nvPr/>
          </p:nvSpPr>
          <p:spPr bwMode="auto">
            <a:xfrm>
              <a:off x="173" y="3552"/>
              <a:ext cx="26" cy="29"/>
            </a:xfrm>
            <a:custGeom>
              <a:avLst/>
              <a:gdLst>
                <a:gd name="T0" fmla="*/ 0 w 26"/>
                <a:gd name="T1" fmla="*/ 0 h 29"/>
                <a:gd name="T2" fmla="*/ 15 w 26"/>
                <a:gd name="T3" fmla="*/ 28 h 29"/>
                <a:gd name="T4" fmla="*/ 25 w 26"/>
                <a:gd name="T5" fmla="*/ 21 h 29"/>
                <a:gd name="T6" fmla="*/ 0 w 26"/>
                <a:gd name="T7" fmla="*/ 0 h 29"/>
                <a:gd name="T8" fmla="*/ 0 60000 65536"/>
                <a:gd name="T9" fmla="*/ 0 60000 65536"/>
                <a:gd name="T10" fmla="*/ 0 60000 65536"/>
                <a:gd name="T11" fmla="*/ 0 60000 65536"/>
                <a:gd name="T12" fmla="*/ 0 w 26"/>
                <a:gd name="T13" fmla="*/ 0 h 29"/>
                <a:gd name="T14" fmla="*/ 26 w 26"/>
                <a:gd name="T15" fmla="*/ 29 h 29"/>
              </a:gdLst>
              <a:ahLst/>
              <a:cxnLst>
                <a:cxn ang="T8">
                  <a:pos x="T0" y="T1"/>
                </a:cxn>
                <a:cxn ang="T9">
                  <a:pos x="T2" y="T3"/>
                </a:cxn>
                <a:cxn ang="T10">
                  <a:pos x="T4" y="T5"/>
                </a:cxn>
                <a:cxn ang="T11">
                  <a:pos x="T6" y="T7"/>
                </a:cxn>
              </a:cxnLst>
              <a:rect l="T12" t="T13" r="T14" b="T15"/>
              <a:pathLst>
                <a:path w="26" h="29">
                  <a:moveTo>
                    <a:pt x="0" y="0"/>
                  </a:moveTo>
                  <a:lnTo>
                    <a:pt x="15" y="28"/>
                  </a:lnTo>
                  <a:lnTo>
                    <a:pt x="25" y="21"/>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1" name="Freeform 26">
              <a:extLst>
                <a:ext uri="{FF2B5EF4-FFF2-40B4-BE49-F238E27FC236}">
                  <a16:creationId xmlns:a16="http://schemas.microsoft.com/office/drawing/2014/main" id="{A5507714-BA33-99DF-A070-F12DAFD61156}"/>
                </a:ext>
              </a:extLst>
            </p:cNvPr>
            <p:cNvSpPr>
              <a:spLocks/>
            </p:cNvSpPr>
            <p:nvPr/>
          </p:nvSpPr>
          <p:spPr bwMode="auto">
            <a:xfrm>
              <a:off x="239" y="3554"/>
              <a:ext cx="29" cy="31"/>
            </a:xfrm>
            <a:custGeom>
              <a:avLst/>
              <a:gdLst>
                <a:gd name="T0" fmla="*/ 28 w 29"/>
                <a:gd name="T1" fmla="*/ 0 h 31"/>
                <a:gd name="T2" fmla="*/ 11 w 29"/>
                <a:gd name="T3" fmla="*/ 30 h 31"/>
                <a:gd name="T4" fmla="*/ 0 w 29"/>
                <a:gd name="T5" fmla="*/ 22 h 31"/>
                <a:gd name="T6" fmla="*/ 28 w 29"/>
                <a:gd name="T7" fmla="*/ 0 h 31"/>
                <a:gd name="T8" fmla="*/ 0 60000 65536"/>
                <a:gd name="T9" fmla="*/ 0 60000 65536"/>
                <a:gd name="T10" fmla="*/ 0 60000 65536"/>
                <a:gd name="T11" fmla="*/ 0 60000 65536"/>
                <a:gd name="T12" fmla="*/ 0 w 29"/>
                <a:gd name="T13" fmla="*/ 0 h 31"/>
                <a:gd name="T14" fmla="*/ 29 w 29"/>
                <a:gd name="T15" fmla="*/ 31 h 31"/>
              </a:gdLst>
              <a:ahLst/>
              <a:cxnLst>
                <a:cxn ang="T8">
                  <a:pos x="T0" y="T1"/>
                </a:cxn>
                <a:cxn ang="T9">
                  <a:pos x="T2" y="T3"/>
                </a:cxn>
                <a:cxn ang="T10">
                  <a:pos x="T4" y="T5"/>
                </a:cxn>
                <a:cxn ang="T11">
                  <a:pos x="T6" y="T7"/>
                </a:cxn>
              </a:cxnLst>
              <a:rect l="T12" t="T13" r="T14" b="T15"/>
              <a:pathLst>
                <a:path w="29" h="31">
                  <a:moveTo>
                    <a:pt x="28" y="0"/>
                  </a:moveTo>
                  <a:lnTo>
                    <a:pt x="11" y="30"/>
                  </a:lnTo>
                  <a:lnTo>
                    <a:pt x="0" y="22"/>
                  </a:lnTo>
                  <a:lnTo>
                    <a:pt x="2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2" name="Freeform 27">
              <a:extLst>
                <a:ext uri="{FF2B5EF4-FFF2-40B4-BE49-F238E27FC236}">
                  <a16:creationId xmlns:a16="http://schemas.microsoft.com/office/drawing/2014/main" id="{65C6B711-C78D-3949-A05B-DB27A44D8551}"/>
                </a:ext>
              </a:extLst>
            </p:cNvPr>
            <p:cNvSpPr>
              <a:spLocks/>
            </p:cNvSpPr>
            <p:nvPr/>
          </p:nvSpPr>
          <p:spPr bwMode="auto">
            <a:xfrm>
              <a:off x="214" y="3543"/>
              <a:ext cx="18" cy="30"/>
            </a:xfrm>
            <a:custGeom>
              <a:avLst/>
              <a:gdLst>
                <a:gd name="T0" fmla="*/ 7 w 18"/>
                <a:gd name="T1" fmla="*/ 0 h 30"/>
                <a:gd name="T2" fmla="*/ 0 w 18"/>
                <a:gd name="T3" fmla="*/ 29 h 30"/>
                <a:gd name="T4" fmla="*/ 17 w 18"/>
                <a:gd name="T5" fmla="*/ 28 h 30"/>
                <a:gd name="T6" fmla="*/ 7 w 18"/>
                <a:gd name="T7" fmla="*/ 0 h 30"/>
                <a:gd name="T8" fmla="*/ 0 60000 65536"/>
                <a:gd name="T9" fmla="*/ 0 60000 65536"/>
                <a:gd name="T10" fmla="*/ 0 60000 65536"/>
                <a:gd name="T11" fmla="*/ 0 60000 65536"/>
                <a:gd name="T12" fmla="*/ 0 w 18"/>
                <a:gd name="T13" fmla="*/ 0 h 30"/>
                <a:gd name="T14" fmla="*/ 18 w 18"/>
                <a:gd name="T15" fmla="*/ 30 h 30"/>
              </a:gdLst>
              <a:ahLst/>
              <a:cxnLst>
                <a:cxn ang="T8">
                  <a:pos x="T0" y="T1"/>
                </a:cxn>
                <a:cxn ang="T9">
                  <a:pos x="T2" y="T3"/>
                </a:cxn>
                <a:cxn ang="T10">
                  <a:pos x="T4" y="T5"/>
                </a:cxn>
                <a:cxn ang="T11">
                  <a:pos x="T6" y="T7"/>
                </a:cxn>
              </a:cxnLst>
              <a:rect l="T12" t="T13" r="T14" b="T15"/>
              <a:pathLst>
                <a:path w="18" h="30">
                  <a:moveTo>
                    <a:pt x="7" y="0"/>
                  </a:moveTo>
                  <a:lnTo>
                    <a:pt x="0" y="29"/>
                  </a:lnTo>
                  <a:lnTo>
                    <a:pt x="17" y="28"/>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3" name="Freeform 28">
              <a:extLst>
                <a:ext uri="{FF2B5EF4-FFF2-40B4-BE49-F238E27FC236}">
                  <a16:creationId xmlns:a16="http://schemas.microsoft.com/office/drawing/2014/main" id="{1EF612C4-4772-8714-4D25-1DFEDCB1CA4A}"/>
                </a:ext>
              </a:extLst>
            </p:cNvPr>
            <p:cNvSpPr>
              <a:spLocks/>
            </p:cNvSpPr>
            <p:nvPr/>
          </p:nvSpPr>
          <p:spPr bwMode="auto">
            <a:xfrm>
              <a:off x="188" y="3589"/>
              <a:ext cx="68" cy="115"/>
            </a:xfrm>
            <a:custGeom>
              <a:avLst/>
              <a:gdLst>
                <a:gd name="T0" fmla="*/ 22 w 68"/>
                <a:gd name="T1" fmla="*/ 114 h 115"/>
                <a:gd name="T2" fmla="*/ 23 w 68"/>
                <a:gd name="T3" fmla="*/ 94 h 115"/>
                <a:gd name="T4" fmla="*/ 21 w 68"/>
                <a:gd name="T5" fmla="*/ 91 h 115"/>
                <a:gd name="T6" fmla="*/ 15 w 68"/>
                <a:gd name="T7" fmla="*/ 83 h 115"/>
                <a:gd name="T8" fmla="*/ 9 w 68"/>
                <a:gd name="T9" fmla="*/ 72 h 115"/>
                <a:gd name="T10" fmla="*/ 4 w 68"/>
                <a:gd name="T11" fmla="*/ 58 h 115"/>
                <a:gd name="T12" fmla="*/ 0 w 68"/>
                <a:gd name="T13" fmla="*/ 42 h 115"/>
                <a:gd name="T14" fmla="*/ 1 w 68"/>
                <a:gd name="T15" fmla="*/ 27 h 115"/>
                <a:gd name="T16" fmla="*/ 8 w 68"/>
                <a:gd name="T17" fmla="*/ 12 h 115"/>
                <a:gd name="T18" fmla="*/ 23 w 68"/>
                <a:gd name="T19" fmla="*/ 0 h 115"/>
                <a:gd name="T20" fmla="*/ 43 w 68"/>
                <a:gd name="T21" fmla="*/ 0 h 115"/>
                <a:gd name="T22" fmla="*/ 46 w 68"/>
                <a:gd name="T23" fmla="*/ 1 h 115"/>
                <a:gd name="T24" fmla="*/ 51 w 68"/>
                <a:gd name="T25" fmla="*/ 5 h 115"/>
                <a:gd name="T26" fmla="*/ 57 w 68"/>
                <a:gd name="T27" fmla="*/ 11 h 115"/>
                <a:gd name="T28" fmla="*/ 63 w 68"/>
                <a:gd name="T29" fmla="*/ 20 h 115"/>
                <a:gd name="T30" fmla="*/ 67 w 68"/>
                <a:gd name="T31" fmla="*/ 32 h 115"/>
                <a:gd name="T32" fmla="*/ 66 w 68"/>
                <a:gd name="T33" fmla="*/ 48 h 115"/>
                <a:gd name="T34" fmla="*/ 59 w 68"/>
                <a:gd name="T35" fmla="*/ 68 h 115"/>
                <a:gd name="T36" fmla="*/ 43 w 68"/>
                <a:gd name="T37" fmla="*/ 91 h 115"/>
                <a:gd name="T38" fmla="*/ 43 w 68"/>
                <a:gd name="T39" fmla="*/ 114 h 115"/>
                <a:gd name="T40" fmla="*/ 22 w 68"/>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115"/>
                <a:gd name="T65" fmla="*/ 68 w 68"/>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115">
                  <a:moveTo>
                    <a:pt x="22" y="114"/>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7" y="32"/>
                  </a:lnTo>
                  <a:lnTo>
                    <a:pt x="66" y="48"/>
                  </a:lnTo>
                  <a:lnTo>
                    <a:pt x="59" y="68"/>
                  </a:lnTo>
                  <a:lnTo>
                    <a:pt x="43" y="91"/>
                  </a:lnTo>
                  <a:lnTo>
                    <a:pt x="43" y="114"/>
                  </a:lnTo>
                  <a:lnTo>
                    <a:pt x="22"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7424" name="Freeform 29">
              <a:extLst>
                <a:ext uri="{FF2B5EF4-FFF2-40B4-BE49-F238E27FC236}">
                  <a16:creationId xmlns:a16="http://schemas.microsoft.com/office/drawing/2014/main" id="{D659866C-B16F-EA1E-89BA-62943D092B2B}"/>
                </a:ext>
              </a:extLst>
            </p:cNvPr>
            <p:cNvSpPr>
              <a:spLocks/>
            </p:cNvSpPr>
            <p:nvPr/>
          </p:nvSpPr>
          <p:spPr bwMode="auto">
            <a:xfrm>
              <a:off x="216" y="3610"/>
              <a:ext cx="17" cy="87"/>
            </a:xfrm>
            <a:custGeom>
              <a:avLst/>
              <a:gdLst>
                <a:gd name="T0" fmla="*/ 4 w 17"/>
                <a:gd name="T1" fmla="*/ 0 h 87"/>
                <a:gd name="T2" fmla="*/ 6 w 17"/>
                <a:gd name="T3" fmla="*/ 6 h 87"/>
                <a:gd name="T4" fmla="*/ 2 w 17"/>
                <a:gd name="T5" fmla="*/ 7 h 87"/>
                <a:gd name="T6" fmla="*/ 2 w 17"/>
                <a:gd name="T7" fmla="*/ 78 h 87"/>
                <a:gd name="T8" fmla="*/ 0 w 17"/>
                <a:gd name="T9" fmla="*/ 79 h 87"/>
                <a:gd name="T10" fmla="*/ 0 w 17"/>
                <a:gd name="T11" fmla="*/ 86 h 87"/>
                <a:gd name="T12" fmla="*/ 2 w 17"/>
                <a:gd name="T13" fmla="*/ 86 h 87"/>
                <a:gd name="T14" fmla="*/ 4 w 17"/>
                <a:gd name="T15" fmla="*/ 86 h 87"/>
                <a:gd name="T16" fmla="*/ 6 w 17"/>
                <a:gd name="T17" fmla="*/ 86 h 87"/>
                <a:gd name="T18" fmla="*/ 9 w 17"/>
                <a:gd name="T19" fmla="*/ 85 h 87"/>
                <a:gd name="T20" fmla="*/ 13 w 17"/>
                <a:gd name="T21" fmla="*/ 85 h 87"/>
                <a:gd name="T22" fmla="*/ 16 w 17"/>
                <a:gd name="T23" fmla="*/ 84 h 87"/>
                <a:gd name="T24" fmla="*/ 16 w 17"/>
                <a:gd name="T25" fmla="*/ 82 h 87"/>
                <a:gd name="T26" fmla="*/ 16 w 17"/>
                <a:gd name="T27" fmla="*/ 79 h 87"/>
                <a:gd name="T28" fmla="*/ 16 w 17"/>
                <a:gd name="T29" fmla="*/ 48 h 87"/>
                <a:gd name="T30" fmla="*/ 13 w 17"/>
                <a:gd name="T31" fmla="*/ 47 h 87"/>
                <a:gd name="T32" fmla="*/ 13 w 17"/>
                <a:gd name="T33" fmla="*/ 39 h 87"/>
                <a:gd name="T34" fmla="*/ 13 w 17"/>
                <a:gd name="T35" fmla="*/ 5 h 87"/>
                <a:gd name="T36" fmla="*/ 4 w 17"/>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7"/>
                <a:gd name="T59" fmla="*/ 17 w 17"/>
                <a:gd name="T60" fmla="*/ 87 h 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7">
                  <a:moveTo>
                    <a:pt x="4" y="0"/>
                  </a:moveTo>
                  <a:lnTo>
                    <a:pt x="6" y="6"/>
                  </a:lnTo>
                  <a:lnTo>
                    <a:pt x="2" y="7"/>
                  </a:lnTo>
                  <a:lnTo>
                    <a:pt x="2" y="78"/>
                  </a:lnTo>
                  <a:lnTo>
                    <a:pt x="0" y="79"/>
                  </a:lnTo>
                  <a:lnTo>
                    <a:pt x="0" y="86"/>
                  </a:lnTo>
                  <a:lnTo>
                    <a:pt x="2" y="86"/>
                  </a:lnTo>
                  <a:lnTo>
                    <a:pt x="4" y="86"/>
                  </a:lnTo>
                  <a:lnTo>
                    <a:pt x="6" y="86"/>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CEF00C0-1D06-74D3-7D42-01676682CE42}"/>
              </a:ext>
            </a:extLst>
          </p:cNvPr>
          <p:cNvSpPr>
            <a:spLocks noGrp="1" noRot="1" noChangeArrowheads="1" noTextEdit="1"/>
          </p:cNvSpPr>
          <p:nvPr>
            <p:ph type="sldImg"/>
          </p:nvPr>
        </p:nvSpPr>
        <p:spPr>
          <a:xfrm>
            <a:off x="436563" y="158750"/>
            <a:ext cx="5980112" cy="4484688"/>
          </a:xfrm>
          <a:ln w="12700" cap="flat">
            <a:solidFill>
              <a:schemeClr val="tx1"/>
            </a:solidFill>
          </a:ln>
        </p:spPr>
      </p:sp>
      <p:sp>
        <p:nvSpPr>
          <p:cNvPr id="19459" name="Rectangle 3">
            <a:extLst>
              <a:ext uri="{FF2B5EF4-FFF2-40B4-BE49-F238E27FC236}">
                <a16:creationId xmlns:a16="http://schemas.microsoft.com/office/drawing/2014/main" id="{F0447469-C7AE-C44B-07B7-197D6FD3632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Confirming Sequences</a:t>
            </a:r>
          </a:p>
          <a:p>
            <a:pPr lvl="1"/>
            <a:r>
              <a:rPr lang="en-US" altLang="en-US">
                <a:latin typeface="Arial" panose="020B0604020202020204" pitchFamily="34" charset="0"/>
              </a:rPr>
              <a:t>Once you have created your sequence, it is documented in the data dictionary. Since a sequence is a database object, you can identify it in the USER_OBJECTS data dictionary table.</a:t>
            </a:r>
          </a:p>
          <a:p>
            <a:pPr lvl="1"/>
            <a:r>
              <a:rPr lang="en-US" altLang="en-US">
                <a:latin typeface="Arial" panose="020B0604020202020204" pitchFamily="34" charset="0"/>
              </a:rPr>
              <a:t>You can also confirm the settings of the sequence by selecting from the data dictionary </a:t>
            </a:r>
            <a:r>
              <a:rPr lang="en-US" altLang="en-US">
                <a:solidFill>
                  <a:srgbClr val="FC0128"/>
                </a:solidFill>
                <a:latin typeface="Arial" panose="020B0604020202020204" pitchFamily="34" charset="0"/>
              </a:rPr>
              <a:t>USER_SEQUENCES </a:t>
            </a:r>
            <a:r>
              <a:rPr lang="en-US" altLang="en-US">
                <a:latin typeface="Arial" panose="020B0604020202020204" pitchFamily="34" charset="0"/>
              </a:rPr>
              <a:t>table. </a:t>
            </a:r>
          </a:p>
          <a:p>
            <a:pPr lvl="1"/>
            <a:endParaRPr lang="en-US" altLang="en-US" sz="400">
              <a:latin typeface="Arial" panose="020B0604020202020204" pitchFamily="34" charset="0"/>
            </a:endParaRPr>
          </a:p>
          <a:p>
            <a:pPr lvl="1"/>
            <a:r>
              <a:rPr lang="en-US" altLang="en-US">
                <a:latin typeface="Arial" panose="020B0604020202020204" pitchFamily="34" charset="0"/>
              </a:rPr>
              <a:t>  </a:t>
            </a:r>
            <a:r>
              <a:rPr lang="en-US" altLang="en-US">
                <a:latin typeface="Courier New" panose="02070309020205020404" pitchFamily="49" charset="0"/>
              </a:rPr>
              <a:t>SEQUENCE_NAME    MIN_VALUE MAX_VALUE INCREMENT_BY LAST_NUMBER</a:t>
            </a:r>
            <a:endParaRPr lang="en-US" altLang="en-US">
              <a:latin typeface="Arial" panose="020B0604020202020204" pitchFamily="34" charset="0"/>
            </a:endParaRPr>
          </a:p>
          <a:p>
            <a:r>
              <a:rPr lang="en-US" altLang="en-US" b="1">
                <a:latin typeface="Courier New" panose="02070309020205020404" pitchFamily="49" charset="0"/>
              </a:rPr>
              <a:t>  -------------- ----------- --------- ------------ -----------</a:t>
            </a:r>
          </a:p>
          <a:p>
            <a:r>
              <a:rPr lang="en-US" altLang="en-US" b="1">
                <a:latin typeface="Courier New" panose="02070309020205020404" pitchFamily="49" charset="0"/>
              </a:rPr>
              <a:t>  CUSTID                   1 1.000E+27            1         109</a:t>
            </a:r>
          </a:p>
          <a:p>
            <a:r>
              <a:rPr lang="en-US" altLang="en-US" b="1">
                <a:latin typeface="Courier New" panose="02070309020205020404" pitchFamily="49" charset="0"/>
              </a:rPr>
              <a:t>  DEPT_DEPTNO              1       100            1          91</a:t>
            </a:r>
          </a:p>
          <a:p>
            <a:r>
              <a:rPr lang="en-US" altLang="en-US" b="1">
                <a:latin typeface="Courier New" panose="02070309020205020404" pitchFamily="49" charset="0"/>
              </a:rPr>
              <a:t>  ORDID                    1 1.000E+27            1         622</a:t>
            </a:r>
          </a:p>
          <a:p>
            <a:r>
              <a:rPr lang="en-US" altLang="en-US" b="1">
                <a:latin typeface="Courier New" panose="02070309020205020404" pitchFamily="49" charset="0"/>
              </a:rPr>
              <a:t>  PRODID                   1 1.000E+27            1      200381</a:t>
            </a:r>
          </a:p>
          <a:p>
            <a:endParaRPr lang="en-US" altLang="en-US" b="1">
              <a:latin typeface="Courier New" panose="02070309020205020404" pitchFamily="49" charset="0"/>
            </a:endParaRPr>
          </a:p>
          <a:p>
            <a:endParaRPr lang="en-US" altLang="en-US" b="1">
              <a:latin typeface="Courier New" panose="02070309020205020404" pitchFamily="49" charset="0"/>
            </a:endParaRPr>
          </a:p>
          <a:p>
            <a:endParaRPr lang="en-US" altLang="en-US">
              <a:solidFill>
                <a:schemeClr val="accent2"/>
              </a:solidFill>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l13dd.sql</a:t>
            </a:r>
          </a:p>
          <a:p>
            <a:pPr lvl="1"/>
            <a:r>
              <a:rPr lang="en-US" altLang="en-US">
                <a:solidFill>
                  <a:schemeClr val="accent2"/>
                </a:solidFill>
                <a:latin typeface="Arial" panose="020B0604020202020204" pitchFamily="34" charset="0"/>
              </a:rPr>
              <a:t>Purpose: To illustrate the USER_SEQUENCES data dictionary view and its contents.</a:t>
            </a:r>
          </a:p>
        </p:txBody>
      </p:sp>
      <p:sp>
        <p:nvSpPr>
          <p:cNvPr id="19460" name="Rectangle 4">
            <a:extLst>
              <a:ext uri="{FF2B5EF4-FFF2-40B4-BE49-F238E27FC236}">
                <a16:creationId xmlns:a16="http://schemas.microsoft.com/office/drawing/2014/main" id="{162A971B-A0E7-2146-534B-DDC1C160A450}"/>
              </a:ext>
            </a:extLst>
          </p:cNvPr>
          <p:cNvSpPr>
            <a:spLocks noChangeArrowheads="1"/>
          </p:cNvSpPr>
          <p:nvPr/>
        </p:nvSpPr>
        <p:spPr bwMode="auto">
          <a:xfrm>
            <a:off x="604838" y="5913438"/>
            <a:ext cx="5568950" cy="13985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17B0762-E3EE-8A96-152D-221063E59D6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Using a Sequence</a:t>
            </a:r>
          </a:p>
          <a:p>
            <a:pPr marL="114300" lvl="1" defTabSz="401638"/>
            <a:r>
              <a:rPr lang="en-US" altLang="en-US">
                <a:latin typeface="Arial" panose="020B0604020202020204" pitchFamily="34" charset="0"/>
              </a:rPr>
              <a:t>Once you create your sequence, you can use the sequence to generate sequential numbers for use in your tables. Reference the sequence values by using the NEXTVAL and CURRVAL pseudocolumns.</a:t>
            </a:r>
          </a:p>
          <a:p>
            <a:pPr defTabSz="401638"/>
            <a:r>
              <a:rPr lang="en-US" altLang="en-US">
                <a:latin typeface="Arial" panose="020B0604020202020204" pitchFamily="34" charset="0"/>
              </a:rPr>
              <a:t>NEXTVAL and CURRVAL Pseudocolumns</a:t>
            </a:r>
          </a:p>
          <a:p>
            <a:pPr marL="114300" lvl="1" defTabSz="401638"/>
            <a:r>
              <a:rPr lang="en-US" altLang="en-US">
                <a:latin typeface="Arial" panose="020B0604020202020204" pitchFamily="34" charset="0"/>
              </a:rPr>
              <a:t>The </a:t>
            </a:r>
            <a:r>
              <a:rPr lang="en-US" altLang="en-US">
                <a:solidFill>
                  <a:srgbClr val="FC0128"/>
                </a:solidFill>
                <a:latin typeface="Arial" panose="020B0604020202020204" pitchFamily="34" charset="0"/>
              </a:rPr>
              <a:t>NEXTVAL </a:t>
            </a:r>
            <a:r>
              <a:rPr lang="en-US" altLang="en-US">
                <a:latin typeface="Arial" panose="020B0604020202020204" pitchFamily="34" charset="0"/>
              </a:rPr>
              <a:t>pseudocolumn is used to extract successive sequence numbers from a specified sequence. You must qualify NEXTVAL with the sequence name. When you reference </a:t>
            </a:r>
            <a:r>
              <a:rPr lang="en-US" altLang="en-US" i="1">
                <a:latin typeface="Arial" panose="020B0604020202020204" pitchFamily="34" charset="0"/>
              </a:rPr>
              <a:t>sequence</a:t>
            </a:r>
            <a:r>
              <a:rPr lang="en-US" altLang="en-US">
                <a:latin typeface="Arial" panose="020B0604020202020204" pitchFamily="34" charset="0"/>
              </a:rPr>
              <a:t>.NEXTVAL, a new sequence number is generated and the current sequence number is placed in CURRVAL.</a:t>
            </a:r>
          </a:p>
          <a:p>
            <a:pPr marL="114300" lvl="1" defTabSz="401638"/>
            <a:r>
              <a:rPr lang="en-US" altLang="en-US">
                <a:latin typeface="Arial" panose="020B0604020202020204" pitchFamily="34" charset="0"/>
              </a:rPr>
              <a:t>The </a:t>
            </a:r>
            <a:r>
              <a:rPr lang="en-US" altLang="en-US">
                <a:solidFill>
                  <a:srgbClr val="FC0128"/>
                </a:solidFill>
                <a:latin typeface="Arial" panose="020B0604020202020204" pitchFamily="34" charset="0"/>
              </a:rPr>
              <a:t>CURRVAL </a:t>
            </a:r>
            <a:r>
              <a:rPr lang="en-US" altLang="en-US">
                <a:latin typeface="Arial" panose="020B0604020202020204" pitchFamily="34" charset="0"/>
              </a:rPr>
              <a:t>pseudocolumn is used to refer to a sequence number that the current user has just generated. NEXTVAL must be used to generate a sequence number in the current user’s session before CURRVAL can be referenced. You must qualify CURRVAL with the sequence name. When </a:t>
            </a:r>
            <a:r>
              <a:rPr lang="en-US" altLang="en-US" i="1">
                <a:latin typeface="Arial" panose="020B0604020202020204" pitchFamily="34" charset="0"/>
              </a:rPr>
              <a:t>sequence</a:t>
            </a:r>
            <a:r>
              <a:rPr lang="en-US" altLang="en-US">
                <a:latin typeface="Arial" panose="020B0604020202020204" pitchFamily="34" charset="0"/>
              </a:rPr>
              <a:t>.CURRVAL is referenced, the last value returned to that user’s process is displayed.</a:t>
            </a:r>
          </a:p>
        </p:txBody>
      </p:sp>
      <p:sp>
        <p:nvSpPr>
          <p:cNvPr id="21507" name="Rectangle 3">
            <a:extLst>
              <a:ext uri="{FF2B5EF4-FFF2-40B4-BE49-F238E27FC236}">
                <a16:creationId xmlns:a16="http://schemas.microsoft.com/office/drawing/2014/main" id="{27D6C553-6777-53BE-BD3D-4021206D230D}"/>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056AE74-60FD-47D8-F924-FA23FB597792}"/>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23555" name="Rectangle 3">
            <a:extLst>
              <a:ext uri="{FF2B5EF4-FFF2-40B4-BE49-F238E27FC236}">
                <a16:creationId xmlns:a16="http://schemas.microsoft.com/office/drawing/2014/main" id="{5C239072-751C-9026-D394-08EF63DAFDAF}"/>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Using a Sequence</a:t>
            </a:r>
          </a:p>
          <a:p>
            <a:pPr marL="114300" lvl="1" defTabSz="401638"/>
            <a:r>
              <a:rPr lang="en-US" altLang="en-US">
                <a:latin typeface="Arial" panose="020B0604020202020204" pitchFamily="34" charset="0"/>
              </a:rPr>
              <a:t>The example on the slide inserts a new department in the DEPT table. It uses the DEPT_DEPTNO sequence for generating a new department number. </a:t>
            </a:r>
          </a:p>
          <a:p>
            <a:pPr marL="114300" lvl="1" defTabSz="401638"/>
            <a:r>
              <a:rPr lang="en-US" altLang="en-US">
                <a:latin typeface="Arial" panose="020B0604020202020204" pitchFamily="34" charset="0"/>
              </a:rPr>
              <a:t>You can view the current value of the sequence:</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r>
              <a:rPr lang="en-US" altLang="en-US">
                <a:latin typeface="Arial" panose="020B0604020202020204" pitchFamily="34" charset="0"/>
              </a:rPr>
              <a:t>Suppose now you want to hire employees to staff the new department. The INSERT statement that can be executed repeatedly for all the new employees can include the following code:</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r>
              <a:rPr lang="en-US" altLang="en-US" b="1">
                <a:latin typeface="Arial" panose="020B0604020202020204" pitchFamily="34" charset="0"/>
              </a:rPr>
              <a:t>Note:</a:t>
            </a:r>
            <a:r>
              <a:rPr lang="en-US" altLang="en-US">
                <a:latin typeface="Arial" panose="020B0604020202020204" pitchFamily="34" charset="0"/>
              </a:rPr>
              <a:t> The above example assumes that a sequence EMP_EMPNO has already been created for generating a new employee number.</a:t>
            </a:r>
          </a:p>
        </p:txBody>
      </p:sp>
      <p:sp>
        <p:nvSpPr>
          <p:cNvPr id="23556" name="Rectangle 4">
            <a:extLst>
              <a:ext uri="{FF2B5EF4-FFF2-40B4-BE49-F238E27FC236}">
                <a16:creationId xmlns:a16="http://schemas.microsoft.com/office/drawing/2014/main" id="{0675B30A-21A2-942C-B35E-1CC38677AA8A}"/>
              </a:ext>
            </a:extLst>
          </p:cNvPr>
          <p:cNvSpPr>
            <a:spLocks noChangeArrowheads="1"/>
          </p:cNvSpPr>
          <p:nvPr/>
        </p:nvSpPr>
        <p:spPr bwMode="auto">
          <a:xfrm>
            <a:off x="595313" y="5786438"/>
            <a:ext cx="5603875" cy="4968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3557" name="Rectangle 5">
            <a:extLst>
              <a:ext uri="{FF2B5EF4-FFF2-40B4-BE49-F238E27FC236}">
                <a16:creationId xmlns:a16="http://schemas.microsoft.com/office/drawing/2014/main" id="{A9B41906-1FA9-709D-0801-16EFD218DA47}"/>
              </a:ext>
            </a:extLst>
          </p:cNvPr>
          <p:cNvSpPr>
            <a:spLocks noChangeArrowheads="1"/>
          </p:cNvSpPr>
          <p:nvPr/>
        </p:nvSpPr>
        <p:spPr bwMode="auto">
          <a:xfrm>
            <a:off x="641350" y="5811838"/>
            <a:ext cx="29654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664" tIns="45028" rIns="91664" bIns="45028">
            <a:spAutoFit/>
          </a:bodyPr>
          <a:lstStyle>
            <a:lvl1pPr defTabSz="893763">
              <a:spcBef>
                <a:spcPct val="30000"/>
              </a:spcBef>
              <a:defRPr sz="1200">
                <a:solidFill>
                  <a:schemeClr val="tx1"/>
                </a:solidFill>
                <a:latin typeface="Arial" panose="020B0604020202020204" pitchFamily="34" charset="0"/>
              </a:defRPr>
            </a:lvl1pPr>
            <a:lvl2pPr marL="742950" indent="-285750" defTabSz="893763">
              <a:spcBef>
                <a:spcPct val="30000"/>
              </a:spcBef>
              <a:defRPr sz="1200">
                <a:solidFill>
                  <a:schemeClr val="tx1"/>
                </a:solidFill>
                <a:latin typeface="Arial" panose="020B0604020202020204" pitchFamily="34" charset="0"/>
              </a:defRPr>
            </a:lvl2pPr>
            <a:lvl3pPr marL="1143000" indent="-228600" defTabSz="893763">
              <a:spcBef>
                <a:spcPct val="30000"/>
              </a:spcBef>
              <a:defRPr sz="1200">
                <a:solidFill>
                  <a:schemeClr val="tx1"/>
                </a:solidFill>
                <a:latin typeface="Arial" panose="020B0604020202020204" pitchFamily="34" charset="0"/>
              </a:defRPr>
            </a:lvl3pPr>
            <a:lvl4pPr marL="1600200" indent="-228600" defTabSz="893763">
              <a:spcBef>
                <a:spcPct val="30000"/>
              </a:spcBef>
              <a:defRPr sz="1200">
                <a:solidFill>
                  <a:schemeClr val="tx1"/>
                </a:solidFill>
                <a:latin typeface="Arial" panose="020B0604020202020204" pitchFamily="34" charset="0"/>
              </a:defRPr>
            </a:lvl4pPr>
            <a:lvl5pPr marL="2057400" indent="-228600" defTabSz="893763">
              <a:spcBef>
                <a:spcPct val="30000"/>
              </a:spcBef>
              <a:defRPr sz="1200">
                <a:solidFill>
                  <a:schemeClr val="tx1"/>
                </a:solidFill>
                <a:latin typeface="Arial" panose="020B0604020202020204" pitchFamily="34" charset="0"/>
              </a:defRPr>
            </a:lvl5pPr>
            <a:lvl6pPr marL="2514600" indent="-228600" defTabSz="8937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37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37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3763" eaLnBrk="0" fontAlgn="base" hangingPunct="0">
              <a:spcBef>
                <a:spcPct val="30000"/>
              </a:spcBef>
              <a:spcAft>
                <a:spcPct val="0"/>
              </a:spcAft>
              <a:defRPr sz="1200">
                <a:solidFill>
                  <a:schemeClr val="tx1"/>
                </a:solidFill>
                <a:latin typeface="Arial" panose="020B0604020202020204" pitchFamily="34" charset="0"/>
              </a:defRPr>
            </a:lvl9pPr>
          </a:lstStyle>
          <a:p>
            <a:r>
              <a:rPr lang="en-US" altLang="en-US" sz="1100" b="1">
                <a:latin typeface="Courier New" panose="02070309020205020404" pitchFamily="49" charset="0"/>
              </a:rPr>
              <a:t>SQL&gt; SELECT   dept_deptno.CURRVAL</a:t>
            </a:r>
          </a:p>
          <a:p>
            <a:r>
              <a:rPr lang="en-US" altLang="en-US" sz="1100" b="1">
                <a:latin typeface="Courier New" panose="02070309020205020404" pitchFamily="49" charset="0"/>
              </a:rPr>
              <a:t>  2  FROM     dual;</a:t>
            </a:r>
          </a:p>
        </p:txBody>
      </p:sp>
      <p:sp>
        <p:nvSpPr>
          <p:cNvPr id="23558" name="Rectangle 6">
            <a:extLst>
              <a:ext uri="{FF2B5EF4-FFF2-40B4-BE49-F238E27FC236}">
                <a16:creationId xmlns:a16="http://schemas.microsoft.com/office/drawing/2014/main" id="{065AF63F-F2A8-EF87-F736-E04504AC4C9E}"/>
              </a:ext>
            </a:extLst>
          </p:cNvPr>
          <p:cNvSpPr>
            <a:spLocks noChangeArrowheads="1"/>
          </p:cNvSpPr>
          <p:nvPr/>
        </p:nvSpPr>
        <p:spPr bwMode="auto">
          <a:xfrm>
            <a:off x="608013" y="6448425"/>
            <a:ext cx="5591175" cy="685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3559" name="Rectangle 7">
            <a:extLst>
              <a:ext uri="{FF2B5EF4-FFF2-40B4-BE49-F238E27FC236}">
                <a16:creationId xmlns:a16="http://schemas.microsoft.com/office/drawing/2014/main" id="{BABE90EC-5B53-3558-5EF6-373F36C68509}"/>
              </a:ext>
            </a:extLst>
          </p:cNvPr>
          <p:cNvSpPr>
            <a:spLocks noChangeArrowheads="1"/>
          </p:cNvSpPr>
          <p:nvPr/>
        </p:nvSpPr>
        <p:spPr bwMode="auto">
          <a:xfrm>
            <a:off x="571500" y="6434138"/>
            <a:ext cx="935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664" tIns="45028" rIns="91664" bIns="45028">
            <a:spAutoFit/>
          </a:bodyPr>
          <a:lstStyle>
            <a:lvl1pPr defTabSz="893763">
              <a:spcBef>
                <a:spcPct val="30000"/>
              </a:spcBef>
              <a:tabLst>
                <a:tab pos="758825" algn="r"/>
              </a:tabLst>
              <a:defRPr sz="1200">
                <a:solidFill>
                  <a:schemeClr val="tx1"/>
                </a:solidFill>
                <a:latin typeface="Arial" panose="020B0604020202020204" pitchFamily="34" charset="0"/>
              </a:defRPr>
            </a:lvl1pPr>
            <a:lvl2pPr marL="742950" indent="-285750" defTabSz="893763">
              <a:spcBef>
                <a:spcPct val="30000"/>
              </a:spcBef>
              <a:tabLst>
                <a:tab pos="758825" algn="r"/>
              </a:tabLst>
              <a:defRPr sz="1200">
                <a:solidFill>
                  <a:schemeClr val="tx1"/>
                </a:solidFill>
                <a:latin typeface="Arial" panose="020B0604020202020204" pitchFamily="34" charset="0"/>
              </a:defRPr>
            </a:lvl2pPr>
            <a:lvl3pPr marL="1143000" indent="-228600" defTabSz="893763">
              <a:spcBef>
                <a:spcPct val="30000"/>
              </a:spcBef>
              <a:tabLst>
                <a:tab pos="758825" algn="r"/>
              </a:tabLst>
              <a:defRPr sz="1200">
                <a:solidFill>
                  <a:schemeClr val="tx1"/>
                </a:solidFill>
                <a:latin typeface="Arial" panose="020B0604020202020204" pitchFamily="34" charset="0"/>
              </a:defRPr>
            </a:lvl3pPr>
            <a:lvl4pPr marL="1600200" indent="-228600" defTabSz="893763">
              <a:spcBef>
                <a:spcPct val="30000"/>
              </a:spcBef>
              <a:tabLst>
                <a:tab pos="758825" algn="r"/>
              </a:tabLst>
              <a:defRPr sz="1200">
                <a:solidFill>
                  <a:schemeClr val="tx1"/>
                </a:solidFill>
                <a:latin typeface="Arial" panose="020B0604020202020204" pitchFamily="34" charset="0"/>
              </a:defRPr>
            </a:lvl4pPr>
            <a:lvl5pPr marL="2057400" indent="-228600" defTabSz="893763">
              <a:spcBef>
                <a:spcPct val="30000"/>
              </a:spcBef>
              <a:tabLst>
                <a:tab pos="758825" algn="r"/>
              </a:tabLst>
              <a:defRPr sz="1200">
                <a:solidFill>
                  <a:schemeClr val="tx1"/>
                </a:solidFill>
                <a:latin typeface="Arial" panose="020B0604020202020204" pitchFamily="34" charset="0"/>
              </a:defRPr>
            </a:lvl5pPr>
            <a:lvl6pPr marL="2514600" indent="-228600" defTabSz="893763" eaLnBrk="0" fontAlgn="base" hangingPunct="0">
              <a:spcBef>
                <a:spcPct val="30000"/>
              </a:spcBef>
              <a:spcAft>
                <a:spcPct val="0"/>
              </a:spcAft>
              <a:tabLst>
                <a:tab pos="758825" algn="r"/>
              </a:tabLst>
              <a:defRPr sz="1200">
                <a:solidFill>
                  <a:schemeClr val="tx1"/>
                </a:solidFill>
                <a:latin typeface="Arial" panose="020B0604020202020204" pitchFamily="34" charset="0"/>
              </a:defRPr>
            </a:lvl6pPr>
            <a:lvl7pPr marL="2971800" indent="-228600" defTabSz="893763" eaLnBrk="0" fontAlgn="base" hangingPunct="0">
              <a:spcBef>
                <a:spcPct val="30000"/>
              </a:spcBef>
              <a:spcAft>
                <a:spcPct val="0"/>
              </a:spcAft>
              <a:tabLst>
                <a:tab pos="758825" algn="r"/>
              </a:tabLst>
              <a:defRPr sz="1200">
                <a:solidFill>
                  <a:schemeClr val="tx1"/>
                </a:solidFill>
                <a:latin typeface="Arial" panose="020B0604020202020204" pitchFamily="34" charset="0"/>
              </a:defRPr>
            </a:lvl7pPr>
            <a:lvl8pPr marL="3429000" indent="-228600" defTabSz="893763" eaLnBrk="0" fontAlgn="base" hangingPunct="0">
              <a:spcBef>
                <a:spcPct val="30000"/>
              </a:spcBef>
              <a:spcAft>
                <a:spcPct val="0"/>
              </a:spcAft>
              <a:tabLst>
                <a:tab pos="758825" algn="r"/>
              </a:tabLst>
              <a:defRPr sz="1200">
                <a:solidFill>
                  <a:schemeClr val="tx1"/>
                </a:solidFill>
                <a:latin typeface="Arial" panose="020B0604020202020204" pitchFamily="34" charset="0"/>
              </a:defRPr>
            </a:lvl8pPr>
            <a:lvl9pPr marL="3886200" indent="-228600" defTabSz="893763" eaLnBrk="0" fontAlgn="base" hangingPunct="0">
              <a:spcBef>
                <a:spcPct val="30000"/>
              </a:spcBef>
              <a:spcAft>
                <a:spcPct val="0"/>
              </a:spcAft>
              <a:tabLst>
                <a:tab pos="758825" algn="r"/>
              </a:tabLst>
              <a:defRPr sz="1200">
                <a:solidFill>
                  <a:schemeClr val="tx1"/>
                </a:solidFill>
                <a:latin typeface="Arial" panose="020B0604020202020204" pitchFamily="34" charset="0"/>
              </a:defRPr>
            </a:lvl9pPr>
          </a:lstStyle>
          <a:p>
            <a:r>
              <a:rPr lang="en-US" altLang="en-US" sz="1100">
                <a:solidFill>
                  <a:schemeClr val="bg2"/>
                </a:solidFill>
                <a:latin typeface="Courier New" panose="02070309020205020404" pitchFamily="49" charset="0"/>
              </a:rPr>
              <a:t>	</a:t>
            </a:r>
            <a:r>
              <a:rPr lang="en-US" altLang="en-US" sz="1100">
                <a:latin typeface="Courier New" panose="02070309020205020404" pitchFamily="49" charset="0"/>
              </a:rPr>
              <a:t>CURRVAL</a:t>
            </a:r>
          </a:p>
          <a:p>
            <a:r>
              <a:rPr lang="en-US" altLang="en-US" sz="1100">
                <a:latin typeface="Courier New" panose="02070309020205020404" pitchFamily="49" charset="0"/>
              </a:rPr>
              <a:t>	-------</a:t>
            </a:r>
          </a:p>
          <a:p>
            <a:r>
              <a:rPr lang="en-US" altLang="en-US" sz="1100">
                <a:latin typeface="Courier New" panose="02070309020205020404" pitchFamily="49" charset="0"/>
              </a:rPr>
              <a:t>	91</a:t>
            </a:r>
          </a:p>
        </p:txBody>
      </p:sp>
      <p:sp>
        <p:nvSpPr>
          <p:cNvPr id="23560" name="Rectangle 8">
            <a:extLst>
              <a:ext uri="{FF2B5EF4-FFF2-40B4-BE49-F238E27FC236}">
                <a16:creationId xmlns:a16="http://schemas.microsoft.com/office/drawing/2014/main" id="{2F680A90-9392-7C6D-3CDE-7873FD158DEB}"/>
              </a:ext>
            </a:extLst>
          </p:cNvPr>
          <p:cNvSpPr>
            <a:spLocks noChangeArrowheads="1"/>
          </p:cNvSpPr>
          <p:nvPr/>
        </p:nvSpPr>
        <p:spPr bwMode="auto">
          <a:xfrm>
            <a:off x="620713" y="7702550"/>
            <a:ext cx="5578475" cy="5461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3561" name="Rectangle 9">
            <a:extLst>
              <a:ext uri="{FF2B5EF4-FFF2-40B4-BE49-F238E27FC236}">
                <a16:creationId xmlns:a16="http://schemas.microsoft.com/office/drawing/2014/main" id="{4A294302-1455-7125-13A9-5F5600129223}"/>
              </a:ext>
            </a:extLst>
          </p:cNvPr>
          <p:cNvSpPr>
            <a:spLocks noChangeArrowheads="1"/>
          </p:cNvSpPr>
          <p:nvPr/>
        </p:nvSpPr>
        <p:spPr bwMode="auto">
          <a:xfrm>
            <a:off x="661988" y="7696200"/>
            <a:ext cx="507365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664" tIns="45028" rIns="91664" bIns="45028">
            <a:spAutoFit/>
          </a:bodyPr>
          <a:lstStyle>
            <a:lvl1pPr defTabSz="881063">
              <a:spcBef>
                <a:spcPct val="30000"/>
              </a:spcBef>
              <a:defRPr sz="1200">
                <a:solidFill>
                  <a:schemeClr val="tx1"/>
                </a:solidFill>
                <a:latin typeface="Arial" panose="020B0604020202020204" pitchFamily="34" charset="0"/>
              </a:defRPr>
            </a:lvl1pPr>
            <a:lvl2pPr marL="742950" indent="-2857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r>
              <a:rPr lang="en-US" altLang="en-US" sz="1100" b="1">
                <a:latin typeface="Courier New" panose="02070309020205020404" pitchFamily="49" charset="0"/>
              </a:rPr>
              <a:t>SQL&gt; INSERT INTO emp ...</a:t>
            </a:r>
          </a:p>
          <a:p>
            <a:r>
              <a:rPr lang="en-US" altLang="en-US" sz="1100" b="1">
                <a:latin typeface="Courier New" panose="02070309020205020404" pitchFamily="49" charset="0"/>
              </a:rPr>
              <a:t>  2  VALUES (emp_empno.NEXTVAL, dept_deptno.CURRVAL,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1F312DE-F256-80BD-EE20-FDCD26A47187}"/>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25603" name="Rectangle 3">
            <a:extLst>
              <a:ext uri="{FF2B5EF4-FFF2-40B4-BE49-F238E27FC236}">
                <a16:creationId xmlns:a16="http://schemas.microsoft.com/office/drawing/2014/main" id="{E8D4B6C2-3FF7-CD95-8764-536C63D444D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Altering a Sequence</a:t>
            </a:r>
          </a:p>
          <a:p>
            <a:pPr marL="114300" lvl="1" defTabSz="401638"/>
            <a:r>
              <a:rPr lang="en-US" altLang="en-US">
                <a:latin typeface="Arial" panose="020B0604020202020204" pitchFamily="34" charset="0"/>
              </a:rPr>
              <a:t>If you reach the MAXVALUE limit for your sequence, no additional values from the sequence will be allocated and you will receive an error indicating that the sequence exceeds the MAXVALUE. To continue to use the sequence, you can modify it by using the </a:t>
            </a:r>
            <a:r>
              <a:rPr lang="en-US" altLang="en-US">
                <a:solidFill>
                  <a:srgbClr val="FC0128"/>
                </a:solidFill>
                <a:latin typeface="Arial" panose="020B0604020202020204" pitchFamily="34" charset="0"/>
              </a:rPr>
              <a:t>ALTER SEQUENCE </a:t>
            </a:r>
            <a:r>
              <a:rPr lang="en-US" altLang="en-US">
                <a:latin typeface="Arial" panose="020B0604020202020204" pitchFamily="34" charset="0"/>
              </a:rPr>
              <a:t>statement.</a:t>
            </a:r>
          </a:p>
          <a:p>
            <a:pPr marL="114300" lvl="1" defTabSz="401638"/>
            <a:r>
              <a:rPr lang="en-US" altLang="en-US" b="1">
                <a:latin typeface="Arial" panose="020B0604020202020204" pitchFamily="34" charset="0"/>
              </a:rPr>
              <a:t>Syntax</a:t>
            </a:r>
          </a:p>
          <a:p>
            <a:pPr marL="114300" lvl="1" defTabSz="401638">
              <a:spcBef>
                <a:spcPct val="65000"/>
              </a:spcBef>
            </a:pPr>
            <a:r>
              <a:rPr lang="en-US" altLang="en-US">
                <a:latin typeface="Courier New" panose="02070309020205020404" pitchFamily="49" charset="0"/>
              </a:rPr>
              <a:t> ALTER  SEQUENCE	</a:t>
            </a:r>
            <a:r>
              <a:rPr lang="en-US" altLang="en-US" i="1">
                <a:latin typeface="Courier New" panose="02070309020205020404" pitchFamily="49" charset="0"/>
              </a:rPr>
              <a:t>sequence</a:t>
            </a:r>
            <a:endParaRPr lang="en-US" altLang="en-US">
              <a:latin typeface="Courier New" panose="02070309020205020404" pitchFamily="49" charset="0"/>
            </a:endParaRPr>
          </a:p>
          <a:p>
            <a:pPr marL="114300" lvl="1" defTabSz="401638">
              <a:spcBef>
                <a:spcPct val="0"/>
              </a:spcBef>
            </a:pPr>
            <a:r>
              <a:rPr lang="en-US" altLang="en-US">
                <a:latin typeface="Courier New" panose="02070309020205020404" pitchFamily="49" charset="0"/>
              </a:rPr>
              <a:t>        [INCREMENT BY </a:t>
            </a:r>
            <a:r>
              <a:rPr lang="en-US" altLang="en-US" i="1">
                <a:latin typeface="Courier New" panose="02070309020205020404" pitchFamily="49" charset="0"/>
              </a:rPr>
              <a:t>n</a:t>
            </a:r>
            <a:r>
              <a:rPr lang="en-US" altLang="en-US">
                <a:latin typeface="Courier New" panose="02070309020205020404" pitchFamily="49" charset="0"/>
              </a:rPr>
              <a:t>]</a:t>
            </a:r>
          </a:p>
          <a:p>
            <a:pPr marL="114300" lvl="1" defTabSz="401638">
              <a:spcBef>
                <a:spcPct val="0"/>
              </a:spcBef>
            </a:pPr>
            <a:r>
              <a:rPr lang="en-US" altLang="en-US">
                <a:latin typeface="Courier New" panose="02070309020205020404" pitchFamily="49" charset="0"/>
              </a:rPr>
              <a:t>        [{MAXVALUE </a:t>
            </a:r>
            <a:r>
              <a:rPr lang="en-US" altLang="en-US" i="1">
                <a:latin typeface="Courier New" panose="02070309020205020404" pitchFamily="49" charset="0"/>
              </a:rPr>
              <a:t>n</a:t>
            </a:r>
            <a:r>
              <a:rPr lang="en-US" altLang="en-US">
                <a:latin typeface="Courier New" panose="02070309020205020404" pitchFamily="49" charset="0"/>
              </a:rPr>
              <a:t> | NOMAXVALUE}]</a:t>
            </a:r>
          </a:p>
          <a:p>
            <a:pPr marL="114300" lvl="1" defTabSz="401638">
              <a:spcBef>
                <a:spcPct val="0"/>
              </a:spcBef>
            </a:pPr>
            <a:r>
              <a:rPr lang="en-US" altLang="en-US">
                <a:latin typeface="Courier New" panose="02070309020205020404" pitchFamily="49" charset="0"/>
              </a:rPr>
              <a:t>        [{MINVALUE </a:t>
            </a:r>
            <a:r>
              <a:rPr lang="en-US" altLang="en-US" i="1">
                <a:latin typeface="Courier New" panose="02070309020205020404" pitchFamily="49" charset="0"/>
              </a:rPr>
              <a:t>n</a:t>
            </a:r>
            <a:r>
              <a:rPr lang="en-US" altLang="en-US">
                <a:latin typeface="Courier New" panose="02070309020205020404" pitchFamily="49" charset="0"/>
              </a:rPr>
              <a:t> | NOMINVALUE}]</a:t>
            </a:r>
          </a:p>
          <a:p>
            <a:pPr marL="114300" lvl="1" defTabSz="401638">
              <a:spcBef>
                <a:spcPct val="0"/>
              </a:spcBef>
            </a:pPr>
            <a:r>
              <a:rPr lang="en-US" altLang="en-US">
                <a:latin typeface="Courier New" panose="02070309020205020404" pitchFamily="49" charset="0"/>
              </a:rPr>
              <a:t>        [{CYCLE | NOCYCLE}]</a:t>
            </a:r>
          </a:p>
          <a:p>
            <a:pPr marL="114300" lvl="1" defTabSz="401638">
              <a:spcBef>
                <a:spcPct val="0"/>
              </a:spcBef>
            </a:pPr>
            <a:r>
              <a:rPr lang="en-US" altLang="en-US">
                <a:latin typeface="Courier New" panose="02070309020205020404" pitchFamily="49" charset="0"/>
              </a:rPr>
              <a:t>        [{CACHE </a:t>
            </a:r>
            <a:r>
              <a:rPr lang="en-US" altLang="en-US" i="1">
                <a:latin typeface="Courier New" panose="02070309020205020404" pitchFamily="49" charset="0"/>
              </a:rPr>
              <a:t>n</a:t>
            </a:r>
            <a:r>
              <a:rPr lang="en-US" altLang="en-US">
                <a:latin typeface="Courier New" panose="02070309020205020404" pitchFamily="49" charset="0"/>
              </a:rPr>
              <a:t> | NOCACHE}];</a:t>
            </a:r>
            <a:endParaRPr lang="en-US" altLang="en-US">
              <a:latin typeface="Arial" panose="020B0604020202020204" pitchFamily="34" charset="0"/>
            </a:endParaRPr>
          </a:p>
          <a:p>
            <a:pPr marL="114300" lvl="1" defTabSz="401638"/>
            <a:endParaRPr lang="en-US" altLang="en-US" sz="400" b="1">
              <a:latin typeface="Arial" panose="020B0604020202020204" pitchFamily="34" charset="0"/>
            </a:endParaRPr>
          </a:p>
          <a:p>
            <a:pPr marL="114300" lvl="1" defTabSz="401638"/>
            <a:r>
              <a:rPr lang="en-US" altLang="en-US" b="1">
                <a:latin typeface="Arial" panose="020B0604020202020204" pitchFamily="34" charset="0"/>
              </a:rPr>
              <a:t>where:		</a:t>
            </a:r>
            <a:r>
              <a:rPr lang="en-US" altLang="en-US" i="1">
                <a:latin typeface="Arial" panose="020B0604020202020204" pitchFamily="34" charset="0"/>
              </a:rPr>
              <a:t>sequence</a:t>
            </a:r>
            <a:r>
              <a:rPr lang="en-US" altLang="en-US">
                <a:latin typeface="Arial" panose="020B0604020202020204" pitchFamily="34" charset="0"/>
              </a:rPr>
              <a:t>		is the name of the sequence generator</a:t>
            </a:r>
          </a:p>
          <a:p>
            <a:pPr marL="114300" lvl="1" defTabSz="40163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“ALTER SEQUENCE.”</a:t>
            </a:r>
          </a:p>
          <a:p>
            <a:pPr marL="114300" lvl="1" defTabSz="401638"/>
            <a:endParaRPr lang="en-US" altLang="en-US">
              <a:latin typeface="Arial" panose="020B0604020202020204" pitchFamily="34" charset="0"/>
            </a:endParaRPr>
          </a:p>
          <a:p>
            <a:pPr defTabSz="401638"/>
            <a:endParaRPr lang="en-US" altLang="en-US" b="1">
              <a:latin typeface="Times New Roman" panose="02020603050405020304" pitchFamily="18" charset="0"/>
            </a:endParaRPr>
          </a:p>
        </p:txBody>
      </p:sp>
      <p:grpSp>
        <p:nvGrpSpPr>
          <p:cNvPr id="25604" name="Group 4">
            <a:extLst>
              <a:ext uri="{FF2B5EF4-FFF2-40B4-BE49-F238E27FC236}">
                <a16:creationId xmlns:a16="http://schemas.microsoft.com/office/drawing/2014/main" id="{5303394C-076B-414F-0E60-59A9C7997DF5}"/>
              </a:ext>
            </a:extLst>
          </p:cNvPr>
          <p:cNvGrpSpPr>
            <a:grpSpLocks/>
          </p:cNvGrpSpPr>
          <p:nvPr/>
        </p:nvGrpSpPr>
        <p:grpSpPr bwMode="auto">
          <a:xfrm>
            <a:off x="204788" y="7348538"/>
            <a:ext cx="300037" cy="295275"/>
            <a:chOff x="128" y="4545"/>
            <a:chExt cx="188" cy="183"/>
          </a:xfrm>
        </p:grpSpPr>
        <p:sp>
          <p:nvSpPr>
            <p:cNvPr id="25606" name="Freeform 5">
              <a:extLst>
                <a:ext uri="{FF2B5EF4-FFF2-40B4-BE49-F238E27FC236}">
                  <a16:creationId xmlns:a16="http://schemas.microsoft.com/office/drawing/2014/main" id="{FC779E9A-1FB6-5E3C-B5C8-1D0F97CA6C77}"/>
                </a:ext>
              </a:extLst>
            </p:cNvPr>
            <p:cNvSpPr>
              <a:spLocks/>
            </p:cNvSpPr>
            <p:nvPr/>
          </p:nvSpPr>
          <p:spPr bwMode="auto">
            <a:xfrm>
              <a:off x="128" y="4545"/>
              <a:ext cx="179" cy="176"/>
            </a:xfrm>
            <a:custGeom>
              <a:avLst/>
              <a:gdLst>
                <a:gd name="T0" fmla="*/ 178 w 179"/>
                <a:gd name="T1" fmla="*/ 175 h 176"/>
                <a:gd name="T2" fmla="*/ 178 w 179"/>
                <a:gd name="T3" fmla="*/ 0 h 176"/>
                <a:gd name="T4" fmla="*/ 0 w 179"/>
                <a:gd name="T5" fmla="*/ 0 h 176"/>
                <a:gd name="T6" fmla="*/ 0 w 179"/>
                <a:gd name="T7" fmla="*/ 175 h 176"/>
                <a:gd name="T8" fmla="*/ 178 w 179"/>
                <a:gd name="T9" fmla="*/ 175 h 176"/>
                <a:gd name="T10" fmla="*/ 0 60000 65536"/>
                <a:gd name="T11" fmla="*/ 0 60000 65536"/>
                <a:gd name="T12" fmla="*/ 0 60000 65536"/>
                <a:gd name="T13" fmla="*/ 0 60000 65536"/>
                <a:gd name="T14" fmla="*/ 0 60000 65536"/>
                <a:gd name="T15" fmla="*/ 0 w 179"/>
                <a:gd name="T16" fmla="*/ 0 h 176"/>
                <a:gd name="T17" fmla="*/ 179 w 179"/>
                <a:gd name="T18" fmla="*/ 176 h 176"/>
              </a:gdLst>
              <a:ahLst/>
              <a:cxnLst>
                <a:cxn ang="T10">
                  <a:pos x="T0" y="T1"/>
                </a:cxn>
                <a:cxn ang="T11">
                  <a:pos x="T2" y="T3"/>
                </a:cxn>
                <a:cxn ang="T12">
                  <a:pos x="T4" y="T5"/>
                </a:cxn>
                <a:cxn ang="T13">
                  <a:pos x="T6" y="T7"/>
                </a:cxn>
                <a:cxn ang="T14">
                  <a:pos x="T8" y="T9"/>
                </a:cxn>
              </a:cxnLst>
              <a:rect l="T15" t="T16" r="T17" b="T18"/>
              <a:pathLst>
                <a:path w="179" h="176">
                  <a:moveTo>
                    <a:pt x="178" y="175"/>
                  </a:moveTo>
                  <a:lnTo>
                    <a:pt x="178" y="0"/>
                  </a:lnTo>
                  <a:lnTo>
                    <a:pt x="0" y="0"/>
                  </a:lnTo>
                  <a:lnTo>
                    <a:pt x="0" y="175"/>
                  </a:lnTo>
                  <a:lnTo>
                    <a:pt x="178"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07" name="Freeform 6">
              <a:extLst>
                <a:ext uri="{FF2B5EF4-FFF2-40B4-BE49-F238E27FC236}">
                  <a16:creationId xmlns:a16="http://schemas.microsoft.com/office/drawing/2014/main" id="{2E7D6048-95F7-D772-8149-F6A1C593275E}"/>
                </a:ext>
              </a:extLst>
            </p:cNvPr>
            <p:cNvSpPr>
              <a:spLocks/>
            </p:cNvSpPr>
            <p:nvPr/>
          </p:nvSpPr>
          <p:spPr bwMode="auto">
            <a:xfrm>
              <a:off x="190" y="4611"/>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08" name="Freeform 7">
              <a:extLst>
                <a:ext uri="{FF2B5EF4-FFF2-40B4-BE49-F238E27FC236}">
                  <a16:creationId xmlns:a16="http://schemas.microsoft.com/office/drawing/2014/main" id="{6D88E787-2E1E-9840-388B-1F4E1D0985AC}"/>
                </a:ext>
              </a:extLst>
            </p:cNvPr>
            <p:cNvSpPr>
              <a:spLocks/>
            </p:cNvSpPr>
            <p:nvPr/>
          </p:nvSpPr>
          <p:spPr bwMode="auto">
            <a:xfrm>
              <a:off x="198" y="4626"/>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09" name="Freeform 8">
              <a:extLst>
                <a:ext uri="{FF2B5EF4-FFF2-40B4-BE49-F238E27FC236}">
                  <a16:creationId xmlns:a16="http://schemas.microsoft.com/office/drawing/2014/main" id="{114D496C-FBE9-135A-8D49-3C64903E1E8E}"/>
                </a:ext>
              </a:extLst>
            </p:cNvPr>
            <p:cNvSpPr>
              <a:spLocks/>
            </p:cNvSpPr>
            <p:nvPr/>
          </p:nvSpPr>
          <p:spPr bwMode="auto">
            <a:xfrm>
              <a:off x="205" y="4643"/>
              <a:ext cx="69" cy="35"/>
            </a:xfrm>
            <a:custGeom>
              <a:avLst/>
              <a:gdLst>
                <a:gd name="T0" fmla="*/ 68 w 69"/>
                <a:gd name="T1" fmla="*/ 6 h 35"/>
                <a:gd name="T2" fmla="*/ 65 w 69"/>
                <a:gd name="T3" fmla="*/ 0 h 35"/>
                <a:gd name="T4" fmla="*/ 0 w 69"/>
                <a:gd name="T5" fmla="*/ 27 h 35"/>
                <a:gd name="T6" fmla="*/ 3 w 69"/>
                <a:gd name="T7" fmla="*/ 34 h 35"/>
                <a:gd name="T8" fmla="*/ 68 w 69"/>
                <a:gd name="T9" fmla="*/ 6 h 35"/>
                <a:gd name="T10" fmla="*/ 0 60000 65536"/>
                <a:gd name="T11" fmla="*/ 0 60000 65536"/>
                <a:gd name="T12" fmla="*/ 0 60000 65536"/>
                <a:gd name="T13" fmla="*/ 0 60000 65536"/>
                <a:gd name="T14" fmla="*/ 0 60000 65536"/>
                <a:gd name="T15" fmla="*/ 0 w 69"/>
                <a:gd name="T16" fmla="*/ 0 h 35"/>
                <a:gd name="T17" fmla="*/ 69 w 69"/>
                <a:gd name="T18" fmla="*/ 35 h 35"/>
              </a:gdLst>
              <a:ahLst/>
              <a:cxnLst>
                <a:cxn ang="T10">
                  <a:pos x="T0" y="T1"/>
                </a:cxn>
                <a:cxn ang="T11">
                  <a:pos x="T2" y="T3"/>
                </a:cxn>
                <a:cxn ang="T12">
                  <a:pos x="T4" y="T5"/>
                </a:cxn>
                <a:cxn ang="T13">
                  <a:pos x="T6" y="T7"/>
                </a:cxn>
                <a:cxn ang="T14">
                  <a:pos x="T8" y="T9"/>
                </a:cxn>
              </a:cxnLst>
              <a:rect l="T15" t="T16" r="T17" b="T18"/>
              <a:pathLst>
                <a:path w="69" h="35">
                  <a:moveTo>
                    <a:pt x="68" y="6"/>
                  </a:moveTo>
                  <a:lnTo>
                    <a:pt x="65" y="0"/>
                  </a:lnTo>
                  <a:lnTo>
                    <a:pt x="0" y="27"/>
                  </a:lnTo>
                  <a:lnTo>
                    <a:pt x="3" y="34"/>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0" name="Freeform 9">
              <a:extLst>
                <a:ext uri="{FF2B5EF4-FFF2-40B4-BE49-F238E27FC236}">
                  <a16:creationId xmlns:a16="http://schemas.microsoft.com/office/drawing/2014/main" id="{CC61E5C7-4172-C65C-2D74-00ECD9857179}"/>
                </a:ext>
              </a:extLst>
            </p:cNvPr>
            <p:cNvSpPr>
              <a:spLocks/>
            </p:cNvSpPr>
            <p:nvPr/>
          </p:nvSpPr>
          <p:spPr bwMode="auto">
            <a:xfrm>
              <a:off x="213" y="4659"/>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 name="T10" fmla="*/ 0 60000 65536"/>
                <a:gd name="T11" fmla="*/ 0 60000 65536"/>
                <a:gd name="T12" fmla="*/ 0 60000 65536"/>
                <a:gd name="T13" fmla="*/ 0 60000 65536"/>
                <a:gd name="T14" fmla="*/ 0 60000 65536"/>
                <a:gd name="T15" fmla="*/ 0 w 70"/>
                <a:gd name="T16" fmla="*/ 0 h 35"/>
                <a:gd name="T17" fmla="*/ 70 w 70"/>
                <a:gd name="T18" fmla="*/ 35 h 35"/>
              </a:gdLst>
              <a:ahLst/>
              <a:cxnLst>
                <a:cxn ang="T10">
                  <a:pos x="T0" y="T1"/>
                </a:cxn>
                <a:cxn ang="T11">
                  <a:pos x="T2" y="T3"/>
                </a:cxn>
                <a:cxn ang="T12">
                  <a:pos x="T4" y="T5"/>
                </a:cxn>
                <a:cxn ang="T13">
                  <a:pos x="T6" y="T7"/>
                </a:cxn>
                <a:cxn ang="T14">
                  <a:pos x="T8" y="T9"/>
                </a:cxn>
              </a:cxnLst>
              <a:rect l="T15" t="T16" r="T17" b="T18"/>
              <a:pathLst>
                <a:path w="70" h="35">
                  <a:moveTo>
                    <a:pt x="69" y="6"/>
                  </a:moveTo>
                  <a:lnTo>
                    <a:pt x="65" y="0"/>
                  </a:lnTo>
                  <a:lnTo>
                    <a:pt x="0" y="27"/>
                  </a:lnTo>
                  <a:lnTo>
                    <a:pt x="3" y="34"/>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1" name="Freeform 10">
              <a:extLst>
                <a:ext uri="{FF2B5EF4-FFF2-40B4-BE49-F238E27FC236}">
                  <a16:creationId xmlns:a16="http://schemas.microsoft.com/office/drawing/2014/main" id="{90219068-B3BF-7C13-E350-B97493C0C5CC}"/>
                </a:ext>
              </a:extLst>
            </p:cNvPr>
            <p:cNvSpPr>
              <a:spLocks/>
            </p:cNvSpPr>
            <p:nvPr/>
          </p:nvSpPr>
          <p:spPr bwMode="auto">
            <a:xfrm>
              <a:off x="221" y="4675"/>
              <a:ext cx="69" cy="38"/>
            </a:xfrm>
            <a:custGeom>
              <a:avLst/>
              <a:gdLst>
                <a:gd name="T0" fmla="*/ 68 w 69"/>
                <a:gd name="T1" fmla="*/ 7 h 38"/>
                <a:gd name="T2" fmla="*/ 65 w 69"/>
                <a:gd name="T3" fmla="*/ 0 h 38"/>
                <a:gd name="T4" fmla="*/ 0 w 69"/>
                <a:gd name="T5" fmla="*/ 29 h 38"/>
                <a:gd name="T6" fmla="*/ 3 w 69"/>
                <a:gd name="T7" fmla="*/ 37 h 38"/>
                <a:gd name="T8" fmla="*/ 68 w 69"/>
                <a:gd name="T9" fmla="*/ 7 h 38"/>
                <a:gd name="T10" fmla="*/ 0 60000 65536"/>
                <a:gd name="T11" fmla="*/ 0 60000 65536"/>
                <a:gd name="T12" fmla="*/ 0 60000 65536"/>
                <a:gd name="T13" fmla="*/ 0 60000 65536"/>
                <a:gd name="T14" fmla="*/ 0 60000 65536"/>
                <a:gd name="T15" fmla="*/ 0 w 69"/>
                <a:gd name="T16" fmla="*/ 0 h 38"/>
                <a:gd name="T17" fmla="*/ 69 w 69"/>
                <a:gd name="T18" fmla="*/ 38 h 38"/>
              </a:gdLst>
              <a:ahLst/>
              <a:cxnLst>
                <a:cxn ang="T10">
                  <a:pos x="T0" y="T1"/>
                </a:cxn>
                <a:cxn ang="T11">
                  <a:pos x="T2" y="T3"/>
                </a:cxn>
                <a:cxn ang="T12">
                  <a:pos x="T4" y="T5"/>
                </a:cxn>
                <a:cxn ang="T13">
                  <a:pos x="T6" y="T7"/>
                </a:cxn>
                <a:cxn ang="T14">
                  <a:pos x="T8" y="T9"/>
                </a:cxn>
              </a:cxnLst>
              <a:rect l="T15" t="T16" r="T17" b="T18"/>
              <a:pathLst>
                <a:path w="69" h="38">
                  <a:moveTo>
                    <a:pt x="68" y="7"/>
                  </a:moveTo>
                  <a:lnTo>
                    <a:pt x="65" y="0"/>
                  </a:lnTo>
                  <a:lnTo>
                    <a:pt x="0" y="29"/>
                  </a:lnTo>
                  <a:lnTo>
                    <a:pt x="3" y="37"/>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2" name="Freeform 11">
              <a:extLst>
                <a:ext uri="{FF2B5EF4-FFF2-40B4-BE49-F238E27FC236}">
                  <a16:creationId xmlns:a16="http://schemas.microsoft.com/office/drawing/2014/main" id="{35ECDD4A-2AB4-87A4-2FD9-02CEBAB12215}"/>
                </a:ext>
              </a:extLst>
            </p:cNvPr>
            <p:cNvSpPr>
              <a:spLocks/>
            </p:cNvSpPr>
            <p:nvPr/>
          </p:nvSpPr>
          <p:spPr bwMode="auto">
            <a:xfrm>
              <a:off x="150" y="4573"/>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3" name="Freeform 12">
              <a:extLst>
                <a:ext uri="{FF2B5EF4-FFF2-40B4-BE49-F238E27FC236}">
                  <a16:creationId xmlns:a16="http://schemas.microsoft.com/office/drawing/2014/main" id="{6894A15C-736B-E154-1F06-F15CF0F45C3A}"/>
                </a:ext>
              </a:extLst>
            </p:cNvPr>
            <p:cNvSpPr>
              <a:spLocks/>
            </p:cNvSpPr>
            <p:nvPr/>
          </p:nvSpPr>
          <p:spPr bwMode="auto">
            <a:xfrm>
              <a:off x="132" y="4562"/>
              <a:ext cx="124" cy="59"/>
            </a:xfrm>
            <a:custGeom>
              <a:avLst/>
              <a:gdLst>
                <a:gd name="T0" fmla="*/ 123 w 124"/>
                <a:gd name="T1" fmla="*/ 7 h 59"/>
                <a:gd name="T2" fmla="*/ 119 w 124"/>
                <a:gd name="T3" fmla="*/ 0 h 59"/>
                <a:gd name="T4" fmla="*/ 0 w 124"/>
                <a:gd name="T5" fmla="*/ 51 h 59"/>
                <a:gd name="T6" fmla="*/ 2 w 124"/>
                <a:gd name="T7" fmla="*/ 58 h 59"/>
                <a:gd name="T8" fmla="*/ 123 w 124"/>
                <a:gd name="T9" fmla="*/ 7 h 59"/>
                <a:gd name="T10" fmla="*/ 0 60000 65536"/>
                <a:gd name="T11" fmla="*/ 0 60000 65536"/>
                <a:gd name="T12" fmla="*/ 0 60000 65536"/>
                <a:gd name="T13" fmla="*/ 0 60000 65536"/>
                <a:gd name="T14" fmla="*/ 0 60000 65536"/>
                <a:gd name="T15" fmla="*/ 0 w 124"/>
                <a:gd name="T16" fmla="*/ 0 h 59"/>
                <a:gd name="T17" fmla="*/ 124 w 124"/>
                <a:gd name="T18" fmla="*/ 59 h 59"/>
              </a:gdLst>
              <a:ahLst/>
              <a:cxnLst>
                <a:cxn ang="T10">
                  <a:pos x="T0" y="T1"/>
                </a:cxn>
                <a:cxn ang="T11">
                  <a:pos x="T2" y="T3"/>
                </a:cxn>
                <a:cxn ang="T12">
                  <a:pos x="T4" y="T5"/>
                </a:cxn>
                <a:cxn ang="T13">
                  <a:pos x="T6" y="T7"/>
                </a:cxn>
                <a:cxn ang="T14">
                  <a:pos x="T8" y="T9"/>
                </a:cxn>
              </a:cxnLst>
              <a:rect l="T15" t="T16" r="T17" b="T18"/>
              <a:pathLst>
                <a:path w="124" h="59">
                  <a:moveTo>
                    <a:pt x="123" y="7"/>
                  </a:moveTo>
                  <a:lnTo>
                    <a:pt x="119" y="0"/>
                  </a:lnTo>
                  <a:lnTo>
                    <a:pt x="0" y="51"/>
                  </a:lnTo>
                  <a:lnTo>
                    <a:pt x="2" y="58"/>
                  </a:lnTo>
                  <a:lnTo>
                    <a:pt x="123"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4" name="Freeform 13">
              <a:extLst>
                <a:ext uri="{FF2B5EF4-FFF2-40B4-BE49-F238E27FC236}">
                  <a16:creationId xmlns:a16="http://schemas.microsoft.com/office/drawing/2014/main" id="{6F2796B3-4C5C-622A-5EAD-11B5ADDED162}"/>
                </a:ext>
              </a:extLst>
            </p:cNvPr>
            <p:cNvSpPr>
              <a:spLocks/>
            </p:cNvSpPr>
            <p:nvPr/>
          </p:nvSpPr>
          <p:spPr bwMode="auto">
            <a:xfrm>
              <a:off x="260" y="4575"/>
              <a:ext cx="56" cy="105"/>
            </a:xfrm>
            <a:custGeom>
              <a:avLst/>
              <a:gdLst>
                <a:gd name="T0" fmla="*/ 47 w 56"/>
                <a:gd name="T1" fmla="*/ 104 h 105"/>
                <a:gd name="T2" fmla="*/ 55 w 56"/>
                <a:gd name="T3" fmla="*/ 101 h 105"/>
                <a:gd name="T4" fmla="*/ 7 w 56"/>
                <a:gd name="T5" fmla="*/ 0 h 105"/>
                <a:gd name="T6" fmla="*/ 0 w 56"/>
                <a:gd name="T7" fmla="*/ 3 h 105"/>
                <a:gd name="T8" fmla="*/ 47 w 56"/>
                <a:gd name="T9" fmla="*/ 104 h 105"/>
                <a:gd name="T10" fmla="*/ 0 60000 65536"/>
                <a:gd name="T11" fmla="*/ 0 60000 65536"/>
                <a:gd name="T12" fmla="*/ 0 60000 65536"/>
                <a:gd name="T13" fmla="*/ 0 60000 65536"/>
                <a:gd name="T14" fmla="*/ 0 60000 65536"/>
                <a:gd name="T15" fmla="*/ 0 w 56"/>
                <a:gd name="T16" fmla="*/ 0 h 105"/>
                <a:gd name="T17" fmla="*/ 56 w 56"/>
                <a:gd name="T18" fmla="*/ 105 h 105"/>
              </a:gdLst>
              <a:ahLst/>
              <a:cxnLst>
                <a:cxn ang="T10">
                  <a:pos x="T0" y="T1"/>
                </a:cxn>
                <a:cxn ang="T11">
                  <a:pos x="T2" y="T3"/>
                </a:cxn>
                <a:cxn ang="T12">
                  <a:pos x="T4" y="T5"/>
                </a:cxn>
                <a:cxn ang="T13">
                  <a:pos x="T6" y="T7"/>
                </a:cxn>
                <a:cxn ang="T14">
                  <a:pos x="T8" y="T9"/>
                </a:cxn>
              </a:cxnLst>
              <a:rect l="T15" t="T16" r="T17" b="T18"/>
              <a:pathLst>
                <a:path w="56" h="105">
                  <a:moveTo>
                    <a:pt x="47" y="104"/>
                  </a:moveTo>
                  <a:lnTo>
                    <a:pt x="55" y="101"/>
                  </a:lnTo>
                  <a:lnTo>
                    <a:pt x="7" y="0"/>
                  </a:lnTo>
                  <a:lnTo>
                    <a:pt x="0" y="3"/>
                  </a:lnTo>
                  <a:lnTo>
                    <a:pt x="47" y="10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5" name="Freeform 14">
              <a:extLst>
                <a:ext uri="{FF2B5EF4-FFF2-40B4-BE49-F238E27FC236}">
                  <a16:creationId xmlns:a16="http://schemas.microsoft.com/office/drawing/2014/main" id="{57A1D336-3765-5C10-527D-95E2F6A58DD7}"/>
                </a:ext>
              </a:extLst>
            </p:cNvPr>
            <p:cNvSpPr>
              <a:spLocks/>
            </p:cNvSpPr>
            <p:nvPr/>
          </p:nvSpPr>
          <p:spPr bwMode="auto">
            <a:xfrm>
              <a:off x="150" y="4621"/>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6" name="Freeform 15">
              <a:extLst>
                <a:ext uri="{FF2B5EF4-FFF2-40B4-BE49-F238E27FC236}">
                  <a16:creationId xmlns:a16="http://schemas.microsoft.com/office/drawing/2014/main" id="{2FB7C310-A399-7759-6D50-C978F3705BD5}"/>
                </a:ext>
              </a:extLst>
            </p:cNvPr>
            <p:cNvSpPr>
              <a:spLocks/>
            </p:cNvSpPr>
            <p:nvPr/>
          </p:nvSpPr>
          <p:spPr bwMode="auto">
            <a:xfrm>
              <a:off x="128" y="4613"/>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 name="T10" fmla="*/ 0 60000 65536"/>
                <a:gd name="T11" fmla="*/ 0 60000 65536"/>
                <a:gd name="T12" fmla="*/ 0 60000 65536"/>
                <a:gd name="T13" fmla="*/ 0 60000 65536"/>
                <a:gd name="T14" fmla="*/ 0 60000 65536"/>
                <a:gd name="T15" fmla="*/ 0 w 59"/>
                <a:gd name="T16" fmla="*/ 0 h 115"/>
                <a:gd name="T17" fmla="*/ 59 w 59"/>
                <a:gd name="T18" fmla="*/ 115 h 115"/>
              </a:gdLst>
              <a:ahLst/>
              <a:cxnLst>
                <a:cxn ang="T10">
                  <a:pos x="T0" y="T1"/>
                </a:cxn>
                <a:cxn ang="T11">
                  <a:pos x="T2" y="T3"/>
                </a:cxn>
                <a:cxn ang="T12">
                  <a:pos x="T4" y="T5"/>
                </a:cxn>
                <a:cxn ang="T13">
                  <a:pos x="T6" y="T7"/>
                </a:cxn>
                <a:cxn ang="T14">
                  <a:pos x="T8" y="T9"/>
                </a:cxn>
              </a:cxnLst>
              <a:rect l="T15" t="T16" r="T17" b="T18"/>
              <a:pathLst>
                <a:path w="59" h="115">
                  <a:moveTo>
                    <a:pt x="51" y="114"/>
                  </a:moveTo>
                  <a:lnTo>
                    <a:pt x="58"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7" name="Freeform 16">
              <a:extLst>
                <a:ext uri="{FF2B5EF4-FFF2-40B4-BE49-F238E27FC236}">
                  <a16:creationId xmlns:a16="http://schemas.microsoft.com/office/drawing/2014/main" id="{E8D6023B-6426-F914-901F-3B39279DECC3}"/>
                </a:ext>
              </a:extLst>
            </p:cNvPr>
            <p:cNvSpPr>
              <a:spLocks/>
            </p:cNvSpPr>
            <p:nvPr/>
          </p:nvSpPr>
          <p:spPr bwMode="auto">
            <a:xfrm>
              <a:off x="131" y="4613"/>
              <a:ext cx="28" cy="17"/>
            </a:xfrm>
            <a:custGeom>
              <a:avLst/>
              <a:gdLst>
                <a:gd name="T0" fmla="*/ 23 w 28"/>
                <a:gd name="T1" fmla="*/ 16 h 17"/>
                <a:gd name="T2" fmla="*/ 27 w 28"/>
                <a:gd name="T3" fmla="*/ 9 h 17"/>
                <a:gd name="T4" fmla="*/ 4 w 28"/>
                <a:gd name="T5" fmla="*/ 0 h 17"/>
                <a:gd name="T6" fmla="*/ 0 w 28"/>
                <a:gd name="T7" fmla="*/ 6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6"/>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8" name="Freeform 17">
              <a:extLst>
                <a:ext uri="{FF2B5EF4-FFF2-40B4-BE49-F238E27FC236}">
                  <a16:creationId xmlns:a16="http://schemas.microsoft.com/office/drawing/2014/main" id="{F6D91629-791F-9392-E23A-FE716E69A787}"/>
                </a:ext>
              </a:extLst>
            </p:cNvPr>
            <p:cNvSpPr>
              <a:spLocks/>
            </p:cNvSpPr>
            <p:nvPr/>
          </p:nvSpPr>
          <p:spPr bwMode="auto">
            <a:xfrm>
              <a:off x="239" y="4568"/>
              <a:ext cx="29" cy="19"/>
            </a:xfrm>
            <a:custGeom>
              <a:avLst/>
              <a:gdLst>
                <a:gd name="T0" fmla="*/ 24 w 29"/>
                <a:gd name="T1" fmla="*/ 18 h 19"/>
                <a:gd name="T2" fmla="*/ 28 w 29"/>
                <a:gd name="T3" fmla="*/ 11 h 19"/>
                <a:gd name="T4" fmla="*/ 4 w 29"/>
                <a:gd name="T5" fmla="*/ 0 h 19"/>
                <a:gd name="T6" fmla="*/ 0 w 29"/>
                <a:gd name="T7" fmla="*/ 6 h 19"/>
                <a:gd name="T8" fmla="*/ 24 w 29"/>
                <a:gd name="T9" fmla="*/ 18 h 19"/>
                <a:gd name="T10" fmla="*/ 0 60000 65536"/>
                <a:gd name="T11" fmla="*/ 0 60000 65536"/>
                <a:gd name="T12" fmla="*/ 0 60000 65536"/>
                <a:gd name="T13" fmla="*/ 0 60000 65536"/>
                <a:gd name="T14" fmla="*/ 0 60000 65536"/>
                <a:gd name="T15" fmla="*/ 0 w 29"/>
                <a:gd name="T16" fmla="*/ 0 h 19"/>
                <a:gd name="T17" fmla="*/ 29 w 29"/>
                <a:gd name="T18" fmla="*/ 19 h 19"/>
              </a:gdLst>
              <a:ahLst/>
              <a:cxnLst>
                <a:cxn ang="T10">
                  <a:pos x="T0" y="T1"/>
                </a:cxn>
                <a:cxn ang="T11">
                  <a:pos x="T2" y="T3"/>
                </a:cxn>
                <a:cxn ang="T12">
                  <a:pos x="T4" y="T5"/>
                </a:cxn>
                <a:cxn ang="T13">
                  <a:pos x="T6" y="T7"/>
                </a:cxn>
                <a:cxn ang="T14">
                  <a:pos x="T8" y="T9"/>
                </a:cxn>
              </a:cxnLst>
              <a:rect l="T15" t="T16" r="T17" b="T18"/>
              <a:pathLst>
                <a:path w="29" h="19">
                  <a:moveTo>
                    <a:pt x="24" y="18"/>
                  </a:moveTo>
                  <a:lnTo>
                    <a:pt x="28" y="11"/>
                  </a:lnTo>
                  <a:lnTo>
                    <a:pt x="4" y="0"/>
                  </a:lnTo>
                  <a:lnTo>
                    <a:pt x="0" y="6"/>
                  </a:lnTo>
                  <a:lnTo>
                    <a:pt x="24"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
        <p:nvSpPr>
          <p:cNvPr id="25605" name="Rectangle 18">
            <a:extLst>
              <a:ext uri="{FF2B5EF4-FFF2-40B4-BE49-F238E27FC236}">
                <a16:creationId xmlns:a16="http://schemas.microsoft.com/office/drawing/2014/main" id="{E9D15B57-05B4-8C64-0210-46E1399374BE}"/>
              </a:ext>
            </a:extLst>
          </p:cNvPr>
          <p:cNvSpPr>
            <a:spLocks noChangeArrowheads="1"/>
          </p:cNvSpPr>
          <p:nvPr/>
        </p:nvSpPr>
        <p:spPr bwMode="auto">
          <a:xfrm>
            <a:off x="620713" y="5927725"/>
            <a:ext cx="5553075" cy="10795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AFF9BDA-60DC-85F9-A93D-361F83F1B656}"/>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27651" name="Rectangle 3">
            <a:extLst>
              <a:ext uri="{FF2B5EF4-FFF2-40B4-BE49-F238E27FC236}">
                <a16:creationId xmlns:a16="http://schemas.microsoft.com/office/drawing/2014/main" id="{C12293A3-C921-223C-DB8F-8E53157602C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Removing a Sequence</a:t>
            </a:r>
          </a:p>
          <a:p>
            <a:pPr marL="114300" lvl="1" defTabSz="401638"/>
            <a:r>
              <a:rPr lang="en-US" altLang="en-US">
                <a:latin typeface="Arial" panose="020B0604020202020204" pitchFamily="34" charset="0"/>
              </a:rPr>
              <a:t>To remove a sequence from the data dictionary, use the </a:t>
            </a:r>
            <a:r>
              <a:rPr lang="en-US" altLang="en-US">
                <a:solidFill>
                  <a:srgbClr val="FC0128"/>
                </a:solidFill>
                <a:latin typeface="Arial" panose="020B0604020202020204" pitchFamily="34" charset="0"/>
              </a:rPr>
              <a:t>DROP SEQUENCE </a:t>
            </a:r>
            <a:r>
              <a:rPr lang="en-US" altLang="en-US">
                <a:latin typeface="Arial" panose="020B0604020202020204" pitchFamily="34" charset="0"/>
              </a:rPr>
              <a:t>statement. You must be the owner of the sequence or have the DROP ANY SEQUENCE privilege to remove it.</a:t>
            </a:r>
          </a:p>
          <a:p>
            <a:pPr marL="114300" lvl="1" defTabSz="401638"/>
            <a:r>
              <a:rPr lang="en-US" altLang="en-US" b="1">
                <a:latin typeface="Arial" panose="020B0604020202020204" pitchFamily="34" charset="0"/>
              </a:rPr>
              <a:t>Syntax</a:t>
            </a:r>
            <a:endParaRPr lang="en-US" altLang="en-US">
              <a:latin typeface="Arial" panose="020B0604020202020204" pitchFamily="34" charset="0"/>
            </a:endParaRPr>
          </a:p>
          <a:p>
            <a:pPr algn="just" defTabSz="401638"/>
            <a:r>
              <a:rPr lang="en-US" altLang="en-US" b="1">
                <a:latin typeface="Times" panose="02020603050405020304" pitchFamily="18" charset="0"/>
              </a:rPr>
              <a:t>        </a:t>
            </a:r>
            <a:r>
              <a:rPr lang="en-US" altLang="en-US" b="1">
                <a:latin typeface="Courier New" panose="02070309020205020404" pitchFamily="49" charset="0"/>
              </a:rPr>
              <a:t>DROP   SEQUENCE    </a:t>
            </a:r>
            <a:r>
              <a:rPr lang="en-US" altLang="en-US" b="1" i="1">
                <a:latin typeface="Courier New" panose="02070309020205020404" pitchFamily="49" charset="0"/>
              </a:rPr>
              <a:t>sequence</a:t>
            </a:r>
            <a:r>
              <a:rPr lang="en-US" altLang="en-US" b="1">
                <a:latin typeface="Courier New" panose="02070309020205020404" pitchFamily="49" charset="0"/>
              </a:rPr>
              <a:t>;</a:t>
            </a:r>
          </a:p>
          <a:p>
            <a:pPr algn="just" defTabSz="401638">
              <a:lnSpc>
                <a:spcPct val="112000"/>
              </a:lnSpc>
              <a:spcBef>
                <a:spcPct val="0"/>
              </a:spcBef>
            </a:pPr>
            <a:endParaRPr lang="en-US" altLang="en-US" sz="400" b="1">
              <a:latin typeface="Times" panose="02020603050405020304" pitchFamily="18" charset="0"/>
            </a:endParaRPr>
          </a:p>
          <a:p>
            <a:pPr marL="114300" lvl="1" defTabSz="40163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sequence		</a:t>
            </a:r>
            <a:r>
              <a:rPr lang="en-US" altLang="en-US">
                <a:latin typeface="Arial" panose="020B0604020202020204" pitchFamily="34" charset="0"/>
              </a:rPr>
              <a:t>is the name of the sequence generator</a:t>
            </a:r>
          </a:p>
          <a:p>
            <a:pPr marL="114300" lvl="1" defTabSz="40163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a:t>
            </a:r>
            <a:r>
              <a:rPr lang="en-US" altLang="en-US" i="1">
                <a:latin typeface="Arial" panose="020B0604020202020204" pitchFamily="34" charset="0"/>
              </a:rPr>
              <a:t>,</a:t>
            </a:r>
            <a:r>
              <a:rPr lang="en-US" altLang="en-US">
                <a:latin typeface="Arial" panose="020B0604020202020204" pitchFamily="34" charset="0"/>
              </a:rPr>
              <a:t> “DROP SEQUENCE.”</a:t>
            </a:r>
          </a:p>
          <a:p>
            <a:pPr defTabSz="401638"/>
            <a:endParaRPr lang="en-US" altLang="en-US" b="1">
              <a:latin typeface="Times New Roman" panose="02020603050405020304" pitchFamily="18" charset="0"/>
            </a:endParaRPr>
          </a:p>
        </p:txBody>
      </p:sp>
      <p:sp>
        <p:nvSpPr>
          <p:cNvPr id="27652" name="Rectangle 4">
            <a:extLst>
              <a:ext uri="{FF2B5EF4-FFF2-40B4-BE49-F238E27FC236}">
                <a16:creationId xmlns:a16="http://schemas.microsoft.com/office/drawing/2014/main" id="{5F3C03F8-E981-06BE-1A66-48FBD5198B49}"/>
              </a:ext>
            </a:extLst>
          </p:cNvPr>
          <p:cNvSpPr>
            <a:spLocks noChangeArrowheads="1"/>
          </p:cNvSpPr>
          <p:nvPr/>
        </p:nvSpPr>
        <p:spPr bwMode="auto">
          <a:xfrm>
            <a:off x="612775" y="5697538"/>
            <a:ext cx="5573713" cy="215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27653" name="Group 5">
            <a:extLst>
              <a:ext uri="{FF2B5EF4-FFF2-40B4-BE49-F238E27FC236}">
                <a16:creationId xmlns:a16="http://schemas.microsoft.com/office/drawing/2014/main" id="{2A0E0061-8244-F0A9-49C6-A0F70B615576}"/>
              </a:ext>
            </a:extLst>
          </p:cNvPr>
          <p:cNvGrpSpPr>
            <a:grpSpLocks/>
          </p:cNvGrpSpPr>
          <p:nvPr/>
        </p:nvGrpSpPr>
        <p:grpSpPr bwMode="auto">
          <a:xfrm>
            <a:off x="217488" y="6272213"/>
            <a:ext cx="298450" cy="295275"/>
            <a:chOff x="136" y="3879"/>
            <a:chExt cx="187" cy="183"/>
          </a:xfrm>
        </p:grpSpPr>
        <p:sp>
          <p:nvSpPr>
            <p:cNvPr id="27654" name="Freeform 6">
              <a:extLst>
                <a:ext uri="{FF2B5EF4-FFF2-40B4-BE49-F238E27FC236}">
                  <a16:creationId xmlns:a16="http://schemas.microsoft.com/office/drawing/2014/main" id="{B85D7893-CB18-EE8E-8515-69B2CEF617EF}"/>
                </a:ext>
              </a:extLst>
            </p:cNvPr>
            <p:cNvSpPr>
              <a:spLocks/>
            </p:cNvSpPr>
            <p:nvPr/>
          </p:nvSpPr>
          <p:spPr bwMode="auto">
            <a:xfrm>
              <a:off x="136" y="3879"/>
              <a:ext cx="179" cy="176"/>
            </a:xfrm>
            <a:custGeom>
              <a:avLst/>
              <a:gdLst>
                <a:gd name="T0" fmla="*/ 178 w 179"/>
                <a:gd name="T1" fmla="*/ 175 h 176"/>
                <a:gd name="T2" fmla="*/ 178 w 179"/>
                <a:gd name="T3" fmla="*/ 0 h 176"/>
                <a:gd name="T4" fmla="*/ 0 w 179"/>
                <a:gd name="T5" fmla="*/ 0 h 176"/>
                <a:gd name="T6" fmla="*/ 0 w 179"/>
                <a:gd name="T7" fmla="*/ 175 h 176"/>
                <a:gd name="T8" fmla="*/ 178 w 179"/>
                <a:gd name="T9" fmla="*/ 175 h 176"/>
                <a:gd name="T10" fmla="*/ 0 60000 65536"/>
                <a:gd name="T11" fmla="*/ 0 60000 65536"/>
                <a:gd name="T12" fmla="*/ 0 60000 65536"/>
                <a:gd name="T13" fmla="*/ 0 60000 65536"/>
                <a:gd name="T14" fmla="*/ 0 60000 65536"/>
                <a:gd name="T15" fmla="*/ 0 w 179"/>
                <a:gd name="T16" fmla="*/ 0 h 176"/>
                <a:gd name="T17" fmla="*/ 179 w 179"/>
                <a:gd name="T18" fmla="*/ 176 h 176"/>
              </a:gdLst>
              <a:ahLst/>
              <a:cxnLst>
                <a:cxn ang="T10">
                  <a:pos x="T0" y="T1"/>
                </a:cxn>
                <a:cxn ang="T11">
                  <a:pos x="T2" y="T3"/>
                </a:cxn>
                <a:cxn ang="T12">
                  <a:pos x="T4" y="T5"/>
                </a:cxn>
                <a:cxn ang="T13">
                  <a:pos x="T6" y="T7"/>
                </a:cxn>
                <a:cxn ang="T14">
                  <a:pos x="T8" y="T9"/>
                </a:cxn>
              </a:cxnLst>
              <a:rect l="T15" t="T16" r="T17" b="T18"/>
              <a:pathLst>
                <a:path w="179" h="176">
                  <a:moveTo>
                    <a:pt x="178" y="175"/>
                  </a:moveTo>
                  <a:lnTo>
                    <a:pt x="178" y="0"/>
                  </a:lnTo>
                  <a:lnTo>
                    <a:pt x="0" y="0"/>
                  </a:lnTo>
                  <a:lnTo>
                    <a:pt x="0" y="175"/>
                  </a:lnTo>
                  <a:lnTo>
                    <a:pt x="178"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5" name="Freeform 7">
              <a:extLst>
                <a:ext uri="{FF2B5EF4-FFF2-40B4-BE49-F238E27FC236}">
                  <a16:creationId xmlns:a16="http://schemas.microsoft.com/office/drawing/2014/main" id="{F21E55D8-7ACD-8C35-FA83-96D25F32E355}"/>
                </a:ext>
              </a:extLst>
            </p:cNvPr>
            <p:cNvSpPr>
              <a:spLocks/>
            </p:cNvSpPr>
            <p:nvPr/>
          </p:nvSpPr>
          <p:spPr bwMode="auto">
            <a:xfrm>
              <a:off x="197" y="3944"/>
              <a:ext cx="71" cy="37"/>
            </a:xfrm>
            <a:custGeom>
              <a:avLst/>
              <a:gdLst>
                <a:gd name="T0" fmla="*/ 70 w 71"/>
                <a:gd name="T1" fmla="*/ 7 h 37"/>
                <a:gd name="T2" fmla="*/ 66 w 71"/>
                <a:gd name="T3" fmla="*/ 0 h 37"/>
                <a:gd name="T4" fmla="*/ 0 w 71"/>
                <a:gd name="T5" fmla="*/ 29 h 37"/>
                <a:gd name="T6" fmla="*/ 3 w 71"/>
                <a:gd name="T7" fmla="*/ 36 h 37"/>
                <a:gd name="T8" fmla="*/ 70 w 71"/>
                <a:gd name="T9" fmla="*/ 7 h 37"/>
                <a:gd name="T10" fmla="*/ 0 60000 65536"/>
                <a:gd name="T11" fmla="*/ 0 60000 65536"/>
                <a:gd name="T12" fmla="*/ 0 60000 65536"/>
                <a:gd name="T13" fmla="*/ 0 60000 65536"/>
                <a:gd name="T14" fmla="*/ 0 60000 65536"/>
                <a:gd name="T15" fmla="*/ 0 w 71"/>
                <a:gd name="T16" fmla="*/ 0 h 37"/>
                <a:gd name="T17" fmla="*/ 71 w 71"/>
                <a:gd name="T18" fmla="*/ 37 h 37"/>
              </a:gdLst>
              <a:ahLst/>
              <a:cxnLst>
                <a:cxn ang="T10">
                  <a:pos x="T0" y="T1"/>
                </a:cxn>
                <a:cxn ang="T11">
                  <a:pos x="T2" y="T3"/>
                </a:cxn>
                <a:cxn ang="T12">
                  <a:pos x="T4" y="T5"/>
                </a:cxn>
                <a:cxn ang="T13">
                  <a:pos x="T6" y="T7"/>
                </a:cxn>
                <a:cxn ang="T14">
                  <a:pos x="T8" y="T9"/>
                </a:cxn>
              </a:cxnLst>
              <a:rect l="T15" t="T16" r="T17" b="T18"/>
              <a:pathLst>
                <a:path w="71" h="37">
                  <a:moveTo>
                    <a:pt x="70" y="7"/>
                  </a:moveTo>
                  <a:lnTo>
                    <a:pt x="66" y="0"/>
                  </a:lnTo>
                  <a:lnTo>
                    <a:pt x="0" y="29"/>
                  </a:lnTo>
                  <a:lnTo>
                    <a:pt x="3" y="36"/>
                  </a:lnTo>
                  <a:lnTo>
                    <a:pt x="7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6" name="Freeform 8">
              <a:extLst>
                <a:ext uri="{FF2B5EF4-FFF2-40B4-BE49-F238E27FC236}">
                  <a16:creationId xmlns:a16="http://schemas.microsoft.com/office/drawing/2014/main" id="{BD25A307-787E-F32B-CAD8-C2064F2BA11A}"/>
                </a:ext>
              </a:extLst>
            </p:cNvPr>
            <p:cNvSpPr>
              <a:spLocks/>
            </p:cNvSpPr>
            <p:nvPr/>
          </p:nvSpPr>
          <p:spPr bwMode="auto">
            <a:xfrm>
              <a:off x="207" y="3961"/>
              <a:ext cx="69" cy="36"/>
            </a:xfrm>
            <a:custGeom>
              <a:avLst/>
              <a:gdLst>
                <a:gd name="T0" fmla="*/ 68 w 69"/>
                <a:gd name="T1" fmla="*/ 6 h 36"/>
                <a:gd name="T2" fmla="*/ 65 w 69"/>
                <a:gd name="T3" fmla="*/ 0 h 36"/>
                <a:gd name="T4" fmla="*/ 0 w 69"/>
                <a:gd name="T5" fmla="*/ 28 h 36"/>
                <a:gd name="T6" fmla="*/ 3 w 69"/>
                <a:gd name="T7" fmla="*/ 35 h 36"/>
                <a:gd name="T8" fmla="*/ 68 w 69"/>
                <a:gd name="T9" fmla="*/ 6 h 36"/>
                <a:gd name="T10" fmla="*/ 0 60000 65536"/>
                <a:gd name="T11" fmla="*/ 0 60000 65536"/>
                <a:gd name="T12" fmla="*/ 0 60000 65536"/>
                <a:gd name="T13" fmla="*/ 0 60000 65536"/>
                <a:gd name="T14" fmla="*/ 0 60000 65536"/>
                <a:gd name="T15" fmla="*/ 0 w 69"/>
                <a:gd name="T16" fmla="*/ 0 h 36"/>
                <a:gd name="T17" fmla="*/ 69 w 69"/>
                <a:gd name="T18" fmla="*/ 36 h 36"/>
              </a:gdLst>
              <a:ahLst/>
              <a:cxnLst>
                <a:cxn ang="T10">
                  <a:pos x="T0" y="T1"/>
                </a:cxn>
                <a:cxn ang="T11">
                  <a:pos x="T2" y="T3"/>
                </a:cxn>
                <a:cxn ang="T12">
                  <a:pos x="T4" y="T5"/>
                </a:cxn>
                <a:cxn ang="T13">
                  <a:pos x="T6" y="T7"/>
                </a:cxn>
                <a:cxn ang="T14">
                  <a:pos x="T8" y="T9"/>
                </a:cxn>
              </a:cxnLst>
              <a:rect l="T15" t="T16" r="T17" b="T18"/>
              <a:pathLst>
                <a:path w="69" h="36">
                  <a:moveTo>
                    <a:pt x="68" y="6"/>
                  </a:moveTo>
                  <a:lnTo>
                    <a:pt x="65" y="0"/>
                  </a:lnTo>
                  <a:lnTo>
                    <a:pt x="0" y="28"/>
                  </a:lnTo>
                  <a:lnTo>
                    <a:pt x="3" y="35"/>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7" name="Freeform 9">
              <a:extLst>
                <a:ext uri="{FF2B5EF4-FFF2-40B4-BE49-F238E27FC236}">
                  <a16:creationId xmlns:a16="http://schemas.microsoft.com/office/drawing/2014/main" id="{CB2B5933-1D4A-A9FE-FF13-F2A972BD0A55}"/>
                </a:ext>
              </a:extLst>
            </p:cNvPr>
            <p:cNvSpPr>
              <a:spLocks/>
            </p:cNvSpPr>
            <p:nvPr/>
          </p:nvSpPr>
          <p:spPr bwMode="auto">
            <a:xfrm>
              <a:off x="213" y="3976"/>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8" name="Freeform 10">
              <a:extLst>
                <a:ext uri="{FF2B5EF4-FFF2-40B4-BE49-F238E27FC236}">
                  <a16:creationId xmlns:a16="http://schemas.microsoft.com/office/drawing/2014/main" id="{C4F36F42-6757-2387-887D-F55416CA5328}"/>
                </a:ext>
              </a:extLst>
            </p:cNvPr>
            <p:cNvSpPr>
              <a:spLocks/>
            </p:cNvSpPr>
            <p:nvPr/>
          </p:nvSpPr>
          <p:spPr bwMode="auto">
            <a:xfrm>
              <a:off x="221" y="3993"/>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9" name="Freeform 11">
              <a:extLst>
                <a:ext uri="{FF2B5EF4-FFF2-40B4-BE49-F238E27FC236}">
                  <a16:creationId xmlns:a16="http://schemas.microsoft.com/office/drawing/2014/main" id="{593B2885-1505-EABC-2DAB-7E009CF822B4}"/>
                </a:ext>
              </a:extLst>
            </p:cNvPr>
            <p:cNvSpPr>
              <a:spLocks/>
            </p:cNvSpPr>
            <p:nvPr/>
          </p:nvSpPr>
          <p:spPr bwMode="auto">
            <a:xfrm>
              <a:off x="229" y="4009"/>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0" name="Freeform 12">
              <a:extLst>
                <a:ext uri="{FF2B5EF4-FFF2-40B4-BE49-F238E27FC236}">
                  <a16:creationId xmlns:a16="http://schemas.microsoft.com/office/drawing/2014/main" id="{58DA72E9-03E3-08D5-86CD-48BF107C6405}"/>
                </a:ext>
              </a:extLst>
            </p:cNvPr>
            <p:cNvSpPr>
              <a:spLocks/>
            </p:cNvSpPr>
            <p:nvPr/>
          </p:nvSpPr>
          <p:spPr bwMode="auto">
            <a:xfrm>
              <a:off x="157" y="3908"/>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1" name="Freeform 13">
              <a:extLst>
                <a:ext uri="{FF2B5EF4-FFF2-40B4-BE49-F238E27FC236}">
                  <a16:creationId xmlns:a16="http://schemas.microsoft.com/office/drawing/2014/main" id="{99367722-F4D5-1DD1-5EA5-1A173A0F1D21}"/>
                </a:ext>
              </a:extLst>
            </p:cNvPr>
            <p:cNvSpPr>
              <a:spLocks/>
            </p:cNvSpPr>
            <p:nvPr/>
          </p:nvSpPr>
          <p:spPr bwMode="auto">
            <a:xfrm>
              <a:off x="140" y="3896"/>
              <a:ext cx="124" cy="59"/>
            </a:xfrm>
            <a:custGeom>
              <a:avLst/>
              <a:gdLst>
                <a:gd name="T0" fmla="*/ 123 w 124"/>
                <a:gd name="T1" fmla="*/ 7 h 59"/>
                <a:gd name="T2" fmla="*/ 119 w 124"/>
                <a:gd name="T3" fmla="*/ 0 h 59"/>
                <a:gd name="T4" fmla="*/ 0 w 124"/>
                <a:gd name="T5" fmla="*/ 51 h 59"/>
                <a:gd name="T6" fmla="*/ 2 w 124"/>
                <a:gd name="T7" fmla="*/ 58 h 59"/>
                <a:gd name="T8" fmla="*/ 123 w 124"/>
                <a:gd name="T9" fmla="*/ 7 h 59"/>
                <a:gd name="T10" fmla="*/ 0 60000 65536"/>
                <a:gd name="T11" fmla="*/ 0 60000 65536"/>
                <a:gd name="T12" fmla="*/ 0 60000 65536"/>
                <a:gd name="T13" fmla="*/ 0 60000 65536"/>
                <a:gd name="T14" fmla="*/ 0 60000 65536"/>
                <a:gd name="T15" fmla="*/ 0 w 124"/>
                <a:gd name="T16" fmla="*/ 0 h 59"/>
                <a:gd name="T17" fmla="*/ 124 w 124"/>
                <a:gd name="T18" fmla="*/ 59 h 59"/>
              </a:gdLst>
              <a:ahLst/>
              <a:cxnLst>
                <a:cxn ang="T10">
                  <a:pos x="T0" y="T1"/>
                </a:cxn>
                <a:cxn ang="T11">
                  <a:pos x="T2" y="T3"/>
                </a:cxn>
                <a:cxn ang="T12">
                  <a:pos x="T4" y="T5"/>
                </a:cxn>
                <a:cxn ang="T13">
                  <a:pos x="T6" y="T7"/>
                </a:cxn>
                <a:cxn ang="T14">
                  <a:pos x="T8" y="T9"/>
                </a:cxn>
              </a:cxnLst>
              <a:rect l="T15" t="T16" r="T17" b="T18"/>
              <a:pathLst>
                <a:path w="124" h="59">
                  <a:moveTo>
                    <a:pt x="123" y="7"/>
                  </a:moveTo>
                  <a:lnTo>
                    <a:pt x="119" y="0"/>
                  </a:lnTo>
                  <a:lnTo>
                    <a:pt x="0" y="51"/>
                  </a:lnTo>
                  <a:lnTo>
                    <a:pt x="2" y="58"/>
                  </a:lnTo>
                  <a:lnTo>
                    <a:pt x="123"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2" name="Freeform 14">
              <a:extLst>
                <a:ext uri="{FF2B5EF4-FFF2-40B4-BE49-F238E27FC236}">
                  <a16:creationId xmlns:a16="http://schemas.microsoft.com/office/drawing/2014/main" id="{0C29A4AA-D367-4186-8A85-BC9F779470BB}"/>
                </a:ext>
              </a:extLst>
            </p:cNvPr>
            <p:cNvSpPr>
              <a:spLocks/>
            </p:cNvSpPr>
            <p:nvPr/>
          </p:nvSpPr>
          <p:spPr bwMode="auto">
            <a:xfrm>
              <a:off x="268" y="3910"/>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3" name="Freeform 15">
              <a:extLst>
                <a:ext uri="{FF2B5EF4-FFF2-40B4-BE49-F238E27FC236}">
                  <a16:creationId xmlns:a16="http://schemas.microsoft.com/office/drawing/2014/main" id="{6DD4940D-039B-9020-848A-647743FA83DE}"/>
                </a:ext>
              </a:extLst>
            </p:cNvPr>
            <p:cNvSpPr>
              <a:spLocks/>
            </p:cNvSpPr>
            <p:nvPr/>
          </p:nvSpPr>
          <p:spPr bwMode="auto">
            <a:xfrm>
              <a:off x="157" y="3955"/>
              <a:ext cx="54" cy="107"/>
            </a:xfrm>
            <a:custGeom>
              <a:avLst/>
              <a:gdLst>
                <a:gd name="T0" fmla="*/ 46 w 54"/>
                <a:gd name="T1" fmla="*/ 106 h 107"/>
                <a:gd name="T2" fmla="*/ 53 w 54"/>
                <a:gd name="T3" fmla="*/ 102 h 107"/>
                <a:gd name="T4" fmla="*/ 7 w 54"/>
                <a:gd name="T5" fmla="*/ 0 h 107"/>
                <a:gd name="T6" fmla="*/ 0 w 54"/>
                <a:gd name="T7" fmla="*/ 4 h 107"/>
                <a:gd name="T8" fmla="*/ 46 w 54"/>
                <a:gd name="T9" fmla="*/ 106 h 107"/>
                <a:gd name="T10" fmla="*/ 0 60000 65536"/>
                <a:gd name="T11" fmla="*/ 0 60000 65536"/>
                <a:gd name="T12" fmla="*/ 0 60000 65536"/>
                <a:gd name="T13" fmla="*/ 0 60000 65536"/>
                <a:gd name="T14" fmla="*/ 0 60000 65536"/>
                <a:gd name="T15" fmla="*/ 0 w 54"/>
                <a:gd name="T16" fmla="*/ 0 h 107"/>
                <a:gd name="T17" fmla="*/ 54 w 54"/>
                <a:gd name="T18" fmla="*/ 107 h 107"/>
              </a:gdLst>
              <a:ahLst/>
              <a:cxnLst>
                <a:cxn ang="T10">
                  <a:pos x="T0" y="T1"/>
                </a:cxn>
                <a:cxn ang="T11">
                  <a:pos x="T2" y="T3"/>
                </a:cxn>
                <a:cxn ang="T12">
                  <a:pos x="T4" y="T5"/>
                </a:cxn>
                <a:cxn ang="T13">
                  <a:pos x="T6" y="T7"/>
                </a:cxn>
                <a:cxn ang="T14">
                  <a:pos x="T8" y="T9"/>
                </a:cxn>
              </a:cxnLst>
              <a:rect l="T15" t="T16" r="T17" b="T18"/>
              <a:pathLst>
                <a:path w="54" h="107">
                  <a:moveTo>
                    <a:pt x="46" y="106"/>
                  </a:moveTo>
                  <a:lnTo>
                    <a:pt x="53" y="102"/>
                  </a:lnTo>
                  <a:lnTo>
                    <a:pt x="7" y="0"/>
                  </a:lnTo>
                  <a:lnTo>
                    <a:pt x="0" y="4"/>
                  </a:lnTo>
                  <a:lnTo>
                    <a:pt x="46"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4" name="Freeform 16">
              <a:extLst>
                <a:ext uri="{FF2B5EF4-FFF2-40B4-BE49-F238E27FC236}">
                  <a16:creationId xmlns:a16="http://schemas.microsoft.com/office/drawing/2014/main" id="{C2795085-1DAC-C3B4-BB86-BAD6AE9F4FDE}"/>
                </a:ext>
              </a:extLst>
            </p:cNvPr>
            <p:cNvSpPr>
              <a:spLocks/>
            </p:cNvSpPr>
            <p:nvPr/>
          </p:nvSpPr>
          <p:spPr bwMode="auto">
            <a:xfrm>
              <a:off x="136" y="3947"/>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 name="T10" fmla="*/ 0 60000 65536"/>
                <a:gd name="T11" fmla="*/ 0 60000 65536"/>
                <a:gd name="T12" fmla="*/ 0 60000 65536"/>
                <a:gd name="T13" fmla="*/ 0 60000 65536"/>
                <a:gd name="T14" fmla="*/ 0 60000 65536"/>
                <a:gd name="T15" fmla="*/ 0 w 59"/>
                <a:gd name="T16" fmla="*/ 0 h 115"/>
                <a:gd name="T17" fmla="*/ 59 w 59"/>
                <a:gd name="T18" fmla="*/ 115 h 115"/>
              </a:gdLst>
              <a:ahLst/>
              <a:cxnLst>
                <a:cxn ang="T10">
                  <a:pos x="T0" y="T1"/>
                </a:cxn>
                <a:cxn ang="T11">
                  <a:pos x="T2" y="T3"/>
                </a:cxn>
                <a:cxn ang="T12">
                  <a:pos x="T4" y="T5"/>
                </a:cxn>
                <a:cxn ang="T13">
                  <a:pos x="T6" y="T7"/>
                </a:cxn>
                <a:cxn ang="T14">
                  <a:pos x="T8" y="T9"/>
                </a:cxn>
              </a:cxnLst>
              <a:rect l="T15" t="T16" r="T17" b="T18"/>
              <a:pathLst>
                <a:path w="59" h="115">
                  <a:moveTo>
                    <a:pt x="51" y="114"/>
                  </a:moveTo>
                  <a:lnTo>
                    <a:pt x="58"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5" name="Freeform 17">
              <a:extLst>
                <a:ext uri="{FF2B5EF4-FFF2-40B4-BE49-F238E27FC236}">
                  <a16:creationId xmlns:a16="http://schemas.microsoft.com/office/drawing/2014/main" id="{BB82A223-BD19-1457-CE8C-C2620C55E7AB}"/>
                </a:ext>
              </a:extLst>
            </p:cNvPr>
            <p:cNvSpPr>
              <a:spLocks/>
            </p:cNvSpPr>
            <p:nvPr/>
          </p:nvSpPr>
          <p:spPr bwMode="auto">
            <a:xfrm>
              <a:off x="139" y="3947"/>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6" name="Freeform 18">
              <a:extLst>
                <a:ext uri="{FF2B5EF4-FFF2-40B4-BE49-F238E27FC236}">
                  <a16:creationId xmlns:a16="http://schemas.microsoft.com/office/drawing/2014/main" id="{6C7387F5-A7CF-6048-893B-6E8E72F7D34B}"/>
                </a:ext>
              </a:extLst>
            </p:cNvPr>
            <p:cNvSpPr>
              <a:spLocks/>
            </p:cNvSpPr>
            <p:nvPr/>
          </p:nvSpPr>
          <p:spPr bwMode="auto">
            <a:xfrm>
              <a:off x="247" y="3903"/>
              <a:ext cx="29" cy="17"/>
            </a:xfrm>
            <a:custGeom>
              <a:avLst/>
              <a:gdLst>
                <a:gd name="T0" fmla="*/ 24 w 29"/>
                <a:gd name="T1" fmla="*/ 16 h 17"/>
                <a:gd name="T2" fmla="*/ 28 w 29"/>
                <a:gd name="T3" fmla="*/ 9 h 17"/>
                <a:gd name="T4" fmla="*/ 4 w 29"/>
                <a:gd name="T5" fmla="*/ 0 h 17"/>
                <a:gd name="T6" fmla="*/ 0 w 29"/>
                <a:gd name="T7" fmla="*/ 5 h 17"/>
                <a:gd name="T8" fmla="*/ 24 w 29"/>
                <a:gd name="T9" fmla="*/ 16 h 17"/>
                <a:gd name="T10" fmla="*/ 0 60000 65536"/>
                <a:gd name="T11" fmla="*/ 0 60000 65536"/>
                <a:gd name="T12" fmla="*/ 0 60000 65536"/>
                <a:gd name="T13" fmla="*/ 0 60000 65536"/>
                <a:gd name="T14" fmla="*/ 0 60000 65536"/>
                <a:gd name="T15" fmla="*/ 0 w 29"/>
                <a:gd name="T16" fmla="*/ 0 h 17"/>
                <a:gd name="T17" fmla="*/ 29 w 29"/>
                <a:gd name="T18" fmla="*/ 17 h 17"/>
              </a:gdLst>
              <a:ahLst/>
              <a:cxnLst>
                <a:cxn ang="T10">
                  <a:pos x="T0" y="T1"/>
                </a:cxn>
                <a:cxn ang="T11">
                  <a:pos x="T2" y="T3"/>
                </a:cxn>
                <a:cxn ang="T12">
                  <a:pos x="T4" y="T5"/>
                </a:cxn>
                <a:cxn ang="T13">
                  <a:pos x="T6" y="T7"/>
                </a:cxn>
                <a:cxn ang="T14">
                  <a:pos x="T8" y="T9"/>
                </a:cxn>
              </a:cxnLst>
              <a:rect l="T15" t="T16" r="T17" b="T18"/>
              <a:pathLst>
                <a:path w="29" h="17">
                  <a:moveTo>
                    <a:pt x="24" y="16"/>
                  </a:moveTo>
                  <a:lnTo>
                    <a:pt x="28" y="9"/>
                  </a:lnTo>
                  <a:lnTo>
                    <a:pt x="4" y="0"/>
                  </a:lnTo>
                  <a:lnTo>
                    <a:pt x="0" y="5"/>
                  </a:lnTo>
                  <a:lnTo>
                    <a:pt x="24"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24B3A3B-7FE4-DF3A-D4BF-264D85CC4BDE}"/>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9699" name="Rectangle 3">
            <a:extLst>
              <a:ext uri="{FF2B5EF4-FFF2-40B4-BE49-F238E27FC236}">
                <a16:creationId xmlns:a16="http://schemas.microsoft.com/office/drawing/2014/main" id="{EDADA46B-1CC7-B25D-9A41-D1D8E8997603}"/>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9700" name="Rectangle 4">
            <a:extLst>
              <a:ext uri="{FF2B5EF4-FFF2-40B4-BE49-F238E27FC236}">
                <a16:creationId xmlns:a16="http://schemas.microsoft.com/office/drawing/2014/main" id="{FCBEF075-328E-6AF8-D801-029BD0CBEB4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tabLst>
                <a:tab pos="457200" algn="l"/>
              </a:tabLst>
            </a:pPr>
            <a:r>
              <a:rPr lang="en-US" altLang="en-US">
                <a:latin typeface="Arial" panose="020B0604020202020204" pitchFamily="34" charset="0"/>
              </a:rPr>
              <a:t>What Is an Index? </a:t>
            </a:r>
          </a:p>
          <a:p>
            <a:pPr marL="114300" lvl="1" defTabSz="401638">
              <a:tabLst>
                <a:tab pos="457200" algn="l"/>
              </a:tabLst>
            </a:pPr>
            <a:r>
              <a:rPr lang="en-US" altLang="en-US">
                <a:latin typeface="Arial" panose="020B0604020202020204" pitchFamily="34" charset="0"/>
              </a:rPr>
              <a:t>An Oracle Server </a:t>
            </a:r>
            <a:r>
              <a:rPr lang="en-US" altLang="en-US">
                <a:solidFill>
                  <a:srgbClr val="FC0128"/>
                </a:solidFill>
                <a:latin typeface="Arial" panose="020B0604020202020204" pitchFamily="34" charset="0"/>
              </a:rPr>
              <a:t>index </a:t>
            </a:r>
            <a:r>
              <a:rPr lang="en-US" altLang="en-US">
                <a:latin typeface="Arial" panose="020B0604020202020204" pitchFamily="34" charset="0"/>
              </a:rPr>
              <a:t>is a schema object that can speed up the retrieval of rows by using a pointer. Indexes can be created explicitly or automatically. If you do not have an index on the column, then a full table scan will occur.</a:t>
            </a:r>
          </a:p>
          <a:p>
            <a:pPr marL="114300" lvl="1" defTabSz="401638">
              <a:tabLst>
                <a:tab pos="457200" algn="l"/>
              </a:tabLst>
            </a:pPr>
            <a:r>
              <a:rPr lang="en-US" altLang="en-US">
                <a:latin typeface="Arial" panose="020B0604020202020204" pitchFamily="34" charset="0"/>
              </a:rPr>
              <a:t>An index provides direct and fast access to rows in a table. Its purpose is to reduce the necessity of disk I/O by using an indexed path to locate data quickly. The index is used and maintained automatically by the Oracle Server. Once an index is created, no direct activity is required by the user.</a:t>
            </a:r>
          </a:p>
          <a:p>
            <a:pPr marL="114300" lvl="1" defTabSz="401638">
              <a:tabLst>
                <a:tab pos="457200" algn="l"/>
              </a:tabLst>
            </a:pPr>
            <a:r>
              <a:rPr lang="en-US" altLang="en-US">
                <a:latin typeface="Arial" panose="020B0604020202020204" pitchFamily="34" charset="0"/>
              </a:rPr>
              <a:t>Indexes are logically and physically independent of the table they index. This means that they can be created or dropped at any time and have no effect on the base tables or other indexes.</a:t>
            </a:r>
          </a:p>
          <a:p>
            <a:pPr marL="114300" lvl="1" defTabSz="401638">
              <a:tabLst>
                <a:tab pos="457200" algn="l"/>
              </a:tabLst>
            </a:pPr>
            <a:r>
              <a:rPr lang="en-US" altLang="en-US" b="1">
                <a:latin typeface="Arial" panose="020B0604020202020204" pitchFamily="34" charset="0"/>
              </a:rPr>
              <a:t>Note:</a:t>
            </a:r>
            <a:r>
              <a:rPr lang="en-US" altLang="en-US">
                <a:latin typeface="Arial" panose="020B0604020202020204" pitchFamily="34" charset="0"/>
              </a:rPr>
              <a:t> When you drop a table, corresponding indexes are also dropped.</a:t>
            </a:r>
          </a:p>
          <a:p>
            <a:pPr marL="114300" lvl="1" defTabSz="401638">
              <a:tabLst>
                <a:tab pos="457200" algn="l"/>
              </a:tabLst>
            </a:pPr>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Concepts Manual, </a:t>
            </a:r>
            <a:r>
              <a:rPr lang="en-US" altLang="en-US">
                <a:latin typeface="Arial" panose="020B0604020202020204" pitchFamily="34" charset="0"/>
              </a:rPr>
              <a:t>Release 8, “Schema Objects” section, “Indexes” topic.</a:t>
            </a:r>
          </a:p>
          <a:p>
            <a:pPr defTabSz="401638">
              <a:tabLst>
                <a:tab pos="457200" algn="l"/>
              </a:tabLst>
            </a:pPr>
            <a:r>
              <a:rPr lang="en-US" altLang="en-US">
                <a:solidFill>
                  <a:schemeClr val="accent2"/>
                </a:solidFill>
                <a:latin typeface="Arial" panose="020B0604020202020204" pitchFamily="34" charset="0"/>
              </a:rPr>
              <a:t>Class Management Note</a:t>
            </a:r>
          </a:p>
          <a:p>
            <a:pPr marL="114300" lvl="1" defTabSz="401638">
              <a:tabLst>
                <a:tab pos="457200" algn="l"/>
              </a:tabLst>
            </a:pPr>
            <a:r>
              <a:rPr lang="en-US" altLang="en-US">
                <a:solidFill>
                  <a:schemeClr val="accent2"/>
                </a:solidFill>
                <a:latin typeface="Arial" panose="020B0604020202020204" pitchFamily="34" charset="0"/>
              </a:rPr>
              <a:t>The decision to create indexes is a global, high-level decision. Creation and maintenance of indexes is often a DBA task.</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Reference the column that has an index in the predicate WHERE clause without modifying the indexed column with a function or expression.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A ROWID is a hexadecimal string representation of the row address containing block identifier, row location in the block, and the database file identifier. The fastest way to access any particular row is by referencing its ROWID.</a:t>
            </a:r>
          </a:p>
        </p:txBody>
      </p:sp>
      <p:sp>
        <p:nvSpPr>
          <p:cNvPr id="29701" name="Rectangle 5">
            <a:extLst>
              <a:ext uri="{FF2B5EF4-FFF2-40B4-BE49-F238E27FC236}">
                <a16:creationId xmlns:a16="http://schemas.microsoft.com/office/drawing/2014/main" id="{2521C5E7-4998-A4F2-B480-6BF0F7FD84DD}"/>
              </a:ext>
            </a:extLst>
          </p:cNvPr>
          <p:cNvSpPr>
            <a:spLocks noGrp="1" noRot="1" noChangeArrowheads="1" noTextEdit="1"/>
          </p:cNvSpPr>
          <p:nvPr>
            <p:ph type="sldImg"/>
          </p:nvPr>
        </p:nvSpPr>
        <p:spPr>
          <a:xfrm>
            <a:off x="438150" y="160338"/>
            <a:ext cx="5976938" cy="4483100"/>
          </a:xfrm>
          <a:ln w="12700" cap="flat">
            <a:solidFill>
              <a:schemeClr val="tx1"/>
            </a:solidFill>
          </a:ln>
        </p:spPr>
      </p:sp>
      <p:grpSp>
        <p:nvGrpSpPr>
          <p:cNvPr id="29702" name="Group 6">
            <a:extLst>
              <a:ext uri="{FF2B5EF4-FFF2-40B4-BE49-F238E27FC236}">
                <a16:creationId xmlns:a16="http://schemas.microsoft.com/office/drawing/2014/main" id="{8897E0A5-9AE9-8F99-0BFA-C708DDF79604}"/>
              </a:ext>
            </a:extLst>
          </p:cNvPr>
          <p:cNvGrpSpPr>
            <a:grpSpLocks/>
          </p:cNvGrpSpPr>
          <p:nvPr/>
        </p:nvGrpSpPr>
        <p:grpSpPr bwMode="auto">
          <a:xfrm>
            <a:off x="179388" y="7058025"/>
            <a:ext cx="298450" cy="296863"/>
            <a:chOff x="112" y="4366"/>
            <a:chExt cx="187" cy="183"/>
          </a:xfrm>
        </p:grpSpPr>
        <p:sp>
          <p:nvSpPr>
            <p:cNvPr id="29703" name="Freeform 7">
              <a:extLst>
                <a:ext uri="{FF2B5EF4-FFF2-40B4-BE49-F238E27FC236}">
                  <a16:creationId xmlns:a16="http://schemas.microsoft.com/office/drawing/2014/main" id="{154FA616-AD6A-5118-F007-09BA590BB5BE}"/>
                </a:ext>
              </a:extLst>
            </p:cNvPr>
            <p:cNvSpPr>
              <a:spLocks/>
            </p:cNvSpPr>
            <p:nvPr/>
          </p:nvSpPr>
          <p:spPr bwMode="auto">
            <a:xfrm>
              <a:off x="112" y="4366"/>
              <a:ext cx="179" cy="176"/>
            </a:xfrm>
            <a:custGeom>
              <a:avLst/>
              <a:gdLst>
                <a:gd name="T0" fmla="*/ 178 w 179"/>
                <a:gd name="T1" fmla="*/ 175 h 176"/>
                <a:gd name="T2" fmla="*/ 178 w 179"/>
                <a:gd name="T3" fmla="*/ 0 h 176"/>
                <a:gd name="T4" fmla="*/ 0 w 179"/>
                <a:gd name="T5" fmla="*/ 0 h 176"/>
                <a:gd name="T6" fmla="*/ 0 w 179"/>
                <a:gd name="T7" fmla="*/ 175 h 176"/>
                <a:gd name="T8" fmla="*/ 178 w 179"/>
                <a:gd name="T9" fmla="*/ 175 h 176"/>
                <a:gd name="T10" fmla="*/ 0 60000 65536"/>
                <a:gd name="T11" fmla="*/ 0 60000 65536"/>
                <a:gd name="T12" fmla="*/ 0 60000 65536"/>
                <a:gd name="T13" fmla="*/ 0 60000 65536"/>
                <a:gd name="T14" fmla="*/ 0 60000 65536"/>
                <a:gd name="T15" fmla="*/ 0 w 179"/>
                <a:gd name="T16" fmla="*/ 0 h 176"/>
                <a:gd name="T17" fmla="*/ 179 w 179"/>
                <a:gd name="T18" fmla="*/ 176 h 176"/>
              </a:gdLst>
              <a:ahLst/>
              <a:cxnLst>
                <a:cxn ang="T10">
                  <a:pos x="T0" y="T1"/>
                </a:cxn>
                <a:cxn ang="T11">
                  <a:pos x="T2" y="T3"/>
                </a:cxn>
                <a:cxn ang="T12">
                  <a:pos x="T4" y="T5"/>
                </a:cxn>
                <a:cxn ang="T13">
                  <a:pos x="T6" y="T7"/>
                </a:cxn>
                <a:cxn ang="T14">
                  <a:pos x="T8" y="T9"/>
                </a:cxn>
              </a:cxnLst>
              <a:rect l="T15" t="T16" r="T17" b="T18"/>
              <a:pathLst>
                <a:path w="179" h="176">
                  <a:moveTo>
                    <a:pt x="178" y="175"/>
                  </a:moveTo>
                  <a:lnTo>
                    <a:pt x="178" y="0"/>
                  </a:lnTo>
                  <a:lnTo>
                    <a:pt x="0" y="0"/>
                  </a:lnTo>
                  <a:lnTo>
                    <a:pt x="0" y="175"/>
                  </a:lnTo>
                  <a:lnTo>
                    <a:pt x="178"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04" name="Freeform 8">
              <a:extLst>
                <a:ext uri="{FF2B5EF4-FFF2-40B4-BE49-F238E27FC236}">
                  <a16:creationId xmlns:a16="http://schemas.microsoft.com/office/drawing/2014/main" id="{8DBC369F-5A62-17D9-3BD4-12C4FD5A3A92}"/>
                </a:ext>
              </a:extLst>
            </p:cNvPr>
            <p:cNvSpPr>
              <a:spLocks/>
            </p:cNvSpPr>
            <p:nvPr/>
          </p:nvSpPr>
          <p:spPr bwMode="auto">
            <a:xfrm>
              <a:off x="173" y="4432"/>
              <a:ext cx="71" cy="36"/>
            </a:xfrm>
            <a:custGeom>
              <a:avLst/>
              <a:gdLst>
                <a:gd name="T0" fmla="*/ 70 w 71"/>
                <a:gd name="T1" fmla="*/ 6 h 36"/>
                <a:gd name="T2" fmla="*/ 66 w 71"/>
                <a:gd name="T3" fmla="*/ 0 h 36"/>
                <a:gd name="T4" fmla="*/ 0 w 71"/>
                <a:gd name="T5" fmla="*/ 28 h 36"/>
                <a:gd name="T6" fmla="*/ 3 w 71"/>
                <a:gd name="T7" fmla="*/ 35 h 36"/>
                <a:gd name="T8" fmla="*/ 70 w 71"/>
                <a:gd name="T9" fmla="*/ 6 h 36"/>
                <a:gd name="T10" fmla="*/ 0 60000 65536"/>
                <a:gd name="T11" fmla="*/ 0 60000 65536"/>
                <a:gd name="T12" fmla="*/ 0 60000 65536"/>
                <a:gd name="T13" fmla="*/ 0 60000 65536"/>
                <a:gd name="T14" fmla="*/ 0 60000 65536"/>
                <a:gd name="T15" fmla="*/ 0 w 71"/>
                <a:gd name="T16" fmla="*/ 0 h 36"/>
                <a:gd name="T17" fmla="*/ 71 w 71"/>
                <a:gd name="T18" fmla="*/ 36 h 36"/>
              </a:gdLst>
              <a:ahLst/>
              <a:cxnLst>
                <a:cxn ang="T10">
                  <a:pos x="T0" y="T1"/>
                </a:cxn>
                <a:cxn ang="T11">
                  <a:pos x="T2" y="T3"/>
                </a:cxn>
                <a:cxn ang="T12">
                  <a:pos x="T4" y="T5"/>
                </a:cxn>
                <a:cxn ang="T13">
                  <a:pos x="T6" y="T7"/>
                </a:cxn>
                <a:cxn ang="T14">
                  <a:pos x="T8" y="T9"/>
                </a:cxn>
              </a:cxnLst>
              <a:rect l="T15" t="T16" r="T17" b="T18"/>
              <a:pathLst>
                <a:path w="71" h="36">
                  <a:moveTo>
                    <a:pt x="70" y="6"/>
                  </a:moveTo>
                  <a:lnTo>
                    <a:pt x="66" y="0"/>
                  </a:lnTo>
                  <a:lnTo>
                    <a:pt x="0" y="28"/>
                  </a:lnTo>
                  <a:lnTo>
                    <a:pt x="3" y="35"/>
                  </a:lnTo>
                  <a:lnTo>
                    <a:pt x="70"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05" name="Freeform 9">
              <a:extLst>
                <a:ext uri="{FF2B5EF4-FFF2-40B4-BE49-F238E27FC236}">
                  <a16:creationId xmlns:a16="http://schemas.microsoft.com/office/drawing/2014/main" id="{B3396D06-E5DA-60D1-261A-1B19BA41B20F}"/>
                </a:ext>
              </a:extLst>
            </p:cNvPr>
            <p:cNvSpPr>
              <a:spLocks/>
            </p:cNvSpPr>
            <p:nvPr/>
          </p:nvSpPr>
          <p:spPr bwMode="auto">
            <a:xfrm>
              <a:off x="183" y="4447"/>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06" name="Freeform 10">
              <a:extLst>
                <a:ext uri="{FF2B5EF4-FFF2-40B4-BE49-F238E27FC236}">
                  <a16:creationId xmlns:a16="http://schemas.microsoft.com/office/drawing/2014/main" id="{AF6D5BAF-E7A9-D1EF-3E55-257422C50C43}"/>
                </a:ext>
              </a:extLst>
            </p:cNvPr>
            <p:cNvSpPr>
              <a:spLocks/>
            </p:cNvSpPr>
            <p:nvPr/>
          </p:nvSpPr>
          <p:spPr bwMode="auto">
            <a:xfrm>
              <a:off x="189" y="4463"/>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07" name="Freeform 11">
              <a:extLst>
                <a:ext uri="{FF2B5EF4-FFF2-40B4-BE49-F238E27FC236}">
                  <a16:creationId xmlns:a16="http://schemas.microsoft.com/office/drawing/2014/main" id="{58C5BD33-A43F-8776-8F53-3BE2A00EAD18}"/>
                </a:ext>
              </a:extLst>
            </p:cNvPr>
            <p:cNvSpPr>
              <a:spLocks/>
            </p:cNvSpPr>
            <p:nvPr/>
          </p:nvSpPr>
          <p:spPr bwMode="auto">
            <a:xfrm>
              <a:off x="197" y="4480"/>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 name="T10" fmla="*/ 0 60000 65536"/>
                <a:gd name="T11" fmla="*/ 0 60000 65536"/>
                <a:gd name="T12" fmla="*/ 0 60000 65536"/>
                <a:gd name="T13" fmla="*/ 0 60000 65536"/>
                <a:gd name="T14" fmla="*/ 0 60000 65536"/>
                <a:gd name="T15" fmla="*/ 0 w 70"/>
                <a:gd name="T16" fmla="*/ 0 h 35"/>
                <a:gd name="T17" fmla="*/ 70 w 70"/>
                <a:gd name="T18" fmla="*/ 35 h 35"/>
              </a:gdLst>
              <a:ahLst/>
              <a:cxnLst>
                <a:cxn ang="T10">
                  <a:pos x="T0" y="T1"/>
                </a:cxn>
                <a:cxn ang="T11">
                  <a:pos x="T2" y="T3"/>
                </a:cxn>
                <a:cxn ang="T12">
                  <a:pos x="T4" y="T5"/>
                </a:cxn>
                <a:cxn ang="T13">
                  <a:pos x="T6" y="T7"/>
                </a:cxn>
                <a:cxn ang="T14">
                  <a:pos x="T8" y="T9"/>
                </a:cxn>
              </a:cxnLst>
              <a:rect l="T15" t="T16" r="T17" b="T18"/>
              <a:pathLst>
                <a:path w="70" h="35">
                  <a:moveTo>
                    <a:pt x="69" y="6"/>
                  </a:moveTo>
                  <a:lnTo>
                    <a:pt x="65" y="0"/>
                  </a:lnTo>
                  <a:lnTo>
                    <a:pt x="0" y="27"/>
                  </a:lnTo>
                  <a:lnTo>
                    <a:pt x="3" y="34"/>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08" name="Freeform 12">
              <a:extLst>
                <a:ext uri="{FF2B5EF4-FFF2-40B4-BE49-F238E27FC236}">
                  <a16:creationId xmlns:a16="http://schemas.microsoft.com/office/drawing/2014/main" id="{FD6C6970-BD37-4D58-2034-25E748DE825A}"/>
                </a:ext>
              </a:extLst>
            </p:cNvPr>
            <p:cNvSpPr>
              <a:spLocks/>
            </p:cNvSpPr>
            <p:nvPr/>
          </p:nvSpPr>
          <p:spPr bwMode="auto">
            <a:xfrm>
              <a:off x="205" y="4496"/>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09" name="Freeform 13">
              <a:extLst>
                <a:ext uri="{FF2B5EF4-FFF2-40B4-BE49-F238E27FC236}">
                  <a16:creationId xmlns:a16="http://schemas.microsoft.com/office/drawing/2014/main" id="{2E8F08CA-60C1-D9C9-8171-3EFE9DD2BC26}"/>
                </a:ext>
              </a:extLst>
            </p:cNvPr>
            <p:cNvSpPr>
              <a:spLocks/>
            </p:cNvSpPr>
            <p:nvPr/>
          </p:nvSpPr>
          <p:spPr bwMode="auto">
            <a:xfrm>
              <a:off x="133" y="4394"/>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10" name="Freeform 14">
              <a:extLst>
                <a:ext uri="{FF2B5EF4-FFF2-40B4-BE49-F238E27FC236}">
                  <a16:creationId xmlns:a16="http://schemas.microsoft.com/office/drawing/2014/main" id="{07FEDC0B-8437-FE9D-8AD1-E83ABBC4CD90}"/>
                </a:ext>
              </a:extLst>
            </p:cNvPr>
            <p:cNvSpPr>
              <a:spLocks/>
            </p:cNvSpPr>
            <p:nvPr/>
          </p:nvSpPr>
          <p:spPr bwMode="auto">
            <a:xfrm>
              <a:off x="116" y="4383"/>
              <a:ext cx="124" cy="59"/>
            </a:xfrm>
            <a:custGeom>
              <a:avLst/>
              <a:gdLst>
                <a:gd name="T0" fmla="*/ 123 w 124"/>
                <a:gd name="T1" fmla="*/ 7 h 59"/>
                <a:gd name="T2" fmla="*/ 119 w 124"/>
                <a:gd name="T3" fmla="*/ 0 h 59"/>
                <a:gd name="T4" fmla="*/ 0 w 124"/>
                <a:gd name="T5" fmla="*/ 51 h 59"/>
                <a:gd name="T6" fmla="*/ 2 w 124"/>
                <a:gd name="T7" fmla="*/ 58 h 59"/>
                <a:gd name="T8" fmla="*/ 123 w 124"/>
                <a:gd name="T9" fmla="*/ 7 h 59"/>
                <a:gd name="T10" fmla="*/ 0 60000 65536"/>
                <a:gd name="T11" fmla="*/ 0 60000 65536"/>
                <a:gd name="T12" fmla="*/ 0 60000 65536"/>
                <a:gd name="T13" fmla="*/ 0 60000 65536"/>
                <a:gd name="T14" fmla="*/ 0 60000 65536"/>
                <a:gd name="T15" fmla="*/ 0 w 124"/>
                <a:gd name="T16" fmla="*/ 0 h 59"/>
                <a:gd name="T17" fmla="*/ 124 w 124"/>
                <a:gd name="T18" fmla="*/ 59 h 59"/>
              </a:gdLst>
              <a:ahLst/>
              <a:cxnLst>
                <a:cxn ang="T10">
                  <a:pos x="T0" y="T1"/>
                </a:cxn>
                <a:cxn ang="T11">
                  <a:pos x="T2" y="T3"/>
                </a:cxn>
                <a:cxn ang="T12">
                  <a:pos x="T4" y="T5"/>
                </a:cxn>
                <a:cxn ang="T13">
                  <a:pos x="T6" y="T7"/>
                </a:cxn>
                <a:cxn ang="T14">
                  <a:pos x="T8" y="T9"/>
                </a:cxn>
              </a:cxnLst>
              <a:rect l="T15" t="T16" r="T17" b="T18"/>
              <a:pathLst>
                <a:path w="124" h="59">
                  <a:moveTo>
                    <a:pt x="123" y="7"/>
                  </a:moveTo>
                  <a:lnTo>
                    <a:pt x="119" y="0"/>
                  </a:lnTo>
                  <a:lnTo>
                    <a:pt x="0" y="51"/>
                  </a:lnTo>
                  <a:lnTo>
                    <a:pt x="2" y="58"/>
                  </a:lnTo>
                  <a:lnTo>
                    <a:pt x="123"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11" name="Freeform 15">
              <a:extLst>
                <a:ext uri="{FF2B5EF4-FFF2-40B4-BE49-F238E27FC236}">
                  <a16:creationId xmlns:a16="http://schemas.microsoft.com/office/drawing/2014/main" id="{BDB8977D-7FA5-009D-5F53-09F5C359FC31}"/>
                </a:ext>
              </a:extLst>
            </p:cNvPr>
            <p:cNvSpPr>
              <a:spLocks/>
            </p:cNvSpPr>
            <p:nvPr/>
          </p:nvSpPr>
          <p:spPr bwMode="auto">
            <a:xfrm>
              <a:off x="244" y="4396"/>
              <a:ext cx="55" cy="105"/>
            </a:xfrm>
            <a:custGeom>
              <a:avLst/>
              <a:gdLst>
                <a:gd name="T0" fmla="*/ 46 w 55"/>
                <a:gd name="T1" fmla="*/ 104 h 105"/>
                <a:gd name="T2" fmla="*/ 54 w 55"/>
                <a:gd name="T3" fmla="*/ 101 h 105"/>
                <a:gd name="T4" fmla="*/ 7 w 55"/>
                <a:gd name="T5" fmla="*/ 0 h 105"/>
                <a:gd name="T6" fmla="*/ 0 w 55"/>
                <a:gd name="T7" fmla="*/ 3 h 105"/>
                <a:gd name="T8" fmla="*/ 46 w 55"/>
                <a:gd name="T9" fmla="*/ 104 h 105"/>
                <a:gd name="T10" fmla="*/ 0 60000 65536"/>
                <a:gd name="T11" fmla="*/ 0 60000 65536"/>
                <a:gd name="T12" fmla="*/ 0 60000 65536"/>
                <a:gd name="T13" fmla="*/ 0 60000 65536"/>
                <a:gd name="T14" fmla="*/ 0 60000 65536"/>
                <a:gd name="T15" fmla="*/ 0 w 55"/>
                <a:gd name="T16" fmla="*/ 0 h 105"/>
                <a:gd name="T17" fmla="*/ 55 w 55"/>
                <a:gd name="T18" fmla="*/ 105 h 105"/>
              </a:gdLst>
              <a:ahLst/>
              <a:cxnLst>
                <a:cxn ang="T10">
                  <a:pos x="T0" y="T1"/>
                </a:cxn>
                <a:cxn ang="T11">
                  <a:pos x="T2" y="T3"/>
                </a:cxn>
                <a:cxn ang="T12">
                  <a:pos x="T4" y="T5"/>
                </a:cxn>
                <a:cxn ang="T13">
                  <a:pos x="T6" y="T7"/>
                </a:cxn>
                <a:cxn ang="T14">
                  <a:pos x="T8" y="T9"/>
                </a:cxn>
              </a:cxnLst>
              <a:rect l="T15" t="T16" r="T17" b="T18"/>
              <a:pathLst>
                <a:path w="55" h="105">
                  <a:moveTo>
                    <a:pt x="46" y="104"/>
                  </a:moveTo>
                  <a:lnTo>
                    <a:pt x="54" y="101"/>
                  </a:lnTo>
                  <a:lnTo>
                    <a:pt x="7" y="0"/>
                  </a:lnTo>
                  <a:lnTo>
                    <a:pt x="0" y="3"/>
                  </a:lnTo>
                  <a:lnTo>
                    <a:pt x="46" y="10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12" name="Freeform 16">
              <a:extLst>
                <a:ext uri="{FF2B5EF4-FFF2-40B4-BE49-F238E27FC236}">
                  <a16:creationId xmlns:a16="http://schemas.microsoft.com/office/drawing/2014/main" id="{27C787A3-EF05-B7D8-3743-CA58D90FA86B}"/>
                </a:ext>
              </a:extLst>
            </p:cNvPr>
            <p:cNvSpPr>
              <a:spLocks/>
            </p:cNvSpPr>
            <p:nvPr/>
          </p:nvSpPr>
          <p:spPr bwMode="auto">
            <a:xfrm>
              <a:off x="133" y="4442"/>
              <a:ext cx="54" cy="107"/>
            </a:xfrm>
            <a:custGeom>
              <a:avLst/>
              <a:gdLst>
                <a:gd name="T0" fmla="*/ 46 w 54"/>
                <a:gd name="T1" fmla="*/ 106 h 107"/>
                <a:gd name="T2" fmla="*/ 53 w 54"/>
                <a:gd name="T3" fmla="*/ 102 h 107"/>
                <a:gd name="T4" fmla="*/ 7 w 54"/>
                <a:gd name="T5" fmla="*/ 0 h 107"/>
                <a:gd name="T6" fmla="*/ 0 w 54"/>
                <a:gd name="T7" fmla="*/ 4 h 107"/>
                <a:gd name="T8" fmla="*/ 46 w 54"/>
                <a:gd name="T9" fmla="*/ 106 h 107"/>
                <a:gd name="T10" fmla="*/ 0 60000 65536"/>
                <a:gd name="T11" fmla="*/ 0 60000 65536"/>
                <a:gd name="T12" fmla="*/ 0 60000 65536"/>
                <a:gd name="T13" fmla="*/ 0 60000 65536"/>
                <a:gd name="T14" fmla="*/ 0 60000 65536"/>
                <a:gd name="T15" fmla="*/ 0 w 54"/>
                <a:gd name="T16" fmla="*/ 0 h 107"/>
                <a:gd name="T17" fmla="*/ 54 w 54"/>
                <a:gd name="T18" fmla="*/ 107 h 107"/>
              </a:gdLst>
              <a:ahLst/>
              <a:cxnLst>
                <a:cxn ang="T10">
                  <a:pos x="T0" y="T1"/>
                </a:cxn>
                <a:cxn ang="T11">
                  <a:pos x="T2" y="T3"/>
                </a:cxn>
                <a:cxn ang="T12">
                  <a:pos x="T4" y="T5"/>
                </a:cxn>
                <a:cxn ang="T13">
                  <a:pos x="T6" y="T7"/>
                </a:cxn>
                <a:cxn ang="T14">
                  <a:pos x="T8" y="T9"/>
                </a:cxn>
              </a:cxnLst>
              <a:rect l="T15" t="T16" r="T17" b="T18"/>
              <a:pathLst>
                <a:path w="54" h="107">
                  <a:moveTo>
                    <a:pt x="46" y="106"/>
                  </a:moveTo>
                  <a:lnTo>
                    <a:pt x="53" y="102"/>
                  </a:lnTo>
                  <a:lnTo>
                    <a:pt x="7" y="0"/>
                  </a:lnTo>
                  <a:lnTo>
                    <a:pt x="0" y="4"/>
                  </a:lnTo>
                  <a:lnTo>
                    <a:pt x="46"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13" name="Freeform 17">
              <a:extLst>
                <a:ext uri="{FF2B5EF4-FFF2-40B4-BE49-F238E27FC236}">
                  <a16:creationId xmlns:a16="http://schemas.microsoft.com/office/drawing/2014/main" id="{5BED82EA-C2B3-BC36-72AC-FAFBD7429F19}"/>
                </a:ext>
              </a:extLst>
            </p:cNvPr>
            <p:cNvSpPr>
              <a:spLocks/>
            </p:cNvSpPr>
            <p:nvPr/>
          </p:nvSpPr>
          <p:spPr bwMode="auto">
            <a:xfrm>
              <a:off x="112" y="4434"/>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 name="T10" fmla="*/ 0 60000 65536"/>
                <a:gd name="T11" fmla="*/ 0 60000 65536"/>
                <a:gd name="T12" fmla="*/ 0 60000 65536"/>
                <a:gd name="T13" fmla="*/ 0 60000 65536"/>
                <a:gd name="T14" fmla="*/ 0 60000 65536"/>
                <a:gd name="T15" fmla="*/ 0 w 59"/>
                <a:gd name="T16" fmla="*/ 0 h 115"/>
                <a:gd name="T17" fmla="*/ 59 w 59"/>
                <a:gd name="T18" fmla="*/ 115 h 115"/>
              </a:gdLst>
              <a:ahLst/>
              <a:cxnLst>
                <a:cxn ang="T10">
                  <a:pos x="T0" y="T1"/>
                </a:cxn>
                <a:cxn ang="T11">
                  <a:pos x="T2" y="T3"/>
                </a:cxn>
                <a:cxn ang="T12">
                  <a:pos x="T4" y="T5"/>
                </a:cxn>
                <a:cxn ang="T13">
                  <a:pos x="T6" y="T7"/>
                </a:cxn>
                <a:cxn ang="T14">
                  <a:pos x="T8" y="T9"/>
                </a:cxn>
              </a:cxnLst>
              <a:rect l="T15" t="T16" r="T17" b="T18"/>
              <a:pathLst>
                <a:path w="59" h="115">
                  <a:moveTo>
                    <a:pt x="51" y="114"/>
                  </a:moveTo>
                  <a:lnTo>
                    <a:pt x="58"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14" name="Freeform 18">
              <a:extLst>
                <a:ext uri="{FF2B5EF4-FFF2-40B4-BE49-F238E27FC236}">
                  <a16:creationId xmlns:a16="http://schemas.microsoft.com/office/drawing/2014/main" id="{E13F0D7B-E164-FE78-2189-8AC0FC559BAD}"/>
                </a:ext>
              </a:extLst>
            </p:cNvPr>
            <p:cNvSpPr>
              <a:spLocks/>
            </p:cNvSpPr>
            <p:nvPr/>
          </p:nvSpPr>
          <p:spPr bwMode="auto">
            <a:xfrm>
              <a:off x="115" y="4434"/>
              <a:ext cx="28" cy="17"/>
            </a:xfrm>
            <a:custGeom>
              <a:avLst/>
              <a:gdLst>
                <a:gd name="T0" fmla="*/ 23 w 28"/>
                <a:gd name="T1" fmla="*/ 16 h 17"/>
                <a:gd name="T2" fmla="*/ 27 w 28"/>
                <a:gd name="T3" fmla="*/ 9 h 17"/>
                <a:gd name="T4" fmla="*/ 4 w 28"/>
                <a:gd name="T5" fmla="*/ 0 h 17"/>
                <a:gd name="T6" fmla="*/ 0 w 28"/>
                <a:gd name="T7" fmla="*/ 6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6"/>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9715" name="Freeform 19">
              <a:extLst>
                <a:ext uri="{FF2B5EF4-FFF2-40B4-BE49-F238E27FC236}">
                  <a16:creationId xmlns:a16="http://schemas.microsoft.com/office/drawing/2014/main" id="{1C765226-72DC-CA0A-DF84-25BE5930EAE9}"/>
                </a:ext>
              </a:extLst>
            </p:cNvPr>
            <p:cNvSpPr>
              <a:spLocks/>
            </p:cNvSpPr>
            <p:nvPr/>
          </p:nvSpPr>
          <p:spPr bwMode="auto">
            <a:xfrm>
              <a:off x="223" y="4389"/>
              <a:ext cx="29" cy="18"/>
            </a:xfrm>
            <a:custGeom>
              <a:avLst/>
              <a:gdLst>
                <a:gd name="T0" fmla="*/ 24 w 29"/>
                <a:gd name="T1" fmla="*/ 17 h 18"/>
                <a:gd name="T2" fmla="*/ 28 w 29"/>
                <a:gd name="T3" fmla="*/ 10 h 18"/>
                <a:gd name="T4" fmla="*/ 4 w 29"/>
                <a:gd name="T5" fmla="*/ 0 h 18"/>
                <a:gd name="T6" fmla="*/ 0 w 29"/>
                <a:gd name="T7" fmla="*/ 5 h 18"/>
                <a:gd name="T8" fmla="*/ 24 w 29"/>
                <a:gd name="T9" fmla="*/ 17 h 18"/>
                <a:gd name="T10" fmla="*/ 0 60000 65536"/>
                <a:gd name="T11" fmla="*/ 0 60000 65536"/>
                <a:gd name="T12" fmla="*/ 0 60000 65536"/>
                <a:gd name="T13" fmla="*/ 0 60000 65536"/>
                <a:gd name="T14" fmla="*/ 0 60000 65536"/>
                <a:gd name="T15" fmla="*/ 0 w 29"/>
                <a:gd name="T16" fmla="*/ 0 h 18"/>
                <a:gd name="T17" fmla="*/ 29 w 29"/>
                <a:gd name="T18" fmla="*/ 18 h 18"/>
              </a:gdLst>
              <a:ahLst/>
              <a:cxnLst>
                <a:cxn ang="T10">
                  <a:pos x="T0" y="T1"/>
                </a:cxn>
                <a:cxn ang="T11">
                  <a:pos x="T2" y="T3"/>
                </a:cxn>
                <a:cxn ang="T12">
                  <a:pos x="T4" y="T5"/>
                </a:cxn>
                <a:cxn ang="T13">
                  <a:pos x="T6" y="T7"/>
                </a:cxn>
                <a:cxn ang="T14">
                  <a:pos x="T8" y="T9"/>
                </a:cxn>
              </a:cxnLst>
              <a:rect l="T15" t="T16" r="T17" b="T18"/>
              <a:pathLst>
                <a:path w="29" h="18">
                  <a:moveTo>
                    <a:pt x="24" y="17"/>
                  </a:moveTo>
                  <a:lnTo>
                    <a:pt x="28" y="10"/>
                  </a:lnTo>
                  <a:lnTo>
                    <a:pt x="4" y="0"/>
                  </a:lnTo>
                  <a:lnTo>
                    <a:pt x="0" y="5"/>
                  </a:lnTo>
                  <a:lnTo>
                    <a:pt x="24"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F55AC25-FFDA-9706-ED79-3C74606FCF2D}"/>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1747" name="Rectangle 3">
            <a:extLst>
              <a:ext uri="{FF2B5EF4-FFF2-40B4-BE49-F238E27FC236}">
                <a16:creationId xmlns:a16="http://schemas.microsoft.com/office/drawing/2014/main" id="{6A299F6E-1BC1-92C8-7D64-DA52F7EED73E}"/>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1748" name="Rectangle 4">
            <a:extLst>
              <a:ext uri="{FF2B5EF4-FFF2-40B4-BE49-F238E27FC236}">
                <a16:creationId xmlns:a16="http://schemas.microsoft.com/office/drawing/2014/main" id="{D8B05830-1C5D-6BD2-2DC6-72BB4FC98D5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How Are Indexes Created?</a:t>
            </a:r>
          </a:p>
          <a:p>
            <a:pPr lvl="1"/>
            <a:r>
              <a:rPr lang="en-US" altLang="en-US">
                <a:latin typeface="Arial" panose="020B0604020202020204" pitchFamily="34" charset="0"/>
              </a:rPr>
              <a:t>Two types of indexes can be created. One type is a unique index. The Oracle Server automatically creates this index when you define a column in a table to have a PRIMARY KEY or a UNIQUE key constraint. The name of the index is the name given to the constraint.</a:t>
            </a:r>
          </a:p>
          <a:p>
            <a:pPr lvl="1"/>
            <a:r>
              <a:rPr lang="en-US" altLang="en-US">
                <a:latin typeface="Arial" panose="020B0604020202020204" pitchFamily="34" charset="0"/>
              </a:rPr>
              <a:t>The other type of index that a user can create is a nonunique index. For example, you can create a FOREIGN KEY column index for a join in a query to improve retrieval speed. </a:t>
            </a:r>
          </a:p>
          <a:p>
            <a:endParaRPr lang="en-US" altLang="en-US" b="1">
              <a:latin typeface="Times New Roman" panose="02020603050405020304" pitchFamily="18" charset="0"/>
            </a:endParaRPr>
          </a:p>
        </p:txBody>
      </p:sp>
      <p:sp>
        <p:nvSpPr>
          <p:cNvPr id="31749" name="Rectangle 5">
            <a:extLst>
              <a:ext uri="{FF2B5EF4-FFF2-40B4-BE49-F238E27FC236}">
                <a16:creationId xmlns:a16="http://schemas.microsoft.com/office/drawing/2014/main" id="{F4D11EAF-4F19-1673-CD6A-A87056837D48}"/>
              </a:ext>
            </a:extLst>
          </p:cNvPr>
          <p:cNvSpPr>
            <a:spLocks noGrp="1" noRot="1" noChangeArrowheads="1" noTextEdit="1"/>
          </p:cNvSpPr>
          <p:nvPr>
            <p:ph type="sldImg"/>
          </p:nvPr>
        </p:nvSpPr>
        <p:spPr>
          <a:xfrm>
            <a:off x="436563" y="158750"/>
            <a:ext cx="5980112" cy="4484688"/>
          </a:xfrm>
          <a:ln w="12700" cap="flat">
            <a:solidFill>
              <a:schemeClr val="tx1"/>
            </a:solid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54D077D-AC9C-3E7B-17AA-70A00B5ED227}"/>
              </a:ext>
            </a:extLst>
          </p:cNvPr>
          <p:cNvSpPr>
            <a:spLocks noGrp="1" noRot="1" noChangeArrowheads="1" noTextEdit="1"/>
          </p:cNvSpPr>
          <p:nvPr>
            <p:ph type="sldImg"/>
          </p:nvPr>
        </p:nvSpPr>
        <p:spPr>
          <a:xfrm>
            <a:off x="436563" y="158750"/>
            <a:ext cx="5980112" cy="4484688"/>
          </a:xfrm>
          <a:ln w="12700" cap="flat">
            <a:solidFill>
              <a:schemeClr val="tx1"/>
            </a:solidFill>
          </a:ln>
        </p:spPr>
      </p:sp>
      <p:sp>
        <p:nvSpPr>
          <p:cNvPr id="33795" name="Rectangle 3">
            <a:extLst>
              <a:ext uri="{FF2B5EF4-FFF2-40B4-BE49-F238E27FC236}">
                <a16:creationId xmlns:a16="http://schemas.microsoft.com/office/drawing/2014/main" id="{C5DEEF19-4F34-183B-6859-453A17E0ACC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Creating an Index</a:t>
            </a:r>
          </a:p>
          <a:p>
            <a:pPr lvl="1"/>
            <a:r>
              <a:rPr lang="en-US" altLang="en-US">
                <a:latin typeface="Arial" panose="020B0604020202020204" pitchFamily="34" charset="0"/>
              </a:rPr>
              <a:t>Create an index on one or more columns by issuing the </a:t>
            </a:r>
            <a:r>
              <a:rPr lang="en-US" altLang="en-US">
                <a:solidFill>
                  <a:srgbClr val="FC0128"/>
                </a:solidFill>
                <a:latin typeface="Arial" panose="020B0604020202020204" pitchFamily="34" charset="0"/>
              </a:rPr>
              <a:t>CREATE INDEX </a:t>
            </a:r>
            <a:r>
              <a:rPr lang="en-US" altLang="en-US">
                <a:latin typeface="Arial" panose="020B0604020202020204" pitchFamily="34" charset="0"/>
              </a:rPr>
              <a:t>statement.</a:t>
            </a:r>
          </a:p>
          <a:p>
            <a:pPr lvl="1"/>
            <a:r>
              <a:rPr lang="en-US" altLang="en-US">
                <a:latin typeface="Arial" panose="020B0604020202020204" pitchFamily="34" charset="0"/>
              </a:rPr>
              <a:t>In the syntax:</a:t>
            </a:r>
            <a:endParaRPr lang="en-US" altLang="en-US">
              <a:latin typeface="Times" panose="02020603050405020304" pitchFamily="18" charset="0"/>
            </a:endParaRPr>
          </a:p>
          <a:p>
            <a:pPr lvl="1"/>
            <a:r>
              <a:rPr lang="en-US" altLang="en-US">
                <a:latin typeface="Arial" panose="020B0604020202020204" pitchFamily="34" charset="0"/>
              </a:rPr>
              <a:t>	</a:t>
            </a:r>
            <a:r>
              <a:rPr lang="en-US" altLang="en-US" i="1">
                <a:latin typeface="Arial" panose="020B0604020202020204" pitchFamily="34" charset="0"/>
              </a:rPr>
              <a:t>index</a:t>
            </a:r>
            <a:r>
              <a:rPr lang="en-US" altLang="en-US">
                <a:latin typeface="Arial" panose="020B0604020202020204" pitchFamily="34" charset="0"/>
              </a:rPr>
              <a:t>			is the name of the index</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i="1">
                <a:latin typeface="Arial" panose="020B0604020202020204" pitchFamily="34" charset="0"/>
              </a:rPr>
              <a:t>	column</a:t>
            </a:r>
            <a:r>
              <a:rPr lang="en-US" altLang="en-US">
                <a:latin typeface="Arial" panose="020B0604020202020204" pitchFamily="34" charset="0"/>
              </a:rPr>
              <a:t>		is the name of the column in the table to be indexed</a:t>
            </a:r>
          </a:p>
          <a:p>
            <a:pPr lvl="1"/>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“CREATE INDEX.”</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solidFill>
                <a:schemeClr val="accent2"/>
              </a:solidFill>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To create an index in your schema, you must have CREATE INDEX privileges. </a:t>
            </a:r>
          </a:p>
          <a:p>
            <a:pPr lvl="1"/>
            <a:r>
              <a:rPr lang="en-US" altLang="en-US">
                <a:solidFill>
                  <a:schemeClr val="accent2"/>
                </a:solidFill>
                <a:latin typeface="Arial" panose="020B0604020202020204" pitchFamily="34" charset="0"/>
              </a:rPr>
              <a:t>Another option in the syntax is the UNIQUE keyword. Emphasize that Oracle recommends that you do not explicitly define unique indexes on tables. Instead define uniqueness in the table as a constraint. The Oracle Server enforces unique integrity constraints by automatically defining a unique index on the unique key.</a:t>
            </a:r>
          </a:p>
        </p:txBody>
      </p:sp>
      <p:grpSp>
        <p:nvGrpSpPr>
          <p:cNvPr id="33796" name="Group 4">
            <a:extLst>
              <a:ext uri="{FF2B5EF4-FFF2-40B4-BE49-F238E27FC236}">
                <a16:creationId xmlns:a16="http://schemas.microsoft.com/office/drawing/2014/main" id="{7A697988-CB06-96F5-99D8-7D3EAE60A3A9}"/>
              </a:ext>
            </a:extLst>
          </p:cNvPr>
          <p:cNvGrpSpPr>
            <a:grpSpLocks/>
          </p:cNvGrpSpPr>
          <p:nvPr/>
        </p:nvGrpSpPr>
        <p:grpSpPr bwMode="auto">
          <a:xfrm>
            <a:off x="155575" y="6257925"/>
            <a:ext cx="298450" cy="296863"/>
            <a:chOff x="97" y="3871"/>
            <a:chExt cx="187" cy="183"/>
          </a:xfrm>
        </p:grpSpPr>
        <p:sp>
          <p:nvSpPr>
            <p:cNvPr id="33797" name="Freeform 5">
              <a:extLst>
                <a:ext uri="{FF2B5EF4-FFF2-40B4-BE49-F238E27FC236}">
                  <a16:creationId xmlns:a16="http://schemas.microsoft.com/office/drawing/2014/main" id="{C8D5E442-4DCE-C78D-7A61-8893954DCEB8}"/>
                </a:ext>
              </a:extLst>
            </p:cNvPr>
            <p:cNvSpPr>
              <a:spLocks/>
            </p:cNvSpPr>
            <p:nvPr/>
          </p:nvSpPr>
          <p:spPr bwMode="auto">
            <a:xfrm>
              <a:off x="97" y="3871"/>
              <a:ext cx="179" cy="177"/>
            </a:xfrm>
            <a:custGeom>
              <a:avLst/>
              <a:gdLst>
                <a:gd name="T0" fmla="*/ 178 w 179"/>
                <a:gd name="T1" fmla="*/ 176 h 177"/>
                <a:gd name="T2" fmla="*/ 178 w 179"/>
                <a:gd name="T3" fmla="*/ 0 h 177"/>
                <a:gd name="T4" fmla="*/ 0 w 179"/>
                <a:gd name="T5" fmla="*/ 0 h 177"/>
                <a:gd name="T6" fmla="*/ 0 w 179"/>
                <a:gd name="T7" fmla="*/ 176 h 177"/>
                <a:gd name="T8" fmla="*/ 178 w 179"/>
                <a:gd name="T9" fmla="*/ 176 h 177"/>
                <a:gd name="T10" fmla="*/ 0 60000 65536"/>
                <a:gd name="T11" fmla="*/ 0 60000 65536"/>
                <a:gd name="T12" fmla="*/ 0 60000 65536"/>
                <a:gd name="T13" fmla="*/ 0 60000 65536"/>
                <a:gd name="T14" fmla="*/ 0 60000 65536"/>
                <a:gd name="T15" fmla="*/ 0 w 179"/>
                <a:gd name="T16" fmla="*/ 0 h 177"/>
                <a:gd name="T17" fmla="*/ 179 w 179"/>
                <a:gd name="T18" fmla="*/ 177 h 177"/>
              </a:gdLst>
              <a:ahLst/>
              <a:cxnLst>
                <a:cxn ang="T10">
                  <a:pos x="T0" y="T1"/>
                </a:cxn>
                <a:cxn ang="T11">
                  <a:pos x="T2" y="T3"/>
                </a:cxn>
                <a:cxn ang="T12">
                  <a:pos x="T4" y="T5"/>
                </a:cxn>
                <a:cxn ang="T13">
                  <a:pos x="T6" y="T7"/>
                </a:cxn>
                <a:cxn ang="T14">
                  <a:pos x="T8" y="T9"/>
                </a:cxn>
              </a:cxnLst>
              <a:rect l="T15" t="T16" r="T17" b="T18"/>
              <a:pathLst>
                <a:path w="179" h="177">
                  <a:moveTo>
                    <a:pt x="178" y="176"/>
                  </a:moveTo>
                  <a:lnTo>
                    <a:pt x="178" y="0"/>
                  </a:lnTo>
                  <a:lnTo>
                    <a:pt x="0" y="0"/>
                  </a:lnTo>
                  <a:lnTo>
                    <a:pt x="0" y="176"/>
                  </a:lnTo>
                  <a:lnTo>
                    <a:pt x="178" y="17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798" name="Freeform 6">
              <a:extLst>
                <a:ext uri="{FF2B5EF4-FFF2-40B4-BE49-F238E27FC236}">
                  <a16:creationId xmlns:a16="http://schemas.microsoft.com/office/drawing/2014/main" id="{304041BC-2EFF-0C0A-54E9-D2316DA463A9}"/>
                </a:ext>
              </a:extLst>
            </p:cNvPr>
            <p:cNvSpPr>
              <a:spLocks/>
            </p:cNvSpPr>
            <p:nvPr/>
          </p:nvSpPr>
          <p:spPr bwMode="auto">
            <a:xfrm>
              <a:off x="158" y="3937"/>
              <a:ext cx="71" cy="37"/>
            </a:xfrm>
            <a:custGeom>
              <a:avLst/>
              <a:gdLst>
                <a:gd name="T0" fmla="*/ 70 w 71"/>
                <a:gd name="T1" fmla="*/ 7 h 37"/>
                <a:gd name="T2" fmla="*/ 66 w 71"/>
                <a:gd name="T3" fmla="*/ 0 h 37"/>
                <a:gd name="T4" fmla="*/ 0 w 71"/>
                <a:gd name="T5" fmla="*/ 29 h 37"/>
                <a:gd name="T6" fmla="*/ 3 w 71"/>
                <a:gd name="T7" fmla="*/ 36 h 37"/>
                <a:gd name="T8" fmla="*/ 70 w 71"/>
                <a:gd name="T9" fmla="*/ 7 h 37"/>
                <a:gd name="T10" fmla="*/ 0 60000 65536"/>
                <a:gd name="T11" fmla="*/ 0 60000 65536"/>
                <a:gd name="T12" fmla="*/ 0 60000 65536"/>
                <a:gd name="T13" fmla="*/ 0 60000 65536"/>
                <a:gd name="T14" fmla="*/ 0 60000 65536"/>
                <a:gd name="T15" fmla="*/ 0 w 71"/>
                <a:gd name="T16" fmla="*/ 0 h 37"/>
                <a:gd name="T17" fmla="*/ 71 w 71"/>
                <a:gd name="T18" fmla="*/ 37 h 37"/>
              </a:gdLst>
              <a:ahLst/>
              <a:cxnLst>
                <a:cxn ang="T10">
                  <a:pos x="T0" y="T1"/>
                </a:cxn>
                <a:cxn ang="T11">
                  <a:pos x="T2" y="T3"/>
                </a:cxn>
                <a:cxn ang="T12">
                  <a:pos x="T4" y="T5"/>
                </a:cxn>
                <a:cxn ang="T13">
                  <a:pos x="T6" y="T7"/>
                </a:cxn>
                <a:cxn ang="T14">
                  <a:pos x="T8" y="T9"/>
                </a:cxn>
              </a:cxnLst>
              <a:rect l="T15" t="T16" r="T17" b="T18"/>
              <a:pathLst>
                <a:path w="71" h="37">
                  <a:moveTo>
                    <a:pt x="70" y="7"/>
                  </a:moveTo>
                  <a:lnTo>
                    <a:pt x="66" y="0"/>
                  </a:lnTo>
                  <a:lnTo>
                    <a:pt x="0" y="29"/>
                  </a:lnTo>
                  <a:lnTo>
                    <a:pt x="3" y="36"/>
                  </a:lnTo>
                  <a:lnTo>
                    <a:pt x="7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799" name="Freeform 7">
              <a:extLst>
                <a:ext uri="{FF2B5EF4-FFF2-40B4-BE49-F238E27FC236}">
                  <a16:creationId xmlns:a16="http://schemas.microsoft.com/office/drawing/2014/main" id="{21240EC0-0982-06ED-7F39-EE7FEF9BC2D4}"/>
                </a:ext>
              </a:extLst>
            </p:cNvPr>
            <p:cNvSpPr>
              <a:spLocks/>
            </p:cNvSpPr>
            <p:nvPr/>
          </p:nvSpPr>
          <p:spPr bwMode="auto">
            <a:xfrm>
              <a:off x="167" y="3953"/>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0" name="Freeform 8">
              <a:extLst>
                <a:ext uri="{FF2B5EF4-FFF2-40B4-BE49-F238E27FC236}">
                  <a16:creationId xmlns:a16="http://schemas.microsoft.com/office/drawing/2014/main" id="{C4C46D42-8BAD-E457-1604-1F0D63E7E37E}"/>
                </a:ext>
              </a:extLst>
            </p:cNvPr>
            <p:cNvSpPr>
              <a:spLocks/>
            </p:cNvSpPr>
            <p:nvPr/>
          </p:nvSpPr>
          <p:spPr bwMode="auto">
            <a:xfrm>
              <a:off x="173" y="3969"/>
              <a:ext cx="69" cy="35"/>
            </a:xfrm>
            <a:custGeom>
              <a:avLst/>
              <a:gdLst>
                <a:gd name="T0" fmla="*/ 68 w 69"/>
                <a:gd name="T1" fmla="*/ 6 h 35"/>
                <a:gd name="T2" fmla="*/ 65 w 69"/>
                <a:gd name="T3" fmla="*/ 0 h 35"/>
                <a:gd name="T4" fmla="*/ 0 w 69"/>
                <a:gd name="T5" fmla="*/ 27 h 35"/>
                <a:gd name="T6" fmla="*/ 3 w 69"/>
                <a:gd name="T7" fmla="*/ 34 h 35"/>
                <a:gd name="T8" fmla="*/ 68 w 69"/>
                <a:gd name="T9" fmla="*/ 6 h 35"/>
                <a:gd name="T10" fmla="*/ 0 60000 65536"/>
                <a:gd name="T11" fmla="*/ 0 60000 65536"/>
                <a:gd name="T12" fmla="*/ 0 60000 65536"/>
                <a:gd name="T13" fmla="*/ 0 60000 65536"/>
                <a:gd name="T14" fmla="*/ 0 60000 65536"/>
                <a:gd name="T15" fmla="*/ 0 w 69"/>
                <a:gd name="T16" fmla="*/ 0 h 35"/>
                <a:gd name="T17" fmla="*/ 69 w 69"/>
                <a:gd name="T18" fmla="*/ 35 h 35"/>
              </a:gdLst>
              <a:ahLst/>
              <a:cxnLst>
                <a:cxn ang="T10">
                  <a:pos x="T0" y="T1"/>
                </a:cxn>
                <a:cxn ang="T11">
                  <a:pos x="T2" y="T3"/>
                </a:cxn>
                <a:cxn ang="T12">
                  <a:pos x="T4" y="T5"/>
                </a:cxn>
                <a:cxn ang="T13">
                  <a:pos x="T6" y="T7"/>
                </a:cxn>
                <a:cxn ang="T14">
                  <a:pos x="T8" y="T9"/>
                </a:cxn>
              </a:cxnLst>
              <a:rect l="T15" t="T16" r="T17" b="T18"/>
              <a:pathLst>
                <a:path w="69" h="35">
                  <a:moveTo>
                    <a:pt x="68" y="6"/>
                  </a:moveTo>
                  <a:lnTo>
                    <a:pt x="65" y="0"/>
                  </a:lnTo>
                  <a:lnTo>
                    <a:pt x="0" y="27"/>
                  </a:lnTo>
                  <a:lnTo>
                    <a:pt x="3" y="34"/>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1" name="Freeform 9">
              <a:extLst>
                <a:ext uri="{FF2B5EF4-FFF2-40B4-BE49-F238E27FC236}">
                  <a16:creationId xmlns:a16="http://schemas.microsoft.com/office/drawing/2014/main" id="{73A59804-5152-3FE8-24C4-697E9C7CF0A9}"/>
                </a:ext>
              </a:extLst>
            </p:cNvPr>
            <p:cNvSpPr>
              <a:spLocks/>
            </p:cNvSpPr>
            <p:nvPr/>
          </p:nvSpPr>
          <p:spPr bwMode="auto">
            <a:xfrm>
              <a:off x="181" y="3986"/>
              <a:ext cx="71" cy="35"/>
            </a:xfrm>
            <a:custGeom>
              <a:avLst/>
              <a:gdLst>
                <a:gd name="T0" fmla="*/ 70 w 71"/>
                <a:gd name="T1" fmla="*/ 6 h 35"/>
                <a:gd name="T2" fmla="*/ 66 w 71"/>
                <a:gd name="T3" fmla="*/ 0 h 35"/>
                <a:gd name="T4" fmla="*/ 0 w 71"/>
                <a:gd name="T5" fmla="*/ 27 h 35"/>
                <a:gd name="T6" fmla="*/ 3 w 71"/>
                <a:gd name="T7" fmla="*/ 34 h 35"/>
                <a:gd name="T8" fmla="*/ 70 w 71"/>
                <a:gd name="T9" fmla="*/ 6 h 35"/>
                <a:gd name="T10" fmla="*/ 0 60000 65536"/>
                <a:gd name="T11" fmla="*/ 0 60000 65536"/>
                <a:gd name="T12" fmla="*/ 0 60000 65536"/>
                <a:gd name="T13" fmla="*/ 0 60000 65536"/>
                <a:gd name="T14" fmla="*/ 0 60000 65536"/>
                <a:gd name="T15" fmla="*/ 0 w 71"/>
                <a:gd name="T16" fmla="*/ 0 h 35"/>
                <a:gd name="T17" fmla="*/ 71 w 71"/>
                <a:gd name="T18" fmla="*/ 35 h 35"/>
              </a:gdLst>
              <a:ahLst/>
              <a:cxnLst>
                <a:cxn ang="T10">
                  <a:pos x="T0" y="T1"/>
                </a:cxn>
                <a:cxn ang="T11">
                  <a:pos x="T2" y="T3"/>
                </a:cxn>
                <a:cxn ang="T12">
                  <a:pos x="T4" y="T5"/>
                </a:cxn>
                <a:cxn ang="T13">
                  <a:pos x="T6" y="T7"/>
                </a:cxn>
                <a:cxn ang="T14">
                  <a:pos x="T8" y="T9"/>
                </a:cxn>
              </a:cxnLst>
              <a:rect l="T15" t="T16" r="T17" b="T18"/>
              <a:pathLst>
                <a:path w="71" h="35">
                  <a:moveTo>
                    <a:pt x="70" y="6"/>
                  </a:moveTo>
                  <a:lnTo>
                    <a:pt x="66" y="0"/>
                  </a:lnTo>
                  <a:lnTo>
                    <a:pt x="0" y="27"/>
                  </a:lnTo>
                  <a:lnTo>
                    <a:pt x="3" y="34"/>
                  </a:lnTo>
                  <a:lnTo>
                    <a:pt x="70"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2" name="Freeform 10">
              <a:extLst>
                <a:ext uri="{FF2B5EF4-FFF2-40B4-BE49-F238E27FC236}">
                  <a16:creationId xmlns:a16="http://schemas.microsoft.com/office/drawing/2014/main" id="{2ADC666E-D556-B41F-3E7B-D479FA1CF3B0}"/>
                </a:ext>
              </a:extLst>
            </p:cNvPr>
            <p:cNvSpPr>
              <a:spLocks/>
            </p:cNvSpPr>
            <p:nvPr/>
          </p:nvSpPr>
          <p:spPr bwMode="auto">
            <a:xfrm>
              <a:off x="189" y="4001"/>
              <a:ext cx="70" cy="38"/>
            </a:xfrm>
            <a:custGeom>
              <a:avLst/>
              <a:gdLst>
                <a:gd name="T0" fmla="*/ 69 w 70"/>
                <a:gd name="T1" fmla="*/ 7 h 38"/>
                <a:gd name="T2" fmla="*/ 65 w 70"/>
                <a:gd name="T3" fmla="*/ 0 h 38"/>
                <a:gd name="T4" fmla="*/ 0 w 70"/>
                <a:gd name="T5" fmla="*/ 29 h 38"/>
                <a:gd name="T6" fmla="*/ 3 w 70"/>
                <a:gd name="T7" fmla="*/ 37 h 38"/>
                <a:gd name="T8" fmla="*/ 69 w 70"/>
                <a:gd name="T9" fmla="*/ 7 h 38"/>
                <a:gd name="T10" fmla="*/ 0 60000 65536"/>
                <a:gd name="T11" fmla="*/ 0 60000 65536"/>
                <a:gd name="T12" fmla="*/ 0 60000 65536"/>
                <a:gd name="T13" fmla="*/ 0 60000 65536"/>
                <a:gd name="T14" fmla="*/ 0 60000 65536"/>
                <a:gd name="T15" fmla="*/ 0 w 70"/>
                <a:gd name="T16" fmla="*/ 0 h 38"/>
                <a:gd name="T17" fmla="*/ 70 w 70"/>
                <a:gd name="T18" fmla="*/ 38 h 38"/>
              </a:gdLst>
              <a:ahLst/>
              <a:cxnLst>
                <a:cxn ang="T10">
                  <a:pos x="T0" y="T1"/>
                </a:cxn>
                <a:cxn ang="T11">
                  <a:pos x="T2" y="T3"/>
                </a:cxn>
                <a:cxn ang="T12">
                  <a:pos x="T4" y="T5"/>
                </a:cxn>
                <a:cxn ang="T13">
                  <a:pos x="T6" y="T7"/>
                </a:cxn>
                <a:cxn ang="T14">
                  <a:pos x="T8" y="T9"/>
                </a:cxn>
              </a:cxnLst>
              <a:rect l="T15" t="T16" r="T17" b="T18"/>
              <a:pathLst>
                <a:path w="70" h="38">
                  <a:moveTo>
                    <a:pt x="69" y="7"/>
                  </a:moveTo>
                  <a:lnTo>
                    <a:pt x="65" y="0"/>
                  </a:lnTo>
                  <a:lnTo>
                    <a:pt x="0" y="29"/>
                  </a:lnTo>
                  <a:lnTo>
                    <a:pt x="3" y="37"/>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3" name="Freeform 11">
              <a:extLst>
                <a:ext uri="{FF2B5EF4-FFF2-40B4-BE49-F238E27FC236}">
                  <a16:creationId xmlns:a16="http://schemas.microsoft.com/office/drawing/2014/main" id="{71554C05-2F1B-9090-1B42-CA962EB4ACB5}"/>
                </a:ext>
              </a:extLst>
            </p:cNvPr>
            <p:cNvSpPr>
              <a:spLocks/>
            </p:cNvSpPr>
            <p:nvPr/>
          </p:nvSpPr>
          <p:spPr bwMode="auto">
            <a:xfrm>
              <a:off x="118" y="3900"/>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4" name="Freeform 12">
              <a:extLst>
                <a:ext uri="{FF2B5EF4-FFF2-40B4-BE49-F238E27FC236}">
                  <a16:creationId xmlns:a16="http://schemas.microsoft.com/office/drawing/2014/main" id="{996DB335-4B3B-8966-E679-2A3B068D1FC1}"/>
                </a:ext>
              </a:extLst>
            </p:cNvPr>
            <p:cNvSpPr>
              <a:spLocks/>
            </p:cNvSpPr>
            <p:nvPr/>
          </p:nvSpPr>
          <p:spPr bwMode="auto">
            <a:xfrm>
              <a:off x="101" y="3888"/>
              <a:ext cx="124" cy="59"/>
            </a:xfrm>
            <a:custGeom>
              <a:avLst/>
              <a:gdLst>
                <a:gd name="T0" fmla="*/ 123 w 124"/>
                <a:gd name="T1" fmla="*/ 7 h 59"/>
                <a:gd name="T2" fmla="*/ 119 w 124"/>
                <a:gd name="T3" fmla="*/ 0 h 59"/>
                <a:gd name="T4" fmla="*/ 0 w 124"/>
                <a:gd name="T5" fmla="*/ 51 h 59"/>
                <a:gd name="T6" fmla="*/ 2 w 124"/>
                <a:gd name="T7" fmla="*/ 58 h 59"/>
                <a:gd name="T8" fmla="*/ 123 w 124"/>
                <a:gd name="T9" fmla="*/ 7 h 59"/>
                <a:gd name="T10" fmla="*/ 0 60000 65536"/>
                <a:gd name="T11" fmla="*/ 0 60000 65536"/>
                <a:gd name="T12" fmla="*/ 0 60000 65536"/>
                <a:gd name="T13" fmla="*/ 0 60000 65536"/>
                <a:gd name="T14" fmla="*/ 0 60000 65536"/>
                <a:gd name="T15" fmla="*/ 0 w 124"/>
                <a:gd name="T16" fmla="*/ 0 h 59"/>
                <a:gd name="T17" fmla="*/ 124 w 124"/>
                <a:gd name="T18" fmla="*/ 59 h 59"/>
              </a:gdLst>
              <a:ahLst/>
              <a:cxnLst>
                <a:cxn ang="T10">
                  <a:pos x="T0" y="T1"/>
                </a:cxn>
                <a:cxn ang="T11">
                  <a:pos x="T2" y="T3"/>
                </a:cxn>
                <a:cxn ang="T12">
                  <a:pos x="T4" y="T5"/>
                </a:cxn>
                <a:cxn ang="T13">
                  <a:pos x="T6" y="T7"/>
                </a:cxn>
                <a:cxn ang="T14">
                  <a:pos x="T8" y="T9"/>
                </a:cxn>
              </a:cxnLst>
              <a:rect l="T15" t="T16" r="T17" b="T18"/>
              <a:pathLst>
                <a:path w="124" h="59">
                  <a:moveTo>
                    <a:pt x="123" y="7"/>
                  </a:moveTo>
                  <a:lnTo>
                    <a:pt x="119" y="0"/>
                  </a:lnTo>
                  <a:lnTo>
                    <a:pt x="0" y="51"/>
                  </a:lnTo>
                  <a:lnTo>
                    <a:pt x="2" y="58"/>
                  </a:lnTo>
                  <a:lnTo>
                    <a:pt x="123"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5" name="Freeform 13">
              <a:extLst>
                <a:ext uri="{FF2B5EF4-FFF2-40B4-BE49-F238E27FC236}">
                  <a16:creationId xmlns:a16="http://schemas.microsoft.com/office/drawing/2014/main" id="{9004AAE0-9ABB-032A-9DCD-D94B04DA1F85}"/>
                </a:ext>
              </a:extLst>
            </p:cNvPr>
            <p:cNvSpPr>
              <a:spLocks/>
            </p:cNvSpPr>
            <p:nvPr/>
          </p:nvSpPr>
          <p:spPr bwMode="auto">
            <a:xfrm>
              <a:off x="229" y="3902"/>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6" name="Freeform 14">
              <a:extLst>
                <a:ext uri="{FF2B5EF4-FFF2-40B4-BE49-F238E27FC236}">
                  <a16:creationId xmlns:a16="http://schemas.microsoft.com/office/drawing/2014/main" id="{08C64D9C-F8AC-E8DD-B1DF-6AEC4EF0ECD7}"/>
                </a:ext>
              </a:extLst>
            </p:cNvPr>
            <p:cNvSpPr>
              <a:spLocks/>
            </p:cNvSpPr>
            <p:nvPr/>
          </p:nvSpPr>
          <p:spPr bwMode="auto">
            <a:xfrm>
              <a:off x="118" y="3947"/>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7" name="Freeform 15">
              <a:extLst>
                <a:ext uri="{FF2B5EF4-FFF2-40B4-BE49-F238E27FC236}">
                  <a16:creationId xmlns:a16="http://schemas.microsoft.com/office/drawing/2014/main" id="{7B88A656-5E98-A0B4-79AC-83537C55B867}"/>
                </a:ext>
              </a:extLst>
            </p:cNvPr>
            <p:cNvSpPr>
              <a:spLocks/>
            </p:cNvSpPr>
            <p:nvPr/>
          </p:nvSpPr>
          <p:spPr bwMode="auto">
            <a:xfrm>
              <a:off x="97" y="3939"/>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 name="T10" fmla="*/ 0 60000 65536"/>
                <a:gd name="T11" fmla="*/ 0 60000 65536"/>
                <a:gd name="T12" fmla="*/ 0 60000 65536"/>
                <a:gd name="T13" fmla="*/ 0 60000 65536"/>
                <a:gd name="T14" fmla="*/ 0 60000 65536"/>
                <a:gd name="T15" fmla="*/ 0 w 59"/>
                <a:gd name="T16" fmla="*/ 0 h 115"/>
                <a:gd name="T17" fmla="*/ 59 w 59"/>
                <a:gd name="T18" fmla="*/ 115 h 115"/>
              </a:gdLst>
              <a:ahLst/>
              <a:cxnLst>
                <a:cxn ang="T10">
                  <a:pos x="T0" y="T1"/>
                </a:cxn>
                <a:cxn ang="T11">
                  <a:pos x="T2" y="T3"/>
                </a:cxn>
                <a:cxn ang="T12">
                  <a:pos x="T4" y="T5"/>
                </a:cxn>
                <a:cxn ang="T13">
                  <a:pos x="T6" y="T7"/>
                </a:cxn>
                <a:cxn ang="T14">
                  <a:pos x="T8" y="T9"/>
                </a:cxn>
              </a:cxnLst>
              <a:rect l="T15" t="T16" r="T17" b="T18"/>
              <a:pathLst>
                <a:path w="59" h="115">
                  <a:moveTo>
                    <a:pt x="51" y="114"/>
                  </a:moveTo>
                  <a:lnTo>
                    <a:pt x="58"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8" name="Freeform 16">
              <a:extLst>
                <a:ext uri="{FF2B5EF4-FFF2-40B4-BE49-F238E27FC236}">
                  <a16:creationId xmlns:a16="http://schemas.microsoft.com/office/drawing/2014/main" id="{EA84C911-2C7E-F3E8-D1E9-874492DB7EFE}"/>
                </a:ext>
              </a:extLst>
            </p:cNvPr>
            <p:cNvSpPr>
              <a:spLocks/>
            </p:cNvSpPr>
            <p:nvPr/>
          </p:nvSpPr>
          <p:spPr bwMode="auto">
            <a:xfrm>
              <a:off x="100" y="3939"/>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9" name="Freeform 17">
              <a:extLst>
                <a:ext uri="{FF2B5EF4-FFF2-40B4-BE49-F238E27FC236}">
                  <a16:creationId xmlns:a16="http://schemas.microsoft.com/office/drawing/2014/main" id="{4933D155-D713-FC1A-9B55-7EBBC264913F}"/>
                </a:ext>
              </a:extLst>
            </p:cNvPr>
            <p:cNvSpPr>
              <a:spLocks/>
            </p:cNvSpPr>
            <p:nvPr/>
          </p:nvSpPr>
          <p:spPr bwMode="auto">
            <a:xfrm>
              <a:off x="208" y="3895"/>
              <a:ext cx="29" cy="18"/>
            </a:xfrm>
            <a:custGeom>
              <a:avLst/>
              <a:gdLst>
                <a:gd name="T0" fmla="*/ 24 w 29"/>
                <a:gd name="T1" fmla="*/ 17 h 18"/>
                <a:gd name="T2" fmla="*/ 28 w 29"/>
                <a:gd name="T3" fmla="*/ 10 h 18"/>
                <a:gd name="T4" fmla="*/ 4 w 29"/>
                <a:gd name="T5" fmla="*/ 0 h 18"/>
                <a:gd name="T6" fmla="*/ 0 w 29"/>
                <a:gd name="T7" fmla="*/ 5 h 18"/>
                <a:gd name="T8" fmla="*/ 24 w 29"/>
                <a:gd name="T9" fmla="*/ 17 h 18"/>
                <a:gd name="T10" fmla="*/ 0 60000 65536"/>
                <a:gd name="T11" fmla="*/ 0 60000 65536"/>
                <a:gd name="T12" fmla="*/ 0 60000 65536"/>
                <a:gd name="T13" fmla="*/ 0 60000 65536"/>
                <a:gd name="T14" fmla="*/ 0 60000 65536"/>
                <a:gd name="T15" fmla="*/ 0 w 29"/>
                <a:gd name="T16" fmla="*/ 0 h 18"/>
                <a:gd name="T17" fmla="*/ 29 w 29"/>
                <a:gd name="T18" fmla="*/ 18 h 18"/>
              </a:gdLst>
              <a:ahLst/>
              <a:cxnLst>
                <a:cxn ang="T10">
                  <a:pos x="T0" y="T1"/>
                </a:cxn>
                <a:cxn ang="T11">
                  <a:pos x="T2" y="T3"/>
                </a:cxn>
                <a:cxn ang="T12">
                  <a:pos x="T4" y="T5"/>
                </a:cxn>
                <a:cxn ang="T13">
                  <a:pos x="T6" y="T7"/>
                </a:cxn>
                <a:cxn ang="T14">
                  <a:pos x="T8" y="T9"/>
                </a:cxn>
              </a:cxnLst>
              <a:rect l="T15" t="T16" r="T17" b="T18"/>
              <a:pathLst>
                <a:path w="29" h="18">
                  <a:moveTo>
                    <a:pt x="24" y="17"/>
                  </a:moveTo>
                  <a:lnTo>
                    <a:pt x="28" y="10"/>
                  </a:lnTo>
                  <a:lnTo>
                    <a:pt x="4" y="0"/>
                  </a:lnTo>
                  <a:lnTo>
                    <a:pt x="0" y="5"/>
                  </a:lnTo>
                  <a:lnTo>
                    <a:pt x="24"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8660D-B7F8-CE33-FBD6-A28CD94FF85D}"/>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C53D9FA1-DE54-24A9-8612-542043BB506D}"/>
              </a:ext>
            </a:extLst>
          </p:cNvPr>
          <p:cNvSpPr>
            <a:spLocks noGrp="1" noRot="1" noChangeArrowheads="1" noTextEdit="1"/>
          </p:cNvSpPr>
          <p:nvPr>
            <p:ph type="sldImg"/>
          </p:nvPr>
        </p:nvSpPr>
        <p:spPr>
          <a:xfrm>
            <a:off x="436563" y="158750"/>
            <a:ext cx="5980112" cy="4484688"/>
          </a:xfrm>
          <a:ln w="12700" cap="flat">
            <a:solidFill>
              <a:schemeClr val="tx1"/>
            </a:solidFill>
          </a:ln>
        </p:spPr>
      </p:sp>
      <p:sp>
        <p:nvSpPr>
          <p:cNvPr id="33795" name="Rectangle 3">
            <a:extLst>
              <a:ext uri="{FF2B5EF4-FFF2-40B4-BE49-F238E27FC236}">
                <a16:creationId xmlns:a16="http://schemas.microsoft.com/office/drawing/2014/main" id="{1E69CE0F-0F3E-5EE2-957F-940D7117049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Creating an Index</a:t>
            </a:r>
          </a:p>
          <a:p>
            <a:pPr lvl="1"/>
            <a:r>
              <a:rPr lang="en-US" altLang="en-US">
                <a:latin typeface="Arial" panose="020B0604020202020204" pitchFamily="34" charset="0"/>
              </a:rPr>
              <a:t>Create an index on one or more columns by issuing the </a:t>
            </a:r>
            <a:r>
              <a:rPr lang="en-US" altLang="en-US">
                <a:solidFill>
                  <a:srgbClr val="FC0128"/>
                </a:solidFill>
                <a:latin typeface="Arial" panose="020B0604020202020204" pitchFamily="34" charset="0"/>
              </a:rPr>
              <a:t>CREATE INDEX </a:t>
            </a:r>
            <a:r>
              <a:rPr lang="en-US" altLang="en-US">
                <a:latin typeface="Arial" panose="020B0604020202020204" pitchFamily="34" charset="0"/>
              </a:rPr>
              <a:t>statement.</a:t>
            </a:r>
          </a:p>
          <a:p>
            <a:pPr lvl="1"/>
            <a:r>
              <a:rPr lang="en-US" altLang="en-US">
                <a:latin typeface="Arial" panose="020B0604020202020204" pitchFamily="34" charset="0"/>
              </a:rPr>
              <a:t>In the syntax:</a:t>
            </a:r>
            <a:endParaRPr lang="en-US" altLang="en-US">
              <a:latin typeface="Times" panose="02020603050405020304" pitchFamily="18" charset="0"/>
            </a:endParaRPr>
          </a:p>
          <a:p>
            <a:pPr lvl="1"/>
            <a:r>
              <a:rPr lang="en-US" altLang="en-US">
                <a:latin typeface="Arial" panose="020B0604020202020204" pitchFamily="34" charset="0"/>
              </a:rPr>
              <a:t>	</a:t>
            </a:r>
            <a:r>
              <a:rPr lang="en-US" altLang="en-US" i="1">
                <a:latin typeface="Arial" panose="020B0604020202020204" pitchFamily="34" charset="0"/>
              </a:rPr>
              <a:t>index</a:t>
            </a:r>
            <a:r>
              <a:rPr lang="en-US" altLang="en-US">
                <a:latin typeface="Arial" panose="020B0604020202020204" pitchFamily="34" charset="0"/>
              </a:rPr>
              <a:t>			is the name of the index</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i="1">
                <a:latin typeface="Arial" panose="020B0604020202020204" pitchFamily="34" charset="0"/>
              </a:rPr>
              <a:t>	column</a:t>
            </a:r>
            <a:r>
              <a:rPr lang="en-US" altLang="en-US">
                <a:latin typeface="Arial" panose="020B0604020202020204" pitchFamily="34" charset="0"/>
              </a:rPr>
              <a:t>		is the name of the column in the table to be indexed</a:t>
            </a:r>
          </a:p>
          <a:p>
            <a:pPr lvl="1"/>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“CREATE INDEX.”</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solidFill>
                <a:schemeClr val="accent2"/>
              </a:solidFill>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To create an index in your schema, you must have CREATE INDEX privileges. </a:t>
            </a:r>
          </a:p>
          <a:p>
            <a:pPr lvl="1"/>
            <a:r>
              <a:rPr lang="en-US" altLang="en-US">
                <a:solidFill>
                  <a:schemeClr val="accent2"/>
                </a:solidFill>
                <a:latin typeface="Arial" panose="020B0604020202020204" pitchFamily="34" charset="0"/>
              </a:rPr>
              <a:t>Another option in the syntax is the UNIQUE keyword. Emphasize that Oracle recommends that you do not explicitly define unique indexes on tables. Instead define uniqueness in the table as a constraint. The Oracle Server enforces unique integrity constraints by automatically defining a unique index on the unique key.</a:t>
            </a:r>
          </a:p>
        </p:txBody>
      </p:sp>
      <p:grpSp>
        <p:nvGrpSpPr>
          <p:cNvPr id="33796" name="Group 4">
            <a:extLst>
              <a:ext uri="{FF2B5EF4-FFF2-40B4-BE49-F238E27FC236}">
                <a16:creationId xmlns:a16="http://schemas.microsoft.com/office/drawing/2014/main" id="{BAE84BE1-BAD8-DA53-A70C-47290C8270A4}"/>
              </a:ext>
            </a:extLst>
          </p:cNvPr>
          <p:cNvGrpSpPr>
            <a:grpSpLocks/>
          </p:cNvGrpSpPr>
          <p:nvPr/>
        </p:nvGrpSpPr>
        <p:grpSpPr bwMode="auto">
          <a:xfrm>
            <a:off x="155575" y="6257925"/>
            <a:ext cx="298450" cy="296863"/>
            <a:chOff x="97" y="3871"/>
            <a:chExt cx="187" cy="183"/>
          </a:xfrm>
        </p:grpSpPr>
        <p:sp>
          <p:nvSpPr>
            <p:cNvPr id="33797" name="Freeform 5">
              <a:extLst>
                <a:ext uri="{FF2B5EF4-FFF2-40B4-BE49-F238E27FC236}">
                  <a16:creationId xmlns:a16="http://schemas.microsoft.com/office/drawing/2014/main" id="{1AD08405-E8CE-5DCC-3F6B-198E3B4E5CAB}"/>
                </a:ext>
              </a:extLst>
            </p:cNvPr>
            <p:cNvSpPr>
              <a:spLocks/>
            </p:cNvSpPr>
            <p:nvPr/>
          </p:nvSpPr>
          <p:spPr bwMode="auto">
            <a:xfrm>
              <a:off x="97" y="3871"/>
              <a:ext cx="179" cy="177"/>
            </a:xfrm>
            <a:custGeom>
              <a:avLst/>
              <a:gdLst>
                <a:gd name="T0" fmla="*/ 178 w 179"/>
                <a:gd name="T1" fmla="*/ 176 h 177"/>
                <a:gd name="T2" fmla="*/ 178 w 179"/>
                <a:gd name="T3" fmla="*/ 0 h 177"/>
                <a:gd name="T4" fmla="*/ 0 w 179"/>
                <a:gd name="T5" fmla="*/ 0 h 177"/>
                <a:gd name="T6" fmla="*/ 0 w 179"/>
                <a:gd name="T7" fmla="*/ 176 h 177"/>
                <a:gd name="T8" fmla="*/ 178 w 179"/>
                <a:gd name="T9" fmla="*/ 176 h 177"/>
                <a:gd name="T10" fmla="*/ 0 60000 65536"/>
                <a:gd name="T11" fmla="*/ 0 60000 65536"/>
                <a:gd name="T12" fmla="*/ 0 60000 65536"/>
                <a:gd name="T13" fmla="*/ 0 60000 65536"/>
                <a:gd name="T14" fmla="*/ 0 60000 65536"/>
                <a:gd name="T15" fmla="*/ 0 w 179"/>
                <a:gd name="T16" fmla="*/ 0 h 177"/>
                <a:gd name="T17" fmla="*/ 179 w 179"/>
                <a:gd name="T18" fmla="*/ 177 h 177"/>
              </a:gdLst>
              <a:ahLst/>
              <a:cxnLst>
                <a:cxn ang="T10">
                  <a:pos x="T0" y="T1"/>
                </a:cxn>
                <a:cxn ang="T11">
                  <a:pos x="T2" y="T3"/>
                </a:cxn>
                <a:cxn ang="T12">
                  <a:pos x="T4" y="T5"/>
                </a:cxn>
                <a:cxn ang="T13">
                  <a:pos x="T6" y="T7"/>
                </a:cxn>
                <a:cxn ang="T14">
                  <a:pos x="T8" y="T9"/>
                </a:cxn>
              </a:cxnLst>
              <a:rect l="T15" t="T16" r="T17" b="T18"/>
              <a:pathLst>
                <a:path w="179" h="177">
                  <a:moveTo>
                    <a:pt x="178" y="176"/>
                  </a:moveTo>
                  <a:lnTo>
                    <a:pt x="178" y="0"/>
                  </a:lnTo>
                  <a:lnTo>
                    <a:pt x="0" y="0"/>
                  </a:lnTo>
                  <a:lnTo>
                    <a:pt x="0" y="176"/>
                  </a:lnTo>
                  <a:lnTo>
                    <a:pt x="178" y="17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798" name="Freeform 6">
              <a:extLst>
                <a:ext uri="{FF2B5EF4-FFF2-40B4-BE49-F238E27FC236}">
                  <a16:creationId xmlns:a16="http://schemas.microsoft.com/office/drawing/2014/main" id="{4D401ADD-275C-80B3-0692-C36D5282EA27}"/>
                </a:ext>
              </a:extLst>
            </p:cNvPr>
            <p:cNvSpPr>
              <a:spLocks/>
            </p:cNvSpPr>
            <p:nvPr/>
          </p:nvSpPr>
          <p:spPr bwMode="auto">
            <a:xfrm>
              <a:off x="158" y="3937"/>
              <a:ext cx="71" cy="37"/>
            </a:xfrm>
            <a:custGeom>
              <a:avLst/>
              <a:gdLst>
                <a:gd name="T0" fmla="*/ 70 w 71"/>
                <a:gd name="T1" fmla="*/ 7 h 37"/>
                <a:gd name="T2" fmla="*/ 66 w 71"/>
                <a:gd name="T3" fmla="*/ 0 h 37"/>
                <a:gd name="T4" fmla="*/ 0 w 71"/>
                <a:gd name="T5" fmla="*/ 29 h 37"/>
                <a:gd name="T6" fmla="*/ 3 w 71"/>
                <a:gd name="T7" fmla="*/ 36 h 37"/>
                <a:gd name="T8" fmla="*/ 70 w 71"/>
                <a:gd name="T9" fmla="*/ 7 h 37"/>
                <a:gd name="T10" fmla="*/ 0 60000 65536"/>
                <a:gd name="T11" fmla="*/ 0 60000 65536"/>
                <a:gd name="T12" fmla="*/ 0 60000 65536"/>
                <a:gd name="T13" fmla="*/ 0 60000 65536"/>
                <a:gd name="T14" fmla="*/ 0 60000 65536"/>
                <a:gd name="T15" fmla="*/ 0 w 71"/>
                <a:gd name="T16" fmla="*/ 0 h 37"/>
                <a:gd name="T17" fmla="*/ 71 w 71"/>
                <a:gd name="T18" fmla="*/ 37 h 37"/>
              </a:gdLst>
              <a:ahLst/>
              <a:cxnLst>
                <a:cxn ang="T10">
                  <a:pos x="T0" y="T1"/>
                </a:cxn>
                <a:cxn ang="T11">
                  <a:pos x="T2" y="T3"/>
                </a:cxn>
                <a:cxn ang="T12">
                  <a:pos x="T4" y="T5"/>
                </a:cxn>
                <a:cxn ang="T13">
                  <a:pos x="T6" y="T7"/>
                </a:cxn>
                <a:cxn ang="T14">
                  <a:pos x="T8" y="T9"/>
                </a:cxn>
              </a:cxnLst>
              <a:rect l="T15" t="T16" r="T17" b="T18"/>
              <a:pathLst>
                <a:path w="71" h="37">
                  <a:moveTo>
                    <a:pt x="70" y="7"/>
                  </a:moveTo>
                  <a:lnTo>
                    <a:pt x="66" y="0"/>
                  </a:lnTo>
                  <a:lnTo>
                    <a:pt x="0" y="29"/>
                  </a:lnTo>
                  <a:lnTo>
                    <a:pt x="3" y="36"/>
                  </a:lnTo>
                  <a:lnTo>
                    <a:pt x="7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799" name="Freeform 7">
              <a:extLst>
                <a:ext uri="{FF2B5EF4-FFF2-40B4-BE49-F238E27FC236}">
                  <a16:creationId xmlns:a16="http://schemas.microsoft.com/office/drawing/2014/main" id="{BB0C7192-E4BD-0410-85B9-1E992B955FA6}"/>
                </a:ext>
              </a:extLst>
            </p:cNvPr>
            <p:cNvSpPr>
              <a:spLocks/>
            </p:cNvSpPr>
            <p:nvPr/>
          </p:nvSpPr>
          <p:spPr bwMode="auto">
            <a:xfrm>
              <a:off x="167" y="3953"/>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0" name="Freeform 8">
              <a:extLst>
                <a:ext uri="{FF2B5EF4-FFF2-40B4-BE49-F238E27FC236}">
                  <a16:creationId xmlns:a16="http://schemas.microsoft.com/office/drawing/2014/main" id="{21350B38-2F33-5F15-AE60-2927273C6391}"/>
                </a:ext>
              </a:extLst>
            </p:cNvPr>
            <p:cNvSpPr>
              <a:spLocks/>
            </p:cNvSpPr>
            <p:nvPr/>
          </p:nvSpPr>
          <p:spPr bwMode="auto">
            <a:xfrm>
              <a:off x="173" y="3969"/>
              <a:ext cx="69" cy="35"/>
            </a:xfrm>
            <a:custGeom>
              <a:avLst/>
              <a:gdLst>
                <a:gd name="T0" fmla="*/ 68 w 69"/>
                <a:gd name="T1" fmla="*/ 6 h 35"/>
                <a:gd name="T2" fmla="*/ 65 w 69"/>
                <a:gd name="T3" fmla="*/ 0 h 35"/>
                <a:gd name="T4" fmla="*/ 0 w 69"/>
                <a:gd name="T5" fmla="*/ 27 h 35"/>
                <a:gd name="T6" fmla="*/ 3 w 69"/>
                <a:gd name="T7" fmla="*/ 34 h 35"/>
                <a:gd name="T8" fmla="*/ 68 w 69"/>
                <a:gd name="T9" fmla="*/ 6 h 35"/>
                <a:gd name="T10" fmla="*/ 0 60000 65536"/>
                <a:gd name="T11" fmla="*/ 0 60000 65536"/>
                <a:gd name="T12" fmla="*/ 0 60000 65536"/>
                <a:gd name="T13" fmla="*/ 0 60000 65536"/>
                <a:gd name="T14" fmla="*/ 0 60000 65536"/>
                <a:gd name="T15" fmla="*/ 0 w 69"/>
                <a:gd name="T16" fmla="*/ 0 h 35"/>
                <a:gd name="T17" fmla="*/ 69 w 69"/>
                <a:gd name="T18" fmla="*/ 35 h 35"/>
              </a:gdLst>
              <a:ahLst/>
              <a:cxnLst>
                <a:cxn ang="T10">
                  <a:pos x="T0" y="T1"/>
                </a:cxn>
                <a:cxn ang="T11">
                  <a:pos x="T2" y="T3"/>
                </a:cxn>
                <a:cxn ang="T12">
                  <a:pos x="T4" y="T5"/>
                </a:cxn>
                <a:cxn ang="T13">
                  <a:pos x="T6" y="T7"/>
                </a:cxn>
                <a:cxn ang="T14">
                  <a:pos x="T8" y="T9"/>
                </a:cxn>
              </a:cxnLst>
              <a:rect l="T15" t="T16" r="T17" b="T18"/>
              <a:pathLst>
                <a:path w="69" h="35">
                  <a:moveTo>
                    <a:pt x="68" y="6"/>
                  </a:moveTo>
                  <a:lnTo>
                    <a:pt x="65" y="0"/>
                  </a:lnTo>
                  <a:lnTo>
                    <a:pt x="0" y="27"/>
                  </a:lnTo>
                  <a:lnTo>
                    <a:pt x="3" y="34"/>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1" name="Freeform 9">
              <a:extLst>
                <a:ext uri="{FF2B5EF4-FFF2-40B4-BE49-F238E27FC236}">
                  <a16:creationId xmlns:a16="http://schemas.microsoft.com/office/drawing/2014/main" id="{57D9D8D0-7DD7-0BC9-4DAE-20854C302A52}"/>
                </a:ext>
              </a:extLst>
            </p:cNvPr>
            <p:cNvSpPr>
              <a:spLocks/>
            </p:cNvSpPr>
            <p:nvPr/>
          </p:nvSpPr>
          <p:spPr bwMode="auto">
            <a:xfrm>
              <a:off x="181" y="3986"/>
              <a:ext cx="71" cy="35"/>
            </a:xfrm>
            <a:custGeom>
              <a:avLst/>
              <a:gdLst>
                <a:gd name="T0" fmla="*/ 70 w 71"/>
                <a:gd name="T1" fmla="*/ 6 h 35"/>
                <a:gd name="T2" fmla="*/ 66 w 71"/>
                <a:gd name="T3" fmla="*/ 0 h 35"/>
                <a:gd name="T4" fmla="*/ 0 w 71"/>
                <a:gd name="T5" fmla="*/ 27 h 35"/>
                <a:gd name="T6" fmla="*/ 3 w 71"/>
                <a:gd name="T7" fmla="*/ 34 h 35"/>
                <a:gd name="T8" fmla="*/ 70 w 71"/>
                <a:gd name="T9" fmla="*/ 6 h 35"/>
                <a:gd name="T10" fmla="*/ 0 60000 65536"/>
                <a:gd name="T11" fmla="*/ 0 60000 65536"/>
                <a:gd name="T12" fmla="*/ 0 60000 65536"/>
                <a:gd name="T13" fmla="*/ 0 60000 65536"/>
                <a:gd name="T14" fmla="*/ 0 60000 65536"/>
                <a:gd name="T15" fmla="*/ 0 w 71"/>
                <a:gd name="T16" fmla="*/ 0 h 35"/>
                <a:gd name="T17" fmla="*/ 71 w 71"/>
                <a:gd name="T18" fmla="*/ 35 h 35"/>
              </a:gdLst>
              <a:ahLst/>
              <a:cxnLst>
                <a:cxn ang="T10">
                  <a:pos x="T0" y="T1"/>
                </a:cxn>
                <a:cxn ang="T11">
                  <a:pos x="T2" y="T3"/>
                </a:cxn>
                <a:cxn ang="T12">
                  <a:pos x="T4" y="T5"/>
                </a:cxn>
                <a:cxn ang="T13">
                  <a:pos x="T6" y="T7"/>
                </a:cxn>
                <a:cxn ang="T14">
                  <a:pos x="T8" y="T9"/>
                </a:cxn>
              </a:cxnLst>
              <a:rect l="T15" t="T16" r="T17" b="T18"/>
              <a:pathLst>
                <a:path w="71" h="35">
                  <a:moveTo>
                    <a:pt x="70" y="6"/>
                  </a:moveTo>
                  <a:lnTo>
                    <a:pt x="66" y="0"/>
                  </a:lnTo>
                  <a:lnTo>
                    <a:pt x="0" y="27"/>
                  </a:lnTo>
                  <a:lnTo>
                    <a:pt x="3" y="34"/>
                  </a:lnTo>
                  <a:lnTo>
                    <a:pt x="70"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2" name="Freeform 10">
              <a:extLst>
                <a:ext uri="{FF2B5EF4-FFF2-40B4-BE49-F238E27FC236}">
                  <a16:creationId xmlns:a16="http://schemas.microsoft.com/office/drawing/2014/main" id="{068D9595-8BAB-743C-8B5C-D6A89D8D0F87}"/>
                </a:ext>
              </a:extLst>
            </p:cNvPr>
            <p:cNvSpPr>
              <a:spLocks/>
            </p:cNvSpPr>
            <p:nvPr/>
          </p:nvSpPr>
          <p:spPr bwMode="auto">
            <a:xfrm>
              <a:off x="189" y="4001"/>
              <a:ext cx="70" cy="38"/>
            </a:xfrm>
            <a:custGeom>
              <a:avLst/>
              <a:gdLst>
                <a:gd name="T0" fmla="*/ 69 w 70"/>
                <a:gd name="T1" fmla="*/ 7 h 38"/>
                <a:gd name="T2" fmla="*/ 65 w 70"/>
                <a:gd name="T3" fmla="*/ 0 h 38"/>
                <a:gd name="T4" fmla="*/ 0 w 70"/>
                <a:gd name="T5" fmla="*/ 29 h 38"/>
                <a:gd name="T6" fmla="*/ 3 w 70"/>
                <a:gd name="T7" fmla="*/ 37 h 38"/>
                <a:gd name="T8" fmla="*/ 69 w 70"/>
                <a:gd name="T9" fmla="*/ 7 h 38"/>
                <a:gd name="T10" fmla="*/ 0 60000 65536"/>
                <a:gd name="T11" fmla="*/ 0 60000 65536"/>
                <a:gd name="T12" fmla="*/ 0 60000 65536"/>
                <a:gd name="T13" fmla="*/ 0 60000 65536"/>
                <a:gd name="T14" fmla="*/ 0 60000 65536"/>
                <a:gd name="T15" fmla="*/ 0 w 70"/>
                <a:gd name="T16" fmla="*/ 0 h 38"/>
                <a:gd name="T17" fmla="*/ 70 w 70"/>
                <a:gd name="T18" fmla="*/ 38 h 38"/>
              </a:gdLst>
              <a:ahLst/>
              <a:cxnLst>
                <a:cxn ang="T10">
                  <a:pos x="T0" y="T1"/>
                </a:cxn>
                <a:cxn ang="T11">
                  <a:pos x="T2" y="T3"/>
                </a:cxn>
                <a:cxn ang="T12">
                  <a:pos x="T4" y="T5"/>
                </a:cxn>
                <a:cxn ang="T13">
                  <a:pos x="T6" y="T7"/>
                </a:cxn>
                <a:cxn ang="T14">
                  <a:pos x="T8" y="T9"/>
                </a:cxn>
              </a:cxnLst>
              <a:rect l="T15" t="T16" r="T17" b="T18"/>
              <a:pathLst>
                <a:path w="70" h="38">
                  <a:moveTo>
                    <a:pt x="69" y="7"/>
                  </a:moveTo>
                  <a:lnTo>
                    <a:pt x="65" y="0"/>
                  </a:lnTo>
                  <a:lnTo>
                    <a:pt x="0" y="29"/>
                  </a:lnTo>
                  <a:lnTo>
                    <a:pt x="3" y="37"/>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3" name="Freeform 11">
              <a:extLst>
                <a:ext uri="{FF2B5EF4-FFF2-40B4-BE49-F238E27FC236}">
                  <a16:creationId xmlns:a16="http://schemas.microsoft.com/office/drawing/2014/main" id="{B399F4B3-B031-E6A6-24D2-AF6CC8E16CD9}"/>
                </a:ext>
              </a:extLst>
            </p:cNvPr>
            <p:cNvSpPr>
              <a:spLocks/>
            </p:cNvSpPr>
            <p:nvPr/>
          </p:nvSpPr>
          <p:spPr bwMode="auto">
            <a:xfrm>
              <a:off x="118" y="3900"/>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4" name="Freeform 12">
              <a:extLst>
                <a:ext uri="{FF2B5EF4-FFF2-40B4-BE49-F238E27FC236}">
                  <a16:creationId xmlns:a16="http://schemas.microsoft.com/office/drawing/2014/main" id="{388F197B-205C-CBE9-9CCE-EA10A93369E4}"/>
                </a:ext>
              </a:extLst>
            </p:cNvPr>
            <p:cNvSpPr>
              <a:spLocks/>
            </p:cNvSpPr>
            <p:nvPr/>
          </p:nvSpPr>
          <p:spPr bwMode="auto">
            <a:xfrm>
              <a:off x="101" y="3888"/>
              <a:ext cx="124" cy="59"/>
            </a:xfrm>
            <a:custGeom>
              <a:avLst/>
              <a:gdLst>
                <a:gd name="T0" fmla="*/ 123 w 124"/>
                <a:gd name="T1" fmla="*/ 7 h 59"/>
                <a:gd name="T2" fmla="*/ 119 w 124"/>
                <a:gd name="T3" fmla="*/ 0 h 59"/>
                <a:gd name="T4" fmla="*/ 0 w 124"/>
                <a:gd name="T5" fmla="*/ 51 h 59"/>
                <a:gd name="T6" fmla="*/ 2 w 124"/>
                <a:gd name="T7" fmla="*/ 58 h 59"/>
                <a:gd name="T8" fmla="*/ 123 w 124"/>
                <a:gd name="T9" fmla="*/ 7 h 59"/>
                <a:gd name="T10" fmla="*/ 0 60000 65536"/>
                <a:gd name="T11" fmla="*/ 0 60000 65536"/>
                <a:gd name="T12" fmla="*/ 0 60000 65536"/>
                <a:gd name="T13" fmla="*/ 0 60000 65536"/>
                <a:gd name="T14" fmla="*/ 0 60000 65536"/>
                <a:gd name="T15" fmla="*/ 0 w 124"/>
                <a:gd name="T16" fmla="*/ 0 h 59"/>
                <a:gd name="T17" fmla="*/ 124 w 124"/>
                <a:gd name="T18" fmla="*/ 59 h 59"/>
              </a:gdLst>
              <a:ahLst/>
              <a:cxnLst>
                <a:cxn ang="T10">
                  <a:pos x="T0" y="T1"/>
                </a:cxn>
                <a:cxn ang="T11">
                  <a:pos x="T2" y="T3"/>
                </a:cxn>
                <a:cxn ang="T12">
                  <a:pos x="T4" y="T5"/>
                </a:cxn>
                <a:cxn ang="T13">
                  <a:pos x="T6" y="T7"/>
                </a:cxn>
                <a:cxn ang="T14">
                  <a:pos x="T8" y="T9"/>
                </a:cxn>
              </a:cxnLst>
              <a:rect l="T15" t="T16" r="T17" b="T18"/>
              <a:pathLst>
                <a:path w="124" h="59">
                  <a:moveTo>
                    <a:pt x="123" y="7"/>
                  </a:moveTo>
                  <a:lnTo>
                    <a:pt x="119" y="0"/>
                  </a:lnTo>
                  <a:lnTo>
                    <a:pt x="0" y="51"/>
                  </a:lnTo>
                  <a:lnTo>
                    <a:pt x="2" y="58"/>
                  </a:lnTo>
                  <a:lnTo>
                    <a:pt x="123"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5" name="Freeform 13">
              <a:extLst>
                <a:ext uri="{FF2B5EF4-FFF2-40B4-BE49-F238E27FC236}">
                  <a16:creationId xmlns:a16="http://schemas.microsoft.com/office/drawing/2014/main" id="{D5A3461E-0BD8-7F6D-A0BA-61E1BE899982}"/>
                </a:ext>
              </a:extLst>
            </p:cNvPr>
            <p:cNvSpPr>
              <a:spLocks/>
            </p:cNvSpPr>
            <p:nvPr/>
          </p:nvSpPr>
          <p:spPr bwMode="auto">
            <a:xfrm>
              <a:off x="229" y="3902"/>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6" name="Freeform 14">
              <a:extLst>
                <a:ext uri="{FF2B5EF4-FFF2-40B4-BE49-F238E27FC236}">
                  <a16:creationId xmlns:a16="http://schemas.microsoft.com/office/drawing/2014/main" id="{26592367-21D1-5B82-37ED-B5686B54496A}"/>
                </a:ext>
              </a:extLst>
            </p:cNvPr>
            <p:cNvSpPr>
              <a:spLocks/>
            </p:cNvSpPr>
            <p:nvPr/>
          </p:nvSpPr>
          <p:spPr bwMode="auto">
            <a:xfrm>
              <a:off x="118" y="3947"/>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7" name="Freeform 15">
              <a:extLst>
                <a:ext uri="{FF2B5EF4-FFF2-40B4-BE49-F238E27FC236}">
                  <a16:creationId xmlns:a16="http://schemas.microsoft.com/office/drawing/2014/main" id="{829BD9CE-95CE-70BE-21AA-BFA52C6F7F11}"/>
                </a:ext>
              </a:extLst>
            </p:cNvPr>
            <p:cNvSpPr>
              <a:spLocks/>
            </p:cNvSpPr>
            <p:nvPr/>
          </p:nvSpPr>
          <p:spPr bwMode="auto">
            <a:xfrm>
              <a:off x="97" y="3939"/>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 name="T10" fmla="*/ 0 60000 65536"/>
                <a:gd name="T11" fmla="*/ 0 60000 65536"/>
                <a:gd name="T12" fmla="*/ 0 60000 65536"/>
                <a:gd name="T13" fmla="*/ 0 60000 65536"/>
                <a:gd name="T14" fmla="*/ 0 60000 65536"/>
                <a:gd name="T15" fmla="*/ 0 w 59"/>
                <a:gd name="T16" fmla="*/ 0 h 115"/>
                <a:gd name="T17" fmla="*/ 59 w 59"/>
                <a:gd name="T18" fmla="*/ 115 h 115"/>
              </a:gdLst>
              <a:ahLst/>
              <a:cxnLst>
                <a:cxn ang="T10">
                  <a:pos x="T0" y="T1"/>
                </a:cxn>
                <a:cxn ang="T11">
                  <a:pos x="T2" y="T3"/>
                </a:cxn>
                <a:cxn ang="T12">
                  <a:pos x="T4" y="T5"/>
                </a:cxn>
                <a:cxn ang="T13">
                  <a:pos x="T6" y="T7"/>
                </a:cxn>
                <a:cxn ang="T14">
                  <a:pos x="T8" y="T9"/>
                </a:cxn>
              </a:cxnLst>
              <a:rect l="T15" t="T16" r="T17" b="T18"/>
              <a:pathLst>
                <a:path w="59" h="115">
                  <a:moveTo>
                    <a:pt x="51" y="114"/>
                  </a:moveTo>
                  <a:lnTo>
                    <a:pt x="58"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8" name="Freeform 16">
              <a:extLst>
                <a:ext uri="{FF2B5EF4-FFF2-40B4-BE49-F238E27FC236}">
                  <a16:creationId xmlns:a16="http://schemas.microsoft.com/office/drawing/2014/main" id="{38CF5032-B7B8-E0DB-1B04-A795BFDD2280}"/>
                </a:ext>
              </a:extLst>
            </p:cNvPr>
            <p:cNvSpPr>
              <a:spLocks/>
            </p:cNvSpPr>
            <p:nvPr/>
          </p:nvSpPr>
          <p:spPr bwMode="auto">
            <a:xfrm>
              <a:off x="100" y="3939"/>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3809" name="Freeform 17">
              <a:extLst>
                <a:ext uri="{FF2B5EF4-FFF2-40B4-BE49-F238E27FC236}">
                  <a16:creationId xmlns:a16="http://schemas.microsoft.com/office/drawing/2014/main" id="{1C80EC66-001F-C829-CE6B-7E6E8A2531C7}"/>
                </a:ext>
              </a:extLst>
            </p:cNvPr>
            <p:cNvSpPr>
              <a:spLocks/>
            </p:cNvSpPr>
            <p:nvPr/>
          </p:nvSpPr>
          <p:spPr bwMode="auto">
            <a:xfrm>
              <a:off x="208" y="3895"/>
              <a:ext cx="29" cy="18"/>
            </a:xfrm>
            <a:custGeom>
              <a:avLst/>
              <a:gdLst>
                <a:gd name="T0" fmla="*/ 24 w 29"/>
                <a:gd name="T1" fmla="*/ 17 h 18"/>
                <a:gd name="T2" fmla="*/ 28 w 29"/>
                <a:gd name="T3" fmla="*/ 10 h 18"/>
                <a:gd name="T4" fmla="*/ 4 w 29"/>
                <a:gd name="T5" fmla="*/ 0 h 18"/>
                <a:gd name="T6" fmla="*/ 0 w 29"/>
                <a:gd name="T7" fmla="*/ 5 h 18"/>
                <a:gd name="T8" fmla="*/ 24 w 29"/>
                <a:gd name="T9" fmla="*/ 17 h 18"/>
                <a:gd name="T10" fmla="*/ 0 60000 65536"/>
                <a:gd name="T11" fmla="*/ 0 60000 65536"/>
                <a:gd name="T12" fmla="*/ 0 60000 65536"/>
                <a:gd name="T13" fmla="*/ 0 60000 65536"/>
                <a:gd name="T14" fmla="*/ 0 60000 65536"/>
                <a:gd name="T15" fmla="*/ 0 w 29"/>
                <a:gd name="T16" fmla="*/ 0 h 18"/>
                <a:gd name="T17" fmla="*/ 29 w 29"/>
                <a:gd name="T18" fmla="*/ 18 h 18"/>
              </a:gdLst>
              <a:ahLst/>
              <a:cxnLst>
                <a:cxn ang="T10">
                  <a:pos x="T0" y="T1"/>
                </a:cxn>
                <a:cxn ang="T11">
                  <a:pos x="T2" y="T3"/>
                </a:cxn>
                <a:cxn ang="T12">
                  <a:pos x="T4" y="T5"/>
                </a:cxn>
                <a:cxn ang="T13">
                  <a:pos x="T6" y="T7"/>
                </a:cxn>
                <a:cxn ang="T14">
                  <a:pos x="T8" y="T9"/>
                </a:cxn>
              </a:cxnLst>
              <a:rect l="T15" t="T16" r="T17" b="T18"/>
              <a:pathLst>
                <a:path w="29" h="18">
                  <a:moveTo>
                    <a:pt x="24" y="17"/>
                  </a:moveTo>
                  <a:lnTo>
                    <a:pt x="28" y="10"/>
                  </a:lnTo>
                  <a:lnTo>
                    <a:pt x="4" y="0"/>
                  </a:lnTo>
                  <a:lnTo>
                    <a:pt x="0" y="5"/>
                  </a:lnTo>
                  <a:lnTo>
                    <a:pt x="24"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89591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DB3C467-7A15-3E53-924C-1CF62B3897F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More Is Not Always Better</a:t>
            </a:r>
          </a:p>
          <a:p>
            <a:pPr marL="114300" lvl="1" defTabSz="401638"/>
            <a:r>
              <a:rPr lang="en-US" altLang="en-US">
                <a:latin typeface="Arial" panose="020B0604020202020204" pitchFamily="34" charset="0"/>
              </a:rPr>
              <a:t>More indexes on a table does not mean it will speed up queries. Each DML operation that is committed on a table with indexes means that the indexes must be updated. The more indexes you have associated with a table, the more effort the Oracle Server must make to update all the indexes after a DML.</a:t>
            </a:r>
          </a:p>
          <a:p>
            <a:pPr defTabSz="401638"/>
            <a:r>
              <a:rPr lang="en-US" altLang="en-US">
                <a:latin typeface="Arial" panose="020B0604020202020204" pitchFamily="34" charset="0"/>
              </a:rPr>
              <a:t>When to Create an Index</a:t>
            </a:r>
          </a:p>
          <a:p>
            <a:pPr marL="450850" lvl="2" indent="-217488" defTabSz="401638"/>
            <a:r>
              <a:rPr lang="en-US" altLang="en-US">
                <a:latin typeface="Arial" panose="020B0604020202020204" pitchFamily="34" charset="0"/>
              </a:rPr>
              <a:t>The column is used frequently in the WHERE clause or in a join condition.</a:t>
            </a:r>
          </a:p>
          <a:p>
            <a:pPr marL="450850" lvl="2" indent="-217488" defTabSz="401638"/>
            <a:r>
              <a:rPr lang="en-US" altLang="en-US">
                <a:latin typeface="Arial" panose="020B0604020202020204" pitchFamily="34" charset="0"/>
              </a:rPr>
              <a:t>The column contains a wide range of values.</a:t>
            </a:r>
          </a:p>
          <a:p>
            <a:pPr marL="450850" lvl="2" indent="-217488" defTabSz="401638"/>
            <a:r>
              <a:rPr lang="en-US" altLang="en-US">
                <a:latin typeface="Arial" panose="020B0604020202020204" pitchFamily="34" charset="0"/>
              </a:rPr>
              <a:t>The column contains a large number of null values.</a:t>
            </a:r>
          </a:p>
          <a:p>
            <a:pPr marL="450850" lvl="2" indent="-217488" defTabSz="401638"/>
            <a:r>
              <a:rPr lang="en-US" altLang="en-US">
                <a:latin typeface="Arial" panose="020B0604020202020204" pitchFamily="34" charset="0"/>
              </a:rPr>
              <a:t>Two or more columns are frequently used together in a WHERE clause or join condition.</a:t>
            </a:r>
          </a:p>
          <a:p>
            <a:pPr marL="450850" lvl="2" indent="-217488" defTabSz="401638"/>
            <a:r>
              <a:rPr lang="en-US" altLang="en-US">
                <a:latin typeface="Arial" panose="020B0604020202020204" pitchFamily="34" charset="0"/>
              </a:rPr>
              <a:t>The table is large and most queries are expected to retrieve less than 2-4% of the rows.</a:t>
            </a:r>
          </a:p>
          <a:p>
            <a:pPr marL="114300" lvl="1" defTabSz="401638"/>
            <a:r>
              <a:rPr lang="en-US" altLang="en-US">
                <a:latin typeface="Arial" panose="020B0604020202020204" pitchFamily="34" charset="0"/>
              </a:rPr>
              <a:t>Remember that if you want to enforce uniqueness, you should define a unique constraint in the table definition. Then a unique index is created automatically.</a:t>
            </a:r>
          </a:p>
          <a:p>
            <a:pPr defTabSz="401638"/>
            <a:endParaRPr lang="en-US" altLang="en-US" b="1">
              <a:latin typeface="Times New Roman" panose="02020603050405020304" pitchFamily="18" charset="0"/>
            </a:endParaRPr>
          </a:p>
        </p:txBody>
      </p:sp>
      <p:sp>
        <p:nvSpPr>
          <p:cNvPr id="35843" name="Rectangle 3">
            <a:extLst>
              <a:ext uri="{FF2B5EF4-FFF2-40B4-BE49-F238E27FC236}">
                <a16:creationId xmlns:a16="http://schemas.microsoft.com/office/drawing/2014/main" id="{45EDB8D6-08E7-1163-E111-CBB60BF97A24}"/>
              </a:ext>
            </a:extLst>
          </p:cNvPr>
          <p:cNvSpPr>
            <a:spLocks noGrp="1" noRot="1" noChangeArrowheads="1" noTextEdit="1"/>
          </p:cNvSpPr>
          <p:nvPr>
            <p:ph type="sldImg"/>
          </p:nvPr>
        </p:nvSpPr>
        <p:spPr>
          <a:xfrm>
            <a:off x="438150" y="160338"/>
            <a:ext cx="5976938" cy="4483100"/>
          </a:xfrm>
          <a:ln w="12700" cap="flat">
            <a:solidFill>
              <a:schemeClr val="tx1"/>
            </a:solidFill>
          </a:ln>
        </p:spPr>
      </p:sp>
      <p:grpSp>
        <p:nvGrpSpPr>
          <p:cNvPr id="35844" name="Group 4">
            <a:extLst>
              <a:ext uri="{FF2B5EF4-FFF2-40B4-BE49-F238E27FC236}">
                <a16:creationId xmlns:a16="http://schemas.microsoft.com/office/drawing/2014/main" id="{C6055D07-BF9A-8963-AD33-9A7C3B958C8E}"/>
              </a:ext>
            </a:extLst>
          </p:cNvPr>
          <p:cNvGrpSpPr>
            <a:grpSpLocks/>
          </p:cNvGrpSpPr>
          <p:nvPr/>
        </p:nvGrpSpPr>
        <p:grpSpPr bwMode="auto">
          <a:xfrm>
            <a:off x="204788" y="7216775"/>
            <a:ext cx="288925" cy="311150"/>
            <a:chOff x="128" y="4464"/>
            <a:chExt cx="181" cy="192"/>
          </a:xfrm>
        </p:grpSpPr>
        <p:sp>
          <p:nvSpPr>
            <p:cNvPr id="35845" name="Freeform 5">
              <a:extLst>
                <a:ext uri="{FF2B5EF4-FFF2-40B4-BE49-F238E27FC236}">
                  <a16:creationId xmlns:a16="http://schemas.microsoft.com/office/drawing/2014/main" id="{E645424E-219A-29B8-5329-0781422DA468}"/>
                </a:ext>
              </a:extLst>
            </p:cNvPr>
            <p:cNvSpPr>
              <a:spLocks/>
            </p:cNvSpPr>
            <p:nvPr/>
          </p:nvSpPr>
          <p:spPr bwMode="auto">
            <a:xfrm>
              <a:off x="128" y="4464"/>
              <a:ext cx="181" cy="184"/>
            </a:xfrm>
            <a:custGeom>
              <a:avLst/>
              <a:gdLst>
                <a:gd name="T0" fmla="*/ 180 w 181"/>
                <a:gd name="T1" fmla="*/ 183 h 184"/>
                <a:gd name="T2" fmla="*/ 180 w 181"/>
                <a:gd name="T3" fmla="*/ 0 h 184"/>
                <a:gd name="T4" fmla="*/ 0 w 181"/>
                <a:gd name="T5" fmla="*/ 0 h 184"/>
                <a:gd name="T6" fmla="*/ 0 w 181"/>
                <a:gd name="T7" fmla="*/ 183 h 184"/>
                <a:gd name="T8" fmla="*/ 180 w 181"/>
                <a:gd name="T9" fmla="*/ 183 h 184"/>
                <a:gd name="T10" fmla="*/ 0 60000 65536"/>
                <a:gd name="T11" fmla="*/ 0 60000 65536"/>
                <a:gd name="T12" fmla="*/ 0 60000 65536"/>
                <a:gd name="T13" fmla="*/ 0 60000 65536"/>
                <a:gd name="T14" fmla="*/ 0 60000 65536"/>
                <a:gd name="T15" fmla="*/ 0 w 181"/>
                <a:gd name="T16" fmla="*/ 0 h 184"/>
                <a:gd name="T17" fmla="*/ 181 w 181"/>
                <a:gd name="T18" fmla="*/ 184 h 184"/>
              </a:gdLst>
              <a:ahLst/>
              <a:cxnLst>
                <a:cxn ang="T10">
                  <a:pos x="T0" y="T1"/>
                </a:cxn>
                <a:cxn ang="T11">
                  <a:pos x="T2" y="T3"/>
                </a:cxn>
                <a:cxn ang="T12">
                  <a:pos x="T4" y="T5"/>
                </a:cxn>
                <a:cxn ang="T13">
                  <a:pos x="T6" y="T7"/>
                </a:cxn>
                <a:cxn ang="T14">
                  <a:pos x="T8" y="T9"/>
                </a:cxn>
              </a:cxnLst>
              <a:rect l="T15" t="T16" r="T17" b="T18"/>
              <a:pathLst>
                <a:path w="181" h="184">
                  <a:moveTo>
                    <a:pt x="180" y="183"/>
                  </a:moveTo>
                  <a:lnTo>
                    <a:pt x="180" y="0"/>
                  </a:lnTo>
                  <a:lnTo>
                    <a:pt x="0" y="0"/>
                  </a:lnTo>
                  <a:lnTo>
                    <a:pt x="0" y="183"/>
                  </a:lnTo>
                  <a:lnTo>
                    <a:pt x="180"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46" name="Freeform 6">
              <a:extLst>
                <a:ext uri="{FF2B5EF4-FFF2-40B4-BE49-F238E27FC236}">
                  <a16:creationId xmlns:a16="http://schemas.microsoft.com/office/drawing/2014/main" id="{D39F7AE4-E932-44AB-65BA-7AD99DDBE153}"/>
                </a:ext>
              </a:extLst>
            </p:cNvPr>
            <p:cNvSpPr>
              <a:spLocks/>
            </p:cNvSpPr>
            <p:nvPr/>
          </p:nvSpPr>
          <p:spPr bwMode="auto">
            <a:xfrm>
              <a:off x="210" y="4638"/>
              <a:ext cx="27" cy="18"/>
            </a:xfrm>
            <a:custGeom>
              <a:avLst/>
              <a:gdLst>
                <a:gd name="T0" fmla="*/ 26 w 27"/>
                <a:gd name="T1" fmla="*/ 17 h 18"/>
                <a:gd name="T2" fmla="*/ 26 w 27"/>
                <a:gd name="T3" fmla="*/ 0 h 18"/>
                <a:gd name="T4" fmla="*/ 0 w 27"/>
                <a:gd name="T5" fmla="*/ 0 h 18"/>
                <a:gd name="T6" fmla="*/ 0 w 27"/>
                <a:gd name="T7" fmla="*/ 17 h 18"/>
                <a:gd name="T8" fmla="*/ 26 w 27"/>
                <a:gd name="T9" fmla="*/ 17 h 18"/>
                <a:gd name="T10" fmla="*/ 0 60000 65536"/>
                <a:gd name="T11" fmla="*/ 0 60000 65536"/>
                <a:gd name="T12" fmla="*/ 0 60000 65536"/>
                <a:gd name="T13" fmla="*/ 0 60000 65536"/>
                <a:gd name="T14" fmla="*/ 0 60000 65536"/>
                <a:gd name="T15" fmla="*/ 0 w 27"/>
                <a:gd name="T16" fmla="*/ 0 h 18"/>
                <a:gd name="T17" fmla="*/ 27 w 27"/>
                <a:gd name="T18" fmla="*/ 18 h 18"/>
              </a:gdLst>
              <a:ahLst/>
              <a:cxnLst>
                <a:cxn ang="T10">
                  <a:pos x="T0" y="T1"/>
                </a:cxn>
                <a:cxn ang="T11">
                  <a:pos x="T2" y="T3"/>
                </a:cxn>
                <a:cxn ang="T12">
                  <a:pos x="T4" y="T5"/>
                </a:cxn>
                <a:cxn ang="T13">
                  <a:pos x="T6" y="T7"/>
                </a:cxn>
                <a:cxn ang="T14">
                  <a:pos x="T8" y="T9"/>
                </a:cxn>
              </a:cxnLst>
              <a:rect l="T15" t="T16" r="T17" b="T18"/>
              <a:pathLst>
                <a:path w="27" h="18">
                  <a:moveTo>
                    <a:pt x="26" y="17"/>
                  </a:moveTo>
                  <a:lnTo>
                    <a:pt x="26" y="0"/>
                  </a:lnTo>
                  <a:lnTo>
                    <a:pt x="0" y="0"/>
                  </a:lnTo>
                  <a:lnTo>
                    <a:pt x="0" y="17"/>
                  </a:lnTo>
                  <a:lnTo>
                    <a:pt x="26"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47" name="Freeform 7">
              <a:extLst>
                <a:ext uri="{FF2B5EF4-FFF2-40B4-BE49-F238E27FC236}">
                  <a16:creationId xmlns:a16="http://schemas.microsoft.com/office/drawing/2014/main" id="{FD1610F0-ACD8-DA29-A9C6-38B567788807}"/>
                </a:ext>
              </a:extLst>
            </p:cNvPr>
            <p:cNvSpPr>
              <a:spLocks/>
            </p:cNvSpPr>
            <p:nvPr/>
          </p:nvSpPr>
          <p:spPr bwMode="auto">
            <a:xfrm>
              <a:off x="151" y="4517"/>
              <a:ext cx="32" cy="20"/>
            </a:xfrm>
            <a:custGeom>
              <a:avLst/>
              <a:gdLst>
                <a:gd name="T0" fmla="*/ 0 w 32"/>
                <a:gd name="T1" fmla="*/ 0 h 20"/>
                <a:gd name="T2" fmla="*/ 25 w 32"/>
                <a:gd name="T3" fmla="*/ 19 h 20"/>
                <a:gd name="T4" fmla="*/ 31 w 32"/>
                <a:gd name="T5" fmla="*/ 8 h 20"/>
                <a:gd name="T6" fmla="*/ 0 w 32"/>
                <a:gd name="T7" fmla="*/ 0 h 20"/>
                <a:gd name="T8" fmla="*/ 0 60000 65536"/>
                <a:gd name="T9" fmla="*/ 0 60000 65536"/>
                <a:gd name="T10" fmla="*/ 0 60000 65536"/>
                <a:gd name="T11" fmla="*/ 0 60000 65536"/>
                <a:gd name="T12" fmla="*/ 0 w 32"/>
                <a:gd name="T13" fmla="*/ 0 h 20"/>
                <a:gd name="T14" fmla="*/ 32 w 32"/>
                <a:gd name="T15" fmla="*/ 20 h 20"/>
              </a:gdLst>
              <a:ahLst/>
              <a:cxnLst>
                <a:cxn ang="T8">
                  <a:pos x="T0" y="T1"/>
                </a:cxn>
                <a:cxn ang="T9">
                  <a:pos x="T2" y="T3"/>
                </a:cxn>
                <a:cxn ang="T10">
                  <a:pos x="T4" y="T5"/>
                </a:cxn>
                <a:cxn ang="T11">
                  <a:pos x="T6" y="T7"/>
                </a:cxn>
              </a:cxnLst>
              <a:rect l="T12" t="T13" r="T14" b="T15"/>
              <a:pathLst>
                <a:path w="32" h="20">
                  <a:moveTo>
                    <a:pt x="0" y="0"/>
                  </a:moveTo>
                  <a:lnTo>
                    <a:pt x="25" y="19"/>
                  </a:lnTo>
                  <a:lnTo>
                    <a:pt x="31"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48" name="Freeform 8">
              <a:extLst>
                <a:ext uri="{FF2B5EF4-FFF2-40B4-BE49-F238E27FC236}">
                  <a16:creationId xmlns:a16="http://schemas.microsoft.com/office/drawing/2014/main" id="{D2C7C619-2F75-7E7B-6F7E-4F46FE7D4105}"/>
                </a:ext>
              </a:extLst>
            </p:cNvPr>
            <p:cNvSpPr>
              <a:spLocks/>
            </p:cNvSpPr>
            <p:nvPr/>
          </p:nvSpPr>
          <p:spPr bwMode="auto">
            <a:xfrm>
              <a:off x="262" y="4517"/>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49" name="Freeform 9">
              <a:extLst>
                <a:ext uri="{FF2B5EF4-FFF2-40B4-BE49-F238E27FC236}">
                  <a16:creationId xmlns:a16="http://schemas.microsoft.com/office/drawing/2014/main" id="{D296E0C1-735E-E54F-1BCA-F4AE006410F9}"/>
                </a:ext>
              </a:extLst>
            </p:cNvPr>
            <p:cNvSpPr>
              <a:spLocks/>
            </p:cNvSpPr>
            <p:nvPr/>
          </p:nvSpPr>
          <p:spPr bwMode="auto">
            <a:xfrm>
              <a:off x="148" y="4556"/>
              <a:ext cx="33" cy="19"/>
            </a:xfrm>
            <a:custGeom>
              <a:avLst/>
              <a:gdLst>
                <a:gd name="T0" fmla="*/ 0 w 33"/>
                <a:gd name="T1" fmla="*/ 18 h 19"/>
                <a:gd name="T2" fmla="*/ 32 w 33"/>
                <a:gd name="T3" fmla="*/ 14 h 19"/>
                <a:gd name="T4" fmla="*/ 30 w 33"/>
                <a:gd name="T5" fmla="*/ 0 h 19"/>
                <a:gd name="T6" fmla="*/ 0 w 33"/>
                <a:gd name="T7" fmla="*/ 18 h 19"/>
                <a:gd name="T8" fmla="*/ 0 60000 65536"/>
                <a:gd name="T9" fmla="*/ 0 60000 65536"/>
                <a:gd name="T10" fmla="*/ 0 60000 65536"/>
                <a:gd name="T11" fmla="*/ 0 60000 65536"/>
                <a:gd name="T12" fmla="*/ 0 w 33"/>
                <a:gd name="T13" fmla="*/ 0 h 19"/>
                <a:gd name="T14" fmla="*/ 33 w 33"/>
                <a:gd name="T15" fmla="*/ 19 h 19"/>
              </a:gdLst>
              <a:ahLst/>
              <a:cxnLst>
                <a:cxn ang="T8">
                  <a:pos x="T0" y="T1"/>
                </a:cxn>
                <a:cxn ang="T9">
                  <a:pos x="T2" y="T3"/>
                </a:cxn>
                <a:cxn ang="T10">
                  <a:pos x="T4" y="T5"/>
                </a:cxn>
                <a:cxn ang="T11">
                  <a:pos x="T6" y="T7"/>
                </a:cxn>
              </a:cxnLst>
              <a:rect l="T12" t="T13" r="T14" b="T15"/>
              <a:pathLst>
                <a:path w="33" h="19">
                  <a:moveTo>
                    <a:pt x="0" y="18"/>
                  </a:moveTo>
                  <a:lnTo>
                    <a:pt x="32" y="14"/>
                  </a:lnTo>
                  <a:lnTo>
                    <a:pt x="30" y="0"/>
                  </a:lnTo>
                  <a:lnTo>
                    <a:pt x="0"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50" name="Freeform 10">
              <a:extLst>
                <a:ext uri="{FF2B5EF4-FFF2-40B4-BE49-F238E27FC236}">
                  <a16:creationId xmlns:a16="http://schemas.microsoft.com/office/drawing/2014/main" id="{E0BAE393-3379-24DD-2162-E7C3ED6E1C97}"/>
                </a:ext>
              </a:extLst>
            </p:cNvPr>
            <p:cNvSpPr>
              <a:spLocks/>
            </p:cNvSpPr>
            <p:nvPr/>
          </p:nvSpPr>
          <p:spPr bwMode="auto">
            <a:xfrm>
              <a:off x="265" y="4557"/>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51" name="Freeform 11">
              <a:extLst>
                <a:ext uri="{FF2B5EF4-FFF2-40B4-BE49-F238E27FC236}">
                  <a16:creationId xmlns:a16="http://schemas.microsoft.com/office/drawing/2014/main" id="{4E67A797-C4DA-26BD-B9F7-7B6445E7A4B4}"/>
                </a:ext>
              </a:extLst>
            </p:cNvPr>
            <p:cNvSpPr>
              <a:spLocks/>
            </p:cNvSpPr>
            <p:nvPr/>
          </p:nvSpPr>
          <p:spPr bwMode="auto">
            <a:xfrm>
              <a:off x="173" y="4479"/>
              <a:ext cx="26" cy="30"/>
            </a:xfrm>
            <a:custGeom>
              <a:avLst/>
              <a:gdLst>
                <a:gd name="T0" fmla="*/ 0 w 26"/>
                <a:gd name="T1" fmla="*/ 0 h 30"/>
                <a:gd name="T2" fmla="*/ 15 w 26"/>
                <a:gd name="T3" fmla="*/ 29 h 30"/>
                <a:gd name="T4" fmla="*/ 25 w 26"/>
                <a:gd name="T5" fmla="*/ 22 h 30"/>
                <a:gd name="T6" fmla="*/ 0 w 26"/>
                <a:gd name="T7" fmla="*/ 0 h 30"/>
                <a:gd name="T8" fmla="*/ 0 60000 65536"/>
                <a:gd name="T9" fmla="*/ 0 60000 65536"/>
                <a:gd name="T10" fmla="*/ 0 60000 65536"/>
                <a:gd name="T11" fmla="*/ 0 60000 65536"/>
                <a:gd name="T12" fmla="*/ 0 w 26"/>
                <a:gd name="T13" fmla="*/ 0 h 30"/>
                <a:gd name="T14" fmla="*/ 26 w 26"/>
                <a:gd name="T15" fmla="*/ 30 h 30"/>
              </a:gdLst>
              <a:ahLst/>
              <a:cxnLst>
                <a:cxn ang="T8">
                  <a:pos x="T0" y="T1"/>
                </a:cxn>
                <a:cxn ang="T9">
                  <a:pos x="T2" y="T3"/>
                </a:cxn>
                <a:cxn ang="T10">
                  <a:pos x="T4" y="T5"/>
                </a:cxn>
                <a:cxn ang="T11">
                  <a:pos x="T6" y="T7"/>
                </a:cxn>
              </a:cxnLst>
              <a:rect l="T12" t="T13" r="T14" b="T15"/>
              <a:pathLst>
                <a:path w="26" h="30">
                  <a:moveTo>
                    <a:pt x="0" y="0"/>
                  </a:moveTo>
                  <a:lnTo>
                    <a:pt x="15" y="29"/>
                  </a:lnTo>
                  <a:lnTo>
                    <a:pt x="25"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52" name="Freeform 12">
              <a:extLst>
                <a:ext uri="{FF2B5EF4-FFF2-40B4-BE49-F238E27FC236}">
                  <a16:creationId xmlns:a16="http://schemas.microsoft.com/office/drawing/2014/main" id="{DEE4C54C-4CC8-373D-2166-55364C9EA6E9}"/>
                </a:ext>
              </a:extLst>
            </p:cNvPr>
            <p:cNvSpPr>
              <a:spLocks/>
            </p:cNvSpPr>
            <p:nvPr/>
          </p:nvSpPr>
          <p:spPr bwMode="auto">
            <a:xfrm>
              <a:off x="239" y="4481"/>
              <a:ext cx="29" cy="32"/>
            </a:xfrm>
            <a:custGeom>
              <a:avLst/>
              <a:gdLst>
                <a:gd name="T0" fmla="*/ 28 w 29"/>
                <a:gd name="T1" fmla="*/ 0 h 32"/>
                <a:gd name="T2" fmla="*/ 11 w 29"/>
                <a:gd name="T3" fmla="*/ 31 h 32"/>
                <a:gd name="T4" fmla="*/ 0 w 29"/>
                <a:gd name="T5" fmla="*/ 23 h 32"/>
                <a:gd name="T6" fmla="*/ 28 w 29"/>
                <a:gd name="T7" fmla="*/ 0 h 32"/>
                <a:gd name="T8" fmla="*/ 0 60000 65536"/>
                <a:gd name="T9" fmla="*/ 0 60000 65536"/>
                <a:gd name="T10" fmla="*/ 0 60000 65536"/>
                <a:gd name="T11" fmla="*/ 0 60000 65536"/>
                <a:gd name="T12" fmla="*/ 0 w 29"/>
                <a:gd name="T13" fmla="*/ 0 h 32"/>
                <a:gd name="T14" fmla="*/ 29 w 29"/>
                <a:gd name="T15" fmla="*/ 32 h 32"/>
              </a:gdLst>
              <a:ahLst/>
              <a:cxnLst>
                <a:cxn ang="T8">
                  <a:pos x="T0" y="T1"/>
                </a:cxn>
                <a:cxn ang="T9">
                  <a:pos x="T2" y="T3"/>
                </a:cxn>
                <a:cxn ang="T10">
                  <a:pos x="T4" y="T5"/>
                </a:cxn>
                <a:cxn ang="T11">
                  <a:pos x="T6" y="T7"/>
                </a:cxn>
              </a:cxnLst>
              <a:rect l="T12" t="T13" r="T14" b="T15"/>
              <a:pathLst>
                <a:path w="29" h="32">
                  <a:moveTo>
                    <a:pt x="28" y="0"/>
                  </a:moveTo>
                  <a:lnTo>
                    <a:pt x="11" y="31"/>
                  </a:lnTo>
                  <a:lnTo>
                    <a:pt x="0" y="23"/>
                  </a:lnTo>
                  <a:lnTo>
                    <a:pt x="2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53" name="Freeform 13">
              <a:extLst>
                <a:ext uri="{FF2B5EF4-FFF2-40B4-BE49-F238E27FC236}">
                  <a16:creationId xmlns:a16="http://schemas.microsoft.com/office/drawing/2014/main" id="{F32CB5EE-3C21-38D5-2FB1-220DF07366EE}"/>
                </a:ext>
              </a:extLst>
            </p:cNvPr>
            <p:cNvSpPr>
              <a:spLocks/>
            </p:cNvSpPr>
            <p:nvPr/>
          </p:nvSpPr>
          <p:spPr bwMode="auto">
            <a:xfrm>
              <a:off x="214" y="4470"/>
              <a:ext cx="18" cy="32"/>
            </a:xfrm>
            <a:custGeom>
              <a:avLst/>
              <a:gdLst>
                <a:gd name="T0" fmla="*/ 7 w 18"/>
                <a:gd name="T1" fmla="*/ 0 h 32"/>
                <a:gd name="T2" fmla="*/ 0 w 18"/>
                <a:gd name="T3" fmla="*/ 31 h 32"/>
                <a:gd name="T4" fmla="*/ 17 w 18"/>
                <a:gd name="T5" fmla="*/ 29 h 32"/>
                <a:gd name="T6" fmla="*/ 7 w 18"/>
                <a:gd name="T7" fmla="*/ 0 h 32"/>
                <a:gd name="T8" fmla="*/ 0 60000 65536"/>
                <a:gd name="T9" fmla="*/ 0 60000 65536"/>
                <a:gd name="T10" fmla="*/ 0 60000 65536"/>
                <a:gd name="T11" fmla="*/ 0 60000 65536"/>
                <a:gd name="T12" fmla="*/ 0 w 18"/>
                <a:gd name="T13" fmla="*/ 0 h 32"/>
                <a:gd name="T14" fmla="*/ 18 w 18"/>
                <a:gd name="T15" fmla="*/ 32 h 32"/>
              </a:gdLst>
              <a:ahLst/>
              <a:cxnLst>
                <a:cxn ang="T8">
                  <a:pos x="T0" y="T1"/>
                </a:cxn>
                <a:cxn ang="T9">
                  <a:pos x="T2" y="T3"/>
                </a:cxn>
                <a:cxn ang="T10">
                  <a:pos x="T4" y="T5"/>
                </a:cxn>
                <a:cxn ang="T11">
                  <a:pos x="T6" y="T7"/>
                </a:cxn>
              </a:cxnLst>
              <a:rect l="T12" t="T13" r="T14" b="T15"/>
              <a:pathLst>
                <a:path w="18" h="32">
                  <a:moveTo>
                    <a:pt x="7" y="0"/>
                  </a:moveTo>
                  <a:lnTo>
                    <a:pt x="0" y="31"/>
                  </a:lnTo>
                  <a:lnTo>
                    <a:pt x="17"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54" name="Freeform 14">
              <a:extLst>
                <a:ext uri="{FF2B5EF4-FFF2-40B4-BE49-F238E27FC236}">
                  <a16:creationId xmlns:a16="http://schemas.microsoft.com/office/drawing/2014/main" id="{590A34E8-4953-9CF2-7EFA-217557ACAA50}"/>
                </a:ext>
              </a:extLst>
            </p:cNvPr>
            <p:cNvSpPr>
              <a:spLocks/>
            </p:cNvSpPr>
            <p:nvPr/>
          </p:nvSpPr>
          <p:spPr bwMode="auto">
            <a:xfrm>
              <a:off x="188" y="4516"/>
              <a:ext cx="68" cy="116"/>
            </a:xfrm>
            <a:custGeom>
              <a:avLst/>
              <a:gdLst>
                <a:gd name="T0" fmla="*/ 22 w 68"/>
                <a:gd name="T1" fmla="*/ 115 h 116"/>
                <a:gd name="T2" fmla="*/ 23 w 68"/>
                <a:gd name="T3" fmla="*/ 94 h 116"/>
                <a:gd name="T4" fmla="*/ 21 w 68"/>
                <a:gd name="T5" fmla="*/ 91 h 116"/>
                <a:gd name="T6" fmla="*/ 15 w 68"/>
                <a:gd name="T7" fmla="*/ 83 h 116"/>
                <a:gd name="T8" fmla="*/ 9 w 68"/>
                <a:gd name="T9" fmla="*/ 72 h 116"/>
                <a:gd name="T10" fmla="*/ 4 w 68"/>
                <a:gd name="T11" fmla="*/ 58 h 116"/>
                <a:gd name="T12" fmla="*/ 0 w 68"/>
                <a:gd name="T13" fmla="*/ 42 h 116"/>
                <a:gd name="T14" fmla="*/ 1 w 68"/>
                <a:gd name="T15" fmla="*/ 27 h 116"/>
                <a:gd name="T16" fmla="*/ 8 w 68"/>
                <a:gd name="T17" fmla="*/ 12 h 116"/>
                <a:gd name="T18" fmla="*/ 23 w 68"/>
                <a:gd name="T19" fmla="*/ 0 h 116"/>
                <a:gd name="T20" fmla="*/ 43 w 68"/>
                <a:gd name="T21" fmla="*/ 0 h 116"/>
                <a:gd name="T22" fmla="*/ 46 w 68"/>
                <a:gd name="T23" fmla="*/ 1 h 116"/>
                <a:gd name="T24" fmla="*/ 51 w 68"/>
                <a:gd name="T25" fmla="*/ 5 h 116"/>
                <a:gd name="T26" fmla="*/ 57 w 68"/>
                <a:gd name="T27" fmla="*/ 11 h 116"/>
                <a:gd name="T28" fmla="*/ 63 w 68"/>
                <a:gd name="T29" fmla="*/ 20 h 116"/>
                <a:gd name="T30" fmla="*/ 67 w 68"/>
                <a:gd name="T31" fmla="*/ 32 h 116"/>
                <a:gd name="T32" fmla="*/ 66 w 68"/>
                <a:gd name="T33" fmla="*/ 48 h 116"/>
                <a:gd name="T34" fmla="*/ 59 w 68"/>
                <a:gd name="T35" fmla="*/ 68 h 116"/>
                <a:gd name="T36" fmla="*/ 43 w 68"/>
                <a:gd name="T37" fmla="*/ 91 h 116"/>
                <a:gd name="T38" fmla="*/ 43 w 68"/>
                <a:gd name="T39" fmla="*/ 115 h 116"/>
                <a:gd name="T40" fmla="*/ 22 w 68"/>
                <a:gd name="T41" fmla="*/ 115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116"/>
                <a:gd name="T65" fmla="*/ 68 w 68"/>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116">
                  <a:moveTo>
                    <a:pt x="22" y="115"/>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7" y="32"/>
                  </a:lnTo>
                  <a:lnTo>
                    <a:pt x="66" y="48"/>
                  </a:lnTo>
                  <a:lnTo>
                    <a:pt x="59" y="68"/>
                  </a:lnTo>
                  <a:lnTo>
                    <a:pt x="43" y="91"/>
                  </a:lnTo>
                  <a:lnTo>
                    <a:pt x="43" y="115"/>
                  </a:lnTo>
                  <a:lnTo>
                    <a:pt x="22" y="11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5855" name="Freeform 15">
              <a:extLst>
                <a:ext uri="{FF2B5EF4-FFF2-40B4-BE49-F238E27FC236}">
                  <a16:creationId xmlns:a16="http://schemas.microsoft.com/office/drawing/2014/main" id="{F9522BC9-77BF-28E8-B15D-BFADE8A285D5}"/>
                </a:ext>
              </a:extLst>
            </p:cNvPr>
            <p:cNvSpPr>
              <a:spLocks/>
            </p:cNvSpPr>
            <p:nvPr/>
          </p:nvSpPr>
          <p:spPr bwMode="auto">
            <a:xfrm>
              <a:off x="216" y="4537"/>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59C794C-7E9E-8DFA-7DCE-E9BB1D1A3ECC}"/>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37891" name="Rectangle 3">
            <a:extLst>
              <a:ext uri="{FF2B5EF4-FFF2-40B4-BE49-F238E27FC236}">
                <a16:creationId xmlns:a16="http://schemas.microsoft.com/office/drawing/2014/main" id="{2A64919F-33A1-DF1E-8A28-F73752E99EE9}"/>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75AA616-3D22-B1B8-A31D-56259684A26B}"/>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39939" name="Rectangle 3">
            <a:extLst>
              <a:ext uri="{FF2B5EF4-FFF2-40B4-BE49-F238E27FC236}">
                <a16:creationId xmlns:a16="http://schemas.microsoft.com/office/drawing/2014/main" id="{652C1FED-51C2-C268-9D4B-C75537F30C5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Confirming Indexes</a:t>
            </a:r>
          </a:p>
          <a:p>
            <a:pPr marL="114300" lvl="1" defTabSz="401638"/>
            <a:r>
              <a:rPr lang="en-US" altLang="en-US">
                <a:latin typeface="Arial" panose="020B0604020202020204" pitchFamily="34" charset="0"/>
              </a:rPr>
              <a:t>Confirm the existence of indexes from the </a:t>
            </a:r>
            <a:r>
              <a:rPr lang="en-US" altLang="en-US">
                <a:solidFill>
                  <a:srgbClr val="FC0128"/>
                </a:solidFill>
                <a:latin typeface="Arial" panose="020B0604020202020204" pitchFamily="34" charset="0"/>
              </a:rPr>
              <a:t>USER_INDEXES </a:t>
            </a:r>
            <a:r>
              <a:rPr lang="en-US" altLang="en-US">
                <a:latin typeface="Arial" panose="020B0604020202020204" pitchFamily="34" charset="0"/>
              </a:rPr>
              <a:t>data dictionary view. You can also check the columns involved in an index by querying the </a:t>
            </a:r>
            <a:r>
              <a:rPr lang="en-US" altLang="en-US">
                <a:solidFill>
                  <a:srgbClr val="FC0128"/>
                </a:solidFill>
                <a:latin typeface="Arial" panose="020B0604020202020204" pitchFamily="34" charset="0"/>
              </a:rPr>
              <a:t>USER_IND_COLUMNS </a:t>
            </a:r>
            <a:r>
              <a:rPr lang="en-US" altLang="en-US">
                <a:latin typeface="Arial" panose="020B0604020202020204" pitchFamily="34" charset="0"/>
              </a:rPr>
              <a:t>view.</a:t>
            </a:r>
          </a:p>
          <a:p>
            <a:pPr marL="114300" lvl="1" defTabSz="401638"/>
            <a:r>
              <a:rPr lang="en-US" altLang="en-US">
                <a:latin typeface="Arial" panose="020B0604020202020204" pitchFamily="34" charset="0"/>
              </a:rPr>
              <a:t>The example on the slide displays all the previously created indexes, affected column names, and uniqueness on the EMP table.</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r>
              <a:rPr lang="en-US" altLang="en-US" b="1">
                <a:latin typeface="Arial" panose="020B0604020202020204" pitchFamily="34" charset="0"/>
              </a:rPr>
              <a:t>Note:</a:t>
            </a:r>
            <a:r>
              <a:rPr lang="en-US" altLang="en-US">
                <a:latin typeface="Arial" panose="020B0604020202020204" pitchFamily="34" charset="0"/>
              </a:rPr>
              <a:t> The output has been formatted.</a:t>
            </a:r>
          </a:p>
          <a:p>
            <a:pPr defTabSz="401638"/>
            <a:endParaRPr lang="en-US" altLang="en-US" b="1">
              <a:latin typeface="Times New Roman" panose="02020603050405020304" pitchFamily="18" charset="0"/>
            </a:endParaRPr>
          </a:p>
        </p:txBody>
      </p:sp>
      <p:sp>
        <p:nvSpPr>
          <p:cNvPr id="39940" name="Rectangle 4">
            <a:extLst>
              <a:ext uri="{FF2B5EF4-FFF2-40B4-BE49-F238E27FC236}">
                <a16:creationId xmlns:a16="http://schemas.microsoft.com/office/drawing/2014/main" id="{45066E2F-B2B0-90FA-8A3A-F57349FBC44C}"/>
              </a:ext>
            </a:extLst>
          </p:cNvPr>
          <p:cNvSpPr>
            <a:spLocks noChangeArrowheads="1"/>
          </p:cNvSpPr>
          <p:nvPr/>
        </p:nvSpPr>
        <p:spPr bwMode="auto">
          <a:xfrm>
            <a:off x="620713" y="5927725"/>
            <a:ext cx="5553075" cy="9271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9941" name="Rectangle 5">
            <a:extLst>
              <a:ext uri="{FF2B5EF4-FFF2-40B4-BE49-F238E27FC236}">
                <a16:creationId xmlns:a16="http://schemas.microsoft.com/office/drawing/2014/main" id="{89B37336-D315-D2F4-6B08-4031D07770C7}"/>
              </a:ext>
            </a:extLst>
          </p:cNvPr>
          <p:cNvSpPr>
            <a:spLocks noChangeArrowheads="1"/>
          </p:cNvSpPr>
          <p:nvPr/>
        </p:nvSpPr>
        <p:spPr bwMode="auto">
          <a:xfrm>
            <a:off x="658813" y="5927725"/>
            <a:ext cx="5627687" cy="123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defTabSz="893763">
              <a:spcBef>
                <a:spcPct val="30000"/>
              </a:spcBef>
              <a:defRPr sz="1200">
                <a:solidFill>
                  <a:schemeClr val="tx1"/>
                </a:solidFill>
                <a:latin typeface="Arial" panose="020B0604020202020204" pitchFamily="34" charset="0"/>
              </a:defRPr>
            </a:lvl1pPr>
            <a:lvl2pPr marL="742950" indent="-285750" defTabSz="893763">
              <a:spcBef>
                <a:spcPct val="30000"/>
              </a:spcBef>
              <a:defRPr sz="1200">
                <a:solidFill>
                  <a:schemeClr val="tx1"/>
                </a:solidFill>
                <a:latin typeface="Arial" panose="020B0604020202020204" pitchFamily="34" charset="0"/>
              </a:defRPr>
            </a:lvl2pPr>
            <a:lvl3pPr marL="1143000" indent="-228600" defTabSz="893763">
              <a:spcBef>
                <a:spcPct val="30000"/>
              </a:spcBef>
              <a:defRPr sz="1200">
                <a:solidFill>
                  <a:schemeClr val="tx1"/>
                </a:solidFill>
                <a:latin typeface="Arial" panose="020B0604020202020204" pitchFamily="34" charset="0"/>
              </a:defRPr>
            </a:lvl3pPr>
            <a:lvl4pPr marL="1600200" indent="-228600" defTabSz="893763">
              <a:spcBef>
                <a:spcPct val="30000"/>
              </a:spcBef>
              <a:defRPr sz="1200">
                <a:solidFill>
                  <a:schemeClr val="tx1"/>
                </a:solidFill>
                <a:latin typeface="Arial" panose="020B0604020202020204" pitchFamily="34" charset="0"/>
              </a:defRPr>
            </a:lvl4pPr>
            <a:lvl5pPr marL="2057400" indent="-228600" defTabSz="893763">
              <a:spcBef>
                <a:spcPct val="30000"/>
              </a:spcBef>
              <a:defRPr sz="1200">
                <a:solidFill>
                  <a:schemeClr val="tx1"/>
                </a:solidFill>
                <a:latin typeface="Arial" panose="020B0604020202020204" pitchFamily="34" charset="0"/>
              </a:defRPr>
            </a:lvl5pPr>
            <a:lvl6pPr marL="2514600" indent="-228600" defTabSz="8937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37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37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3763" eaLnBrk="0" fontAlgn="base" hangingPunct="0">
              <a:spcBef>
                <a:spcPct val="30000"/>
              </a:spcBef>
              <a:spcAft>
                <a:spcPct val="0"/>
              </a:spcAft>
              <a:defRPr sz="1200">
                <a:solidFill>
                  <a:schemeClr val="tx1"/>
                </a:solidFill>
                <a:latin typeface="Arial" panose="020B0604020202020204" pitchFamily="34" charset="0"/>
              </a:defRPr>
            </a:lvl9pPr>
          </a:lstStyle>
          <a:p>
            <a:r>
              <a:rPr lang="en-US" altLang="en-US" sz="1100">
                <a:latin typeface="Courier New" panose="02070309020205020404" pitchFamily="49" charset="0"/>
              </a:rPr>
              <a:t>INDEX_NAME         COLUMN_NAME     COL_POS UNIQUENES</a:t>
            </a:r>
          </a:p>
          <a:p>
            <a:r>
              <a:rPr lang="en-US" altLang="en-US" sz="1100">
                <a:latin typeface="Courier New" panose="02070309020205020404" pitchFamily="49" charset="0"/>
              </a:rPr>
              <a:t>-----------------  --------------- ------- ----------</a:t>
            </a:r>
          </a:p>
          <a:p>
            <a:r>
              <a:rPr lang="en-US" altLang="en-US" sz="1100">
                <a:latin typeface="Courier New" panose="02070309020205020404" pitchFamily="49" charset="0"/>
              </a:rPr>
              <a:t>EMP_EMPNO_PK       EMPNO                 1 UNIQUE</a:t>
            </a:r>
          </a:p>
          <a:p>
            <a:r>
              <a:rPr lang="en-US" altLang="en-US" sz="1100">
                <a:latin typeface="Courier New" panose="02070309020205020404" pitchFamily="49" charset="0"/>
              </a:rPr>
              <a:t>EMP_ENAME_IDX      ENAME                 1 NONUNIQUE</a:t>
            </a:r>
          </a:p>
          <a:p>
            <a:pPr>
              <a:lnSpc>
                <a:spcPct val="120000"/>
              </a:lnSpc>
              <a:spcBef>
                <a:spcPct val="60000"/>
              </a:spcBef>
            </a:pPr>
            <a:endParaRPr lang="en-US" altLang="en-US" sz="1100">
              <a:latin typeface="Courier New" panose="02070309020205020404" pitchFamily="49"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8E5BA-C774-FE47-B173-28DB645A5D68}"/>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81BB2030-0B33-7B57-5477-D485E2E525B2}"/>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25603" name="Rectangle 3">
            <a:extLst>
              <a:ext uri="{FF2B5EF4-FFF2-40B4-BE49-F238E27FC236}">
                <a16:creationId xmlns:a16="http://schemas.microsoft.com/office/drawing/2014/main" id="{5659ECDF-B4C7-053B-DAF3-57D8EF3ED39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Altering a Sequence</a:t>
            </a:r>
          </a:p>
          <a:p>
            <a:pPr marL="114300" lvl="1" defTabSz="401638"/>
            <a:r>
              <a:rPr lang="en-US" altLang="en-US">
                <a:latin typeface="Arial" panose="020B0604020202020204" pitchFamily="34" charset="0"/>
              </a:rPr>
              <a:t>If you reach the MAXVALUE limit for your sequence, no additional values from the sequence will be allocated and you will receive an error indicating that the sequence exceeds the MAXVALUE. To continue to use the sequence, you can modify it by using the </a:t>
            </a:r>
            <a:r>
              <a:rPr lang="en-US" altLang="en-US">
                <a:solidFill>
                  <a:srgbClr val="FC0128"/>
                </a:solidFill>
                <a:latin typeface="Arial" panose="020B0604020202020204" pitchFamily="34" charset="0"/>
              </a:rPr>
              <a:t>ALTER SEQUENCE </a:t>
            </a:r>
            <a:r>
              <a:rPr lang="en-US" altLang="en-US">
                <a:latin typeface="Arial" panose="020B0604020202020204" pitchFamily="34" charset="0"/>
              </a:rPr>
              <a:t>statement.</a:t>
            </a:r>
          </a:p>
          <a:p>
            <a:pPr marL="114300" lvl="1" defTabSz="401638"/>
            <a:r>
              <a:rPr lang="en-US" altLang="en-US" b="1">
                <a:latin typeface="Arial" panose="020B0604020202020204" pitchFamily="34" charset="0"/>
              </a:rPr>
              <a:t>Syntax</a:t>
            </a:r>
          </a:p>
          <a:p>
            <a:pPr marL="114300" lvl="1" defTabSz="401638">
              <a:spcBef>
                <a:spcPct val="65000"/>
              </a:spcBef>
            </a:pPr>
            <a:r>
              <a:rPr lang="en-US" altLang="en-US">
                <a:latin typeface="Courier New" panose="02070309020205020404" pitchFamily="49" charset="0"/>
              </a:rPr>
              <a:t> ALTER  SEQUENCE	</a:t>
            </a:r>
            <a:r>
              <a:rPr lang="en-US" altLang="en-US" i="1">
                <a:latin typeface="Courier New" panose="02070309020205020404" pitchFamily="49" charset="0"/>
              </a:rPr>
              <a:t>sequence</a:t>
            </a:r>
            <a:endParaRPr lang="en-US" altLang="en-US">
              <a:latin typeface="Courier New" panose="02070309020205020404" pitchFamily="49" charset="0"/>
            </a:endParaRPr>
          </a:p>
          <a:p>
            <a:pPr marL="114300" lvl="1" defTabSz="401638">
              <a:spcBef>
                <a:spcPct val="0"/>
              </a:spcBef>
            </a:pPr>
            <a:r>
              <a:rPr lang="en-US" altLang="en-US">
                <a:latin typeface="Courier New" panose="02070309020205020404" pitchFamily="49" charset="0"/>
              </a:rPr>
              <a:t>        [INCREMENT BY </a:t>
            </a:r>
            <a:r>
              <a:rPr lang="en-US" altLang="en-US" i="1">
                <a:latin typeface="Courier New" panose="02070309020205020404" pitchFamily="49" charset="0"/>
              </a:rPr>
              <a:t>n</a:t>
            </a:r>
            <a:r>
              <a:rPr lang="en-US" altLang="en-US">
                <a:latin typeface="Courier New" panose="02070309020205020404" pitchFamily="49" charset="0"/>
              </a:rPr>
              <a:t>]</a:t>
            </a:r>
          </a:p>
          <a:p>
            <a:pPr marL="114300" lvl="1" defTabSz="401638">
              <a:spcBef>
                <a:spcPct val="0"/>
              </a:spcBef>
            </a:pPr>
            <a:r>
              <a:rPr lang="en-US" altLang="en-US">
                <a:latin typeface="Courier New" panose="02070309020205020404" pitchFamily="49" charset="0"/>
              </a:rPr>
              <a:t>        [{MAXVALUE </a:t>
            </a:r>
            <a:r>
              <a:rPr lang="en-US" altLang="en-US" i="1">
                <a:latin typeface="Courier New" panose="02070309020205020404" pitchFamily="49" charset="0"/>
              </a:rPr>
              <a:t>n</a:t>
            </a:r>
            <a:r>
              <a:rPr lang="en-US" altLang="en-US">
                <a:latin typeface="Courier New" panose="02070309020205020404" pitchFamily="49" charset="0"/>
              </a:rPr>
              <a:t> | NOMAXVALUE}]</a:t>
            </a:r>
          </a:p>
          <a:p>
            <a:pPr marL="114300" lvl="1" defTabSz="401638">
              <a:spcBef>
                <a:spcPct val="0"/>
              </a:spcBef>
            </a:pPr>
            <a:r>
              <a:rPr lang="en-US" altLang="en-US">
                <a:latin typeface="Courier New" panose="02070309020205020404" pitchFamily="49" charset="0"/>
              </a:rPr>
              <a:t>        [{MINVALUE </a:t>
            </a:r>
            <a:r>
              <a:rPr lang="en-US" altLang="en-US" i="1">
                <a:latin typeface="Courier New" panose="02070309020205020404" pitchFamily="49" charset="0"/>
              </a:rPr>
              <a:t>n</a:t>
            </a:r>
            <a:r>
              <a:rPr lang="en-US" altLang="en-US">
                <a:latin typeface="Courier New" panose="02070309020205020404" pitchFamily="49" charset="0"/>
              </a:rPr>
              <a:t> | NOMINVALUE}]</a:t>
            </a:r>
          </a:p>
          <a:p>
            <a:pPr marL="114300" lvl="1" defTabSz="401638">
              <a:spcBef>
                <a:spcPct val="0"/>
              </a:spcBef>
            </a:pPr>
            <a:r>
              <a:rPr lang="en-US" altLang="en-US">
                <a:latin typeface="Courier New" panose="02070309020205020404" pitchFamily="49" charset="0"/>
              </a:rPr>
              <a:t>        [{CYCLE | NOCYCLE}]</a:t>
            </a:r>
          </a:p>
          <a:p>
            <a:pPr marL="114300" lvl="1" defTabSz="401638">
              <a:spcBef>
                <a:spcPct val="0"/>
              </a:spcBef>
            </a:pPr>
            <a:r>
              <a:rPr lang="en-US" altLang="en-US">
                <a:latin typeface="Courier New" panose="02070309020205020404" pitchFamily="49" charset="0"/>
              </a:rPr>
              <a:t>        [{CACHE </a:t>
            </a:r>
            <a:r>
              <a:rPr lang="en-US" altLang="en-US" i="1">
                <a:latin typeface="Courier New" panose="02070309020205020404" pitchFamily="49" charset="0"/>
              </a:rPr>
              <a:t>n</a:t>
            </a:r>
            <a:r>
              <a:rPr lang="en-US" altLang="en-US">
                <a:latin typeface="Courier New" panose="02070309020205020404" pitchFamily="49" charset="0"/>
              </a:rPr>
              <a:t> | NOCACHE}];</a:t>
            </a:r>
            <a:endParaRPr lang="en-US" altLang="en-US">
              <a:latin typeface="Arial" panose="020B0604020202020204" pitchFamily="34" charset="0"/>
            </a:endParaRPr>
          </a:p>
          <a:p>
            <a:pPr marL="114300" lvl="1" defTabSz="401638"/>
            <a:endParaRPr lang="en-US" altLang="en-US" sz="400" b="1">
              <a:latin typeface="Arial" panose="020B0604020202020204" pitchFamily="34" charset="0"/>
            </a:endParaRPr>
          </a:p>
          <a:p>
            <a:pPr marL="114300" lvl="1" defTabSz="401638"/>
            <a:r>
              <a:rPr lang="en-US" altLang="en-US" b="1">
                <a:latin typeface="Arial" panose="020B0604020202020204" pitchFamily="34" charset="0"/>
              </a:rPr>
              <a:t>where:		</a:t>
            </a:r>
            <a:r>
              <a:rPr lang="en-US" altLang="en-US" i="1">
                <a:latin typeface="Arial" panose="020B0604020202020204" pitchFamily="34" charset="0"/>
              </a:rPr>
              <a:t>sequence</a:t>
            </a:r>
            <a:r>
              <a:rPr lang="en-US" altLang="en-US">
                <a:latin typeface="Arial" panose="020B0604020202020204" pitchFamily="34" charset="0"/>
              </a:rPr>
              <a:t>		is the name of the sequence generator</a:t>
            </a:r>
          </a:p>
          <a:p>
            <a:pPr marL="114300" lvl="1" defTabSz="40163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“ALTER SEQUENCE.”</a:t>
            </a:r>
          </a:p>
          <a:p>
            <a:pPr marL="114300" lvl="1" defTabSz="401638"/>
            <a:endParaRPr lang="en-US" altLang="en-US">
              <a:latin typeface="Arial" panose="020B0604020202020204" pitchFamily="34" charset="0"/>
            </a:endParaRPr>
          </a:p>
          <a:p>
            <a:pPr defTabSz="401638"/>
            <a:endParaRPr lang="en-US" altLang="en-US" b="1">
              <a:latin typeface="Times New Roman" panose="02020603050405020304" pitchFamily="18" charset="0"/>
            </a:endParaRPr>
          </a:p>
        </p:txBody>
      </p:sp>
      <p:grpSp>
        <p:nvGrpSpPr>
          <p:cNvPr id="25604" name="Group 4">
            <a:extLst>
              <a:ext uri="{FF2B5EF4-FFF2-40B4-BE49-F238E27FC236}">
                <a16:creationId xmlns:a16="http://schemas.microsoft.com/office/drawing/2014/main" id="{D3B7F7E9-22C3-BFC5-6DC7-460C46646E49}"/>
              </a:ext>
            </a:extLst>
          </p:cNvPr>
          <p:cNvGrpSpPr>
            <a:grpSpLocks/>
          </p:cNvGrpSpPr>
          <p:nvPr/>
        </p:nvGrpSpPr>
        <p:grpSpPr bwMode="auto">
          <a:xfrm>
            <a:off x="204788" y="7348538"/>
            <a:ext cx="300037" cy="295275"/>
            <a:chOff x="128" y="4545"/>
            <a:chExt cx="188" cy="183"/>
          </a:xfrm>
        </p:grpSpPr>
        <p:sp>
          <p:nvSpPr>
            <p:cNvPr id="25606" name="Freeform 5">
              <a:extLst>
                <a:ext uri="{FF2B5EF4-FFF2-40B4-BE49-F238E27FC236}">
                  <a16:creationId xmlns:a16="http://schemas.microsoft.com/office/drawing/2014/main" id="{73B49645-5CDE-E7CB-B3A1-A83AF1762727}"/>
                </a:ext>
              </a:extLst>
            </p:cNvPr>
            <p:cNvSpPr>
              <a:spLocks/>
            </p:cNvSpPr>
            <p:nvPr/>
          </p:nvSpPr>
          <p:spPr bwMode="auto">
            <a:xfrm>
              <a:off x="128" y="4545"/>
              <a:ext cx="179" cy="176"/>
            </a:xfrm>
            <a:custGeom>
              <a:avLst/>
              <a:gdLst>
                <a:gd name="T0" fmla="*/ 178 w 179"/>
                <a:gd name="T1" fmla="*/ 175 h 176"/>
                <a:gd name="T2" fmla="*/ 178 w 179"/>
                <a:gd name="T3" fmla="*/ 0 h 176"/>
                <a:gd name="T4" fmla="*/ 0 w 179"/>
                <a:gd name="T5" fmla="*/ 0 h 176"/>
                <a:gd name="T6" fmla="*/ 0 w 179"/>
                <a:gd name="T7" fmla="*/ 175 h 176"/>
                <a:gd name="T8" fmla="*/ 178 w 179"/>
                <a:gd name="T9" fmla="*/ 175 h 176"/>
                <a:gd name="T10" fmla="*/ 0 60000 65536"/>
                <a:gd name="T11" fmla="*/ 0 60000 65536"/>
                <a:gd name="T12" fmla="*/ 0 60000 65536"/>
                <a:gd name="T13" fmla="*/ 0 60000 65536"/>
                <a:gd name="T14" fmla="*/ 0 60000 65536"/>
                <a:gd name="T15" fmla="*/ 0 w 179"/>
                <a:gd name="T16" fmla="*/ 0 h 176"/>
                <a:gd name="T17" fmla="*/ 179 w 179"/>
                <a:gd name="T18" fmla="*/ 176 h 176"/>
              </a:gdLst>
              <a:ahLst/>
              <a:cxnLst>
                <a:cxn ang="T10">
                  <a:pos x="T0" y="T1"/>
                </a:cxn>
                <a:cxn ang="T11">
                  <a:pos x="T2" y="T3"/>
                </a:cxn>
                <a:cxn ang="T12">
                  <a:pos x="T4" y="T5"/>
                </a:cxn>
                <a:cxn ang="T13">
                  <a:pos x="T6" y="T7"/>
                </a:cxn>
                <a:cxn ang="T14">
                  <a:pos x="T8" y="T9"/>
                </a:cxn>
              </a:cxnLst>
              <a:rect l="T15" t="T16" r="T17" b="T18"/>
              <a:pathLst>
                <a:path w="179" h="176">
                  <a:moveTo>
                    <a:pt x="178" y="175"/>
                  </a:moveTo>
                  <a:lnTo>
                    <a:pt x="178" y="0"/>
                  </a:lnTo>
                  <a:lnTo>
                    <a:pt x="0" y="0"/>
                  </a:lnTo>
                  <a:lnTo>
                    <a:pt x="0" y="175"/>
                  </a:lnTo>
                  <a:lnTo>
                    <a:pt x="178"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07" name="Freeform 6">
              <a:extLst>
                <a:ext uri="{FF2B5EF4-FFF2-40B4-BE49-F238E27FC236}">
                  <a16:creationId xmlns:a16="http://schemas.microsoft.com/office/drawing/2014/main" id="{AB3B4DBA-1D04-55AF-7833-9A066B06FB8C}"/>
                </a:ext>
              </a:extLst>
            </p:cNvPr>
            <p:cNvSpPr>
              <a:spLocks/>
            </p:cNvSpPr>
            <p:nvPr/>
          </p:nvSpPr>
          <p:spPr bwMode="auto">
            <a:xfrm>
              <a:off x="190" y="4611"/>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08" name="Freeform 7">
              <a:extLst>
                <a:ext uri="{FF2B5EF4-FFF2-40B4-BE49-F238E27FC236}">
                  <a16:creationId xmlns:a16="http://schemas.microsoft.com/office/drawing/2014/main" id="{4DBF4152-59A2-437B-315D-7BA37D4E9278}"/>
                </a:ext>
              </a:extLst>
            </p:cNvPr>
            <p:cNvSpPr>
              <a:spLocks/>
            </p:cNvSpPr>
            <p:nvPr/>
          </p:nvSpPr>
          <p:spPr bwMode="auto">
            <a:xfrm>
              <a:off x="198" y="4626"/>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09" name="Freeform 8">
              <a:extLst>
                <a:ext uri="{FF2B5EF4-FFF2-40B4-BE49-F238E27FC236}">
                  <a16:creationId xmlns:a16="http://schemas.microsoft.com/office/drawing/2014/main" id="{5B4BD39F-360D-DE2F-68B3-683A42466CA8}"/>
                </a:ext>
              </a:extLst>
            </p:cNvPr>
            <p:cNvSpPr>
              <a:spLocks/>
            </p:cNvSpPr>
            <p:nvPr/>
          </p:nvSpPr>
          <p:spPr bwMode="auto">
            <a:xfrm>
              <a:off x="205" y="4643"/>
              <a:ext cx="69" cy="35"/>
            </a:xfrm>
            <a:custGeom>
              <a:avLst/>
              <a:gdLst>
                <a:gd name="T0" fmla="*/ 68 w 69"/>
                <a:gd name="T1" fmla="*/ 6 h 35"/>
                <a:gd name="T2" fmla="*/ 65 w 69"/>
                <a:gd name="T3" fmla="*/ 0 h 35"/>
                <a:gd name="T4" fmla="*/ 0 w 69"/>
                <a:gd name="T5" fmla="*/ 27 h 35"/>
                <a:gd name="T6" fmla="*/ 3 w 69"/>
                <a:gd name="T7" fmla="*/ 34 h 35"/>
                <a:gd name="T8" fmla="*/ 68 w 69"/>
                <a:gd name="T9" fmla="*/ 6 h 35"/>
                <a:gd name="T10" fmla="*/ 0 60000 65536"/>
                <a:gd name="T11" fmla="*/ 0 60000 65536"/>
                <a:gd name="T12" fmla="*/ 0 60000 65536"/>
                <a:gd name="T13" fmla="*/ 0 60000 65536"/>
                <a:gd name="T14" fmla="*/ 0 60000 65536"/>
                <a:gd name="T15" fmla="*/ 0 w 69"/>
                <a:gd name="T16" fmla="*/ 0 h 35"/>
                <a:gd name="T17" fmla="*/ 69 w 69"/>
                <a:gd name="T18" fmla="*/ 35 h 35"/>
              </a:gdLst>
              <a:ahLst/>
              <a:cxnLst>
                <a:cxn ang="T10">
                  <a:pos x="T0" y="T1"/>
                </a:cxn>
                <a:cxn ang="T11">
                  <a:pos x="T2" y="T3"/>
                </a:cxn>
                <a:cxn ang="T12">
                  <a:pos x="T4" y="T5"/>
                </a:cxn>
                <a:cxn ang="T13">
                  <a:pos x="T6" y="T7"/>
                </a:cxn>
                <a:cxn ang="T14">
                  <a:pos x="T8" y="T9"/>
                </a:cxn>
              </a:cxnLst>
              <a:rect l="T15" t="T16" r="T17" b="T18"/>
              <a:pathLst>
                <a:path w="69" h="35">
                  <a:moveTo>
                    <a:pt x="68" y="6"/>
                  </a:moveTo>
                  <a:lnTo>
                    <a:pt x="65" y="0"/>
                  </a:lnTo>
                  <a:lnTo>
                    <a:pt x="0" y="27"/>
                  </a:lnTo>
                  <a:lnTo>
                    <a:pt x="3" y="34"/>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0" name="Freeform 9">
              <a:extLst>
                <a:ext uri="{FF2B5EF4-FFF2-40B4-BE49-F238E27FC236}">
                  <a16:creationId xmlns:a16="http://schemas.microsoft.com/office/drawing/2014/main" id="{D7011D47-341B-DA9B-AB18-292C2D8EDE5F}"/>
                </a:ext>
              </a:extLst>
            </p:cNvPr>
            <p:cNvSpPr>
              <a:spLocks/>
            </p:cNvSpPr>
            <p:nvPr/>
          </p:nvSpPr>
          <p:spPr bwMode="auto">
            <a:xfrm>
              <a:off x="213" y="4659"/>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 name="T10" fmla="*/ 0 60000 65536"/>
                <a:gd name="T11" fmla="*/ 0 60000 65536"/>
                <a:gd name="T12" fmla="*/ 0 60000 65536"/>
                <a:gd name="T13" fmla="*/ 0 60000 65536"/>
                <a:gd name="T14" fmla="*/ 0 60000 65536"/>
                <a:gd name="T15" fmla="*/ 0 w 70"/>
                <a:gd name="T16" fmla="*/ 0 h 35"/>
                <a:gd name="T17" fmla="*/ 70 w 70"/>
                <a:gd name="T18" fmla="*/ 35 h 35"/>
              </a:gdLst>
              <a:ahLst/>
              <a:cxnLst>
                <a:cxn ang="T10">
                  <a:pos x="T0" y="T1"/>
                </a:cxn>
                <a:cxn ang="T11">
                  <a:pos x="T2" y="T3"/>
                </a:cxn>
                <a:cxn ang="T12">
                  <a:pos x="T4" y="T5"/>
                </a:cxn>
                <a:cxn ang="T13">
                  <a:pos x="T6" y="T7"/>
                </a:cxn>
                <a:cxn ang="T14">
                  <a:pos x="T8" y="T9"/>
                </a:cxn>
              </a:cxnLst>
              <a:rect l="T15" t="T16" r="T17" b="T18"/>
              <a:pathLst>
                <a:path w="70" h="35">
                  <a:moveTo>
                    <a:pt x="69" y="6"/>
                  </a:moveTo>
                  <a:lnTo>
                    <a:pt x="65" y="0"/>
                  </a:lnTo>
                  <a:lnTo>
                    <a:pt x="0" y="27"/>
                  </a:lnTo>
                  <a:lnTo>
                    <a:pt x="3" y="34"/>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1" name="Freeform 10">
              <a:extLst>
                <a:ext uri="{FF2B5EF4-FFF2-40B4-BE49-F238E27FC236}">
                  <a16:creationId xmlns:a16="http://schemas.microsoft.com/office/drawing/2014/main" id="{80C172A6-CC5F-6A44-6573-15BD1C905923}"/>
                </a:ext>
              </a:extLst>
            </p:cNvPr>
            <p:cNvSpPr>
              <a:spLocks/>
            </p:cNvSpPr>
            <p:nvPr/>
          </p:nvSpPr>
          <p:spPr bwMode="auto">
            <a:xfrm>
              <a:off x="221" y="4675"/>
              <a:ext cx="69" cy="38"/>
            </a:xfrm>
            <a:custGeom>
              <a:avLst/>
              <a:gdLst>
                <a:gd name="T0" fmla="*/ 68 w 69"/>
                <a:gd name="T1" fmla="*/ 7 h 38"/>
                <a:gd name="T2" fmla="*/ 65 w 69"/>
                <a:gd name="T3" fmla="*/ 0 h 38"/>
                <a:gd name="T4" fmla="*/ 0 w 69"/>
                <a:gd name="T5" fmla="*/ 29 h 38"/>
                <a:gd name="T6" fmla="*/ 3 w 69"/>
                <a:gd name="T7" fmla="*/ 37 h 38"/>
                <a:gd name="T8" fmla="*/ 68 w 69"/>
                <a:gd name="T9" fmla="*/ 7 h 38"/>
                <a:gd name="T10" fmla="*/ 0 60000 65536"/>
                <a:gd name="T11" fmla="*/ 0 60000 65536"/>
                <a:gd name="T12" fmla="*/ 0 60000 65536"/>
                <a:gd name="T13" fmla="*/ 0 60000 65536"/>
                <a:gd name="T14" fmla="*/ 0 60000 65536"/>
                <a:gd name="T15" fmla="*/ 0 w 69"/>
                <a:gd name="T16" fmla="*/ 0 h 38"/>
                <a:gd name="T17" fmla="*/ 69 w 69"/>
                <a:gd name="T18" fmla="*/ 38 h 38"/>
              </a:gdLst>
              <a:ahLst/>
              <a:cxnLst>
                <a:cxn ang="T10">
                  <a:pos x="T0" y="T1"/>
                </a:cxn>
                <a:cxn ang="T11">
                  <a:pos x="T2" y="T3"/>
                </a:cxn>
                <a:cxn ang="T12">
                  <a:pos x="T4" y="T5"/>
                </a:cxn>
                <a:cxn ang="T13">
                  <a:pos x="T6" y="T7"/>
                </a:cxn>
                <a:cxn ang="T14">
                  <a:pos x="T8" y="T9"/>
                </a:cxn>
              </a:cxnLst>
              <a:rect l="T15" t="T16" r="T17" b="T18"/>
              <a:pathLst>
                <a:path w="69" h="38">
                  <a:moveTo>
                    <a:pt x="68" y="7"/>
                  </a:moveTo>
                  <a:lnTo>
                    <a:pt x="65" y="0"/>
                  </a:lnTo>
                  <a:lnTo>
                    <a:pt x="0" y="29"/>
                  </a:lnTo>
                  <a:lnTo>
                    <a:pt x="3" y="37"/>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2" name="Freeform 11">
              <a:extLst>
                <a:ext uri="{FF2B5EF4-FFF2-40B4-BE49-F238E27FC236}">
                  <a16:creationId xmlns:a16="http://schemas.microsoft.com/office/drawing/2014/main" id="{DD92D7C4-B44C-9728-8360-E6FE34446F27}"/>
                </a:ext>
              </a:extLst>
            </p:cNvPr>
            <p:cNvSpPr>
              <a:spLocks/>
            </p:cNvSpPr>
            <p:nvPr/>
          </p:nvSpPr>
          <p:spPr bwMode="auto">
            <a:xfrm>
              <a:off x="150" y="4573"/>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3" name="Freeform 12">
              <a:extLst>
                <a:ext uri="{FF2B5EF4-FFF2-40B4-BE49-F238E27FC236}">
                  <a16:creationId xmlns:a16="http://schemas.microsoft.com/office/drawing/2014/main" id="{73A9FC8A-FB70-8F9E-94CE-7C943FBBC3DF}"/>
                </a:ext>
              </a:extLst>
            </p:cNvPr>
            <p:cNvSpPr>
              <a:spLocks/>
            </p:cNvSpPr>
            <p:nvPr/>
          </p:nvSpPr>
          <p:spPr bwMode="auto">
            <a:xfrm>
              <a:off x="132" y="4562"/>
              <a:ext cx="124" cy="59"/>
            </a:xfrm>
            <a:custGeom>
              <a:avLst/>
              <a:gdLst>
                <a:gd name="T0" fmla="*/ 123 w 124"/>
                <a:gd name="T1" fmla="*/ 7 h 59"/>
                <a:gd name="T2" fmla="*/ 119 w 124"/>
                <a:gd name="T3" fmla="*/ 0 h 59"/>
                <a:gd name="T4" fmla="*/ 0 w 124"/>
                <a:gd name="T5" fmla="*/ 51 h 59"/>
                <a:gd name="T6" fmla="*/ 2 w 124"/>
                <a:gd name="T7" fmla="*/ 58 h 59"/>
                <a:gd name="T8" fmla="*/ 123 w 124"/>
                <a:gd name="T9" fmla="*/ 7 h 59"/>
                <a:gd name="T10" fmla="*/ 0 60000 65536"/>
                <a:gd name="T11" fmla="*/ 0 60000 65536"/>
                <a:gd name="T12" fmla="*/ 0 60000 65536"/>
                <a:gd name="T13" fmla="*/ 0 60000 65536"/>
                <a:gd name="T14" fmla="*/ 0 60000 65536"/>
                <a:gd name="T15" fmla="*/ 0 w 124"/>
                <a:gd name="T16" fmla="*/ 0 h 59"/>
                <a:gd name="T17" fmla="*/ 124 w 124"/>
                <a:gd name="T18" fmla="*/ 59 h 59"/>
              </a:gdLst>
              <a:ahLst/>
              <a:cxnLst>
                <a:cxn ang="T10">
                  <a:pos x="T0" y="T1"/>
                </a:cxn>
                <a:cxn ang="T11">
                  <a:pos x="T2" y="T3"/>
                </a:cxn>
                <a:cxn ang="T12">
                  <a:pos x="T4" y="T5"/>
                </a:cxn>
                <a:cxn ang="T13">
                  <a:pos x="T6" y="T7"/>
                </a:cxn>
                <a:cxn ang="T14">
                  <a:pos x="T8" y="T9"/>
                </a:cxn>
              </a:cxnLst>
              <a:rect l="T15" t="T16" r="T17" b="T18"/>
              <a:pathLst>
                <a:path w="124" h="59">
                  <a:moveTo>
                    <a:pt x="123" y="7"/>
                  </a:moveTo>
                  <a:lnTo>
                    <a:pt x="119" y="0"/>
                  </a:lnTo>
                  <a:lnTo>
                    <a:pt x="0" y="51"/>
                  </a:lnTo>
                  <a:lnTo>
                    <a:pt x="2" y="58"/>
                  </a:lnTo>
                  <a:lnTo>
                    <a:pt x="123"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4" name="Freeform 13">
              <a:extLst>
                <a:ext uri="{FF2B5EF4-FFF2-40B4-BE49-F238E27FC236}">
                  <a16:creationId xmlns:a16="http://schemas.microsoft.com/office/drawing/2014/main" id="{B5EDA11D-4D47-DF46-58DE-C5DDCDADBAE4}"/>
                </a:ext>
              </a:extLst>
            </p:cNvPr>
            <p:cNvSpPr>
              <a:spLocks/>
            </p:cNvSpPr>
            <p:nvPr/>
          </p:nvSpPr>
          <p:spPr bwMode="auto">
            <a:xfrm>
              <a:off x="260" y="4575"/>
              <a:ext cx="56" cy="105"/>
            </a:xfrm>
            <a:custGeom>
              <a:avLst/>
              <a:gdLst>
                <a:gd name="T0" fmla="*/ 47 w 56"/>
                <a:gd name="T1" fmla="*/ 104 h 105"/>
                <a:gd name="T2" fmla="*/ 55 w 56"/>
                <a:gd name="T3" fmla="*/ 101 h 105"/>
                <a:gd name="T4" fmla="*/ 7 w 56"/>
                <a:gd name="T5" fmla="*/ 0 h 105"/>
                <a:gd name="T6" fmla="*/ 0 w 56"/>
                <a:gd name="T7" fmla="*/ 3 h 105"/>
                <a:gd name="T8" fmla="*/ 47 w 56"/>
                <a:gd name="T9" fmla="*/ 104 h 105"/>
                <a:gd name="T10" fmla="*/ 0 60000 65536"/>
                <a:gd name="T11" fmla="*/ 0 60000 65536"/>
                <a:gd name="T12" fmla="*/ 0 60000 65536"/>
                <a:gd name="T13" fmla="*/ 0 60000 65536"/>
                <a:gd name="T14" fmla="*/ 0 60000 65536"/>
                <a:gd name="T15" fmla="*/ 0 w 56"/>
                <a:gd name="T16" fmla="*/ 0 h 105"/>
                <a:gd name="T17" fmla="*/ 56 w 56"/>
                <a:gd name="T18" fmla="*/ 105 h 105"/>
              </a:gdLst>
              <a:ahLst/>
              <a:cxnLst>
                <a:cxn ang="T10">
                  <a:pos x="T0" y="T1"/>
                </a:cxn>
                <a:cxn ang="T11">
                  <a:pos x="T2" y="T3"/>
                </a:cxn>
                <a:cxn ang="T12">
                  <a:pos x="T4" y="T5"/>
                </a:cxn>
                <a:cxn ang="T13">
                  <a:pos x="T6" y="T7"/>
                </a:cxn>
                <a:cxn ang="T14">
                  <a:pos x="T8" y="T9"/>
                </a:cxn>
              </a:cxnLst>
              <a:rect l="T15" t="T16" r="T17" b="T18"/>
              <a:pathLst>
                <a:path w="56" h="105">
                  <a:moveTo>
                    <a:pt x="47" y="104"/>
                  </a:moveTo>
                  <a:lnTo>
                    <a:pt x="55" y="101"/>
                  </a:lnTo>
                  <a:lnTo>
                    <a:pt x="7" y="0"/>
                  </a:lnTo>
                  <a:lnTo>
                    <a:pt x="0" y="3"/>
                  </a:lnTo>
                  <a:lnTo>
                    <a:pt x="47" y="10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5" name="Freeform 14">
              <a:extLst>
                <a:ext uri="{FF2B5EF4-FFF2-40B4-BE49-F238E27FC236}">
                  <a16:creationId xmlns:a16="http://schemas.microsoft.com/office/drawing/2014/main" id="{4DA198E9-EED3-1F84-E9BD-6DCD9134E758}"/>
                </a:ext>
              </a:extLst>
            </p:cNvPr>
            <p:cNvSpPr>
              <a:spLocks/>
            </p:cNvSpPr>
            <p:nvPr/>
          </p:nvSpPr>
          <p:spPr bwMode="auto">
            <a:xfrm>
              <a:off x="150" y="4621"/>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6" name="Freeform 15">
              <a:extLst>
                <a:ext uri="{FF2B5EF4-FFF2-40B4-BE49-F238E27FC236}">
                  <a16:creationId xmlns:a16="http://schemas.microsoft.com/office/drawing/2014/main" id="{AC12D490-C978-3D70-E705-7139D55FED93}"/>
                </a:ext>
              </a:extLst>
            </p:cNvPr>
            <p:cNvSpPr>
              <a:spLocks/>
            </p:cNvSpPr>
            <p:nvPr/>
          </p:nvSpPr>
          <p:spPr bwMode="auto">
            <a:xfrm>
              <a:off x="128" y="4613"/>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 name="T10" fmla="*/ 0 60000 65536"/>
                <a:gd name="T11" fmla="*/ 0 60000 65536"/>
                <a:gd name="T12" fmla="*/ 0 60000 65536"/>
                <a:gd name="T13" fmla="*/ 0 60000 65536"/>
                <a:gd name="T14" fmla="*/ 0 60000 65536"/>
                <a:gd name="T15" fmla="*/ 0 w 59"/>
                <a:gd name="T16" fmla="*/ 0 h 115"/>
                <a:gd name="T17" fmla="*/ 59 w 59"/>
                <a:gd name="T18" fmla="*/ 115 h 115"/>
              </a:gdLst>
              <a:ahLst/>
              <a:cxnLst>
                <a:cxn ang="T10">
                  <a:pos x="T0" y="T1"/>
                </a:cxn>
                <a:cxn ang="T11">
                  <a:pos x="T2" y="T3"/>
                </a:cxn>
                <a:cxn ang="T12">
                  <a:pos x="T4" y="T5"/>
                </a:cxn>
                <a:cxn ang="T13">
                  <a:pos x="T6" y="T7"/>
                </a:cxn>
                <a:cxn ang="T14">
                  <a:pos x="T8" y="T9"/>
                </a:cxn>
              </a:cxnLst>
              <a:rect l="T15" t="T16" r="T17" b="T18"/>
              <a:pathLst>
                <a:path w="59" h="115">
                  <a:moveTo>
                    <a:pt x="51" y="114"/>
                  </a:moveTo>
                  <a:lnTo>
                    <a:pt x="58"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7" name="Freeform 16">
              <a:extLst>
                <a:ext uri="{FF2B5EF4-FFF2-40B4-BE49-F238E27FC236}">
                  <a16:creationId xmlns:a16="http://schemas.microsoft.com/office/drawing/2014/main" id="{15BD9333-4260-C8A3-0DF9-B947590330A4}"/>
                </a:ext>
              </a:extLst>
            </p:cNvPr>
            <p:cNvSpPr>
              <a:spLocks/>
            </p:cNvSpPr>
            <p:nvPr/>
          </p:nvSpPr>
          <p:spPr bwMode="auto">
            <a:xfrm>
              <a:off x="131" y="4613"/>
              <a:ext cx="28" cy="17"/>
            </a:xfrm>
            <a:custGeom>
              <a:avLst/>
              <a:gdLst>
                <a:gd name="T0" fmla="*/ 23 w 28"/>
                <a:gd name="T1" fmla="*/ 16 h 17"/>
                <a:gd name="T2" fmla="*/ 27 w 28"/>
                <a:gd name="T3" fmla="*/ 9 h 17"/>
                <a:gd name="T4" fmla="*/ 4 w 28"/>
                <a:gd name="T5" fmla="*/ 0 h 17"/>
                <a:gd name="T6" fmla="*/ 0 w 28"/>
                <a:gd name="T7" fmla="*/ 6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6"/>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5618" name="Freeform 17">
              <a:extLst>
                <a:ext uri="{FF2B5EF4-FFF2-40B4-BE49-F238E27FC236}">
                  <a16:creationId xmlns:a16="http://schemas.microsoft.com/office/drawing/2014/main" id="{74A4E305-2795-81B5-CA3F-71E11D6B991B}"/>
                </a:ext>
              </a:extLst>
            </p:cNvPr>
            <p:cNvSpPr>
              <a:spLocks/>
            </p:cNvSpPr>
            <p:nvPr/>
          </p:nvSpPr>
          <p:spPr bwMode="auto">
            <a:xfrm>
              <a:off x="239" y="4568"/>
              <a:ext cx="29" cy="19"/>
            </a:xfrm>
            <a:custGeom>
              <a:avLst/>
              <a:gdLst>
                <a:gd name="T0" fmla="*/ 24 w 29"/>
                <a:gd name="T1" fmla="*/ 18 h 19"/>
                <a:gd name="T2" fmla="*/ 28 w 29"/>
                <a:gd name="T3" fmla="*/ 11 h 19"/>
                <a:gd name="T4" fmla="*/ 4 w 29"/>
                <a:gd name="T5" fmla="*/ 0 h 19"/>
                <a:gd name="T6" fmla="*/ 0 w 29"/>
                <a:gd name="T7" fmla="*/ 6 h 19"/>
                <a:gd name="T8" fmla="*/ 24 w 29"/>
                <a:gd name="T9" fmla="*/ 18 h 19"/>
                <a:gd name="T10" fmla="*/ 0 60000 65536"/>
                <a:gd name="T11" fmla="*/ 0 60000 65536"/>
                <a:gd name="T12" fmla="*/ 0 60000 65536"/>
                <a:gd name="T13" fmla="*/ 0 60000 65536"/>
                <a:gd name="T14" fmla="*/ 0 60000 65536"/>
                <a:gd name="T15" fmla="*/ 0 w 29"/>
                <a:gd name="T16" fmla="*/ 0 h 19"/>
                <a:gd name="T17" fmla="*/ 29 w 29"/>
                <a:gd name="T18" fmla="*/ 19 h 19"/>
              </a:gdLst>
              <a:ahLst/>
              <a:cxnLst>
                <a:cxn ang="T10">
                  <a:pos x="T0" y="T1"/>
                </a:cxn>
                <a:cxn ang="T11">
                  <a:pos x="T2" y="T3"/>
                </a:cxn>
                <a:cxn ang="T12">
                  <a:pos x="T4" y="T5"/>
                </a:cxn>
                <a:cxn ang="T13">
                  <a:pos x="T6" y="T7"/>
                </a:cxn>
                <a:cxn ang="T14">
                  <a:pos x="T8" y="T9"/>
                </a:cxn>
              </a:cxnLst>
              <a:rect l="T15" t="T16" r="T17" b="T18"/>
              <a:pathLst>
                <a:path w="29" h="19">
                  <a:moveTo>
                    <a:pt x="24" y="18"/>
                  </a:moveTo>
                  <a:lnTo>
                    <a:pt x="28" y="11"/>
                  </a:lnTo>
                  <a:lnTo>
                    <a:pt x="4" y="0"/>
                  </a:lnTo>
                  <a:lnTo>
                    <a:pt x="0" y="6"/>
                  </a:lnTo>
                  <a:lnTo>
                    <a:pt x="24"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
        <p:nvSpPr>
          <p:cNvPr id="25605" name="Rectangle 18">
            <a:extLst>
              <a:ext uri="{FF2B5EF4-FFF2-40B4-BE49-F238E27FC236}">
                <a16:creationId xmlns:a16="http://schemas.microsoft.com/office/drawing/2014/main" id="{2FDD6BD4-2D41-E539-40C5-B32068C54C45}"/>
              </a:ext>
            </a:extLst>
          </p:cNvPr>
          <p:cNvSpPr>
            <a:spLocks noChangeArrowheads="1"/>
          </p:cNvSpPr>
          <p:nvPr/>
        </p:nvSpPr>
        <p:spPr bwMode="auto">
          <a:xfrm>
            <a:off x="620713" y="5927725"/>
            <a:ext cx="5553075" cy="10795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extLst>
      <p:ext uri="{BB962C8B-B14F-4D97-AF65-F5344CB8AC3E}">
        <p14:creationId xmlns:p14="http://schemas.microsoft.com/office/powerpoint/2010/main" val="1690230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1DEBEE5-904D-2CB5-C0EF-887A38FDF45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Removing an Index</a:t>
            </a:r>
          </a:p>
          <a:p>
            <a:pPr marL="114300" lvl="1" defTabSz="401638"/>
            <a:r>
              <a:rPr lang="en-US" altLang="en-US">
                <a:latin typeface="Arial" panose="020B0604020202020204" pitchFamily="34" charset="0"/>
              </a:rPr>
              <a:t>You cannot modify indexes. To change an index, you must drop it and then re-create it. Remove an index definition from the data dictionary by issuing the </a:t>
            </a:r>
            <a:r>
              <a:rPr lang="en-US" altLang="en-US">
                <a:solidFill>
                  <a:srgbClr val="FC0128"/>
                </a:solidFill>
                <a:latin typeface="Arial" panose="020B0604020202020204" pitchFamily="34" charset="0"/>
              </a:rPr>
              <a:t>DROP INDEX </a:t>
            </a:r>
            <a:r>
              <a:rPr lang="en-US" altLang="en-US">
                <a:latin typeface="Arial" panose="020B0604020202020204" pitchFamily="34" charset="0"/>
              </a:rPr>
              <a:t>statement. To drop an index, you must be the owner of the index or have the DROP ANY INDEX privilege.</a:t>
            </a:r>
          </a:p>
          <a:p>
            <a:pPr marL="114300" lvl="1" defTabSz="401638"/>
            <a:r>
              <a:rPr lang="en-US" altLang="en-US">
                <a:latin typeface="Arial" panose="020B0604020202020204" pitchFamily="34" charset="0"/>
              </a:rPr>
              <a:t>In the syntax:</a:t>
            </a:r>
          </a:p>
          <a:p>
            <a:pPr marL="114300" lvl="1" defTabSz="401638"/>
            <a:r>
              <a:rPr lang="en-US" altLang="en-US">
                <a:latin typeface="Arial" panose="020B0604020202020204" pitchFamily="34" charset="0"/>
              </a:rPr>
              <a:t>	</a:t>
            </a:r>
            <a:r>
              <a:rPr lang="en-US" altLang="en-US" i="1">
                <a:latin typeface="Arial" panose="020B0604020202020204" pitchFamily="34" charset="0"/>
              </a:rPr>
              <a:t>index</a:t>
            </a:r>
            <a:r>
              <a:rPr lang="en-US" altLang="en-US">
                <a:latin typeface="Arial" panose="020B0604020202020204" pitchFamily="34" charset="0"/>
              </a:rPr>
              <a:t>			is the name of the index</a:t>
            </a: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r>
              <a:rPr lang="en-US" altLang="en-US">
                <a:solidFill>
                  <a:schemeClr val="accent2"/>
                </a:solidFill>
                <a:latin typeface="Arial" panose="020B0604020202020204" pitchFamily="34" charset="0"/>
              </a:rPr>
              <a:t>Class Management Note</a:t>
            </a:r>
          </a:p>
          <a:p>
            <a:pPr marL="114300" lvl="1" defTabSz="401638"/>
            <a:r>
              <a:rPr lang="en-US" altLang="en-US">
                <a:solidFill>
                  <a:schemeClr val="accent2"/>
                </a:solidFill>
                <a:latin typeface="Arial" panose="020B0604020202020204" pitchFamily="34" charset="0"/>
              </a:rPr>
              <a:t>Remind students that if they drop a table, indexes and constraints are automatically dropped, but views and sequences remain.</a:t>
            </a:r>
          </a:p>
          <a:p>
            <a:pPr defTabSz="401638"/>
            <a:endParaRPr lang="en-US" altLang="en-US" b="1">
              <a:solidFill>
                <a:schemeClr val="accent2"/>
              </a:solidFill>
              <a:latin typeface="Times New Roman" panose="02020603050405020304" pitchFamily="18" charset="0"/>
            </a:endParaRPr>
          </a:p>
        </p:txBody>
      </p:sp>
      <p:sp>
        <p:nvSpPr>
          <p:cNvPr id="41987" name="Rectangle 3">
            <a:extLst>
              <a:ext uri="{FF2B5EF4-FFF2-40B4-BE49-F238E27FC236}">
                <a16:creationId xmlns:a16="http://schemas.microsoft.com/office/drawing/2014/main" id="{0350CF7E-DEED-58D8-AC96-AFF8EECA9927}"/>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8AB250B-8845-A417-8663-EDC1F2D0104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Creating a Synonym for an Object</a:t>
            </a:r>
          </a:p>
          <a:p>
            <a:pPr marL="114300" lvl="1" defTabSz="401638"/>
            <a:r>
              <a:rPr lang="en-US" altLang="en-US">
                <a:latin typeface="Arial" panose="020B0604020202020204" pitchFamily="34" charset="0"/>
              </a:rPr>
              <a:t>To refer to a table owned by another user, you need to prefix the table name with the name of the user who created it followed by a period. Creating a </a:t>
            </a:r>
            <a:r>
              <a:rPr lang="en-US" altLang="en-US">
                <a:solidFill>
                  <a:srgbClr val="FC0128"/>
                </a:solidFill>
                <a:latin typeface="Arial" panose="020B0604020202020204" pitchFamily="34" charset="0"/>
              </a:rPr>
              <a:t>synonym </a:t>
            </a:r>
            <a:r>
              <a:rPr lang="en-US" altLang="en-US">
                <a:latin typeface="Arial" panose="020B0604020202020204" pitchFamily="34" charset="0"/>
              </a:rPr>
              <a:t>eliminates the need to qualify the object name with the schema and provides you with an alternative name for a table, view, sequence, procedure, or other objects. This method can be especially useful with lengthy object names, such as views.</a:t>
            </a:r>
          </a:p>
          <a:p>
            <a:pPr marL="114300" lvl="1" defTabSz="401638"/>
            <a:r>
              <a:rPr lang="en-US" altLang="en-US">
                <a:latin typeface="Arial" panose="020B0604020202020204" pitchFamily="34" charset="0"/>
              </a:rPr>
              <a:t>In the syntax:</a:t>
            </a:r>
          </a:p>
          <a:p>
            <a:pPr marL="114300" lvl="1" defTabSz="401638"/>
            <a:r>
              <a:rPr lang="en-US" altLang="en-US">
                <a:latin typeface="Arial" panose="020B0604020202020204" pitchFamily="34" charset="0"/>
              </a:rPr>
              <a:t>	PUBLIC		creates a synonym accessible to all users</a:t>
            </a:r>
          </a:p>
          <a:p>
            <a:pPr marL="114300" lvl="1" defTabSz="401638"/>
            <a:r>
              <a:rPr lang="en-US" altLang="en-US" i="1">
                <a:latin typeface="Arial" panose="020B0604020202020204" pitchFamily="34" charset="0"/>
              </a:rPr>
              <a:t>	synonym</a:t>
            </a:r>
            <a:r>
              <a:rPr lang="en-US" altLang="en-US">
                <a:latin typeface="Arial" panose="020B0604020202020204" pitchFamily="34" charset="0"/>
              </a:rPr>
              <a:t>		is the name of the synonym to be created</a:t>
            </a:r>
          </a:p>
          <a:p>
            <a:pPr marL="114300" lvl="1" defTabSz="401638"/>
            <a:r>
              <a:rPr lang="en-US" altLang="en-US">
                <a:latin typeface="Arial" panose="020B0604020202020204" pitchFamily="34" charset="0"/>
              </a:rPr>
              <a:t>	</a:t>
            </a:r>
            <a:r>
              <a:rPr lang="en-US" altLang="en-US" i="1">
                <a:latin typeface="Arial" panose="020B0604020202020204" pitchFamily="34" charset="0"/>
              </a:rPr>
              <a:t>object</a:t>
            </a:r>
            <a:r>
              <a:rPr lang="en-US" altLang="en-US">
                <a:latin typeface="Arial" panose="020B0604020202020204" pitchFamily="34" charset="0"/>
              </a:rPr>
              <a:t>			identifies the object for which the synonym is created</a:t>
            </a:r>
          </a:p>
          <a:p>
            <a:pPr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The object cannot be contained in a package.</a:t>
            </a:r>
          </a:p>
          <a:p>
            <a:pPr marL="450850" lvl="2" indent="-217488" defTabSz="401638"/>
            <a:r>
              <a:rPr lang="en-US" altLang="en-US">
                <a:latin typeface="Arial" panose="020B0604020202020204" pitchFamily="34" charset="0"/>
              </a:rPr>
              <a:t>A private synonym name must be distinct from all other objects owned by the same user.</a:t>
            </a:r>
          </a:p>
          <a:p>
            <a:pPr marL="114300" lvl="1" defTabSz="40163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a:t>
            </a:r>
            <a:r>
              <a:rPr lang="en-US" altLang="en-US">
                <a:solidFill>
                  <a:srgbClr val="FC0128"/>
                </a:solidFill>
                <a:latin typeface="Arial" panose="020B0604020202020204" pitchFamily="34" charset="0"/>
              </a:rPr>
              <a:t>CREATE SYNONYM.</a:t>
            </a:r>
            <a:r>
              <a:rPr lang="en-US" altLang="en-US">
                <a:latin typeface="Arial" panose="020B0604020202020204" pitchFamily="34" charset="0"/>
              </a:rPr>
              <a:t>”</a:t>
            </a:r>
          </a:p>
          <a:p>
            <a:pPr marL="114300" lvl="1" defTabSz="401638"/>
            <a:endParaRPr lang="en-US" altLang="en-US">
              <a:latin typeface="Arial" panose="020B0604020202020204" pitchFamily="34" charset="0"/>
            </a:endParaRPr>
          </a:p>
          <a:p>
            <a:pPr defTabSz="401638"/>
            <a:endParaRPr lang="en-US" altLang="en-US" b="1">
              <a:latin typeface="Times New Roman" panose="02020603050405020304" pitchFamily="18" charset="0"/>
            </a:endParaRPr>
          </a:p>
        </p:txBody>
      </p:sp>
      <p:sp>
        <p:nvSpPr>
          <p:cNvPr id="44035" name="Rectangle 3">
            <a:extLst>
              <a:ext uri="{FF2B5EF4-FFF2-40B4-BE49-F238E27FC236}">
                <a16:creationId xmlns:a16="http://schemas.microsoft.com/office/drawing/2014/main" id="{68C611B3-67F8-50D7-BA92-624254F89E06}"/>
              </a:ext>
            </a:extLst>
          </p:cNvPr>
          <p:cNvSpPr>
            <a:spLocks noGrp="1" noRot="1" noChangeArrowheads="1" noTextEdit="1"/>
          </p:cNvSpPr>
          <p:nvPr>
            <p:ph type="sldImg"/>
          </p:nvPr>
        </p:nvSpPr>
        <p:spPr>
          <a:xfrm>
            <a:off x="438150" y="160338"/>
            <a:ext cx="5976938" cy="4483100"/>
          </a:xfrm>
          <a:ln w="12700" cap="flat">
            <a:solidFill>
              <a:schemeClr val="tx1"/>
            </a:solidFill>
          </a:ln>
        </p:spPr>
      </p:sp>
      <p:grpSp>
        <p:nvGrpSpPr>
          <p:cNvPr id="44036" name="Group 4">
            <a:extLst>
              <a:ext uri="{FF2B5EF4-FFF2-40B4-BE49-F238E27FC236}">
                <a16:creationId xmlns:a16="http://schemas.microsoft.com/office/drawing/2014/main" id="{D656EF70-3F48-65DE-CEC4-88D965147DE0}"/>
              </a:ext>
            </a:extLst>
          </p:cNvPr>
          <p:cNvGrpSpPr>
            <a:grpSpLocks/>
          </p:cNvGrpSpPr>
          <p:nvPr/>
        </p:nvGrpSpPr>
        <p:grpSpPr bwMode="auto">
          <a:xfrm>
            <a:off x="168275" y="7607300"/>
            <a:ext cx="298450" cy="295275"/>
            <a:chOff x="105" y="4705"/>
            <a:chExt cx="187" cy="183"/>
          </a:xfrm>
        </p:grpSpPr>
        <p:sp>
          <p:nvSpPr>
            <p:cNvPr id="44037" name="Freeform 5">
              <a:extLst>
                <a:ext uri="{FF2B5EF4-FFF2-40B4-BE49-F238E27FC236}">
                  <a16:creationId xmlns:a16="http://schemas.microsoft.com/office/drawing/2014/main" id="{23B2F803-342E-2051-ACA0-CC67C8714294}"/>
                </a:ext>
              </a:extLst>
            </p:cNvPr>
            <p:cNvSpPr>
              <a:spLocks/>
            </p:cNvSpPr>
            <p:nvPr/>
          </p:nvSpPr>
          <p:spPr bwMode="auto">
            <a:xfrm>
              <a:off x="105" y="4705"/>
              <a:ext cx="179" cy="176"/>
            </a:xfrm>
            <a:custGeom>
              <a:avLst/>
              <a:gdLst>
                <a:gd name="T0" fmla="*/ 178 w 179"/>
                <a:gd name="T1" fmla="*/ 175 h 176"/>
                <a:gd name="T2" fmla="*/ 178 w 179"/>
                <a:gd name="T3" fmla="*/ 0 h 176"/>
                <a:gd name="T4" fmla="*/ 0 w 179"/>
                <a:gd name="T5" fmla="*/ 0 h 176"/>
                <a:gd name="T6" fmla="*/ 0 w 179"/>
                <a:gd name="T7" fmla="*/ 175 h 176"/>
                <a:gd name="T8" fmla="*/ 178 w 179"/>
                <a:gd name="T9" fmla="*/ 175 h 176"/>
                <a:gd name="T10" fmla="*/ 0 60000 65536"/>
                <a:gd name="T11" fmla="*/ 0 60000 65536"/>
                <a:gd name="T12" fmla="*/ 0 60000 65536"/>
                <a:gd name="T13" fmla="*/ 0 60000 65536"/>
                <a:gd name="T14" fmla="*/ 0 60000 65536"/>
                <a:gd name="T15" fmla="*/ 0 w 179"/>
                <a:gd name="T16" fmla="*/ 0 h 176"/>
                <a:gd name="T17" fmla="*/ 179 w 179"/>
                <a:gd name="T18" fmla="*/ 176 h 176"/>
              </a:gdLst>
              <a:ahLst/>
              <a:cxnLst>
                <a:cxn ang="T10">
                  <a:pos x="T0" y="T1"/>
                </a:cxn>
                <a:cxn ang="T11">
                  <a:pos x="T2" y="T3"/>
                </a:cxn>
                <a:cxn ang="T12">
                  <a:pos x="T4" y="T5"/>
                </a:cxn>
                <a:cxn ang="T13">
                  <a:pos x="T6" y="T7"/>
                </a:cxn>
                <a:cxn ang="T14">
                  <a:pos x="T8" y="T9"/>
                </a:cxn>
              </a:cxnLst>
              <a:rect l="T15" t="T16" r="T17" b="T18"/>
              <a:pathLst>
                <a:path w="179" h="176">
                  <a:moveTo>
                    <a:pt x="178" y="175"/>
                  </a:moveTo>
                  <a:lnTo>
                    <a:pt x="178" y="0"/>
                  </a:lnTo>
                  <a:lnTo>
                    <a:pt x="0" y="0"/>
                  </a:lnTo>
                  <a:lnTo>
                    <a:pt x="0" y="175"/>
                  </a:lnTo>
                  <a:lnTo>
                    <a:pt x="178"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38" name="Freeform 6">
              <a:extLst>
                <a:ext uri="{FF2B5EF4-FFF2-40B4-BE49-F238E27FC236}">
                  <a16:creationId xmlns:a16="http://schemas.microsoft.com/office/drawing/2014/main" id="{E2D1B6EF-7842-1413-3CAF-E4DAC2688E20}"/>
                </a:ext>
              </a:extLst>
            </p:cNvPr>
            <p:cNvSpPr>
              <a:spLocks/>
            </p:cNvSpPr>
            <p:nvPr/>
          </p:nvSpPr>
          <p:spPr bwMode="auto">
            <a:xfrm>
              <a:off x="167" y="4771"/>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 name="T10" fmla="*/ 0 60000 65536"/>
                <a:gd name="T11" fmla="*/ 0 60000 65536"/>
                <a:gd name="T12" fmla="*/ 0 60000 65536"/>
                <a:gd name="T13" fmla="*/ 0 60000 65536"/>
                <a:gd name="T14" fmla="*/ 0 60000 65536"/>
                <a:gd name="T15" fmla="*/ 0 w 70"/>
                <a:gd name="T16" fmla="*/ 0 h 35"/>
                <a:gd name="T17" fmla="*/ 70 w 70"/>
                <a:gd name="T18" fmla="*/ 35 h 35"/>
              </a:gdLst>
              <a:ahLst/>
              <a:cxnLst>
                <a:cxn ang="T10">
                  <a:pos x="T0" y="T1"/>
                </a:cxn>
                <a:cxn ang="T11">
                  <a:pos x="T2" y="T3"/>
                </a:cxn>
                <a:cxn ang="T12">
                  <a:pos x="T4" y="T5"/>
                </a:cxn>
                <a:cxn ang="T13">
                  <a:pos x="T6" y="T7"/>
                </a:cxn>
                <a:cxn ang="T14">
                  <a:pos x="T8" y="T9"/>
                </a:cxn>
              </a:cxnLst>
              <a:rect l="T15" t="T16" r="T17" b="T18"/>
              <a:pathLst>
                <a:path w="70" h="35">
                  <a:moveTo>
                    <a:pt x="69" y="6"/>
                  </a:moveTo>
                  <a:lnTo>
                    <a:pt x="65" y="0"/>
                  </a:lnTo>
                  <a:lnTo>
                    <a:pt x="0" y="27"/>
                  </a:lnTo>
                  <a:lnTo>
                    <a:pt x="3" y="34"/>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39" name="Freeform 7">
              <a:extLst>
                <a:ext uri="{FF2B5EF4-FFF2-40B4-BE49-F238E27FC236}">
                  <a16:creationId xmlns:a16="http://schemas.microsoft.com/office/drawing/2014/main" id="{81E617B0-5621-35F2-230B-827C75D12564}"/>
                </a:ext>
              </a:extLst>
            </p:cNvPr>
            <p:cNvSpPr>
              <a:spLocks/>
            </p:cNvSpPr>
            <p:nvPr/>
          </p:nvSpPr>
          <p:spPr bwMode="auto">
            <a:xfrm>
              <a:off x="175" y="4787"/>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0" name="Freeform 8">
              <a:extLst>
                <a:ext uri="{FF2B5EF4-FFF2-40B4-BE49-F238E27FC236}">
                  <a16:creationId xmlns:a16="http://schemas.microsoft.com/office/drawing/2014/main" id="{265A9EF9-F601-74D0-3DB9-9E0B489D39E1}"/>
                </a:ext>
              </a:extLst>
            </p:cNvPr>
            <p:cNvSpPr>
              <a:spLocks/>
            </p:cNvSpPr>
            <p:nvPr/>
          </p:nvSpPr>
          <p:spPr bwMode="auto">
            <a:xfrm>
              <a:off x="181" y="4801"/>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1" name="Freeform 9">
              <a:extLst>
                <a:ext uri="{FF2B5EF4-FFF2-40B4-BE49-F238E27FC236}">
                  <a16:creationId xmlns:a16="http://schemas.microsoft.com/office/drawing/2014/main" id="{CD62A572-611B-CDE9-3B09-EF1FAE035CD3}"/>
                </a:ext>
              </a:extLst>
            </p:cNvPr>
            <p:cNvSpPr>
              <a:spLocks/>
            </p:cNvSpPr>
            <p:nvPr/>
          </p:nvSpPr>
          <p:spPr bwMode="auto">
            <a:xfrm>
              <a:off x="189" y="4819"/>
              <a:ext cx="71" cy="36"/>
            </a:xfrm>
            <a:custGeom>
              <a:avLst/>
              <a:gdLst>
                <a:gd name="T0" fmla="*/ 70 w 71"/>
                <a:gd name="T1" fmla="*/ 6 h 36"/>
                <a:gd name="T2" fmla="*/ 66 w 71"/>
                <a:gd name="T3" fmla="*/ 0 h 36"/>
                <a:gd name="T4" fmla="*/ 0 w 71"/>
                <a:gd name="T5" fmla="*/ 28 h 36"/>
                <a:gd name="T6" fmla="*/ 3 w 71"/>
                <a:gd name="T7" fmla="*/ 35 h 36"/>
                <a:gd name="T8" fmla="*/ 70 w 71"/>
                <a:gd name="T9" fmla="*/ 6 h 36"/>
                <a:gd name="T10" fmla="*/ 0 60000 65536"/>
                <a:gd name="T11" fmla="*/ 0 60000 65536"/>
                <a:gd name="T12" fmla="*/ 0 60000 65536"/>
                <a:gd name="T13" fmla="*/ 0 60000 65536"/>
                <a:gd name="T14" fmla="*/ 0 60000 65536"/>
                <a:gd name="T15" fmla="*/ 0 w 71"/>
                <a:gd name="T16" fmla="*/ 0 h 36"/>
                <a:gd name="T17" fmla="*/ 71 w 71"/>
                <a:gd name="T18" fmla="*/ 36 h 36"/>
              </a:gdLst>
              <a:ahLst/>
              <a:cxnLst>
                <a:cxn ang="T10">
                  <a:pos x="T0" y="T1"/>
                </a:cxn>
                <a:cxn ang="T11">
                  <a:pos x="T2" y="T3"/>
                </a:cxn>
                <a:cxn ang="T12">
                  <a:pos x="T4" y="T5"/>
                </a:cxn>
                <a:cxn ang="T13">
                  <a:pos x="T6" y="T7"/>
                </a:cxn>
                <a:cxn ang="T14">
                  <a:pos x="T8" y="T9"/>
                </a:cxn>
              </a:cxnLst>
              <a:rect l="T15" t="T16" r="T17" b="T18"/>
              <a:pathLst>
                <a:path w="71" h="36">
                  <a:moveTo>
                    <a:pt x="70" y="6"/>
                  </a:moveTo>
                  <a:lnTo>
                    <a:pt x="66" y="0"/>
                  </a:lnTo>
                  <a:lnTo>
                    <a:pt x="0" y="28"/>
                  </a:lnTo>
                  <a:lnTo>
                    <a:pt x="3" y="35"/>
                  </a:lnTo>
                  <a:lnTo>
                    <a:pt x="70"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2" name="Freeform 10">
              <a:extLst>
                <a:ext uri="{FF2B5EF4-FFF2-40B4-BE49-F238E27FC236}">
                  <a16:creationId xmlns:a16="http://schemas.microsoft.com/office/drawing/2014/main" id="{136B588E-3741-F257-C870-584C911BDCF0}"/>
                </a:ext>
              </a:extLst>
            </p:cNvPr>
            <p:cNvSpPr>
              <a:spLocks/>
            </p:cNvSpPr>
            <p:nvPr/>
          </p:nvSpPr>
          <p:spPr bwMode="auto">
            <a:xfrm>
              <a:off x="197" y="4835"/>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3" name="Freeform 11">
              <a:extLst>
                <a:ext uri="{FF2B5EF4-FFF2-40B4-BE49-F238E27FC236}">
                  <a16:creationId xmlns:a16="http://schemas.microsoft.com/office/drawing/2014/main" id="{80790C22-3EF5-F9CA-BE6E-4846516638B5}"/>
                </a:ext>
              </a:extLst>
            </p:cNvPr>
            <p:cNvSpPr>
              <a:spLocks/>
            </p:cNvSpPr>
            <p:nvPr/>
          </p:nvSpPr>
          <p:spPr bwMode="auto">
            <a:xfrm>
              <a:off x="127" y="4734"/>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4" name="Freeform 12">
              <a:extLst>
                <a:ext uri="{FF2B5EF4-FFF2-40B4-BE49-F238E27FC236}">
                  <a16:creationId xmlns:a16="http://schemas.microsoft.com/office/drawing/2014/main" id="{2D3DC201-4322-A065-7CEA-FB8585E8E474}"/>
                </a:ext>
              </a:extLst>
            </p:cNvPr>
            <p:cNvSpPr>
              <a:spLocks/>
            </p:cNvSpPr>
            <p:nvPr/>
          </p:nvSpPr>
          <p:spPr bwMode="auto">
            <a:xfrm>
              <a:off x="109" y="4722"/>
              <a:ext cx="124" cy="59"/>
            </a:xfrm>
            <a:custGeom>
              <a:avLst/>
              <a:gdLst>
                <a:gd name="T0" fmla="*/ 123 w 124"/>
                <a:gd name="T1" fmla="*/ 7 h 59"/>
                <a:gd name="T2" fmla="*/ 119 w 124"/>
                <a:gd name="T3" fmla="*/ 0 h 59"/>
                <a:gd name="T4" fmla="*/ 0 w 124"/>
                <a:gd name="T5" fmla="*/ 51 h 59"/>
                <a:gd name="T6" fmla="*/ 2 w 124"/>
                <a:gd name="T7" fmla="*/ 58 h 59"/>
                <a:gd name="T8" fmla="*/ 123 w 124"/>
                <a:gd name="T9" fmla="*/ 7 h 59"/>
                <a:gd name="T10" fmla="*/ 0 60000 65536"/>
                <a:gd name="T11" fmla="*/ 0 60000 65536"/>
                <a:gd name="T12" fmla="*/ 0 60000 65536"/>
                <a:gd name="T13" fmla="*/ 0 60000 65536"/>
                <a:gd name="T14" fmla="*/ 0 60000 65536"/>
                <a:gd name="T15" fmla="*/ 0 w 124"/>
                <a:gd name="T16" fmla="*/ 0 h 59"/>
                <a:gd name="T17" fmla="*/ 124 w 124"/>
                <a:gd name="T18" fmla="*/ 59 h 59"/>
              </a:gdLst>
              <a:ahLst/>
              <a:cxnLst>
                <a:cxn ang="T10">
                  <a:pos x="T0" y="T1"/>
                </a:cxn>
                <a:cxn ang="T11">
                  <a:pos x="T2" y="T3"/>
                </a:cxn>
                <a:cxn ang="T12">
                  <a:pos x="T4" y="T5"/>
                </a:cxn>
                <a:cxn ang="T13">
                  <a:pos x="T6" y="T7"/>
                </a:cxn>
                <a:cxn ang="T14">
                  <a:pos x="T8" y="T9"/>
                </a:cxn>
              </a:cxnLst>
              <a:rect l="T15" t="T16" r="T17" b="T18"/>
              <a:pathLst>
                <a:path w="124" h="59">
                  <a:moveTo>
                    <a:pt x="123" y="7"/>
                  </a:moveTo>
                  <a:lnTo>
                    <a:pt x="119" y="0"/>
                  </a:lnTo>
                  <a:lnTo>
                    <a:pt x="0" y="51"/>
                  </a:lnTo>
                  <a:lnTo>
                    <a:pt x="2" y="58"/>
                  </a:lnTo>
                  <a:lnTo>
                    <a:pt x="123"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5" name="Freeform 13">
              <a:extLst>
                <a:ext uri="{FF2B5EF4-FFF2-40B4-BE49-F238E27FC236}">
                  <a16:creationId xmlns:a16="http://schemas.microsoft.com/office/drawing/2014/main" id="{CDE89501-B229-049B-2089-BA67E64356B3}"/>
                </a:ext>
              </a:extLst>
            </p:cNvPr>
            <p:cNvSpPr>
              <a:spLocks/>
            </p:cNvSpPr>
            <p:nvPr/>
          </p:nvSpPr>
          <p:spPr bwMode="auto">
            <a:xfrm>
              <a:off x="237" y="4736"/>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6" name="Freeform 14">
              <a:extLst>
                <a:ext uri="{FF2B5EF4-FFF2-40B4-BE49-F238E27FC236}">
                  <a16:creationId xmlns:a16="http://schemas.microsoft.com/office/drawing/2014/main" id="{B4588C3A-3371-357D-8C9F-51452F503DFA}"/>
                </a:ext>
              </a:extLst>
            </p:cNvPr>
            <p:cNvSpPr>
              <a:spLocks/>
            </p:cNvSpPr>
            <p:nvPr/>
          </p:nvSpPr>
          <p:spPr bwMode="auto">
            <a:xfrm>
              <a:off x="127" y="4781"/>
              <a:ext cx="52" cy="107"/>
            </a:xfrm>
            <a:custGeom>
              <a:avLst/>
              <a:gdLst>
                <a:gd name="T0" fmla="*/ 44 w 52"/>
                <a:gd name="T1" fmla="*/ 106 h 107"/>
                <a:gd name="T2" fmla="*/ 51 w 52"/>
                <a:gd name="T3" fmla="*/ 102 h 107"/>
                <a:gd name="T4" fmla="*/ 6 w 52"/>
                <a:gd name="T5" fmla="*/ 0 h 107"/>
                <a:gd name="T6" fmla="*/ 0 w 52"/>
                <a:gd name="T7" fmla="*/ 4 h 107"/>
                <a:gd name="T8" fmla="*/ 44 w 52"/>
                <a:gd name="T9" fmla="*/ 106 h 107"/>
                <a:gd name="T10" fmla="*/ 0 60000 65536"/>
                <a:gd name="T11" fmla="*/ 0 60000 65536"/>
                <a:gd name="T12" fmla="*/ 0 60000 65536"/>
                <a:gd name="T13" fmla="*/ 0 60000 65536"/>
                <a:gd name="T14" fmla="*/ 0 60000 65536"/>
                <a:gd name="T15" fmla="*/ 0 w 52"/>
                <a:gd name="T16" fmla="*/ 0 h 107"/>
                <a:gd name="T17" fmla="*/ 52 w 52"/>
                <a:gd name="T18" fmla="*/ 107 h 107"/>
              </a:gdLst>
              <a:ahLst/>
              <a:cxnLst>
                <a:cxn ang="T10">
                  <a:pos x="T0" y="T1"/>
                </a:cxn>
                <a:cxn ang="T11">
                  <a:pos x="T2" y="T3"/>
                </a:cxn>
                <a:cxn ang="T12">
                  <a:pos x="T4" y="T5"/>
                </a:cxn>
                <a:cxn ang="T13">
                  <a:pos x="T6" y="T7"/>
                </a:cxn>
                <a:cxn ang="T14">
                  <a:pos x="T8" y="T9"/>
                </a:cxn>
              </a:cxnLst>
              <a:rect l="T15" t="T16" r="T17" b="T18"/>
              <a:pathLst>
                <a:path w="52" h="107">
                  <a:moveTo>
                    <a:pt x="44" y="106"/>
                  </a:moveTo>
                  <a:lnTo>
                    <a:pt x="51" y="102"/>
                  </a:lnTo>
                  <a:lnTo>
                    <a:pt x="6" y="0"/>
                  </a:lnTo>
                  <a:lnTo>
                    <a:pt x="0" y="4"/>
                  </a:lnTo>
                  <a:lnTo>
                    <a:pt x="44"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7" name="Freeform 15">
              <a:extLst>
                <a:ext uri="{FF2B5EF4-FFF2-40B4-BE49-F238E27FC236}">
                  <a16:creationId xmlns:a16="http://schemas.microsoft.com/office/drawing/2014/main" id="{FB38AC7C-25B9-CA47-40F8-E0F1A505EE46}"/>
                </a:ext>
              </a:extLst>
            </p:cNvPr>
            <p:cNvSpPr>
              <a:spLocks/>
            </p:cNvSpPr>
            <p:nvPr/>
          </p:nvSpPr>
          <p:spPr bwMode="auto">
            <a:xfrm>
              <a:off x="105" y="4773"/>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 name="T10" fmla="*/ 0 60000 65536"/>
                <a:gd name="T11" fmla="*/ 0 60000 65536"/>
                <a:gd name="T12" fmla="*/ 0 60000 65536"/>
                <a:gd name="T13" fmla="*/ 0 60000 65536"/>
                <a:gd name="T14" fmla="*/ 0 60000 65536"/>
                <a:gd name="T15" fmla="*/ 0 w 59"/>
                <a:gd name="T16" fmla="*/ 0 h 115"/>
                <a:gd name="T17" fmla="*/ 59 w 59"/>
                <a:gd name="T18" fmla="*/ 115 h 115"/>
              </a:gdLst>
              <a:ahLst/>
              <a:cxnLst>
                <a:cxn ang="T10">
                  <a:pos x="T0" y="T1"/>
                </a:cxn>
                <a:cxn ang="T11">
                  <a:pos x="T2" y="T3"/>
                </a:cxn>
                <a:cxn ang="T12">
                  <a:pos x="T4" y="T5"/>
                </a:cxn>
                <a:cxn ang="T13">
                  <a:pos x="T6" y="T7"/>
                </a:cxn>
                <a:cxn ang="T14">
                  <a:pos x="T8" y="T9"/>
                </a:cxn>
              </a:cxnLst>
              <a:rect l="T15" t="T16" r="T17" b="T18"/>
              <a:pathLst>
                <a:path w="59" h="115">
                  <a:moveTo>
                    <a:pt x="51" y="114"/>
                  </a:moveTo>
                  <a:lnTo>
                    <a:pt x="58"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8" name="Freeform 16">
              <a:extLst>
                <a:ext uri="{FF2B5EF4-FFF2-40B4-BE49-F238E27FC236}">
                  <a16:creationId xmlns:a16="http://schemas.microsoft.com/office/drawing/2014/main" id="{4A7C11EE-6136-81C8-EAC3-616A1EC45FD6}"/>
                </a:ext>
              </a:extLst>
            </p:cNvPr>
            <p:cNvSpPr>
              <a:spLocks/>
            </p:cNvSpPr>
            <p:nvPr/>
          </p:nvSpPr>
          <p:spPr bwMode="auto">
            <a:xfrm>
              <a:off x="108" y="4773"/>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9" name="Freeform 17">
              <a:extLst>
                <a:ext uri="{FF2B5EF4-FFF2-40B4-BE49-F238E27FC236}">
                  <a16:creationId xmlns:a16="http://schemas.microsoft.com/office/drawing/2014/main" id="{3F12BD45-0A39-86E3-FA53-DDAAC79C0881}"/>
                </a:ext>
              </a:extLst>
            </p:cNvPr>
            <p:cNvSpPr>
              <a:spLocks/>
            </p:cNvSpPr>
            <p:nvPr/>
          </p:nvSpPr>
          <p:spPr bwMode="auto">
            <a:xfrm>
              <a:off x="215" y="4729"/>
              <a:ext cx="30" cy="17"/>
            </a:xfrm>
            <a:custGeom>
              <a:avLst/>
              <a:gdLst>
                <a:gd name="T0" fmla="*/ 25 w 30"/>
                <a:gd name="T1" fmla="*/ 16 h 17"/>
                <a:gd name="T2" fmla="*/ 29 w 30"/>
                <a:gd name="T3" fmla="*/ 9 h 17"/>
                <a:gd name="T4" fmla="*/ 4 w 30"/>
                <a:gd name="T5" fmla="*/ 0 h 17"/>
                <a:gd name="T6" fmla="*/ 0 w 30"/>
                <a:gd name="T7" fmla="*/ 5 h 17"/>
                <a:gd name="T8" fmla="*/ 25 w 30"/>
                <a:gd name="T9" fmla="*/ 16 h 17"/>
                <a:gd name="T10" fmla="*/ 0 60000 65536"/>
                <a:gd name="T11" fmla="*/ 0 60000 65536"/>
                <a:gd name="T12" fmla="*/ 0 60000 65536"/>
                <a:gd name="T13" fmla="*/ 0 60000 65536"/>
                <a:gd name="T14" fmla="*/ 0 60000 65536"/>
                <a:gd name="T15" fmla="*/ 0 w 30"/>
                <a:gd name="T16" fmla="*/ 0 h 17"/>
                <a:gd name="T17" fmla="*/ 30 w 30"/>
                <a:gd name="T18" fmla="*/ 17 h 17"/>
              </a:gdLst>
              <a:ahLst/>
              <a:cxnLst>
                <a:cxn ang="T10">
                  <a:pos x="T0" y="T1"/>
                </a:cxn>
                <a:cxn ang="T11">
                  <a:pos x="T2" y="T3"/>
                </a:cxn>
                <a:cxn ang="T12">
                  <a:pos x="T4" y="T5"/>
                </a:cxn>
                <a:cxn ang="T13">
                  <a:pos x="T6" y="T7"/>
                </a:cxn>
                <a:cxn ang="T14">
                  <a:pos x="T8" y="T9"/>
                </a:cxn>
              </a:cxnLst>
              <a:rect l="T15" t="T16" r="T17" b="T18"/>
              <a:pathLst>
                <a:path w="30" h="17">
                  <a:moveTo>
                    <a:pt x="25" y="16"/>
                  </a:moveTo>
                  <a:lnTo>
                    <a:pt x="29" y="9"/>
                  </a:lnTo>
                  <a:lnTo>
                    <a:pt x="4" y="0"/>
                  </a:lnTo>
                  <a:lnTo>
                    <a:pt x="0" y="5"/>
                  </a:lnTo>
                  <a:lnTo>
                    <a:pt x="25"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ED221EB-5BB2-874C-1E17-6865BE60C805}"/>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46083" name="Rectangle 3">
            <a:extLst>
              <a:ext uri="{FF2B5EF4-FFF2-40B4-BE49-F238E27FC236}">
                <a16:creationId xmlns:a16="http://schemas.microsoft.com/office/drawing/2014/main" id="{F343C122-2BD7-C039-5C78-5AD0E312F81A}"/>
              </a:ext>
            </a:extLst>
          </p:cNvPr>
          <p:cNvSpPr>
            <a:spLocks noGrp="1" noChangeArrowheads="1"/>
          </p:cNvSpPr>
          <p:nvPr>
            <p:ph type="body" idx="1"/>
          </p:nvPr>
        </p:nvSpPr>
        <p:spPr>
          <a:xfrm>
            <a:off x="412750" y="4852988"/>
            <a:ext cx="6208713"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Creating a Synonym for an Object (continued)</a:t>
            </a:r>
          </a:p>
          <a:p>
            <a:pPr marL="114300" lvl="1" defTabSz="401638"/>
            <a:r>
              <a:rPr lang="en-US" altLang="en-US">
                <a:latin typeface="Arial" panose="020B0604020202020204" pitchFamily="34" charset="0"/>
              </a:rPr>
              <a:t>The slide example creates a synonym for the DEPT_SUM_VU view for quicker reference.</a:t>
            </a:r>
          </a:p>
          <a:p>
            <a:pPr marL="114300" lvl="1" defTabSz="401638"/>
            <a:r>
              <a:rPr lang="en-US" altLang="en-US">
                <a:latin typeface="Arial" panose="020B0604020202020204" pitchFamily="34" charset="0"/>
              </a:rPr>
              <a:t>The DBA can create a public synonym accessible to all users. The following example creates a public synonym named DEPT for Alice’s DEPT table:</a:t>
            </a: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sz="400">
              <a:latin typeface="Arial" panose="020B0604020202020204" pitchFamily="34" charset="0"/>
            </a:endParaRPr>
          </a:p>
          <a:p>
            <a:pPr defTabSz="401638"/>
            <a:r>
              <a:rPr lang="en-US" altLang="en-US">
                <a:latin typeface="Arial" panose="020B0604020202020204" pitchFamily="34" charset="0"/>
              </a:rPr>
              <a:t>Removing a Synonym</a:t>
            </a:r>
          </a:p>
          <a:p>
            <a:pPr marL="114300" lvl="1" defTabSz="401638"/>
            <a:r>
              <a:rPr lang="en-US" altLang="en-US">
                <a:latin typeface="Arial" panose="020B0604020202020204" pitchFamily="34" charset="0"/>
              </a:rPr>
              <a:t>To drop a synonym, use the DROP SYNONYM statement. Only the DBA can drop a public synonym.</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sz="400">
              <a:latin typeface="Arial" panose="020B0604020202020204" pitchFamily="34" charset="0"/>
            </a:endParaRPr>
          </a:p>
          <a:p>
            <a:pPr marL="114300" lvl="1" defTabSz="401638"/>
            <a:r>
              <a:rPr lang="en-US" altLang="en-US">
                <a:latin typeface="Arial" panose="020B0604020202020204" pitchFamily="34" charset="0"/>
              </a:rPr>
              <a:t>For more information, see</a:t>
            </a:r>
            <a:br>
              <a:rPr lang="en-US" altLang="en-US" i="1">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“DROP SYNONYM.”</a:t>
            </a:r>
          </a:p>
          <a:p>
            <a:pPr defTabSz="401638"/>
            <a:endParaRPr lang="en-US" altLang="en-US">
              <a:solidFill>
                <a:schemeClr val="accent2"/>
              </a:solidFill>
              <a:latin typeface="Arial" panose="020B0604020202020204" pitchFamily="34" charset="0"/>
            </a:endParaRPr>
          </a:p>
          <a:p>
            <a:pPr defTabSz="401638"/>
            <a:r>
              <a:rPr lang="en-US" altLang="en-US">
                <a:solidFill>
                  <a:schemeClr val="accent2"/>
                </a:solidFill>
                <a:latin typeface="Arial" panose="020B0604020202020204" pitchFamily="34" charset="0"/>
              </a:rPr>
              <a:t>Class Management Note</a:t>
            </a:r>
          </a:p>
          <a:p>
            <a:pPr marL="114300" lvl="1" defTabSz="401638"/>
            <a:r>
              <a:rPr lang="en-US" altLang="en-US">
                <a:solidFill>
                  <a:schemeClr val="accent2"/>
                </a:solidFill>
                <a:latin typeface="Arial" panose="020B0604020202020204" pitchFamily="34" charset="0"/>
              </a:rPr>
              <a:t>In the Oracle Server, the DBA can specifically grant the CREATE PUBLIC SYNONYM to any user, allowing that user to create public synonyms.</a:t>
            </a:r>
          </a:p>
        </p:txBody>
      </p:sp>
      <p:sp>
        <p:nvSpPr>
          <p:cNvPr id="46084" name="Rectangle 4">
            <a:extLst>
              <a:ext uri="{FF2B5EF4-FFF2-40B4-BE49-F238E27FC236}">
                <a16:creationId xmlns:a16="http://schemas.microsoft.com/office/drawing/2014/main" id="{E2E97F9A-DBD8-C896-0E99-5B8B52662A68}"/>
              </a:ext>
            </a:extLst>
          </p:cNvPr>
          <p:cNvSpPr>
            <a:spLocks noChangeArrowheads="1"/>
          </p:cNvSpPr>
          <p:nvPr/>
        </p:nvSpPr>
        <p:spPr bwMode="auto">
          <a:xfrm>
            <a:off x="617538" y="5761038"/>
            <a:ext cx="5594350" cy="6731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6085" name="Rectangle 5">
            <a:extLst>
              <a:ext uri="{FF2B5EF4-FFF2-40B4-BE49-F238E27FC236}">
                <a16:creationId xmlns:a16="http://schemas.microsoft.com/office/drawing/2014/main" id="{51BADD95-BFF2-3113-EEF5-6C59997B5A00}"/>
              </a:ext>
            </a:extLst>
          </p:cNvPr>
          <p:cNvSpPr>
            <a:spLocks noChangeArrowheads="1"/>
          </p:cNvSpPr>
          <p:nvPr/>
        </p:nvSpPr>
        <p:spPr bwMode="auto">
          <a:xfrm>
            <a:off x="766763" y="5749925"/>
            <a:ext cx="34702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664" tIns="45028" rIns="91664" bIns="45028">
            <a:spAutoFit/>
          </a:bodyPr>
          <a:lstStyle>
            <a:lvl1pPr defTabSz="893763">
              <a:spcBef>
                <a:spcPct val="30000"/>
              </a:spcBef>
              <a:defRPr sz="1200">
                <a:solidFill>
                  <a:schemeClr val="tx1"/>
                </a:solidFill>
                <a:latin typeface="Arial" panose="020B0604020202020204" pitchFamily="34" charset="0"/>
              </a:defRPr>
            </a:lvl1pPr>
            <a:lvl2pPr marL="742950" indent="-285750" defTabSz="893763">
              <a:spcBef>
                <a:spcPct val="30000"/>
              </a:spcBef>
              <a:defRPr sz="1200">
                <a:solidFill>
                  <a:schemeClr val="tx1"/>
                </a:solidFill>
                <a:latin typeface="Arial" panose="020B0604020202020204" pitchFamily="34" charset="0"/>
              </a:defRPr>
            </a:lvl2pPr>
            <a:lvl3pPr marL="1143000" indent="-228600" defTabSz="893763">
              <a:spcBef>
                <a:spcPct val="30000"/>
              </a:spcBef>
              <a:defRPr sz="1200">
                <a:solidFill>
                  <a:schemeClr val="tx1"/>
                </a:solidFill>
                <a:latin typeface="Arial" panose="020B0604020202020204" pitchFamily="34" charset="0"/>
              </a:defRPr>
            </a:lvl3pPr>
            <a:lvl4pPr marL="1600200" indent="-228600" defTabSz="893763">
              <a:spcBef>
                <a:spcPct val="30000"/>
              </a:spcBef>
              <a:defRPr sz="1200">
                <a:solidFill>
                  <a:schemeClr val="tx1"/>
                </a:solidFill>
                <a:latin typeface="Arial" panose="020B0604020202020204" pitchFamily="34" charset="0"/>
              </a:defRPr>
            </a:lvl4pPr>
            <a:lvl5pPr marL="2057400" indent="-228600" defTabSz="893763">
              <a:spcBef>
                <a:spcPct val="30000"/>
              </a:spcBef>
              <a:defRPr sz="1200">
                <a:solidFill>
                  <a:schemeClr val="tx1"/>
                </a:solidFill>
                <a:latin typeface="Arial" panose="020B0604020202020204" pitchFamily="34" charset="0"/>
              </a:defRPr>
            </a:lvl5pPr>
            <a:lvl6pPr marL="2514600" indent="-228600" defTabSz="8937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37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37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3763" eaLnBrk="0" fontAlgn="base" hangingPunct="0">
              <a:spcBef>
                <a:spcPct val="30000"/>
              </a:spcBef>
              <a:spcAft>
                <a:spcPct val="0"/>
              </a:spcAft>
              <a:defRPr sz="1200">
                <a:solidFill>
                  <a:schemeClr val="tx1"/>
                </a:solidFill>
                <a:latin typeface="Arial" panose="020B0604020202020204" pitchFamily="34" charset="0"/>
              </a:defRPr>
            </a:lvl9pPr>
          </a:lstStyle>
          <a:p>
            <a:r>
              <a:rPr lang="en-US" altLang="en-US" sz="1100" b="1">
                <a:latin typeface="Courier New" panose="02070309020205020404" pitchFamily="49" charset="0"/>
              </a:rPr>
              <a:t>SQL&gt; CREATE PUBLIC SYNONYM  dept</a:t>
            </a:r>
          </a:p>
          <a:p>
            <a:r>
              <a:rPr lang="en-US" altLang="en-US" sz="1100" b="1">
                <a:latin typeface="Courier New" panose="02070309020205020404" pitchFamily="49" charset="0"/>
              </a:rPr>
              <a:t>  2  FOR                    alice.dept;</a:t>
            </a:r>
          </a:p>
          <a:p>
            <a:r>
              <a:rPr lang="en-US" altLang="en-US" sz="1100">
                <a:latin typeface="Courier New" panose="02070309020205020404" pitchFamily="49" charset="0"/>
              </a:rPr>
              <a:t>Synonym created.</a:t>
            </a:r>
          </a:p>
        </p:txBody>
      </p:sp>
      <p:sp>
        <p:nvSpPr>
          <p:cNvPr id="46086" name="Rectangle 6">
            <a:extLst>
              <a:ext uri="{FF2B5EF4-FFF2-40B4-BE49-F238E27FC236}">
                <a16:creationId xmlns:a16="http://schemas.microsoft.com/office/drawing/2014/main" id="{57C7A8D2-6484-BA44-5102-CF976853DE0E}"/>
              </a:ext>
            </a:extLst>
          </p:cNvPr>
          <p:cNvSpPr>
            <a:spLocks noChangeArrowheads="1"/>
          </p:cNvSpPr>
          <p:nvPr/>
        </p:nvSpPr>
        <p:spPr bwMode="auto">
          <a:xfrm>
            <a:off x="617538" y="6918325"/>
            <a:ext cx="5594350" cy="457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6087" name="Rectangle 7">
            <a:extLst>
              <a:ext uri="{FF2B5EF4-FFF2-40B4-BE49-F238E27FC236}">
                <a16:creationId xmlns:a16="http://schemas.microsoft.com/office/drawing/2014/main" id="{9F536259-84D6-17BC-7CB1-E5DBEADC4D2C}"/>
              </a:ext>
            </a:extLst>
          </p:cNvPr>
          <p:cNvSpPr>
            <a:spLocks noChangeArrowheads="1"/>
          </p:cNvSpPr>
          <p:nvPr/>
        </p:nvSpPr>
        <p:spPr bwMode="auto">
          <a:xfrm>
            <a:off x="677863" y="6918325"/>
            <a:ext cx="2206625"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664" tIns="45028" rIns="91664" bIns="45028">
            <a:spAutoFit/>
          </a:bodyPr>
          <a:lstStyle>
            <a:lvl1pPr defTabSz="893763">
              <a:spcBef>
                <a:spcPct val="30000"/>
              </a:spcBef>
              <a:defRPr sz="1200">
                <a:solidFill>
                  <a:schemeClr val="tx1"/>
                </a:solidFill>
                <a:latin typeface="Arial" panose="020B0604020202020204" pitchFamily="34" charset="0"/>
              </a:defRPr>
            </a:lvl1pPr>
            <a:lvl2pPr marL="742950" indent="-285750" defTabSz="893763">
              <a:spcBef>
                <a:spcPct val="30000"/>
              </a:spcBef>
              <a:defRPr sz="1200">
                <a:solidFill>
                  <a:schemeClr val="tx1"/>
                </a:solidFill>
                <a:latin typeface="Arial" panose="020B0604020202020204" pitchFamily="34" charset="0"/>
              </a:defRPr>
            </a:lvl2pPr>
            <a:lvl3pPr marL="1143000" indent="-228600" defTabSz="893763">
              <a:spcBef>
                <a:spcPct val="30000"/>
              </a:spcBef>
              <a:defRPr sz="1200">
                <a:solidFill>
                  <a:schemeClr val="tx1"/>
                </a:solidFill>
                <a:latin typeface="Arial" panose="020B0604020202020204" pitchFamily="34" charset="0"/>
              </a:defRPr>
            </a:lvl3pPr>
            <a:lvl4pPr marL="1600200" indent="-228600" defTabSz="893763">
              <a:spcBef>
                <a:spcPct val="30000"/>
              </a:spcBef>
              <a:defRPr sz="1200">
                <a:solidFill>
                  <a:schemeClr val="tx1"/>
                </a:solidFill>
                <a:latin typeface="Arial" panose="020B0604020202020204" pitchFamily="34" charset="0"/>
              </a:defRPr>
            </a:lvl4pPr>
            <a:lvl5pPr marL="2057400" indent="-228600" defTabSz="893763">
              <a:spcBef>
                <a:spcPct val="30000"/>
              </a:spcBef>
              <a:defRPr sz="1200">
                <a:solidFill>
                  <a:schemeClr val="tx1"/>
                </a:solidFill>
                <a:latin typeface="Arial" panose="020B0604020202020204" pitchFamily="34" charset="0"/>
              </a:defRPr>
            </a:lvl5pPr>
            <a:lvl6pPr marL="2514600" indent="-228600" defTabSz="8937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37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37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3763" eaLnBrk="0" fontAlgn="base" hangingPunct="0">
              <a:spcBef>
                <a:spcPct val="30000"/>
              </a:spcBef>
              <a:spcAft>
                <a:spcPct val="0"/>
              </a:spcAft>
              <a:defRPr sz="1200">
                <a:solidFill>
                  <a:schemeClr val="tx1"/>
                </a:solidFill>
                <a:latin typeface="Arial" panose="020B0604020202020204" pitchFamily="34" charset="0"/>
              </a:defRPr>
            </a:lvl9pPr>
          </a:lstStyle>
          <a:p>
            <a:r>
              <a:rPr lang="en-US" altLang="en-US" sz="1100" b="1">
                <a:latin typeface="Courier New" panose="02070309020205020404" pitchFamily="49" charset="0"/>
              </a:rPr>
              <a:t>SQL&gt; DROP SYNONYM  dept;</a:t>
            </a:r>
          </a:p>
          <a:p>
            <a:r>
              <a:rPr lang="en-US" altLang="en-US" sz="1100">
                <a:latin typeface="Courier New" panose="02070309020205020404" pitchFamily="49" charset="0"/>
              </a:rPr>
              <a:t>Synonym dropped.</a:t>
            </a:r>
          </a:p>
        </p:txBody>
      </p:sp>
      <p:grpSp>
        <p:nvGrpSpPr>
          <p:cNvPr id="46088" name="Group 8">
            <a:extLst>
              <a:ext uri="{FF2B5EF4-FFF2-40B4-BE49-F238E27FC236}">
                <a16:creationId xmlns:a16="http://schemas.microsoft.com/office/drawing/2014/main" id="{AE6E4E9B-9EA3-1B5A-83A3-84D74D2556C2}"/>
              </a:ext>
            </a:extLst>
          </p:cNvPr>
          <p:cNvGrpSpPr>
            <a:grpSpLocks/>
          </p:cNvGrpSpPr>
          <p:nvPr/>
        </p:nvGrpSpPr>
        <p:grpSpPr bwMode="auto">
          <a:xfrm>
            <a:off x="203200" y="7473950"/>
            <a:ext cx="301625" cy="296863"/>
            <a:chOff x="127" y="4623"/>
            <a:chExt cx="189" cy="183"/>
          </a:xfrm>
        </p:grpSpPr>
        <p:sp>
          <p:nvSpPr>
            <p:cNvPr id="46089" name="Freeform 9">
              <a:extLst>
                <a:ext uri="{FF2B5EF4-FFF2-40B4-BE49-F238E27FC236}">
                  <a16:creationId xmlns:a16="http://schemas.microsoft.com/office/drawing/2014/main" id="{2745879C-4ACF-3C58-030B-C40E628F31BD}"/>
                </a:ext>
              </a:extLst>
            </p:cNvPr>
            <p:cNvSpPr>
              <a:spLocks/>
            </p:cNvSpPr>
            <p:nvPr/>
          </p:nvSpPr>
          <p:spPr bwMode="auto">
            <a:xfrm>
              <a:off x="127" y="4623"/>
              <a:ext cx="179" cy="175"/>
            </a:xfrm>
            <a:custGeom>
              <a:avLst/>
              <a:gdLst>
                <a:gd name="T0" fmla="*/ 178 w 179"/>
                <a:gd name="T1" fmla="*/ 174 h 175"/>
                <a:gd name="T2" fmla="*/ 178 w 179"/>
                <a:gd name="T3" fmla="*/ 0 h 175"/>
                <a:gd name="T4" fmla="*/ 0 w 179"/>
                <a:gd name="T5" fmla="*/ 0 h 175"/>
                <a:gd name="T6" fmla="*/ 0 w 179"/>
                <a:gd name="T7" fmla="*/ 174 h 175"/>
                <a:gd name="T8" fmla="*/ 178 w 179"/>
                <a:gd name="T9" fmla="*/ 174 h 175"/>
                <a:gd name="T10" fmla="*/ 0 60000 65536"/>
                <a:gd name="T11" fmla="*/ 0 60000 65536"/>
                <a:gd name="T12" fmla="*/ 0 60000 65536"/>
                <a:gd name="T13" fmla="*/ 0 60000 65536"/>
                <a:gd name="T14" fmla="*/ 0 60000 65536"/>
                <a:gd name="T15" fmla="*/ 0 w 179"/>
                <a:gd name="T16" fmla="*/ 0 h 175"/>
                <a:gd name="T17" fmla="*/ 179 w 179"/>
                <a:gd name="T18" fmla="*/ 175 h 175"/>
              </a:gdLst>
              <a:ahLst/>
              <a:cxnLst>
                <a:cxn ang="T10">
                  <a:pos x="T0" y="T1"/>
                </a:cxn>
                <a:cxn ang="T11">
                  <a:pos x="T2" y="T3"/>
                </a:cxn>
                <a:cxn ang="T12">
                  <a:pos x="T4" y="T5"/>
                </a:cxn>
                <a:cxn ang="T13">
                  <a:pos x="T6" y="T7"/>
                </a:cxn>
                <a:cxn ang="T14">
                  <a:pos x="T8" y="T9"/>
                </a:cxn>
              </a:cxnLst>
              <a:rect l="T15" t="T16" r="T17" b="T18"/>
              <a:pathLst>
                <a:path w="179" h="175">
                  <a:moveTo>
                    <a:pt x="178" y="174"/>
                  </a:moveTo>
                  <a:lnTo>
                    <a:pt x="178" y="0"/>
                  </a:lnTo>
                  <a:lnTo>
                    <a:pt x="0" y="0"/>
                  </a:lnTo>
                  <a:lnTo>
                    <a:pt x="0" y="174"/>
                  </a:lnTo>
                  <a:lnTo>
                    <a:pt x="178" y="17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0" name="Freeform 10">
              <a:extLst>
                <a:ext uri="{FF2B5EF4-FFF2-40B4-BE49-F238E27FC236}">
                  <a16:creationId xmlns:a16="http://schemas.microsoft.com/office/drawing/2014/main" id="{F65F2B0D-4621-9713-8DD5-C22F59DCAC3D}"/>
                </a:ext>
              </a:extLst>
            </p:cNvPr>
            <p:cNvSpPr>
              <a:spLocks/>
            </p:cNvSpPr>
            <p:nvPr/>
          </p:nvSpPr>
          <p:spPr bwMode="auto">
            <a:xfrm>
              <a:off x="190" y="4689"/>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 name="T10" fmla="*/ 0 60000 65536"/>
                <a:gd name="T11" fmla="*/ 0 60000 65536"/>
                <a:gd name="T12" fmla="*/ 0 60000 65536"/>
                <a:gd name="T13" fmla="*/ 0 60000 65536"/>
                <a:gd name="T14" fmla="*/ 0 60000 65536"/>
                <a:gd name="T15" fmla="*/ 0 w 68"/>
                <a:gd name="T16" fmla="*/ 0 h 35"/>
                <a:gd name="T17" fmla="*/ 68 w 68"/>
                <a:gd name="T18" fmla="*/ 35 h 35"/>
              </a:gdLst>
              <a:ahLst/>
              <a:cxnLst>
                <a:cxn ang="T10">
                  <a:pos x="T0" y="T1"/>
                </a:cxn>
                <a:cxn ang="T11">
                  <a:pos x="T2" y="T3"/>
                </a:cxn>
                <a:cxn ang="T12">
                  <a:pos x="T4" y="T5"/>
                </a:cxn>
                <a:cxn ang="T13">
                  <a:pos x="T6" y="T7"/>
                </a:cxn>
                <a:cxn ang="T14">
                  <a:pos x="T8" y="T9"/>
                </a:cxn>
              </a:cxnLst>
              <a:rect l="T15" t="T16" r="T17" b="T18"/>
              <a:pathLst>
                <a:path w="68" h="35">
                  <a:moveTo>
                    <a:pt x="67" y="6"/>
                  </a:moveTo>
                  <a:lnTo>
                    <a:pt x="64" y="0"/>
                  </a:lnTo>
                  <a:lnTo>
                    <a:pt x="0" y="27"/>
                  </a:lnTo>
                  <a:lnTo>
                    <a:pt x="2" y="34"/>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1" name="Freeform 11">
              <a:extLst>
                <a:ext uri="{FF2B5EF4-FFF2-40B4-BE49-F238E27FC236}">
                  <a16:creationId xmlns:a16="http://schemas.microsoft.com/office/drawing/2014/main" id="{2DD99477-3C01-C164-F048-B9413C2E9843}"/>
                </a:ext>
              </a:extLst>
            </p:cNvPr>
            <p:cNvSpPr>
              <a:spLocks/>
            </p:cNvSpPr>
            <p:nvPr/>
          </p:nvSpPr>
          <p:spPr bwMode="auto">
            <a:xfrm>
              <a:off x="198" y="4704"/>
              <a:ext cx="69" cy="36"/>
            </a:xfrm>
            <a:custGeom>
              <a:avLst/>
              <a:gdLst>
                <a:gd name="T0" fmla="*/ 68 w 69"/>
                <a:gd name="T1" fmla="*/ 6 h 36"/>
                <a:gd name="T2" fmla="*/ 65 w 69"/>
                <a:gd name="T3" fmla="*/ 0 h 36"/>
                <a:gd name="T4" fmla="*/ 0 w 69"/>
                <a:gd name="T5" fmla="*/ 28 h 36"/>
                <a:gd name="T6" fmla="*/ 3 w 69"/>
                <a:gd name="T7" fmla="*/ 35 h 36"/>
                <a:gd name="T8" fmla="*/ 68 w 69"/>
                <a:gd name="T9" fmla="*/ 6 h 36"/>
                <a:gd name="T10" fmla="*/ 0 60000 65536"/>
                <a:gd name="T11" fmla="*/ 0 60000 65536"/>
                <a:gd name="T12" fmla="*/ 0 60000 65536"/>
                <a:gd name="T13" fmla="*/ 0 60000 65536"/>
                <a:gd name="T14" fmla="*/ 0 60000 65536"/>
                <a:gd name="T15" fmla="*/ 0 w 69"/>
                <a:gd name="T16" fmla="*/ 0 h 36"/>
                <a:gd name="T17" fmla="*/ 69 w 69"/>
                <a:gd name="T18" fmla="*/ 36 h 36"/>
              </a:gdLst>
              <a:ahLst/>
              <a:cxnLst>
                <a:cxn ang="T10">
                  <a:pos x="T0" y="T1"/>
                </a:cxn>
                <a:cxn ang="T11">
                  <a:pos x="T2" y="T3"/>
                </a:cxn>
                <a:cxn ang="T12">
                  <a:pos x="T4" y="T5"/>
                </a:cxn>
                <a:cxn ang="T13">
                  <a:pos x="T6" y="T7"/>
                </a:cxn>
                <a:cxn ang="T14">
                  <a:pos x="T8" y="T9"/>
                </a:cxn>
              </a:cxnLst>
              <a:rect l="T15" t="T16" r="T17" b="T18"/>
              <a:pathLst>
                <a:path w="69" h="36">
                  <a:moveTo>
                    <a:pt x="68" y="6"/>
                  </a:moveTo>
                  <a:lnTo>
                    <a:pt x="65" y="0"/>
                  </a:lnTo>
                  <a:lnTo>
                    <a:pt x="0" y="28"/>
                  </a:lnTo>
                  <a:lnTo>
                    <a:pt x="3" y="35"/>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2" name="Freeform 12">
              <a:extLst>
                <a:ext uri="{FF2B5EF4-FFF2-40B4-BE49-F238E27FC236}">
                  <a16:creationId xmlns:a16="http://schemas.microsoft.com/office/drawing/2014/main" id="{D1DB439B-63C9-18F5-B7ED-537855B6E6BE}"/>
                </a:ext>
              </a:extLst>
            </p:cNvPr>
            <p:cNvSpPr>
              <a:spLocks/>
            </p:cNvSpPr>
            <p:nvPr/>
          </p:nvSpPr>
          <p:spPr bwMode="auto">
            <a:xfrm>
              <a:off x="204" y="4719"/>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3" name="Freeform 13">
              <a:extLst>
                <a:ext uri="{FF2B5EF4-FFF2-40B4-BE49-F238E27FC236}">
                  <a16:creationId xmlns:a16="http://schemas.microsoft.com/office/drawing/2014/main" id="{99CB7ED4-E10F-EBFA-50ED-DF61DCF28B69}"/>
                </a:ext>
              </a:extLst>
            </p:cNvPr>
            <p:cNvSpPr>
              <a:spLocks/>
            </p:cNvSpPr>
            <p:nvPr/>
          </p:nvSpPr>
          <p:spPr bwMode="auto">
            <a:xfrm>
              <a:off x="211" y="4736"/>
              <a:ext cx="71" cy="35"/>
            </a:xfrm>
            <a:custGeom>
              <a:avLst/>
              <a:gdLst>
                <a:gd name="T0" fmla="*/ 70 w 71"/>
                <a:gd name="T1" fmla="*/ 6 h 35"/>
                <a:gd name="T2" fmla="*/ 66 w 71"/>
                <a:gd name="T3" fmla="*/ 0 h 35"/>
                <a:gd name="T4" fmla="*/ 0 w 71"/>
                <a:gd name="T5" fmla="*/ 27 h 35"/>
                <a:gd name="T6" fmla="*/ 3 w 71"/>
                <a:gd name="T7" fmla="*/ 34 h 35"/>
                <a:gd name="T8" fmla="*/ 70 w 71"/>
                <a:gd name="T9" fmla="*/ 6 h 35"/>
                <a:gd name="T10" fmla="*/ 0 60000 65536"/>
                <a:gd name="T11" fmla="*/ 0 60000 65536"/>
                <a:gd name="T12" fmla="*/ 0 60000 65536"/>
                <a:gd name="T13" fmla="*/ 0 60000 65536"/>
                <a:gd name="T14" fmla="*/ 0 60000 65536"/>
                <a:gd name="T15" fmla="*/ 0 w 71"/>
                <a:gd name="T16" fmla="*/ 0 h 35"/>
                <a:gd name="T17" fmla="*/ 71 w 71"/>
                <a:gd name="T18" fmla="*/ 35 h 35"/>
              </a:gdLst>
              <a:ahLst/>
              <a:cxnLst>
                <a:cxn ang="T10">
                  <a:pos x="T0" y="T1"/>
                </a:cxn>
                <a:cxn ang="T11">
                  <a:pos x="T2" y="T3"/>
                </a:cxn>
                <a:cxn ang="T12">
                  <a:pos x="T4" y="T5"/>
                </a:cxn>
                <a:cxn ang="T13">
                  <a:pos x="T6" y="T7"/>
                </a:cxn>
                <a:cxn ang="T14">
                  <a:pos x="T8" y="T9"/>
                </a:cxn>
              </a:cxnLst>
              <a:rect l="T15" t="T16" r="T17" b="T18"/>
              <a:pathLst>
                <a:path w="71" h="35">
                  <a:moveTo>
                    <a:pt x="70" y="6"/>
                  </a:moveTo>
                  <a:lnTo>
                    <a:pt x="66" y="0"/>
                  </a:lnTo>
                  <a:lnTo>
                    <a:pt x="0" y="27"/>
                  </a:lnTo>
                  <a:lnTo>
                    <a:pt x="3" y="34"/>
                  </a:lnTo>
                  <a:lnTo>
                    <a:pt x="70"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4" name="Freeform 14">
              <a:extLst>
                <a:ext uri="{FF2B5EF4-FFF2-40B4-BE49-F238E27FC236}">
                  <a16:creationId xmlns:a16="http://schemas.microsoft.com/office/drawing/2014/main" id="{033B9AA3-599B-8F88-1094-4D9554EF464F}"/>
                </a:ext>
              </a:extLst>
            </p:cNvPr>
            <p:cNvSpPr>
              <a:spLocks/>
            </p:cNvSpPr>
            <p:nvPr/>
          </p:nvSpPr>
          <p:spPr bwMode="auto">
            <a:xfrm>
              <a:off x="219" y="4753"/>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5" name="Freeform 15">
              <a:extLst>
                <a:ext uri="{FF2B5EF4-FFF2-40B4-BE49-F238E27FC236}">
                  <a16:creationId xmlns:a16="http://schemas.microsoft.com/office/drawing/2014/main" id="{D2D9514E-021E-1253-E0D8-A8D24462BAE2}"/>
                </a:ext>
              </a:extLst>
            </p:cNvPr>
            <p:cNvSpPr>
              <a:spLocks/>
            </p:cNvSpPr>
            <p:nvPr/>
          </p:nvSpPr>
          <p:spPr bwMode="auto">
            <a:xfrm>
              <a:off x="149" y="4650"/>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6" name="Freeform 16">
              <a:extLst>
                <a:ext uri="{FF2B5EF4-FFF2-40B4-BE49-F238E27FC236}">
                  <a16:creationId xmlns:a16="http://schemas.microsoft.com/office/drawing/2014/main" id="{A55D612F-05CA-28AF-8F69-9B1A163E362F}"/>
                </a:ext>
              </a:extLst>
            </p:cNvPr>
            <p:cNvSpPr>
              <a:spLocks/>
            </p:cNvSpPr>
            <p:nvPr/>
          </p:nvSpPr>
          <p:spPr bwMode="auto">
            <a:xfrm>
              <a:off x="131" y="4640"/>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 name="T10" fmla="*/ 0 60000 65536"/>
                <a:gd name="T11" fmla="*/ 0 60000 65536"/>
                <a:gd name="T12" fmla="*/ 0 60000 65536"/>
                <a:gd name="T13" fmla="*/ 0 60000 65536"/>
                <a:gd name="T14" fmla="*/ 0 60000 65536"/>
                <a:gd name="T15" fmla="*/ 0 w 123"/>
                <a:gd name="T16" fmla="*/ 0 h 59"/>
                <a:gd name="T17" fmla="*/ 123 w 123"/>
                <a:gd name="T18" fmla="*/ 59 h 59"/>
              </a:gdLst>
              <a:ahLst/>
              <a:cxnLst>
                <a:cxn ang="T10">
                  <a:pos x="T0" y="T1"/>
                </a:cxn>
                <a:cxn ang="T11">
                  <a:pos x="T2" y="T3"/>
                </a:cxn>
                <a:cxn ang="T12">
                  <a:pos x="T4" y="T5"/>
                </a:cxn>
                <a:cxn ang="T13">
                  <a:pos x="T6" y="T7"/>
                </a:cxn>
                <a:cxn ang="T14">
                  <a:pos x="T8" y="T9"/>
                </a:cxn>
              </a:cxnLst>
              <a:rect l="T15" t="T16" r="T17" b="T18"/>
              <a:pathLst>
                <a:path w="123" h="59">
                  <a:moveTo>
                    <a:pt x="122" y="7"/>
                  </a:moveTo>
                  <a:lnTo>
                    <a:pt x="119" y="0"/>
                  </a:lnTo>
                  <a:lnTo>
                    <a:pt x="0" y="51"/>
                  </a:lnTo>
                  <a:lnTo>
                    <a:pt x="2" y="58"/>
                  </a:lnTo>
                  <a:lnTo>
                    <a:pt x="122"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7" name="Freeform 17">
              <a:extLst>
                <a:ext uri="{FF2B5EF4-FFF2-40B4-BE49-F238E27FC236}">
                  <a16:creationId xmlns:a16="http://schemas.microsoft.com/office/drawing/2014/main" id="{258F4B53-EA51-8B4D-23CB-62A5677E0FEA}"/>
                </a:ext>
              </a:extLst>
            </p:cNvPr>
            <p:cNvSpPr>
              <a:spLocks/>
            </p:cNvSpPr>
            <p:nvPr/>
          </p:nvSpPr>
          <p:spPr bwMode="auto">
            <a:xfrm>
              <a:off x="258" y="4652"/>
              <a:ext cx="58" cy="106"/>
            </a:xfrm>
            <a:custGeom>
              <a:avLst/>
              <a:gdLst>
                <a:gd name="T0" fmla="*/ 49 w 58"/>
                <a:gd name="T1" fmla="*/ 105 h 106"/>
                <a:gd name="T2" fmla="*/ 57 w 58"/>
                <a:gd name="T3" fmla="*/ 101 h 106"/>
                <a:gd name="T4" fmla="*/ 7 w 58"/>
                <a:gd name="T5" fmla="*/ 0 h 106"/>
                <a:gd name="T6" fmla="*/ 0 w 58"/>
                <a:gd name="T7" fmla="*/ 3 h 106"/>
                <a:gd name="T8" fmla="*/ 49 w 58"/>
                <a:gd name="T9" fmla="*/ 105 h 106"/>
                <a:gd name="T10" fmla="*/ 0 60000 65536"/>
                <a:gd name="T11" fmla="*/ 0 60000 65536"/>
                <a:gd name="T12" fmla="*/ 0 60000 65536"/>
                <a:gd name="T13" fmla="*/ 0 60000 65536"/>
                <a:gd name="T14" fmla="*/ 0 60000 65536"/>
                <a:gd name="T15" fmla="*/ 0 w 58"/>
                <a:gd name="T16" fmla="*/ 0 h 106"/>
                <a:gd name="T17" fmla="*/ 58 w 58"/>
                <a:gd name="T18" fmla="*/ 106 h 106"/>
              </a:gdLst>
              <a:ahLst/>
              <a:cxnLst>
                <a:cxn ang="T10">
                  <a:pos x="T0" y="T1"/>
                </a:cxn>
                <a:cxn ang="T11">
                  <a:pos x="T2" y="T3"/>
                </a:cxn>
                <a:cxn ang="T12">
                  <a:pos x="T4" y="T5"/>
                </a:cxn>
                <a:cxn ang="T13">
                  <a:pos x="T6" y="T7"/>
                </a:cxn>
                <a:cxn ang="T14">
                  <a:pos x="T8" y="T9"/>
                </a:cxn>
              </a:cxnLst>
              <a:rect l="T15" t="T16" r="T17" b="T18"/>
              <a:pathLst>
                <a:path w="58" h="106">
                  <a:moveTo>
                    <a:pt x="49" y="105"/>
                  </a:moveTo>
                  <a:lnTo>
                    <a:pt x="57" y="101"/>
                  </a:lnTo>
                  <a:lnTo>
                    <a:pt x="7" y="0"/>
                  </a:lnTo>
                  <a:lnTo>
                    <a:pt x="0" y="3"/>
                  </a:lnTo>
                  <a:lnTo>
                    <a:pt x="49" y="10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8" name="Freeform 18">
              <a:extLst>
                <a:ext uri="{FF2B5EF4-FFF2-40B4-BE49-F238E27FC236}">
                  <a16:creationId xmlns:a16="http://schemas.microsoft.com/office/drawing/2014/main" id="{0EFE6A21-21C3-B0B3-567E-5C352101BDB5}"/>
                </a:ext>
              </a:extLst>
            </p:cNvPr>
            <p:cNvSpPr>
              <a:spLocks/>
            </p:cNvSpPr>
            <p:nvPr/>
          </p:nvSpPr>
          <p:spPr bwMode="auto">
            <a:xfrm>
              <a:off x="149" y="4699"/>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9" name="Freeform 19">
              <a:extLst>
                <a:ext uri="{FF2B5EF4-FFF2-40B4-BE49-F238E27FC236}">
                  <a16:creationId xmlns:a16="http://schemas.microsoft.com/office/drawing/2014/main" id="{676CD9B7-FECA-F476-2250-5D183FC05BE1}"/>
                </a:ext>
              </a:extLst>
            </p:cNvPr>
            <p:cNvSpPr>
              <a:spLocks/>
            </p:cNvSpPr>
            <p:nvPr/>
          </p:nvSpPr>
          <p:spPr bwMode="auto">
            <a:xfrm>
              <a:off x="127" y="4691"/>
              <a:ext cx="60" cy="115"/>
            </a:xfrm>
            <a:custGeom>
              <a:avLst/>
              <a:gdLst>
                <a:gd name="T0" fmla="*/ 51 w 60"/>
                <a:gd name="T1" fmla="*/ 114 h 115"/>
                <a:gd name="T2" fmla="*/ 59 w 60"/>
                <a:gd name="T3" fmla="*/ 111 h 115"/>
                <a:gd name="T4" fmla="*/ 6 w 60"/>
                <a:gd name="T5" fmla="*/ 0 h 115"/>
                <a:gd name="T6" fmla="*/ 0 w 60"/>
                <a:gd name="T7" fmla="*/ 2 h 115"/>
                <a:gd name="T8" fmla="*/ 51 w 60"/>
                <a:gd name="T9" fmla="*/ 114 h 115"/>
                <a:gd name="T10" fmla="*/ 0 60000 65536"/>
                <a:gd name="T11" fmla="*/ 0 60000 65536"/>
                <a:gd name="T12" fmla="*/ 0 60000 65536"/>
                <a:gd name="T13" fmla="*/ 0 60000 65536"/>
                <a:gd name="T14" fmla="*/ 0 60000 65536"/>
                <a:gd name="T15" fmla="*/ 0 w 60"/>
                <a:gd name="T16" fmla="*/ 0 h 115"/>
                <a:gd name="T17" fmla="*/ 60 w 60"/>
                <a:gd name="T18" fmla="*/ 115 h 115"/>
              </a:gdLst>
              <a:ahLst/>
              <a:cxnLst>
                <a:cxn ang="T10">
                  <a:pos x="T0" y="T1"/>
                </a:cxn>
                <a:cxn ang="T11">
                  <a:pos x="T2" y="T3"/>
                </a:cxn>
                <a:cxn ang="T12">
                  <a:pos x="T4" y="T5"/>
                </a:cxn>
                <a:cxn ang="T13">
                  <a:pos x="T6" y="T7"/>
                </a:cxn>
                <a:cxn ang="T14">
                  <a:pos x="T8" y="T9"/>
                </a:cxn>
              </a:cxnLst>
              <a:rect l="T15" t="T16" r="T17" b="T18"/>
              <a:pathLst>
                <a:path w="60" h="115">
                  <a:moveTo>
                    <a:pt x="51" y="114"/>
                  </a:moveTo>
                  <a:lnTo>
                    <a:pt x="59"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100" name="Freeform 20">
              <a:extLst>
                <a:ext uri="{FF2B5EF4-FFF2-40B4-BE49-F238E27FC236}">
                  <a16:creationId xmlns:a16="http://schemas.microsoft.com/office/drawing/2014/main" id="{34DED0C4-FC91-BC14-0C3B-C8F67E3C7995}"/>
                </a:ext>
              </a:extLst>
            </p:cNvPr>
            <p:cNvSpPr>
              <a:spLocks/>
            </p:cNvSpPr>
            <p:nvPr/>
          </p:nvSpPr>
          <p:spPr bwMode="auto">
            <a:xfrm>
              <a:off x="130" y="4691"/>
              <a:ext cx="28" cy="17"/>
            </a:xfrm>
            <a:custGeom>
              <a:avLst/>
              <a:gdLst>
                <a:gd name="T0" fmla="*/ 23 w 28"/>
                <a:gd name="T1" fmla="*/ 16 h 17"/>
                <a:gd name="T2" fmla="*/ 27 w 28"/>
                <a:gd name="T3" fmla="*/ 9 h 17"/>
                <a:gd name="T4" fmla="*/ 4 w 28"/>
                <a:gd name="T5" fmla="*/ 0 h 17"/>
                <a:gd name="T6" fmla="*/ 0 w 28"/>
                <a:gd name="T7" fmla="*/ 6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6"/>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101" name="Freeform 21">
              <a:extLst>
                <a:ext uri="{FF2B5EF4-FFF2-40B4-BE49-F238E27FC236}">
                  <a16:creationId xmlns:a16="http://schemas.microsoft.com/office/drawing/2014/main" id="{D950A7DD-37AE-B155-C958-C6A5BDE3463A}"/>
                </a:ext>
              </a:extLst>
            </p:cNvPr>
            <p:cNvSpPr>
              <a:spLocks/>
            </p:cNvSpPr>
            <p:nvPr/>
          </p:nvSpPr>
          <p:spPr bwMode="auto">
            <a:xfrm>
              <a:off x="238" y="4646"/>
              <a:ext cx="29" cy="17"/>
            </a:xfrm>
            <a:custGeom>
              <a:avLst/>
              <a:gdLst>
                <a:gd name="T0" fmla="*/ 24 w 29"/>
                <a:gd name="T1" fmla="*/ 16 h 17"/>
                <a:gd name="T2" fmla="*/ 28 w 29"/>
                <a:gd name="T3" fmla="*/ 9 h 17"/>
                <a:gd name="T4" fmla="*/ 4 w 29"/>
                <a:gd name="T5" fmla="*/ 0 h 17"/>
                <a:gd name="T6" fmla="*/ 0 w 29"/>
                <a:gd name="T7" fmla="*/ 5 h 17"/>
                <a:gd name="T8" fmla="*/ 24 w 29"/>
                <a:gd name="T9" fmla="*/ 16 h 17"/>
                <a:gd name="T10" fmla="*/ 0 60000 65536"/>
                <a:gd name="T11" fmla="*/ 0 60000 65536"/>
                <a:gd name="T12" fmla="*/ 0 60000 65536"/>
                <a:gd name="T13" fmla="*/ 0 60000 65536"/>
                <a:gd name="T14" fmla="*/ 0 60000 65536"/>
                <a:gd name="T15" fmla="*/ 0 w 29"/>
                <a:gd name="T16" fmla="*/ 0 h 17"/>
                <a:gd name="T17" fmla="*/ 29 w 29"/>
                <a:gd name="T18" fmla="*/ 17 h 17"/>
              </a:gdLst>
              <a:ahLst/>
              <a:cxnLst>
                <a:cxn ang="T10">
                  <a:pos x="T0" y="T1"/>
                </a:cxn>
                <a:cxn ang="T11">
                  <a:pos x="T2" y="T3"/>
                </a:cxn>
                <a:cxn ang="T12">
                  <a:pos x="T4" y="T5"/>
                </a:cxn>
                <a:cxn ang="T13">
                  <a:pos x="T6" y="T7"/>
                </a:cxn>
                <a:cxn ang="T14">
                  <a:pos x="T8" y="T9"/>
                </a:cxn>
              </a:cxnLst>
              <a:rect l="T15" t="T16" r="T17" b="T18"/>
              <a:pathLst>
                <a:path w="29" h="17">
                  <a:moveTo>
                    <a:pt x="24" y="16"/>
                  </a:moveTo>
                  <a:lnTo>
                    <a:pt x="28" y="9"/>
                  </a:lnTo>
                  <a:lnTo>
                    <a:pt x="4" y="0"/>
                  </a:lnTo>
                  <a:lnTo>
                    <a:pt x="0" y="5"/>
                  </a:lnTo>
                  <a:lnTo>
                    <a:pt x="24"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35D723C-C9C7-A568-FCF7-4EB6D646C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7620E5-E56A-49FA-9155-1FDAD0A7E276}" type="slidenum">
              <a:rPr lang="de-AT" altLang="en-US" smtClean="0">
                <a:solidFill>
                  <a:srgbClr val="000000"/>
                </a:solidFill>
              </a:rPr>
              <a:pPr>
                <a:spcBef>
                  <a:spcPct val="0"/>
                </a:spcBef>
              </a:pPr>
              <a:t>24</a:t>
            </a:fld>
            <a:endParaRPr lang="de-AT" altLang="en-US">
              <a:solidFill>
                <a:srgbClr val="000000"/>
              </a:solidFill>
            </a:endParaRPr>
          </a:p>
        </p:txBody>
      </p:sp>
      <p:sp>
        <p:nvSpPr>
          <p:cNvPr id="98307" name="Rectangle 2">
            <a:extLst>
              <a:ext uri="{FF2B5EF4-FFF2-40B4-BE49-F238E27FC236}">
                <a16:creationId xmlns:a16="http://schemas.microsoft.com/office/drawing/2014/main" id="{C6836BE6-20E4-351B-BC60-248E1316EE70}"/>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FC398F3C-1D53-AF59-20A3-2AC1A709E7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C91FE19-7225-3E49-2066-338A94BEA875}"/>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73120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9AD030F-23A1-3AB0-9C64-50938EC1D17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863288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0D7EE72-A40F-13A9-E92C-7E4F7CC4050A}"/>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33696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57983F2-20EB-FC58-99C7-14158BBF42B8}"/>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450571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DF25C536-1DBF-C969-9720-82EA873C202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196499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FED9D7B-4BD0-C820-43AE-69E4B725691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313646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0C50017-254E-FBB4-1F43-57360925343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656469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3C2E22B-2CFB-FEC3-0E1B-499D4155FA6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615886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0E78E4F-989F-0D45-B43E-6D5960FE1102}"/>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055982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DA6832F-2697-8322-124F-94780D6B8851}"/>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42699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434D10A-9796-5855-0FD3-AB733A0C50B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5574868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E4700AE-ACDE-18A9-637A-6961B3F19D52}"/>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243178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39066C-DF9C-6154-623E-4D25B5B52A53}"/>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18D222C8-BBB8-DC40-CF3C-CD3AC346EA7C}"/>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71C78B3C-1801-37D9-1221-8203B8C03770}"/>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E18224C-0FB0-6B6C-36DF-472BEAAFBA1D}"/>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0C55B2B4-247C-EA5F-5632-4932003653ED}"/>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7F564B8B-4E0C-7CB4-9998-C3F6C2F8FB96}"/>
              </a:ext>
            </a:extLst>
          </p:cNvPr>
          <p:cNvSpPr>
            <a:spLocks noGrp="1"/>
          </p:cNvSpPr>
          <p:nvPr>
            <p:ph type="dt" sz="half" idx="10"/>
          </p:nvPr>
        </p:nvSpPr>
        <p:spPr/>
        <p:txBody>
          <a:bodyPr/>
          <a:lstStyle>
            <a:lvl1pPr>
              <a:defRPr/>
            </a:lvl1pPr>
          </a:lstStyle>
          <a:p>
            <a:pPr>
              <a:defRPr/>
            </a:pPr>
            <a:fld id="{79CF1446-C9F6-4443-9286-D689B1A0244F}" type="datetime1">
              <a:rPr lang="en-US"/>
              <a:pPr>
                <a:defRPr/>
              </a:pPr>
              <a:t>12/8/2024</a:t>
            </a:fld>
            <a:endParaRPr lang="en-US"/>
          </a:p>
        </p:txBody>
      </p:sp>
      <p:sp>
        <p:nvSpPr>
          <p:cNvPr id="10" name="Footer Placeholder 16">
            <a:extLst>
              <a:ext uri="{FF2B5EF4-FFF2-40B4-BE49-F238E27FC236}">
                <a16:creationId xmlns:a16="http://schemas.microsoft.com/office/drawing/2014/main" id="{5E0D5E70-3B0E-7AD2-9229-A7D9431E7D6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CA2A5AF8-A3EC-51E9-D4E2-AD060A79F00B}"/>
              </a:ext>
            </a:extLst>
          </p:cNvPr>
          <p:cNvSpPr>
            <a:spLocks noGrp="1"/>
          </p:cNvSpPr>
          <p:nvPr>
            <p:ph type="sldNum" sz="quarter" idx="12"/>
          </p:nvPr>
        </p:nvSpPr>
        <p:spPr/>
        <p:txBody>
          <a:bodyPr/>
          <a:lstStyle>
            <a:lvl1pPr>
              <a:defRPr sz="1400">
                <a:solidFill>
                  <a:srgbClr val="FFFFFF"/>
                </a:solidFill>
              </a:defRPr>
            </a:lvl1pPr>
          </a:lstStyle>
          <a:p>
            <a:pPr>
              <a:defRPr/>
            </a:pPr>
            <a:fld id="{CFD065E4-1B66-4917-94CF-DDC2DE6B16AA}" type="slidenum">
              <a:rPr lang="en-US"/>
              <a:pPr>
                <a:defRPr/>
              </a:pPr>
              <a:t>‹#›</a:t>
            </a:fld>
            <a:endParaRPr lang="en-US" dirty="0"/>
          </a:p>
        </p:txBody>
      </p:sp>
    </p:spTree>
    <p:extLst>
      <p:ext uri="{BB962C8B-B14F-4D97-AF65-F5344CB8AC3E}">
        <p14:creationId xmlns:p14="http://schemas.microsoft.com/office/powerpoint/2010/main" val="1909198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B396DFE6-B4E8-DD83-A0D8-5DC5CA58994F}"/>
              </a:ext>
            </a:extLst>
          </p:cNvPr>
          <p:cNvSpPr>
            <a:spLocks noGrp="1"/>
          </p:cNvSpPr>
          <p:nvPr>
            <p:ph type="dt" sz="half" idx="10"/>
          </p:nvPr>
        </p:nvSpPr>
        <p:spPr/>
        <p:txBody>
          <a:bodyPr/>
          <a:lstStyle>
            <a:lvl1pPr>
              <a:defRPr/>
            </a:lvl1pPr>
          </a:lstStyle>
          <a:p>
            <a:pPr>
              <a:defRPr/>
            </a:pPr>
            <a:fld id="{33892016-38A5-45A2-8FCF-B28DE5A26B0B}" type="datetime1">
              <a:rPr lang="en-US"/>
              <a:pPr>
                <a:defRPr/>
              </a:pPr>
              <a:t>12/8/2024</a:t>
            </a:fld>
            <a:endParaRPr lang="en-US" dirty="0"/>
          </a:p>
        </p:txBody>
      </p:sp>
      <p:sp>
        <p:nvSpPr>
          <p:cNvPr id="4" name="Footer Placeholder 2">
            <a:extLst>
              <a:ext uri="{FF2B5EF4-FFF2-40B4-BE49-F238E27FC236}">
                <a16:creationId xmlns:a16="http://schemas.microsoft.com/office/drawing/2014/main" id="{9E056B4E-95ED-4A33-07D3-06B5D61210D0}"/>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DDD96BDC-2AFF-94B5-A87D-2D535D5C1D33}"/>
              </a:ext>
            </a:extLst>
          </p:cNvPr>
          <p:cNvSpPr>
            <a:spLocks noGrp="1"/>
          </p:cNvSpPr>
          <p:nvPr>
            <p:ph type="sldNum" sz="quarter" idx="12"/>
          </p:nvPr>
        </p:nvSpPr>
        <p:spPr/>
        <p:txBody>
          <a:bodyPr/>
          <a:lstStyle>
            <a:lvl1pPr>
              <a:defRPr/>
            </a:lvl1pPr>
          </a:lstStyle>
          <a:p>
            <a:pPr>
              <a:defRPr/>
            </a:pPr>
            <a:fld id="{E80619C9-1708-4C3B-BCE0-77AC977914F4}" type="slidenum">
              <a:rPr lang="en-US"/>
              <a:pPr>
                <a:defRPr/>
              </a:pPr>
              <a:t>‹#›</a:t>
            </a:fld>
            <a:endParaRPr lang="en-US" dirty="0"/>
          </a:p>
        </p:txBody>
      </p:sp>
    </p:spTree>
    <p:extLst>
      <p:ext uri="{BB962C8B-B14F-4D97-AF65-F5344CB8AC3E}">
        <p14:creationId xmlns:p14="http://schemas.microsoft.com/office/powerpoint/2010/main" val="4184678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545B2F-9509-7C7F-2E6C-93BD0685E0B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37A60FA7-8EFB-B9C1-4374-08BA5C9E9FF7}"/>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999A1CA-F453-0C0B-D422-61A9CA672A49}"/>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94D8863D-3C91-3A32-4D13-7542ADE59049}"/>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22BDF143-C8D8-529C-FA65-3154819F2E1E}"/>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F3FBCE05-B246-59A9-7BF9-745DCB197852}"/>
              </a:ext>
            </a:extLst>
          </p:cNvPr>
          <p:cNvSpPr>
            <a:spLocks noGrp="1"/>
          </p:cNvSpPr>
          <p:nvPr>
            <p:ph type="dt" sz="half" idx="10"/>
          </p:nvPr>
        </p:nvSpPr>
        <p:spPr/>
        <p:txBody>
          <a:bodyPr/>
          <a:lstStyle>
            <a:lvl1pPr>
              <a:defRPr/>
            </a:lvl1pPr>
          </a:lstStyle>
          <a:p>
            <a:pPr>
              <a:defRPr/>
            </a:pPr>
            <a:fld id="{85C89F16-0ED0-47D8-9BF6-DB8802875382}" type="datetime1">
              <a:rPr lang="en-US"/>
              <a:pPr>
                <a:defRPr/>
              </a:pPr>
              <a:t>12/8/2024</a:t>
            </a:fld>
            <a:endParaRPr lang="en-US"/>
          </a:p>
        </p:txBody>
      </p:sp>
      <p:sp>
        <p:nvSpPr>
          <p:cNvPr id="10" name="Footer Placeholder 4">
            <a:extLst>
              <a:ext uri="{FF2B5EF4-FFF2-40B4-BE49-F238E27FC236}">
                <a16:creationId xmlns:a16="http://schemas.microsoft.com/office/drawing/2014/main" id="{FDB8DC83-A110-3838-E66B-31388C5C25F7}"/>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45B66283-2DCC-0003-4426-D31020707A56}"/>
              </a:ext>
            </a:extLst>
          </p:cNvPr>
          <p:cNvSpPr>
            <a:spLocks noGrp="1"/>
          </p:cNvSpPr>
          <p:nvPr>
            <p:ph type="sldNum" sz="quarter" idx="12"/>
          </p:nvPr>
        </p:nvSpPr>
        <p:spPr>
          <a:xfrm>
            <a:off x="146050" y="6208713"/>
            <a:ext cx="457200" cy="457200"/>
          </a:xfrm>
        </p:spPr>
        <p:txBody>
          <a:bodyPr/>
          <a:lstStyle>
            <a:lvl1pPr>
              <a:defRPr/>
            </a:lvl1pPr>
          </a:lstStyle>
          <a:p>
            <a:pPr>
              <a:defRPr/>
            </a:pPr>
            <a:fld id="{D18B2ED8-7408-4240-8676-622D3E75AC59}" type="slidenum">
              <a:rPr lang="en-US"/>
              <a:pPr>
                <a:defRPr/>
              </a:pPr>
              <a:t>‹#›</a:t>
            </a:fld>
            <a:endParaRPr lang="en-US" dirty="0"/>
          </a:p>
        </p:txBody>
      </p:sp>
    </p:spTree>
    <p:extLst>
      <p:ext uri="{BB962C8B-B14F-4D97-AF65-F5344CB8AC3E}">
        <p14:creationId xmlns:p14="http://schemas.microsoft.com/office/powerpoint/2010/main" val="211930328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80CDADDF-04BF-2D1D-9C98-ECAB4971517E}"/>
              </a:ext>
            </a:extLst>
          </p:cNvPr>
          <p:cNvSpPr>
            <a:spLocks noGrp="1"/>
          </p:cNvSpPr>
          <p:nvPr>
            <p:ph type="dt" sz="half" idx="10"/>
          </p:nvPr>
        </p:nvSpPr>
        <p:spPr/>
        <p:txBody>
          <a:bodyPr/>
          <a:lstStyle>
            <a:lvl1pPr>
              <a:defRPr/>
            </a:lvl1pPr>
          </a:lstStyle>
          <a:p>
            <a:pPr>
              <a:defRPr/>
            </a:pPr>
            <a:fld id="{7A89DDBE-D9C2-4699-8FC6-A81193FF0F87}" type="datetime1">
              <a:rPr lang="en-US"/>
              <a:pPr>
                <a:defRPr/>
              </a:pPr>
              <a:t>12/8/2024</a:t>
            </a:fld>
            <a:endParaRPr lang="en-US" dirty="0"/>
          </a:p>
        </p:txBody>
      </p:sp>
      <p:sp>
        <p:nvSpPr>
          <p:cNvPr id="4" name="Footer Placeholder 2">
            <a:extLst>
              <a:ext uri="{FF2B5EF4-FFF2-40B4-BE49-F238E27FC236}">
                <a16:creationId xmlns:a16="http://schemas.microsoft.com/office/drawing/2014/main" id="{EA7C873F-1BB3-5513-9803-0A21ECBDF8D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561A1D7E-1AAD-8F49-E349-5153EC543E82}"/>
              </a:ext>
            </a:extLst>
          </p:cNvPr>
          <p:cNvSpPr>
            <a:spLocks noGrp="1"/>
          </p:cNvSpPr>
          <p:nvPr>
            <p:ph type="sldNum" sz="quarter" idx="12"/>
          </p:nvPr>
        </p:nvSpPr>
        <p:spPr/>
        <p:txBody>
          <a:bodyPr/>
          <a:lstStyle>
            <a:lvl1pPr>
              <a:defRPr/>
            </a:lvl1pPr>
          </a:lstStyle>
          <a:p>
            <a:pPr>
              <a:defRPr/>
            </a:pPr>
            <a:fld id="{90243F15-6DC5-4AA3-8CE8-BCF1B672ACEB}" type="slidenum">
              <a:rPr lang="en-US"/>
              <a:pPr>
                <a:defRPr/>
              </a:pPr>
              <a:t>‹#›</a:t>
            </a:fld>
            <a:endParaRPr lang="en-US" dirty="0"/>
          </a:p>
        </p:txBody>
      </p:sp>
    </p:spTree>
    <p:extLst>
      <p:ext uri="{BB962C8B-B14F-4D97-AF65-F5344CB8AC3E}">
        <p14:creationId xmlns:p14="http://schemas.microsoft.com/office/powerpoint/2010/main" val="1252699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6EBF8CA8-3AC2-09F7-1BBB-0FA6AED36F1B}"/>
              </a:ext>
            </a:extLst>
          </p:cNvPr>
          <p:cNvSpPr>
            <a:spLocks noGrp="1"/>
          </p:cNvSpPr>
          <p:nvPr>
            <p:ph type="dt" sz="half" idx="10"/>
          </p:nvPr>
        </p:nvSpPr>
        <p:spPr/>
        <p:txBody>
          <a:bodyPr/>
          <a:lstStyle>
            <a:lvl1pPr>
              <a:defRPr/>
            </a:lvl1pPr>
          </a:lstStyle>
          <a:p>
            <a:pPr>
              <a:defRPr/>
            </a:pPr>
            <a:fld id="{E067741A-6475-428B-A8E4-F77833D97E78}" type="datetime1">
              <a:rPr lang="en-US"/>
              <a:pPr>
                <a:defRPr/>
              </a:pPr>
              <a:t>12/8/2024</a:t>
            </a:fld>
            <a:endParaRPr lang="en-US" dirty="0"/>
          </a:p>
        </p:txBody>
      </p:sp>
      <p:sp>
        <p:nvSpPr>
          <p:cNvPr id="6" name="Footer Placeholder 2">
            <a:extLst>
              <a:ext uri="{FF2B5EF4-FFF2-40B4-BE49-F238E27FC236}">
                <a16:creationId xmlns:a16="http://schemas.microsoft.com/office/drawing/2014/main" id="{221316CF-09DD-77DC-96BC-31FCEFF4361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BB2491B1-A99D-3D1D-6260-33F3900E911D}"/>
              </a:ext>
            </a:extLst>
          </p:cNvPr>
          <p:cNvSpPr>
            <a:spLocks noGrp="1"/>
          </p:cNvSpPr>
          <p:nvPr>
            <p:ph type="sldNum" sz="quarter" idx="12"/>
          </p:nvPr>
        </p:nvSpPr>
        <p:spPr/>
        <p:txBody>
          <a:bodyPr/>
          <a:lstStyle>
            <a:lvl1pPr>
              <a:defRPr/>
            </a:lvl1pPr>
          </a:lstStyle>
          <a:p>
            <a:pPr>
              <a:defRPr/>
            </a:pPr>
            <a:fld id="{95E3B942-8215-4833-AC83-10CEBF624210}" type="slidenum">
              <a:rPr lang="en-US"/>
              <a:pPr>
                <a:defRPr/>
              </a:pPr>
              <a:t>‹#›</a:t>
            </a:fld>
            <a:endParaRPr lang="en-US" dirty="0"/>
          </a:p>
        </p:txBody>
      </p:sp>
    </p:spTree>
    <p:extLst>
      <p:ext uri="{BB962C8B-B14F-4D97-AF65-F5344CB8AC3E}">
        <p14:creationId xmlns:p14="http://schemas.microsoft.com/office/powerpoint/2010/main" val="521657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885919E0-21DC-087F-A752-3845402B905B}"/>
              </a:ext>
            </a:extLst>
          </p:cNvPr>
          <p:cNvSpPr>
            <a:spLocks noGrp="1"/>
          </p:cNvSpPr>
          <p:nvPr>
            <p:ph type="dt" sz="half" idx="10"/>
          </p:nvPr>
        </p:nvSpPr>
        <p:spPr/>
        <p:txBody>
          <a:bodyPr/>
          <a:lstStyle>
            <a:lvl1pPr>
              <a:defRPr/>
            </a:lvl1pPr>
          </a:lstStyle>
          <a:p>
            <a:pPr>
              <a:defRPr/>
            </a:pPr>
            <a:fld id="{2C0D66A2-F833-4D3E-BBFD-4BA89826E4C9}" type="datetime1">
              <a:rPr lang="en-US"/>
              <a:pPr>
                <a:defRPr/>
              </a:pPr>
              <a:t>12/8/2024</a:t>
            </a:fld>
            <a:endParaRPr lang="en-US" dirty="0"/>
          </a:p>
        </p:txBody>
      </p:sp>
      <p:sp>
        <p:nvSpPr>
          <p:cNvPr id="4" name="Footer Placeholder 2">
            <a:extLst>
              <a:ext uri="{FF2B5EF4-FFF2-40B4-BE49-F238E27FC236}">
                <a16:creationId xmlns:a16="http://schemas.microsoft.com/office/drawing/2014/main" id="{D5E24651-DD45-C67A-48C2-9D6BE9B3CC6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AB2859EE-C7FE-ED7F-ED32-260F9A2897CE}"/>
              </a:ext>
            </a:extLst>
          </p:cNvPr>
          <p:cNvSpPr>
            <a:spLocks noGrp="1"/>
          </p:cNvSpPr>
          <p:nvPr>
            <p:ph type="sldNum" sz="quarter" idx="12"/>
          </p:nvPr>
        </p:nvSpPr>
        <p:spPr/>
        <p:txBody>
          <a:bodyPr/>
          <a:lstStyle>
            <a:lvl1pPr>
              <a:defRPr/>
            </a:lvl1pPr>
          </a:lstStyle>
          <a:p>
            <a:pPr>
              <a:defRPr/>
            </a:pPr>
            <a:fld id="{D1EC5F62-2A84-4195-8B72-78726C500E3E}" type="slidenum">
              <a:rPr lang="en-US"/>
              <a:pPr>
                <a:defRPr/>
              </a:pPr>
              <a:t>‹#›</a:t>
            </a:fld>
            <a:endParaRPr lang="en-US" dirty="0"/>
          </a:p>
        </p:txBody>
      </p:sp>
    </p:spTree>
    <p:extLst>
      <p:ext uri="{BB962C8B-B14F-4D97-AF65-F5344CB8AC3E}">
        <p14:creationId xmlns:p14="http://schemas.microsoft.com/office/powerpoint/2010/main" val="22525265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4250D812-A68E-B72D-CCCE-F029E25007D0}"/>
              </a:ext>
            </a:extLst>
          </p:cNvPr>
          <p:cNvSpPr>
            <a:spLocks noGrp="1"/>
          </p:cNvSpPr>
          <p:nvPr>
            <p:ph type="dt" sz="half" idx="10"/>
          </p:nvPr>
        </p:nvSpPr>
        <p:spPr/>
        <p:txBody>
          <a:bodyPr/>
          <a:lstStyle>
            <a:lvl1pPr>
              <a:defRPr/>
            </a:lvl1pPr>
          </a:lstStyle>
          <a:p>
            <a:pPr>
              <a:defRPr/>
            </a:pPr>
            <a:fld id="{06DFCD9B-6A02-440D-883A-790572724131}" type="datetime1">
              <a:rPr lang="en-US"/>
              <a:pPr>
                <a:defRPr/>
              </a:pPr>
              <a:t>12/8/2024</a:t>
            </a:fld>
            <a:endParaRPr lang="en-US" dirty="0"/>
          </a:p>
        </p:txBody>
      </p:sp>
      <p:sp>
        <p:nvSpPr>
          <p:cNvPr id="3" name="Footer Placeholder 2">
            <a:extLst>
              <a:ext uri="{FF2B5EF4-FFF2-40B4-BE49-F238E27FC236}">
                <a16:creationId xmlns:a16="http://schemas.microsoft.com/office/drawing/2014/main" id="{BF8396E7-E023-25E3-AE0A-3B95D71607A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EDE1120C-A435-5F9E-0A10-5116D774BAE8}"/>
              </a:ext>
            </a:extLst>
          </p:cNvPr>
          <p:cNvSpPr>
            <a:spLocks noGrp="1"/>
          </p:cNvSpPr>
          <p:nvPr>
            <p:ph type="sldNum" sz="quarter" idx="12"/>
          </p:nvPr>
        </p:nvSpPr>
        <p:spPr/>
        <p:txBody>
          <a:bodyPr/>
          <a:lstStyle>
            <a:lvl1pPr>
              <a:defRPr/>
            </a:lvl1pPr>
          </a:lstStyle>
          <a:p>
            <a:pPr>
              <a:defRPr/>
            </a:pPr>
            <a:fld id="{A5EAE7F8-F456-46EF-98C9-E75D54E6CEE0}" type="slidenum">
              <a:rPr lang="en-US"/>
              <a:pPr>
                <a:defRPr/>
              </a:pPr>
              <a:t>‹#›</a:t>
            </a:fld>
            <a:endParaRPr lang="en-US" dirty="0"/>
          </a:p>
        </p:txBody>
      </p:sp>
    </p:spTree>
    <p:extLst>
      <p:ext uri="{BB962C8B-B14F-4D97-AF65-F5344CB8AC3E}">
        <p14:creationId xmlns:p14="http://schemas.microsoft.com/office/powerpoint/2010/main" val="25511393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A37AFF-B187-B8B9-49C4-692A9E414BB9}"/>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BEA249C2-7AA4-FBAC-CD84-B31208E12A8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CA5B1817-A2A9-3036-5219-5CC18411ECC1}"/>
              </a:ext>
            </a:extLst>
          </p:cNvPr>
          <p:cNvSpPr>
            <a:spLocks noGrp="1"/>
          </p:cNvSpPr>
          <p:nvPr>
            <p:ph type="dt" sz="half" idx="10"/>
          </p:nvPr>
        </p:nvSpPr>
        <p:spPr/>
        <p:txBody>
          <a:bodyPr/>
          <a:lstStyle>
            <a:lvl1pPr>
              <a:defRPr/>
            </a:lvl1pPr>
          </a:lstStyle>
          <a:p>
            <a:pPr>
              <a:defRPr/>
            </a:pPr>
            <a:fld id="{627C16B8-22B0-479A-B212-C924D35CBC22}" type="datetime1">
              <a:rPr lang="en-US"/>
              <a:pPr>
                <a:defRPr/>
              </a:pPr>
              <a:t>12/8/2024</a:t>
            </a:fld>
            <a:endParaRPr lang="en-US"/>
          </a:p>
        </p:txBody>
      </p:sp>
      <p:sp>
        <p:nvSpPr>
          <p:cNvPr id="7" name="Footer Placeholder 5">
            <a:extLst>
              <a:ext uri="{FF2B5EF4-FFF2-40B4-BE49-F238E27FC236}">
                <a16:creationId xmlns:a16="http://schemas.microsoft.com/office/drawing/2014/main" id="{AB4908A0-C03A-042C-F5FA-AB2DB42AE79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50B415EB-A043-C051-8198-9C2C3C85A018}"/>
              </a:ext>
            </a:extLst>
          </p:cNvPr>
          <p:cNvSpPr>
            <a:spLocks noGrp="1"/>
          </p:cNvSpPr>
          <p:nvPr>
            <p:ph type="sldNum" sz="quarter" idx="12"/>
          </p:nvPr>
        </p:nvSpPr>
        <p:spPr/>
        <p:txBody>
          <a:bodyPr/>
          <a:lstStyle>
            <a:lvl1pPr>
              <a:defRPr/>
            </a:lvl1pPr>
          </a:lstStyle>
          <a:p>
            <a:pPr>
              <a:defRPr/>
            </a:pPr>
            <a:fld id="{18499E09-BCAF-4C79-9ED7-85587F328C31}" type="slidenum">
              <a:rPr lang="en-US"/>
              <a:pPr>
                <a:defRPr/>
              </a:pPr>
              <a:t>‹#›</a:t>
            </a:fld>
            <a:endParaRPr lang="en-US"/>
          </a:p>
        </p:txBody>
      </p:sp>
    </p:spTree>
    <p:extLst>
      <p:ext uri="{BB962C8B-B14F-4D97-AF65-F5344CB8AC3E}">
        <p14:creationId xmlns:p14="http://schemas.microsoft.com/office/powerpoint/2010/main" val="37180728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9AC405-2C75-A219-0834-108F13DAB45C}"/>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BC3D419-2231-EEF1-CEB7-0EE523B48EB9}"/>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064155D-D463-FCBF-1733-09AFB952B7F7}"/>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85591B9E-C084-D7AF-CC45-0BC62473DA65}"/>
              </a:ext>
            </a:extLst>
          </p:cNvPr>
          <p:cNvSpPr>
            <a:spLocks noGrp="1"/>
          </p:cNvSpPr>
          <p:nvPr>
            <p:ph type="dt" sz="half" idx="10"/>
          </p:nvPr>
        </p:nvSpPr>
        <p:spPr/>
        <p:txBody>
          <a:bodyPr/>
          <a:lstStyle>
            <a:lvl1pPr>
              <a:defRPr/>
            </a:lvl1pPr>
          </a:lstStyle>
          <a:p>
            <a:pPr>
              <a:defRPr/>
            </a:pPr>
            <a:fld id="{A9439A8E-E74E-4073-A72F-B411CA495669}" type="datetime1">
              <a:rPr lang="en-US"/>
              <a:pPr>
                <a:defRPr/>
              </a:pPr>
              <a:t>12/8/2024</a:t>
            </a:fld>
            <a:endParaRPr lang="en-US"/>
          </a:p>
        </p:txBody>
      </p:sp>
      <p:sp>
        <p:nvSpPr>
          <p:cNvPr id="9" name="Footer Placeholder 5">
            <a:extLst>
              <a:ext uri="{FF2B5EF4-FFF2-40B4-BE49-F238E27FC236}">
                <a16:creationId xmlns:a16="http://schemas.microsoft.com/office/drawing/2014/main" id="{0E8B5B52-C901-9CDC-908D-5320492CB6DD}"/>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596CD343-8346-E066-8958-650AD84E89AB}"/>
              </a:ext>
            </a:extLst>
          </p:cNvPr>
          <p:cNvSpPr>
            <a:spLocks noGrp="1"/>
          </p:cNvSpPr>
          <p:nvPr>
            <p:ph type="sldNum" sz="quarter" idx="12"/>
          </p:nvPr>
        </p:nvSpPr>
        <p:spPr>
          <a:xfrm>
            <a:off x="146050" y="6208713"/>
            <a:ext cx="457200" cy="457200"/>
          </a:xfrm>
        </p:spPr>
        <p:txBody>
          <a:bodyPr/>
          <a:lstStyle>
            <a:lvl1pPr>
              <a:defRPr/>
            </a:lvl1pPr>
          </a:lstStyle>
          <a:p>
            <a:pPr>
              <a:defRPr/>
            </a:pPr>
            <a:fld id="{E0E47019-EA52-4855-A446-C270BFC7F95E}" type="slidenum">
              <a:rPr lang="en-US"/>
              <a:pPr>
                <a:defRPr/>
              </a:pPr>
              <a:t>‹#›</a:t>
            </a:fld>
            <a:endParaRPr lang="en-US" dirty="0"/>
          </a:p>
        </p:txBody>
      </p:sp>
    </p:spTree>
    <p:extLst>
      <p:ext uri="{BB962C8B-B14F-4D97-AF65-F5344CB8AC3E}">
        <p14:creationId xmlns:p14="http://schemas.microsoft.com/office/powerpoint/2010/main" val="733068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216D75B-E7B6-7280-37DB-BF4B47BB0C6D}"/>
              </a:ext>
            </a:extLst>
          </p:cNvPr>
          <p:cNvSpPr>
            <a:spLocks noGrp="1"/>
          </p:cNvSpPr>
          <p:nvPr>
            <p:ph type="dt" sz="half" idx="10"/>
          </p:nvPr>
        </p:nvSpPr>
        <p:spPr/>
        <p:txBody>
          <a:bodyPr/>
          <a:lstStyle>
            <a:lvl1pPr>
              <a:defRPr/>
            </a:lvl1pPr>
          </a:lstStyle>
          <a:p>
            <a:pPr>
              <a:defRPr/>
            </a:pPr>
            <a:fld id="{869FE76C-FF8F-43AF-BD8C-E192B2C2B4EE}" type="datetime1">
              <a:rPr lang="en-US"/>
              <a:pPr>
                <a:defRPr/>
              </a:pPr>
              <a:t>12/8/2024</a:t>
            </a:fld>
            <a:endParaRPr lang="en-US" dirty="0"/>
          </a:p>
        </p:txBody>
      </p:sp>
      <p:sp>
        <p:nvSpPr>
          <p:cNvPr id="5" name="Footer Placeholder 2">
            <a:extLst>
              <a:ext uri="{FF2B5EF4-FFF2-40B4-BE49-F238E27FC236}">
                <a16:creationId xmlns:a16="http://schemas.microsoft.com/office/drawing/2014/main" id="{4E144CE4-E7C5-0F00-67B8-690C439CE51A}"/>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73889489-04F5-935E-D643-BFB345CBAF54}"/>
              </a:ext>
            </a:extLst>
          </p:cNvPr>
          <p:cNvSpPr>
            <a:spLocks noGrp="1"/>
          </p:cNvSpPr>
          <p:nvPr>
            <p:ph type="sldNum" sz="quarter" idx="12"/>
          </p:nvPr>
        </p:nvSpPr>
        <p:spPr/>
        <p:txBody>
          <a:bodyPr/>
          <a:lstStyle>
            <a:lvl1pPr>
              <a:defRPr/>
            </a:lvl1pPr>
          </a:lstStyle>
          <a:p>
            <a:pPr>
              <a:defRPr/>
            </a:pPr>
            <a:fld id="{445BA751-F2BD-4C20-90CF-2539005ABB34}" type="slidenum">
              <a:rPr lang="en-US"/>
              <a:pPr>
                <a:defRPr/>
              </a:pPr>
              <a:t>‹#›</a:t>
            </a:fld>
            <a:endParaRPr lang="en-US" dirty="0"/>
          </a:p>
        </p:txBody>
      </p:sp>
    </p:spTree>
    <p:extLst>
      <p:ext uri="{BB962C8B-B14F-4D97-AF65-F5344CB8AC3E}">
        <p14:creationId xmlns:p14="http://schemas.microsoft.com/office/powerpoint/2010/main" val="190421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F01D196A-0A33-B379-3A18-9C00F90A647E}"/>
              </a:ext>
            </a:extLst>
          </p:cNvPr>
          <p:cNvSpPr>
            <a:spLocks noGrp="1"/>
          </p:cNvSpPr>
          <p:nvPr>
            <p:ph type="dt" sz="half" idx="10"/>
          </p:nvPr>
        </p:nvSpPr>
        <p:spPr/>
        <p:txBody>
          <a:bodyPr/>
          <a:lstStyle>
            <a:lvl1pPr>
              <a:defRPr/>
            </a:lvl1pPr>
          </a:lstStyle>
          <a:p>
            <a:pPr>
              <a:defRPr/>
            </a:pPr>
            <a:fld id="{E2AF3674-77A2-4FBC-A50E-EDF0D2B59C76}" type="datetime1">
              <a:rPr lang="en-US"/>
              <a:pPr>
                <a:defRPr/>
              </a:pPr>
              <a:t>12/8/2024</a:t>
            </a:fld>
            <a:endParaRPr lang="en-US" dirty="0"/>
          </a:p>
        </p:txBody>
      </p:sp>
      <p:sp>
        <p:nvSpPr>
          <p:cNvPr id="5" name="Footer Placeholder 2">
            <a:extLst>
              <a:ext uri="{FF2B5EF4-FFF2-40B4-BE49-F238E27FC236}">
                <a16:creationId xmlns:a16="http://schemas.microsoft.com/office/drawing/2014/main" id="{3D58D851-CE57-B65F-03BE-4563F617529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1F8DA9E-89F2-D90B-44D9-A9A06A7C0FC8}"/>
              </a:ext>
            </a:extLst>
          </p:cNvPr>
          <p:cNvSpPr>
            <a:spLocks noGrp="1"/>
          </p:cNvSpPr>
          <p:nvPr>
            <p:ph type="sldNum" sz="quarter" idx="12"/>
          </p:nvPr>
        </p:nvSpPr>
        <p:spPr/>
        <p:txBody>
          <a:bodyPr/>
          <a:lstStyle>
            <a:lvl1pPr>
              <a:defRPr/>
            </a:lvl1pPr>
          </a:lstStyle>
          <a:p>
            <a:pPr>
              <a:defRPr/>
            </a:pPr>
            <a:fld id="{D298D8AC-5990-4364-BE6A-AB6FF07654B6}" type="slidenum">
              <a:rPr lang="en-US"/>
              <a:pPr>
                <a:defRPr/>
              </a:pPr>
              <a:t>‹#›</a:t>
            </a:fld>
            <a:endParaRPr lang="en-US" dirty="0"/>
          </a:p>
        </p:txBody>
      </p:sp>
    </p:spTree>
    <p:extLst>
      <p:ext uri="{BB962C8B-B14F-4D97-AF65-F5344CB8AC3E}">
        <p14:creationId xmlns:p14="http://schemas.microsoft.com/office/powerpoint/2010/main" val="41295184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C0916A30-B4DB-6572-32E5-123305D25E17}"/>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364030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4CB57E6-87B4-74A9-137F-5F12DF71E755}"/>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A16DE888-126D-071B-82B6-2A243C19744B}"/>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CADE06B7-6C5A-11D1-FD44-A55602249580}"/>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552BE453-FB8D-30DB-1B35-84154F60D668}"/>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p>
        </p:txBody>
      </p:sp>
      <p:sp>
        <p:nvSpPr>
          <p:cNvPr id="1030" name="Rectangle 10">
            <a:extLst>
              <a:ext uri="{FF2B5EF4-FFF2-40B4-BE49-F238E27FC236}">
                <a16:creationId xmlns:a16="http://schemas.microsoft.com/office/drawing/2014/main" id="{6B27C8FA-B7F3-2888-2BAA-C54EE721D655}"/>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p>
        </p:txBody>
      </p:sp>
      <p:sp>
        <p:nvSpPr>
          <p:cNvPr id="1031" name="Text Box 11">
            <a:extLst>
              <a:ext uri="{FF2B5EF4-FFF2-40B4-BE49-F238E27FC236}">
                <a16:creationId xmlns:a16="http://schemas.microsoft.com/office/drawing/2014/main" id="{2EDFFCD3-D69A-BFE0-1F52-0C13ED139C07}"/>
              </a:ext>
            </a:extLst>
          </p:cNvPr>
          <p:cNvSpPr txBox="1">
            <a:spLocks noChangeArrowheads="1"/>
          </p:cNvSpPr>
          <p:nvPr userDrawn="1"/>
        </p:nvSpPr>
        <p:spPr bwMode="auto">
          <a:xfrm>
            <a:off x="-36513" y="6583363"/>
            <a:ext cx="5905501"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DE" sz="1000">
                <a:solidFill>
                  <a:schemeClr val="bg1"/>
                </a:solidFill>
                <a:cs typeface="Arial" pitchFamily="34" charset="0"/>
              </a:rPr>
              <a:t>© 2009</a:t>
            </a:r>
            <a:r>
              <a:rPr lang="de-DE" sz="1000">
                <a:solidFill>
                  <a:srgbClr val="FFFF00"/>
                </a:solidFill>
                <a:cs typeface="Arial" pitchFamily="34" charset="0"/>
              </a:rPr>
              <a:t>   Punjab University College of Information Technology (PUCIT) </a:t>
            </a:r>
            <a:endParaRPr lang="de-DE" sz="1000">
              <a:solidFill>
                <a:srgbClr val="FFFF00"/>
              </a:solidFill>
            </a:endParaRPr>
          </a:p>
        </p:txBody>
      </p:sp>
      <p:sp>
        <p:nvSpPr>
          <p:cNvPr id="1032" name="Text Box 13">
            <a:extLst>
              <a:ext uri="{FF2B5EF4-FFF2-40B4-BE49-F238E27FC236}">
                <a16:creationId xmlns:a16="http://schemas.microsoft.com/office/drawing/2014/main" id="{B63A7710-8F5D-9B58-B690-2EAE84F93531}"/>
              </a:ext>
            </a:extLst>
          </p:cNvPr>
          <p:cNvSpPr txBox="1">
            <a:spLocks noChangeArrowheads="1"/>
          </p:cNvSpPr>
          <p:nvPr userDrawn="1"/>
        </p:nvSpPr>
        <p:spPr bwMode="auto">
          <a:xfrm>
            <a:off x="3924300" y="6583363"/>
            <a:ext cx="1655763"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AT" sz="1000">
                <a:solidFill>
                  <a:srgbClr val="0000CC"/>
                </a:solidFill>
              </a:rPr>
              <a:t>       </a:t>
            </a:r>
            <a:r>
              <a:rPr lang="de-AT" sz="1000"/>
              <a:t>September 8, 2009</a:t>
            </a:r>
          </a:p>
        </p:txBody>
      </p:sp>
      <p:sp>
        <p:nvSpPr>
          <p:cNvPr id="1033" name="Rectangle 12">
            <a:extLst>
              <a:ext uri="{FF2B5EF4-FFF2-40B4-BE49-F238E27FC236}">
                <a16:creationId xmlns:a16="http://schemas.microsoft.com/office/drawing/2014/main" id="{76F694C1-9165-8B54-4D54-0550DB45AFD9}"/>
              </a:ext>
            </a:extLst>
          </p:cNvPr>
          <p:cNvSpPr>
            <a:spLocks noChangeArrowheads="1"/>
          </p:cNvSpPr>
          <p:nvPr userDrawn="1"/>
        </p:nvSpPr>
        <p:spPr bwMode="auto">
          <a:xfrm>
            <a:off x="7596188" y="6640513"/>
            <a:ext cx="1905000" cy="215900"/>
          </a:xfrm>
          <a:prstGeom prst="rect">
            <a:avLst/>
          </a:prstGeom>
          <a:noFill/>
          <a:ln>
            <a:noFill/>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t>Slide </a:t>
            </a:r>
            <a:fld id="{868B5F98-730E-4A83-9BE0-731E75DD7FDE}" type="slidenum">
              <a:rPr lang="de-DE" altLang="en-US" sz="1000" smtClean="0"/>
              <a:pPr algn="ctr" eaLnBrk="1" hangingPunct="1">
                <a:defRPr/>
              </a:pPr>
              <a:t>‹#›</a:t>
            </a:fld>
            <a:endParaRPr lang="de-DE" altLang="en-US" sz="10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9325AD-63AC-7191-3EA4-502BB93C6616}"/>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134A59EF-318D-F794-085F-76DDB08FF809}"/>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92180755-DED9-5C5E-3E74-58D9AB09F394}"/>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ACEEDB54-C0EC-E656-65BA-77A3B3137C70}"/>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C30A4B39-D45E-6E87-AB9B-C3D136C9182D}"/>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99F46A9E-D93A-4070-8EC6-4ADC3D98B195}" type="datetime1">
              <a:rPr lang="en-US"/>
              <a:pPr>
                <a:defRPr/>
              </a:pPr>
              <a:t>12/8/2024</a:t>
            </a:fld>
            <a:endParaRPr lang="en-US" dirty="0"/>
          </a:p>
        </p:txBody>
      </p:sp>
      <p:sp>
        <p:nvSpPr>
          <p:cNvPr id="3" name="Footer Placeholder 2">
            <a:extLst>
              <a:ext uri="{FF2B5EF4-FFF2-40B4-BE49-F238E27FC236}">
                <a16:creationId xmlns:a16="http://schemas.microsoft.com/office/drawing/2014/main" id="{10E22853-FCCC-34E7-6A1B-4DBAEBA4AED0}"/>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401B6903-5E70-8998-5728-5AE139D7032B}"/>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A6BAC30-25F7-4B4D-96C6-5B82F2D855D3}" type="slidenum">
              <a:rPr lang="en-US"/>
              <a:pPr>
                <a:defRPr/>
              </a:pPr>
              <a:t>‹#›</a:t>
            </a:fld>
            <a:endParaRPr lang="en-US" dirty="0"/>
          </a:p>
        </p:txBody>
      </p:sp>
    </p:spTree>
    <p:extLst>
      <p:ext uri="{BB962C8B-B14F-4D97-AF65-F5344CB8AC3E}">
        <p14:creationId xmlns:p14="http://schemas.microsoft.com/office/powerpoint/2010/main" val="43598776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B4077CA-DCEC-6510-FD3C-D66674FB181C}"/>
              </a:ext>
            </a:extLst>
          </p:cNvPr>
          <p:cNvSpPr>
            <a:spLocks noGrp="1" noChangeArrowheads="1"/>
          </p:cNvSpPr>
          <p:nvPr>
            <p:ph type="ctrTitle"/>
          </p:nvPr>
        </p:nvSpPr>
        <p:spPr>
          <a:xfrm>
            <a:off x="790575" y="1557338"/>
            <a:ext cx="7669213" cy="2087562"/>
          </a:xfrm>
          <a:solidFill>
            <a:srgbClr val="FFFFCC">
              <a:alpha val="20000"/>
            </a:srgbClr>
          </a:solidFill>
          <a:ln w="38100">
            <a:solidFill>
              <a:srgbClr val="800000"/>
            </a:solidFill>
            <a:miter lim="800000"/>
            <a:headEnd/>
            <a:tailEnd/>
          </a:ln>
        </p:spPr>
        <p:txBody>
          <a:bodyPr/>
          <a:lstStyle/>
          <a:p>
            <a:pPr algn="ctr" eaLnBrk="1" hangingPunct="1"/>
            <a:r>
              <a:rPr lang="en-US" altLang="en-US" u="sng">
                <a:solidFill>
                  <a:srgbClr val="800000"/>
                </a:solidFill>
              </a:rPr>
              <a:t> (SQL) </a:t>
            </a:r>
            <a:br>
              <a:rPr lang="en-US" altLang="en-US" u="sng">
                <a:solidFill>
                  <a:srgbClr val="800000"/>
                </a:solidFill>
              </a:rPr>
            </a:br>
            <a:r>
              <a:rPr lang="en-US" altLang="en-US">
                <a:solidFill>
                  <a:schemeClr val="accent2"/>
                </a:solidFill>
              </a:rPr>
              <a:t>Other Database Objects</a:t>
            </a:r>
            <a:endParaRPr lang="de-AT" altLang="en-US">
              <a:solidFill>
                <a:schemeClr val="accent2"/>
              </a:solidFill>
            </a:endParaRPr>
          </a:p>
        </p:txBody>
      </p:sp>
      <p:pic>
        <p:nvPicPr>
          <p:cNvPr id="4100" name="Picture 9">
            <a:extLst>
              <a:ext uri="{FF2B5EF4-FFF2-40B4-BE49-F238E27FC236}">
                <a16:creationId xmlns:a16="http://schemas.microsoft.com/office/drawing/2014/main" id="{EF8FA182-6257-6E50-65F4-0749C8EE7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1">
            <a:extLst>
              <a:ext uri="{FF2B5EF4-FFF2-40B4-BE49-F238E27FC236}">
                <a16:creationId xmlns:a16="http://schemas.microsoft.com/office/drawing/2014/main" id="{081E61AA-2D18-61AF-031E-C71F0584DD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87CB252-1A89-D35B-894E-244FE8221B97}"/>
              </a:ext>
            </a:extLst>
          </p:cNvPr>
          <p:cNvSpPr txBox="1">
            <a:spLocks noChangeArrowheads="1"/>
          </p:cNvSpPr>
          <p:nvPr/>
        </p:nvSpPr>
        <p:spPr bwMode="auto">
          <a:xfrm>
            <a:off x="790575" y="3860899"/>
            <a:ext cx="7669213" cy="1584325"/>
          </a:xfrm>
          <a:prstGeom prst="rect">
            <a:avLst/>
          </a:prstGeom>
          <a:solidFill>
            <a:srgbClr val="FFFFCC">
              <a:alpha val="20000"/>
            </a:srgbClr>
          </a:solidFill>
          <a:ln w="38100" cap="flat" algn="ctr">
            <a:solidFill>
              <a:srgbClr val="800000"/>
            </a:solidFill>
            <a:miter lim="800000"/>
            <a:headEnd/>
            <a:tailEnd/>
          </a:ln>
        </p:spPr>
        <p:txBody>
          <a:bodyPr anchor="ctr"/>
          <a:lstStyle>
            <a:lvl1pPr marL="0" indent="0" algn="ctr" rtl="0" eaLnBrk="0" fontAlgn="base" hangingPunct="0">
              <a:spcBef>
                <a:spcPct val="20000"/>
              </a:spcBef>
              <a:spcAft>
                <a:spcPct val="0"/>
              </a:spcAft>
              <a:buNone/>
              <a:defRPr sz="2800">
                <a:solidFill>
                  <a:schemeClr val="tx1"/>
                </a:solidFill>
                <a:latin typeface="+mn-lt"/>
                <a:ea typeface="+mn-ea"/>
                <a:cs typeface="+mn-cs"/>
              </a:defRPr>
            </a:lvl1pPr>
            <a:lvl2pPr marL="457200" indent="0" algn="ctr" rtl="0" eaLnBrk="0" fontAlgn="base" hangingPunct="0">
              <a:spcBef>
                <a:spcPct val="20000"/>
              </a:spcBef>
              <a:spcAft>
                <a:spcPct val="0"/>
              </a:spcAft>
              <a:buNone/>
              <a:defRPr sz="2400">
                <a:solidFill>
                  <a:schemeClr val="tx1"/>
                </a:solidFill>
                <a:latin typeface="+mn-lt"/>
              </a:defRPr>
            </a:lvl2pPr>
            <a:lvl3pPr marL="914400" indent="0" algn="ctr" rtl="0" eaLnBrk="0" fontAlgn="base" hangingPunct="0">
              <a:spcBef>
                <a:spcPct val="20000"/>
              </a:spcBef>
              <a:spcAft>
                <a:spcPct val="0"/>
              </a:spcAft>
              <a:buNone/>
              <a:defRPr sz="20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a:solidFill>
                  <a:schemeClr val="tx1"/>
                </a:solidFill>
                <a:latin typeface="+mn-lt"/>
              </a:defRPr>
            </a:lvl6pPr>
            <a:lvl7pPr marL="2743200" indent="0" algn="ctr" rtl="0" fontAlgn="base">
              <a:spcBef>
                <a:spcPct val="20000"/>
              </a:spcBef>
              <a:spcAft>
                <a:spcPct val="0"/>
              </a:spcAft>
              <a:buNone/>
              <a:defRPr>
                <a:solidFill>
                  <a:schemeClr val="tx1"/>
                </a:solidFill>
                <a:latin typeface="+mn-lt"/>
              </a:defRPr>
            </a:lvl7pPr>
            <a:lvl8pPr marL="3200400" indent="0" algn="ctr" rtl="0" fontAlgn="base">
              <a:spcBef>
                <a:spcPct val="20000"/>
              </a:spcBef>
              <a:spcAft>
                <a:spcPct val="0"/>
              </a:spcAft>
              <a:buNone/>
              <a:defRPr>
                <a:solidFill>
                  <a:schemeClr val="tx1"/>
                </a:solidFill>
                <a:latin typeface="+mn-lt"/>
              </a:defRPr>
            </a:lvl8pPr>
            <a:lvl9pPr marL="3657600" indent="0" algn="ctr" rtl="0" fontAlgn="base">
              <a:spcBef>
                <a:spcPct val="20000"/>
              </a:spcBef>
              <a:spcAft>
                <a:spcPct val="0"/>
              </a:spcAft>
              <a:buNone/>
              <a:defRPr>
                <a:solidFill>
                  <a:schemeClr val="tx1"/>
                </a:solidFill>
                <a:latin typeface="+mn-lt"/>
              </a:defRPr>
            </a:lvl9pPr>
          </a:lstStyle>
          <a:p>
            <a:pPr eaLnBrk="1" hangingPunct="1">
              <a:lnSpc>
                <a:spcPct val="80000"/>
              </a:lnSpc>
              <a:spcBef>
                <a:spcPct val="0"/>
              </a:spcBef>
              <a:defRPr/>
            </a:pPr>
            <a:endParaRPr lang="en-US" altLang="en-US" sz="2400" b="1" kern="0" dirty="0">
              <a:solidFill>
                <a:schemeClr val="accent2"/>
              </a:solidFill>
            </a:endParaRPr>
          </a:p>
          <a:p>
            <a:pPr eaLnBrk="1" hangingPunct="1">
              <a:lnSpc>
                <a:spcPct val="80000"/>
              </a:lnSpc>
              <a:spcBef>
                <a:spcPct val="0"/>
              </a:spcBef>
              <a:defRPr/>
            </a:pPr>
            <a:r>
              <a:rPr lang="en-US" altLang="en-US" sz="3200" kern="0" dirty="0">
                <a:solidFill>
                  <a:srgbClr val="800000"/>
                </a:solidFill>
              </a:rPr>
              <a:t>Dr. Asif Sohail</a:t>
            </a:r>
            <a:r>
              <a:rPr lang="en-US" altLang="en-US" sz="3200" kern="0" dirty="0">
                <a:solidFill>
                  <a:schemeClr val="folHlink"/>
                </a:solidFill>
              </a:rPr>
              <a:t> </a:t>
            </a:r>
            <a:br>
              <a:rPr lang="en-US" altLang="en-US" sz="3200" b="1" kern="0" dirty="0">
                <a:solidFill>
                  <a:schemeClr val="folHlink"/>
                </a:solidFill>
              </a:rPr>
            </a:br>
            <a:br>
              <a:rPr lang="en-US" altLang="en-US" sz="3200" b="1" kern="0" dirty="0"/>
            </a:br>
            <a:r>
              <a:rPr lang="en-US" altLang="en-US" sz="1800" b="1" kern="0" dirty="0"/>
              <a:t>University of the Punjab</a:t>
            </a:r>
          </a:p>
          <a:p>
            <a:pPr eaLnBrk="1" hangingPunct="1">
              <a:lnSpc>
                <a:spcPct val="80000"/>
              </a:lnSpc>
              <a:spcBef>
                <a:spcPct val="0"/>
              </a:spcBef>
              <a:defRPr/>
            </a:pPr>
            <a:r>
              <a:rPr lang="en-US" altLang="en-US" sz="1800" b="1" kern="0" dirty="0">
                <a:solidFill>
                  <a:schemeClr val="accent2"/>
                </a:solidFill>
              </a:rPr>
              <a:t>Department of Information Technology, FCIT</a:t>
            </a:r>
            <a:endParaRPr lang="de-AT" altLang="en-US" sz="1800" b="1" kern="0"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647C84-E0A3-519E-4324-ECABE8024D68}"/>
              </a:ext>
            </a:extLst>
          </p:cNvPr>
          <p:cNvSpPr>
            <a:spLocks noGrp="1" noChangeArrowheads="1"/>
          </p:cNvSpPr>
          <p:nvPr>
            <p:ph type="title"/>
          </p:nvPr>
        </p:nvSpPr>
        <p:spPr>
          <a:xfrm>
            <a:off x="323850" y="620713"/>
            <a:ext cx="2122488" cy="536575"/>
          </a:xfrm>
          <a:noFill/>
        </p:spPr>
        <p:txBody>
          <a:bodyPr lIns="92075" tIns="46038" rIns="92075" bIns="46038" anchor="t"/>
          <a:lstStyle/>
          <a:p>
            <a:r>
              <a:rPr lang="en-US" altLang="en-US" sz="2800">
                <a:solidFill>
                  <a:srgbClr val="800000"/>
                </a:solidFill>
              </a:rPr>
              <a:t>Objectives</a:t>
            </a:r>
          </a:p>
        </p:txBody>
      </p:sp>
      <p:sp>
        <p:nvSpPr>
          <p:cNvPr id="6147" name="Rectangle 3">
            <a:extLst>
              <a:ext uri="{FF2B5EF4-FFF2-40B4-BE49-F238E27FC236}">
                <a16:creationId xmlns:a16="http://schemas.microsoft.com/office/drawing/2014/main" id="{A46C2965-67A0-3647-1880-71BB9C7205DC}"/>
              </a:ext>
            </a:extLst>
          </p:cNvPr>
          <p:cNvSpPr>
            <a:spLocks noGrp="1" noChangeArrowheads="1"/>
          </p:cNvSpPr>
          <p:nvPr>
            <p:ph type="body" idx="1"/>
          </p:nvPr>
        </p:nvSpPr>
        <p:spPr>
          <a:xfrm>
            <a:off x="860425" y="1795463"/>
            <a:ext cx="7385050" cy="2698750"/>
          </a:xfrm>
          <a:noFill/>
        </p:spPr>
        <p:txBody>
          <a:bodyPr lIns="92075" tIns="46038" rIns="92075" bIns="46038">
            <a:spAutoFit/>
          </a:bodyPr>
          <a:lstStyle/>
          <a:p>
            <a:r>
              <a:rPr lang="en-US" altLang="en-US"/>
              <a:t>After completing this lesson, you should be able to do the following:</a:t>
            </a:r>
          </a:p>
          <a:p>
            <a:pPr lvl="1"/>
            <a:r>
              <a:rPr lang="en-US" altLang="en-US"/>
              <a:t>Describe some database objects and their uses</a:t>
            </a:r>
          </a:p>
          <a:p>
            <a:pPr lvl="1"/>
            <a:r>
              <a:rPr lang="en-US" altLang="en-US"/>
              <a:t>Create, maintain, and use sequences</a:t>
            </a:r>
          </a:p>
          <a:p>
            <a:pPr lvl="1"/>
            <a:r>
              <a:rPr lang="en-US" altLang="en-US"/>
              <a:t>Create and maintain indexes</a:t>
            </a:r>
          </a:p>
          <a:p>
            <a:pPr lvl="1"/>
            <a:r>
              <a:rPr lang="en-US" altLang="en-US"/>
              <a:t>Create private and public synonyms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28195D3-26B7-1411-52C6-F50A3A3DF991}"/>
              </a:ext>
            </a:extLst>
          </p:cNvPr>
          <p:cNvSpPr>
            <a:spLocks noChangeArrowheads="1"/>
          </p:cNvSpPr>
          <p:nvPr/>
        </p:nvSpPr>
        <p:spPr bwMode="blackWhite">
          <a:xfrm>
            <a:off x="2811463" y="1619250"/>
            <a:ext cx="5307012" cy="3609975"/>
          </a:xfrm>
          <a:prstGeom prst="rect">
            <a:avLst/>
          </a:prstGeom>
          <a:solidFill>
            <a:srgbClr val="FFCC99"/>
          </a:solidFill>
          <a:ln w="50800">
            <a:solidFill>
              <a:srgbClr val="000000"/>
            </a:solidFill>
            <a:miter lim="800000"/>
            <a:headEnd/>
            <a:tailEnd/>
          </a:ln>
        </p:spPr>
        <p:txBody>
          <a:bodyPr lIns="92075" tIns="46038" rIns="92075" bIns="46038">
            <a:spAutoFit/>
          </a:bodyPr>
          <a:lstStyle>
            <a:lvl1pPr marL="1143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endParaRPr lang="en-US" altLang="en-US" sz="1800" b="1">
              <a:solidFill>
                <a:srgbClr val="000000"/>
              </a:solidFill>
            </a:endParaRPr>
          </a:p>
          <a:p>
            <a:pPr>
              <a:lnSpc>
                <a:spcPct val="120000"/>
              </a:lnSpc>
              <a:spcBef>
                <a:spcPct val="60000"/>
              </a:spcBef>
              <a:buFontTx/>
              <a:buNone/>
            </a:pPr>
            <a:br>
              <a:rPr lang="en-US" altLang="en-US" sz="1800" b="1">
                <a:solidFill>
                  <a:srgbClr val="000000"/>
                </a:solidFill>
              </a:rPr>
            </a:br>
            <a:endParaRPr lang="en-US" altLang="en-US" sz="1800" b="1">
              <a:solidFill>
                <a:srgbClr val="000000"/>
              </a:solidFill>
            </a:endParaRPr>
          </a:p>
          <a:p>
            <a:pPr>
              <a:lnSpc>
                <a:spcPct val="120000"/>
              </a:lnSpc>
              <a:spcBef>
                <a:spcPct val="60000"/>
              </a:spcBef>
              <a:buFontTx/>
              <a:buNone/>
            </a:pPr>
            <a:br>
              <a:rPr lang="en-US" altLang="en-US" sz="1800" b="1">
                <a:solidFill>
                  <a:srgbClr val="000000"/>
                </a:solidFill>
              </a:rPr>
            </a:br>
            <a:endParaRPr lang="en-US" altLang="en-US" sz="1800" b="1">
              <a:solidFill>
                <a:srgbClr val="000000"/>
              </a:solidFill>
            </a:endParaRPr>
          </a:p>
          <a:p>
            <a:pPr>
              <a:lnSpc>
                <a:spcPct val="120000"/>
              </a:lnSpc>
              <a:spcBef>
                <a:spcPct val="60000"/>
              </a:spcBef>
              <a:buFontTx/>
              <a:buNone/>
            </a:pPr>
            <a:endParaRPr lang="en-US" altLang="en-US" sz="1800" b="1">
              <a:solidFill>
                <a:srgbClr val="000000"/>
              </a:solidFill>
            </a:endParaRPr>
          </a:p>
          <a:p>
            <a:pPr>
              <a:lnSpc>
                <a:spcPct val="120000"/>
              </a:lnSpc>
              <a:spcBef>
                <a:spcPct val="60000"/>
              </a:spcBef>
              <a:buFontTx/>
              <a:buNone/>
            </a:pPr>
            <a:endParaRPr lang="en-US" altLang="en-US" sz="1800" b="1">
              <a:solidFill>
                <a:srgbClr val="000000"/>
              </a:solidFill>
            </a:endParaRPr>
          </a:p>
          <a:p>
            <a:pPr>
              <a:lnSpc>
                <a:spcPct val="120000"/>
              </a:lnSpc>
              <a:spcBef>
                <a:spcPct val="60000"/>
              </a:spcBef>
              <a:buFontTx/>
              <a:buNone/>
            </a:pPr>
            <a:endParaRPr lang="en-US" altLang="en-US" sz="1800" b="1">
              <a:solidFill>
                <a:srgbClr val="000000"/>
              </a:solidFill>
            </a:endParaRPr>
          </a:p>
        </p:txBody>
      </p:sp>
      <p:sp>
        <p:nvSpPr>
          <p:cNvPr id="8195" name="Rectangle 3">
            <a:extLst>
              <a:ext uri="{FF2B5EF4-FFF2-40B4-BE49-F238E27FC236}">
                <a16:creationId xmlns:a16="http://schemas.microsoft.com/office/drawing/2014/main" id="{7AE5B1BF-7B71-1FA4-9CA6-02208EC7330C}"/>
              </a:ext>
            </a:extLst>
          </p:cNvPr>
          <p:cNvSpPr>
            <a:spLocks noChangeArrowheads="1"/>
          </p:cNvSpPr>
          <p:nvPr/>
        </p:nvSpPr>
        <p:spPr bwMode="blackWhite">
          <a:xfrm>
            <a:off x="1101725" y="1619250"/>
            <a:ext cx="1819275" cy="3609975"/>
          </a:xfrm>
          <a:prstGeom prst="rect">
            <a:avLst/>
          </a:prstGeom>
          <a:solidFill>
            <a:srgbClr val="FFCC99"/>
          </a:solidFill>
          <a:ln w="50800">
            <a:solidFill>
              <a:srgbClr val="000000"/>
            </a:solidFill>
            <a:miter lim="800000"/>
            <a:headEnd/>
            <a:tailEnd/>
          </a:ln>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endParaRPr lang="en-US" altLang="en-US" sz="1800" b="1">
              <a:solidFill>
                <a:srgbClr val="000000"/>
              </a:solidFill>
            </a:endParaRPr>
          </a:p>
          <a:p>
            <a:pPr>
              <a:lnSpc>
                <a:spcPct val="120000"/>
              </a:lnSpc>
              <a:spcBef>
                <a:spcPct val="60000"/>
              </a:spcBef>
              <a:buFontTx/>
              <a:buNone/>
            </a:pPr>
            <a:br>
              <a:rPr lang="en-US" altLang="en-US" sz="1800" b="1">
                <a:solidFill>
                  <a:srgbClr val="000000"/>
                </a:solidFill>
              </a:rPr>
            </a:br>
            <a:endParaRPr lang="en-US" altLang="en-US" sz="1800" b="1">
              <a:solidFill>
                <a:srgbClr val="000000"/>
              </a:solidFill>
            </a:endParaRPr>
          </a:p>
          <a:p>
            <a:pPr>
              <a:lnSpc>
                <a:spcPct val="120000"/>
              </a:lnSpc>
              <a:spcBef>
                <a:spcPct val="60000"/>
              </a:spcBef>
              <a:buFontTx/>
              <a:buNone/>
            </a:pPr>
            <a:br>
              <a:rPr lang="en-US" altLang="en-US" sz="1800" b="1">
                <a:solidFill>
                  <a:srgbClr val="000000"/>
                </a:solidFill>
              </a:rPr>
            </a:br>
            <a:endParaRPr lang="en-US" altLang="en-US" sz="1800" b="1">
              <a:solidFill>
                <a:srgbClr val="000000"/>
              </a:solidFill>
            </a:endParaRPr>
          </a:p>
          <a:p>
            <a:pPr>
              <a:lnSpc>
                <a:spcPct val="120000"/>
              </a:lnSpc>
              <a:spcBef>
                <a:spcPct val="60000"/>
              </a:spcBef>
              <a:buFontTx/>
              <a:buNone/>
            </a:pPr>
            <a:endParaRPr lang="en-US" altLang="en-US" sz="1800" b="1">
              <a:solidFill>
                <a:srgbClr val="000000"/>
              </a:solidFill>
            </a:endParaRPr>
          </a:p>
          <a:p>
            <a:pPr>
              <a:lnSpc>
                <a:spcPct val="120000"/>
              </a:lnSpc>
              <a:spcBef>
                <a:spcPct val="60000"/>
              </a:spcBef>
              <a:buFontTx/>
              <a:buNone/>
            </a:pPr>
            <a:endParaRPr lang="en-US" altLang="en-US" sz="1800" b="1">
              <a:solidFill>
                <a:srgbClr val="000000"/>
              </a:solidFill>
            </a:endParaRPr>
          </a:p>
          <a:p>
            <a:pPr>
              <a:lnSpc>
                <a:spcPct val="120000"/>
              </a:lnSpc>
              <a:spcBef>
                <a:spcPct val="60000"/>
              </a:spcBef>
              <a:buFontTx/>
              <a:buNone/>
            </a:pPr>
            <a:endParaRPr lang="en-US" altLang="en-US" sz="1800" b="1">
              <a:solidFill>
                <a:srgbClr val="000000"/>
              </a:solidFill>
            </a:endParaRPr>
          </a:p>
        </p:txBody>
      </p:sp>
      <p:sp>
        <p:nvSpPr>
          <p:cNvPr id="8196" name="Rectangle 4">
            <a:extLst>
              <a:ext uri="{FF2B5EF4-FFF2-40B4-BE49-F238E27FC236}">
                <a16:creationId xmlns:a16="http://schemas.microsoft.com/office/drawing/2014/main" id="{14DA5D7B-FC61-CCEB-E705-45E0EBC8168C}"/>
              </a:ext>
            </a:extLst>
          </p:cNvPr>
          <p:cNvSpPr>
            <a:spLocks noGrp="1" noChangeArrowheads="1"/>
          </p:cNvSpPr>
          <p:nvPr>
            <p:ph type="title"/>
          </p:nvPr>
        </p:nvSpPr>
        <p:spPr>
          <a:xfrm>
            <a:off x="323850" y="661988"/>
            <a:ext cx="3706813" cy="463550"/>
          </a:xfrm>
          <a:noFill/>
        </p:spPr>
        <p:txBody>
          <a:bodyPr lIns="92075" tIns="46038" rIns="92075" bIns="46038" anchor="t"/>
          <a:lstStyle/>
          <a:p>
            <a:r>
              <a:rPr lang="en-US" altLang="en-US" sz="2800">
                <a:solidFill>
                  <a:srgbClr val="800000"/>
                </a:solidFill>
              </a:rPr>
              <a:t>Database Objects</a:t>
            </a:r>
          </a:p>
        </p:txBody>
      </p:sp>
      <p:sp>
        <p:nvSpPr>
          <p:cNvPr id="8197" name="Line 5">
            <a:extLst>
              <a:ext uri="{FF2B5EF4-FFF2-40B4-BE49-F238E27FC236}">
                <a16:creationId xmlns:a16="http://schemas.microsoft.com/office/drawing/2014/main" id="{4A8566F4-9C0A-4F0B-DC84-977E37D437D0}"/>
              </a:ext>
            </a:extLst>
          </p:cNvPr>
          <p:cNvSpPr>
            <a:spLocks noChangeShapeType="1"/>
          </p:cNvSpPr>
          <p:nvPr/>
        </p:nvSpPr>
        <p:spPr bwMode="auto">
          <a:xfrm>
            <a:off x="1117600" y="2874963"/>
            <a:ext cx="701675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198" name="Line 6">
            <a:extLst>
              <a:ext uri="{FF2B5EF4-FFF2-40B4-BE49-F238E27FC236}">
                <a16:creationId xmlns:a16="http://schemas.microsoft.com/office/drawing/2014/main" id="{7A2B2A6C-149C-1495-A92B-C4696BB3AD9F}"/>
              </a:ext>
            </a:extLst>
          </p:cNvPr>
          <p:cNvSpPr>
            <a:spLocks noChangeShapeType="1"/>
          </p:cNvSpPr>
          <p:nvPr/>
        </p:nvSpPr>
        <p:spPr bwMode="auto">
          <a:xfrm>
            <a:off x="1117600" y="3732213"/>
            <a:ext cx="701675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199" name="Line 7">
            <a:extLst>
              <a:ext uri="{FF2B5EF4-FFF2-40B4-BE49-F238E27FC236}">
                <a16:creationId xmlns:a16="http://schemas.microsoft.com/office/drawing/2014/main" id="{59113D47-A52F-436C-DC73-F5878F6140EB}"/>
              </a:ext>
            </a:extLst>
          </p:cNvPr>
          <p:cNvSpPr>
            <a:spLocks noChangeShapeType="1"/>
          </p:cNvSpPr>
          <p:nvPr/>
        </p:nvSpPr>
        <p:spPr bwMode="auto">
          <a:xfrm>
            <a:off x="1123950" y="4202113"/>
            <a:ext cx="70104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200" name="Line 8">
            <a:extLst>
              <a:ext uri="{FF2B5EF4-FFF2-40B4-BE49-F238E27FC236}">
                <a16:creationId xmlns:a16="http://schemas.microsoft.com/office/drawing/2014/main" id="{8E0AF7C3-A12E-164E-FF66-B86635AF0E1A}"/>
              </a:ext>
            </a:extLst>
          </p:cNvPr>
          <p:cNvSpPr>
            <a:spLocks noChangeShapeType="1"/>
          </p:cNvSpPr>
          <p:nvPr/>
        </p:nvSpPr>
        <p:spPr bwMode="auto">
          <a:xfrm>
            <a:off x="1117600" y="4722813"/>
            <a:ext cx="69977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201" name="Line 9">
            <a:extLst>
              <a:ext uri="{FF2B5EF4-FFF2-40B4-BE49-F238E27FC236}">
                <a16:creationId xmlns:a16="http://schemas.microsoft.com/office/drawing/2014/main" id="{C7D31F2B-CA36-B953-B4DC-60BBC6E706A3}"/>
              </a:ext>
            </a:extLst>
          </p:cNvPr>
          <p:cNvSpPr>
            <a:spLocks noChangeShapeType="1"/>
          </p:cNvSpPr>
          <p:nvPr/>
        </p:nvSpPr>
        <p:spPr bwMode="auto">
          <a:xfrm>
            <a:off x="1122363" y="2066925"/>
            <a:ext cx="7011987"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28394" name="Rectangle 10">
            <a:extLst>
              <a:ext uri="{FF2B5EF4-FFF2-40B4-BE49-F238E27FC236}">
                <a16:creationId xmlns:a16="http://schemas.microsoft.com/office/drawing/2014/main" id="{0363EB93-9F95-D193-3A8D-3B6DFDE62046}"/>
              </a:ext>
            </a:extLst>
          </p:cNvPr>
          <p:cNvSpPr>
            <a:spLocks noChangeArrowheads="1"/>
          </p:cNvSpPr>
          <p:nvPr/>
        </p:nvSpPr>
        <p:spPr bwMode="ltGray">
          <a:xfrm>
            <a:off x="1123950" y="3741738"/>
            <a:ext cx="6972300" cy="1465262"/>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203" name="Rectangle 11">
            <a:extLst>
              <a:ext uri="{FF2B5EF4-FFF2-40B4-BE49-F238E27FC236}">
                <a16:creationId xmlns:a16="http://schemas.microsoft.com/office/drawing/2014/main" id="{39E0D3A7-01E3-7647-62BA-BB6578DCE3C1}"/>
              </a:ext>
            </a:extLst>
          </p:cNvPr>
          <p:cNvSpPr>
            <a:spLocks noChangeArrowheads="1"/>
          </p:cNvSpPr>
          <p:nvPr/>
        </p:nvSpPr>
        <p:spPr bwMode="blackWhite">
          <a:xfrm>
            <a:off x="2862263" y="1574800"/>
            <a:ext cx="5357812" cy="355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43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Description</a:t>
            </a:r>
          </a:p>
          <a:p>
            <a:pPr>
              <a:lnSpc>
                <a:spcPct val="120000"/>
              </a:lnSpc>
              <a:spcBef>
                <a:spcPct val="60000"/>
              </a:spcBef>
              <a:buFontTx/>
              <a:buNone/>
            </a:pPr>
            <a:r>
              <a:rPr lang="en-US" altLang="en-US" sz="1800" b="1">
                <a:solidFill>
                  <a:srgbClr val="000000"/>
                </a:solidFill>
              </a:rPr>
              <a:t>Basic unit of storage; composed of rows </a:t>
            </a:r>
            <a:br>
              <a:rPr lang="en-US" altLang="en-US" sz="1800" b="1">
                <a:solidFill>
                  <a:srgbClr val="000000"/>
                </a:solidFill>
              </a:rPr>
            </a:br>
            <a:r>
              <a:rPr lang="en-US" altLang="en-US" sz="1800" b="1">
                <a:solidFill>
                  <a:srgbClr val="000000"/>
                </a:solidFill>
              </a:rPr>
              <a:t>and columns</a:t>
            </a:r>
          </a:p>
          <a:p>
            <a:pPr>
              <a:lnSpc>
                <a:spcPct val="120000"/>
              </a:lnSpc>
              <a:spcBef>
                <a:spcPct val="60000"/>
              </a:spcBef>
              <a:buFontTx/>
              <a:buNone/>
            </a:pPr>
            <a:r>
              <a:rPr lang="en-US" altLang="en-US" sz="1800" b="1">
                <a:solidFill>
                  <a:srgbClr val="000000"/>
                </a:solidFill>
              </a:rPr>
              <a:t>Logically represents subsets of data from </a:t>
            </a:r>
            <a:br>
              <a:rPr lang="en-US" altLang="en-US" sz="1800" b="1">
                <a:solidFill>
                  <a:srgbClr val="000000"/>
                </a:solidFill>
              </a:rPr>
            </a:br>
            <a:r>
              <a:rPr lang="en-US" altLang="en-US" sz="1800" b="1">
                <a:solidFill>
                  <a:srgbClr val="000000"/>
                </a:solidFill>
              </a:rPr>
              <a:t>one or more tables</a:t>
            </a:r>
          </a:p>
          <a:p>
            <a:pPr>
              <a:lnSpc>
                <a:spcPct val="120000"/>
              </a:lnSpc>
              <a:spcBef>
                <a:spcPct val="60000"/>
              </a:spcBef>
              <a:buFontTx/>
              <a:buNone/>
            </a:pPr>
            <a:r>
              <a:rPr lang="en-US" altLang="en-US" sz="1800" b="1">
                <a:solidFill>
                  <a:srgbClr val="000000"/>
                </a:solidFill>
              </a:rPr>
              <a:t>Generates primary key values</a:t>
            </a:r>
          </a:p>
          <a:p>
            <a:pPr>
              <a:lnSpc>
                <a:spcPct val="120000"/>
              </a:lnSpc>
              <a:spcBef>
                <a:spcPct val="60000"/>
              </a:spcBef>
              <a:buFontTx/>
              <a:buNone/>
            </a:pPr>
            <a:r>
              <a:rPr lang="en-US" altLang="en-US" sz="1800" b="1">
                <a:solidFill>
                  <a:srgbClr val="000000"/>
                </a:solidFill>
              </a:rPr>
              <a:t>Improves the performance of some queries</a:t>
            </a:r>
          </a:p>
          <a:p>
            <a:pPr>
              <a:lnSpc>
                <a:spcPct val="120000"/>
              </a:lnSpc>
              <a:spcBef>
                <a:spcPct val="60000"/>
              </a:spcBef>
              <a:buFontTx/>
              <a:buNone/>
            </a:pPr>
            <a:r>
              <a:rPr lang="en-US" altLang="en-US" sz="1800" b="1">
                <a:solidFill>
                  <a:srgbClr val="000000"/>
                </a:solidFill>
              </a:rPr>
              <a:t>Alternative name for an object</a:t>
            </a:r>
          </a:p>
        </p:txBody>
      </p:sp>
      <p:sp>
        <p:nvSpPr>
          <p:cNvPr id="8204" name="Rectangle 12">
            <a:extLst>
              <a:ext uri="{FF2B5EF4-FFF2-40B4-BE49-F238E27FC236}">
                <a16:creationId xmlns:a16="http://schemas.microsoft.com/office/drawing/2014/main" id="{29A4D042-D6DD-895F-4591-CFC8D05DA790}"/>
              </a:ext>
            </a:extLst>
          </p:cNvPr>
          <p:cNvSpPr>
            <a:spLocks noChangeArrowheads="1"/>
          </p:cNvSpPr>
          <p:nvPr/>
        </p:nvSpPr>
        <p:spPr bwMode="blackWhite">
          <a:xfrm>
            <a:off x="1114425" y="1574800"/>
            <a:ext cx="1870075" cy="355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Object	</a:t>
            </a:r>
          </a:p>
          <a:p>
            <a:pPr>
              <a:lnSpc>
                <a:spcPct val="120000"/>
              </a:lnSpc>
              <a:spcBef>
                <a:spcPct val="60000"/>
              </a:spcBef>
              <a:buFontTx/>
              <a:buNone/>
            </a:pPr>
            <a:r>
              <a:rPr lang="en-US" altLang="en-US" sz="1800" b="1">
                <a:solidFill>
                  <a:srgbClr val="000000"/>
                </a:solidFill>
              </a:rPr>
              <a:t>Table</a:t>
            </a:r>
            <a:br>
              <a:rPr lang="en-US" altLang="en-US" sz="1800" b="1">
                <a:solidFill>
                  <a:srgbClr val="000000"/>
                </a:solidFill>
              </a:rPr>
            </a:br>
            <a:r>
              <a:rPr lang="en-US" altLang="en-US" sz="1800" b="1">
                <a:solidFill>
                  <a:srgbClr val="000000"/>
                </a:solidFill>
              </a:rPr>
              <a:t>	</a:t>
            </a:r>
          </a:p>
          <a:p>
            <a:pPr>
              <a:lnSpc>
                <a:spcPct val="120000"/>
              </a:lnSpc>
              <a:spcBef>
                <a:spcPct val="60000"/>
              </a:spcBef>
              <a:buFontTx/>
              <a:buNone/>
            </a:pPr>
            <a:r>
              <a:rPr lang="en-US" altLang="en-US" sz="1800" b="1">
                <a:solidFill>
                  <a:srgbClr val="000000"/>
                </a:solidFill>
              </a:rPr>
              <a:t>View	</a:t>
            </a:r>
            <a:br>
              <a:rPr lang="en-US" altLang="en-US" sz="1800" b="1">
                <a:solidFill>
                  <a:srgbClr val="000000"/>
                </a:solidFill>
              </a:rPr>
            </a:br>
            <a:endParaRPr lang="en-US" altLang="en-US" sz="1800" b="1">
              <a:solidFill>
                <a:srgbClr val="000000"/>
              </a:solidFill>
            </a:endParaRPr>
          </a:p>
          <a:p>
            <a:pPr>
              <a:lnSpc>
                <a:spcPct val="120000"/>
              </a:lnSpc>
              <a:spcBef>
                <a:spcPct val="60000"/>
              </a:spcBef>
              <a:buFontTx/>
              <a:buNone/>
            </a:pPr>
            <a:r>
              <a:rPr lang="en-US" altLang="en-US" sz="1800" b="1">
                <a:solidFill>
                  <a:srgbClr val="000000"/>
                </a:solidFill>
              </a:rPr>
              <a:t>Sequence</a:t>
            </a:r>
          </a:p>
          <a:p>
            <a:pPr>
              <a:lnSpc>
                <a:spcPct val="120000"/>
              </a:lnSpc>
              <a:spcBef>
                <a:spcPct val="60000"/>
              </a:spcBef>
              <a:buFontTx/>
              <a:buNone/>
            </a:pPr>
            <a:r>
              <a:rPr lang="en-US" altLang="en-US" sz="1800" b="1">
                <a:solidFill>
                  <a:srgbClr val="000000"/>
                </a:solidFill>
              </a:rPr>
              <a:t>Index</a:t>
            </a:r>
          </a:p>
          <a:p>
            <a:pPr>
              <a:lnSpc>
                <a:spcPct val="120000"/>
              </a:lnSpc>
              <a:spcBef>
                <a:spcPct val="60000"/>
              </a:spcBef>
              <a:buFontTx/>
              <a:buNone/>
            </a:pPr>
            <a:r>
              <a:rPr lang="en-US" altLang="en-US" sz="1800" b="1">
                <a:solidFill>
                  <a:srgbClr val="000000"/>
                </a:solidFill>
              </a:rPr>
              <a:t>Synonym</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28394"/>
                                        </p:tgtEl>
                                        <p:attrNameLst>
                                          <p:attrName>style.visibility</p:attrName>
                                        </p:attrNameLst>
                                      </p:cBhvr>
                                      <p:to>
                                        <p:strVal val="visible"/>
                                      </p:to>
                                    </p:set>
                                    <p:animEffect transition="in" filter="wipe(up)">
                                      <p:cBhvr>
                                        <p:cTn id="7" dur="500"/>
                                        <p:tgtEl>
                                          <p:spTgt spid="528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9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5EC339B-A9D8-96FA-354E-1FB84E406973}"/>
              </a:ext>
            </a:extLst>
          </p:cNvPr>
          <p:cNvSpPr>
            <a:spLocks noGrp="1" noChangeArrowheads="1"/>
          </p:cNvSpPr>
          <p:nvPr>
            <p:ph type="title"/>
          </p:nvPr>
        </p:nvSpPr>
        <p:spPr>
          <a:xfrm>
            <a:off x="323850" y="660400"/>
            <a:ext cx="3633788" cy="536575"/>
          </a:xfrm>
          <a:noFill/>
        </p:spPr>
        <p:txBody>
          <a:bodyPr lIns="92075" tIns="46038" rIns="92075" bIns="46038" anchor="t"/>
          <a:lstStyle/>
          <a:p>
            <a:r>
              <a:rPr lang="en-US" altLang="en-US" sz="2800">
                <a:solidFill>
                  <a:srgbClr val="800000"/>
                </a:solidFill>
              </a:rPr>
              <a:t>What Is a Sequence?</a:t>
            </a:r>
          </a:p>
        </p:txBody>
      </p:sp>
      <p:sp>
        <p:nvSpPr>
          <p:cNvPr id="10243" name="Rectangle 3">
            <a:extLst>
              <a:ext uri="{FF2B5EF4-FFF2-40B4-BE49-F238E27FC236}">
                <a16:creationId xmlns:a16="http://schemas.microsoft.com/office/drawing/2014/main" id="{1ECF9920-D732-022D-CFD6-798D59FA6772}"/>
              </a:ext>
            </a:extLst>
          </p:cNvPr>
          <p:cNvSpPr>
            <a:spLocks noGrp="1" noChangeArrowheads="1"/>
          </p:cNvSpPr>
          <p:nvPr>
            <p:ph type="body" idx="1"/>
          </p:nvPr>
        </p:nvSpPr>
        <p:spPr>
          <a:xfrm>
            <a:off x="860425" y="1795463"/>
            <a:ext cx="7385050" cy="3048000"/>
          </a:xfrm>
          <a:noFill/>
        </p:spPr>
        <p:txBody>
          <a:bodyPr lIns="92075" tIns="46038" rIns="92075" bIns="46038">
            <a:spAutoFit/>
          </a:bodyPr>
          <a:lstStyle/>
          <a:p>
            <a:pPr lvl="1"/>
            <a:r>
              <a:rPr lang="en-US" altLang="en-US" dirty="0"/>
              <a:t>Automatically generates unique numbers</a:t>
            </a:r>
          </a:p>
          <a:p>
            <a:pPr lvl="1"/>
            <a:r>
              <a:rPr lang="en-US" altLang="en-US" dirty="0"/>
              <a:t>Is a sharable object</a:t>
            </a:r>
          </a:p>
          <a:p>
            <a:pPr lvl="1"/>
            <a:r>
              <a:rPr lang="en-US" altLang="en-US" dirty="0"/>
              <a:t>It can have max. value up to 28 digits.</a:t>
            </a:r>
          </a:p>
          <a:p>
            <a:pPr lvl="1"/>
            <a:r>
              <a:rPr lang="en-US" altLang="en-US" dirty="0"/>
              <a:t>Is typically used to create a populate key value</a:t>
            </a:r>
          </a:p>
          <a:p>
            <a:pPr lvl="1"/>
            <a:r>
              <a:rPr lang="en-US" altLang="en-US" dirty="0"/>
              <a:t>Replaces application code</a:t>
            </a:r>
          </a:p>
          <a:p>
            <a:pPr lvl="1"/>
            <a:r>
              <a:rPr lang="en-US" altLang="en-US" dirty="0"/>
              <a:t>Speeds up the efficiency of accessing sequence values when cached in memory</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067727A-94AB-2FD0-C32A-964B0E4467D8}"/>
              </a:ext>
            </a:extLst>
          </p:cNvPr>
          <p:cNvSpPr>
            <a:spLocks noGrp="1" noChangeArrowheads="1"/>
          </p:cNvSpPr>
          <p:nvPr>
            <p:ph type="title"/>
          </p:nvPr>
        </p:nvSpPr>
        <p:spPr>
          <a:xfrm>
            <a:off x="250825" y="588963"/>
            <a:ext cx="6226175" cy="536575"/>
          </a:xfrm>
          <a:noFill/>
        </p:spPr>
        <p:txBody>
          <a:bodyPr lIns="92075" tIns="46038" rIns="92075" bIns="46038" anchor="t"/>
          <a:lstStyle/>
          <a:p>
            <a:r>
              <a:rPr lang="en-US" altLang="en-US" sz="2800">
                <a:solidFill>
                  <a:srgbClr val="800000"/>
                </a:solidFill>
              </a:rPr>
              <a:t>The CREATE SEQUENCE Statement</a:t>
            </a:r>
          </a:p>
        </p:txBody>
      </p:sp>
      <p:sp>
        <p:nvSpPr>
          <p:cNvPr id="12291" name="Rectangle 3">
            <a:extLst>
              <a:ext uri="{FF2B5EF4-FFF2-40B4-BE49-F238E27FC236}">
                <a16:creationId xmlns:a16="http://schemas.microsoft.com/office/drawing/2014/main" id="{187A0CFA-6E11-00DD-0CA1-9CD0828B0327}"/>
              </a:ext>
            </a:extLst>
          </p:cNvPr>
          <p:cNvSpPr>
            <a:spLocks noGrp="1" noChangeArrowheads="1"/>
          </p:cNvSpPr>
          <p:nvPr>
            <p:ph type="body" idx="1"/>
          </p:nvPr>
        </p:nvSpPr>
        <p:spPr>
          <a:xfrm>
            <a:off x="877888" y="1793875"/>
            <a:ext cx="7385050" cy="946150"/>
          </a:xfrm>
          <a:noFill/>
        </p:spPr>
        <p:txBody>
          <a:bodyPr lIns="92075" tIns="46038" rIns="92075" bIns="46038">
            <a:spAutoFit/>
          </a:bodyPr>
          <a:lstStyle/>
          <a:p>
            <a:r>
              <a:rPr lang="en-US" altLang="en-US" dirty="0"/>
              <a:t>Define a sequence to generate sequential numbers automatically.</a:t>
            </a:r>
          </a:p>
        </p:txBody>
      </p:sp>
      <p:sp>
        <p:nvSpPr>
          <p:cNvPr id="12292" name="Rectangle 4">
            <a:extLst>
              <a:ext uri="{FF2B5EF4-FFF2-40B4-BE49-F238E27FC236}">
                <a16:creationId xmlns:a16="http://schemas.microsoft.com/office/drawing/2014/main" id="{321E94D9-B393-87C5-AAA0-1137CA8FD559}"/>
              </a:ext>
            </a:extLst>
          </p:cNvPr>
          <p:cNvSpPr>
            <a:spLocks noChangeArrowheads="1"/>
          </p:cNvSpPr>
          <p:nvPr/>
        </p:nvSpPr>
        <p:spPr bwMode="blackWhite">
          <a:xfrm>
            <a:off x="912812" y="2900363"/>
            <a:ext cx="7907659" cy="276088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CREATE SEQUENCE </a:t>
            </a:r>
            <a:r>
              <a:rPr lang="en-US" altLang="en-US" sz="2400" b="1" i="1" dirty="0" err="1">
                <a:solidFill>
                  <a:schemeClr val="accent6"/>
                </a:solidFill>
                <a:latin typeface="Courier New" panose="02070309020205020404" pitchFamily="49" charset="0"/>
              </a:rPr>
              <a:t>sequence_name</a:t>
            </a:r>
            <a:endParaRPr lang="en-US" altLang="en-US" sz="2400" b="1" dirty="0">
              <a:solidFill>
                <a:schemeClr val="accent6"/>
              </a:solidFill>
              <a:latin typeface="Courier New" panose="02070309020205020404" pitchFamily="49" charset="0"/>
            </a:endParaRPr>
          </a:p>
          <a:p>
            <a:pPr>
              <a:spcBef>
                <a:spcPct val="0"/>
              </a:spcBef>
              <a:buFontTx/>
              <a:buNone/>
            </a:pPr>
            <a:r>
              <a:rPr lang="en-US" altLang="en-US" sz="2400" b="1" dirty="0">
                <a:solidFill>
                  <a:srgbClr val="000000"/>
                </a:solidFill>
                <a:latin typeface="Courier New" panose="02070309020205020404" pitchFamily="49" charset="0"/>
              </a:rPr>
              <a:t>[START WITH </a:t>
            </a:r>
            <a:r>
              <a:rPr lang="en-US" altLang="en-US" sz="2400" b="1" i="1" dirty="0" err="1">
                <a:solidFill>
                  <a:srgbClr val="FF0000"/>
                </a:solidFill>
                <a:latin typeface="Courier New" panose="02070309020205020404" pitchFamily="49" charset="0"/>
              </a:rPr>
              <a:t>start_num</a:t>
            </a:r>
            <a:r>
              <a:rPr lang="en-US" altLang="en-US" sz="2400" b="1" dirty="0">
                <a:solidFill>
                  <a:srgbClr val="000000"/>
                </a:solidFill>
                <a:latin typeface="Courier New" panose="02070309020205020404" pitchFamily="49" charset="0"/>
              </a:rPr>
              <a:t>]</a:t>
            </a:r>
          </a:p>
          <a:p>
            <a:pPr>
              <a:spcBef>
                <a:spcPct val="0"/>
              </a:spcBef>
              <a:buFontTx/>
              <a:buNone/>
            </a:pPr>
            <a:r>
              <a:rPr lang="en-US" altLang="en-US" sz="2400" b="1" dirty="0">
                <a:solidFill>
                  <a:srgbClr val="000000"/>
                </a:solidFill>
                <a:latin typeface="Courier New" panose="02070309020205020404" pitchFamily="49" charset="0"/>
              </a:rPr>
              <a:t>[INCREMENT BY </a:t>
            </a:r>
            <a:r>
              <a:rPr lang="en-US" altLang="en-US" sz="2400" b="1" i="1" dirty="0" err="1">
                <a:solidFill>
                  <a:srgbClr val="FF0000"/>
                </a:solidFill>
                <a:latin typeface="Courier New" panose="02070309020205020404" pitchFamily="49" charset="0"/>
              </a:rPr>
              <a:t>increment_num</a:t>
            </a:r>
            <a:r>
              <a:rPr lang="en-US" altLang="en-US" sz="2400" b="1" dirty="0">
                <a:solidFill>
                  <a:srgbClr val="000000"/>
                </a:solidFill>
                <a:latin typeface="Courier New" panose="02070309020205020404" pitchFamily="49" charset="0"/>
              </a:rPr>
              <a:t>]</a:t>
            </a:r>
          </a:p>
          <a:p>
            <a:pPr>
              <a:spcBef>
                <a:spcPct val="0"/>
              </a:spcBef>
              <a:buFontTx/>
              <a:buNone/>
            </a:pPr>
            <a:r>
              <a:rPr lang="en-US" altLang="en-US" sz="2400" b="1" dirty="0">
                <a:solidFill>
                  <a:srgbClr val="000000"/>
                </a:solidFill>
                <a:latin typeface="Courier New" panose="02070309020205020404" pitchFamily="49" charset="0"/>
              </a:rPr>
              <a:t>[{MAXVALUE </a:t>
            </a:r>
            <a:r>
              <a:rPr lang="en-US" altLang="en-US" sz="2400" b="1" i="1" dirty="0" err="1">
                <a:solidFill>
                  <a:srgbClr val="FF0000"/>
                </a:solidFill>
                <a:latin typeface="Courier New" panose="02070309020205020404" pitchFamily="49" charset="0"/>
              </a:rPr>
              <a:t>max_number</a:t>
            </a:r>
            <a:r>
              <a:rPr lang="en-US" altLang="en-US" sz="2400" b="1" dirty="0">
                <a:solidFill>
                  <a:srgbClr val="000000"/>
                </a:solidFill>
                <a:latin typeface="Courier New" panose="02070309020205020404" pitchFamily="49" charset="0"/>
              </a:rPr>
              <a:t> | </a:t>
            </a:r>
            <a:r>
              <a:rPr lang="en-US" altLang="en-US" sz="2400" b="1" u="sng" dirty="0">
                <a:solidFill>
                  <a:srgbClr val="000000"/>
                </a:solidFill>
                <a:latin typeface="Courier New" panose="02070309020205020404" pitchFamily="49" charset="0"/>
              </a:rPr>
              <a:t>NOMAXVALUE</a:t>
            </a:r>
            <a:r>
              <a:rPr lang="en-US" altLang="en-US" sz="2400" b="1" dirty="0">
                <a:solidFill>
                  <a:srgbClr val="000000"/>
                </a:solidFill>
                <a:latin typeface="Courier New" panose="02070309020205020404" pitchFamily="49" charset="0"/>
              </a:rPr>
              <a:t>}]</a:t>
            </a:r>
          </a:p>
          <a:p>
            <a:pPr>
              <a:spcBef>
                <a:spcPct val="0"/>
              </a:spcBef>
              <a:buFontTx/>
              <a:buNone/>
            </a:pPr>
            <a:r>
              <a:rPr lang="en-US" altLang="en-US" sz="2400" b="1" dirty="0">
                <a:solidFill>
                  <a:srgbClr val="000000"/>
                </a:solidFill>
                <a:latin typeface="Courier New" panose="02070309020205020404" pitchFamily="49" charset="0"/>
              </a:rPr>
              <a:t>[{MINVALUE </a:t>
            </a:r>
            <a:r>
              <a:rPr lang="en-US" altLang="en-US" sz="2400" b="1" i="1" dirty="0" err="1">
                <a:solidFill>
                  <a:srgbClr val="FF0000"/>
                </a:solidFill>
                <a:latin typeface="Courier New" panose="02070309020205020404" pitchFamily="49" charset="0"/>
              </a:rPr>
              <a:t>min_number</a:t>
            </a:r>
            <a:r>
              <a:rPr lang="en-US" altLang="en-US" sz="2400" b="1" dirty="0">
                <a:solidFill>
                  <a:srgbClr val="000000"/>
                </a:solidFill>
                <a:latin typeface="Courier New" panose="02070309020205020404" pitchFamily="49" charset="0"/>
              </a:rPr>
              <a:t> | </a:t>
            </a:r>
            <a:r>
              <a:rPr lang="en-US" altLang="en-US" sz="2400" b="1" u="sng" dirty="0">
                <a:solidFill>
                  <a:srgbClr val="000000"/>
                </a:solidFill>
                <a:latin typeface="Courier New" panose="02070309020205020404" pitchFamily="49" charset="0"/>
              </a:rPr>
              <a:t>NOMINVALUE</a:t>
            </a:r>
            <a:r>
              <a:rPr lang="en-US" altLang="en-US" sz="2400" b="1" dirty="0">
                <a:solidFill>
                  <a:srgbClr val="000000"/>
                </a:solidFill>
                <a:latin typeface="Courier New" panose="02070309020205020404" pitchFamily="49" charset="0"/>
              </a:rPr>
              <a:t>}]</a:t>
            </a:r>
          </a:p>
          <a:p>
            <a:pPr>
              <a:spcBef>
                <a:spcPct val="0"/>
              </a:spcBef>
              <a:buFontTx/>
              <a:buNone/>
            </a:pPr>
            <a:r>
              <a:rPr lang="en-US" altLang="en-US" sz="2400" b="1" dirty="0">
                <a:solidFill>
                  <a:srgbClr val="000000"/>
                </a:solidFill>
                <a:latin typeface="Courier New" panose="02070309020205020404" pitchFamily="49" charset="0"/>
              </a:rPr>
              <a:t>[{CYCLE | </a:t>
            </a:r>
            <a:r>
              <a:rPr lang="en-US" altLang="en-US" sz="2400" b="1" u="sng" dirty="0">
                <a:solidFill>
                  <a:srgbClr val="000000"/>
                </a:solidFill>
                <a:latin typeface="Courier New" panose="02070309020205020404" pitchFamily="49" charset="0"/>
              </a:rPr>
              <a:t>NOCYCLE</a:t>
            </a:r>
            <a:r>
              <a:rPr lang="en-US" altLang="en-US" sz="2400" b="1" dirty="0">
                <a:solidFill>
                  <a:srgbClr val="000000"/>
                </a:solidFill>
                <a:latin typeface="Courier New" panose="02070309020205020404" pitchFamily="49" charset="0"/>
              </a:rPr>
              <a:t>}]</a:t>
            </a:r>
          </a:p>
          <a:p>
            <a:pPr>
              <a:spcBef>
                <a:spcPct val="0"/>
              </a:spcBef>
              <a:buFontTx/>
              <a:buNone/>
            </a:pPr>
            <a:r>
              <a:rPr lang="en-US" altLang="en-US" sz="2400" b="1" dirty="0">
                <a:solidFill>
                  <a:srgbClr val="000000"/>
                </a:solidFill>
                <a:latin typeface="Courier New" panose="02070309020205020404" pitchFamily="49" charset="0"/>
              </a:rPr>
              <a:t>[{CACHE </a:t>
            </a:r>
            <a:r>
              <a:rPr lang="en-US" altLang="en-US" sz="2400" b="1" i="1" dirty="0" err="1">
                <a:solidFill>
                  <a:srgbClr val="FF0000"/>
                </a:solidFill>
                <a:latin typeface="Courier New" panose="02070309020205020404" pitchFamily="49" charset="0"/>
              </a:rPr>
              <a:t>cache_num</a:t>
            </a:r>
            <a:r>
              <a:rPr lang="en-US" altLang="en-US" sz="2400" b="1" dirty="0">
                <a:solidFill>
                  <a:srgbClr val="000000"/>
                </a:solidFill>
                <a:latin typeface="Courier New" panose="02070309020205020404" pitchFamily="49" charset="0"/>
              </a:rPr>
              <a:t> | NOCACHE}];</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77BDE-7DFA-D838-45AD-92C8B059716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71FFED1-5C1D-6F25-F64D-7C7EB674D6E3}"/>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The CREATE SEQUENCE Options</a:t>
            </a:r>
          </a:p>
        </p:txBody>
      </p:sp>
      <p:sp>
        <p:nvSpPr>
          <p:cNvPr id="2" name="Content Placeholder 1">
            <a:extLst>
              <a:ext uri="{FF2B5EF4-FFF2-40B4-BE49-F238E27FC236}">
                <a16:creationId xmlns:a16="http://schemas.microsoft.com/office/drawing/2014/main" id="{2178D1C3-608B-F741-38D5-A68C75F6917C}"/>
              </a:ext>
            </a:extLst>
          </p:cNvPr>
          <p:cNvSpPr>
            <a:spLocks noGrp="1"/>
          </p:cNvSpPr>
          <p:nvPr>
            <p:ph sz="quarter" idx="1"/>
          </p:nvPr>
        </p:nvSpPr>
        <p:spPr>
          <a:xfrm>
            <a:off x="251520" y="692696"/>
            <a:ext cx="8492430" cy="5904954"/>
          </a:xfrm>
        </p:spPr>
        <p:txBody>
          <a:bodyPr/>
          <a:lstStyle/>
          <a:p>
            <a:pPr algn="just">
              <a:spcBef>
                <a:spcPts val="300"/>
              </a:spcBef>
            </a:pPr>
            <a:r>
              <a:rPr lang="en-US" altLang="en-US" sz="2200" dirty="0">
                <a:solidFill>
                  <a:srgbClr val="000099"/>
                </a:solidFill>
                <a:latin typeface="Calibri" panose="020F0502020204030204" pitchFamily="34" charset="0"/>
                <a:cs typeface="Calibri" panose="020F0502020204030204" pitchFamily="34" charset="0"/>
              </a:rPr>
              <a:t>START WITH:</a:t>
            </a:r>
            <a:r>
              <a:rPr lang="en-US" altLang="en-US" sz="2200" dirty="0">
                <a:solidFill>
                  <a:schemeClr val="accent2"/>
                </a:solidFill>
                <a:latin typeface="Calibri" panose="020F0502020204030204" pitchFamily="34" charset="0"/>
                <a:cs typeface="Calibri" panose="020F0502020204030204" pitchFamily="34" charset="0"/>
              </a:rPr>
              <a:t> </a:t>
            </a:r>
            <a:r>
              <a:rPr lang="en-US" altLang="en-US" sz="2200" dirty="0">
                <a:latin typeface="Calibri" panose="020F0502020204030204" pitchFamily="34" charset="0"/>
                <a:cs typeface="Calibri" panose="020F0502020204030204" pitchFamily="34" charset="0"/>
              </a:rPr>
              <a:t>The starting value of the sequence. </a:t>
            </a:r>
          </a:p>
          <a:p>
            <a:pPr algn="just">
              <a:spcBef>
                <a:spcPts val="300"/>
              </a:spcBef>
            </a:pPr>
            <a:r>
              <a:rPr lang="en-US" altLang="en-US" sz="2200" dirty="0">
                <a:solidFill>
                  <a:srgbClr val="000099"/>
                </a:solidFill>
                <a:latin typeface="Calibri" panose="020F0502020204030204" pitchFamily="34" charset="0"/>
                <a:cs typeface="Calibri" panose="020F0502020204030204" pitchFamily="34" charset="0"/>
              </a:rPr>
              <a:t>MAXVALUE:</a:t>
            </a:r>
            <a:r>
              <a:rPr lang="en-US" altLang="en-US" sz="2200" dirty="0">
                <a:solidFill>
                  <a:schemeClr val="accent2"/>
                </a:solidFill>
                <a:latin typeface="Calibri" panose="020F0502020204030204" pitchFamily="34" charset="0"/>
                <a:cs typeface="Calibri" panose="020F0502020204030204" pitchFamily="34" charset="0"/>
              </a:rPr>
              <a:t> </a:t>
            </a:r>
            <a:r>
              <a:rPr lang="en-US" altLang="en-US" sz="2200" dirty="0">
                <a:latin typeface="Calibri" panose="020F0502020204030204" pitchFamily="34" charset="0"/>
                <a:cs typeface="Calibri" panose="020F0502020204030204" pitchFamily="34" charset="0"/>
              </a:rPr>
              <a:t>The maximum value to be generated by the sequence. Its default value is </a:t>
            </a:r>
            <a:r>
              <a:rPr lang="en-US" altLang="en-US" sz="2200" dirty="0">
                <a:solidFill>
                  <a:srgbClr val="FF0000"/>
                </a:solidFill>
                <a:latin typeface="Calibri" panose="020F0502020204030204" pitchFamily="34" charset="0"/>
                <a:cs typeface="Calibri" panose="020F0502020204030204" pitchFamily="34" charset="0"/>
              </a:rPr>
              <a:t>10</a:t>
            </a:r>
            <a:r>
              <a:rPr lang="en-US" altLang="en-US" sz="2200" baseline="30000" dirty="0">
                <a:solidFill>
                  <a:srgbClr val="FF0000"/>
                </a:solidFill>
                <a:latin typeface="Calibri" panose="020F0502020204030204" pitchFamily="34" charset="0"/>
                <a:cs typeface="Calibri" panose="020F0502020204030204" pitchFamily="34" charset="0"/>
              </a:rPr>
              <a:t>27</a:t>
            </a:r>
            <a:r>
              <a:rPr lang="en-US" altLang="en-US" sz="2200" dirty="0">
                <a:solidFill>
                  <a:srgbClr val="FF0000"/>
                </a:solidFill>
                <a:latin typeface="Calibri" panose="020F0502020204030204" pitchFamily="34" charset="0"/>
                <a:cs typeface="Calibri" panose="020F0502020204030204" pitchFamily="34" charset="0"/>
              </a:rPr>
              <a:t> – 1 </a:t>
            </a:r>
            <a:r>
              <a:rPr lang="en-US" altLang="en-US" sz="2200" dirty="0">
                <a:latin typeface="Calibri" panose="020F0502020204030204" pitchFamily="34" charset="0"/>
                <a:cs typeface="Calibri" panose="020F0502020204030204" pitchFamily="34" charset="0"/>
              </a:rPr>
              <a:t>for an ascending sequence and 1 for a descending sequence.</a:t>
            </a:r>
          </a:p>
          <a:p>
            <a:pPr algn="just">
              <a:spcBef>
                <a:spcPts val="300"/>
              </a:spcBef>
            </a:pPr>
            <a:r>
              <a:rPr lang="en-US" altLang="en-US" sz="2200" dirty="0">
                <a:solidFill>
                  <a:srgbClr val="000099"/>
                </a:solidFill>
                <a:latin typeface="Calibri" panose="020F0502020204030204" pitchFamily="34" charset="0"/>
                <a:cs typeface="Calibri" panose="020F0502020204030204" pitchFamily="34" charset="0"/>
              </a:rPr>
              <a:t>MINVALUE:</a:t>
            </a:r>
            <a:r>
              <a:rPr lang="en-US" altLang="en-US" sz="2200" dirty="0">
                <a:solidFill>
                  <a:schemeClr val="accent2"/>
                </a:solidFill>
                <a:latin typeface="Calibri" panose="020F0502020204030204" pitchFamily="34" charset="0"/>
                <a:cs typeface="Calibri" panose="020F0502020204030204" pitchFamily="34" charset="0"/>
              </a:rPr>
              <a:t> </a:t>
            </a:r>
            <a:r>
              <a:rPr lang="en-US" altLang="en-US" sz="2200" dirty="0">
                <a:latin typeface="Calibri" panose="020F0502020204030204" pitchFamily="34" charset="0"/>
                <a:cs typeface="Calibri" panose="020F0502020204030204" pitchFamily="34" charset="0"/>
              </a:rPr>
              <a:t>The minimum value to be generated by the sequence. Its default value is 1 for an ascending sequence and </a:t>
            </a:r>
            <a:r>
              <a:rPr lang="en-US" altLang="en-US" sz="2200" dirty="0">
                <a:solidFill>
                  <a:srgbClr val="FF0000"/>
                </a:solidFill>
                <a:latin typeface="Calibri" panose="020F0502020204030204" pitchFamily="34" charset="0"/>
                <a:cs typeface="Calibri" panose="020F0502020204030204" pitchFamily="34" charset="0"/>
              </a:rPr>
              <a:t>10</a:t>
            </a:r>
            <a:r>
              <a:rPr lang="en-US" altLang="en-US" sz="2200" baseline="30000" dirty="0">
                <a:solidFill>
                  <a:srgbClr val="FF0000"/>
                </a:solidFill>
                <a:latin typeface="Calibri" panose="020F0502020204030204" pitchFamily="34" charset="0"/>
                <a:cs typeface="Calibri" panose="020F0502020204030204" pitchFamily="34" charset="0"/>
              </a:rPr>
              <a:t>27</a:t>
            </a:r>
            <a:r>
              <a:rPr lang="en-US" altLang="en-US" sz="2200" dirty="0">
                <a:solidFill>
                  <a:srgbClr val="FF0000"/>
                </a:solidFill>
                <a:latin typeface="Calibri" panose="020F0502020204030204" pitchFamily="34" charset="0"/>
                <a:cs typeface="Calibri" panose="020F0502020204030204" pitchFamily="34" charset="0"/>
              </a:rPr>
              <a:t> – 1 </a:t>
            </a:r>
            <a:r>
              <a:rPr lang="en-US" altLang="en-US" sz="2200" dirty="0">
                <a:latin typeface="Calibri" panose="020F0502020204030204" pitchFamily="34" charset="0"/>
                <a:cs typeface="Calibri" panose="020F0502020204030204" pitchFamily="34" charset="0"/>
              </a:rPr>
              <a:t>for a descending sequence.</a:t>
            </a:r>
          </a:p>
          <a:p>
            <a:pPr algn="just">
              <a:spcBef>
                <a:spcPts val="300"/>
              </a:spcBef>
            </a:pPr>
            <a:r>
              <a:rPr lang="en-US" altLang="en-US" sz="2200" dirty="0">
                <a:solidFill>
                  <a:srgbClr val="000099"/>
                </a:solidFill>
                <a:latin typeface="Calibri" panose="020F0502020204030204" pitchFamily="34" charset="0"/>
                <a:cs typeface="Calibri" panose="020F0502020204030204" pitchFamily="34" charset="0"/>
              </a:rPr>
              <a:t>CYCLE / NOCYCLE:</a:t>
            </a:r>
            <a:r>
              <a:rPr lang="en-US" altLang="en-US" sz="2200" dirty="0">
                <a:solidFill>
                  <a:schemeClr val="accent2"/>
                </a:solidFill>
                <a:latin typeface="Calibri" panose="020F0502020204030204" pitchFamily="34" charset="0"/>
                <a:cs typeface="Calibri" panose="020F0502020204030204" pitchFamily="34" charset="0"/>
              </a:rPr>
              <a:t> </a:t>
            </a:r>
            <a:r>
              <a:rPr lang="en-US" altLang="en-US" sz="2200" dirty="0">
                <a:latin typeface="Calibri" panose="020F0502020204030204" pitchFamily="34" charset="0"/>
                <a:cs typeface="Calibri" panose="020F0502020204030204" pitchFamily="34" charset="0"/>
              </a:rPr>
              <a:t>It indicates whether the sequence will continue upon reaching its max/min value or not.</a:t>
            </a:r>
          </a:p>
          <a:p>
            <a:pPr algn="just">
              <a:spcBef>
                <a:spcPts val="300"/>
              </a:spcBef>
            </a:pPr>
            <a:r>
              <a:rPr lang="en-US" altLang="en-US" sz="2200" dirty="0">
                <a:solidFill>
                  <a:srgbClr val="000099"/>
                </a:solidFill>
                <a:latin typeface="Calibri" panose="020F0502020204030204" pitchFamily="34" charset="0"/>
                <a:cs typeface="Calibri" panose="020F0502020204030204" pitchFamily="34" charset="0"/>
              </a:rPr>
              <a:t>CACHE:</a:t>
            </a:r>
            <a:r>
              <a:rPr lang="en-US" altLang="en-US" sz="2200" dirty="0">
                <a:solidFill>
                  <a:schemeClr val="accent2"/>
                </a:solidFill>
                <a:latin typeface="Calibri" panose="020F0502020204030204" pitchFamily="34" charset="0"/>
                <a:cs typeface="Calibri" panose="020F0502020204030204" pitchFamily="34" charset="0"/>
              </a:rPr>
              <a:t> </a:t>
            </a:r>
            <a:r>
              <a:rPr lang="en-US" altLang="en-US" sz="2200" dirty="0">
                <a:latin typeface="Calibri" panose="020F0502020204030204" pitchFamily="34" charset="0"/>
                <a:cs typeface="Calibri" panose="020F0502020204030204" pitchFamily="34" charset="0"/>
              </a:rPr>
              <a:t>It is used for faster access. </a:t>
            </a:r>
            <a:r>
              <a:rPr lang="en-US" altLang="en-US" sz="2200" dirty="0" err="1">
                <a:solidFill>
                  <a:srgbClr val="FF0000"/>
                </a:solidFill>
                <a:latin typeface="Calibri" panose="020F0502020204030204" pitchFamily="34" charset="0"/>
                <a:cs typeface="Calibri" panose="020F0502020204030204" pitchFamily="34" charset="0"/>
              </a:rPr>
              <a:t>cache_num</a:t>
            </a:r>
            <a:r>
              <a:rPr lang="en-US" altLang="en-US" sz="2200" dirty="0">
                <a:latin typeface="Calibri" panose="020F0502020204030204" pitchFamily="34" charset="0"/>
                <a:cs typeface="Calibri" panose="020F0502020204030204" pitchFamily="34" charset="0"/>
              </a:rPr>
              <a:t> is the number of integers to keep in memory. It’s minimum value is 2, default value is 20, and maximum value is </a:t>
            </a:r>
            <a:r>
              <a:rPr lang="pt-BR" altLang="en-US" sz="2200" i="1" dirty="0">
                <a:solidFill>
                  <a:srgbClr val="FF0000"/>
                </a:solidFill>
                <a:latin typeface="Cambria" panose="02040503050406030204" pitchFamily="18" charset="0"/>
                <a:ea typeface="Cambria" panose="02040503050406030204" pitchFamily="18" charset="0"/>
                <a:cs typeface="Calibri" panose="020F0502020204030204" pitchFamily="34" charset="0"/>
              </a:rPr>
              <a:t>CEIL(maximum_num - minimum_num)/ABS(increment_num)</a:t>
            </a:r>
          </a:p>
          <a:p>
            <a:pPr algn="just">
              <a:spcBef>
                <a:spcPts val="300"/>
              </a:spcBef>
            </a:pPr>
            <a:r>
              <a:rPr lang="en-US" altLang="en-US" sz="2200" dirty="0">
                <a:latin typeface="Calibri" panose="020F0502020204030204" pitchFamily="34" charset="0"/>
                <a:cs typeface="Calibri" panose="020F0502020204030204" pitchFamily="34" charset="0"/>
              </a:rPr>
              <a:t>When using a sequence to populate a primary key column, you should typically use </a:t>
            </a:r>
            <a:r>
              <a:rPr lang="en-US" altLang="en-US" sz="2200" dirty="0">
                <a:solidFill>
                  <a:srgbClr val="FF0000"/>
                </a:solidFill>
                <a:latin typeface="Calibri" panose="020F0502020204030204" pitchFamily="34" charset="0"/>
                <a:cs typeface="Calibri" panose="020F0502020204030204" pitchFamily="34" charset="0"/>
              </a:rPr>
              <a:t>NOCACHE</a:t>
            </a:r>
            <a:r>
              <a:rPr lang="en-US" altLang="en-US" sz="2200" dirty="0">
                <a:latin typeface="Calibri" panose="020F0502020204030204" pitchFamily="34" charset="0"/>
                <a:cs typeface="Calibri" panose="020F0502020204030204" pitchFamily="34" charset="0"/>
              </a:rPr>
              <a:t> to avoid gaps in the sequence of numbers (gaps occur because cached values are lost when the database is shut down). However, using NOCACHE reduces performance.</a:t>
            </a:r>
            <a:endParaRPr lang="pt-BR" altLang="en-US" sz="2200" dirty="0">
              <a:latin typeface="Calibri" panose="020F0502020204030204" pitchFamily="34" charset="0"/>
              <a:cs typeface="Calibri" panose="020F0502020204030204" pitchFamily="34" charset="0"/>
            </a:endParaRPr>
          </a:p>
          <a:p>
            <a:pPr algn="just">
              <a:spcBef>
                <a:spcPts val="300"/>
              </a:spcBef>
            </a:pPr>
            <a:endParaRPr lang="en-US" altLang="en-US" sz="2200" i="1"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723900"/>
              </a:buClr>
              <a:defRPr/>
            </a:pP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244230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4BBE58F-E38B-7DDB-D750-9E0FFB75B194}"/>
              </a:ext>
            </a:extLst>
          </p:cNvPr>
          <p:cNvSpPr>
            <a:spLocks noGrp="1" noChangeArrowheads="1"/>
          </p:cNvSpPr>
          <p:nvPr>
            <p:ph type="title"/>
          </p:nvPr>
        </p:nvSpPr>
        <p:spPr>
          <a:xfrm>
            <a:off x="323850" y="620713"/>
            <a:ext cx="3633788" cy="536575"/>
          </a:xfrm>
          <a:noFill/>
        </p:spPr>
        <p:txBody>
          <a:bodyPr lIns="92075" tIns="46038" rIns="92075" bIns="46038" anchor="t"/>
          <a:lstStyle/>
          <a:p>
            <a:r>
              <a:rPr lang="en-US" altLang="en-US" sz="2800">
                <a:solidFill>
                  <a:srgbClr val="800000"/>
                </a:solidFill>
              </a:rPr>
              <a:t>Creating a Sequence</a:t>
            </a:r>
          </a:p>
        </p:txBody>
      </p:sp>
      <p:sp>
        <p:nvSpPr>
          <p:cNvPr id="16387" name="Rectangle 3">
            <a:extLst>
              <a:ext uri="{FF2B5EF4-FFF2-40B4-BE49-F238E27FC236}">
                <a16:creationId xmlns:a16="http://schemas.microsoft.com/office/drawing/2014/main" id="{4BC91BFA-9B0D-B802-85E4-3B99954D2D8C}"/>
              </a:ext>
            </a:extLst>
          </p:cNvPr>
          <p:cNvSpPr>
            <a:spLocks noGrp="1" noChangeArrowheads="1"/>
          </p:cNvSpPr>
          <p:nvPr>
            <p:ph type="body" idx="1"/>
          </p:nvPr>
        </p:nvSpPr>
        <p:spPr>
          <a:xfrm>
            <a:off x="468313" y="1444625"/>
            <a:ext cx="8280400" cy="1697038"/>
          </a:xfrm>
          <a:noFill/>
        </p:spPr>
        <p:txBody>
          <a:bodyPr lIns="92075" tIns="46038" rIns="92075" bIns="46038"/>
          <a:lstStyle/>
          <a:p>
            <a:pPr lvl="1"/>
            <a:r>
              <a:rPr lang="en-US" altLang="en-US"/>
              <a:t>Create a sequence named DEPT_DEPTNO to be used for the primary key of the DEPT table.</a:t>
            </a:r>
          </a:p>
          <a:p>
            <a:pPr lvl="1"/>
            <a:r>
              <a:rPr lang="en-US" altLang="en-US"/>
              <a:t>Do not use the CYCLE option.</a:t>
            </a:r>
          </a:p>
        </p:txBody>
      </p:sp>
      <p:sp>
        <p:nvSpPr>
          <p:cNvPr id="534532" name="Rectangle 4">
            <a:extLst>
              <a:ext uri="{FF2B5EF4-FFF2-40B4-BE49-F238E27FC236}">
                <a16:creationId xmlns:a16="http://schemas.microsoft.com/office/drawing/2014/main" id="{CE2B5D2C-3DBA-65E9-0D99-4FF49B8BE49C}"/>
              </a:ext>
            </a:extLst>
          </p:cNvPr>
          <p:cNvSpPr>
            <a:spLocks noChangeArrowheads="1"/>
          </p:cNvSpPr>
          <p:nvPr/>
        </p:nvSpPr>
        <p:spPr bwMode="blackWhite">
          <a:xfrm>
            <a:off x="839787" y="2924944"/>
            <a:ext cx="7835900" cy="258378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b="1" dirty="0">
                <a:solidFill>
                  <a:srgbClr val="000000"/>
                </a:solidFill>
                <a:latin typeface="Courier New" pitchFamily="49" charset="0"/>
              </a:rPr>
              <a:t>SQL&gt; CREATE SEQUENCE </a:t>
            </a:r>
            <a:r>
              <a:rPr lang="en-US" b="1" dirty="0" err="1">
                <a:solidFill>
                  <a:srgbClr val="FF0000"/>
                </a:solidFill>
                <a:latin typeface="Courier New" pitchFamily="49" charset="0"/>
              </a:rPr>
              <a:t>dept_deptno</a:t>
            </a:r>
            <a:endParaRPr lang="en-US" b="1" dirty="0">
              <a:solidFill>
                <a:srgbClr val="FF0000"/>
              </a:solidFill>
              <a:latin typeface="Courier New" pitchFamily="49" charset="0"/>
            </a:endParaRPr>
          </a:p>
          <a:p>
            <a:pPr>
              <a:tabLst>
                <a:tab pos="1200150" algn="l"/>
              </a:tabLst>
              <a:defRPr/>
            </a:pPr>
            <a:r>
              <a:rPr lang="en-US" b="1" dirty="0">
                <a:solidFill>
                  <a:srgbClr val="000000"/>
                </a:solidFill>
                <a:latin typeface="Courier New" pitchFamily="49" charset="0"/>
              </a:rPr>
              <a:t>  2	START WITH </a:t>
            </a:r>
            <a:r>
              <a:rPr lang="en-US" b="1" dirty="0">
                <a:solidFill>
                  <a:srgbClr val="FF0000"/>
                </a:solidFill>
                <a:latin typeface="Courier New" pitchFamily="49" charset="0"/>
              </a:rPr>
              <a:t>1</a:t>
            </a:r>
          </a:p>
          <a:p>
            <a:pPr>
              <a:tabLst>
                <a:tab pos="1200150" algn="l"/>
              </a:tabLst>
              <a:defRPr/>
            </a:pPr>
            <a:r>
              <a:rPr lang="en-US" b="1" dirty="0">
                <a:solidFill>
                  <a:srgbClr val="000000"/>
                </a:solidFill>
                <a:latin typeface="Courier New" pitchFamily="49" charset="0"/>
              </a:rPr>
              <a:t>  3	INCREMENT BY </a:t>
            </a:r>
            <a:r>
              <a:rPr lang="en-US" b="1" dirty="0">
                <a:solidFill>
                  <a:srgbClr val="FF0000"/>
                </a:solidFill>
                <a:latin typeface="Courier New" pitchFamily="49" charset="0"/>
              </a:rPr>
              <a:t>1</a:t>
            </a:r>
          </a:p>
          <a:p>
            <a:pPr>
              <a:tabLst>
                <a:tab pos="1200150" algn="l"/>
              </a:tabLst>
              <a:defRPr/>
            </a:pPr>
            <a:r>
              <a:rPr lang="en-US" b="1" dirty="0">
                <a:solidFill>
                  <a:srgbClr val="000000"/>
                </a:solidFill>
                <a:latin typeface="Courier New" pitchFamily="49" charset="0"/>
              </a:rPr>
              <a:t>  4	MAXVALUE </a:t>
            </a:r>
            <a:r>
              <a:rPr lang="en-US" b="1" dirty="0">
                <a:solidFill>
                  <a:srgbClr val="FF0000"/>
                </a:solidFill>
                <a:latin typeface="Courier New" pitchFamily="49" charset="0"/>
              </a:rPr>
              <a:t>100</a:t>
            </a:r>
          </a:p>
          <a:p>
            <a:pPr>
              <a:tabLst>
                <a:tab pos="1200150" algn="l"/>
              </a:tabLst>
              <a:defRPr/>
            </a:pPr>
            <a:r>
              <a:rPr lang="en-US" b="1" dirty="0">
                <a:solidFill>
                  <a:srgbClr val="000000"/>
                </a:solidFill>
                <a:latin typeface="Courier New" pitchFamily="49" charset="0"/>
              </a:rPr>
              <a:t>  5	NOCYCLE </a:t>
            </a:r>
          </a:p>
          <a:p>
            <a:pPr>
              <a:tabLst>
                <a:tab pos="1200150" algn="l"/>
              </a:tabLst>
              <a:defRPr/>
            </a:pPr>
            <a:r>
              <a:rPr lang="en-US" b="1" dirty="0">
                <a:solidFill>
                  <a:srgbClr val="000000"/>
                </a:solidFill>
                <a:latin typeface="Courier New" pitchFamily="49" charset="0"/>
              </a:rPr>
              <a:t>  6	CACHE </a:t>
            </a:r>
            <a:r>
              <a:rPr lang="en-US" b="1" dirty="0">
                <a:solidFill>
                  <a:srgbClr val="FF0000"/>
                </a:solidFill>
                <a:latin typeface="Courier New" pitchFamily="49" charset="0"/>
              </a:rPr>
              <a:t>5</a:t>
            </a:r>
            <a:r>
              <a:rPr lang="en-US" b="1" dirty="0">
                <a:solidFill>
                  <a:srgbClr val="000000"/>
                </a:solidFill>
                <a:latin typeface="Courier New" pitchFamily="49" charset="0"/>
              </a:rPr>
              <a:t>;</a:t>
            </a:r>
          </a:p>
          <a:p>
            <a:pPr>
              <a:tabLst>
                <a:tab pos="1200150" algn="l"/>
              </a:tabLst>
              <a:defRPr/>
            </a:pPr>
            <a:r>
              <a:rPr lang="en-US" b="1" dirty="0">
                <a:solidFill>
                  <a:srgbClr val="FF3300"/>
                </a:solidFill>
                <a:effectLst>
                  <a:outerShdw blurRad="38100" dist="38100" dir="2700000" algn="tl">
                    <a:srgbClr val="000000"/>
                  </a:outerShdw>
                </a:effectLst>
                <a:latin typeface="Courier New" pitchFamily="49" charset="0"/>
              </a:rPr>
              <a:t>Sequence created.</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7EB4F548-6CAA-BC2C-2E09-42E6A8A619C3}"/>
              </a:ext>
            </a:extLst>
          </p:cNvPr>
          <p:cNvSpPr>
            <a:spLocks noGrp="1" noChangeArrowheads="1"/>
          </p:cNvSpPr>
          <p:nvPr>
            <p:ph type="title"/>
          </p:nvPr>
        </p:nvSpPr>
        <p:spPr>
          <a:xfrm>
            <a:off x="323850" y="660400"/>
            <a:ext cx="3851275" cy="536575"/>
          </a:xfrm>
          <a:noFill/>
        </p:spPr>
        <p:txBody>
          <a:bodyPr lIns="92075" tIns="46038" rIns="92075" bIns="46038" anchor="t"/>
          <a:lstStyle/>
          <a:p>
            <a:r>
              <a:rPr lang="en-US" altLang="en-US" sz="2800">
                <a:solidFill>
                  <a:srgbClr val="800000"/>
                </a:solidFill>
              </a:rPr>
              <a:t>Confirming Sequences</a:t>
            </a:r>
          </a:p>
        </p:txBody>
      </p:sp>
      <p:sp>
        <p:nvSpPr>
          <p:cNvPr id="18435" name="Rectangle 3">
            <a:extLst>
              <a:ext uri="{FF2B5EF4-FFF2-40B4-BE49-F238E27FC236}">
                <a16:creationId xmlns:a16="http://schemas.microsoft.com/office/drawing/2014/main" id="{E9F32C5C-8B99-46E9-BEA0-390DF30AC133}"/>
              </a:ext>
            </a:extLst>
          </p:cNvPr>
          <p:cNvSpPr>
            <a:spLocks noGrp="1" noChangeArrowheads="1"/>
          </p:cNvSpPr>
          <p:nvPr>
            <p:ph type="body" idx="1"/>
          </p:nvPr>
        </p:nvSpPr>
        <p:spPr>
          <a:xfrm>
            <a:off x="847725" y="1533525"/>
            <a:ext cx="7385050" cy="3378200"/>
          </a:xfrm>
          <a:noFill/>
        </p:spPr>
        <p:txBody>
          <a:bodyPr lIns="92075" tIns="46038" rIns="92075" bIns="46038">
            <a:spAutoFit/>
          </a:bodyPr>
          <a:lstStyle/>
          <a:p>
            <a:pPr lvl="1"/>
            <a:r>
              <a:rPr lang="en-US" altLang="en-US"/>
              <a:t>Verify your sequence values in the USER_SEQUENCES data dictionary table.</a:t>
            </a:r>
          </a:p>
          <a:p>
            <a:pPr lvl="1">
              <a:buFontTx/>
              <a:buNone/>
            </a:pPr>
            <a:endParaRPr lang="en-US" altLang="en-US"/>
          </a:p>
          <a:p>
            <a:pPr lvl="1">
              <a:buFontTx/>
              <a:buNone/>
            </a:pPr>
            <a:endParaRPr lang="en-US" altLang="en-US"/>
          </a:p>
          <a:p>
            <a:pPr lvl="1">
              <a:buFontTx/>
              <a:buNone/>
            </a:pPr>
            <a:endParaRPr lang="en-US" altLang="en-US"/>
          </a:p>
          <a:p>
            <a:pPr lvl="1">
              <a:buFontTx/>
              <a:buNone/>
            </a:pPr>
            <a:endParaRPr lang="en-US" altLang="en-US"/>
          </a:p>
          <a:p>
            <a:pPr lvl="1"/>
            <a:r>
              <a:rPr lang="en-US" altLang="en-US"/>
              <a:t>The LAST_NUMBER column displays the next available sequence number.</a:t>
            </a:r>
          </a:p>
        </p:txBody>
      </p:sp>
      <p:sp>
        <p:nvSpPr>
          <p:cNvPr id="18436" name="Rectangle 4">
            <a:extLst>
              <a:ext uri="{FF2B5EF4-FFF2-40B4-BE49-F238E27FC236}">
                <a16:creationId xmlns:a16="http://schemas.microsoft.com/office/drawing/2014/main" id="{9DC74277-D530-872E-5D65-6ECF02CFB9F6}"/>
              </a:ext>
            </a:extLst>
          </p:cNvPr>
          <p:cNvSpPr>
            <a:spLocks noChangeArrowheads="1"/>
          </p:cNvSpPr>
          <p:nvPr/>
        </p:nvSpPr>
        <p:spPr bwMode="blackWhite">
          <a:xfrm>
            <a:off x="912813" y="2952750"/>
            <a:ext cx="7518400" cy="10541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sequence_name, min_value, max_value, </a:t>
            </a:r>
          </a:p>
          <a:p>
            <a:pPr>
              <a:spcBef>
                <a:spcPct val="0"/>
              </a:spcBef>
              <a:buFontTx/>
              <a:buNone/>
            </a:pPr>
            <a:r>
              <a:rPr lang="en-US" altLang="en-US" sz="1800" b="1">
                <a:solidFill>
                  <a:srgbClr val="000000"/>
                </a:solidFill>
                <a:latin typeface="Courier New" panose="02070309020205020404" pitchFamily="49" charset="0"/>
              </a:rPr>
              <a:t>  2  		increment_by, last_number</a:t>
            </a:r>
          </a:p>
          <a:p>
            <a:pPr>
              <a:spcBef>
                <a:spcPct val="0"/>
              </a:spcBef>
              <a:buFontTx/>
              <a:buNone/>
            </a:pPr>
            <a:r>
              <a:rPr lang="en-US" altLang="en-US" sz="1800" b="1">
                <a:solidFill>
                  <a:srgbClr val="000000"/>
                </a:solidFill>
                <a:latin typeface="Courier New" panose="02070309020205020404" pitchFamily="49" charset="0"/>
              </a:rPr>
              <a:t>  3  FROM	user_sequences;</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2E210C8-4E86-97AC-94C1-736364AD2D24}"/>
              </a:ext>
            </a:extLst>
          </p:cNvPr>
          <p:cNvSpPr>
            <a:spLocks noGrp="1" noChangeArrowheads="1"/>
          </p:cNvSpPr>
          <p:nvPr>
            <p:ph type="title"/>
          </p:nvPr>
        </p:nvSpPr>
        <p:spPr>
          <a:xfrm>
            <a:off x="323850" y="660400"/>
            <a:ext cx="7091363" cy="536575"/>
          </a:xfrm>
          <a:noFill/>
        </p:spPr>
        <p:txBody>
          <a:bodyPr lIns="92075" tIns="46038" rIns="92075" bIns="46038" anchor="t"/>
          <a:lstStyle/>
          <a:p>
            <a:r>
              <a:rPr lang="en-US" altLang="en-US" sz="2800">
                <a:solidFill>
                  <a:srgbClr val="800000"/>
                </a:solidFill>
              </a:rPr>
              <a:t>NEXTVAL and CURRVAL Pseudocolumns</a:t>
            </a:r>
          </a:p>
        </p:txBody>
      </p:sp>
      <p:sp>
        <p:nvSpPr>
          <p:cNvPr id="20483" name="Rectangle 3">
            <a:extLst>
              <a:ext uri="{FF2B5EF4-FFF2-40B4-BE49-F238E27FC236}">
                <a16:creationId xmlns:a16="http://schemas.microsoft.com/office/drawing/2014/main" id="{3224A0EC-A20F-CE7D-DE8D-766EDDEDC7FC}"/>
              </a:ext>
            </a:extLst>
          </p:cNvPr>
          <p:cNvSpPr>
            <a:spLocks noGrp="1" noChangeArrowheads="1"/>
          </p:cNvSpPr>
          <p:nvPr>
            <p:ph type="body" idx="1"/>
          </p:nvPr>
        </p:nvSpPr>
        <p:spPr>
          <a:xfrm>
            <a:off x="539750" y="1773238"/>
            <a:ext cx="7888288" cy="2867025"/>
          </a:xfrm>
          <a:noFill/>
        </p:spPr>
        <p:txBody>
          <a:bodyPr lIns="92075" tIns="46038" rIns="92075" bIns="46038">
            <a:spAutoFit/>
          </a:bodyPr>
          <a:lstStyle/>
          <a:p>
            <a:pPr lvl="1"/>
            <a:r>
              <a:rPr lang="en-US" altLang="en-US"/>
              <a:t>NEXTVAL returns the next available sequence value.</a:t>
            </a:r>
          </a:p>
          <a:p>
            <a:pPr lvl="1"/>
            <a:r>
              <a:rPr lang="en-US" altLang="en-US"/>
              <a:t>It returns a unique value every time it is referenced, even for different users.</a:t>
            </a:r>
          </a:p>
          <a:p>
            <a:pPr lvl="1"/>
            <a:r>
              <a:rPr lang="en-US" altLang="en-US"/>
              <a:t>CURRVAL obtains the current sequence value.</a:t>
            </a:r>
          </a:p>
          <a:p>
            <a:pPr lvl="1"/>
            <a:r>
              <a:rPr lang="en-US" altLang="en-US"/>
              <a:t>NEXTVAL must be issued for that sequence before CURRVAL contains a value.</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FC2653B-5320-9BCF-068C-5309B55FBB17}"/>
              </a:ext>
            </a:extLst>
          </p:cNvPr>
          <p:cNvSpPr>
            <a:spLocks noGrp="1" noChangeArrowheads="1"/>
          </p:cNvSpPr>
          <p:nvPr>
            <p:ph type="title"/>
          </p:nvPr>
        </p:nvSpPr>
        <p:spPr>
          <a:xfrm>
            <a:off x="323850" y="660400"/>
            <a:ext cx="3275013" cy="536575"/>
          </a:xfrm>
          <a:noFill/>
        </p:spPr>
        <p:txBody>
          <a:bodyPr lIns="92075" tIns="46038" rIns="92075" bIns="46038" anchor="t"/>
          <a:lstStyle/>
          <a:p>
            <a:r>
              <a:rPr lang="en-US" altLang="en-US" sz="2800">
                <a:solidFill>
                  <a:srgbClr val="800000"/>
                </a:solidFill>
              </a:rPr>
              <a:t>Using a Sequence</a:t>
            </a:r>
          </a:p>
        </p:txBody>
      </p:sp>
      <p:sp>
        <p:nvSpPr>
          <p:cNvPr id="22531" name="Rectangle 3">
            <a:extLst>
              <a:ext uri="{FF2B5EF4-FFF2-40B4-BE49-F238E27FC236}">
                <a16:creationId xmlns:a16="http://schemas.microsoft.com/office/drawing/2014/main" id="{D201F81E-46DA-B857-53AC-F46FCB8F0851}"/>
              </a:ext>
            </a:extLst>
          </p:cNvPr>
          <p:cNvSpPr>
            <a:spLocks noGrp="1" noChangeArrowheads="1"/>
          </p:cNvSpPr>
          <p:nvPr>
            <p:ph type="body" idx="1"/>
          </p:nvPr>
        </p:nvSpPr>
        <p:spPr>
          <a:xfrm>
            <a:off x="468313" y="1314450"/>
            <a:ext cx="8424862" cy="5022850"/>
          </a:xfrm>
          <a:noFill/>
        </p:spPr>
        <p:txBody>
          <a:bodyPr lIns="92075" tIns="46038" rIns="92075" bIns="46038">
            <a:spAutoFit/>
          </a:bodyPr>
          <a:lstStyle/>
          <a:p>
            <a:r>
              <a:rPr lang="en-US" altLang="en-US" sz="2400"/>
              <a:t>Insert a new department named “MARKETING”.</a:t>
            </a:r>
            <a:endParaRPr lang="en-US" altLang="en-US" sz="2400">
              <a:solidFill>
                <a:srgbClr val="FF0033"/>
              </a:solidFill>
            </a:endParaRPr>
          </a:p>
          <a:p>
            <a:pPr lvl="1">
              <a:buFontTx/>
              <a:buNone/>
            </a:pPr>
            <a:endParaRPr lang="en-US" altLang="en-US"/>
          </a:p>
          <a:p>
            <a:pPr lvl="1">
              <a:buFontTx/>
              <a:buNone/>
            </a:pPr>
            <a:endParaRPr lang="en-US" altLang="en-US"/>
          </a:p>
          <a:p>
            <a:pPr lvl="1">
              <a:buFontTx/>
              <a:buNone/>
            </a:pPr>
            <a:endParaRPr lang="en-US" altLang="en-US" sz="3100"/>
          </a:p>
          <a:p>
            <a:r>
              <a:rPr lang="en-US" altLang="en-US" sz="2400"/>
              <a:t>View the current value for the DEPT_DEPTNO sequence</a:t>
            </a:r>
          </a:p>
          <a:p>
            <a:endParaRPr lang="en-US" altLang="en-US" sz="2400"/>
          </a:p>
          <a:p>
            <a:endParaRPr lang="en-US" altLang="en-US" sz="2400"/>
          </a:p>
          <a:p>
            <a:pPr lvl="1"/>
            <a:r>
              <a:rPr lang="en-US" altLang="en-US"/>
              <a:t>Gaps in sequence values can occur when:</a:t>
            </a:r>
          </a:p>
          <a:p>
            <a:pPr lvl="2"/>
            <a:r>
              <a:rPr lang="en-US" altLang="en-US" sz="2400"/>
              <a:t>A rollback occurs</a:t>
            </a:r>
          </a:p>
          <a:p>
            <a:pPr lvl="2"/>
            <a:r>
              <a:rPr lang="en-US" altLang="en-US" sz="2400"/>
              <a:t>The system crashes</a:t>
            </a:r>
          </a:p>
          <a:p>
            <a:pPr lvl="2"/>
            <a:r>
              <a:rPr lang="en-US" altLang="en-US" sz="2400"/>
              <a:t>A sequence is used in another table</a:t>
            </a:r>
          </a:p>
        </p:txBody>
      </p:sp>
      <p:sp>
        <p:nvSpPr>
          <p:cNvPr id="542724" name="Rectangle 4">
            <a:extLst>
              <a:ext uri="{FF2B5EF4-FFF2-40B4-BE49-F238E27FC236}">
                <a16:creationId xmlns:a16="http://schemas.microsoft.com/office/drawing/2014/main" id="{BF17C687-C95D-B4F9-B4BE-B9AAFFD29F2F}"/>
              </a:ext>
            </a:extLst>
          </p:cNvPr>
          <p:cNvSpPr>
            <a:spLocks noChangeArrowheads="1"/>
          </p:cNvSpPr>
          <p:nvPr/>
        </p:nvSpPr>
        <p:spPr bwMode="blackWhite">
          <a:xfrm>
            <a:off x="912813" y="1844675"/>
            <a:ext cx="7518400"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INSERT INTO	</a:t>
            </a:r>
            <a:r>
              <a:rPr lang="en-US" sz="1800" b="1" dirty="0" err="1">
                <a:solidFill>
                  <a:srgbClr val="000000"/>
                </a:solidFill>
                <a:latin typeface="Courier New" pitchFamily="49" charset="0"/>
              </a:rPr>
              <a:t>dept</a:t>
            </a:r>
            <a:r>
              <a:rPr lang="en-US" sz="1800" b="1" dirty="0">
                <a:solidFill>
                  <a:srgbClr val="000000"/>
                </a:solidFill>
                <a:latin typeface="Courier New" pitchFamily="49" charset="0"/>
              </a:rPr>
              <a:t>(</a:t>
            </a:r>
            <a:r>
              <a:rPr lang="en-US" sz="1800" b="1" dirty="0" err="1">
                <a:solidFill>
                  <a:srgbClr val="000000"/>
                </a:solidFill>
                <a:latin typeface="Courier New" pitchFamily="49" charset="0"/>
              </a:rPr>
              <a:t>deptno</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loc</a:t>
            </a:r>
            <a:r>
              <a:rPr lang="en-US" sz="1800" b="1" dirty="0">
                <a:solidFill>
                  <a:srgbClr val="000000"/>
                </a:solidFill>
                <a:latin typeface="Courier New" pitchFamily="49" charset="0"/>
              </a:rPr>
              <a:t>)</a:t>
            </a:r>
          </a:p>
          <a:p>
            <a:pPr>
              <a:tabLst>
                <a:tab pos="1200150" algn="l"/>
              </a:tabLst>
              <a:defRPr/>
            </a:pPr>
            <a:r>
              <a:rPr lang="en-US" sz="1800" b="1" dirty="0">
                <a:solidFill>
                  <a:srgbClr val="000000"/>
                </a:solidFill>
                <a:latin typeface="Courier New" pitchFamily="49" charset="0"/>
              </a:rPr>
              <a:t>  2  VALUES		(</a:t>
            </a:r>
            <a:r>
              <a:rPr lang="en-US" sz="1800" b="1" dirty="0" err="1">
                <a:solidFill>
                  <a:srgbClr val="000000"/>
                </a:solidFill>
                <a:latin typeface="Courier New" pitchFamily="49" charset="0"/>
              </a:rPr>
              <a:t>dept_deptno.NEXTVAL,‘MARKETING</a:t>
            </a:r>
            <a:r>
              <a:rPr lang="en-US" sz="1800" b="1" dirty="0">
                <a:solidFill>
                  <a:srgbClr val="000000"/>
                </a:solidFill>
                <a:latin typeface="Courier New" pitchFamily="49" charset="0"/>
              </a:rPr>
              <a:t>');</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1 row created.</a:t>
            </a:r>
          </a:p>
        </p:txBody>
      </p:sp>
      <p:sp>
        <p:nvSpPr>
          <p:cNvPr id="22533" name="Rectangle 5">
            <a:extLst>
              <a:ext uri="{FF2B5EF4-FFF2-40B4-BE49-F238E27FC236}">
                <a16:creationId xmlns:a16="http://schemas.microsoft.com/office/drawing/2014/main" id="{7C58B419-CD05-C10A-615F-C5A1372401D5}"/>
              </a:ext>
            </a:extLst>
          </p:cNvPr>
          <p:cNvSpPr>
            <a:spLocks noChangeArrowheads="1"/>
          </p:cNvSpPr>
          <p:nvPr/>
        </p:nvSpPr>
        <p:spPr bwMode="blackWhite">
          <a:xfrm>
            <a:off x="912813" y="3735388"/>
            <a:ext cx="7518400"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dept_deptno.CURRVAL</a:t>
            </a:r>
          </a:p>
          <a:p>
            <a:pPr>
              <a:spcBef>
                <a:spcPct val="0"/>
              </a:spcBef>
              <a:buFontTx/>
              <a:buNone/>
            </a:pPr>
            <a:r>
              <a:rPr lang="en-US" altLang="en-US" sz="1800" b="1">
                <a:solidFill>
                  <a:srgbClr val="000000"/>
                </a:solidFill>
                <a:latin typeface="Courier New" panose="02070309020205020404" pitchFamily="49" charset="0"/>
              </a:rPr>
              <a:t>  2  FROM	dual;</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EBFDE24-F30D-FAB0-44A3-77F187E94636}"/>
              </a:ext>
            </a:extLst>
          </p:cNvPr>
          <p:cNvSpPr>
            <a:spLocks noGrp="1" noChangeArrowheads="1"/>
          </p:cNvSpPr>
          <p:nvPr>
            <p:ph type="title"/>
          </p:nvPr>
        </p:nvSpPr>
        <p:spPr>
          <a:xfrm>
            <a:off x="395288" y="620713"/>
            <a:ext cx="3816350" cy="576262"/>
          </a:xfrm>
          <a:noFill/>
        </p:spPr>
        <p:txBody>
          <a:bodyPr lIns="92075" tIns="46038" rIns="92075" bIns="46038" anchor="t"/>
          <a:lstStyle/>
          <a:p>
            <a:r>
              <a:rPr lang="en-US" altLang="en-US" sz="2800">
                <a:solidFill>
                  <a:srgbClr val="800000"/>
                </a:solidFill>
              </a:rPr>
              <a:t>Modifying a Sequence</a:t>
            </a:r>
          </a:p>
        </p:txBody>
      </p:sp>
      <p:sp>
        <p:nvSpPr>
          <p:cNvPr id="24579" name="Rectangle 3">
            <a:extLst>
              <a:ext uri="{FF2B5EF4-FFF2-40B4-BE49-F238E27FC236}">
                <a16:creationId xmlns:a16="http://schemas.microsoft.com/office/drawing/2014/main" id="{1590ADB5-96D3-E6E5-F47B-2A9318BE0CCE}"/>
              </a:ext>
            </a:extLst>
          </p:cNvPr>
          <p:cNvSpPr>
            <a:spLocks noGrp="1" noChangeArrowheads="1"/>
          </p:cNvSpPr>
          <p:nvPr>
            <p:ph type="body" idx="1"/>
          </p:nvPr>
        </p:nvSpPr>
        <p:spPr>
          <a:xfrm>
            <a:off x="323528" y="1196752"/>
            <a:ext cx="8497192" cy="2899897"/>
          </a:xfrm>
          <a:noFill/>
        </p:spPr>
        <p:txBody>
          <a:bodyPr wrap="square" lIns="92075" tIns="46038" rIns="92075" bIns="46038">
            <a:spAutoFit/>
          </a:bodyPr>
          <a:lstStyle/>
          <a:p>
            <a:r>
              <a:rPr lang="en-US" altLang="en-US" sz="2400" dirty="0">
                <a:latin typeface="Calibri" panose="020F0502020204030204" pitchFamily="34" charset="0"/>
                <a:cs typeface="Calibri" panose="020F0502020204030204" pitchFamily="34" charset="0"/>
              </a:rPr>
              <a:t>Change the increment value, maximum value, minimum value, cycle option, or cache option.</a:t>
            </a:r>
          </a:p>
          <a:p>
            <a:r>
              <a:rPr lang="en-US" altLang="en-US" sz="2400" dirty="0">
                <a:latin typeface="Calibri" panose="020F0502020204030204" pitchFamily="34" charset="0"/>
                <a:cs typeface="Calibri" panose="020F0502020204030204" pitchFamily="34" charset="0"/>
              </a:rPr>
              <a:t>You cannot change the start value of a sequence.</a:t>
            </a:r>
          </a:p>
          <a:p>
            <a:r>
              <a:rPr lang="en-US" altLang="en-US" sz="2400" dirty="0">
                <a:latin typeface="Calibri" panose="020F0502020204030204" pitchFamily="34" charset="0"/>
                <a:cs typeface="Calibri" panose="020F0502020204030204" pitchFamily="34" charset="0"/>
              </a:rPr>
              <a:t>The minimum value cannot be more than the current value of the sequence.</a:t>
            </a:r>
          </a:p>
          <a:p>
            <a:r>
              <a:rPr lang="en-US" altLang="en-US" sz="2400" dirty="0">
                <a:latin typeface="Calibri" panose="020F0502020204030204" pitchFamily="34" charset="0"/>
                <a:cs typeface="Calibri" panose="020F0502020204030204" pitchFamily="34" charset="0"/>
              </a:rPr>
              <a:t>The maximum value cannot be less than the current value of the sequence.</a:t>
            </a:r>
          </a:p>
        </p:txBody>
      </p:sp>
      <p:sp>
        <p:nvSpPr>
          <p:cNvPr id="24580" name="Arc 4">
            <a:extLst>
              <a:ext uri="{FF2B5EF4-FFF2-40B4-BE49-F238E27FC236}">
                <a16:creationId xmlns:a16="http://schemas.microsoft.com/office/drawing/2014/main" id="{0AFA2461-86E0-3D3E-3990-2B92F5E1E248}"/>
              </a:ext>
            </a:extLst>
          </p:cNvPr>
          <p:cNvSpPr>
            <a:spLocks/>
          </p:cNvSpPr>
          <p:nvPr/>
        </p:nvSpPr>
        <p:spPr bwMode="ltGray">
          <a:xfrm>
            <a:off x="5459413" y="2813050"/>
            <a:ext cx="211137" cy="225425"/>
          </a:xfrm>
          <a:custGeom>
            <a:avLst/>
            <a:gdLst>
              <a:gd name="T0" fmla="*/ 1927554871 w 21600"/>
              <a:gd name="T1" fmla="*/ 2147483646 h 21600"/>
              <a:gd name="T2" fmla="*/ 0 w 21600"/>
              <a:gd name="T3" fmla="*/ 0 h 21600"/>
              <a:gd name="T4" fmla="*/ 1927554871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46821" name="Rectangle 5">
            <a:extLst>
              <a:ext uri="{FF2B5EF4-FFF2-40B4-BE49-F238E27FC236}">
                <a16:creationId xmlns:a16="http://schemas.microsoft.com/office/drawing/2014/main" id="{24EB26D0-B385-142F-298B-FBF61B1B6855}"/>
              </a:ext>
            </a:extLst>
          </p:cNvPr>
          <p:cNvSpPr>
            <a:spLocks noChangeArrowheads="1"/>
          </p:cNvSpPr>
          <p:nvPr/>
        </p:nvSpPr>
        <p:spPr bwMode="blackWhite">
          <a:xfrm>
            <a:off x="899592" y="4117008"/>
            <a:ext cx="7691635" cy="212027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2200" b="1" dirty="0">
                <a:solidFill>
                  <a:srgbClr val="000000"/>
                </a:solidFill>
                <a:latin typeface="Courier New" pitchFamily="49" charset="0"/>
              </a:rPr>
              <a:t>SQL&gt; ALTER SEQUENCE </a:t>
            </a:r>
            <a:r>
              <a:rPr lang="en-US" sz="2200" b="1" dirty="0" err="1">
                <a:solidFill>
                  <a:srgbClr val="000000"/>
                </a:solidFill>
                <a:latin typeface="Courier New" pitchFamily="49" charset="0"/>
              </a:rPr>
              <a:t>dept_deptno</a:t>
            </a:r>
            <a:endParaRPr lang="en-US" sz="2200" b="1" dirty="0">
              <a:solidFill>
                <a:srgbClr val="000000"/>
              </a:solidFill>
              <a:latin typeface="Courier New" pitchFamily="49" charset="0"/>
            </a:endParaRPr>
          </a:p>
          <a:p>
            <a:pPr>
              <a:tabLst>
                <a:tab pos="1200150" algn="l"/>
              </a:tabLst>
              <a:defRPr/>
            </a:pPr>
            <a:r>
              <a:rPr lang="en-US" sz="2200" b="1" dirty="0">
                <a:solidFill>
                  <a:srgbClr val="000000"/>
                </a:solidFill>
                <a:latin typeface="Courier New" pitchFamily="49" charset="0"/>
              </a:rPr>
              <a:t>  2	  INCREMENT BY 1</a:t>
            </a:r>
          </a:p>
          <a:p>
            <a:pPr>
              <a:tabLst>
                <a:tab pos="1200150" algn="l"/>
              </a:tabLst>
              <a:defRPr/>
            </a:pPr>
            <a:r>
              <a:rPr lang="en-US" sz="2200" b="1" dirty="0">
                <a:solidFill>
                  <a:srgbClr val="000000"/>
                </a:solidFill>
                <a:latin typeface="Courier New" pitchFamily="49" charset="0"/>
              </a:rPr>
              <a:t>  3	  MAXVALUE 999999</a:t>
            </a:r>
          </a:p>
          <a:p>
            <a:pPr>
              <a:tabLst>
                <a:tab pos="1200150" algn="l"/>
              </a:tabLst>
              <a:defRPr/>
            </a:pPr>
            <a:r>
              <a:rPr lang="en-US" sz="2200" b="1" dirty="0">
                <a:solidFill>
                  <a:srgbClr val="000000"/>
                </a:solidFill>
                <a:latin typeface="Courier New" pitchFamily="49" charset="0"/>
              </a:rPr>
              <a:t>  4	  NOCACHE</a:t>
            </a:r>
          </a:p>
          <a:p>
            <a:pPr>
              <a:tabLst>
                <a:tab pos="1200150" algn="l"/>
              </a:tabLst>
              <a:defRPr/>
            </a:pPr>
            <a:r>
              <a:rPr lang="en-US" sz="2200" b="1" dirty="0">
                <a:solidFill>
                  <a:srgbClr val="000000"/>
                </a:solidFill>
                <a:latin typeface="Courier New" pitchFamily="49" charset="0"/>
              </a:rPr>
              <a:t>  5	  NOCYCLE;</a:t>
            </a:r>
          </a:p>
          <a:p>
            <a:pPr>
              <a:tabLst>
                <a:tab pos="1200150" algn="l"/>
              </a:tabLst>
              <a:defRPr/>
            </a:pPr>
            <a:r>
              <a:rPr lang="en-US" sz="2200" b="1" dirty="0">
                <a:solidFill>
                  <a:srgbClr val="FF3300"/>
                </a:solidFill>
                <a:effectLst>
                  <a:outerShdw blurRad="38100" dist="38100" dir="2700000" algn="tl">
                    <a:srgbClr val="000000"/>
                  </a:outerShdw>
                </a:effectLst>
                <a:latin typeface="Courier New" pitchFamily="49" charset="0"/>
              </a:rPr>
              <a:t>Sequence altered.</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AA636F4-C25D-410B-D50C-62BA3E9E7646}"/>
              </a:ext>
            </a:extLst>
          </p:cNvPr>
          <p:cNvSpPr>
            <a:spLocks noGrp="1" noChangeArrowheads="1"/>
          </p:cNvSpPr>
          <p:nvPr>
            <p:ph type="title"/>
          </p:nvPr>
        </p:nvSpPr>
        <p:spPr>
          <a:xfrm>
            <a:off x="433388" y="620713"/>
            <a:ext cx="4283075" cy="431800"/>
          </a:xfrm>
          <a:noFill/>
        </p:spPr>
        <p:txBody>
          <a:bodyPr lIns="92075" tIns="46038" rIns="92075" bIns="46038" anchor="t"/>
          <a:lstStyle/>
          <a:p>
            <a:r>
              <a:rPr lang="en-US" altLang="en-US" sz="2800">
                <a:solidFill>
                  <a:srgbClr val="800000"/>
                </a:solidFill>
              </a:rPr>
              <a:t>Removing a Sequence</a:t>
            </a:r>
          </a:p>
        </p:txBody>
      </p:sp>
      <p:sp>
        <p:nvSpPr>
          <p:cNvPr id="26627" name="Rectangle 3">
            <a:extLst>
              <a:ext uri="{FF2B5EF4-FFF2-40B4-BE49-F238E27FC236}">
                <a16:creationId xmlns:a16="http://schemas.microsoft.com/office/drawing/2014/main" id="{1FAB49E5-15A3-8249-F50E-157CCFE2D573}"/>
              </a:ext>
            </a:extLst>
          </p:cNvPr>
          <p:cNvSpPr>
            <a:spLocks noGrp="1" noChangeArrowheads="1"/>
          </p:cNvSpPr>
          <p:nvPr>
            <p:ph type="body" idx="1"/>
          </p:nvPr>
        </p:nvSpPr>
        <p:spPr>
          <a:xfrm>
            <a:off x="860425" y="1814513"/>
            <a:ext cx="7385050" cy="1625600"/>
          </a:xfrm>
          <a:noFill/>
        </p:spPr>
        <p:txBody>
          <a:bodyPr lIns="92075" tIns="46038" rIns="92075" bIns="46038">
            <a:spAutoFit/>
          </a:bodyPr>
          <a:lstStyle/>
          <a:p>
            <a:pPr lvl="1"/>
            <a:r>
              <a:rPr lang="en-US" altLang="en-US"/>
              <a:t>Remove a sequence from the data dictionary by using the DROP SEQUENCE statement.</a:t>
            </a:r>
          </a:p>
          <a:p>
            <a:pPr lvl="1"/>
            <a:r>
              <a:rPr lang="en-US" altLang="en-US"/>
              <a:t>Once removed, the sequence can no longer be referenced.</a:t>
            </a:r>
          </a:p>
        </p:txBody>
      </p:sp>
      <p:sp>
        <p:nvSpPr>
          <p:cNvPr id="550916" name="Rectangle 4">
            <a:extLst>
              <a:ext uri="{FF2B5EF4-FFF2-40B4-BE49-F238E27FC236}">
                <a16:creationId xmlns:a16="http://schemas.microsoft.com/office/drawing/2014/main" id="{9D17B5A5-DC4A-95B7-E50D-ACA669685ED9}"/>
              </a:ext>
            </a:extLst>
          </p:cNvPr>
          <p:cNvSpPr>
            <a:spLocks noChangeArrowheads="1"/>
          </p:cNvSpPr>
          <p:nvPr/>
        </p:nvSpPr>
        <p:spPr bwMode="blackWhite">
          <a:xfrm>
            <a:off x="957263" y="3623420"/>
            <a:ext cx="7518400" cy="115738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b="1">
                <a:solidFill>
                  <a:srgbClr val="000000"/>
                </a:solidFill>
                <a:latin typeface="Courier New" pitchFamily="49" charset="0"/>
              </a:rPr>
              <a:t>SQL&gt; DROP SEQUENCE dept_deptno;</a:t>
            </a:r>
          </a:p>
          <a:p>
            <a:pPr>
              <a:tabLst>
                <a:tab pos="1200150" algn="l"/>
              </a:tabLst>
              <a:defRPr/>
            </a:pPr>
            <a:r>
              <a:rPr lang="en-US" b="1">
                <a:solidFill>
                  <a:srgbClr val="FF3300"/>
                </a:solidFill>
                <a:effectLst>
                  <a:outerShdw blurRad="38100" dist="38100" dir="2700000" algn="tl">
                    <a:srgbClr val="000000"/>
                  </a:outerShdw>
                </a:effectLst>
                <a:latin typeface="Courier New" pitchFamily="49" charset="0"/>
              </a:rPr>
              <a:t>Sequence dropped.</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BAD6061-AAA7-C8D9-448C-25B179C0F2C8}"/>
              </a:ext>
            </a:extLst>
          </p:cNvPr>
          <p:cNvSpPr>
            <a:spLocks noGrp="1" noChangeArrowheads="1"/>
          </p:cNvSpPr>
          <p:nvPr>
            <p:ph type="title"/>
          </p:nvPr>
        </p:nvSpPr>
        <p:spPr>
          <a:xfrm>
            <a:off x="323850" y="660400"/>
            <a:ext cx="3275013" cy="536575"/>
          </a:xfrm>
          <a:noFill/>
        </p:spPr>
        <p:txBody>
          <a:bodyPr lIns="92075" tIns="46038" rIns="92075" bIns="46038" anchor="t"/>
          <a:lstStyle/>
          <a:p>
            <a:r>
              <a:rPr lang="en-US" altLang="en-US" sz="2800">
                <a:solidFill>
                  <a:srgbClr val="800000"/>
                </a:solidFill>
              </a:rPr>
              <a:t>What Is an Index?</a:t>
            </a:r>
          </a:p>
        </p:txBody>
      </p:sp>
      <p:sp>
        <p:nvSpPr>
          <p:cNvPr id="28675" name="Rectangle 3">
            <a:extLst>
              <a:ext uri="{FF2B5EF4-FFF2-40B4-BE49-F238E27FC236}">
                <a16:creationId xmlns:a16="http://schemas.microsoft.com/office/drawing/2014/main" id="{007E2151-0BAE-CF16-F0A9-70521AD5ED54}"/>
              </a:ext>
            </a:extLst>
          </p:cNvPr>
          <p:cNvSpPr>
            <a:spLocks noGrp="1" noChangeArrowheads="1"/>
          </p:cNvSpPr>
          <p:nvPr>
            <p:ph type="body" idx="1"/>
          </p:nvPr>
        </p:nvSpPr>
        <p:spPr>
          <a:xfrm>
            <a:off x="539552" y="1412776"/>
            <a:ext cx="7385050" cy="2456699"/>
          </a:xfrm>
          <a:noFill/>
        </p:spPr>
        <p:txBody>
          <a:bodyPr lIns="92075" tIns="46038" rIns="92075" bIns="46038">
            <a:spAutoFit/>
          </a:bodyPr>
          <a:lstStyle/>
          <a:p>
            <a:pPr lvl="1"/>
            <a:r>
              <a:rPr lang="en-US" altLang="en-US" dirty="0"/>
              <a:t>Is used by the Oracle Server to speed up the retrieval of rows by using a pointer</a:t>
            </a:r>
          </a:p>
          <a:p>
            <a:pPr lvl="1"/>
            <a:r>
              <a:rPr lang="en-US" altLang="en-US" dirty="0"/>
              <a:t>Can reduce disk I/O by using rapid path access method to locate the data quickly</a:t>
            </a:r>
          </a:p>
          <a:p>
            <a:pPr lvl="1"/>
            <a:r>
              <a:rPr lang="en-US" altLang="en-US" dirty="0"/>
              <a:t>Is used and maintained automatically by the Oracle Server</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94C419D-D42C-FC8B-9880-0D001436C3E2}"/>
              </a:ext>
            </a:extLst>
          </p:cNvPr>
          <p:cNvSpPr>
            <a:spLocks noGrp="1" noChangeArrowheads="1"/>
          </p:cNvSpPr>
          <p:nvPr>
            <p:ph type="title"/>
          </p:nvPr>
        </p:nvSpPr>
        <p:spPr>
          <a:xfrm>
            <a:off x="323850" y="660400"/>
            <a:ext cx="4643438" cy="536575"/>
          </a:xfrm>
          <a:noFill/>
        </p:spPr>
        <p:txBody>
          <a:bodyPr lIns="92075" tIns="46038" rIns="92075" bIns="46038" anchor="t"/>
          <a:lstStyle/>
          <a:p>
            <a:r>
              <a:rPr lang="en-US" altLang="en-US" sz="2800">
                <a:solidFill>
                  <a:srgbClr val="800000"/>
                </a:solidFill>
              </a:rPr>
              <a:t>How Are Indexes Created?</a:t>
            </a:r>
          </a:p>
        </p:txBody>
      </p:sp>
      <p:sp>
        <p:nvSpPr>
          <p:cNvPr id="30723" name="Rectangle 3">
            <a:extLst>
              <a:ext uri="{FF2B5EF4-FFF2-40B4-BE49-F238E27FC236}">
                <a16:creationId xmlns:a16="http://schemas.microsoft.com/office/drawing/2014/main" id="{B97F5A36-3424-9311-C849-018F356AABE7}"/>
              </a:ext>
            </a:extLst>
          </p:cNvPr>
          <p:cNvSpPr>
            <a:spLocks noGrp="1" noChangeArrowheads="1"/>
          </p:cNvSpPr>
          <p:nvPr>
            <p:ph type="body" idx="1"/>
          </p:nvPr>
        </p:nvSpPr>
        <p:spPr>
          <a:xfrm>
            <a:off x="395288" y="1484313"/>
            <a:ext cx="7743825" cy="1990725"/>
          </a:xfrm>
          <a:noFill/>
        </p:spPr>
        <p:txBody>
          <a:bodyPr lIns="92075" tIns="46038" rIns="92075" bIns="46038">
            <a:spAutoFit/>
          </a:bodyPr>
          <a:lstStyle/>
          <a:p>
            <a:pPr lvl="1"/>
            <a:r>
              <a:rPr lang="en-US" altLang="en-US">
                <a:solidFill>
                  <a:schemeClr val="accent2"/>
                </a:solidFill>
              </a:rPr>
              <a:t>Automatically:</a:t>
            </a:r>
            <a:r>
              <a:rPr lang="en-US" altLang="en-US"/>
              <a:t> A unique index is created automatically when you define a PRIMARY KEY or UNIQUE constraint in a table definition.</a:t>
            </a:r>
          </a:p>
          <a:p>
            <a:pPr lvl="1"/>
            <a:r>
              <a:rPr lang="en-US" altLang="en-US">
                <a:solidFill>
                  <a:schemeClr val="accent2"/>
                </a:solidFill>
              </a:rPr>
              <a:t>Manually:</a:t>
            </a:r>
            <a:r>
              <a:rPr lang="en-US" altLang="en-US"/>
              <a:t> Users can create nonunique indexes on columns to speed up access time to the rows.</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70CB0C1-4D9A-6131-D63E-3A3EF2BFB362}"/>
              </a:ext>
            </a:extLst>
          </p:cNvPr>
          <p:cNvSpPr>
            <a:spLocks noGrp="1" noChangeArrowheads="1"/>
          </p:cNvSpPr>
          <p:nvPr>
            <p:ph type="title"/>
          </p:nvPr>
        </p:nvSpPr>
        <p:spPr>
          <a:xfrm>
            <a:off x="323850" y="660400"/>
            <a:ext cx="3130550" cy="536575"/>
          </a:xfrm>
          <a:noFill/>
        </p:spPr>
        <p:txBody>
          <a:bodyPr lIns="92075" tIns="46038" rIns="92075" bIns="46038" anchor="t"/>
          <a:lstStyle/>
          <a:p>
            <a:r>
              <a:rPr lang="en-US" altLang="en-US" sz="2800">
                <a:solidFill>
                  <a:srgbClr val="800000"/>
                </a:solidFill>
              </a:rPr>
              <a:t>Creating an Index</a:t>
            </a:r>
          </a:p>
        </p:txBody>
      </p:sp>
      <p:sp>
        <p:nvSpPr>
          <p:cNvPr id="32773" name="Rectangle 5">
            <a:extLst>
              <a:ext uri="{FF2B5EF4-FFF2-40B4-BE49-F238E27FC236}">
                <a16:creationId xmlns:a16="http://schemas.microsoft.com/office/drawing/2014/main" id="{AE912006-032D-71D2-B5BC-F66C9A14B405}"/>
              </a:ext>
            </a:extLst>
          </p:cNvPr>
          <p:cNvSpPr>
            <a:spLocks noChangeArrowheads="1"/>
          </p:cNvSpPr>
          <p:nvPr/>
        </p:nvSpPr>
        <p:spPr bwMode="blackWhite">
          <a:xfrm>
            <a:off x="596900" y="1379935"/>
            <a:ext cx="7518400" cy="119988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CREATE [UNIQUE]INDEX </a:t>
            </a:r>
            <a:r>
              <a:rPr lang="en-US" altLang="en-US" sz="2400" b="1" i="1" dirty="0" err="1">
                <a:solidFill>
                  <a:srgbClr val="000000"/>
                </a:solidFill>
                <a:latin typeface="Courier New" panose="02070309020205020404" pitchFamily="49" charset="0"/>
              </a:rPr>
              <a:t>index_name</a:t>
            </a:r>
            <a:endParaRPr lang="en-US" altLang="en-US" sz="2400" b="1" dirty="0">
              <a:solidFill>
                <a:srgbClr val="000000"/>
              </a:solidFill>
              <a:latin typeface="Courier New" panose="02070309020205020404" pitchFamily="49" charset="0"/>
            </a:endParaRPr>
          </a:p>
          <a:p>
            <a:pPr>
              <a:spcBef>
                <a:spcPct val="0"/>
              </a:spcBef>
              <a:buFontTx/>
              <a:buNone/>
            </a:pPr>
            <a:r>
              <a:rPr lang="en-US" altLang="en-US" sz="2400" b="1" dirty="0">
                <a:solidFill>
                  <a:srgbClr val="000000"/>
                </a:solidFill>
                <a:latin typeface="Courier New" panose="02070309020205020404" pitchFamily="49" charset="0"/>
              </a:rPr>
              <a:t>ON </a:t>
            </a:r>
            <a:r>
              <a:rPr lang="en-US" altLang="en-US" sz="2400" b="1" i="1" dirty="0" err="1">
                <a:solidFill>
                  <a:srgbClr val="000000"/>
                </a:solidFill>
                <a:latin typeface="Courier New" panose="02070309020205020404" pitchFamily="49" charset="0"/>
              </a:rPr>
              <a:t>table_name</a:t>
            </a:r>
            <a:r>
              <a:rPr lang="en-US" altLang="en-US" sz="2400" b="1" dirty="0">
                <a:solidFill>
                  <a:srgbClr val="000000"/>
                </a:solidFill>
                <a:latin typeface="Courier New" panose="02070309020205020404" pitchFamily="49" charset="0"/>
              </a:rPr>
              <a:t> (</a:t>
            </a:r>
            <a:r>
              <a:rPr lang="en-US" altLang="en-US" sz="2400" b="1" i="1" dirty="0">
                <a:solidFill>
                  <a:srgbClr val="000000"/>
                </a:solidFill>
                <a:latin typeface="Courier New" panose="02070309020205020404" pitchFamily="49" charset="0"/>
              </a:rPr>
              <a:t>column</a:t>
            </a:r>
            <a:r>
              <a:rPr lang="en-US" altLang="en-US" sz="2400" b="1" dirty="0">
                <a:solidFill>
                  <a:srgbClr val="000000"/>
                </a:solidFill>
                <a:latin typeface="Courier New" panose="02070309020205020404" pitchFamily="49" charset="0"/>
              </a:rPr>
              <a:t>[, </a:t>
            </a:r>
            <a:r>
              <a:rPr lang="en-US" altLang="en-US" sz="2400" b="1" i="1" dirty="0">
                <a:solidFill>
                  <a:srgbClr val="000000"/>
                </a:solidFill>
                <a:latin typeface="Courier New" panose="02070309020205020404" pitchFamily="49" charset="0"/>
              </a:rPr>
              <a:t>column</a:t>
            </a:r>
            <a:r>
              <a:rPr lang="en-US" altLang="en-US" sz="2400" b="1" dirty="0">
                <a:solidFill>
                  <a:srgbClr val="000000"/>
                </a:solidFill>
                <a:latin typeface="Courier New" panose="02070309020205020404" pitchFamily="49" charset="0"/>
              </a:rPr>
              <a:t>]...)</a:t>
            </a:r>
          </a:p>
          <a:p>
            <a:pPr>
              <a:spcBef>
                <a:spcPct val="0"/>
              </a:spcBef>
              <a:buFontTx/>
              <a:buNone/>
            </a:pPr>
            <a:r>
              <a:rPr lang="en-US" altLang="en-US" sz="2400" b="1" dirty="0">
                <a:solidFill>
                  <a:srgbClr val="000000"/>
                </a:solidFill>
                <a:latin typeface="Courier New" panose="02070309020205020404" pitchFamily="49" charset="0"/>
              </a:rPr>
              <a:t>[TABLESPACE </a:t>
            </a:r>
            <a:r>
              <a:rPr lang="en-US" altLang="en-US" sz="2400" b="1" dirty="0" err="1">
                <a:solidFill>
                  <a:srgbClr val="000000"/>
                </a:solidFill>
                <a:latin typeface="Courier New" panose="02070309020205020404" pitchFamily="49" charset="0"/>
              </a:rPr>
              <a:t>tab_cpace</a:t>
            </a:r>
            <a:r>
              <a:rPr lang="en-US" altLang="en-US" sz="2400" b="1" dirty="0">
                <a:solidFill>
                  <a:srgbClr val="000000"/>
                </a:solidFill>
                <a:latin typeface="Courier New" panose="02070309020205020404" pitchFamily="49" charset="0"/>
              </a:rPr>
              <a:t>];</a:t>
            </a:r>
          </a:p>
        </p:txBody>
      </p:sp>
      <p:sp>
        <p:nvSpPr>
          <p:cNvPr id="32774" name="Rectangle 6">
            <a:extLst>
              <a:ext uri="{FF2B5EF4-FFF2-40B4-BE49-F238E27FC236}">
                <a16:creationId xmlns:a16="http://schemas.microsoft.com/office/drawing/2014/main" id="{B2D8C48E-7B56-6100-E635-94FDE90804E1}"/>
              </a:ext>
            </a:extLst>
          </p:cNvPr>
          <p:cNvSpPr>
            <a:spLocks noChangeArrowheads="1"/>
          </p:cNvSpPr>
          <p:nvPr/>
        </p:nvSpPr>
        <p:spPr bwMode="auto">
          <a:xfrm>
            <a:off x="501650" y="2720976"/>
            <a:ext cx="7613650" cy="162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dirty="0" err="1">
                <a:solidFill>
                  <a:srgbClr val="FF0000"/>
                </a:solidFill>
              </a:rPr>
              <a:t>tab_space</a:t>
            </a:r>
            <a:r>
              <a:rPr lang="en-US" altLang="en-US" dirty="0"/>
              <a:t> is the tablespace for the index. If omitted, the index is stored in the user’s default tablespace.</a:t>
            </a:r>
          </a:p>
          <a:p>
            <a:pPr lvl="1">
              <a:lnSpc>
                <a:spcPct val="95000"/>
              </a:lnSpc>
              <a:spcBef>
                <a:spcPct val="35000"/>
              </a:spcBef>
              <a:buClr>
                <a:srgbClr val="FFCC66"/>
              </a:buClr>
              <a:buFontTx/>
              <a:buChar char="•"/>
            </a:pPr>
            <a:r>
              <a:rPr lang="en-US" altLang="en-US" dirty="0"/>
              <a:t>For performance reasons, you should typically store indexes in a different tablespace from tables.</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8E057-AFE3-A3ED-BAE9-49C664BCC7E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3CC10BD-305A-A4C0-604B-F6C5CF02786D}"/>
              </a:ext>
            </a:extLst>
          </p:cNvPr>
          <p:cNvSpPr>
            <a:spLocks noGrp="1" noChangeArrowheads="1"/>
          </p:cNvSpPr>
          <p:nvPr>
            <p:ph type="title"/>
          </p:nvPr>
        </p:nvSpPr>
        <p:spPr>
          <a:xfrm>
            <a:off x="323850" y="660400"/>
            <a:ext cx="3130550" cy="536575"/>
          </a:xfrm>
          <a:noFill/>
        </p:spPr>
        <p:txBody>
          <a:bodyPr lIns="92075" tIns="46038" rIns="92075" bIns="46038" anchor="t"/>
          <a:lstStyle/>
          <a:p>
            <a:r>
              <a:rPr lang="en-US" altLang="en-US" sz="2800">
                <a:solidFill>
                  <a:srgbClr val="800000"/>
                </a:solidFill>
              </a:rPr>
              <a:t>Creating an Index</a:t>
            </a:r>
          </a:p>
        </p:txBody>
      </p:sp>
      <p:sp>
        <p:nvSpPr>
          <p:cNvPr id="557060" name="Rectangle 4">
            <a:extLst>
              <a:ext uri="{FF2B5EF4-FFF2-40B4-BE49-F238E27FC236}">
                <a16:creationId xmlns:a16="http://schemas.microsoft.com/office/drawing/2014/main" id="{C43BAED4-4429-CB89-B409-7542AAF64D8E}"/>
              </a:ext>
            </a:extLst>
          </p:cNvPr>
          <p:cNvSpPr>
            <a:spLocks noChangeArrowheads="1"/>
          </p:cNvSpPr>
          <p:nvPr/>
        </p:nvSpPr>
        <p:spPr bwMode="blackWhite">
          <a:xfrm>
            <a:off x="683568" y="1340768"/>
            <a:ext cx="7518400" cy="93610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b="1" dirty="0">
                <a:solidFill>
                  <a:srgbClr val="000000"/>
                </a:solidFill>
                <a:latin typeface="Courier New" pitchFamily="49" charset="0"/>
              </a:rPr>
              <a:t>SQL&gt; CREATE INDEX 	</a:t>
            </a:r>
            <a:r>
              <a:rPr lang="en-US" b="1" dirty="0" err="1">
                <a:solidFill>
                  <a:srgbClr val="000000"/>
                </a:solidFill>
                <a:latin typeface="Courier New" pitchFamily="49" charset="0"/>
              </a:rPr>
              <a:t>emp_ename_idx</a:t>
            </a:r>
            <a:endParaRPr lang="en-US" b="1" dirty="0">
              <a:solidFill>
                <a:srgbClr val="000000"/>
              </a:solidFill>
              <a:latin typeface="Courier New" pitchFamily="49" charset="0"/>
            </a:endParaRPr>
          </a:p>
          <a:p>
            <a:pPr>
              <a:tabLst>
                <a:tab pos="1200150" algn="l"/>
              </a:tabLst>
              <a:defRPr/>
            </a:pPr>
            <a:r>
              <a:rPr lang="en-US" b="1" dirty="0">
                <a:solidFill>
                  <a:srgbClr val="000000"/>
                </a:solidFill>
                <a:latin typeface="Courier New" pitchFamily="49" charset="0"/>
              </a:rPr>
              <a:t>  2  ON 			emp(</a:t>
            </a:r>
            <a:r>
              <a:rPr lang="en-US" b="1" dirty="0" err="1">
                <a:solidFill>
                  <a:srgbClr val="000000"/>
                </a:solidFill>
                <a:latin typeface="Courier New" pitchFamily="49" charset="0"/>
              </a:rPr>
              <a:t>ename</a:t>
            </a:r>
            <a:r>
              <a:rPr lang="en-US" b="1" dirty="0">
                <a:solidFill>
                  <a:srgbClr val="000000"/>
                </a:solidFill>
                <a:latin typeface="Courier New" pitchFamily="49" charset="0"/>
              </a:rPr>
              <a:t>);</a:t>
            </a:r>
            <a:endParaRPr lang="en-US" b="1" dirty="0">
              <a:solidFill>
                <a:srgbClr val="FF3300"/>
              </a:solidFill>
              <a:effectLst>
                <a:outerShdw blurRad="38100" dist="38100" dir="2700000" algn="tl">
                  <a:srgbClr val="000000"/>
                </a:outerShdw>
              </a:effectLst>
              <a:latin typeface="Courier New" pitchFamily="49" charset="0"/>
            </a:endParaRPr>
          </a:p>
        </p:txBody>
      </p:sp>
      <p:sp>
        <p:nvSpPr>
          <p:cNvPr id="2" name="Rectangle 4">
            <a:extLst>
              <a:ext uri="{FF2B5EF4-FFF2-40B4-BE49-F238E27FC236}">
                <a16:creationId xmlns:a16="http://schemas.microsoft.com/office/drawing/2014/main" id="{303A898C-144E-8954-A207-7E330284B8FA}"/>
              </a:ext>
            </a:extLst>
          </p:cNvPr>
          <p:cNvSpPr>
            <a:spLocks noChangeArrowheads="1"/>
          </p:cNvSpPr>
          <p:nvPr/>
        </p:nvSpPr>
        <p:spPr bwMode="blackWhite">
          <a:xfrm>
            <a:off x="683568" y="2456613"/>
            <a:ext cx="7518400" cy="93610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b="1" dirty="0">
                <a:solidFill>
                  <a:srgbClr val="000000"/>
                </a:solidFill>
                <a:latin typeface="Courier New" pitchFamily="49" charset="0"/>
              </a:rPr>
              <a:t>SQL&gt; CREATE UNIQUE INDEX 	</a:t>
            </a:r>
            <a:r>
              <a:rPr lang="en-US" b="1" dirty="0" err="1">
                <a:solidFill>
                  <a:srgbClr val="000000"/>
                </a:solidFill>
                <a:latin typeface="Courier New" pitchFamily="49" charset="0"/>
              </a:rPr>
              <a:t>emp_phno_idx</a:t>
            </a:r>
            <a:endParaRPr lang="en-US" b="1" dirty="0">
              <a:solidFill>
                <a:srgbClr val="000000"/>
              </a:solidFill>
              <a:latin typeface="Courier New" pitchFamily="49" charset="0"/>
            </a:endParaRPr>
          </a:p>
          <a:p>
            <a:pPr>
              <a:tabLst>
                <a:tab pos="1200150" algn="l"/>
              </a:tabLst>
              <a:defRPr/>
            </a:pPr>
            <a:r>
              <a:rPr lang="en-US" b="1" dirty="0">
                <a:solidFill>
                  <a:srgbClr val="000000"/>
                </a:solidFill>
                <a:latin typeface="Courier New" pitchFamily="49" charset="0"/>
              </a:rPr>
              <a:t>  2  ON 			emp(</a:t>
            </a:r>
            <a:r>
              <a:rPr lang="en-US" b="1" dirty="0" err="1">
                <a:solidFill>
                  <a:srgbClr val="000000"/>
                </a:solidFill>
                <a:latin typeface="Courier New" pitchFamily="49" charset="0"/>
              </a:rPr>
              <a:t>phno</a:t>
            </a:r>
            <a:r>
              <a:rPr lang="en-US" b="1" dirty="0">
                <a:solidFill>
                  <a:srgbClr val="000000"/>
                </a:solidFill>
                <a:latin typeface="Courier New" pitchFamily="49" charset="0"/>
              </a:rPr>
              <a:t>);</a:t>
            </a:r>
            <a:endParaRPr lang="en-US" b="1" dirty="0">
              <a:solidFill>
                <a:srgbClr val="FF3300"/>
              </a:solidFill>
              <a:effectLst>
                <a:outerShdw blurRad="38100" dist="38100" dir="2700000" algn="tl">
                  <a:srgbClr val="000000"/>
                </a:outerShdw>
              </a:effectLst>
              <a:latin typeface="Courier New" pitchFamily="49" charset="0"/>
            </a:endParaRPr>
          </a:p>
        </p:txBody>
      </p:sp>
      <p:sp>
        <p:nvSpPr>
          <p:cNvPr id="3" name="Rectangle 4">
            <a:extLst>
              <a:ext uri="{FF2B5EF4-FFF2-40B4-BE49-F238E27FC236}">
                <a16:creationId xmlns:a16="http://schemas.microsoft.com/office/drawing/2014/main" id="{96AF82FD-EC17-0EF1-BECA-D352B5379965}"/>
              </a:ext>
            </a:extLst>
          </p:cNvPr>
          <p:cNvSpPr>
            <a:spLocks noChangeArrowheads="1"/>
          </p:cNvSpPr>
          <p:nvPr/>
        </p:nvSpPr>
        <p:spPr bwMode="blackWhite">
          <a:xfrm>
            <a:off x="683568" y="3645024"/>
            <a:ext cx="7518400" cy="86409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b="1" dirty="0">
                <a:solidFill>
                  <a:srgbClr val="000000"/>
                </a:solidFill>
                <a:latin typeface="Courier New" pitchFamily="49" charset="0"/>
              </a:rPr>
              <a:t>SQL&gt; CREATE INDEX 	</a:t>
            </a:r>
            <a:r>
              <a:rPr lang="en-US" b="1" dirty="0" err="1">
                <a:solidFill>
                  <a:srgbClr val="000000"/>
                </a:solidFill>
                <a:latin typeface="Courier New" pitchFamily="49" charset="0"/>
              </a:rPr>
              <a:t>emp_job_deptno</a:t>
            </a:r>
            <a:endParaRPr lang="en-US" b="1" dirty="0">
              <a:solidFill>
                <a:srgbClr val="000000"/>
              </a:solidFill>
              <a:latin typeface="Courier New" pitchFamily="49" charset="0"/>
            </a:endParaRPr>
          </a:p>
          <a:p>
            <a:pPr>
              <a:tabLst>
                <a:tab pos="1200150" algn="l"/>
              </a:tabLst>
              <a:defRPr/>
            </a:pPr>
            <a:r>
              <a:rPr lang="en-US" b="1" dirty="0">
                <a:solidFill>
                  <a:srgbClr val="000000"/>
                </a:solidFill>
                <a:latin typeface="Courier New" pitchFamily="49" charset="0"/>
              </a:rPr>
              <a:t>  2  ON 			emp(</a:t>
            </a:r>
            <a:r>
              <a:rPr lang="en-US" b="1" dirty="0" err="1">
                <a:solidFill>
                  <a:srgbClr val="000000"/>
                </a:solidFill>
                <a:latin typeface="Courier New" pitchFamily="49" charset="0"/>
              </a:rPr>
              <a:t>job,deptno</a:t>
            </a:r>
            <a:r>
              <a:rPr lang="en-US" b="1" dirty="0">
                <a:solidFill>
                  <a:srgbClr val="000000"/>
                </a:solidFill>
                <a:latin typeface="Courier New" pitchFamily="49" charset="0"/>
              </a:rPr>
              <a:t>);</a:t>
            </a:r>
          </a:p>
        </p:txBody>
      </p:sp>
      <p:sp>
        <p:nvSpPr>
          <p:cNvPr id="4" name="Rectangle 4">
            <a:extLst>
              <a:ext uri="{FF2B5EF4-FFF2-40B4-BE49-F238E27FC236}">
                <a16:creationId xmlns:a16="http://schemas.microsoft.com/office/drawing/2014/main" id="{EB73484C-5201-B6EF-AD95-A959D133A317}"/>
              </a:ext>
            </a:extLst>
          </p:cNvPr>
          <p:cNvSpPr>
            <a:spLocks noChangeArrowheads="1"/>
          </p:cNvSpPr>
          <p:nvPr/>
        </p:nvSpPr>
        <p:spPr bwMode="blackWhite">
          <a:xfrm>
            <a:off x="669752" y="4761427"/>
            <a:ext cx="7518400" cy="93610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b="1" dirty="0">
                <a:solidFill>
                  <a:srgbClr val="000000"/>
                </a:solidFill>
                <a:latin typeface="Courier New" pitchFamily="49" charset="0"/>
              </a:rPr>
              <a:t>SQL&gt; CREATE UNIQUE INDEX 	</a:t>
            </a:r>
            <a:r>
              <a:rPr lang="en-US" b="1" dirty="0" err="1">
                <a:solidFill>
                  <a:srgbClr val="000000"/>
                </a:solidFill>
                <a:latin typeface="Courier New" pitchFamily="49" charset="0"/>
              </a:rPr>
              <a:t>emp_idx</a:t>
            </a:r>
            <a:endParaRPr lang="en-US" b="1" dirty="0">
              <a:solidFill>
                <a:srgbClr val="000000"/>
              </a:solidFill>
              <a:latin typeface="Courier New" pitchFamily="49" charset="0"/>
            </a:endParaRPr>
          </a:p>
          <a:p>
            <a:pPr>
              <a:tabLst>
                <a:tab pos="1200150" algn="l"/>
              </a:tabLst>
              <a:defRPr/>
            </a:pPr>
            <a:r>
              <a:rPr lang="en-US" b="1" dirty="0">
                <a:solidFill>
                  <a:srgbClr val="000000"/>
                </a:solidFill>
                <a:latin typeface="Courier New" pitchFamily="49" charset="0"/>
              </a:rPr>
              <a:t>  2  ON 			emp(UPPER(</a:t>
            </a:r>
            <a:r>
              <a:rPr lang="en-US" b="1" dirty="0" err="1">
                <a:solidFill>
                  <a:srgbClr val="000000"/>
                </a:solidFill>
                <a:latin typeface="Courier New" pitchFamily="49" charset="0"/>
              </a:rPr>
              <a:t>ename</a:t>
            </a:r>
            <a:r>
              <a:rPr lang="en-US" b="1" dirty="0">
                <a:solidFill>
                  <a:srgbClr val="000000"/>
                </a:solidFill>
                <a:latin typeface="Courier New" pitchFamily="49" charset="0"/>
              </a:rPr>
              <a:t>));</a:t>
            </a:r>
            <a:endParaRPr lang="en-US" b="1" dirty="0">
              <a:solidFill>
                <a:srgbClr val="FF3300"/>
              </a:solidFill>
              <a:effectLst>
                <a:outerShdw blurRad="38100" dist="38100" dir="2700000" algn="tl">
                  <a:srgbClr val="000000"/>
                </a:outerShdw>
              </a:effectLst>
              <a:latin typeface="Courier New" pitchFamily="49" charset="0"/>
            </a:endParaRPr>
          </a:p>
        </p:txBody>
      </p:sp>
    </p:spTree>
    <p:extLst>
      <p:ext uri="{BB962C8B-B14F-4D97-AF65-F5344CB8AC3E}">
        <p14:creationId xmlns:p14="http://schemas.microsoft.com/office/powerpoint/2010/main" val="3035401140"/>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AE4D212-8652-F3AD-A40E-A590A8F4098B}"/>
              </a:ext>
            </a:extLst>
          </p:cNvPr>
          <p:cNvSpPr>
            <a:spLocks noGrp="1" noChangeArrowheads="1"/>
          </p:cNvSpPr>
          <p:nvPr>
            <p:ph type="title"/>
          </p:nvPr>
        </p:nvSpPr>
        <p:spPr>
          <a:xfrm>
            <a:off x="323850" y="609600"/>
            <a:ext cx="4206875" cy="587375"/>
          </a:xfrm>
          <a:noFill/>
        </p:spPr>
        <p:txBody>
          <a:bodyPr lIns="92075" tIns="46038" rIns="92075" bIns="46038" anchor="t"/>
          <a:lstStyle/>
          <a:p>
            <a:r>
              <a:rPr lang="en-US" altLang="en-US" sz="2800">
                <a:solidFill>
                  <a:srgbClr val="800000"/>
                </a:solidFill>
              </a:rPr>
              <a:t>When to Create an Index</a:t>
            </a:r>
          </a:p>
        </p:txBody>
      </p:sp>
      <p:sp>
        <p:nvSpPr>
          <p:cNvPr id="34819" name="Rectangle 3">
            <a:extLst>
              <a:ext uri="{FF2B5EF4-FFF2-40B4-BE49-F238E27FC236}">
                <a16:creationId xmlns:a16="http://schemas.microsoft.com/office/drawing/2014/main" id="{DB2917AB-482F-0D18-3E33-05EC92A5C8A0}"/>
              </a:ext>
            </a:extLst>
          </p:cNvPr>
          <p:cNvSpPr>
            <a:spLocks noGrp="1" noChangeArrowheads="1"/>
          </p:cNvSpPr>
          <p:nvPr>
            <p:ph type="body" idx="1"/>
          </p:nvPr>
        </p:nvSpPr>
        <p:spPr>
          <a:xfrm>
            <a:off x="395288" y="1341438"/>
            <a:ext cx="8150225" cy="4598987"/>
          </a:xfrm>
          <a:noFill/>
        </p:spPr>
        <p:txBody>
          <a:bodyPr lIns="92075" tIns="46038" rIns="92075" bIns="46038">
            <a:spAutoFit/>
          </a:bodyPr>
          <a:lstStyle/>
          <a:p>
            <a:pPr lvl="1"/>
            <a:r>
              <a:rPr lang="en-US" altLang="en-US"/>
              <a:t>The column is used frequently in the WHERE clause (secondary key) or in a join condition.</a:t>
            </a:r>
          </a:p>
          <a:p>
            <a:pPr lvl="1"/>
            <a:r>
              <a:rPr lang="en-US" altLang="en-US"/>
              <a:t>A frequently accessed foreign key.</a:t>
            </a:r>
          </a:p>
          <a:p>
            <a:pPr lvl="1"/>
            <a:r>
              <a:rPr lang="en-US" altLang="en-US"/>
              <a:t>The columns frequently involved in </a:t>
            </a:r>
            <a:r>
              <a:rPr lang="en-US" altLang="en-US">
                <a:solidFill>
                  <a:schemeClr val="accent2"/>
                </a:solidFill>
              </a:rPr>
              <a:t>ORDER BY</a:t>
            </a:r>
            <a:r>
              <a:rPr lang="en-US" altLang="en-US"/>
              <a:t> and </a:t>
            </a:r>
            <a:r>
              <a:rPr lang="en-US" altLang="en-US">
                <a:solidFill>
                  <a:schemeClr val="accent2"/>
                </a:solidFill>
              </a:rPr>
              <a:t>GROUP BY</a:t>
            </a:r>
            <a:r>
              <a:rPr lang="en-US" altLang="en-US"/>
              <a:t> clause.</a:t>
            </a:r>
          </a:p>
          <a:p>
            <a:pPr lvl="1"/>
            <a:r>
              <a:rPr lang="en-US" altLang="en-US"/>
              <a:t>The column contains a wide range of values.</a:t>
            </a:r>
          </a:p>
          <a:p>
            <a:pPr lvl="1"/>
            <a:r>
              <a:rPr lang="en-US" altLang="en-US"/>
              <a:t>The column contains a large number of null values.</a:t>
            </a:r>
          </a:p>
          <a:p>
            <a:pPr lvl="1"/>
            <a:r>
              <a:rPr lang="en-US" altLang="en-US"/>
              <a:t>One or more columns are frequently used together in a WHERE clause or a join condition.</a:t>
            </a:r>
          </a:p>
          <a:p>
            <a:pPr lvl="1"/>
            <a:r>
              <a:rPr lang="en-US" altLang="en-US"/>
              <a:t>The table is large and most queries are expected to retrieve less than 2–4% of the rows.</a:t>
            </a:r>
          </a:p>
        </p:txBody>
      </p:sp>
      <p:sp>
        <p:nvSpPr>
          <p:cNvPr id="34820" name="Arc 4">
            <a:extLst>
              <a:ext uri="{FF2B5EF4-FFF2-40B4-BE49-F238E27FC236}">
                <a16:creationId xmlns:a16="http://schemas.microsoft.com/office/drawing/2014/main" id="{0F1CAFCF-925E-78FF-8455-BA4F828F1E1D}"/>
              </a:ext>
            </a:extLst>
          </p:cNvPr>
          <p:cNvSpPr>
            <a:spLocks/>
          </p:cNvSpPr>
          <p:nvPr/>
        </p:nvSpPr>
        <p:spPr bwMode="ltGray">
          <a:xfrm>
            <a:off x="5459413" y="2813050"/>
            <a:ext cx="211137" cy="225425"/>
          </a:xfrm>
          <a:custGeom>
            <a:avLst/>
            <a:gdLst>
              <a:gd name="T0" fmla="*/ 1927554871 w 21600"/>
              <a:gd name="T1" fmla="*/ 2147483646 h 21600"/>
              <a:gd name="T2" fmla="*/ 0 w 21600"/>
              <a:gd name="T3" fmla="*/ 0 h 21600"/>
              <a:gd name="T4" fmla="*/ 1927554871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87B7D86-D2B2-F52A-E20D-245152E7010D}"/>
              </a:ext>
            </a:extLst>
          </p:cNvPr>
          <p:cNvSpPr>
            <a:spLocks noGrp="1" noChangeArrowheads="1"/>
          </p:cNvSpPr>
          <p:nvPr>
            <p:ph type="title"/>
          </p:nvPr>
        </p:nvSpPr>
        <p:spPr>
          <a:xfrm>
            <a:off x="323850" y="588963"/>
            <a:ext cx="4859338" cy="608012"/>
          </a:xfrm>
          <a:noFill/>
        </p:spPr>
        <p:txBody>
          <a:bodyPr lIns="92075" tIns="46038" rIns="92075" bIns="46038" anchor="t"/>
          <a:lstStyle/>
          <a:p>
            <a:r>
              <a:rPr lang="en-US" altLang="en-US" sz="2800">
                <a:solidFill>
                  <a:srgbClr val="800000"/>
                </a:solidFill>
              </a:rPr>
              <a:t>When Not to Create an Index</a:t>
            </a:r>
          </a:p>
        </p:txBody>
      </p:sp>
      <p:sp>
        <p:nvSpPr>
          <p:cNvPr id="36867" name="Rectangle 3">
            <a:extLst>
              <a:ext uri="{FF2B5EF4-FFF2-40B4-BE49-F238E27FC236}">
                <a16:creationId xmlns:a16="http://schemas.microsoft.com/office/drawing/2014/main" id="{3F35D128-75DE-0654-F1B4-C66E674F4C11}"/>
              </a:ext>
            </a:extLst>
          </p:cNvPr>
          <p:cNvSpPr>
            <a:spLocks noGrp="1" noChangeArrowheads="1"/>
          </p:cNvSpPr>
          <p:nvPr>
            <p:ph type="body" idx="1"/>
          </p:nvPr>
        </p:nvSpPr>
        <p:spPr>
          <a:xfrm>
            <a:off x="914400" y="1143000"/>
            <a:ext cx="7385050" cy="3921125"/>
          </a:xfrm>
          <a:noFill/>
        </p:spPr>
        <p:txBody>
          <a:bodyPr lIns="92075" tIns="46038" rIns="92075" bIns="46038">
            <a:spAutoFit/>
          </a:bodyPr>
          <a:lstStyle/>
          <a:p>
            <a:endParaRPr lang="en-US" altLang="en-US"/>
          </a:p>
          <a:p>
            <a:pPr lvl="1"/>
            <a:r>
              <a:rPr lang="en-US" altLang="en-US"/>
              <a:t>The table is small.</a:t>
            </a:r>
          </a:p>
          <a:p>
            <a:pPr lvl="1"/>
            <a:r>
              <a:rPr lang="en-US" altLang="en-US"/>
              <a:t>The columns are not often used as a condition in the query.</a:t>
            </a:r>
          </a:p>
          <a:p>
            <a:pPr lvl="1"/>
            <a:r>
              <a:rPr lang="en-US" altLang="en-US"/>
              <a:t>Most queries are expected to retrieve more than 2–4% of the rows.</a:t>
            </a:r>
          </a:p>
          <a:p>
            <a:pPr lvl="1"/>
            <a:r>
              <a:rPr lang="en-US" altLang="en-US"/>
              <a:t>The table or column is updated frequently.</a:t>
            </a:r>
          </a:p>
          <a:p>
            <a:pPr lvl="1"/>
            <a:r>
              <a:rPr lang="en-US" altLang="en-US"/>
              <a:t>A column consisting of long character strings.</a:t>
            </a:r>
          </a:p>
          <a:p>
            <a:pPr lvl="1"/>
            <a:endParaRPr lang="en-US"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303BC88-1391-FDBD-9069-420897B6640C}"/>
              </a:ext>
            </a:extLst>
          </p:cNvPr>
          <p:cNvSpPr>
            <a:spLocks noChangeArrowheads="1"/>
          </p:cNvSpPr>
          <p:nvPr/>
        </p:nvSpPr>
        <p:spPr bwMode="blackWhite">
          <a:xfrm>
            <a:off x="912813" y="4095750"/>
            <a:ext cx="7518400" cy="17399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8915" name="Rectangle 3">
            <a:extLst>
              <a:ext uri="{FF2B5EF4-FFF2-40B4-BE49-F238E27FC236}">
                <a16:creationId xmlns:a16="http://schemas.microsoft.com/office/drawing/2014/main" id="{18FCA8AC-3550-BCB4-6DFC-FA0A7406673F}"/>
              </a:ext>
            </a:extLst>
          </p:cNvPr>
          <p:cNvSpPr>
            <a:spLocks noGrp="1" noChangeArrowheads="1"/>
          </p:cNvSpPr>
          <p:nvPr>
            <p:ph type="title"/>
          </p:nvPr>
        </p:nvSpPr>
        <p:spPr>
          <a:xfrm>
            <a:off x="323850" y="588963"/>
            <a:ext cx="3275013" cy="536575"/>
          </a:xfrm>
          <a:noFill/>
        </p:spPr>
        <p:txBody>
          <a:bodyPr lIns="92075" tIns="46038" rIns="92075" bIns="46038" anchor="t"/>
          <a:lstStyle/>
          <a:p>
            <a:r>
              <a:rPr lang="en-US" altLang="en-US" sz="2800">
                <a:solidFill>
                  <a:srgbClr val="800000"/>
                </a:solidFill>
              </a:rPr>
              <a:t>Confirming Indexes</a:t>
            </a:r>
          </a:p>
        </p:txBody>
      </p:sp>
      <p:sp>
        <p:nvSpPr>
          <p:cNvPr id="38916" name="Rectangle 4">
            <a:extLst>
              <a:ext uri="{FF2B5EF4-FFF2-40B4-BE49-F238E27FC236}">
                <a16:creationId xmlns:a16="http://schemas.microsoft.com/office/drawing/2014/main" id="{0396785C-28EB-5FC0-B7F1-5BB9A9C21E3B}"/>
              </a:ext>
            </a:extLst>
          </p:cNvPr>
          <p:cNvSpPr>
            <a:spLocks noGrp="1" noChangeArrowheads="1"/>
          </p:cNvSpPr>
          <p:nvPr>
            <p:ph type="body" idx="1"/>
          </p:nvPr>
        </p:nvSpPr>
        <p:spPr>
          <a:xfrm>
            <a:off x="727075" y="1268413"/>
            <a:ext cx="7578725" cy="2355850"/>
          </a:xfrm>
          <a:noFill/>
        </p:spPr>
        <p:txBody>
          <a:bodyPr lIns="92075" tIns="46038" rIns="92075" bIns="46038">
            <a:spAutoFit/>
          </a:bodyPr>
          <a:lstStyle/>
          <a:p>
            <a:pPr lvl="1"/>
            <a:r>
              <a:rPr lang="en-US" altLang="en-US"/>
              <a:t>The USER_INDEXES data dictionary view contains the name of the index and its uniqueness.</a:t>
            </a:r>
          </a:p>
          <a:p>
            <a:pPr lvl="1"/>
            <a:r>
              <a:rPr lang="en-US" altLang="en-US"/>
              <a:t>The USER_IND_COLUMNS view contains the index name, the table name, and the column name.</a:t>
            </a:r>
          </a:p>
        </p:txBody>
      </p:sp>
      <p:sp>
        <p:nvSpPr>
          <p:cNvPr id="563205" name="Rectangle 5">
            <a:extLst>
              <a:ext uri="{FF2B5EF4-FFF2-40B4-BE49-F238E27FC236}">
                <a16:creationId xmlns:a16="http://schemas.microsoft.com/office/drawing/2014/main" id="{D9ADAF7C-007E-F896-4DD8-3884162DD853}"/>
              </a:ext>
            </a:extLst>
          </p:cNvPr>
          <p:cNvSpPr>
            <a:spLocks noChangeArrowheads="1"/>
          </p:cNvSpPr>
          <p:nvPr/>
        </p:nvSpPr>
        <p:spPr bwMode="ltGray">
          <a:xfrm>
            <a:off x="1614488" y="4845050"/>
            <a:ext cx="6265862" cy="2635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8" name="Rectangle 6">
            <a:extLst>
              <a:ext uri="{FF2B5EF4-FFF2-40B4-BE49-F238E27FC236}">
                <a16:creationId xmlns:a16="http://schemas.microsoft.com/office/drawing/2014/main" id="{A7175359-22DA-DE76-49BE-928D290300E2}"/>
              </a:ext>
            </a:extLst>
          </p:cNvPr>
          <p:cNvSpPr>
            <a:spLocks noChangeArrowheads="1"/>
          </p:cNvSpPr>
          <p:nvPr/>
        </p:nvSpPr>
        <p:spPr bwMode="blackWhite">
          <a:xfrm>
            <a:off x="922338" y="4083050"/>
            <a:ext cx="76073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ic.index_name, ic.column_name,</a:t>
            </a:r>
          </a:p>
          <a:p>
            <a:pPr>
              <a:spcBef>
                <a:spcPct val="0"/>
              </a:spcBef>
              <a:buFontTx/>
              <a:buNone/>
            </a:pPr>
            <a:r>
              <a:rPr lang="en-US" altLang="en-US" sz="1800" b="1">
                <a:solidFill>
                  <a:srgbClr val="000000"/>
                </a:solidFill>
                <a:latin typeface="Courier New" panose="02070309020205020404" pitchFamily="49" charset="0"/>
              </a:rPr>
              <a:t>  2		ic.column_position col_pos,ix.uniqueness</a:t>
            </a:r>
          </a:p>
          <a:p>
            <a:pPr>
              <a:spcBef>
                <a:spcPct val="0"/>
              </a:spcBef>
              <a:buFontTx/>
              <a:buNone/>
            </a:pPr>
            <a:r>
              <a:rPr lang="en-US" altLang="en-US" sz="1800" b="1">
                <a:solidFill>
                  <a:srgbClr val="000000"/>
                </a:solidFill>
                <a:latin typeface="Courier New" panose="02070309020205020404" pitchFamily="49" charset="0"/>
              </a:rPr>
              <a:t>  3  FROM	user_indexes ix, user_ind_columns ic</a:t>
            </a:r>
          </a:p>
          <a:p>
            <a:pPr>
              <a:spcBef>
                <a:spcPct val="0"/>
              </a:spcBef>
              <a:buFontTx/>
              <a:buNone/>
            </a:pPr>
            <a:r>
              <a:rPr lang="en-US" altLang="en-US" sz="1800" b="1">
                <a:solidFill>
                  <a:srgbClr val="000000"/>
                </a:solidFill>
                <a:latin typeface="Courier New" panose="02070309020205020404" pitchFamily="49" charset="0"/>
              </a:rPr>
              <a:t>  4  WHERE	ic.index_name = ix.index_name</a:t>
            </a:r>
          </a:p>
          <a:p>
            <a:pPr>
              <a:spcBef>
                <a:spcPct val="0"/>
              </a:spcBef>
              <a:buFontTx/>
              <a:buNone/>
            </a:pPr>
            <a:r>
              <a:rPr lang="en-US" altLang="en-US" sz="1800" b="1">
                <a:solidFill>
                  <a:srgbClr val="000000"/>
                </a:solidFill>
                <a:latin typeface="Courier New" panose="02070309020205020404" pitchFamily="49" charset="0"/>
              </a:rPr>
              <a:t>  5  AND		ic.table_name = 'EMP';</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63205"/>
                                        </p:tgtEl>
                                        <p:attrNameLst>
                                          <p:attrName>style.visibility</p:attrName>
                                        </p:attrNameLst>
                                      </p:cBhvr>
                                      <p:to>
                                        <p:strVal val="visible"/>
                                      </p:to>
                                    </p:set>
                                    <p:animEffect transition="in" filter="wipe(up)">
                                      <p:cBhvr>
                                        <p:cTn id="7" dur="500"/>
                                        <p:tgtEl>
                                          <p:spTgt spid="563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BD4C9-ED3A-1141-7434-1F903AC1AC72}"/>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263BDD8D-CD5D-228B-F698-2FE98CCC0082}"/>
              </a:ext>
            </a:extLst>
          </p:cNvPr>
          <p:cNvSpPr>
            <a:spLocks noGrp="1" noChangeArrowheads="1"/>
          </p:cNvSpPr>
          <p:nvPr>
            <p:ph type="title"/>
          </p:nvPr>
        </p:nvSpPr>
        <p:spPr>
          <a:xfrm>
            <a:off x="395288" y="620713"/>
            <a:ext cx="3816350" cy="576262"/>
          </a:xfrm>
          <a:noFill/>
        </p:spPr>
        <p:txBody>
          <a:bodyPr lIns="92075" tIns="46038" rIns="92075" bIns="46038" anchor="t"/>
          <a:lstStyle/>
          <a:p>
            <a:r>
              <a:rPr lang="en-US" altLang="en-US" sz="2800" dirty="0">
                <a:solidFill>
                  <a:srgbClr val="800000"/>
                </a:solidFill>
              </a:rPr>
              <a:t>Modifying Index</a:t>
            </a:r>
          </a:p>
        </p:txBody>
      </p:sp>
      <p:sp>
        <p:nvSpPr>
          <p:cNvPr id="24580" name="Arc 4">
            <a:extLst>
              <a:ext uri="{FF2B5EF4-FFF2-40B4-BE49-F238E27FC236}">
                <a16:creationId xmlns:a16="http://schemas.microsoft.com/office/drawing/2014/main" id="{CC35B961-BF31-DCB7-DFE9-2FE4E2EF8CA1}"/>
              </a:ext>
            </a:extLst>
          </p:cNvPr>
          <p:cNvSpPr>
            <a:spLocks/>
          </p:cNvSpPr>
          <p:nvPr/>
        </p:nvSpPr>
        <p:spPr bwMode="ltGray">
          <a:xfrm>
            <a:off x="5459413" y="2813050"/>
            <a:ext cx="211137" cy="225425"/>
          </a:xfrm>
          <a:custGeom>
            <a:avLst/>
            <a:gdLst>
              <a:gd name="T0" fmla="*/ 1927554871 w 21600"/>
              <a:gd name="T1" fmla="*/ 2147483646 h 21600"/>
              <a:gd name="T2" fmla="*/ 0 w 21600"/>
              <a:gd name="T3" fmla="*/ 0 h 21600"/>
              <a:gd name="T4" fmla="*/ 1927554871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46821" name="Rectangle 5">
            <a:extLst>
              <a:ext uri="{FF2B5EF4-FFF2-40B4-BE49-F238E27FC236}">
                <a16:creationId xmlns:a16="http://schemas.microsoft.com/office/drawing/2014/main" id="{8C02177E-38F5-8B52-9C3F-70CF0E733E1E}"/>
              </a:ext>
            </a:extLst>
          </p:cNvPr>
          <p:cNvSpPr>
            <a:spLocks noChangeArrowheads="1"/>
          </p:cNvSpPr>
          <p:nvPr/>
        </p:nvSpPr>
        <p:spPr bwMode="blackWhite">
          <a:xfrm>
            <a:off x="611560" y="1448979"/>
            <a:ext cx="7691635" cy="122413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b="1" dirty="0">
                <a:solidFill>
                  <a:srgbClr val="000000"/>
                </a:solidFill>
                <a:latin typeface="Courier New" pitchFamily="49" charset="0"/>
              </a:rPr>
              <a:t>SQL&gt; ALTER INDEX </a:t>
            </a:r>
            <a:r>
              <a:rPr lang="en-US" b="1" dirty="0" err="1">
                <a:solidFill>
                  <a:srgbClr val="000000"/>
                </a:solidFill>
                <a:latin typeface="Courier New" pitchFamily="49" charset="0"/>
              </a:rPr>
              <a:t>emp_ename</a:t>
            </a:r>
            <a:endParaRPr lang="en-US" b="1" dirty="0">
              <a:solidFill>
                <a:srgbClr val="000000"/>
              </a:solidFill>
              <a:latin typeface="Courier New" pitchFamily="49" charset="0"/>
            </a:endParaRPr>
          </a:p>
          <a:p>
            <a:pPr>
              <a:tabLst>
                <a:tab pos="1200150" algn="l"/>
              </a:tabLst>
              <a:defRPr/>
            </a:pPr>
            <a:r>
              <a:rPr lang="en-US" b="1" dirty="0">
                <a:solidFill>
                  <a:srgbClr val="000000"/>
                </a:solidFill>
                <a:latin typeface="Courier New" pitchFamily="49" charset="0"/>
              </a:rPr>
              <a:t>  2  RENAME TO </a:t>
            </a:r>
            <a:r>
              <a:rPr lang="en-US" b="1" dirty="0" err="1">
                <a:solidFill>
                  <a:srgbClr val="000000"/>
                </a:solidFill>
                <a:latin typeface="Courier New" pitchFamily="49" charset="0"/>
              </a:rPr>
              <a:t>emp_ename_index</a:t>
            </a:r>
            <a:endParaRPr lang="en-US" b="1" dirty="0">
              <a:solidFill>
                <a:srgbClr val="000000"/>
              </a:solidFill>
              <a:latin typeface="Courier New" pitchFamily="49" charset="0"/>
            </a:endParaRPr>
          </a:p>
          <a:p>
            <a:pPr>
              <a:tabLst>
                <a:tab pos="1200150" algn="l"/>
              </a:tabLst>
              <a:defRPr/>
            </a:pPr>
            <a:r>
              <a:rPr lang="en-US" b="1" dirty="0">
                <a:solidFill>
                  <a:srgbClr val="FF3300"/>
                </a:solidFill>
                <a:effectLst>
                  <a:outerShdw blurRad="38100" dist="38100" dir="2700000" algn="tl">
                    <a:srgbClr val="000000"/>
                  </a:outerShdw>
                </a:effectLst>
                <a:latin typeface="Courier New" pitchFamily="49" charset="0"/>
              </a:rPr>
              <a:t>Index altered.</a:t>
            </a:r>
          </a:p>
        </p:txBody>
      </p:sp>
    </p:spTree>
    <p:extLst>
      <p:ext uri="{BB962C8B-B14F-4D97-AF65-F5344CB8AC3E}">
        <p14:creationId xmlns:p14="http://schemas.microsoft.com/office/powerpoint/2010/main" val="3076825429"/>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6C0A7D8-1E43-1F5A-95DB-14879BEB60CA}"/>
              </a:ext>
            </a:extLst>
          </p:cNvPr>
          <p:cNvSpPr>
            <a:spLocks noGrp="1" noChangeArrowheads="1"/>
          </p:cNvSpPr>
          <p:nvPr>
            <p:ph type="title"/>
          </p:nvPr>
        </p:nvSpPr>
        <p:spPr>
          <a:xfrm>
            <a:off x="323850" y="620713"/>
            <a:ext cx="3275013" cy="536575"/>
          </a:xfrm>
          <a:noFill/>
        </p:spPr>
        <p:txBody>
          <a:bodyPr lIns="92075" tIns="46038" rIns="92075" bIns="46038" anchor="t"/>
          <a:lstStyle/>
          <a:p>
            <a:r>
              <a:rPr lang="en-US" altLang="en-US" sz="2800">
                <a:solidFill>
                  <a:srgbClr val="800000"/>
                </a:solidFill>
              </a:rPr>
              <a:t>Removing an Index</a:t>
            </a:r>
          </a:p>
        </p:txBody>
      </p:sp>
      <p:sp>
        <p:nvSpPr>
          <p:cNvPr id="40963" name="Rectangle 3">
            <a:extLst>
              <a:ext uri="{FF2B5EF4-FFF2-40B4-BE49-F238E27FC236}">
                <a16:creationId xmlns:a16="http://schemas.microsoft.com/office/drawing/2014/main" id="{894D8F0A-1F62-D40A-6596-582533BBE9CA}"/>
              </a:ext>
            </a:extLst>
          </p:cNvPr>
          <p:cNvSpPr>
            <a:spLocks noGrp="1" noChangeArrowheads="1"/>
          </p:cNvSpPr>
          <p:nvPr>
            <p:ph type="body" idx="1"/>
          </p:nvPr>
        </p:nvSpPr>
        <p:spPr>
          <a:xfrm>
            <a:off x="822325" y="1282700"/>
            <a:ext cx="7826375" cy="4254500"/>
          </a:xfrm>
          <a:noFill/>
        </p:spPr>
        <p:txBody>
          <a:bodyPr lIns="92075" tIns="46038" rIns="92075" bIns="46038">
            <a:spAutoFit/>
          </a:bodyPr>
          <a:lstStyle/>
          <a:p>
            <a:pPr lvl="1"/>
            <a:r>
              <a:rPr lang="en-US" altLang="en-US"/>
              <a:t>Remove an index from the data dictionary.</a:t>
            </a:r>
          </a:p>
          <a:p>
            <a:pPr lvl="1">
              <a:buFontTx/>
              <a:buNone/>
            </a:pPr>
            <a:endParaRPr lang="en-US" altLang="en-US"/>
          </a:p>
          <a:p>
            <a:pPr lvl="1">
              <a:buFontTx/>
              <a:buNone/>
            </a:pPr>
            <a:endParaRPr lang="en-US" altLang="en-US"/>
          </a:p>
          <a:p>
            <a:pPr lvl="1"/>
            <a:r>
              <a:rPr lang="en-US" altLang="en-US"/>
              <a:t>Remove the EMP_ENAME_IDX index from the data dictionary.</a:t>
            </a:r>
          </a:p>
          <a:p>
            <a:pPr lvl="1"/>
            <a:endParaRPr lang="en-US" altLang="en-US"/>
          </a:p>
          <a:p>
            <a:pPr lvl="1">
              <a:buFontTx/>
              <a:buNone/>
            </a:pPr>
            <a:endParaRPr lang="en-US" altLang="en-US"/>
          </a:p>
          <a:p>
            <a:pPr lvl="1">
              <a:buFontTx/>
              <a:buNone/>
            </a:pPr>
            <a:endParaRPr lang="en-US" altLang="en-US"/>
          </a:p>
          <a:p>
            <a:pPr lvl="1"/>
            <a:r>
              <a:rPr lang="en-US" altLang="en-US"/>
              <a:t>To drop an index, you must be the owner of the index or have the DROP ANY INDEX privilege.</a:t>
            </a:r>
          </a:p>
        </p:txBody>
      </p:sp>
      <p:sp>
        <p:nvSpPr>
          <p:cNvPr id="565252" name="Rectangle 4">
            <a:extLst>
              <a:ext uri="{FF2B5EF4-FFF2-40B4-BE49-F238E27FC236}">
                <a16:creationId xmlns:a16="http://schemas.microsoft.com/office/drawing/2014/main" id="{689B1A0B-17AC-73BA-7AD3-7D0C718262B5}"/>
              </a:ext>
            </a:extLst>
          </p:cNvPr>
          <p:cNvSpPr>
            <a:spLocks noChangeArrowheads="1"/>
          </p:cNvSpPr>
          <p:nvPr/>
        </p:nvSpPr>
        <p:spPr bwMode="blackWhite">
          <a:xfrm>
            <a:off x="912813" y="4005263"/>
            <a:ext cx="7518400"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DROP INDEX emp_ename_idx;</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Index dropped.</a:t>
            </a:r>
          </a:p>
        </p:txBody>
      </p:sp>
      <p:sp>
        <p:nvSpPr>
          <p:cNvPr id="40965" name="Rectangle 5">
            <a:extLst>
              <a:ext uri="{FF2B5EF4-FFF2-40B4-BE49-F238E27FC236}">
                <a16:creationId xmlns:a16="http://schemas.microsoft.com/office/drawing/2014/main" id="{451520AC-E64C-F81F-59CC-F30F006937D9}"/>
              </a:ext>
            </a:extLst>
          </p:cNvPr>
          <p:cNvSpPr>
            <a:spLocks noChangeArrowheads="1"/>
          </p:cNvSpPr>
          <p:nvPr/>
        </p:nvSpPr>
        <p:spPr bwMode="blackWhite">
          <a:xfrm>
            <a:off x="912813" y="2024063"/>
            <a:ext cx="7518400" cy="534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DROP INDEX </a:t>
            </a:r>
            <a:r>
              <a:rPr lang="en-US" altLang="en-US" sz="1800" b="1" i="1">
                <a:solidFill>
                  <a:srgbClr val="000000"/>
                </a:solidFill>
                <a:latin typeface="Courier New" panose="02070309020205020404" pitchFamily="49" charset="0"/>
              </a:rPr>
              <a:t>index</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24C0672-C5EB-D89E-DA87-EA6FFC109B0F}"/>
              </a:ext>
            </a:extLst>
          </p:cNvPr>
          <p:cNvSpPr>
            <a:spLocks noGrp="1" noChangeArrowheads="1"/>
          </p:cNvSpPr>
          <p:nvPr>
            <p:ph type="title"/>
          </p:nvPr>
        </p:nvSpPr>
        <p:spPr>
          <a:xfrm>
            <a:off x="323850" y="660400"/>
            <a:ext cx="1978025" cy="608013"/>
          </a:xfrm>
          <a:noFill/>
        </p:spPr>
        <p:txBody>
          <a:bodyPr lIns="92075" tIns="46038" rIns="92075" bIns="46038" anchor="t"/>
          <a:lstStyle/>
          <a:p>
            <a:r>
              <a:rPr lang="en-US" altLang="en-US" sz="2800">
                <a:solidFill>
                  <a:srgbClr val="800000"/>
                </a:solidFill>
              </a:rPr>
              <a:t>Synonyms</a:t>
            </a:r>
          </a:p>
        </p:txBody>
      </p:sp>
      <p:sp>
        <p:nvSpPr>
          <p:cNvPr id="43011" name="Rectangle 3">
            <a:extLst>
              <a:ext uri="{FF2B5EF4-FFF2-40B4-BE49-F238E27FC236}">
                <a16:creationId xmlns:a16="http://schemas.microsoft.com/office/drawing/2014/main" id="{EA383BA8-61D6-1CFE-01C9-2A414706B85B}"/>
              </a:ext>
            </a:extLst>
          </p:cNvPr>
          <p:cNvSpPr>
            <a:spLocks noGrp="1" noChangeArrowheads="1"/>
          </p:cNvSpPr>
          <p:nvPr>
            <p:ph type="body" idx="1"/>
          </p:nvPr>
        </p:nvSpPr>
        <p:spPr>
          <a:xfrm>
            <a:off x="1012825" y="1795463"/>
            <a:ext cx="7385050" cy="1698625"/>
          </a:xfrm>
          <a:noFill/>
        </p:spPr>
        <p:txBody>
          <a:bodyPr lIns="92075" tIns="46038" rIns="92075" bIns="46038">
            <a:spAutoFit/>
          </a:bodyPr>
          <a:lstStyle/>
          <a:p>
            <a:r>
              <a:rPr lang="en-US" altLang="en-US" sz="2400"/>
              <a:t>Simplify access to objects by creating a synonym (another name for an object).</a:t>
            </a:r>
          </a:p>
          <a:p>
            <a:pPr lvl="1"/>
            <a:r>
              <a:rPr lang="en-US" altLang="en-US"/>
              <a:t>Refer to a table owned by another user.</a:t>
            </a:r>
          </a:p>
          <a:p>
            <a:pPr lvl="1"/>
            <a:r>
              <a:rPr lang="en-US" altLang="en-US"/>
              <a:t>Shorten lengthy object names.</a:t>
            </a:r>
          </a:p>
        </p:txBody>
      </p:sp>
      <p:sp>
        <p:nvSpPr>
          <p:cNvPr id="43012" name="Rectangle 4">
            <a:extLst>
              <a:ext uri="{FF2B5EF4-FFF2-40B4-BE49-F238E27FC236}">
                <a16:creationId xmlns:a16="http://schemas.microsoft.com/office/drawing/2014/main" id="{DA509F79-BC49-9848-6106-3350F9845E45}"/>
              </a:ext>
            </a:extLst>
          </p:cNvPr>
          <p:cNvSpPr>
            <a:spLocks noChangeArrowheads="1"/>
          </p:cNvSpPr>
          <p:nvPr/>
        </p:nvSpPr>
        <p:spPr bwMode="blackWhite">
          <a:xfrm>
            <a:off x="912813" y="3943350"/>
            <a:ext cx="7518400"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CREATE [PUBLIC] SYNONYM </a:t>
            </a:r>
            <a:r>
              <a:rPr lang="en-US" altLang="en-US" sz="1800" b="1" i="1">
                <a:solidFill>
                  <a:srgbClr val="000000"/>
                </a:solidFill>
                <a:latin typeface="Courier New" panose="02070309020205020404" pitchFamily="49" charset="0"/>
              </a:rPr>
              <a:t>synonym</a:t>
            </a:r>
          </a:p>
          <a:p>
            <a:pPr>
              <a:spcBef>
                <a:spcPct val="0"/>
              </a:spcBef>
              <a:buFontTx/>
              <a:buNone/>
            </a:pPr>
            <a:r>
              <a:rPr lang="en-US" altLang="en-US" sz="1800" b="1">
                <a:solidFill>
                  <a:srgbClr val="000000"/>
                </a:solidFill>
                <a:latin typeface="Courier New" panose="02070309020205020404" pitchFamily="49" charset="0"/>
              </a:rPr>
              <a:t>FOR    </a:t>
            </a:r>
            <a:r>
              <a:rPr lang="en-US" altLang="en-US" sz="1800" b="1" i="1">
                <a:solidFill>
                  <a:srgbClr val="000000"/>
                </a:solidFill>
                <a:latin typeface="Courier New" panose="02070309020205020404" pitchFamily="49" charset="0"/>
              </a:rPr>
              <a:t>object</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1A62CA6-E1EB-55D9-4CD5-09101009D2D3}"/>
              </a:ext>
            </a:extLst>
          </p:cNvPr>
          <p:cNvSpPr>
            <a:spLocks noGrp="1" noChangeArrowheads="1"/>
          </p:cNvSpPr>
          <p:nvPr>
            <p:ph type="title"/>
          </p:nvPr>
        </p:nvSpPr>
        <p:spPr>
          <a:xfrm>
            <a:off x="342900" y="636588"/>
            <a:ext cx="7974013" cy="560387"/>
          </a:xfrm>
          <a:noFill/>
        </p:spPr>
        <p:txBody>
          <a:bodyPr lIns="92075" tIns="46038" rIns="92075" bIns="46038" anchor="t"/>
          <a:lstStyle/>
          <a:p>
            <a:r>
              <a:rPr lang="en-US" altLang="en-US" sz="2800">
                <a:solidFill>
                  <a:srgbClr val="800000"/>
                </a:solidFill>
              </a:rPr>
              <a:t>Creating and Removing Synonyms</a:t>
            </a:r>
          </a:p>
        </p:txBody>
      </p:sp>
      <p:sp>
        <p:nvSpPr>
          <p:cNvPr id="569347" name="Rectangle 3">
            <a:extLst>
              <a:ext uri="{FF2B5EF4-FFF2-40B4-BE49-F238E27FC236}">
                <a16:creationId xmlns:a16="http://schemas.microsoft.com/office/drawing/2014/main" id="{9C2A661A-A048-191E-316B-C118740E53DA}"/>
              </a:ext>
            </a:extLst>
          </p:cNvPr>
          <p:cNvSpPr>
            <a:spLocks noChangeArrowheads="1"/>
          </p:cNvSpPr>
          <p:nvPr/>
        </p:nvSpPr>
        <p:spPr bwMode="blackWhite">
          <a:xfrm>
            <a:off x="912813" y="2517775"/>
            <a:ext cx="7518400"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CREATE SYNONYM	d_sum</a:t>
            </a:r>
          </a:p>
          <a:p>
            <a:pPr>
              <a:tabLst>
                <a:tab pos="1200150" algn="l"/>
              </a:tabLst>
              <a:defRPr/>
            </a:pPr>
            <a:r>
              <a:rPr lang="en-US" sz="1800" b="1">
                <a:solidFill>
                  <a:srgbClr val="000000"/>
                </a:solidFill>
                <a:latin typeface="Courier New" pitchFamily="49" charset="0"/>
              </a:rPr>
              <a:t>  2  FOR			dept_sum_vu;</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Synonym Created.</a:t>
            </a:r>
          </a:p>
        </p:txBody>
      </p:sp>
      <p:sp>
        <p:nvSpPr>
          <p:cNvPr id="569348" name="Rectangle 4">
            <a:extLst>
              <a:ext uri="{FF2B5EF4-FFF2-40B4-BE49-F238E27FC236}">
                <a16:creationId xmlns:a16="http://schemas.microsoft.com/office/drawing/2014/main" id="{DB8897C0-250E-6BF9-27DD-D6709F9CA196}"/>
              </a:ext>
            </a:extLst>
          </p:cNvPr>
          <p:cNvSpPr>
            <a:spLocks noChangeArrowheads="1"/>
          </p:cNvSpPr>
          <p:nvPr/>
        </p:nvSpPr>
        <p:spPr bwMode="blackWhite">
          <a:xfrm>
            <a:off x="912813" y="4757738"/>
            <a:ext cx="7526337"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DROP SYNONYM d_sum;</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Synonym dropped.</a:t>
            </a:r>
          </a:p>
        </p:txBody>
      </p:sp>
      <p:sp>
        <p:nvSpPr>
          <p:cNvPr id="45061" name="Rectangle 5">
            <a:extLst>
              <a:ext uri="{FF2B5EF4-FFF2-40B4-BE49-F238E27FC236}">
                <a16:creationId xmlns:a16="http://schemas.microsoft.com/office/drawing/2014/main" id="{CE86F1A8-8A57-A07E-091B-99D89921B3CF}"/>
              </a:ext>
            </a:extLst>
          </p:cNvPr>
          <p:cNvSpPr>
            <a:spLocks noGrp="1" noChangeArrowheads="1"/>
          </p:cNvSpPr>
          <p:nvPr>
            <p:ph type="body" idx="1"/>
          </p:nvPr>
        </p:nvSpPr>
        <p:spPr>
          <a:xfrm>
            <a:off x="993775" y="1471613"/>
            <a:ext cx="7385050" cy="822325"/>
          </a:xfrm>
          <a:noFill/>
        </p:spPr>
        <p:txBody>
          <a:bodyPr lIns="92075" tIns="46038" rIns="92075" bIns="46038">
            <a:spAutoFit/>
          </a:bodyPr>
          <a:lstStyle/>
          <a:p>
            <a:pPr lvl="1"/>
            <a:r>
              <a:rPr lang="en-US" altLang="en-US"/>
              <a:t>Create a shortened name for the DEPT_SUM_VU view.</a:t>
            </a:r>
          </a:p>
        </p:txBody>
      </p:sp>
      <p:sp>
        <p:nvSpPr>
          <p:cNvPr id="45062" name="Rectangle 6">
            <a:extLst>
              <a:ext uri="{FF2B5EF4-FFF2-40B4-BE49-F238E27FC236}">
                <a16:creationId xmlns:a16="http://schemas.microsoft.com/office/drawing/2014/main" id="{F3E9625A-F383-4E92-492E-FF232FFE03A8}"/>
              </a:ext>
            </a:extLst>
          </p:cNvPr>
          <p:cNvSpPr>
            <a:spLocks noChangeArrowheads="1"/>
          </p:cNvSpPr>
          <p:nvPr/>
        </p:nvSpPr>
        <p:spPr bwMode="auto">
          <a:xfrm>
            <a:off x="993775" y="4062413"/>
            <a:ext cx="73850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Drop a synonym.</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3F131D2E-1643-2B0B-13E6-73A2652C4A13}"/>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a:latin typeface="Georgia" panose="02040502050405020303" pitchFamily="18" charset="0"/>
              </a:rPr>
            </a:br>
            <a:r>
              <a:rPr lang="de-AT" altLang="en-US" sz="3600">
                <a:latin typeface="Georgia" panose="02040502050405020303" pitchFamily="18" charset="0"/>
              </a:rPr>
              <a:t>Thank you for your attention.</a:t>
            </a:r>
          </a:p>
        </p:txBody>
      </p:sp>
      <p:sp>
        <p:nvSpPr>
          <p:cNvPr id="97283" name="Rectangle 8">
            <a:extLst>
              <a:ext uri="{FF2B5EF4-FFF2-40B4-BE49-F238E27FC236}">
                <a16:creationId xmlns:a16="http://schemas.microsoft.com/office/drawing/2014/main" id="{1D2A0AC3-EA23-63ED-82E3-AC533EA2B5C5}"/>
              </a:ext>
            </a:extLst>
          </p:cNvPr>
          <p:cNvSpPr>
            <a:spLocks noChangeArrowheads="1"/>
          </p:cNvSpPr>
          <p:nvPr/>
        </p:nvSpPr>
        <p:spPr bwMode="auto">
          <a:xfrm>
            <a:off x="2362200" y="3962400"/>
            <a:ext cx="4495800" cy="2130425"/>
          </a:xfrm>
          <a:prstGeom prst="rect">
            <a:avLst/>
          </a:prstGeom>
          <a:solidFill>
            <a:srgbClr val="FFFFCC"/>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97284" name="Rectangle 9">
            <a:extLst>
              <a:ext uri="{FF2B5EF4-FFF2-40B4-BE49-F238E27FC236}">
                <a16:creationId xmlns:a16="http://schemas.microsoft.com/office/drawing/2014/main" id="{102F474F-E7C3-2B43-FC45-D92EEF1DA7C5}"/>
              </a:ext>
            </a:extLst>
          </p:cNvPr>
          <p:cNvSpPr>
            <a:spLocks noChangeArrowheads="1"/>
          </p:cNvSpPr>
          <p:nvPr/>
        </p:nvSpPr>
        <p:spPr bwMode="auto">
          <a:xfrm>
            <a:off x="539750" y="2276475"/>
            <a:ext cx="77724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buFontTx/>
              <a:buNone/>
            </a:pPr>
            <a:r>
              <a:rPr lang="de-AT" altLang="en-US" sz="900" b="1" dirty="0">
                <a:solidFill>
                  <a:srgbClr val="000066"/>
                </a:solidFill>
              </a:rPr>
              <a:t>			</a:t>
            </a:r>
            <a:r>
              <a:rPr lang="de-AT" altLang="en-US" sz="2400" b="1" dirty="0">
                <a:solidFill>
                  <a:srgbClr val="3333CC"/>
                </a:solidFill>
                <a:latin typeface="Georgia" panose="02040502050405020303" pitchFamily="18" charset="0"/>
              </a:rPr>
              <a:t>Dr. Asif Sohail</a:t>
            </a:r>
            <a:endParaRPr lang="de-AT" altLang="en-US" sz="1200" b="1" dirty="0">
              <a:solidFill>
                <a:srgbClr val="3333CC"/>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p>
          <a:p>
            <a:pPr eaLnBrk="1" hangingPunct="1">
              <a:buFontTx/>
              <a:buNone/>
            </a:pPr>
            <a:r>
              <a:rPr lang="de-AT" altLang="en-US" sz="1200" b="1" dirty="0">
                <a:solidFill>
                  <a:srgbClr val="0000FF"/>
                </a:solidFill>
                <a:latin typeface="Georgia" panose="02040502050405020303" pitchFamily="18" charset="0"/>
              </a:rPr>
              <a:t>			</a:t>
            </a:r>
            <a:r>
              <a:rPr lang="de-AT" altLang="en-US" sz="1200" b="1" dirty="0">
                <a:solidFill>
                  <a:srgbClr val="800000"/>
                </a:solidFill>
                <a:latin typeface="Georgia" panose="02040502050405020303" pitchFamily="18" charset="0"/>
              </a:rPr>
              <a:t>Assistant Professor</a:t>
            </a:r>
            <a:endParaRPr lang="de-AT" altLang="en-US" sz="1200" dirty="0">
              <a:solidFill>
                <a:srgbClr val="800000"/>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Department of Information Technology,</a:t>
            </a:r>
          </a:p>
          <a:p>
            <a:pPr eaLnBrk="1" hangingPunct="1">
              <a:buFontTx/>
              <a:buNone/>
            </a:pPr>
            <a:r>
              <a:rPr lang="de-AT" altLang="en-US" sz="1200" dirty="0">
                <a:solidFill>
                  <a:srgbClr val="0000FF"/>
                </a:solidFill>
                <a:latin typeface="Georgia" panose="02040502050405020303" pitchFamily="18" charset="0"/>
              </a:rPr>
              <a:t>			Faculty of Computing and Information Technology (FCIT)</a:t>
            </a:r>
          </a:p>
          <a:p>
            <a:pPr eaLnBrk="1" hangingPunct="1">
              <a:buFontTx/>
              <a:buNone/>
            </a:pPr>
            <a:r>
              <a:rPr lang="de-AT" altLang="en-US" sz="1200" dirty="0">
                <a:solidFill>
                  <a:srgbClr val="0000FF"/>
                </a:solidFill>
                <a:latin typeface="Georgia" panose="02040502050405020303" pitchFamily="18" charset="0"/>
              </a:rPr>
              <a:t>			University of the Punjab, Lahore, Pakistan</a:t>
            </a: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		Tel:                  +92-(0)42-111-923-923    Ext. </a:t>
            </a:r>
            <a:r>
              <a:rPr lang="de-AT" altLang="en-US" sz="1200" dirty="0">
                <a:solidFill>
                  <a:srgbClr val="0000FF"/>
                </a:solidFill>
                <a:latin typeface="Times New Roman" panose="02020603050405020304" pitchFamily="18" charset="0"/>
              </a:rPr>
              <a:t>154</a:t>
            </a:r>
          </a:p>
          <a:p>
            <a:pPr eaLnBrk="1" hangingPunct="1">
              <a:buFontTx/>
              <a:buNone/>
            </a:pPr>
            <a:r>
              <a:rPr lang="de-AT" altLang="en-US" sz="1200" dirty="0">
                <a:solidFill>
                  <a:srgbClr val="0000FF"/>
                </a:solidFill>
                <a:latin typeface="Georgia" panose="02040502050405020303" pitchFamily="18" charset="0"/>
              </a:rPr>
              <a:t>			E-mail:           asif@pucit.edu.pk</a:t>
            </a:r>
          </a:p>
          <a:p>
            <a:pPr eaLnBrk="1" hangingPunct="1"/>
            <a:endParaRPr lang="en-US" altLang="en-US" sz="1200" dirty="0">
              <a:solidFill>
                <a:srgbClr val="0000FF"/>
              </a:solidFill>
              <a:latin typeface="Georgia" panose="02040502050405020303" pitchFamily="18" charset="0"/>
            </a:endParaRPr>
          </a:p>
        </p:txBody>
      </p:sp>
      <p:pic>
        <p:nvPicPr>
          <p:cNvPr id="2" name="Picture 10">
            <a:extLst>
              <a:ext uri="{FF2B5EF4-FFF2-40B4-BE49-F238E27FC236}">
                <a16:creationId xmlns:a16="http://schemas.microsoft.com/office/drawing/2014/main" id="{C2E2F7CA-C894-0B39-5274-12A5FB95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2">
            <a:extLst>
              <a:ext uri="{FF2B5EF4-FFF2-40B4-BE49-F238E27FC236}">
                <a16:creationId xmlns:a16="http://schemas.microsoft.com/office/drawing/2014/main" id="{28D636A8-6BC8-F0E1-72F9-45439E09D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2628</TotalTime>
  <Words>4516</Words>
  <Application>Microsoft Office PowerPoint</Application>
  <PresentationFormat>On-screen Show (4:3)</PresentationFormat>
  <Paragraphs>430</Paragraphs>
  <Slides>24</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Courier New</vt:lpstr>
      <vt:lpstr>Georgia</vt:lpstr>
      <vt:lpstr>Times New Roman</vt:lpstr>
      <vt:lpstr>Times</vt:lpstr>
      <vt:lpstr>Standarddesign</vt:lpstr>
      <vt:lpstr>Equity</vt:lpstr>
      <vt:lpstr> (SQL)  Other Database Objects</vt:lpstr>
      <vt:lpstr>Objectives</vt:lpstr>
      <vt:lpstr>Database Objects</vt:lpstr>
      <vt:lpstr>What Is a Sequence?</vt:lpstr>
      <vt:lpstr>The CREATE SEQUENCE Statement</vt:lpstr>
      <vt:lpstr>The CREATE SEQUENCE Options</vt:lpstr>
      <vt:lpstr>Creating a Sequence</vt:lpstr>
      <vt:lpstr>Confirming Sequences</vt:lpstr>
      <vt:lpstr>NEXTVAL and CURRVAL Pseudocolumns</vt:lpstr>
      <vt:lpstr>Using a Sequence</vt:lpstr>
      <vt:lpstr>Modifying a Sequence</vt:lpstr>
      <vt:lpstr>Removing a Sequence</vt:lpstr>
      <vt:lpstr>What Is an Index?</vt:lpstr>
      <vt:lpstr>How Are Indexes Created?</vt:lpstr>
      <vt:lpstr>Creating an Index</vt:lpstr>
      <vt:lpstr>Creating an Index</vt:lpstr>
      <vt:lpstr>When to Create an Index</vt:lpstr>
      <vt:lpstr>When Not to Create an Index</vt:lpstr>
      <vt:lpstr>Confirming Indexes</vt:lpstr>
      <vt:lpstr>Modifying Index</vt:lpstr>
      <vt:lpstr>Removing an Index</vt:lpstr>
      <vt:lpstr>Synonyms</vt:lpstr>
      <vt:lpstr>Creating and Removing Synonyms</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Asif Sohail</cp:lastModifiedBy>
  <cp:revision>878</cp:revision>
  <dcterms:created xsi:type="dcterms:W3CDTF">2006-05-17T12:38:56Z</dcterms:created>
  <dcterms:modified xsi:type="dcterms:W3CDTF">2024-12-10T14:34:26Z</dcterms:modified>
</cp:coreProperties>
</file>